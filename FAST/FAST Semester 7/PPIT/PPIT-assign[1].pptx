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8" r:id="rId4"/>
    <p:sldId id="260" r:id="rId5"/>
    <p:sldId id="269" r:id="rId6"/>
    <p:sldId id="270" r:id="rId7"/>
    <p:sldId id="273" r:id="rId8"/>
    <p:sldId id="271" r:id="rId9"/>
    <p:sldId id="272" r:id="rId10"/>
    <p:sldId id="258" r:id="rId11"/>
    <p:sldId id="263" r:id="rId12"/>
    <p:sldId id="267" r:id="rId13"/>
    <p:sldId id="265" r:id="rId14"/>
    <p:sldId id="266" r:id="rId15"/>
  </p:sldIdLst>
  <p:sldSz cx="18288000" cy="10287000"/>
  <p:notesSz cx="6858000" cy="9144000"/>
  <p:embeddedFontLst>
    <p:embeddedFont>
      <p:font typeface="Playfair Display" panose="00000500000000000000" pitchFamily="2" charset="0"/>
      <p:regular r:id="rId17"/>
      <p:bold r:id="rId18"/>
      <p:italic r:id="rId19"/>
      <p:boldItalic r:id="rId20"/>
    </p:embeddedFont>
    <p:embeddedFont>
      <p:font typeface="Playfair Display Black" panose="00000A00000000000000" pitchFamily="2" charset="0"/>
      <p:bold r:id="rId21"/>
      <p:boldItalic r:id="rId22"/>
    </p:embeddedFont>
    <p:embeddedFont>
      <p:font typeface="Playfair Display SemiBold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10415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21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2514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AD795D6D-6C6F-B71C-E6A6-DD1D7395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8CEEA068-5976-FD8D-D86F-A83C6EA75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4F93AC53-F833-9EE8-602C-B86CE4B94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8326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8967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DE7CD651-F263-67C0-58E5-185DC914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3682AF16-3F3F-998F-B447-FE3D20732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3F5FC155-142B-E5EC-564D-3BE114501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4420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6B19D818-130C-056E-4C13-EAAC00BD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E2CC4B05-A5BB-D6C4-71C5-1FA5BE473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7D6C4B7F-E037-54A5-4497-CB391A865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801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DF925ACA-154C-EF92-40D5-46AB4C28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4BEF2860-7BCC-7B35-BF21-C53FCF125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56364112-FF1B-46B7-E1DA-20D487DCA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979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2A846887-7F26-4CE8-F87F-9C1C454A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163EFF28-0FC6-36EF-CBED-1EAAF59B0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61E0A199-7D97-22B2-CA06-94612F5F0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382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E737AB50-7486-B5B4-D969-02500490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>
            <a:extLst>
              <a:ext uri="{FF2B5EF4-FFF2-40B4-BE49-F238E27FC236}">
                <a16:creationId xmlns:a16="http://schemas.microsoft.com/office/drawing/2014/main" id="{AD6647B9-4E61-21CE-1AC8-02479F2D4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:notes">
            <a:extLst>
              <a:ext uri="{FF2B5EF4-FFF2-40B4-BE49-F238E27FC236}">
                <a16:creationId xmlns:a16="http://schemas.microsoft.com/office/drawing/2014/main" id="{05B7728C-2835-FDBC-0B2E-663252FD8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19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0734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d79d7ddc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g27d79d7ddc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106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d79d7ddc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g27d79d7ddc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140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821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2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4059167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3"/>
          <p:cNvCxnSpPr/>
          <p:nvPr/>
        </p:nvCxnSpPr>
        <p:spPr>
          <a:xfrm rot="-5400000">
            <a:off x="-3091580" y="41751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3"/>
          <p:cNvCxnSpPr/>
          <p:nvPr/>
        </p:nvCxnSpPr>
        <p:spPr>
          <a:xfrm rot="-5400000">
            <a:off x="-2016971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6874E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1592374" y="2324100"/>
            <a:ext cx="13583400" cy="2037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36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The Social Network</a:t>
            </a:r>
            <a:endParaRPr dirty="0"/>
          </a:p>
        </p:txBody>
      </p:sp>
      <p:grpSp>
        <p:nvGrpSpPr>
          <p:cNvPr id="91" name="Google Shape;91;p13"/>
          <p:cNvGrpSpPr/>
          <p:nvPr/>
        </p:nvGrpSpPr>
        <p:grpSpPr>
          <a:xfrm>
            <a:off x="12385106" y="6084623"/>
            <a:ext cx="4476247" cy="5509227"/>
            <a:chOff x="0" y="0"/>
            <a:chExt cx="5968330" cy="7345637"/>
          </a:xfrm>
        </p:grpSpPr>
        <p:grpSp>
          <p:nvGrpSpPr>
            <p:cNvPr id="92" name="Google Shape;92;p13"/>
            <p:cNvGrpSpPr/>
            <p:nvPr/>
          </p:nvGrpSpPr>
          <p:grpSpPr>
            <a:xfrm>
              <a:off x="0" y="0"/>
              <a:ext cx="5968330" cy="7345637"/>
              <a:chOff x="0" y="0"/>
              <a:chExt cx="660400" cy="812800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348677" y="429141"/>
              <a:ext cx="5270975" cy="6487354"/>
              <a:chOff x="0" y="0"/>
              <a:chExt cx="660400" cy="8128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13"/>
            <p:cNvGrpSpPr/>
            <p:nvPr/>
          </p:nvGrpSpPr>
          <p:grpSpPr>
            <a:xfrm>
              <a:off x="692894" y="852793"/>
              <a:ext cx="4582541" cy="5640050"/>
              <a:chOff x="0" y="0"/>
              <a:chExt cx="660400" cy="812800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1" name="Google Shape;101;p13"/>
          <p:cNvCxnSpPr/>
          <p:nvPr/>
        </p:nvCxnSpPr>
        <p:spPr>
          <a:xfrm>
            <a:off x="1592374" y="1883323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5328896" y="1678999"/>
            <a:ext cx="406823" cy="408647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5892570" y="1678999"/>
            <a:ext cx="406823" cy="408647"/>
            <a:chOff x="1813" y="0"/>
            <a:chExt cx="809173" cy="812800"/>
          </a:xfrm>
        </p:grpSpPr>
        <p:sp>
          <p:nvSpPr>
            <p:cNvPr id="106" name="Google Shape;106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16453618" y="1678999"/>
            <a:ext cx="406823" cy="408647"/>
            <a:chOff x="1813" y="0"/>
            <a:chExt cx="809173" cy="812800"/>
          </a:xfrm>
        </p:grpSpPr>
        <p:sp>
          <p:nvSpPr>
            <p:cNvPr id="109" name="Google Shape;109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3"/>
          <p:cNvSpPr txBox="1"/>
          <p:nvPr/>
        </p:nvSpPr>
        <p:spPr>
          <a:xfrm>
            <a:off x="1526649" y="6653800"/>
            <a:ext cx="10213594" cy="227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Playfair Display"/>
                <a:ea typeface="Playfair Display"/>
                <a:cs typeface="Playfair Display"/>
                <a:sym typeface="Playfair Display"/>
              </a:rPr>
              <a:t>Muhammad Hassan Khalid  21L-5692</a:t>
            </a:r>
            <a:endParaRPr sz="4000" b="1" dirty="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Playfair Display"/>
                <a:ea typeface="Playfair Display"/>
                <a:cs typeface="Playfair Display"/>
                <a:sym typeface="Playfair Display"/>
              </a:rPr>
              <a:t>Muhammad Hamza                 21L-5636</a:t>
            </a:r>
            <a:endParaRPr sz="4000" b="1" dirty="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 amt="30000"/>
          </a:blip>
          <a:srcRect l="22066" r="22065"/>
          <a:stretch/>
        </p:blipFill>
        <p:spPr>
          <a:xfrm>
            <a:off x="0" y="0"/>
            <a:ext cx="861784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14565" y="6335950"/>
            <a:ext cx="80034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Outline</a:t>
            </a:r>
            <a:endParaRPr sz="3400"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9981732" y="1097181"/>
            <a:ext cx="7171500" cy="1292950"/>
            <a:chOff x="10296275" y="868581"/>
            <a:chExt cx="7171500" cy="1292950"/>
          </a:xfrm>
        </p:grpSpPr>
        <p:sp>
          <p:nvSpPr>
            <p:cNvPr id="119" name="Google Shape;119;p14"/>
            <p:cNvSpPr/>
            <p:nvPr/>
          </p:nvSpPr>
          <p:spPr>
            <a:xfrm>
              <a:off x="10639549" y="868581"/>
              <a:ext cx="6508949" cy="1292950"/>
            </a:xfrm>
            <a:custGeom>
              <a:avLst/>
              <a:gdLst/>
              <a:ahLst/>
              <a:cxnLst/>
              <a:rect l="l" t="t" r="r" b="b"/>
              <a:pathLst>
                <a:path w="1714009" h="340474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10296275" y="1068350"/>
              <a:ext cx="7171500" cy="8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dirty="0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Abridged Story </a:t>
              </a:r>
              <a:endParaRPr sz="3700" dirty="0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10350531" y="2722331"/>
            <a:ext cx="6508949" cy="1292950"/>
            <a:chOff x="10639549" y="868581"/>
            <a:chExt cx="6508949" cy="1292950"/>
          </a:xfrm>
        </p:grpSpPr>
        <p:sp>
          <p:nvSpPr>
            <p:cNvPr id="122" name="Google Shape;122;p14"/>
            <p:cNvSpPr/>
            <p:nvPr/>
          </p:nvSpPr>
          <p:spPr>
            <a:xfrm>
              <a:off x="10639549" y="868581"/>
              <a:ext cx="6508949" cy="1292950"/>
            </a:xfrm>
            <a:custGeom>
              <a:avLst/>
              <a:gdLst/>
              <a:ahLst/>
              <a:cxnLst/>
              <a:rect l="l" t="t" r="r" b="b"/>
              <a:pathLst>
                <a:path w="1714009" h="340474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11061300" y="1088725"/>
              <a:ext cx="5563500" cy="8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dirty="0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Skills </a:t>
              </a:r>
              <a:endParaRPr sz="3700" dirty="0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10350531" y="4398730"/>
            <a:ext cx="6508949" cy="1292950"/>
            <a:chOff x="10639549" y="868581"/>
            <a:chExt cx="6508949" cy="1292950"/>
          </a:xfrm>
        </p:grpSpPr>
        <p:sp>
          <p:nvSpPr>
            <p:cNvPr id="125" name="Google Shape;125;p14"/>
            <p:cNvSpPr/>
            <p:nvPr/>
          </p:nvSpPr>
          <p:spPr>
            <a:xfrm>
              <a:off x="10639549" y="868581"/>
              <a:ext cx="6508949" cy="1292950"/>
            </a:xfrm>
            <a:custGeom>
              <a:avLst/>
              <a:gdLst/>
              <a:ahLst/>
              <a:cxnLst/>
              <a:rect l="l" t="t" r="r" b="b"/>
              <a:pathLst>
                <a:path w="1714009" h="340474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4"/>
            <p:cNvSpPr txBox="1"/>
            <p:nvPr/>
          </p:nvSpPr>
          <p:spPr>
            <a:xfrm>
              <a:off x="11061300" y="1088725"/>
              <a:ext cx="5563500" cy="8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dirty="0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Practical Advice</a:t>
              </a:r>
              <a:endParaRPr sz="3700" dirty="0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10350531" y="6075130"/>
            <a:ext cx="6508949" cy="1292950"/>
            <a:chOff x="10639549" y="868581"/>
            <a:chExt cx="6508949" cy="1292950"/>
          </a:xfrm>
        </p:grpSpPr>
        <p:sp>
          <p:nvSpPr>
            <p:cNvPr id="128" name="Google Shape;128;p14"/>
            <p:cNvSpPr/>
            <p:nvPr/>
          </p:nvSpPr>
          <p:spPr>
            <a:xfrm>
              <a:off x="10639549" y="868581"/>
              <a:ext cx="6508949" cy="1292950"/>
            </a:xfrm>
            <a:custGeom>
              <a:avLst/>
              <a:gdLst/>
              <a:ahLst/>
              <a:cxnLst/>
              <a:rect l="l" t="t" r="r" b="b"/>
              <a:pathLst>
                <a:path w="1714009" h="340474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4"/>
            <p:cNvSpPr txBox="1"/>
            <p:nvPr/>
          </p:nvSpPr>
          <p:spPr>
            <a:xfrm>
              <a:off x="11061300" y="1088725"/>
              <a:ext cx="5563500" cy="8934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dirty="0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Exercises</a:t>
              </a:r>
              <a:endParaRPr sz="3700" dirty="0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>
            <a:off x="10350531" y="7751530"/>
            <a:ext cx="6508949" cy="1292950"/>
            <a:chOff x="10639549" y="868581"/>
            <a:chExt cx="6508949" cy="1292950"/>
          </a:xfrm>
        </p:grpSpPr>
        <p:sp>
          <p:nvSpPr>
            <p:cNvPr id="131" name="Google Shape;131;p14"/>
            <p:cNvSpPr/>
            <p:nvPr/>
          </p:nvSpPr>
          <p:spPr>
            <a:xfrm>
              <a:off x="10639549" y="868581"/>
              <a:ext cx="6508949" cy="1292950"/>
            </a:xfrm>
            <a:custGeom>
              <a:avLst/>
              <a:gdLst/>
              <a:ahLst/>
              <a:cxnLst/>
              <a:rect l="l" t="t" r="r" b="b"/>
              <a:pathLst>
                <a:path w="1714009" h="340474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11061300" y="1088725"/>
              <a:ext cx="5563500" cy="8934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dirty="0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Conclusion</a:t>
              </a:r>
              <a:endParaRPr sz="3700" dirty="0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 rot="10800000">
            <a:off x="614581" y="-1516502"/>
            <a:ext cx="4476224" cy="5510216"/>
            <a:chOff x="0" y="0"/>
            <a:chExt cx="5968299" cy="7346954"/>
          </a:xfrm>
        </p:grpSpPr>
        <p:grpSp>
          <p:nvGrpSpPr>
            <p:cNvPr id="137" name="Google Shape;137;p14"/>
            <p:cNvGrpSpPr/>
            <p:nvPr/>
          </p:nvGrpSpPr>
          <p:grpSpPr>
            <a:xfrm>
              <a:off x="0" y="0"/>
              <a:ext cx="5968299" cy="7346954"/>
              <a:chOff x="0" y="0"/>
              <a:chExt cx="660400" cy="812950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4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14"/>
            <p:cNvGrpSpPr/>
            <p:nvPr/>
          </p:nvGrpSpPr>
          <p:grpSpPr>
            <a:xfrm>
              <a:off x="348677" y="429141"/>
              <a:ext cx="5270983" cy="6488560"/>
              <a:chOff x="0" y="0"/>
              <a:chExt cx="660400" cy="812950"/>
            </a:xfrm>
          </p:grpSpPr>
          <p:sp>
            <p:nvSpPr>
              <p:cNvPr id="141" name="Google Shape;141;p1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4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14"/>
            <p:cNvGrpSpPr/>
            <p:nvPr/>
          </p:nvGrpSpPr>
          <p:grpSpPr>
            <a:xfrm>
              <a:off x="692894" y="852793"/>
              <a:ext cx="4582516" cy="5641060"/>
              <a:chOff x="0" y="0"/>
              <a:chExt cx="660400" cy="812950"/>
            </a:xfrm>
          </p:grpSpPr>
          <p:sp>
            <p:nvSpPr>
              <p:cNvPr id="144" name="Google Shape;144;p1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4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2340AA3B-E72F-0723-1E8A-EDD21ED9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7">
            <a:extLst>
              <a:ext uri="{FF2B5EF4-FFF2-40B4-BE49-F238E27FC236}">
                <a16:creationId xmlns:a16="http://schemas.microsoft.com/office/drawing/2014/main" id="{F2B3B97F-DA13-ACCF-D10E-199525781614}"/>
              </a:ext>
            </a:extLst>
          </p:cNvPr>
          <p:cNvGrpSpPr/>
          <p:nvPr/>
        </p:nvGrpSpPr>
        <p:grpSpPr>
          <a:xfrm>
            <a:off x="5993954" y="542593"/>
            <a:ext cx="6300091" cy="8930628"/>
            <a:chOff x="0" y="-38100"/>
            <a:chExt cx="2137363" cy="2352084"/>
          </a:xfrm>
        </p:grpSpPr>
        <p:sp>
          <p:nvSpPr>
            <p:cNvPr id="248" name="Google Shape;248;p17">
              <a:extLst>
                <a:ext uri="{FF2B5EF4-FFF2-40B4-BE49-F238E27FC236}">
                  <a16:creationId xmlns:a16="http://schemas.microsoft.com/office/drawing/2014/main" id="{99299CD2-2EC7-E5DE-BC74-3D934A9E6B8B}"/>
                </a:ext>
              </a:extLst>
            </p:cNvPr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7">
              <a:extLst>
                <a:ext uri="{FF2B5EF4-FFF2-40B4-BE49-F238E27FC236}">
                  <a16:creationId xmlns:a16="http://schemas.microsoft.com/office/drawing/2014/main" id="{11F04BBC-A8BD-739D-D648-C464E60B0D2E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>
            <a:extLst>
              <a:ext uri="{FF2B5EF4-FFF2-40B4-BE49-F238E27FC236}">
                <a16:creationId xmlns:a16="http://schemas.microsoft.com/office/drawing/2014/main" id="{863AA1CE-43EC-F81D-1FFE-5C8E4DDD421E}"/>
              </a:ext>
            </a:extLst>
          </p:cNvPr>
          <p:cNvGrpSpPr/>
          <p:nvPr/>
        </p:nvGrpSpPr>
        <p:grpSpPr>
          <a:xfrm>
            <a:off x="11528305" y="1133428"/>
            <a:ext cx="406823" cy="408647"/>
            <a:chOff x="1813" y="0"/>
            <a:chExt cx="809173" cy="812800"/>
          </a:xfrm>
        </p:grpSpPr>
        <p:sp>
          <p:nvSpPr>
            <p:cNvPr id="251" name="Google Shape;251;p17">
              <a:extLst>
                <a:ext uri="{FF2B5EF4-FFF2-40B4-BE49-F238E27FC236}">
                  <a16:creationId xmlns:a16="http://schemas.microsoft.com/office/drawing/2014/main" id="{54BD7D23-B59C-23D8-C6F7-60E6B45B6070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>
              <a:extLst>
                <a:ext uri="{FF2B5EF4-FFF2-40B4-BE49-F238E27FC236}">
                  <a16:creationId xmlns:a16="http://schemas.microsoft.com/office/drawing/2014/main" id="{D66C2928-7D32-C032-ADF7-927A17E43A4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>
            <a:extLst>
              <a:ext uri="{FF2B5EF4-FFF2-40B4-BE49-F238E27FC236}">
                <a16:creationId xmlns:a16="http://schemas.microsoft.com/office/drawing/2014/main" id="{37D38162-66F5-111F-81DE-0E2F1ACB4F46}"/>
              </a:ext>
            </a:extLst>
          </p:cNvPr>
          <p:cNvGrpSpPr/>
          <p:nvPr/>
        </p:nvGrpSpPr>
        <p:grpSpPr>
          <a:xfrm>
            <a:off x="11999852" y="1133428"/>
            <a:ext cx="406823" cy="408647"/>
            <a:chOff x="1813" y="0"/>
            <a:chExt cx="809173" cy="812800"/>
          </a:xfrm>
        </p:grpSpPr>
        <p:sp>
          <p:nvSpPr>
            <p:cNvPr id="254" name="Google Shape;254;p17">
              <a:extLst>
                <a:ext uri="{FF2B5EF4-FFF2-40B4-BE49-F238E27FC236}">
                  <a16:creationId xmlns:a16="http://schemas.microsoft.com/office/drawing/2014/main" id="{8147796B-8D44-F8C3-7040-102C5D3C6512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7">
              <a:extLst>
                <a:ext uri="{FF2B5EF4-FFF2-40B4-BE49-F238E27FC236}">
                  <a16:creationId xmlns:a16="http://schemas.microsoft.com/office/drawing/2014/main" id="{FAA63D5D-26C3-1E68-8BA7-4602CA17CFA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17">
            <a:extLst>
              <a:ext uri="{FF2B5EF4-FFF2-40B4-BE49-F238E27FC236}">
                <a16:creationId xmlns:a16="http://schemas.microsoft.com/office/drawing/2014/main" id="{E0AFF03C-F60B-A110-FF38-7B5A51B0A9A8}"/>
              </a:ext>
            </a:extLst>
          </p:cNvPr>
          <p:cNvGrpSpPr/>
          <p:nvPr/>
        </p:nvGrpSpPr>
        <p:grpSpPr>
          <a:xfrm>
            <a:off x="12560899" y="1133428"/>
            <a:ext cx="406823" cy="408647"/>
            <a:chOff x="1813" y="0"/>
            <a:chExt cx="809173" cy="812800"/>
          </a:xfrm>
        </p:grpSpPr>
        <p:sp>
          <p:nvSpPr>
            <p:cNvPr id="257" name="Google Shape;257;p17">
              <a:extLst>
                <a:ext uri="{FF2B5EF4-FFF2-40B4-BE49-F238E27FC236}">
                  <a16:creationId xmlns:a16="http://schemas.microsoft.com/office/drawing/2014/main" id="{E08AE8C1-861C-B00E-8079-BD571CD5E5B3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7">
              <a:extLst>
                <a:ext uri="{FF2B5EF4-FFF2-40B4-BE49-F238E27FC236}">
                  <a16:creationId xmlns:a16="http://schemas.microsoft.com/office/drawing/2014/main" id="{6599EA93-EAED-A521-363D-60D5098786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7">
            <a:extLst>
              <a:ext uri="{FF2B5EF4-FFF2-40B4-BE49-F238E27FC236}">
                <a16:creationId xmlns:a16="http://schemas.microsoft.com/office/drawing/2014/main" id="{CAF68048-439D-AA58-AD6C-04F60794D3E5}"/>
              </a:ext>
            </a:extLst>
          </p:cNvPr>
          <p:cNvGrpSpPr/>
          <p:nvPr/>
        </p:nvGrpSpPr>
        <p:grpSpPr>
          <a:xfrm>
            <a:off x="5241805" y="8605091"/>
            <a:ext cx="406852" cy="408676"/>
            <a:chOff x="1813" y="0"/>
            <a:chExt cx="809173" cy="812800"/>
          </a:xfrm>
        </p:grpSpPr>
        <p:sp>
          <p:nvSpPr>
            <p:cNvPr id="260" name="Google Shape;260;p17">
              <a:extLst>
                <a:ext uri="{FF2B5EF4-FFF2-40B4-BE49-F238E27FC236}">
                  <a16:creationId xmlns:a16="http://schemas.microsoft.com/office/drawing/2014/main" id="{77A1E387-0842-A957-F2BF-EBEE24C81BE6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7">
              <a:extLst>
                <a:ext uri="{FF2B5EF4-FFF2-40B4-BE49-F238E27FC236}">
                  <a16:creationId xmlns:a16="http://schemas.microsoft.com/office/drawing/2014/main" id="{97EECBA9-BE96-CD70-B97E-B062B9E8FC3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7">
            <a:extLst>
              <a:ext uri="{FF2B5EF4-FFF2-40B4-BE49-F238E27FC236}">
                <a16:creationId xmlns:a16="http://schemas.microsoft.com/office/drawing/2014/main" id="{63130B62-D0AD-FD73-B17E-C593255B21ED}"/>
              </a:ext>
            </a:extLst>
          </p:cNvPr>
          <p:cNvGrpSpPr/>
          <p:nvPr/>
        </p:nvGrpSpPr>
        <p:grpSpPr>
          <a:xfrm>
            <a:off x="5805480" y="8605091"/>
            <a:ext cx="406852" cy="408676"/>
            <a:chOff x="1813" y="0"/>
            <a:chExt cx="809173" cy="812800"/>
          </a:xfrm>
        </p:grpSpPr>
        <p:sp>
          <p:nvSpPr>
            <p:cNvPr id="263" name="Google Shape;263;p17">
              <a:extLst>
                <a:ext uri="{FF2B5EF4-FFF2-40B4-BE49-F238E27FC236}">
                  <a16:creationId xmlns:a16="http://schemas.microsoft.com/office/drawing/2014/main" id="{F2A2D635-5BCF-9D10-8317-B675B0ED6F5B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7">
              <a:extLst>
                <a:ext uri="{FF2B5EF4-FFF2-40B4-BE49-F238E27FC236}">
                  <a16:creationId xmlns:a16="http://schemas.microsoft.com/office/drawing/2014/main" id="{F93923EA-B6FE-F04E-3538-38E0AC9BB98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7">
            <a:extLst>
              <a:ext uri="{FF2B5EF4-FFF2-40B4-BE49-F238E27FC236}">
                <a16:creationId xmlns:a16="http://schemas.microsoft.com/office/drawing/2014/main" id="{F7A5343A-5634-7938-0104-FD0C8C846F7E}"/>
              </a:ext>
            </a:extLst>
          </p:cNvPr>
          <p:cNvGrpSpPr/>
          <p:nvPr/>
        </p:nvGrpSpPr>
        <p:grpSpPr>
          <a:xfrm>
            <a:off x="6366527" y="8605091"/>
            <a:ext cx="406852" cy="408676"/>
            <a:chOff x="1813" y="0"/>
            <a:chExt cx="809173" cy="812800"/>
          </a:xfrm>
        </p:grpSpPr>
        <p:sp>
          <p:nvSpPr>
            <p:cNvPr id="266" name="Google Shape;266;p17">
              <a:extLst>
                <a:ext uri="{FF2B5EF4-FFF2-40B4-BE49-F238E27FC236}">
                  <a16:creationId xmlns:a16="http://schemas.microsoft.com/office/drawing/2014/main" id="{90FEE473-7E61-B461-466B-7736A3E99E3C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7">
              <a:extLst>
                <a:ext uri="{FF2B5EF4-FFF2-40B4-BE49-F238E27FC236}">
                  <a16:creationId xmlns:a16="http://schemas.microsoft.com/office/drawing/2014/main" id="{D5C94D11-FA90-D3FE-2843-C4D357C67FD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>
            <a:extLst>
              <a:ext uri="{FF2B5EF4-FFF2-40B4-BE49-F238E27FC236}">
                <a16:creationId xmlns:a16="http://schemas.microsoft.com/office/drawing/2014/main" id="{ACFDCEA3-EF1A-8D76-E655-63298ADEBCED}"/>
              </a:ext>
            </a:extLst>
          </p:cNvPr>
          <p:cNvSpPr txBox="1"/>
          <p:nvPr/>
        </p:nvSpPr>
        <p:spPr>
          <a:xfrm>
            <a:off x="6228375" y="2629307"/>
            <a:ext cx="5462700" cy="4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Abridged Version of Story</a:t>
            </a:r>
            <a:endParaRPr sz="9000" dirty="0">
              <a:solidFill>
                <a:srgbClr val="FFFFFF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</p:spTree>
    <p:extLst>
      <p:ext uri="{BB962C8B-B14F-4D97-AF65-F5344CB8AC3E}">
        <p14:creationId xmlns:p14="http://schemas.microsoft.com/office/powerpoint/2010/main" val="94790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in a white shirt&#10;&#10;Description automatically generated">
            <a:extLst>
              <a:ext uri="{FF2B5EF4-FFF2-40B4-BE49-F238E27FC236}">
                <a16:creationId xmlns:a16="http://schemas.microsoft.com/office/drawing/2014/main" id="{AB117C63-2F4F-15A3-5A98-F841BA3E3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96" b="17607"/>
          <a:stretch/>
        </p:blipFill>
        <p:spPr>
          <a:xfrm>
            <a:off x="6400801" y="10"/>
            <a:ext cx="11887200" cy="507491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1EAFB66-328D-5D72-58D2-2F720AB71B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21" r="-1" b="15975"/>
          <a:stretch/>
        </p:blipFill>
        <p:spPr>
          <a:xfrm>
            <a:off x="6976374" y="5212080"/>
            <a:ext cx="11333748" cy="5074920"/>
          </a:xfrm>
          <a:prstGeom prst="rect">
            <a:avLst/>
          </a:pr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366408" cy="10287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5202" y="914400"/>
            <a:ext cx="5989050" cy="58157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Mark Zuckerberg, a socially awkward yet brilliant Harvard student, creates "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FaceMash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," sparking controversy and crashing Harvard's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74452CF3-430C-3210-3365-FDBB173B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men sitting at a table&#10;&#10;Description automatically generated">
            <a:extLst>
              <a:ext uri="{FF2B5EF4-FFF2-40B4-BE49-F238E27FC236}">
                <a16:creationId xmlns:a16="http://schemas.microsoft.com/office/drawing/2014/main" id="{E8BCE31F-251D-723E-86C4-CA7718A7C8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10"/>
            <a:ext cx="18287980" cy="10286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80213"/>
            <a:ext cx="18288000" cy="110482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1819E-6CFE-2616-077B-B5AF9109888C}"/>
              </a:ext>
            </a:extLst>
          </p:cNvPr>
          <p:cNvSpPr txBox="1"/>
          <p:nvPr/>
        </p:nvSpPr>
        <p:spPr>
          <a:xfrm>
            <a:off x="195943" y="7975860"/>
            <a:ext cx="17406257" cy="1117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Captures attention of the Winklevoss twins, who hire Zuckerberg to build their social network idea.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862974"/>
            <a:ext cx="18288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9202278"/>
            <a:ext cx="18288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92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5F4C2A25-DE7A-80AF-1C7E-85CF340B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542" y="-1"/>
            <a:ext cx="18288000" cy="1028699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D88D8-0CB9-F4FE-4010-C0C4D84D14F6}"/>
              </a:ext>
            </a:extLst>
          </p:cNvPr>
          <p:cNvSpPr txBox="1"/>
          <p:nvPr/>
        </p:nvSpPr>
        <p:spPr>
          <a:xfrm>
            <a:off x="1705551" y="3291153"/>
            <a:ext cx="4738111" cy="5862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Instead, Zuckerberg develops his own version, "The Facebook," for Harvard students, later expanding to Ivy League schools.</a:t>
            </a:r>
          </a:p>
        </p:txBody>
      </p:sp>
      <p:pic>
        <p:nvPicPr>
          <p:cNvPr id="5" name="Picture 4" descr="A person working on a computer&#10;&#10;Description automatically generated">
            <a:extLst>
              <a:ext uri="{FF2B5EF4-FFF2-40B4-BE49-F238E27FC236}">
                <a16:creationId xmlns:a16="http://schemas.microsoft.com/office/drawing/2014/main" id="{8386441B-5387-6A57-BAB6-FB5913C88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586"/>
          <a:stretch/>
        </p:blipFill>
        <p:spPr>
          <a:xfrm>
            <a:off x="7422282" y="1"/>
            <a:ext cx="10865718" cy="10286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200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8C58740A-35CA-7933-3D60-8FACB298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holding a martini glass&#10;&#10;Description automatically generated">
            <a:extLst>
              <a:ext uri="{FF2B5EF4-FFF2-40B4-BE49-F238E27FC236}">
                <a16:creationId xmlns:a16="http://schemas.microsoft.com/office/drawing/2014/main" id="{1B76EB89-AE91-B0A6-3C5D-2AD98CFDC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0" r="-1" b="30299"/>
          <a:stretch/>
        </p:blipFill>
        <p:spPr>
          <a:xfrm>
            <a:off x="7779831" y="245469"/>
            <a:ext cx="10210054" cy="39346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8C6652-4718-42C8-6E12-FC37558AF7D6}"/>
              </a:ext>
            </a:extLst>
          </p:cNvPr>
          <p:cNvSpPr txBox="1"/>
          <p:nvPr/>
        </p:nvSpPr>
        <p:spPr>
          <a:xfrm>
            <a:off x="1105775" y="3202156"/>
            <a:ext cx="5979233" cy="3882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Partner Eduardo Saverin funds the project; Sean Parker's guidance helps scale it globally.</a:t>
            </a:r>
          </a:p>
        </p:txBody>
      </p:sp>
      <p:pic>
        <p:nvPicPr>
          <p:cNvPr id="5" name="Picture 4" descr="A person standing in a hallway&#10;&#10;Description automatically generated">
            <a:extLst>
              <a:ext uri="{FF2B5EF4-FFF2-40B4-BE49-F238E27FC236}">
                <a16:creationId xmlns:a16="http://schemas.microsoft.com/office/drawing/2014/main" id="{E27F6AE7-50BD-F129-8DA6-C3BDF85EA6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12435"/>
          <a:stretch/>
        </p:blipFill>
        <p:spPr>
          <a:xfrm>
            <a:off x="7779831" y="4435312"/>
            <a:ext cx="10210054" cy="50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5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CE51AD0D-5132-A4DB-6EFD-5148943F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itting around a table with laptops&#10;&#10;Description automatically generated">
            <a:extLst>
              <a:ext uri="{FF2B5EF4-FFF2-40B4-BE49-F238E27FC236}">
                <a16:creationId xmlns:a16="http://schemas.microsoft.com/office/drawing/2014/main" id="{FA26E78E-96C4-864C-3C84-7C66CB0DF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689"/>
          <a:stretch/>
        </p:blipFill>
        <p:spPr>
          <a:xfrm>
            <a:off x="3783534" y="10"/>
            <a:ext cx="14504463" cy="10286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CCAA1-B535-F6D2-A9E2-D065738F9AFF}"/>
              </a:ext>
            </a:extLst>
          </p:cNvPr>
          <p:cNvSpPr txBox="1"/>
          <p:nvPr/>
        </p:nvSpPr>
        <p:spPr>
          <a:xfrm>
            <a:off x="1257300" y="3651301"/>
            <a:ext cx="5733283" cy="5614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Zuckerberg moves to California, leading to a rift with Saverin, who is eventually sidelined.</a:t>
            </a:r>
          </a:p>
        </p:txBody>
      </p:sp>
    </p:spTree>
    <p:extLst>
      <p:ext uri="{BB962C8B-B14F-4D97-AF65-F5344CB8AC3E}">
        <p14:creationId xmlns:p14="http://schemas.microsoft.com/office/powerpoint/2010/main" val="227879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6">
          <a:extLst>
            <a:ext uri="{FF2B5EF4-FFF2-40B4-BE49-F238E27FC236}">
              <a16:creationId xmlns:a16="http://schemas.microsoft.com/office/drawing/2014/main" id="{C10EDBF6-9EE4-26C0-5128-29D8837A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4221553F-C664-5BD8-86C1-A1113A654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21" b="21710"/>
          <a:stretch/>
        </p:blipFill>
        <p:spPr>
          <a:xfrm>
            <a:off x="20" y="10"/>
            <a:ext cx="18287980" cy="6837635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91958" y="8202309"/>
            <a:ext cx="2057400" cy="27432"/>
          </a:xfrm>
          <a:custGeom>
            <a:avLst/>
            <a:gdLst>
              <a:gd name="connsiteX0" fmla="*/ 0 w 2057400"/>
              <a:gd name="connsiteY0" fmla="*/ 0 h 27432"/>
              <a:gd name="connsiteX1" fmla="*/ 685800 w 2057400"/>
              <a:gd name="connsiteY1" fmla="*/ 0 h 27432"/>
              <a:gd name="connsiteX2" fmla="*/ 1309878 w 2057400"/>
              <a:gd name="connsiteY2" fmla="*/ 0 h 27432"/>
              <a:gd name="connsiteX3" fmla="*/ 2057400 w 2057400"/>
              <a:gd name="connsiteY3" fmla="*/ 0 h 27432"/>
              <a:gd name="connsiteX4" fmla="*/ 2057400 w 2057400"/>
              <a:gd name="connsiteY4" fmla="*/ 27432 h 27432"/>
              <a:gd name="connsiteX5" fmla="*/ 1330452 w 2057400"/>
              <a:gd name="connsiteY5" fmla="*/ 27432 h 27432"/>
              <a:gd name="connsiteX6" fmla="*/ 685800 w 2057400"/>
              <a:gd name="connsiteY6" fmla="*/ 27432 h 27432"/>
              <a:gd name="connsiteX7" fmla="*/ 0 w 2057400"/>
              <a:gd name="connsiteY7" fmla="*/ 27432 h 27432"/>
              <a:gd name="connsiteX8" fmla="*/ 0 w 2057400"/>
              <a:gd name="connsiteY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7400" h="27432" fill="none" extrusionOk="0">
                <a:moveTo>
                  <a:pt x="0" y="0"/>
                </a:moveTo>
                <a:cubicBezTo>
                  <a:pt x="302803" y="-32679"/>
                  <a:pt x="450041" y="32706"/>
                  <a:pt x="685800" y="0"/>
                </a:cubicBezTo>
                <a:cubicBezTo>
                  <a:pt x="921559" y="-32706"/>
                  <a:pt x="1009847" y="29047"/>
                  <a:pt x="1309878" y="0"/>
                </a:cubicBezTo>
                <a:cubicBezTo>
                  <a:pt x="1609909" y="-29047"/>
                  <a:pt x="1809302" y="29901"/>
                  <a:pt x="2057400" y="0"/>
                </a:cubicBezTo>
                <a:cubicBezTo>
                  <a:pt x="2056280" y="10493"/>
                  <a:pt x="2057243" y="20203"/>
                  <a:pt x="2057400" y="27432"/>
                </a:cubicBezTo>
                <a:cubicBezTo>
                  <a:pt x="1773018" y="-8870"/>
                  <a:pt x="1583133" y="36663"/>
                  <a:pt x="1330452" y="27432"/>
                </a:cubicBezTo>
                <a:cubicBezTo>
                  <a:pt x="1077771" y="18201"/>
                  <a:pt x="835436" y="58848"/>
                  <a:pt x="685800" y="27432"/>
                </a:cubicBezTo>
                <a:cubicBezTo>
                  <a:pt x="536164" y="-3984"/>
                  <a:pt x="241183" y="24057"/>
                  <a:pt x="0" y="27432"/>
                </a:cubicBezTo>
                <a:cubicBezTo>
                  <a:pt x="-47" y="18228"/>
                  <a:pt x="-305" y="9449"/>
                  <a:pt x="0" y="0"/>
                </a:cubicBezTo>
                <a:close/>
              </a:path>
              <a:path w="2057400" h="27432" stroke="0" extrusionOk="0">
                <a:moveTo>
                  <a:pt x="0" y="0"/>
                </a:moveTo>
                <a:cubicBezTo>
                  <a:pt x="303435" y="-7297"/>
                  <a:pt x="415843" y="-14809"/>
                  <a:pt x="624078" y="0"/>
                </a:cubicBezTo>
                <a:cubicBezTo>
                  <a:pt x="832313" y="14809"/>
                  <a:pt x="1133755" y="24795"/>
                  <a:pt x="1289304" y="0"/>
                </a:cubicBezTo>
                <a:cubicBezTo>
                  <a:pt x="1444853" y="-24795"/>
                  <a:pt x="1722910" y="22004"/>
                  <a:pt x="2057400" y="0"/>
                </a:cubicBezTo>
                <a:cubicBezTo>
                  <a:pt x="2056965" y="10475"/>
                  <a:pt x="2058277" y="19313"/>
                  <a:pt x="2057400" y="27432"/>
                </a:cubicBezTo>
                <a:cubicBezTo>
                  <a:pt x="1751285" y="-1123"/>
                  <a:pt x="1645759" y="29270"/>
                  <a:pt x="1412748" y="27432"/>
                </a:cubicBezTo>
                <a:cubicBezTo>
                  <a:pt x="1179737" y="25594"/>
                  <a:pt x="962869" y="32322"/>
                  <a:pt x="685800" y="27432"/>
                </a:cubicBezTo>
                <a:cubicBezTo>
                  <a:pt x="408731" y="22542"/>
                  <a:pt x="220204" y="52941"/>
                  <a:pt x="0" y="27432"/>
                </a:cubicBezTo>
                <a:cubicBezTo>
                  <a:pt x="-933" y="21824"/>
                  <a:pt x="-517" y="1114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808E61-49E1-7B6F-CB10-48C8BD71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441" y="7166608"/>
            <a:ext cx="10346439" cy="2098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Facebook's rapid growth brings lawsuits from the Winklevoss twins and Saverin, highlighting Zuckerberg's ruthless ambition.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765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1158000" y="284250"/>
            <a:ext cx="16276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Skills with Significant Contribution</a:t>
            </a:r>
            <a:endParaRPr dirty="0">
              <a:solidFill>
                <a:schemeClr val="dk1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cxnSp>
        <p:nvCxnSpPr>
          <p:cNvPr id="151" name="Google Shape;151;p15"/>
          <p:cNvCxnSpPr/>
          <p:nvPr/>
        </p:nvCxnSpPr>
        <p:spPr>
          <a:xfrm rot="10800000" flipH="1">
            <a:off x="2508963" y="782700"/>
            <a:ext cx="2375100" cy="17400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2" name="Google Shape;152;p15"/>
          <p:cNvGrpSpPr/>
          <p:nvPr/>
        </p:nvGrpSpPr>
        <p:grpSpPr>
          <a:xfrm>
            <a:off x="870713" y="557676"/>
            <a:ext cx="406852" cy="408676"/>
            <a:chOff x="1813" y="0"/>
            <a:chExt cx="809173" cy="812800"/>
          </a:xfrm>
        </p:grpSpPr>
        <p:sp>
          <p:nvSpPr>
            <p:cNvPr id="153" name="Google Shape;153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5"/>
          <p:cNvGrpSpPr/>
          <p:nvPr/>
        </p:nvGrpSpPr>
        <p:grpSpPr>
          <a:xfrm>
            <a:off x="1358188" y="557676"/>
            <a:ext cx="406852" cy="408676"/>
            <a:chOff x="1813" y="0"/>
            <a:chExt cx="809173" cy="812800"/>
          </a:xfrm>
        </p:grpSpPr>
        <p:sp>
          <p:nvSpPr>
            <p:cNvPr id="156" name="Google Shape;156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1843035" y="557676"/>
            <a:ext cx="406852" cy="408676"/>
            <a:chOff x="1813" y="0"/>
            <a:chExt cx="809173" cy="812800"/>
          </a:xfrm>
        </p:grpSpPr>
        <p:sp>
          <p:nvSpPr>
            <p:cNvPr id="159" name="Google Shape;159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-279669" y="1465342"/>
            <a:ext cx="9150545" cy="5312270"/>
            <a:chOff x="-279669" y="1465342"/>
            <a:chExt cx="9150545" cy="5312270"/>
          </a:xfrm>
        </p:grpSpPr>
        <p:sp>
          <p:nvSpPr>
            <p:cNvPr id="162" name="Google Shape;162;p15"/>
            <p:cNvSpPr/>
            <p:nvPr/>
          </p:nvSpPr>
          <p:spPr>
            <a:xfrm>
              <a:off x="136150" y="1806125"/>
              <a:ext cx="3546201" cy="343408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" name="Google Shape;163;p15"/>
            <p:cNvGrpSpPr/>
            <p:nvPr/>
          </p:nvGrpSpPr>
          <p:grpSpPr>
            <a:xfrm>
              <a:off x="-279669" y="1465342"/>
              <a:ext cx="9022391" cy="4208521"/>
              <a:chOff x="101327" y="1540071"/>
              <a:chExt cx="9022391" cy="4362518"/>
            </a:xfrm>
          </p:grpSpPr>
          <p:sp>
            <p:nvSpPr>
              <p:cNvPr id="164" name="Google Shape;164;p15"/>
              <p:cNvSpPr txBox="1"/>
              <p:nvPr/>
            </p:nvSpPr>
            <p:spPr>
              <a:xfrm>
                <a:off x="1081187" y="1958609"/>
                <a:ext cx="2544917" cy="3141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2865700" y="1540071"/>
                <a:ext cx="6258018" cy="4362518"/>
              </a:xfrm>
              <a:custGeom>
                <a:avLst/>
                <a:gdLst/>
                <a:ahLst/>
                <a:cxnLst/>
                <a:rect l="l" t="t" r="r" b="b"/>
                <a:pathLst>
                  <a:path w="1737603" h="950037" extrusionOk="0">
                    <a:moveTo>
                      <a:pt x="59382" y="0"/>
                    </a:moveTo>
                    <a:lnTo>
                      <a:pt x="1678222" y="0"/>
                    </a:lnTo>
                    <a:cubicBezTo>
                      <a:pt x="1693971" y="0"/>
                      <a:pt x="1709075" y="6256"/>
                      <a:pt x="1720211" y="17393"/>
                    </a:cubicBezTo>
                    <a:cubicBezTo>
                      <a:pt x="1731347" y="28529"/>
                      <a:pt x="1737603" y="43633"/>
                      <a:pt x="1737603" y="59382"/>
                    </a:cubicBezTo>
                    <a:lnTo>
                      <a:pt x="1737603" y="890656"/>
                    </a:lnTo>
                    <a:cubicBezTo>
                      <a:pt x="1737603" y="906405"/>
                      <a:pt x="1731347" y="921509"/>
                      <a:pt x="1720211" y="932645"/>
                    </a:cubicBezTo>
                    <a:cubicBezTo>
                      <a:pt x="1709075" y="943781"/>
                      <a:pt x="1693971" y="950037"/>
                      <a:pt x="1678222" y="950037"/>
                    </a:cubicBezTo>
                    <a:lnTo>
                      <a:pt x="59382" y="950037"/>
                    </a:lnTo>
                    <a:cubicBezTo>
                      <a:pt x="43633" y="950037"/>
                      <a:pt x="28529" y="943781"/>
                      <a:pt x="17393" y="932645"/>
                    </a:cubicBezTo>
                    <a:cubicBezTo>
                      <a:pt x="6256" y="921509"/>
                      <a:pt x="0" y="906405"/>
                      <a:pt x="0" y="890656"/>
                    </a:cubicBezTo>
                    <a:lnTo>
                      <a:pt x="0" y="59382"/>
                    </a:lnTo>
                    <a:cubicBezTo>
                      <a:pt x="0" y="43633"/>
                      <a:pt x="6256" y="28529"/>
                      <a:pt x="17393" y="17393"/>
                    </a:cubicBezTo>
                    <a:cubicBezTo>
                      <a:pt x="28529" y="6256"/>
                      <a:pt x="43633" y="0"/>
                      <a:pt x="5938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AA84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 txBox="1"/>
              <p:nvPr/>
            </p:nvSpPr>
            <p:spPr>
              <a:xfrm>
                <a:off x="101327" y="3148901"/>
                <a:ext cx="4277400" cy="977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Analytical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Thinking</a:t>
                </a:r>
                <a:endParaRPr sz="3064" dirty="0">
                  <a:solidFill>
                    <a:srgbClr val="FFFFFF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</p:txBody>
          </p:sp>
        </p:grpSp>
        <p:sp>
          <p:nvSpPr>
            <p:cNvPr id="167" name="Google Shape;167;p15"/>
            <p:cNvSpPr txBox="1"/>
            <p:nvPr/>
          </p:nvSpPr>
          <p:spPr>
            <a:xfrm>
              <a:off x="3659849" y="1868150"/>
              <a:ext cx="5211027" cy="490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3600" dirty="0"/>
                <a:t>Solved complex problems by organizing user profiles, friend lists, and designing efficient algorithms to handle rapid user growth.</a:t>
              </a:r>
              <a:endParaRPr sz="2800" b="1" dirty="0">
                <a:latin typeface="Playfair Display" panose="020B0604020202020204" charset="0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168" name="Google Shape;168;p15"/>
          <p:cNvGrpSpPr/>
          <p:nvPr/>
        </p:nvGrpSpPr>
        <p:grpSpPr>
          <a:xfrm>
            <a:off x="8888170" y="1465346"/>
            <a:ext cx="8891830" cy="4324117"/>
            <a:chOff x="8886941" y="1465346"/>
            <a:chExt cx="8771140" cy="4208491"/>
          </a:xfrm>
        </p:grpSpPr>
        <p:sp>
          <p:nvSpPr>
            <p:cNvPr id="169" name="Google Shape;169;p15"/>
            <p:cNvSpPr/>
            <p:nvPr/>
          </p:nvSpPr>
          <p:spPr>
            <a:xfrm>
              <a:off x="9051550" y="1868150"/>
              <a:ext cx="3546201" cy="343408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15"/>
            <p:cNvGrpSpPr/>
            <p:nvPr/>
          </p:nvGrpSpPr>
          <p:grpSpPr>
            <a:xfrm>
              <a:off x="8886941" y="1465346"/>
              <a:ext cx="8771140" cy="4208491"/>
              <a:chOff x="352537" y="1540075"/>
              <a:chExt cx="8771140" cy="4362487"/>
            </a:xfrm>
          </p:grpSpPr>
          <p:sp>
            <p:nvSpPr>
              <p:cNvPr id="171" name="Google Shape;171;p15"/>
              <p:cNvSpPr txBox="1"/>
              <p:nvPr/>
            </p:nvSpPr>
            <p:spPr>
              <a:xfrm>
                <a:off x="1081188" y="2311123"/>
                <a:ext cx="2544532" cy="3141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2865700" y="1540075"/>
                <a:ext cx="6257977" cy="4362487"/>
              </a:xfrm>
              <a:custGeom>
                <a:avLst/>
                <a:gdLst/>
                <a:ahLst/>
                <a:cxnLst/>
                <a:rect l="l" t="t" r="r" b="b"/>
                <a:pathLst>
                  <a:path w="1737603" h="950037" extrusionOk="0">
                    <a:moveTo>
                      <a:pt x="59382" y="0"/>
                    </a:moveTo>
                    <a:lnTo>
                      <a:pt x="1678222" y="0"/>
                    </a:lnTo>
                    <a:cubicBezTo>
                      <a:pt x="1693971" y="0"/>
                      <a:pt x="1709075" y="6256"/>
                      <a:pt x="1720211" y="17393"/>
                    </a:cubicBezTo>
                    <a:cubicBezTo>
                      <a:pt x="1731347" y="28529"/>
                      <a:pt x="1737603" y="43633"/>
                      <a:pt x="1737603" y="59382"/>
                    </a:cubicBezTo>
                    <a:lnTo>
                      <a:pt x="1737603" y="890656"/>
                    </a:lnTo>
                    <a:cubicBezTo>
                      <a:pt x="1737603" y="906405"/>
                      <a:pt x="1731347" y="921509"/>
                      <a:pt x="1720211" y="932645"/>
                    </a:cubicBezTo>
                    <a:cubicBezTo>
                      <a:pt x="1709075" y="943781"/>
                      <a:pt x="1693971" y="950037"/>
                      <a:pt x="1678222" y="950037"/>
                    </a:cubicBezTo>
                    <a:lnTo>
                      <a:pt x="59382" y="950037"/>
                    </a:lnTo>
                    <a:cubicBezTo>
                      <a:pt x="43633" y="950037"/>
                      <a:pt x="28529" y="943781"/>
                      <a:pt x="17393" y="932645"/>
                    </a:cubicBezTo>
                    <a:cubicBezTo>
                      <a:pt x="6256" y="921509"/>
                      <a:pt x="0" y="906405"/>
                      <a:pt x="0" y="890656"/>
                    </a:cubicBezTo>
                    <a:lnTo>
                      <a:pt x="0" y="59382"/>
                    </a:lnTo>
                    <a:cubicBezTo>
                      <a:pt x="0" y="43633"/>
                      <a:pt x="6256" y="28529"/>
                      <a:pt x="17393" y="17393"/>
                    </a:cubicBezTo>
                    <a:cubicBezTo>
                      <a:pt x="28529" y="6256"/>
                      <a:pt x="43633" y="0"/>
                      <a:pt x="5938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74EA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 txBox="1"/>
              <p:nvPr/>
            </p:nvSpPr>
            <p:spPr>
              <a:xfrm>
                <a:off x="352537" y="3099515"/>
                <a:ext cx="4277400" cy="977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64" dirty="0">
                    <a:solidFill>
                      <a:srgbClr val="F3F6FA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        </a:t>
                </a:r>
                <a:r>
                  <a:rPr lang="en-US" sz="28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 </a:t>
                </a: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  Creative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             Thinking</a:t>
                </a:r>
                <a:endParaRPr sz="3064" dirty="0">
                  <a:solidFill>
                    <a:srgbClr val="FFFFFF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</p:txBody>
          </p:sp>
        </p:grpSp>
        <p:sp>
          <p:nvSpPr>
            <p:cNvPr id="174" name="Google Shape;174;p15"/>
            <p:cNvSpPr txBox="1"/>
            <p:nvPr/>
          </p:nvSpPr>
          <p:spPr>
            <a:xfrm>
              <a:off x="12724166" y="1757571"/>
              <a:ext cx="4619100" cy="32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3600" dirty="0"/>
                <a:t>Saw the gap in online social connection, creating an interactive platform with unique features like News Feed.</a:t>
              </a:r>
              <a:endParaRPr sz="2800" b="1" dirty="0">
                <a:latin typeface="Playfair Display" panose="020B0604020202020204" charset="0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175" name="Google Shape;175;p15"/>
          <p:cNvGrpSpPr/>
          <p:nvPr/>
        </p:nvGrpSpPr>
        <p:grpSpPr>
          <a:xfrm>
            <a:off x="-197829" y="5884945"/>
            <a:ext cx="8940551" cy="4208491"/>
            <a:chOff x="-223020" y="5902421"/>
            <a:chExt cx="8940551" cy="4208491"/>
          </a:xfrm>
        </p:grpSpPr>
        <p:grpSp>
          <p:nvGrpSpPr>
            <p:cNvPr id="176" name="Google Shape;176;p15"/>
            <p:cNvGrpSpPr/>
            <p:nvPr/>
          </p:nvGrpSpPr>
          <p:grpSpPr>
            <a:xfrm>
              <a:off x="-223020" y="5902421"/>
              <a:ext cx="8940551" cy="4208491"/>
              <a:chOff x="183126" y="1540075"/>
              <a:chExt cx="8940551" cy="4362487"/>
            </a:xfrm>
          </p:grpSpPr>
          <p:grpSp>
            <p:nvGrpSpPr>
              <p:cNvPr id="177" name="Google Shape;177;p15"/>
              <p:cNvGrpSpPr/>
              <p:nvPr/>
            </p:nvGrpSpPr>
            <p:grpSpPr>
              <a:xfrm>
                <a:off x="542295" y="1875209"/>
                <a:ext cx="3546986" cy="3558764"/>
                <a:chOff x="-63641" y="2"/>
                <a:chExt cx="920434" cy="812800"/>
              </a:xfrm>
            </p:grpSpPr>
            <p:sp>
              <p:nvSpPr>
                <p:cNvPr id="178" name="Google Shape;178;p15"/>
                <p:cNvSpPr/>
                <p:nvPr/>
              </p:nvSpPr>
              <p:spPr>
                <a:xfrm>
                  <a:off x="-63641" y="2"/>
                  <a:ext cx="920434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173" h="812800" extrusionOk="0">
                      <a:moveTo>
                        <a:pt x="404587" y="0"/>
                      </a:moveTo>
                      <a:cubicBezTo>
                        <a:pt x="628326" y="1001"/>
                        <a:pt x="809174" y="182659"/>
                        <a:pt x="809174" y="406400"/>
                      </a:cubicBezTo>
                      <a:cubicBezTo>
                        <a:pt x="809174" y="630141"/>
                        <a:pt x="628326" y="811799"/>
                        <a:pt x="404587" y="812800"/>
                      </a:cubicBezTo>
                      <a:cubicBezTo>
                        <a:pt x="180848" y="811799"/>
                        <a:pt x="0" y="630141"/>
                        <a:pt x="0" y="406400"/>
                      </a:cubicBezTo>
                      <a:cubicBezTo>
                        <a:pt x="0" y="182659"/>
                        <a:pt x="180848" y="1001"/>
                        <a:pt x="404587" y="0"/>
                      </a:cubicBezTo>
                      <a:close/>
                    </a:path>
                  </a:pathLst>
                </a:custGeom>
                <a:solidFill>
                  <a:srgbClr val="3D85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15"/>
                <p:cNvSpPr txBox="1"/>
                <p:nvPr/>
              </p:nvSpPr>
              <p:spPr>
                <a:xfrm>
                  <a:off x="76200" y="19050"/>
                  <a:ext cx="660300" cy="717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0" name="Google Shape;180;p15"/>
              <p:cNvSpPr/>
              <p:nvPr/>
            </p:nvSpPr>
            <p:spPr>
              <a:xfrm>
                <a:off x="2865700" y="1540075"/>
                <a:ext cx="6257977" cy="4362487"/>
              </a:xfrm>
              <a:custGeom>
                <a:avLst/>
                <a:gdLst/>
                <a:ahLst/>
                <a:cxnLst/>
                <a:rect l="l" t="t" r="r" b="b"/>
                <a:pathLst>
                  <a:path w="1737603" h="950037" extrusionOk="0">
                    <a:moveTo>
                      <a:pt x="59382" y="0"/>
                    </a:moveTo>
                    <a:lnTo>
                      <a:pt x="1678222" y="0"/>
                    </a:lnTo>
                    <a:cubicBezTo>
                      <a:pt x="1693971" y="0"/>
                      <a:pt x="1709075" y="6256"/>
                      <a:pt x="1720211" y="17393"/>
                    </a:cubicBezTo>
                    <a:cubicBezTo>
                      <a:pt x="1731347" y="28529"/>
                      <a:pt x="1737603" y="43633"/>
                      <a:pt x="1737603" y="59382"/>
                    </a:cubicBezTo>
                    <a:lnTo>
                      <a:pt x="1737603" y="890656"/>
                    </a:lnTo>
                    <a:cubicBezTo>
                      <a:pt x="1737603" y="906405"/>
                      <a:pt x="1731347" y="921509"/>
                      <a:pt x="1720211" y="932645"/>
                    </a:cubicBezTo>
                    <a:cubicBezTo>
                      <a:pt x="1709075" y="943781"/>
                      <a:pt x="1693971" y="950037"/>
                      <a:pt x="1678222" y="950037"/>
                    </a:cubicBezTo>
                    <a:lnTo>
                      <a:pt x="59382" y="950037"/>
                    </a:lnTo>
                    <a:cubicBezTo>
                      <a:pt x="43633" y="950037"/>
                      <a:pt x="28529" y="943781"/>
                      <a:pt x="17393" y="932645"/>
                    </a:cubicBezTo>
                    <a:cubicBezTo>
                      <a:pt x="6256" y="921509"/>
                      <a:pt x="0" y="906405"/>
                      <a:pt x="0" y="890656"/>
                    </a:cubicBezTo>
                    <a:lnTo>
                      <a:pt x="0" y="59382"/>
                    </a:lnTo>
                    <a:cubicBezTo>
                      <a:pt x="0" y="43633"/>
                      <a:pt x="6256" y="28529"/>
                      <a:pt x="17393" y="17393"/>
                    </a:cubicBezTo>
                    <a:cubicBezTo>
                      <a:pt x="28529" y="6256"/>
                      <a:pt x="43633" y="0"/>
                      <a:pt x="5938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 txBox="1"/>
              <p:nvPr/>
            </p:nvSpPr>
            <p:spPr>
              <a:xfrm>
                <a:off x="183126" y="3162515"/>
                <a:ext cx="4277400" cy="977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Technological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Literacy</a:t>
                </a:r>
                <a:endParaRPr sz="3064" dirty="0">
                  <a:solidFill>
                    <a:srgbClr val="FFFFFF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</p:txBody>
          </p:sp>
        </p:grpSp>
        <p:sp>
          <p:nvSpPr>
            <p:cNvPr id="182" name="Google Shape;182;p15"/>
            <p:cNvSpPr txBox="1"/>
            <p:nvPr/>
          </p:nvSpPr>
          <p:spPr>
            <a:xfrm>
              <a:off x="3657160" y="6225725"/>
              <a:ext cx="4619100" cy="32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sz="2000" b="1" dirty="0">
                <a:latin typeface="Playfair Display" panose="020B0604020202020204" charset="0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183" name="Google Shape;183;p15"/>
          <p:cNvGrpSpPr/>
          <p:nvPr/>
        </p:nvGrpSpPr>
        <p:grpSpPr>
          <a:xfrm>
            <a:off x="8656813" y="5884946"/>
            <a:ext cx="9761815" cy="4208491"/>
            <a:chOff x="8658965" y="5884946"/>
            <a:chExt cx="9378049" cy="4208491"/>
          </a:xfrm>
        </p:grpSpPr>
        <p:sp>
          <p:nvSpPr>
            <p:cNvPr id="184" name="Google Shape;184;p15"/>
            <p:cNvSpPr/>
            <p:nvPr/>
          </p:nvSpPr>
          <p:spPr>
            <a:xfrm>
              <a:off x="9051550" y="6225725"/>
              <a:ext cx="3546201" cy="343408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" name="Google Shape;185;p15"/>
            <p:cNvGrpSpPr/>
            <p:nvPr/>
          </p:nvGrpSpPr>
          <p:grpSpPr>
            <a:xfrm>
              <a:off x="8658965" y="5884946"/>
              <a:ext cx="8999117" cy="4208491"/>
              <a:chOff x="124560" y="1540075"/>
              <a:chExt cx="8999117" cy="4362487"/>
            </a:xfrm>
          </p:grpSpPr>
          <p:sp>
            <p:nvSpPr>
              <p:cNvPr id="186" name="Google Shape;186;p15"/>
              <p:cNvSpPr txBox="1"/>
              <p:nvPr/>
            </p:nvSpPr>
            <p:spPr>
              <a:xfrm>
                <a:off x="1081187" y="1958609"/>
                <a:ext cx="2544532" cy="3141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2865700" y="1540075"/>
                <a:ext cx="6257977" cy="4362487"/>
              </a:xfrm>
              <a:custGeom>
                <a:avLst/>
                <a:gdLst/>
                <a:ahLst/>
                <a:cxnLst/>
                <a:rect l="l" t="t" r="r" b="b"/>
                <a:pathLst>
                  <a:path w="1737603" h="950037" extrusionOk="0">
                    <a:moveTo>
                      <a:pt x="59382" y="0"/>
                    </a:moveTo>
                    <a:lnTo>
                      <a:pt x="1678222" y="0"/>
                    </a:lnTo>
                    <a:cubicBezTo>
                      <a:pt x="1693971" y="0"/>
                      <a:pt x="1709075" y="6256"/>
                      <a:pt x="1720211" y="17393"/>
                    </a:cubicBezTo>
                    <a:cubicBezTo>
                      <a:pt x="1731347" y="28529"/>
                      <a:pt x="1737603" y="43633"/>
                      <a:pt x="1737603" y="59382"/>
                    </a:cubicBezTo>
                    <a:lnTo>
                      <a:pt x="1737603" y="890656"/>
                    </a:lnTo>
                    <a:cubicBezTo>
                      <a:pt x="1737603" y="906405"/>
                      <a:pt x="1731347" y="921509"/>
                      <a:pt x="1720211" y="932645"/>
                    </a:cubicBezTo>
                    <a:cubicBezTo>
                      <a:pt x="1709075" y="943781"/>
                      <a:pt x="1693971" y="950037"/>
                      <a:pt x="1678222" y="950037"/>
                    </a:cubicBezTo>
                    <a:lnTo>
                      <a:pt x="59382" y="950037"/>
                    </a:lnTo>
                    <a:cubicBezTo>
                      <a:pt x="43633" y="950037"/>
                      <a:pt x="28529" y="943781"/>
                      <a:pt x="17393" y="932645"/>
                    </a:cubicBezTo>
                    <a:cubicBezTo>
                      <a:pt x="6256" y="921509"/>
                      <a:pt x="0" y="906405"/>
                      <a:pt x="0" y="890656"/>
                    </a:cubicBezTo>
                    <a:lnTo>
                      <a:pt x="0" y="59382"/>
                    </a:lnTo>
                    <a:cubicBezTo>
                      <a:pt x="0" y="43633"/>
                      <a:pt x="6256" y="28529"/>
                      <a:pt x="17393" y="17393"/>
                    </a:cubicBezTo>
                    <a:cubicBezTo>
                      <a:pt x="28529" y="6256"/>
                      <a:pt x="43633" y="0"/>
                      <a:pt x="5938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 txBox="1"/>
              <p:nvPr/>
            </p:nvSpPr>
            <p:spPr>
              <a:xfrm>
                <a:off x="124560" y="2927695"/>
                <a:ext cx="4277400" cy="1466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Resilience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Flexibility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64" dirty="0">
                    <a:solidFill>
                      <a:srgbClr val="FFFFFF"/>
                    </a:solidFill>
                    <a:latin typeface="Playfair Display Black"/>
                    <a:ea typeface="Playfair Display Black"/>
                    <a:cs typeface="Playfair Display Black"/>
                    <a:sym typeface="Playfair Display Black"/>
                  </a:rPr>
                  <a:t>Agility</a:t>
                </a:r>
                <a:endParaRPr sz="3064" dirty="0">
                  <a:solidFill>
                    <a:srgbClr val="FFFFFF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endParaRPr>
              </a:p>
            </p:txBody>
          </p:sp>
        </p:grpSp>
        <p:sp>
          <p:nvSpPr>
            <p:cNvPr id="189" name="Google Shape;189;p15"/>
            <p:cNvSpPr txBox="1"/>
            <p:nvPr/>
          </p:nvSpPr>
          <p:spPr>
            <a:xfrm>
              <a:off x="12597751" y="6430140"/>
              <a:ext cx="5439263" cy="32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3200" dirty="0"/>
                <a:t>Overcame legal disputes, team conflicts, and investor pressures; adapted to rapid growth and challenges, ensuring Facebook’s continuous expansion.</a:t>
              </a:r>
              <a:endParaRPr sz="2400" b="1" dirty="0">
                <a:latin typeface="Playfair Display" panose="020B0604020202020204" charset="0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53B3C9-C7D6-B7C3-E808-C1B07282233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873909" y="6266711"/>
            <a:ext cx="47829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Wrote most of the initial code himself, building user-friendly and scalable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20"/>
          <p:cNvGrpSpPr/>
          <p:nvPr/>
        </p:nvGrpSpPr>
        <p:grpSpPr>
          <a:xfrm>
            <a:off x="10959176" y="689550"/>
            <a:ext cx="6300091" cy="8930628"/>
            <a:chOff x="0" y="-38100"/>
            <a:chExt cx="2137363" cy="2352084"/>
          </a:xfrm>
        </p:grpSpPr>
        <p:sp>
          <p:nvSpPr>
            <p:cNvPr id="335" name="Google Shape;335;p20"/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20"/>
          <p:cNvGrpSpPr/>
          <p:nvPr/>
        </p:nvGrpSpPr>
        <p:grpSpPr>
          <a:xfrm>
            <a:off x="16493527" y="1280385"/>
            <a:ext cx="406852" cy="408676"/>
            <a:chOff x="1813" y="0"/>
            <a:chExt cx="809173" cy="812800"/>
          </a:xfrm>
        </p:grpSpPr>
        <p:sp>
          <p:nvSpPr>
            <p:cNvPr id="338" name="Google Shape;338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0"/>
          <p:cNvGrpSpPr/>
          <p:nvPr/>
        </p:nvGrpSpPr>
        <p:grpSpPr>
          <a:xfrm>
            <a:off x="17057202" y="1280385"/>
            <a:ext cx="406852" cy="408676"/>
            <a:chOff x="1813" y="0"/>
            <a:chExt cx="809173" cy="812800"/>
          </a:xfrm>
        </p:grpSpPr>
        <p:sp>
          <p:nvSpPr>
            <p:cNvPr id="341" name="Google Shape;341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17618249" y="1280385"/>
            <a:ext cx="406852" cy="408676"/>
            <a:chOff x="1813" y="0"/>
            <a:chExt cx="809173" cy="812800"/>
          </a:xfrm>
        </p:grpSpPr>
        <p:sp>
          <p:nvSpPr>
            <p:cNvPr id="344" name="Google Shape;344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20"/>
          <p:cNvGrpSpPr/>
          <p:nvPr/>
        </p:nvGrpSpPr>
        <p:grpSpPr>
          <a:xfrm>
            <a:off x="10207027" y="8752048"/>
            <a:ext cx="406852" cy="408676"/>
            <a:chOff x="1813" y="0"/>
            <a:chExt cx="809173" cy="812800"/>
          </a:xfrm>
        </p:grpSpPr>
        <p:sp>
          <p:nvSpPr>
            <p:cNvPr id="347" name="Google Shape;34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20"/>
          <p:cNvGrpSpPr/>
          <p:nvPr/>
        </p:nvGrpSpPr>
        <p:grpSpPr>
          <a:xfrm>
            <a:off x="10770702" y="8752048"/>
            <a:ext cx="406852" cy="408676"/>
            <a:chOff x="1813" y="0"/>
            <a:chExt cx="809173" cy="812800"/>
          </a:xfrm>
        </p:grpSpPr>
        <p:sp>
          <p:nvSpPr>
            <p:cNvPr id="350" name="Google Shape;350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20"/>
          <p:cNvGrpSpPr/>
          <p:nvPr/>
        </p:nvGrpSpPr>
        <p:grpSpPr>
          <a:xfrm>
            <a:off x="11331749" y="8752048"/>
            <a:ext cx="406852" cy="408676"/>
            <a:chOff x="1813" y="0"/>
            <a:chExt cx="809173" cy="812800"/>
          </a:xfrm>
        </p:grpSpPr>
        <p:sp>
          <p:nvSpPr>
            <p:cNvPr id="353" name="Google Shape;353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0"/>
          <p:cNvSpPr txBox="1"/>
          <p:nvPr/>
        </p:nvSpPr>
        <p:spPr>
          <a:xfrm>
            <a:off x="11285725" y="2825250"/>
            <a:ext cx="5462700" cy="4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Advice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&amp;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exercises</a:t>
            </a:r>
            <a:endParaRPr sz="9000" dirty="0">
              <a:solidFill>
                <a:srgbClr val="FFFFFF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498459" y="1484723"/>
            <a:ext cx="9617100" cy="8294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 b="1" dirty="0"/>
              <a:t>Analytical Thinking</a:t>
            </a:r>
          </a:p>
          <a:p>
            <a:r>
              <a:rPr lang="en-GB" sz="2800" b="1" dirty="0"/>
              <a:t>Activity: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Engage in data analysis and logic puzzles.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Participate in coding challenges on platforms like </a:t>
            </a:r>
            <a:r>
              <a:rPr lang="en-GB" sz="2800" dirty="0" err="1"/>
              <a:t>Kaggle</a:t>
            </a:r>
            <a:r>
              <a:rPr lang="en-GB" sz="2800" dirty="0"/>
              <a:t>.</a:t>
            </a:r>
          </a:p>
          <a:p>
            <a:r>
              <a:rPr lang="en-GB" sz="2800" b="1" dirty="0"/>
              <a:t>Exercise: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Break down real-world problems (e.g., social media trends).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Solve chess or math puzzles for logical reasoning.</a:t>
            </a:r>
          </a:p>
          <a:p>
            <a:r>
              <a:rPr lang="en-GB" sz="2800" b="1" dirty="0"/>
              <a:t>Creative Thinking</a:t>
            </a:r>
          </a:p>
          <a:p>
            <a:r>
              <a:rPr lang="en-GB" sz="2800" b="1" dirty="0"/>
              <a:t>Activity: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Organize brainstorming sessions for innovative problem-solving.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Engage in creative hobbies (writing, painting, design workshops).</a:t>
            </a:r>
          </a:p>
          <a:p>
            <a:r>
              <a:rPr lang="en-GB" sz="2800" b="1" dirty="0"/>
              <a:t>Exercise: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Conduct idea sprints for unique solutions.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Challenge assumptions with "What if" scenarios.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20"/>
          <p:cNvGrpSpPr/>
          <p:nvPr/>
        </p:nvGrpSpPr>
        <p:grpSpPr>
          <a:xfrm>
            <a:off x="10959176" y="689550"/>
            <a:ext cx="6300091" cy="8930628"/>
            <a:chOff x="0" y="-38100"/>
            <a:chExt cx="2137363" cy="2352084"/>
          </a:xfrm>
        </p:grpSpPr>
        <p:sp>
          <p:nvSpPr>
            <p:cNvPr id="335" name="Google Shape;335;p20"/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20"/>
          <p:cNvGrpSpPr/>
          <p:nvPr/>
        </p:nvGrpSpPr>
        <p:grpSpPr>
          <a:xfrm>
            <a:off x="16493527" y="1280385"/>
            <a:ext cx="406852" cy="408676"/>
            <a:chOff x="1813" y="0"/>
            <a:chExt cx="809173" cy="812800"/>
          </a:xfrm>
        </p:grpSpPr>
        <p:sp>
          <p:nvSpPr>
            <p:cNvPr id="338" name="Google Shape;338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0"/>
          <p:cNvGrpSpPr/>
          <p:nvPr/>
        </p:nvGrpSpPr>
        <p:grpSpPr>
          <a:xfrm>
            <a:off x="17057202" y="1280385"/>
            <a:ext cx="406852" cy="408676"/>
            <a:chOff x="1813" y="0"/>
            <a:chExt cx="809173" cy="812800"/>
          </a:xfrm>
        </p:grpSpPr>
        <p:sp>
          <p:nvSpPr>
            <p:cNvPr id="341" name="Google Shape;341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17618249" y="1280385"/>
            <a:ext cx="406852" cy="408676"/>
            <a:chOff x="1813" y="0"/>
            <a:chExt cx="809173" cy="812800"/>
          </a:xfrm>
        </p:grpSpPr>
        <p:sp>
          <p:nvSpPr>
            <p:cNvPr id="344" name="Google Shape;344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20"/>
          <p:cNvGrpSpPr/>
          <p:nvPr/>
        </p:nvGrpSpPr>
        <p:grpSpPr>
          <a:xfrm>
            <a:off x="10207027" y="8752048"/>
            <a:ext cx="406852" cy="408676"/>
            <a:chOff x="1813" y="0"/>
            <a:chExt cx="809173" cy="812800"/>
          </a:xfrm>
        </p:grpSpPr>
        <p:sp>
          <p:nvSpPr>
            <p:cNvPr id="347" name="Google Shape;34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20"/>
          <p:cNvGrpSpPr/>
          <p:nvPr/>
        </p:nvGrpSpPr>
        <p:grpSpPr>
          <a:xfrm>
            <a:off x="10770702" y="8752048"/>
            <a:ext cx="406852" cy="408676"/>
            <a:chOff x="1813" y="0"/>
            <a:chExt cx="809173" cy="812800"/>
          </a:xfrm>
        </p:grpSpPr>
        <p:sp>
          <p:nvSpPr>
            <p:cNvPr id="350" name="Google Shape;350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20"/>
          <p:cNvGrpSpPr/>
          <p:nvPr/>
        </p:nvGrpSpPr>
        <p:grpSpPr>
          <a:xfrm>
            <a:off x="11331749" y="8752048"/>
            <a:ext cx="406852" cy="408676"/>
            <a:chOff x="1813" y="0"/>
            <a:chExt cx="809173" cy="812800"/>
          </a:xfrm>
        </p:grpSpPr>
        <p:sp>
          <p:nvSpPr>
            <p:cNvPr id="353" name="Google Shape;353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0"/>
          <p:cNvSpPr txBox="1"/>
          <p:nvPr/>
        </p:nvSpPr>
        <p:spPr>
          <a:xfrm>
            <a:off x="11285725" y="2825250"/>
            <a:ext cx="5462700" cy="4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Advice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&amp;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FFFFFF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exercises</a:t>
            </a:r>
            <a:endParaRPr sz="9000" dirty="0">
              <a:solidFill>
                <a:srgbClr val="FFFFFF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470506" y="1276528"/>
            <a:ext cx="9617100" cy="872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 b="1" dirty="0"/>
              <a:t>Technological Literacy</a:t>
            </a:r>
          </a:p>
          <a:p>
            <a:r>
              <a:rPr lang="en-GB" sz="2800" b="1" dirty="0"/>
              <a:t>Activity: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Join coding boot camps or online courses (Coursera, </a:t>
            </a:r>
            <a:r>
              <a:rPr lang="en-GB" sz="2800" dirty="0" err="1"/>
              <a:t>edX</a:t>
            </a:r>
            <a:r>
              <a:rPr lang="en-GB" sz="2800" dirty="0"/>
              <a:t>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Work on hands-on coding projects (websites, apps, AI models).</a:t>
            </a:r>
          </a:p>
          <a:p>
            <a:r>
              <a:rPr lang="en-GB" sz="2800" b="1" dirty="0"/>
              <a:t>Exercise: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Build a small application or website using Python or JavaScript.</a:t>
            </a:r>
          </a:p>
          <a:p>
            <a:r>
              <a:rPr lang="en-GB" sz="2800" b="1" dirty="0"/>
              <a:t>Resilience, Flexibility, and Agility</a:t>
            </a:r>
          </a:p>
          <a:p>
            <a:r>
              <a:rPr lang="en-GB" sz="2800" b="1" dirty="0"/>
              <a:t>Activity: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Organize group activities with tight deadlines to simulate real-world challenges.</a:t>
            </a:r>
          </a:p>
          <a:p>
            <a:r>
              <a:rPr lang="en-GB" sz="2800" b="1" dirty="0"/>
              <a:t>Exercise:</a:t>
            </a:r>
            <a:r>
              <a:rPr lang="en-GB" sz="2800" dirty="0"/>
              <a:t>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Practice mindfulness through yoga, meditation, or journaling.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/>
              <a:t>Reflect on challenges to develop self-awareness and adaptability</a:t>
            </a:r>
          </a:p>
          <a:p>
            <a:br>
              <a:rPr lang="en-US" sz="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589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22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383" name="Google Shape;383;p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22"/>
          <p:cNvSpPr txBox="1"/>
          <p:nvPr/>
        </p:nvSpPr>
        <p:spPr>
          <a:xfrm>
            <a:off x="6849371" y="7382658"/>
            <a:ext cx="99090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Conclusion</a:t>
            </a:r>
            <a:endParaRPr/>
          </a:p>
        </p:txBody>
      </p:sp>
      <p:grpSp>
        <p:nvGrpSpPr>
          <p:cNvPr id="386" name="Google Shape;386;p22"/>
          <p:cNvGrpSpPr/>
          <p:nvPr/>
        </p:nvGrpSpPr>
        <p:grpSpPr>
          <a:xfrm>
            <a:off x="-3233490" y="5979520"/>
            <a:ext cx="6999655" cy="8614961"/>
            <a:chOff x="0" y="0"/>
            <a:chExt cx="9332874" cy="11486614"/>
          </a:xfrm>
        </p:grpSpPr>
        <p:grpSp>
          <p:nvGrpSpPr>
            <p:cNvPr id="387" name="Google Shape;387;p22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88" name="Google Shape;388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2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91" name="Google Shape;391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2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94" name="Google Shape;394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2"/>
          <p:cNvGrpSpPr/>
          <p:nvPr/>
        </p:nvGrpSpPr>
        <p:grpSpPr>
          <a:xfrm rot="10800000">
            <a:off x="13557529" y="-3278780"/>
            <a:ext cx="6999655" cy="8614961"/>
            <a:chOff x="0" y="0"/>
            <a:chExt cx="9332874" cy="11486614"/>
          </a:xfrm>
        </p:grpSpPr>
        <p:grpSp>
          <p:nvGrpSpPr>
            <p:cNvPr id="397" name="Google Shape;397;p22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98" name="Google Shape;398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" name="Google Shape;400;p22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401" name="Google Shape;401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22"/>
            <p:cNvGrpSpPr/>
            <p:nvPr/>
          </p:nvGrpSpPr>
          <p:grpSpPr>
            <a:xfrm>
              <a:off x="1083502" y="1333541"/>
              <a:ext cx="7165870" cy="8821161"/>
              <a:chOff x="0" y="0"/>
              <a:chExt cx="660400" cy="812950"/>
            </a:xfrm>
          </p:grpSpPr>
          <p:sp>
            <p:nvSpPr>
              <p:cNvPr id="404" name="Google Shape;404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2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6" name="Google Shape;406;p22"/>
          <p:cNvCxnSpPr/>
          <p:nvPr/>
        </p:nvCxnSpPr>
        <p:spPr>
          <a:xfrm>
            <a:off x="4638177" y="224598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07" name="Google Shape;407;p22"/>
          <p:cNvGrpSpPr/>
          <p:nvPr/>
        </p:nvGrpSpPr>
        <p:grpSpPr>
          <a:xfrm>
            <a:off x="3262610" y="2079760"/>
            <a:ext cx="406852" cy="408676"/>
            <a:chOff x="1813" y="0"/>
            <a:chExt cx="809173" cy="812800"/>
          </a:xfrm>
        </p:grpSpPr>
        <p:sp>
          <p:nvSpPr>
            <p:cNvPr id="408" name="Google Shape;408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22"/>
          <p:cNvGrpSpPr/>
          <p:nvPr/>
        </p:nvGrpSpPr>
        <p:grpSpPr>
          <a:xfrm>
            <a:off x="2759484" y="2079760"/>
            <a:ext cx="406852" cy="408676"/>
            <a:chOff x="1813" y="0"/>
            <a:chExt cx="809173" cy="812800"/>
          </a:xfrm>
        </p:grpSpPr>
        <p:sp>
          <p:nvSpPr>
            <p:cNvPr id="411" name="Google Shape;411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22"/>
          <p:cNvGrpSpPr/>
          <p:nvPr/>
        </p:nvGrpSpPr>
        <p:grpSpPr>
          <a:xfrm>
            <a:off x="2253731" y="2079760"/>
            <a:ext cx="406852" cy="408676"/>
            <a:chOff x="1813" y="0"/>
            <a:chExt cx="809173" cy="812800"/>
          </a:xfrm>
        </p:grpSpPr>
        <p:sp>
          <p:nvSpPr>
            <p:cNvPr id="414" name="Google Shape;414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22"/>
          <p:cNvSpPr txBox="1"/>
          <p:nvPr/>
        </p:nvSpPr>
        <p:spPr>
          <a:xfrm>
            <a:off x="2757205" y="2555543"/>
            <a:ext cx="10542300" cy="3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en-GB" sz="2800" b="1" dirty="0">
                <a:solidFill>
                  <a:schemeClr val="bg1"/>
                </a:solidFill>
                <a:latin typeface="Playfair Display" panose="020B0604020202020204" charset="0"/>
              </a:rPr>
              <a:t>The journey of Mark Zuckerberg in </a:t>
            </a:r>
            <a:r>
              <a:rPr lang="en-GB" sz="2800" b="1" i="1" dirty="0">
                <a:solidFill>
                  <a:schemeClr val="bg1"/>
                </a:solidFill>
                <a:latin typeface="Playfair Display" panose="020B0604020202020204" charset="0"/>
              </a:rPr>
              <a:t>The Social Network</a:t>
            </a:r>
            <a:r>
              <a:rPr lang="en-GB" sz="2800" b="1" dirty="0">
                <a:solidFill>
                  <a:schemeClr val="bg1"/>
                </a:solidFill>
                <a:latin typeface="Playfair Display" panose="020B0604020202020204" charset="0"/>
              </a:rPr>
              <a:t> illustrates the pivotal role of essential skills such as analytical thinking, creative thinking, technological literacy, and resilience in achieving success. Through his innovative approach, Zuckerberg transformed a simple idea into a global phenomenon, demonstrating that a combination of technical expertise and adaptive problem-solving is crucial in the fast-paced world of technology</a:t>
            </a:r>
            <a:endParaRPr sz="2650" b="1" dirty="0">
              <a:solidFill>
                <a:schemeClr val="bg1"/>
              </a:solidFill>
              <a:highlight>
                <a:srgbClr val="000000"/>
              </a:highlight>
              <a:latin typeface="Playfair Display" panose="020B0604020202020204" charset="0"/>
              <a:ea typeface="Playfair Display ExtraBold"/>
              <a:cs typeface="Playfair Display ExtraBold"/>
              <a:sym typeface="Playfair Displ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23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23"/>
          <p:cNvGrpSpPr/>
          <p:nvPr/>
        </p:nvGrpSpPr>
        <p:grpSpPr>
          <a:xfrm>
            <a:off x="3729073" y="2503986"/>
            <a:ext cx="10767979" cy="5555793"/>
            <a:chOff x="0" y="-38100"/>
            <a:chExt cx="4274726" cy="2205567"/>
          </a:xfrm>
        </p:grpSpPr>
        <p:sp>
          <p:nvSpPr>
            <p:cNvPr id="423" name="Google Shape;423;p2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34511" y="0"/>
                  </a:moveTo>
                  <a:lnTo>
                    <a:pt x="4240215" y="0"/>
                  </a:lnTo>
                  <a:cubicBezTo>
                    <a:pt x="4249368" y="0"/>
                    <a:pt x="4258146" y="3636"/>
                    <a:pt x="4264618" y="10108"/>
                  </a:cubicBezTo>
                  <a:cubicBezTo>
                    <a:pt x="4271090" y="16580"/>
                    <a:pt x="4274726" y="25358"/>
                    <a:pt x="4274726" y="34511"/>
                  </a:cubicBezTo>
                  <a:lnTo>
                    <a:pt x="4274726" y="2132956"/>
                  </a:lnTo>
                  <a:cubicBezTo>
                    <a:pt x="4274726" y="2142109"/>
                    <a:pt x="4271090" y="2150887"/>
                    <a:pt x="4264618" y="2157359"/>
                  </a:cubicBezTo>
                  <a:cubicBezTo>
                    <a:pt x="4258146" y="2163831"/>
                    <a:pt x="4249368" y="2167467"/>
                    <a:pt x="4240215" y="2167467"/>
                  </a:cubicBezTo>
                  <a:lnTo>
                    <a:pt x="34511" y="2167467"/>
                  </a:lnTo>
                  <a:cubicBezTo>
                    <a:pt x="25358" y="2167467"/>
                    <a:pt x="16580" y="2163831"/>
                    <a:pt x="10108" y="2157359"/>
                  </a:cubicBezTo>
                  <a:cubicBezTo>
                    <a:pt x="3636" y="2150887"/>
                    <a:pt x="0" y="2142109"/>
                    <a:pt x="0" y="2132956"/>
                  </a:cubicBezTo>
                  <a:lnTo>
                    <a:pt x="0" y="34511"/>
                  </a:lnTo>
                  <a:cubicBezTo>
                    <a:pt x="0" y="25358"/>
                    <a:pt x="3636" y="16580"/>
                    <a:pt x="10108" y="10108"/>
                  </a:cubicBezTo>
                  <a:cubicBezTo>
                    <a:pt x="16580" y="3636"/>
                    <a:pt x="25358" y="0"/>
                    <a:pt x="34511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23"/>
          <p:cNvSpPr txBox="1"/>
          <p:nvPr/>
        </p:nvSpPr>
        <p:spPr>
          <a:xfrm>
            <a:off x="4484260" y="4457708"/>
            <a:ext cx="93195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thank you!</a:t>
            </a:r>
            <a:endParaRPr/>
          </a:p>
        </p:txBody>
      </p:sp>
      <p:grpSp>
        <p:nvGrpSpPr>
          <p:cNvPr id="426" name="Google Shape;426;p23"/>
          <p:cNvGrpSpPr/>
          <p:nvPr/>
        </p:nvGrpSpPr>
        <p:grpSpPr>
          <a:xfrm>
            <a:off x="8378227" y="7049528"/>
            <a:ext cx="406823" cy="408647"/>
            <a:chOff x="1813" y="0"/>
            <a:chExt cx="809173" cy="812800"/>
          </a:xfrm>
        </p:grpSpPr>
        <p:sp>
          <p:nvSpPr>
            <p:cNvPr id="427" name="Google Shape;427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23"/>
          <p:cNvGrpSpPr/>
          <p:nvPr/>
        </p:nvGrpSpPr>
        <p:grpSpPr>
          <a:xfrm>
            <a:off x="8941902" y="7049528"/>
            <a:ext cx="406823" cy="408647"/>
            <a:chOff x="1813" y="0"/>
            <a:chExt cx="809173" cy="812800"/>
          </a:xfrm>
        </p:grpSpPr>
        <p:sp>
          <p:nvSpPr>
            <p:cNvPr id="430" name="Google Shape;430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23"/>
          <p:cNvGrpSpPr/>
          <p:nvPr/>
        </p:nvGrpSpPr>
        <p:grpSpPr>
          <a:xfrm>
            <a:off x="9502949" y="7049528"/>
            <a:ext cx="406823" cy="408647"/>
            <a:chOff x="1813" y="0"/>
            <a:chExt cx="809173" cy="812800"/>
          </a:xfrm>
        </p:grpSpPr>
        <p:sp>
          <p:nvSpPr>
            <p:cNvPr id="433" name="Google Shape;433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23"/>
          <p:cNvGrpSpPr/>
          <p:nvPr/>
        </p:nvGrpSpPr>
        <p:grpSpPr>
          <a:xfrm>
            <a:off x="15248741" y="5672661"/>
            <a:ext cx="6078519" cy="7481254"/>
            <a:chOff x="0" y="0"/>
            <a:chExt cx="8104692" cy="9975005"/>
          </a:xfrm>
        </p:grpSpPr>
        <p:grpSp>
          <p:nvGrpSpPr>
            <p:cNvPr id="436" name="Google Shape;436;p23"/>
            <p:cNvGrpSpPr/>
            <p:nvPr/>
          </p:nvGrpSpPr>
          <p:grpSpPr>
            <a:xfrm>
              <a:off x="0" y="0"/>
              <a:ext cx="8104692" cy="9975005"/>
              <a:chOff x="0" y="0"/>
              <a:chExt cx="660400" cy="812800"/>
            </a:xfrm>
          </p:grpSpPr>
          <p:sp>
            <p:nvSpPr>
              <p:cNvPr id="437" name="Google Shape;437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23"/>
            <p:cNvGrpSpPr/>
            <p:nvPr/>
          </p:nvGrpSpPr>
          <p:grpSpPr>
            <a:xfrm>
              <a:off x="473486" y="582752"/>
              <a:ext cx="7157719" cy="8809501"/>
              <a:chOff x="0" y="0"/>
              <a:chExt cx="660400" cy="812800"/>
            </a:xfrm>
          </p:grpSpPr>
          <p:sp>
            <p:nvSpPr>
              <p:cNvPr id="440" name="Google Shape;440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23"/>
            <p:cNvGrpSpPr/>
            <p:nvPr/>
          </p:nvGrpSpPr>
          <p:grpSpPr>
            <a:xfrm>
              <a:off x="940916" y="1158050"/>
              <a:ext cx="6222860" cy="7658905"/>
              <a:chOff x="0" y="0"/>
              <a:chExt cx="660400" cy="812800"/>
            </a:xfrm>
          </p:grpSpPr>
          <p:sp>
            <p:nvSpPr>
              <p:cNvPr id="443" name="Google Shape;443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5" name="Google Shape;445;p23"/>
          <p:cNvGrpSpPr/>
          <p:nvPr/>
        </p:nvGrpSpPr>
        <p:grpSpPr>
          <a:xfrm rot="10800000">
            <a:off x="-2349446" y="-3255996"/>
            <a:ext cx="6078519" cy="7481254"/>
            <a:chOff x="0" y="0"/>
            <a:chExt cx="8104692" cy="9975005"/>
          </a:xfrm>
        </p:grpSpPr>
        <p:grpSp>
          <p:nvGrpSpPr>
            <p:cNvPr id="446" name="Google Shape;446;p23"/>
            <p:cNvGrpSpPr/>
            <p:nvPr/>
          </p:nvGrpSpPr>
          <p:grpSpPr>
            <a:xfrm>
              <a:off x="0" y="0"/>
              <a:ext cx="8104692" cy="9975005"/>
              <a:chOff x="0" y="0"/>
              <a:chExt cx="660400" cy="812800"/>
            </a:xfrm>
          </p:grpSpPr>
          <p:sp>
            <p:nvSpPr>
              <p:cNvPr id="447" name="Google Shape;447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23"/>
            <p:cNvGrpSpPr/>
            <p:nvPr/>
          </p:nvGrpSpPr>
          <p:grpSpPr>
            <a:xfrm>
              <a:off x="473486" y="582752"/>
              <a:ext cx="7157719" cy="8809501"/>
              <a:chOff x="0" y="0"/>
              <a:chExt cx="660400" cy="812800"/>
            </a:xfrm>
          </p:grpSpPr>
          <p:sp>
            <p:nvSpPr>
              <p:cNvPr id="450" name="Google Shape;450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23"/>
            <p:cNvGrpSpPr/>
            <p:nvPr/>
          </p:nvGrpSpPr>
          <p:grpSpPr>
            <a:xfrm>
              <a:off x="940916" y="1158050"/>
              <a:ext cx="6222860" cy="7658905"/>
              <a:chOff x="0" y="0"/>
              <a:chExt cx="660400" cy="812800"/>
            </a:xfrm>
          </p:grpSpPr>
          <p:sp>
            <p:nvSpPr>
              <p:cNvPr id="453" name="Google Shape;453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476</Words>
  <Application>Microsoft Office PowerPoint</Application>
  <PresentationFormat>Custom</PresentationFormat>
  <Paragraphs>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Playfair Display Black</vt:lpstr>
      <vt:lpstr>Playfair Display SemiBold</vt:lpstr>
      <vt:lpstr>Arial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L215692Muhammad Hassan KhaLid</cp:lastModifiedBy>
  <cp:revision>11</cp:revision>
  <dcterms:modified xsi:type="dcterms:W3CDTF">2024-10-27T19:17:30Z</dcterms:modified>
</cp:coreProperties>
</file>