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3" r:id="rId4"/>
    <p:sldId id="268" r:id="rId5"/>
    <p:sldId id="265" r:id="rId6"/>
    <p:sldId id="266" r:id="rId7"/>
    <p:sldId id="267" r:id="rId8"/>
    <p:sldId id="261" r:id="rId9"/>
    <p:sldId id="258" r:id="rId10"/>
    <p:sldId id="260" r:id="rId11"/>
    <p:sldId id="262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maid Umer Khan" userId="33f51f7858fad23e" providerId="LiveId" clId="{D47EEFCD-618B-4B28-A245-595E3E5175FC}"/>
    <pc:docChg chg="custSel addSld modSld">
      <pc:chgData name="Summaid Umer Khan" userId="33f51f7858fad23e" providerId="LiveId" clId="{D47EEFCD-618B-4B28-A245-595E3E5175FC}" dt="2024-08-21T05:57:49.100" v="21" actId="26606"/>
      <pc:docMkLst>
        <pc:docMk/>
      </pc:docMkLst>
      <pc:sldChg chg="addSp delSp modSp mod setBg">
        <pc:chgData name="Summaid Umer Khan" userId="33f51f7858fad23e" providerId="LiveId" clId="{D47EEFCD-618B-4B28-A245-595E3E5175FC}" dt="2024-08-20T08:13:39.408" v="4" actId="26606"/>
        <pc:sldMkLst>
          <pc:docMk/>
          <pc:sldMk cId="3292017965" sldId="272"/>
        </pc:sldMkLst>
        <pc:spChg chg="del">
          <ac:chgData name="Summaid Umer Khan" userId="33f51f7858fad23e" providerId="LiveId" clId="{D47EEFCD-618B-4B28-A245-595E3E5175FC}" dt="2024-08-20T08:13:39.408" v="4" actId="26606"/>
          <ac:spMkLst>
            <pc:docMk/>
            <pc:sldMk cId="3292017965" sldId="272"/>
            <ac:spMk id="2" creationId="{9DB08BA4-4E86-5FD2-FE73-61C1DD4B67E5}"/>
          </ac:spMkLst>
        </pc:spChg>
        <pc:spChg chg="del">
          <ac:chgData name="Summaid Umer Khan" userId="33f51f7858fad23e" providerId="LiveId" clId="{D47EEFCD-618B-4B28-A245-595E3E5175FC}" dt="2024-08-20T08:13:27.496" v="0" actId="22"/>
          <ac:spMkLst>
            <pc:docMk/>
            <pc:sldMk cId="3292017965" sldId="272"/>
            <ac:spMk id="3" creationId="{423BD1A3-8152-4691-81ED-B6445A877743}"/>
          </ac:spMkLst>
        </pc:spChg>
        <pc:picChg chg="add mod ord">
          <ac:chgData name="Summaid Umer Khan" userId="33f51f7858fad23e" providerId="LiveId" clId="{D47EEFCD-618B-4B28-A245-595E3E5175FC}" dt="2024-08-20T08:13:39.408" v="4" actId="26606"/>
          <ac:picMkLst>
            <pc:docMk/>
            <pc:sldMk cId="3292017965" sldId="272"/>
            <ac:picMk id="5" creationId="{540B4C90-7956-ACA1-7780-1363E16824DF}"/>
          </ac:picMkLst>
        </pc:picChg>
      </pc:sldChg>
      <pc:sldChg chg="addSp modSp new mod">
        <pc:chgData name="Summaid Umer Khan" userId="33f51f7858fad23e" providerId="LiveId" clId="{D47EEFCD-618B-4B28-A245-595E3E5175FC}" dt="2024-08-20T08:24:00.446" v="10" actId="14100"/>
        <pc:sldMkLst>
          <pc:docMk/>
          <pc:sldMk cId="337880052" sldId="273"/>
        </pc:sldMkLst>
        <pc:picChg chg="add mod">
          <ac:chgData name="Summaid Umer Khan" userId="33f51f7858fad23e" providerId="LiveId" clId="{D47EEFCD-618B-4B28-A245-595E3E5175FC}" dt="2024-08-20T08:24:00.446" v="10" actId="14100"/>
          <ac:picMkLst>
            <pc:docMk/>
            <pc:sldMk cId="337880052" sldId="273"/>
            <ac:picMk id="5" creationId="{11F8DA01-51EF-3708-BD62-E7FD9628EF72}"/>
          </ac:picMkLst>
        </pc:picChg>
      </pc:sldChg>
      <pc:sldChg chg="addSp modSp new mod">
        <pc:chgData name="Summaid Umer Khan" userId="33f51f7858fad23e" providerId="LiveId" clId="{D47EEFCD-618B-4B28-A245-595E3E5175FC}" dt="2024-08-20T08:27:51.652" v="17" actId="1035"/>
        <pc:sldMkLst>
          <pc:docMk/>
          <pc:sldMk cId="839344827" sldId="274"/>
        </pc:sldMkLst>
        <pc:picChg chg="add mod">
          <ac:chgData name="Summaid Umer Khan" userId="33f51f7858fad23e" providerId="LiveId" clId="{D47EEFCD-618B-4B28-A245-595E3E5175FC}" dt="2024-08-20T08:27:51.652" v="17" actId="1035"/>
          <ac:picMkLst>
            <pc:docMk/>
            <pc:sldMk cId="839344827" sldId="274"/>
            <ac:picMk id="5" creationId="{9AE780A4-39A7-8D37-5080-D3F34BBBF799}"/>
          </ac:picMkLst>
        </pc:picChg>
      </pc:sldChg>
      <pc:sldChg chg="addSp delSp modSp new mod setBg">
        <pc:chgData name="Summaid Umer Khan" userId="33f51f7858fad23e" providerId="LiveId" clId="{D47EEFCD-618B-4B28-A245-595E3E5175FC}" dt="2024-08-21T05:57:49.100" v="21" actId="26606"/>
        <pc:sldMkLst>
          <pc:docMk/>
          <pc:sldMk cId="2118488943" sldId="275"/>
        </pc:sldMkLst>
        <pc:spChg chg="del">
          <ac:chgData name="Summaid Umer Khan" userId="33f51f7858fad23e" providerId="LiveId" clId="{D47EEFCD-618B-4B28-A245-595E3E5175FC}" dt="2024-08-21T05:57:49.100" v="21" actId="26606"/>
          <ac:spMkLst>
            <pc:docMk/>
            <pc:sldMk cId="2118488943" sldId="275"/>
            <ac:spMk id="2" creationId="{7D599A23-CAA3-B98F-0DC3-1670D4342F48}"/>
          </ac:spMkLst>
        </pc:spChg>
        <pc:spChg chg="del">
          <ac:chgData name="Summaid Umer Khan" userId="33f51f7858fad23e" providerId="LiveId" clId="{D47EEFCD-618B-4B28-A245-595E3E5175FC}" dt="2024-08-21T05:57:42.732" v="19" actId="22"/>
          <ac:spMkLst>
            <pc:docMk/>
            <pc:sldMk cId="2118488943" sldId="275"/>
            <ac:spMk id="3" creationId="{3BADE335-347F-4ABA-49BC-581DC52121B2}"/>
          </ac:spMkLst>
        </pc:spChg>
        <pc:picChg chg="add mod ord">
          <ac:chgData name="Summaid Umer Khan" userId="33f51f7858fad23e" providerId="LiveId" clId="{D47EEFCD-618B-4B28-A245-595E3E5175FC}" dt="2024-08-21T05:57:49.100" v="21" actId="26606"/>
          <ac:picMkLst>
            <pc:docMk/>
            <pc:sldMk cId="2118488943" sldId="275"/>
            <ac:picMk id="5" creationId="{F5FF225A-C856-A283-8DA5-2A7B842DCB8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843C44-E3F4-4112-B655-F6CE952C0074}" type="datetimeFigureOut">
              <a:rPr lang="en-SG" smtClean="0"/>
              <a:t>21/8/2024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B6A06-CC9E-42DC-B434-BF33C88F66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26908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"learning without being explicitly programmed" refers to the model's ability to develop its understanding or rules based on data, rather than relying on hardcoded instructions.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B6A06-CC9E-42DC-B434-BF33C88F666A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54197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latent variable</a:t>
            </a:r>
            <a:r>
              <a:rPr lang="en-US" dirty="0"/>
              <a:t> refers to an unobserved or hidden variable that cannot be directly measured but is inferred from other variables that can be observed or measured.</a:t>
            </a:r>
          </a:p>
          <a:p>
            <a:endParaRPr lang="en-US" dirty="0"/>
          </a:p>
          <a:p>
            <a:r>
              <a:rPr lang="en-US" dirty="0"/>
              <a:t>Latent variables are powerful tools for modeling complex systems, allowing us to capture and utilize hidden patterns that are not immediately visible in the raw data.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B6A06-CC9E-42DC-B434-BF33C88F666A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55187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Intricate : complex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B6A06-CC9E-42DC-B434-BF33C88F666A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351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AC373-6996-FDBB-2C2A-06B96C2A9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354B4B-2925-163F-4886-FC652BC5D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74C2F-8EF2-324F-50A2-070F9C81B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912C-ACE5-4DD4-BE3C-71A2A35D0A90}" type="datetimeFigureOut">
              <a:rPr lang="en-SG" smtClean="0"/>
              <a:t>21/8/2024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C47EA-AF9C-48BF-ADA2-DF27FBDFE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AE85C-076E-84C3-D011-88BC5BD74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2A5A-E37D-4902-9E60-C082F8F35F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9195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F10E3-859A-3048-A3E0-2485EEDE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78B6B-6C11-58D4-302D-200C115B4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A504E-8CC3-FBE2-CF9B-242974096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912C-ACE5-4DD4-BE3C-71A2A35D0A90}" type="datetimeFigureOut">
              <a:rPr lang="en-SG" smtClean="0"/>
              <a:t>21/8/2024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51714-F257-568D-7F4D-795FEB5E9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A2B08-1C0A-E08F-2652-5F73D6BF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2A5A-E37D-4902-9E60-C082F8F35F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17660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F3E8B-6E49-5987-F9A5-B5FF85AC0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AD4AA-30B0-C0BF-43C2-9624CDD27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42401-FF78-3C3B-3E1B-42821CADF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912C-ACE5-4DD4-BE3C-71A2A35D0A90}" type="datetimeFigureOut">
              <a:rPr lang="en-SG" smtClean="0"/>
              <a:t>21/8/2024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CA657-688C-D3CE-1DD1-B5BE9D696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24899-9F53-8886-E47E-0B7772DB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2A5A-E37D-4902-9E60-C082F8F35F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09824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A9354-2066-80AA-A790-9378C3421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798E2-5AF0-EAFB-873E-2388269EE8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52803-D36E-86AA-5251-6E895CA3E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1523F-C517-B61C-02B0-18CB2F07E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912C-ACE5-4DD4-BE3C-71A2A35D0A90}" type="datetimeFigureOut">
              <a:rPr lang="en-SG" smtClean="0"/>
              <a:t>21/8/2024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B1CE0-70EB-7033-776D-084C47D4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2CC8E-D3E9-6D45-2956-BCF715765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2A5A-E37D-4902-9E60-C082F8F35F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15985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94D2B-4280-AB12-BC8B-A026B3CF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F218F-921C-77F5-8E35-4A11FE8B3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D36B9-2CAD-6E10-340F-94A2E258D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C1A7E-5144-DFA3-5F29-63D5A1185B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6E128F-D695-A2FB-E448-87EB3C58B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7AB597-3AC6-259D-4050-66C96E558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912C-ACE5-4DD4-BE3C-71A2A35D0A90}" type="datetimeFigureOut">
              <a:rPr lang="en-SG" smtClean="0"/>
              <a:t>21/8/2024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C0D25-7180-269B-5154-91DFEECC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7F3932-B2A9-0543-4CBA-F6D142389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2A5A-E37D-4902-9E60-C082F8F35F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2388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E9C19-A66A-0BEF-FEF0-3819577FC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35FDD5-7ED5-4B2C-89A2-1483AAD6A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912C-ACE5-4DD4-BE3C-71A2A35D0A90}" type="datetimeFigureOut">
              <a:rPr lang="en-SG" smtClean="0"/>
              <a:t>21/8/2024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92F0C-B65C-A1F6-FBBC-4DE845191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3C568-5BFB-48B0-593A-47F252AD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2A5A-E37D-4902-9E60-C082F8F35F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76043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06DFEF-FC57-8409-6783-CD5EBBD3D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912C-ACE5-4DD4-BE3C-71A2A35D0A90}" type="datetimeFigureOut">
              <a:rPr lang="en-SG" smtClean="0"/>
              <a:t>21/8/2024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C37BAB-BA76-2BEA-6F70-CE89FB640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58E9F-C8C9-E732-A808-AAE4B8A51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2A5A-E37D-4902-9E60-C082F8F35F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9624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14411-600D-C886-26C0-5C79441C6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045BE-8B1C-C065-8A72-10345034B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B2BD90-8025-348B-3BA2-B94265992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4E1BE-235B-117F-9ACF-58D61313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912C-ACE5-4DD4-BE3C-71A2A35D0A90}" type="datetimeFigureOut">
              <a:rPr lang="en-SG" smtClean="0"/>
              <a:t>21/8/2024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A08AE-4592-34D2-654E-119E9E2E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14FBD-8D30-2A52-F52E-78687BD4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2A5A-E37D-4902-9E60-C082F8F35F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90759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E20F-3F98-2CC0-8543-460571FCF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2F8AC0-EA49-6FC0-6758-E827B42420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3C94D5-01DC-0102-6627-5EB293F4A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9BBA4-A5BB-23AB-0E03-BA7D2B4DF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912C-ACE5-4DD4-BE3C-71A2A35D0A90}" type="datetimeFigureOut">
              <a:rPr lang="en-SG" smtClean="0"/>
              <a:t>21/8/2024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733EE-196E-80D2-66ED-3C12FE0C1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6ABCC-B449-8C7F-127B-343BA88B6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2A5A-E37D-4902-9E60-C082F8F35F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690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75FAC-25FA-8DFE-C0EC-15F1FAF83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DB90-6A8A-F905-09E1-FC2778237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01B53-CCD5-6B2A-0345-A85FF2A44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912C-ACE5-4DD4-BE3C-71A2A35D0A90}" type="datetimeFigureOut">
              <a:rPr lang="en-SG" smtClean="0"/>
              <a:t>21/8/2024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E50BD-3370-EFF5-6DB2-17E10FCCF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B97B4-DCA1-9BB8-3196-163F8163A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2A5A-E37D-4902-9E60-C082F8F35F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65983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09F636-864C-1298-CE2C-D8E9F44A39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829FB7-6323-9F14-20AB-56DBD629B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F3010-3A3B-A3B3-A507-930C3DA9F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912C-ACE5-4DD4-BE3C-71A2A35D0A90}" type="datetimeFigureOut">
              <a:rPr lang="en-SG" smtClean="0"/>
              <a:t>21/8/2024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D0E3D-5E78-7420-FC01-761CD132A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38BFD-C9A7-A2BC-087C-AEA43F20C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2A5A-E37D-4902-9E60-C082F8F35F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8782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72FC26-EF1A-7EA2-2260-0B3A74B22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DA924-C221-92FE-9F55-A18C35CA9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76308-EDAF-029E-5C6D-F1ADA461F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7A912C-ACE5-4DD4-BE3C-71A2A35D0A90}" type="datetimeFigureOut">
              <a:rPr lang="en-SG" smtClean="0"/>
              <a:t>21/8/2024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70A0C-E02C-27BD-928F-8C6232BDB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4684A-0106-1AB8-2F96-1B709E5847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92A5A-E37D-4902-9E60-C082F8F35F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13739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F924-90E0-0921-079A-C4F54020E1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72D24-9701-BBE6-CEC8-5B75A24149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dirty="0" err="1"/>
              <a:t>Lec</a:t>
            </a:r>
            <a:r>
              <a:rPr lang="en-SG" dirty="0"/>
              <a:t> # 01</a:t>
            </a:r>
          </a:p>
        </p:txBody>
      </p:sp>
    </p:spTree>
    <p:extLst>
      <p:ext uri="{BB962C8B-B14F-4D97-AF65-F5344CB8AC3E}">
        <p14:creationId xmlns:p14="http://schemas.microsoft.com/office/powerpoint/2010/main" val="3916635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C1F2C-9A3D-73A2-2207-9F9ACF575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A808-EFED-5D2F-FA75-77FC0404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What is Learning? 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What is Machine Learning 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Feature Learning 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Shallow vs. Hierarchical vs. Deep Features (ML vs. DL)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30997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D80FF-17E8-F3C4-51B0-87A0D838D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What is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02FF8-44EA-C812-44C7-080AF97BD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f3"/>
              </a:rPr>
              <a:t>A computer program is said to learn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ff3"/>
              </a:rPr>
              <a:t>from experience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ff7"/>
              </a:rPr>
              <a:t>E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f3"/>
              </a:rPr>
              <a:t>with respect to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ff3"/>
              </a:rPr>
              <a:t>some class of tasks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ff7"/>
              </a:rPr>
              <a:t>T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f3"/>
              </a:rPr>
              <a:t>and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ff3"/>
              </a:rPr>
              <a:t>performance measure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ff7"/>
              </a:rPr>
              <a:t>P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f3"/>
              </a:rPr>
              <a:t>, if its performance at tasks in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f7"/>
              </a:rPr>
              <a:t>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f3"/>
              </a:rPr>
              <a:t>, as measured by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f7"/>
              </a:rPr>
              <a:t>P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f3"/>
              </a:rPr>
              <a:t>, improves with experience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ff3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f7"/>
              </a:rPr>
              <a:t>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f3"/>
              </a:rPr>
              <a:t>.</a:t>
            </a:r>
            <a:endParaRPr lang="en-SG" dirty="0"/>
          </a:p>
          <a:p>
            <a:pPr marL="0" indent="0">
              <a:buNone/>
            </a:pPr>
            <a:r>
              <a:rPr lang="en-SG" b="1" dirty="0"/>
              <a:t>Example:</a:t>
            </a:r>
          </a:p>
          <a:p>
            <a:pPr marL="0" indent="0">
              <a:buNone/>
            </a:pPr>
            <a:r>
              <a:rPr lang="en-US" dirty="0"/>
              <a:t>In a spam detection system, 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experience (E)</a:t>
            </a:r>
            <a:r>
              <a:rPr lang="en-US" dirty="0"/>
              <a:t> might be the training data consisting of emails labeled as spam or not spam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Task (T)</a:t>
            </a:r>
            <a:r>
              <a:rPr lang="en-US" dirty="0"/>
              <a:t> correctly classifies new emails as spam or not. 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performance measure (P)</a:t>
            </a:r>
            <a:r>
              <a:rPr lang="en-US" dirty="0"/>
              <a:t> could be the accuracy of the classification, which improves as the system processes more emails.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51339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33E66-B8CF-A839-E8F6-DB2A3CC6B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E87F3-3929-0CFE-3820-0A91DD7E5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SG" dirty="0">
                <a:solidFill>
                  <a:srgbClr val="05192D"/>
                </a:solidFill>
                <a:highlight>
                  <a:srgbClr val="FFFFFF"/>
                </a:highlight>
                <a:latin typeface="Studio-Feixen-Sans"/>
              </a:rPr>
              <a:t>W</a:t>
            </a:r>
            <a:r>
              <a:rPr lang="en-SG" b="0" i="0" dirty="0">
                <a:solidFill>
                  <a:srgbClr val="05192D"/>
                </a:solidFill>
                <a:effectLst/>
                <a:highlight>
                  <a:srgbClr val="FFFFFF"/>
                </a:highlight>
                <a:latin typeface="Studio-Feixen-Sans"/>
              </a:rPr>
              <a:t>e can develop algorithms that have the </a:t>
            </a:r>
            <a:r>
              <a:rPr lang="en-SG" b="0" i="0" dirty="0">
                <a:solidFill>
                  <a:srgbClr val="05192D"/>
                </a:solidFill>
                <a:effectLst/>
                <a:highlight>
                  <a:srgbClr val="00FFFF"/>
                </a:highlight>
                <a:latin typeface="Studio-Feixen-Sans"/>
              </a:rPr>
              <a:t>ability to learn without being explicitly programmed</a:t>
            </a:r>
            <a:r>
              <a:rPr lang="en-SG" b="0" i="0" dirty="0">
                <a:solidFill>
                  <a:srgbClr val="05192D"/>
                </a:solidFill>
                <a:effectLst/>
                <a:highlight>
                  <a:srgbClr val="FFFFFF"/>
                </a:highlight>
                <a:latin typeface="Studio-Feixen-Sans"/>
              </a:rPr>
              <a:t>. These algorithms include: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b="0" i="0" dirty="0">
                <a:solidFill>
                  <a:srgbClr val="05192D"/>
                </a:solidFill>
                <a:effectLst/>
                <a:highlight>
                  <a:srgbClr val="FFFFFF"/>
                </a:highlight>
                <a:latin typeface="Studio-Feixen-Sans"/>
              </a:rPr>
              <a:t>Decision trees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b="0" i="0" dirty="0">
                <a:solidFill>
                  <a:srgbClr val="05192D"/>
                </a:solidFill>
                <a:effectLst/>
                <a:highlight>
                  <a:srgbClr val="FFFFFF"/>
                </a:highlight>
                <a:latin typeface="Studio-Feixen-Sans"/>
              </a:rPr>
              <a:t>Naive Bayes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b="0" i="0" dirty="0">
                <a:solidFill>
                  <a:srgbClr val="05192D"/>
                </a:solidFill>
                <a:effectLst/>
                <a:highlight>
                  <a:srgbClr val="FFFFFF"/>
                </a:highlight>
                <a:latin typeface="Studio-Feixen-Sans"/>
              </a:rPr>
              <a:t>Random forest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b="0" i="0" dirty="0">
                <a:solidFill>
                  <a:srgbClr val="05192D"/>
                </a:solidFill>
                <a:effectLst/>
                <a:highlight>
                  <a:srgbClr val="FFFFFF"/>
                </a:highlight>
                <a:latin typeface="Studio-Feixen-Sans"/>
              </a:rPr>
              <a:t>Support vector machine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b="0" i="0" dirty="0">
                <a:solidFill>
                  <a:srgbClr val="05192D"/>
                </a:solidFill>
                <a:effectLst/>
                <a:highlight>
                  <a:srgbClr val="FFFFFF"/>
                </a:highlight>
                <a:latin typeface="Studio-Feixen-Sans"/>
              </a:rPr>
              <a:t>K-nearest </a:t>
            </a:r>
            <a:r>
              <a:rPr lang="en-SG" b="0" i="0" dirty="0" err="1">
                <a:solidFill>
                  <a:srgbClr val="05192D"/>
                </a:solidFill>
                <a:effectLst/>
                <a:highlight>
                  <a:srgbClr val="FFFFFF"/>
                </a:highlight>
                <a:latin typeface="Studio-Feixen-Sans"/>
              </a:rPr>
              <a:t>neighbor</a:t>
            </a:r>
            <a:endParaRPr lang="en-SG" b="0" i="0" dirty="0">
              <a:solidFill>
                <a:srgbClr val="05192D"/>
              </a:solidFill>
              <a:effectLst/>
              <a:highlight>
                <a:srgbClr val="FFFFFF"/>
              </a:highlight>
              <a:latin typeface="Studio-Feixen-Sans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SG" b="0" i="0" dirty="0">
                <a:solidFill>
                  <a:srgbClr val="05192D"/>
                </a:solidFill>
                <a:effectLst/>
                <a:highlight>
                  <a:srgbClr val="FFFFFF"/>
                </a:highlight>
                <a:latin typeface="Studio-Feixen-Sans"/>
              </a:rPr>
              <a:t>K-means clustering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b="0" i="0" dirty="0">
                <a:solidFill>
                  <a:srgbClr val="05192D"/>
                </a:solidFill>
                <a:effectLst/>
                <a:highlight>
                  <a:srgbClr val="FFFFFF"/>
                </a:highlight>
                <a:latin typeface="Studio-Feixen-Sans"/>
              </a:rPr>
              <a:t>Gaussian mixture model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b="0" i="0" dirty="0">
                <a:solidFill>
                  <a:srgbClr val="05192D"/>
                </a:solidFill>
                <a:effectLst/>
                <a:highlight>
                  <a:srgbClr val="FFFFFF"/>
                </a:highlight>
                <a:latin typeface="Studio-Feixen-Sans"/>
              </a:rPr>
              <a:t>Hidden Markov model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88604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9" name="Rectangle 2078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81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Understanding the difference between 'machine learning' and 'deep learning'">
            <a:extLst>
              <a:ext uri="{FF2B5EF4-FFF2-40B4-BE49-F238E27FC236}">
                <a16:creationId xmlns:a16="http://schemas.microsoft.com/office/drawing/2014/main" id="{8B000A13-2C59-0578-140E-1AAC7DA2E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1" r="4640"/>
          <a:stretch/>
        </p:blipFill>
        <p:spPr bwMode="auto">
          <a:xfrm>
            <a:off x="469391" y="644652"/>
            <a:ext cx="4605527" cy="560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achine learning vs deep learning">
            <a:extLst>
              <a:ext uri="{FF2B5EF4-FFF2-40B4-BE49-F238E27FC236}">
                <a16:creationId xmlns:a16="http://schemas.microsoft.com/office/drawing/2014/main" id="{E8017A10-0DDB-1555-B89F-2834A79DD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39511" y="644652"/>
            <a:ext cx="6007608" cy="5568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234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2FB79FFD-6838-D333-5D3C-6B29BF69CC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2365350"/>
              </p:ext>
            </p:extLst>
          </p:nvPr>
        </p:nvGraphicFramePr>
        <p:xfrm>
          <a:off x="818534" y="436470"/>
          <a:ext cx="10822860" cy="5754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1430">
                  <a:extLst>
                    <a:ext uri="{9D8B030D-6E8A-4147-A177-3AD203B41FA5}">
                      <a16:colId xmlns:a16="http://schemas.microsoft.com/office/drawing/2014/main" val="737770677"/>
                    </a:ext>
                  </a:extLst>
                </a:gridCol>
                <a:gridCol w="5411430">
                  <a:extLst>
                    <a:ext uri="{9D8B030D-6E8A-4147-A177-3AD203B41FA5}">
                      <a16:colId xmlns:a16="http://schemas.microsoft.com/office/drawing/2014/main" val="2764338422"/>
                    </a:ext>
                  </a:extLst>
                </a:gridCol>
              </a:tblGrid>
              <a:tr h="559396">
                <a:tc>
                  <a:txBody>
                    <a:bodyPr/>
                    <a:lstStyle/>
                    <a:p>
                      <a:r>
                        <a:rPr lang="en-SG" dirty="0"/>
                        <a:t>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Deep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641148"/>
                  </a:ext>
                </a:extLst>
              </a:tr>
              <a:tr h="1044312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ML is an artificial intelligence (AI) methodology. </a:t>
                      </a:r>
                    </a:p>
                    <a:p>
                      <a:r>
                        <a:rPr lang="en-US" dirty="0">
                          <a:effectLst/>
                        </a:rPr>
                        <a:t>Not all ML is deep learning.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Deep learning is an advanced ML methodology.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All deep learning is ML.</a:t>
                      </a:r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52436"/>
                  </a:ext>
                </a:extLst>
              </a:tr>
              <a:tr h="1004622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Best for well-defined tasks with </a:t>
                      </a:r>
                      <a:r>
                        <a:rPr lang="en-US" dirty="0">
                          <a:effectLst/>
                          <a:highlight>
                            <a:srgbClr val="00FF00"/>
                          </a:highlight>
                        </a:rPr>
                        <a:t>structured and labeled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Best for </a:t>
                      </a:r>
                      <a:r>
                        <a:rPr lang="en-US" dirty="0">
                          <a:effectLst/>
                          <a:highlight>
                            <a:srgbClr val="FF00FF"/>
                          </a:highlight>
                        </a:rPr>
                        <a:t>complex tasks</a:t>
                      </a:r>
                      <a:r>
                        <a:rPr lang="en-US" dirty="0">
                          <a:effectLst/>
                        </a:rPr>
                        <a:t> that require machines to make sense </a:t>
                      </a:r>
                      <a:r>
                        <a:rPr lang="en-US" dirty="0">
                          <a:effectLst/>
                          <a:highlight>
                            <a:srgbClr val="00FFFF"/>
                          </a:highlight>
                        </a:rPr>
                        <a:t>of unstructured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1171690"/>
                  </a:ext>
                </a:extLst>
              </a:tr>
              <a:tr h="986188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solves problems through statistics and mathematics.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combines statistics and mathematics with neural network architecture.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5361482"/>
                  </a:ext>
                </a:extLst>
              </a:tr>
              <a:tr h="976972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You have to manually select and extract features from raw data and assign weights to train an ML model.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Deep learning models can self-learn using feedback from known errors.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1470192"/>
                  </a:ext>
                </a:extLst>
              </a:tr>
              <a:tr h="1038879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less complex with lower data volume.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more complex with a very high data volume.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668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075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7B489-AF0E-0DC0-DB54-DDD387D45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Types Of Deep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58ED2-31D9-0413-06D0-C1DD8EBA0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US" b="1" i="0" dirty="0">
                <a:solidFill>
                  <a:srgbClr val="51565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 (CNN)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most commonly used for image analysis.</a:t>
            </a:r>
          </a:p>
          <a:p>
            <a:pPr algn="l"/>
            <a:r>
              <a:rPr lang="en-US" b="1" i="0" dirty="0">
                <a:solidFill>
                  <a:srgbClr val="51565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Recurrent Neural Network (RNN)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RNN uses sequential information to build a model. </a:t>
            </a:r>
            <a:endParaRPr lang="en-US" dirty="0">
              <a:solidFill>
                <a:srgbClr val="51565E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51565E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It often</a:t>
            </a:r>
            <a:r>
              <a:rPr lang="en-US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works better for models that have to memorize past data.</a:t>
            </a:r>
          </a:p>
          <a:p>
            <a:pPr algn="l"/>
            <a:r>
              <a:rPr lang="en-US" b="1" i="0" dirty="0">
                <a:solidFill>
                  <a:srgbClr val="51565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Generative Adversarial Network (GAN)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GAN are algorithmic architectures that use two neural networks to create new, synthetic instances of data that pass for real data</a:t>
            </a:r>
          </a:p>
          <a:p>
            <a:pPr algn="l"/>
            <a:r>
              <a:rPr lang="en-US" b="1" i="0" dirty="0">
                <a:solidFill>
                  <a:srgbClr val="51565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Deep Belief Network (DBN):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DBN is a generative graphical model that is composed of multiple layers of latent variables called hidden units.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Each layer is interconnected, but the units are not.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0663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35A52-7AC9-1E18-55AA-5A726AC08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4941"/>
            <a:ext cx="10515600" cy="1936955"/>
          </a:xfrm>
        </p:spPr>
        <p:txBody>
          <a:bodyPr/>
          <a:lstStyle/>
          <a:p>
            <a:pPr algn="ctr"/>
            <a:r>
              <a:rPr lang="en-SG" dirty="0"/>
              <a:t>Feature Engineering vs Feature Learning</a:t>
            </a:r>
          </a:p>
        </p:txBody>
      </p:sp>
    </p:spTree>
    <p:extLst>
      <p:ext uri="{BB962C8B-B14F-4D97-AF65-F5344CB8AC3E}">
        <p14:creationId xmlns:p14="http://schemas.microsoft.com/office/powerpoint/2010/main" val="2655025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4EE723D-C138-8873-5BD4-F7517BD67B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8163" y="1102722"/>
            <a:ext cx="11276825" cy="4652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Features:</a:t>
            </a:r>
            <a:endParaRPr lang="en-US" sz="32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Types of Features</a:t>
            </a:r>
            <a:r>
              <a:rPr lang="en-US" sz="2000" dirty="0"/>
              <a:t>:</a:t>
            </a:r>
          </a:p>
          <a:p>
            <a:pPr lvl="1"/>
            <a:r>
              <a:rPr lang="en-US" sz="2000" b="1" dirty="0"/>
              <a:t>Numerical Features</a:t>
            </a:r>
            <a:r>
              <a:rPr lang="en-US" sz="2000" dirty="0"/>
              <a:t>: </a:t>
            </a:r>
            <a:r>
              <a:rPr lang="en-US" sz="2000" dirty="0">
                <a:highlight>
                  <a:srgbClr val="FF00FF"/>
                </a:highlight>
              </a:rPr>
              <a:t>Quantitative values</a:t>
            </a:r>
            <a:r>
              <a:rPr lang="en-US" sz="2000" dirty="0"/>
              <a:t>, like age, income, or temperature.</a:t>
            </a:r>
          </a:p>
          <a:p>
            <a:pPr lvl="1"/>
            <a:r>
              <a:rPr lang="en-US" sz="2000" b="1" dirty="0"/>
              <a:t>Categorical Features</a:t>
            </a:r>
            <a:r>
              <a:rPr lang="en-US" sz="2000" dirty="0"/>
              <a:t>: </a:t>
            </a:r>
            <a:r>
              <a:rPr lang="en-US" sz="2000" dirty="0">
                <a:highlight>
                  <a:srgbClr val="00FF00"/>
                </a:highlight>
              </a:rPr>
              <a:t>Qualitative values</a:t>
            </a:r>
            <a:r>
              <a:rPr lang="en-US" sz="2000" dirty="0"/>
              <a:t>, like gender, color, or product types.</a:t>
            </a:r>
          </a:p>
          <a:p>
            <a:pPr lvl="1"/>
            <a:r>
              <a:rPr lang="en-US" sz="2000" b="1" dirty="0"/>
              <a:t>Text Features</a:t>
            </a:r>
            <a:r>
              <a:rPr lang="en-US" sz="2000" dirty="0"/>
              <a:t>: Words or phrases, often used in natural language processing.</a:t>
            </a:r>
          </a:p>
          <a:p>
            <a:pPr lvl="1"/>
            <a:r>
              <a:rPr lang="en-US" sz="2000" b="1" dirty="0"/>
              <a:t>Image Features</a:t>
            </a:r>
            <a:r>
              <a:rPr lang="en-US" sz="2000" dirty="0"/>
              <a:t>: Pixels or shapes in image data.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66250EB-D39C-90B8-7F06-CB425EB39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181" y="1226847"/>
            <a:ext cx="3829966" cy="198379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41E14A1-A2E3-964B-76A4-E6D2906B89D5}"/>
              </a:ext>
            </a:extLst>
          </p:cNvPr>
          <p:cNvSpPr txBox="1"/>
          <p:nvPr/>
        </p:nvSpPr>
        <p:spPr>
          <a:xfrm>
            <a:off x="586097" y="1850022"/>
            <a:ext cx="65132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273239"/>
                </a:solidFill>
                <a:highlight>
                  <a:srgbClr val="FFFFFF"/>
                </a:highlight>
                <a:latin typeface="Nunito" pitchFamily="2" charset="0"/>
              </a:rPr>
              <a:t>A</a:t>
            </a:r>
            <a:r>
              <a:rPr lang="en-US" sz="18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feature (also known as a variable or attribute) is an </a:t>
            </a:r>
            <a:r>
              <a:rPr lang="en-US" sz="1800" b="0" i="0" dirty="0">
                <a:solidFill>
                  <a:srgbClr val="273239"/>
                </a:solidFill>
                <a:effectLst/>
                <a:highlight>
                  <a:srgbClr val="FFFF00"/>
                </a:highlight>
                <a:latin typeface="Nunito" pitchFamily="2" charset="0"/>
              </a:rPr>
              <a:t>individual measurable property </a:t>
            </a:r>
            <a:r>
              <a:rPr lang="en-US" sz="18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or </a:t>
            </a:r>
            <a:r>
              <a:rPr lang="en-US" sz="1800" b="0" i="0" dirty="0">
                <a:solidFill>
                  <a:srgbClr val="273239"/>
                </a:solidFill>
                <a:effectLst/>
                <a:highlight>
                  <a:srgbClr val="00FFFF"/>
                </a:highlight>
                <a:latin typeface="Nunito" pitchFamily="2" charset="0"/>
              </a:rPr>
              <a:t>characteristic of a data point</a:t>
            </a:r>
            <a:r>
              <a:rPr lang="en-US" sz="18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that is used as input for a machine learning algorithm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23263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9480-5E22-A9C4-1071-E998AB7DA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0E3D9-F568-CBAF-2004-1C2B86A7C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6955"/>
            <a:ext cx="10515600" cy="42400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about manually creating feature</a:t>
            </a:r>
          </a:p>
          <a:p>
            <a:pPr lvl="1"/>
            <a:r>
              <a:rPr lang="en-US" sz="16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process of </a:t>
            </a:r>
            <a:r>
              <a:rPr lang="en-US" sz="16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transforming </a:t>
            </a:r>
            <a:r>
              <a:rPr lang="en-US" sz="1600" b="1" i="0" dirty="0">
                <a:solidFill>
                  <a:srgbClr val="273239"/>
                </a:solidFill>
                <a:effectLst/>
                <a:highlight>
                  <a:srgbClr val="FFFF00"/>
                </a:highlight>
                <a:latin typeface="Nunito" pitchFamily="2" charset="0"/>
              </a:rPr>
              <a:t>raw data into features </a:t>
            </a:r>
            <a:r>
              <a:rPr lang="en-US" sz="16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that are suitable for machine learning models</a:t>
            </a:r>
            <a:endParaRPr lang="en-US" sz="1600" b="1" i="0" dirty="0">
              <a:solidFill>
                <a:srgbClr val="273239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Processes Involved in Feature Engineering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sz="17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Feature Creation: </a:t>
            </a:r>
            <a:r>
              <a:rPr lang="en-US" sz="170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The</a:t>
            </a:r>
            <a:r>
              <a:rPr lang="en-US" sz="17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en-US" sz="17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process of generating new features based on domain knowledge or by observing patterns in the data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SG" sz="17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Feature Transformation: </a:t>
            </a:r>
            <a:r>
              <a:rPr lang="en-SG" sz="170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The </a:t>
            </a:r>
            <a:r>
              <a:rPr lang="en-US" sz="17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process of transforming the features into a more suitable representation for the machine learning model</a:t>
            </a:r>
          </a:p>
          <a:p>
            <a:pPr lvl="1" fontAlgn="base">
              <a:buFont typeface="+mj-lt"/>
              <a:buAutoNum type="arabicPeriod"/>
            </a:pPr>
            <a:r>
              <a:rPr lang="en-US" sz="17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  Feature Selection: </a:t>
            </a:r>
            <a:r>
              <a:rPr lang="en-US" sz="170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The</a:t>
            </a:r>
            <a:r>
              <a:rPr lang="en-US" sz="17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en-US" sz="17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process of selecting a subset of relevant features from the dataset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sz="17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Feature Extraction: </a:t>
            </a:r>
            <a:r>
              <a:rPr lang="en-US" sz="170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The</a:t>
            </a:r>
            <a:r>
              <a:rPr lang="en-US" sz="17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en-US" sz="17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process of creating new features from existing ones to provide more relevant information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sz="17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Feature Scaling: </a:t>
            </a:r>
            <a:r>
              <a:rPr lang="en-US" sz="170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The</a:t>
            </a:r>
            <a:r>
              <a:rPr lang="en-US" sz="17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en-US" sz="17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process of transforming the features so that they have a similar scale. </a:t>
            </a:r>
          </a:p>
          <a:p>
            <a:pPr marL="914400" lvl="2" indent="0" fontAlgn="base">
              <a:buNone/>
            </a:pPr>
            <a:r>
              <a:rPr lang="en-US" sz="17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Types of Feature Scaling:</a:t>
            </a:r>
          </a:p>
          <a:p>
            <a:pPr lvl="3" fontAlgn="base">
              <a:buFont typeface="+mj-lt"/>
              <a:buAutoNum type="arabicPeriod"/>
            </a:pPr>
            <a:r>
              <a:rPr lang="en-US" sz="1700" b="1" dirty="0">
                <a:highlight>
                  <a:srgbClr val="FFFFFF"/>
                </a:highlight>
                <a:latin typeface="Nunito" pitchFamily="2" charset="0"/>
              </a:rPr>
              <a:t>Min-Max Scaling</a:t>
            </a:r>
            <a:endParaRPr lang="en-US" sz="1700" b="1" i="0" dirty="0">
              <a:effectLst/>
              <a:highlight>
                <a:srgbClr val="FFFFFF"/>
              </a:highlight>
              <a:latin typeface="Nunito" pitchFamily="2" charset="0"/>
            </a:endParaRPr>
          </a:p>
          <a:p>
            <a:pPr lvl="3" fontAlgn="base">
              <a:buFont typeface="+mj-lt"/>
              <a:buAutoNum type="arabicPeriod"/>
            </a:pPr>
            <a:r>
              <a:rPr lang="en-US" sz="17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Standard Scaling</a:t>
            </a:r>
            <a:endParaRPr lang="en-US" sz="1700" dirty="0">
              <a:solidFill>
                <a:srgbClr val="273239"/>
              </a:solidFill>
              <a:highlight>
                <a:srgbClr val="FFFFFF"/>
              </a:highlight>
              <a:latin typeface="Nunito" pitchFamily="2" charset="0"/>
            </a:endParaRPr>
          </a:p>
          <a:p>
            <a:pPr lvl="3" fontAlgn="base">
              <a:buFont typeface="+mj-lt"/>
              <a:buAutoNum type="arabicPeriod"/>
            </a:pPr>
            <a:r>
              <a:rPr lang="en-US" sz="17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Robust Scaling:</a:t>
            </a:r>
            <a:r>
              <a:rPr lang="en-US" sz="17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 Rescaling the features to be robust to outliers by dividing them by the interquartile range.</a:t>
            </a:r>
          </a:p>
          <a:p>
            <a:pPr marL="457200" indent="-457200" fontAlgn="base">
              <a:buFont typeface="+mj-lt"/>
              <a:buAutoNum type="arabicPeriod"/>
            </a:pPr>
            <a:endParaRPr lang="en-SG" sz="200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Nunito" pitchFamily="2" charset="0"/>
            </a:endParaRPr>
          </a:p>
          <a:p>
            <a:pPr marL="514350" indent="-514350" fontAlgn="base">
              <a:buFont typeface="+mj-lt"/>
              <a:buAutoNum type="arabicPeriod"/>
            </a:pPr>
            <a:endParaRPr lang="en-US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Nunito" pitchFamily="2" charset="0"/>
            </a:endParaRPr>
          </a:p>
          <a:p>
            <a:pPr lvl="1"/>
            <a:endParaRPr lang="en-US" b="1" i="0" dirty="0">
              <a:solidFill>
                <a:srgbClr val="273239"/>
              </a:solidFill>
              <a:effectLst/>
              <a:highlight>
                <a:srgbClr val="FFFFFF"/>
              </a:highlight>
              <a:latin typeface="Nunito" pitchFamily="2" charset="0"/>
            </a:endParaRPr>
          </a:p>
          <a:p>
            <a:endParaRPr lang="en-US" b="1" i="0" dirty="0">
              <a:solidFill>
                <a:srgbClr val="273239"/>
              </a:solidFill>
              <a:effectLst/>
              <a:highlight>
                <a:srgbClr val="FFFFFF"/>
              </a:highlight>
              <a:latin typeface="Nunito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1C767B-FFF9-EE43-7B4C-AD6C8924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4724" y="365125"/>
            <a:ext cx="5899354" cy="157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10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CD041-6353-71F7-68EC-A84F4E820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Feature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F9F9C-0F88-62A5-1137-14DBC8D8D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Is the process by which a model automatically discovers and learns representations (features) from raw data.</a:t>
            </a:r>
          </a:p>
          <a:p>
            <a:pPr marL="0" indent="0">
              <a:buNone/>
            </a:pPr>
            <a:r>
              <a:rPr lang="en-US" b="1" dirty="0"/>
              <a:t>Methods</a:t>
            </a:r>
            <a:r>
              <a:rPr lang="en-US" dirty="0"/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Deep Neural Networks</a:t>
            </a:r>
            <a:r>
              <a:rPr lang="en-US" dirty="0"/>
              <a:t>: Layers of neurons learn increasingly abstract features from raw data.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Autoencoders</a:t>
            </a:r>
            <a:r>
              <a:rPr lang="en-US" dirty="0"/>
              <a:t>: Networks that learn compressed representations of data.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Convolutional Neural Networks (CNNs)</a:t>
            </a:r>
            <a:r>
              <a:rPr lang="en-US" dirty="0"/>
              <a:t>: Automatically learn spatial hierarchies of features from images.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Word Embeddings</a:t>
            </a:r>
            <a:r>
              <a:rPr lang="en-US" dirty="0"/>
              <a:t>: Techniques like Word2Vec learn vector representations of words from text.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91741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08AF6-1C5C-6B18-3914-A3A4D1A52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Shallow Features (ML)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2F769-D063-2777-ABB8-497938844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Description</a:t>
            </a:r>
            <a:r>
              <a:rPr lang="en-US" dirty="0"/>
              <a:t>: </a:t>
            </a:r>
          </a:p>
          <a:p>
            <a:pPr marL="0" indent="0" algn="just">
              <a:buNone/>
            </a:pPr>
            <a:r>
              <a:rPr lang="en-US" dirty="0"/>
              <a:t>In traditional machine learning, </a:t>
            </a:r>
            <a:r>
              <a:rPr lang="en-US" dirty="0">
                <a:highlight>
                  <a:srgbClr val="00FFFF"/>
                </a:highlight>
              </a:rPr>
              <a:t>features are often manually engineered</a:t>
            </a:r>
            <a:r>
              <a:rPr lang="en-US" dirty="0"/>
              <a:t> or </a:t>
            </a:r>
            <a:r>
              <a:rPr lang="en-US" dirty="0">
                <a:highlight>
                  <a:srgbClr val="FFFF00"/>
                </a:highlight>
              </a:rPr>
              <a:t>selected based on domain knowledge</a:t>
            </a:r>
            <a:r>
              <a:rPr lang="en-US" dirty="0"/>
              <a:t>. These features are typically shallow, meaning they are derived directly from the raw data and may not capture complex patterns.</a:t>
            </a:r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 </a:t>
            </a:r>
          </a:p>
          <a:p>
            <a:pPr marL="0" indent="0" algn="just">
              <a:buNone/>
            </a:pPr>
            <a:r>
              <a:rPr lang="en-US" dirty="0"/>
              <a:t>In a text classification problem, shallow features might include word counts, TF-IDF scores, or other simple statistical measures.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36965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22FB6-2411-E8A0-F6D6-295A2E05E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Hierarchical Features (ML &amp; DL)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17DBE-6318-F5D5-9DED-8352B1B44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Description</a:t>
            </a:r>
            <a:r>
              <a:rPr lang="en-US" dirty="0"/>
              <a:t>: </a:t>
            </a:r>
          </a:p>
          <a:p>
            <a:pPr marL="0" indent="0" algn="just">
              <a:buNone/>
            </a:pPr>
            <a:r>
              <a:rPr lang="en-US" dirty="0"/>
              <a:t>Hierarchical features involve </a:t>
            </a:r>
            <a:r>
              <a:rPr lang="en-US" dirty="0">
                <a:highlight>
                  <a:srgbClr val="FFFF00"/>
                </a:highlight>
              </a:rPr>
              <a:t>more complex interactions between features</a:t>
            </a:r>
            <a:r>
              <a:rPr lang="en-US" dirty="0"/>
              <a:t>, whereas </a:t>
            </a:r>
            <a:r>
              <a:rPr lang="en-US" dirty="0">
                <a:highlight>
                  <a:srgbClr val="00FFFF"/>
                </a:highlight>
              </a:rPr>
              <a:t>higher-level features are composed of lower-level ones</a:t>
            </a:r>
            <a:r>
              <a:rPr lang="en-US" dirty="0"/>
              <a:t>. In some cases, machine learning models can be designed to automatically learn these hierarchical representations.</a:t>
            </a:r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 </a:t>
            </a:r>
          </a:p>
          <a:p>
            <a:pPr marL="0" indent="0" algn="just">
              <a:buNone/>
            </a:pPr>
            <a:r>
              <a:rPr lang="en-US" dirty="0"/>
              <a:t>In a convolutional neural network (CNN) used for image recognition, the first few layers might detect edges, followed by shapes, and finally more complex structures like objects.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62492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C30F3-50F7-D537-9BBC-A6C72D148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Deep Features (DL)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EBCAF-2064-4646-6AC2-DB895D79F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Description</a:t>
            </a:r>
            <a:r>
              <a:rPr lang="en-US" dirty="0"/>
              <a:t>: </a:t>
            </a:r>
          </a:p>
          <a:p>
            <a:pPr marL="0" indent="0" algn="just">
              <a:buNone/>
            </a:pPr>
            <a:r>
              <a:rPr lang="en-US" dirty="0"/>
              <a:t>Deep features are </a:t>
            </a:r>
            <a:r>
              <a:rPr lang="en-US" dirty="0">
                <a:highlight>
                  <a:srgbClr val="00FFFF"/>
                </a:highlight>
              </a:rPr>
              <a:t>automatically learned representations derived from multiple layers of a deep learning model</a:t>
            </a:r>
            <a:r>
              <a:rPr lang="en-US" dirty="0"/>
              <a:t>. These features are typically much more abstract and complex, capturing intricate patterns in the data that are difficult to express with shallow features.</a:t>
            </a:r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 </a:t>
            </a:r>
          </a:p>
          <a:p>
            <a:pPr marL="0" indent="0" algn="just">
              <a:buNone/>
            </a:pPr>
            <a:r>
              <a:rPr lang="en-US" dirty="0"/>
              <a:t>In a deep neural network used for speech recognition, deep features might represent phonemes, syllables, and even word structures.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79794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0B4C90-7956-ACA1-7780-1363E1682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302512"/>
            <a:ext cx="10905066" cy="42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017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F5DF8-57D2-5DB6-DBE3-EA820B6F5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459C8-8439-914B-B88C-8C1B6AEA5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8DA01-51EF-3708-BD62-E7FD9628E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515600" cy="581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80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9F729-71D3-1B54-0BB7-FF7D12B2A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94B37-8D08-B7FC-E7D2-7B868BD90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E780A4-39A7-8D37-5080-D3F34BBBF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8796"/>
            <a:ext cx="10515599" cy="581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344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FF225A-C856-A283-8DA5-2A7B842DCB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204" y="643466"/>
            <a:ext cx="1071359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488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3421</TotalTime>
  <Words>1045</Words>
  <Application>Microsoft Office PowerPoint</Application>
  <PresentationFormat>Widescreen</PresentationFormat>
  <Paragraphs>108</Paragraphs>
  <Slides>18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Aptos</vt:lpstr>
      <vt:lpstr>Aptos Display</vt:lpstr>
      <vt:lpstr>Arial</vt:lpstr>
      <vt:lpstr>ff3</vt:lpstr>
      <vt:lpstr>ff7</vt:lpstr>
      <vt:lpstr>Nunito</vt:lpstr>
      <vt:lpstr>Studio-Feixen-Sans</vt:lpstr>
      <vt:lpstr>Times New Roman</vt:lpstr>
      <vt:lpstr>Wingdings</vt:lpstr>
      <vt:lpstr>Office Theme</vt:lpstr>
      <vt:lpstr>Deep Learning</vt:lpstr>
      <vt:lpstr>Contents</vt:lpstr>
      <vt:lpstr>What is Learning?</vt:lpstr>
      <vt:lpstr>Machine Learning</vt:lpstr>
      <vt:lpstr>PowerPoint Presentation</vt:lpstr>
      <vt:lpstr>PowerPoint Presentation</vt:lpstr>
      <vt:lpstr>Types Of Deep Neural Network</vt:lpstr>
      <vt:lpstr>Feature Engineering vs Feature Learning</vt:lpstr>
      <vt:lpstr>PowerPoint Presentation</vt:lpstr>
      <vt:lpstr>Feature Engineering</vt:lpstr>
      <vt:lpstr>Feature Learning</vt:lpstr>
      <vt:lpstr>Shallow Features (ML)</vt:lpstr>
      <vt:lpstr>Hierarchical Features (ML &amp; DL)</vt:lpstr>
      <vt:lpstr>Deep Features (DL)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Summaid Umer Khan</dc:creator>
  <cp:lastModifiedBy>Summaid Umer Khan</cp:lastModifiedBy>
  <cp:revision>2</cp:revision>
  <dcterms:created xsi:type="dcterms:W3CDTF">2024-08-17T04:05:55Z</dcterms:created>
  <dcterms:modified xsi:type="dcterms:W3CDTF">2024-08-21T05:57:51Z</dcterms:modified>
</cp:coreProperties>
</file>