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1" r:id="rId3"/>
    <p:sldId id="257" r:id="rId4"/>
    <p:sldId id="258" r:id="rId5"/>
    <p:sldId id="260" r:id="rId6"/>
    <p:sldId id="262" r:id="rId7"/>
    <p:sldId id="263" r:id="rId8"/>
    <p:sldId id="274" r:id="rId9"/>
    <p:sldId id="264" r:id="rId10"/>
    <p:sldId id="266" r:id="rId11"/>
    <p:sldId id="265" r:id="rId12"/>
    <p:sldId id="267" r:id="rId13"/>
    <p:sldId id="268" r:id="rId14"/>
    <p:sldId id="269" r:id="rId15"/>
    <p:sldId id="270" r:id="rId16"/>
    <p:sldId id="271" r:id="rId17"/>
    <p:sldId id="272" r:id="rId18"/>
    <p:sldId id="275" r:id="rId19"/>
    <p:sldId id="276" r:id="rId20"/>
    <p:sldId id="273" r:id="rId21"/>
    <p:sldId id="259"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631D501-379F-408A-955F-D88A71A6A1D9}" v="2" dt="2024-09-09T10:59:09.13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72" autoAdjust="0"/>
    <p:restoredTop sz="94660"/>
  </p:normalViewPr>
  <p:slideViewPr>
    <p:cSldViewPr snapToGrid="0">
      <p:cViewPr varScale="1">
        <p:scale>
          <a:sx n="91" d="100"/>
          <a:sy n="91" d="100"/>
        </p:scale>
        <p:origin x="370"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mmaid Umer Khan" userId="33f51f7858fad23e" providerId="LiveId" clId="{6631D501-379F-408A-955F-D88A71A6A1D9}"/>
    <pc:docChg chg="custSel addSld modSld">
      <pc:chgData name="Summaid Umer Khan" userId="33f51f7858fad23e" providerId="LiveId" clId="{6631D501-379F-408A-955F-D88A71A6A1D9}" dt="2024-09-12T08:10:28.644" v="71" actId="20577"/>
      <pc:docMkLst>
        <pc:docMk/>
      </pc:docMkLst>
      <pc:sldChg chg="modSp mod">
        <pc:chgData name="Summaid Umer Khan" userId="33f51f7858fad23e" providerId="LiveId" clId="{6631D501-379F-408A-955F-D88A71A6A1D9}" dt="2024-09-11T09:45:29.621" v="33" actId="27636"/>
        <pc:sldMkLst>
          <pc:docMk/>
          <pc:sldMk cId="4257171403" sldId="258"/>
        </pc:sldMkLst>
        <pc:spChg chg="mod">
          <ac:chgData name="Summaid Umer Khan" userId="33f51f7858fad23e" providerId="LiveId" clId="{6631D501-379F-408A-955F-D88A71A6A1D9}" dt="2024-09-11T09:45:29.621" v="33" actId="27636"/>
          <ac:spMkLst>
            <pc:docMk/>
            <pc:sldMk cId="4257171403" sldId="258"/>
            <ac:spMk id="3" creationId="{281B0917-B62C-DA13-F3D0-322980E0028E}"/>
          </ac:spMkLst>
        </pc:spChg>
      </pc:sldChg>
      <pc:sldChg chg="delSp modSp mod">
        <pc:chgData name="Summaid Umer Khan" userId="33f51f7858fad23e" providerId="LiveId" clId="{6631D501-379F-408A-955F-D88A71A6A1D9}" dt="2024-09-11T09:45:53.550" v="36" actId="1076"/>
        <pc:sldMkLst>
          <pc:docMk/>
          <pc:sldMk cId="3900695029" sldId="263"/>
        </pc:sldMkLst>
        <pc:spChg chg="del">
          <ac:chgData name="Summaid Umer Khan" userId="33f51f7858fad23e" providerId="LiveId" clId="{6631D501-379F-408A-955F-D88A71A6A1D9}" dt="2024-09-11T09:45:47.688" v="34" actId="478"/>
          <ac:spMkLst>
            <pc:docMk/>
            <pc:sldMk cId="3900695029" sldId="263"/>
            <ac:spMk id="23" creationId="{026D9119-A305-81F1-67CB-107998B7A3C3}"/>
          </ac:spMkLst>
        </pc:spChg>
        <pc:picChg chg="mod">
          <ac:chgData name="Summaid Umer Khan" userId="33f51f7858fad23e" providerId="LiveId" clId="{6631D501-379F-408A-955F-D88A71A6A1D9}" dt="2024-09-11T09:45:53.550" v="36" actId="1076"/>
          <ac:picMkLst>
            <pc:docMk/>
            <pc:sldMk cId="3900695029" sldId="263"/>
            <ac:picMk id="5" creationId="{78AB6CD4-554F-EF16-EF46-3A1D8414F77D}"/>
          </ac:picMkLst>
        </pc:picChg>
      </pc:sldChg>
      <pc:sldChg chg="delSp modSp mod">
        <pc:chgData name="Summaid Umer Khan" userId="33f51f7858fad23e" providerId="LiveId" clId="{6631D501-379F-408A-955F-D88A71A6A1D9}" dt="2024-09-09T10:59:23.991" v="31" actId="14100"/>
        <pc:sldMkLst>
          <pc:docMk/>
          <pc:sldMk cId="643862223" sldId="272"/>
        </pc:sldMkLst>
        <pc:spChg chg="del">
          <ac:chgData name="Summaid Umer Khan" userId="33f51f7858fad23e" providerId="LiveId" clId="{6631D501-379F-408A-955F-D88A71A6A1D9}" dt="2024-09-09T10:59:19.416" v="30" actId="478"/>
          <ac:spMkLst>
            <pc:docMk/>
            <pc:sldMk cId="643862223" sldId="272"/>
            <ac:spMk id="2" creationId="{D41C765B-52F0-4B6C-25D0-3C93A5098250}"/>
          </ac:spMkLst>
        </pc:spChg>
        <pc:spChg chg="mod">
          <ac:chgData name="Summaid Umer Khan" userId="33f51f7858fad23e" providerId="LiveId" clId="{6631D501-379F-408A-955F-D88A71A6A1D9}" dt="2024-09-09T10:59:23.991" v="31" actId="14100"/>
          <ac:spMkLst>
            <pc:docMk/>
            <pc:sldMk cId="643862223" sldId="272"/>
            <ac:spMk id="3" creationId="{B3D73E5F-B5FD-5F91-12B6-02D2F990B7AB}"/>
          </ac:spMkLst>
        </pc:spChg>
      </pc:sldChg>
      <pc:sldChg chg="modSp new mod">
        <pc:chgData name="Summaid Umer Khan" userId="33f51f7858fad23e" providerId="LiveId" clId="{6631D501-379F-408A-955F-D88A71A6A1D9}" dt="2024-09-09T10:59:09.138" v="29" actId="20577"/>
        <pc:sldMkLst>
          <pc:docMk/>
          <pc:sldMk cId="3527062407" sldId="273"/>
        </pc:sldMkLst>
        <pc:spChg chg="mod">
          <ac:chgData name="Summaid Umer Khan" userId="33f51f7858fad23e" providerId="LiveId" clId="{6631D501-379F-408A-955F-D88A71A6A1D9}" dt="2024-09-09T10:55:26.722" v="9" actId="20577"/>
          <ac:spMkLst>
            <pc:docMk/>
            <pc:sldMk cId="3527062407" sldId="273"/>
            <ac:spMk id="2" creationId="{A26955CA-349A-C230-43C8-2EE33AE57978}"/>
          </ac:spMkLst>
        </pc:spChg>
        <pc:spChg chg="mod">
          <ac:chgData name="Summaid Umer Khan" userId="33f51f7858fad23e" providerId="LiveId" clId="{6631D501-379F-408A-955F-D88A71A6A1D9}" dt="2024-09-09T10:59:09.138" v="29" actId="20577"/>
          <ac:spMkLst>
            <pc:docMk/>
            <pc:sldMk cId="3527062407" sldId="273"/>
            <ac:spMk id="3" creationId="{7B4C5F52-7F75-2C2F-D548-E0F8E1583A63}"/>
          </ac:spMkLst>
        </pc:spChg>
      </pc:sldChg>
      <pc:sldChg chg="addSp modSp new mod">
        <pc:chgData name="Summaid Umer Khan" userId="33f51f7858fad23e" providerId="LiveId" clId="{6631D501-379F-408A-955F-D88A71A6A1D9}" dt="2024-09-11T09:52:16.064" v="54" actId="14100"/>
        <pc:sldMkLst>
          <pc:docMk/>
          <pc:sldMk cId="1287634788" sldId="274"/>
        </pc:sldMkLst>
        <pc:spChg chg="mod">
          <ac:chgData name="Summaid Umer Khan" userId="33f51f7858fad23e" providerId="LiveId" clId="{6631D501-379F-408A-955F-D88A71A6A1D9}" dt="2024-09-09T10:56:51.154" v="26" actId="20577"/>
          <ac:spMkLst>
            <pc:docMk/>
            <pc:sldMk cId="1287634788" sldId="274"/>
            <ac:spMk id="2" creationId="{AE9F52EB-37E9-DBD5-550E-A6487D9939BA}"/>
          </ac:spMkLst>
        </pc:spChg>
        <pc:spChg chg="mod">
          <ac:chgData name="Summaid Umer Khan" userId="33f51f7858fad23e" providerId="LiveId" clId="{6631D501-379F-408A-955F-D88A71A6A1D9}" dt="2024-09-11T09:49:40.292" v="43" actId="20577"/>
          <ac:spMkLst>
            <pc:docMk/>
            <pc:sldMk cId="1287634788" sldId="274"/>
            <ac:spMk id="3" creationId="{27EC0804-08BB-2594-B74F-56405A078310}"/>
          </ac:spMkLst>
        </pc:spChg>
        <pc:picChg chg="add mod">
          <ac:chgData name="Summaid Umer Khan" userId="33f51f7858fad23e" providerId="LiveId" clId="{6631D501-379F-408A-955F-D88A71A6A1D9}" dt="2024-09-11T09:50:18.604" v="47" actId="1076"/>
          <ac:picMkLst>
            <pc:docMk/>
            <pc:sldMk cId="1287634788" sldId="274"/>
            <ac:picMk id="5" creationId="{6401662A-4D8D-2D60-3192-5638F47296C4}"/>
          </ac:picMkLst>
        </pc:picChg>
        <pc:picChg chg="add mod">
          <ac:chgData name="Summaid Umer Khan" userId="33f51f7858fad23e" providerId="LiveId" clId="{6631D501-379F-408A-955F-D88A71A6A1D9}" dt="2024-09-11T09:52:16.064" v="54" actId="14100"/>
          <ac:picMkLst>
            <pc:docMk/>
            <pc:sldMk cId="1287634788" sldId="274"/>
            <ac:picMk id="6" creationId="{75706D6C-2F3B-FA81-165E-0EBF7DCE420C}"/>
          </ac:picMkLst>
        </pc:picChg>
      </pc:sldChg>
      <pc:sldChg chg="modSp new mod">
        <pc:chgData name="Summaid Umer Khan" userId="33f51f7858fad23e" providerId="LiveId" clId="{6631D501-379F-408A-955F-D88A71A6A1D9}" dt="2024-09-11T10:38:54.322" v="65" actId="5793"/>
        <pc:sldMkLst>
          <pc:docMk/>
          <pc:sldMk cId="1037396912" sldId="275"/>
        </pc:sldMkLst>
        <pc:spChg chg="mod">
          <ac:chgData name="Summaid Umer Khan" userId="33f51f7858fad23e" providerId="LiveId" clId="{6631D501-379F-408A-955F-D88A71A6A1D9}" dt="2024-09-11T10:28:18.379" v="63" actId="20577"/>
          <ac:spMkLst>
            <pc:docMk/>
            <pc:sldMk cId="1037396912" sldId="275"/>
            <ac:spMk id="2" creationId="{67D1AB04-BA4B-7B48-993D-ED430A2C1AFC}"/>
          </ac:spMkLst>
        </pc:spChg>
        <pc:spChg chg="mod">
          <ac:chgData name="Summaid Umer Khan" userId="33f51f7858fad23e" providerId="LiveId" clId="{6631D501-379F-408A-955F-D88A71A6A1D9}" dt="2024-09-11T10:38:54.322" v="65" actId="5793"/>
          <ac:spMkLst>
            <pc:docMk/>
            <pc:sldMk cId="1037396912" sldId="275"/>
            <ac:spMk id="3" creationId="{9E82C95C-6FAA-3670-AF78-052B9E064724}"/>
          </ac:spMkLst>
        </pc:spChg>
      </pc:sldChg>
      <pc:sldChg chg="modSp new mod">
        <pc:chgData name="Summaid Umer Khan" userId="33f51f7858fad23e" providerId="LiveId" clId="{6631D501-379F-408A-955F-D88A71A6A1D9}" dt="2024-09-12T08:10:28.644" v="71" actId="20577"/>
        <pc:sldMkLst>
          <pc:docMk/>
          <pc:sldMk cId="3488599639" sldId="276"/>
        </pc:sldMkLst>
        <pc:spChg chg="mod">
          <ac:chgData name="Summaid Umer Khan" userId="33f51f7858fad23e" providerId="LiveId" clId="{6631D501-379F-408A-955F-D88A71A6A1D9}" dt="2024-09-12T08:10:28.644" v="71" actId="20577"/>
          <ac:spMkLst>
            <pc:docMk/>
            <pc:sldMk cId="3488599639" sldId="276"/>
            <ac:spMk id="2" creationId="{7C29683C-A36B-851F-CC3E-D7897DB1A92F}"/>
          </ac:spMkLst>
        </pc:spChg>
        <pc:spChg chg="mod">
          <ac:chgData name="Summaid Umer Khan" userId="33f51f7858fad23e" providerId="LiveId" clId="{6631D501-379F-408A-955F-D88A71A6A1D9}" dt="2024-09-12T08:10:25.467" v="67"/>
          <ac:spMkLst>
            <pc:docMk/>
            <pc:sldMk cId="3488599639" sldId="276"/>
            <ac:spMk id="3" creationId="{51E2A262-9605-1C7E-D2FE-48024FAFCAEF}"/>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4DF26E-E9BD-C4DC-5D11-B187AABDF47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SG"/>
          </a:p>
        </p:txBody>
      </p:sp>
      <p:sp>
        <p:nvSpPr>
          <p:cNvPr id="3" name="Subtitle 2">
            <a:extLst>
              <a:ext uri="{FF2B5EF4-FFF2-40B4-BE49-F238E27FC236}">
                <a16:creationId xmlns:a16="http://schemas.microsoft.com/office/drawing/2014/main" id="{639F8572-F490-F6F4-7A3B-0A4EDD975C6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SG"/>
          </a:p>
        </p:txBody>
      </p:sp>
      <p:sp>
        <p:nvSpPr>
          <p:cNvPr id="4" name="Date Placeholder 3">
            <a:extLst>
              <a:ext uri="{FF2B5EF4-FFF2-40B4-BE49-F238E27FC236}">
                <a16:creationId xmlns:a16="http://schemas.microsoft.com/office/drawing/2014/main" id="{149D8213-BEB8-FAF6-52BC-F4B291480A25}"/>
              </a:ext>
            </a:extLst>
          </p:cNvPr>
          <p:cNvSpPr>
            <a:spLocks noGrp="1"/>
          </p:cNvSpPr>
          <p:nvPr>
            <p:ph type="dt" sz="half" idx="10"/>
          </p:nvPr>
        </p:nvSpPr>
        <p:spPr/>
        <p:txBody>
          <a:bodyPr/>
          <a:lstStyle/>
          <a:p>
            <a:fld id="{F0CE7589-AD03-4D94-8E83-254DE5308DC1}" type="datetimeFigureOut">
              <a:rPr lang="en-SG" smtClean="0"/>
              <a:t>11/9/2024</a:t>
            </a:fld>
            <a:endParaRPr lang="en-SG"/>
          </a:p>
        </p:txBody>
      </p:sp>
      <p:sp>
        <p:nvSpPr>
          <p:cNvPr id="5" name="Footer Placeholder 4">
            <a:extLst>
              <a:ext uri="{FF2B5EF4-FFF2-40B4-BE49-F238E27FC236}">
                <a16:creationId xmlns:a16="http://schemas.microsoft.com/office/drawing/2014/main" id="{DE2ECF2B-B6C3-44B0-2CAA-AE4B06B0414A}"/>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BC5185A4-53E2-30EC-9407-E601A2126B87}"/>
              </a:ext>
            </a:extLst>
          </p:cNvPr>
          <p:cNvSpPr>
            <a:spLocks noGrp="1"/>
          </p:cNvSpPr>
          <p:nvPr>
            <p:ph type="sldNum" sz="quarter" idx="12"/>
          </p:nvPr>
        </p:nvSpPr>
        <p:spPr/>
        <p:txBody>
          <a:bodyPr/>
          <a:lstStyle/>
          <a:p>
            <a:fld id="{0DFC87F7-FBE0-440B-B472-9E3EA371B6AB}" type="slidenum">
              <a:rPr lang="en-SG" smtClean="0"/>
              <a:t>‹#›</a:t>
            </a:fld>
            <a:endParaRPr lang="en-SG"/>
          </a:p>
        </p:txBody>
      </p:sp>
    </p:spTree>
    <p:extLst>
      <p:ext uri="{BB962C8B-B14F-4D97-AF65-F5344CB8AC3E}">
        <p14:creationId xmlns:p14="http://schemas.microsoft.com/office/powerpoint/2010/main" val="13925139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DC904-3230-9317-1853-B9A6A21C0D52}"/>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A2DC9993-ABF3-3908-B1E1-9A0E449F950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C003A32C-AF2F-6668-B32B-9B14C9447F33}"/>
              </a:ext>
            </a:extLst>
          </p:cNvPr>
          <p:cNvSpPr>
            <a:spLocks noGrp="1"/>
          </p:cNvSpPr>
          <p:nvPr>
            <p:ph type="dt" sz="half" idx="10"/>
          </p:nvPr>
        </p:nvSpPr>
        <p:spPr/>
        <p:txBody>
          <a:bodyPr/>
          <a:lstStyle/>
          <a:p>
            <a:fld id="{F0CE7589-AD03-4D94-8E83-254DE5308DC1}" type="datetimeFigureOut">
              <a:rPr lang="en-SG" smtClean="0"/>
              <a:t>11/9/2024</a:t>
            </a:fld>
            <a:endParaRPr lang="en-SG"/>
          </a:p>
        </p:txBody>
      </p:sp>
      <p:sp>
        <p:nvSpPr>
          <p:cNvPr id="5" name="Footer Placeholder 4">
            <a:extLst>
              <a:ext uri="{FF2B5EF4-FFF2-40B4-BE49-F238E27FC236}">
                <a16:creationId xmlns:a16="http://schemas.microsoft.com/office/drawing/2014/main" id="{8398A55D-33C1-F61A-3DB4-5351BFD58B21}"/>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D5B3C81E-EA14-9CE3-9E39-81DD6CD80311}"/>
              </a:ext>
            </a:extLst>
          </p:cNvPr>
          <p:cNvSpPr>
            <a:spLocks noGrp="1"/>
          </p:cNvSpPr>
          <p:nvPr>
            <p:ph type="sldNum" sz="quarter" idx="12"/>
          </p:nvPr>
        </p:nvSpPr>
        <p:spPr/>
        <p:txBody>
          <a:bodyPr/>
          <a:lstStyle/>
          <a:p>
            <a:fld id="{0DFC87F7-FBE0-440B-B472-9E3EA371B6AB}" type="slidenum">
              <a:rPr lang="en-SG" smtClean="0"/>
              <a:t>‹#›</a:t>
            </a:fld>
            <a:endParaRPr lang="en-SG"/>
          </a:p>
        </p:txBody>
      </p:sp>
    </p:spTree>
    <p:extLst>
      <p:ext uri="{BB962C8B-B14F-4D97-AF65-F5344CB8AC3E}">
        <p14:creationId xmlns:p14="http://schemas.microsoft.com/office/powerpoint/2010/main" val="30526741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1C0A95-424B-E5AB-5F9A-CFAFA696FD9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SG"/>
          </a:p>
        </p:txBody>
      </p:sp>
      <p:sp>
        <p:nvSpPr>
          <p:cNvPr id="3" name="Text Placeholder 2">
            <a:extLst>
              <a:ext uri="{FF2B5EF4-FFF2-40B4-BE49-F238E27FC236}">
                <a16:creationId xmlns:a16="http://schemas.microsoft.com/office/drawing/2014/main" id="{F5275789-16D6-3F98-AD1A-16FCA132BAB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9D58C63-7F6E-C8A5-06BC-5ABD97ADE27D}"/>
              </a:ext>
            </a:extLst>
          </p:cNvPr>
          <p:cNvSpPr>
            <a:spLocks noGrp="1"/>
          </p:cNvSpPr>
          <p:nvPr>
            <p:ph type="dt" sz="half" idx="10"/>
          </p:nvPr>
        </p:nvSpPr>
        <p:spPr/>
        <p:txBody>
          <a:bodyPr/>
          <a:lstStyle/>
          <a:p>
            <a:fld id="{F0CE7589-AD03-4D94-8E83-254DE5308DC1}" type="datetimeFigureOut">
              <a:rPr lang="en-SG" smtClean="0"/>
              <a:t>11/9/2024</a:t>
            </a:fld>
            <a:endParaRPr lang="en-SG"/>
          </a:p>
        </p:txBody>
      </p:sp>
      <p:sp>
        <p:nvSpPr>
          <p:cNvPr id="5" name="Footer Placeholder 4">
            <a:extLst>
              <a:ext uri="{FF2B5EF4-FFF2-40B4-BE49-F238E27FC236}">
                <a16:creationId xmlns:a16="http://schemas.microsoft.com/office/drawing/2014/main" id="{C6BC1458-1DB9-2753-1DE8-4E38CF2E3262}"/>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7DF6A5ED-0616-A81E-F44D-7DC948B38431}"/>
              </a:ext>
            </a:extLst>
          </p:cNvPr>
          <p:cNvSpPr>
            <a:spLocks noGrp="1"/>
          </p:cNvSpPr>
          <p:nvPr>
            <p:ph type="sldNum" sz="quarter" idx="12"/>
          </p:nvPr>
        </p:nvSpPr>
        <p:spPr/>
        <p:txBody>
          <a:bodyPr/>
          <a:lstStyle/>
          <a:p>
            <a:fld id="{0DFC87F7-FBE0-440B-B472-9E3EA371B6AB}" type="slidenum">
              <a:rPr lang="en-SG" smtClean="0"/>
              <a:t>‹#›</a:t>
            </a:fld>
            <a:endParaRPr lang="en-SG"/>
          </a:p>
        </p:txBody>
      </p:sp>
    </p:spTree>
    <p:extLst>
      <p:ext uri="{BB962C8B-B14F-4D97-AF65-F5344CB8AC3E}">
        <p14:creationId xmlns:p14="http://schemas.microsoft.com/office/powerpoint/2010/main" val="7290078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272BAA-88F4-D86A-9F57-C9D1199D1765}"/>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E441C91B-5553-95BA-B7FC-E99AC3A2956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Content Placeholder 3">
            <a:extLst>
              <a:ext uri="{FF2B5EF4-FFF2-40B4-BE49-F238E27FC236}">
                <a16:creationId xmlns:a16="http://schemas.microsoft.com/office/drawing/2014/main" id="{5D63E046-6B27-BA6A-E3F3-CEB2C9DF6F5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Date Placeholder 4">
            <a:extLst>
              <a:ext uri="{FF2B5EF4-FFF2-40B4-BE49-F238E27FC236}">
                <a16:creationId xmlns:a16="http://schemas.microsoft.com/office/drawing/2014/main" id="{2260F4F1-035E-08C5-DB93-BF6EA4E15AA3}"/>
              </a:ext>
            </a:extLst>
          </p:cNvPr>
          <p:cNvSpPr>
            <a:spLocks noGrp="1"/>
          </p:cNvSpPr>
          <p:nvPr>
            <p:ph type="dt" sz="half" idx="10"/>
          </p:nvPr>
        </p:nvSpPr>
        <p:spPr/>
        <p:txBody>
          <a:bodyPr/>
          <a:lstStyle/>
          <a:p>
            <a:fld id="{F0CE7589-AD03-4D94-8E83-254DE5308DC1}" type="datetimeFigureOut">
              <a:rPr lang="en-SG" smtClean="0"/>
              <a:t>11/9/2024</a:t>
            </a:fld>
            <a:endParaRPr lang="en-SG"/>
          </a:p>
        </p:txBody>
      </p:sp>
      <p:sp>
        <p:nvSpPr>
          <p:cNvPr id="6" name="Footer Placeholder 5">
            <a:extLst>
              <a:ext uri="{FF2B5EF4-FFF2-40B4-BE49-F238E27FC236}">
                <a16:creationId xmlns:a16="http://schemas.microsoft.com/office/drawing/2014/main" id="{6655C3E8-D935-BAD8-79DB-E3F391F7876F}"/>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CE62AE3B-8E78-846F-96F5-5CB9302CC3A1}"/>
              </a:ext>
            </a:extLst>
          </p:cNvPr>
          <p:cNvSpPr>
            <a:spLocks noGrp="1"/>
          </p:cNvSpPr>
          <p:nvPr>
            <p:ph type="sldNum" sz="quarter" idx="12"/>
          </p:nvPr>
        </p:nvSpPr>
        <p:spPr/>
        <p:txBody>
          <a:bodyPr/>
          <a:lstStyle/>
          <a:p>
            <a:fld id="{0DFC87F7-FBE0-440B-B472-9E3EA371B6AB}" type="slidenum">
              <a:rPr lang="en-SG" smtClean="0"/>
              <a:t>‹#›</a:t>
            </a:fld>
            <a:endParaRPr lang="en-SG"/>
          </a:p>
        </p:txBody>
      </p:sp>
    </p:spTree>
    <p:extLst>
      <p:ext uri="{BB962C8B-B14F-4D97-AF65-F5344CB8AC3E}">
        <p14:creationId xmlns:p14="http://schemas.microsoft.com/office/powerpoint/2010/main" val="28743045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284D1-50FB-B687-535A-EA706150AB87}"/>
              </a:ext>
            </a:extLst>
          </p:cNvPr>
          <p:cNvSpPr>
            <a:spLocks noGrp="1"/>
          </p:cNvSpPr>
          <p:nvPr>
            <p:ph type="title"/>
          </p:nvPr>
        </p:nvSpPr>
        <p:spPr>
          <a:xfrm>
            <a:off x="839788" y="365125"/>
            <a:ext cx="10515600" cy="1325563"/>
          </a:xfrm>
        </p:spPr>
        <p:txBody>
          <a:bodyPr/>
          <a:lstStyle/>
          <a:p>
            <a:r>
              <a:rPr lang="en-US"/>
              <a:t>Click to edit Master title style</a:t>
            </a:r>
            <a:endParaRPr lang="en-SG"/>
          </a:p>
        </p:txBody>
      </p:sp>
      <p:sp>
        <p:nvSpPr>
          <p:cNvPr id="3" name="Text Placeholder 2">
            <a:extLst>
              <a:ext uri="{FF2B5EF4-FFF2-40B4-BE49-F238E27FC236}">
                <a16:creationId xmlns:a16="http://schemas.microsoft.com/office/drawing/2014/main" id="{9B67C50A-22B0-7521-0CA4-E04864BD7F1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8F9DA74-B4CF-B759-061A-5EEACBAC027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Text Placeholder 4">
            <a:extLst>
              <a:ext uri="{FF2B5EF4-FFF2-40B4-BE49-F238E27FC236}">
                <a16:creationId xmlns:a16="http://schemas.microsoft.com/office/drawing/2014/main" id="{80C908CF-3610-72E2-43CB-632AA5D522B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F33365A-C4A8-AC7A-BF86-9460035FCA5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7" name="Date Placeholder 6">
            <a:extLst>
              <a:ext uri="{FF2B5EF4-FFF2-40B4-BE49-F238E27FC236}">
                <a16:creationId xmlns:a16="http://schemas.microsoft.com/office/drawing/2014/main" id="{EAEB76B5-03EF-7B2B-39C2-086B1BEA7FE6}"/>
              </a:ext>
            </a:extLst>
          </p:cNvPr>
          <p:cNvSpPr>
            <a:spLocks noGrp="1"/>
          </p:cNvSpPr>
          <p:nvPr>
            <p:ph type="dt" sz="half" idx="10"/>
          </p:nvPr>
        </p:nvSpPr>
        <p:spPr/>
        <p:txBody>
          <a:bodyPr/>
          <a:lstStyle/>
          <a:p>
            <a:fld id="{F0CE7589-AD03-4D94-8E83-254DE5308DC1}" type="datetimeFigureOut">
              <a:rPr lang="en-SG" smtClean="0"/>
              <a:t>11/9/2024</a:t>
            </a:fld>
            <a:endParaRPr lang="en-SG"/>
          </a:p>
        </p:txBody>
      </p:sp>
      <p:sp>
        <p:nvSpPr>
          <p:cNvPr id="8" name="Footer Placeholder 7">
            <a:extLst>
              <a:ext uri="{FF2B5EF4-FFF2-40B4-BE49-F238E27FC236}">
                <a16:creationId xmlns:a16="http://schemas.microsoft.com/office/drawing/2014/main" id="{AECF50CC-2F5C-73E3-6BA9-41CAA2112C9F}"/>
              </a:ext>
            </a:extLst>
          </p:cNvPr>
          <p:cNvSpPr>
            <a:spLocks noGrp="1"/>
          </p:cNvSpPr>
          <p:nvPr>
            <p:ph type="ftr" sz="quarter" idx="11"/>
          </p:nvPr>
        </p:nvSpPr>
        <p:spPr/>
        <p:txBody>
          <a:bodyPr/>
          <a:lstStyle/>
          <a:p>
            <a:endParaRPr lang="en-SG"/>
          </a:p>
        </p:txBody>
      </p:sp>
      <p:sp>
        <p:nvSpPr>
          <p:cNvPr id="9" name="Slide Number Placeholder 8">
            <a:extLst>
              <a:ext uri="{FF2B5EF4-FFF2-40B4-BE49-F238E27FC236}">
                <a16:creationId xmlns:a16="http://schemas.microsoft.com/office/drawing/2014/main" id="{C2353B4B-878C-3284-61B2-F5946C912C25}"/>
              </a:ext>
            </a:extLst>
          </p:cNvPr>
          <p:cNvSpPr>
            <a:spLocks noGrp="1"/>
          </p:cNvSpPr>
          <p:nvPr>
            <p:ph type="sldNum" sz="quarter" idx="12"/>
          </p:nvPr>
        </p:nvSpPr>
        <p:spPr/>
        <p:txBody>
          <a:bodyPr/>
          <a:lstStyle/>
          <a:p>
            <a:fld id="{0DFC87F7-FBE0-440B-B472-9E3EA371B6AB}" type="slidenum">
              <a:rPr lang="en-SG" smtClean="0"/>
              <a:t>‹#›</a:t>
            </a:fld>
            <a:endParaRPr lang="en-SG"/>
          </a:p>
        </p:txBody>
      </p:sp>
    </p:spTree>
    <p:extLst>
      <p:ext uri="{BB962C8B-B14F-4D97-AF65-F5344CB8AC3E}">
        <p14:creationId xmlns:p14="http://schemas.microsoft.com/office/powerpoint/2010/main" val="17340961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C43313-BC1D-47AB-D3AF-6A73161C4AFB}"/>
              </a:ext>
            </a:extLst>
          </p:cNvPr>
          <p:cNvSpPr>
            <a:spLocks noGrp="1"/>
          </p:cNvSpPr>
          <p:nvPr>
            <p:ph type="title"/>
          </p:nvPr>
        </p:nvSpPr>
        <p:spPr/>
        <p:txBody>
          <a:bodyPr/>
          <a:lstStyle/>
          <a:p>
            <a:r>
              <a:rPr lang="en-US"/>
              <a:t>Click to edit Master title style</a:t>
            </a:r>
            <a:endParaRPr lang="en-SG"/>
          </a:p>
        </p:txBody>
      </p:sp>
      <p:sp>
        <p:nvSpPr>
          <p:cNvPr id="3" name="Date Placeholder 2">
            <a:extLst>
              <a:ext uri="{FF2B5EF4-FFF2-40B4-BE49-F238E27FC236}">
                <a16:creationId xmlns:a16="http://schemas.microsoft.com/office/drawing/2014/main" id="{6D4C16E5-690A-3337-ADC9-2E6B7AA32A3C}"/>
              </a:ext>
            </a:extLst>
          </p:cNvPr>
          <p:cNvSpPr>
            <a:spLocks noGrp="1"/>
          </p:cNvSpPr>
          <p:nvPr>
            <p:ph type="dt" sz="half" idx="10"/>
          </p:nvPr>
        </p:nvSpPr>
        <p:spPr/>
        <p:txBody>
          <a:bodyPr/>
          <a:lstStyle/>
          <a:p>
            <a:fld id="{F0CE7589-AD03-4D94-8E83-254DE5308DC1}" type="datetimeFigureOut">
              <a:rPr lang="en-SG" smtClean="0"/>
              <a:t>11/9/2024</a:t>
            </a:fld>
            <a:endParaRPr lang="en-SG"/>
          </a:p>
        </p:txBody>
      </p:sp>
      <p:sp>
        <p:nvSpPr>
          <p:cNvPr id="4" name="Footer Placeholder 3">
            <a:extLst>
              <a:ext uri="{FF2B5EF4-FFF2-40B4-BE49-F238E27FC236}">
                <a16:creationId xmlns:a16="http://schemas.microsoft.com/office/drawing/2014/main" id="{ED6867F0-FEFB-3478-CD31-C89CC294BD12}"/>
              </a:ext>
            </a:extLst>
          </p:cNvPr>
          <p:cNvSpPr>
            <a:spLocks noGrp="1"/>
          </p:cNvSpPr>
          <p:nvPr>
            <p:ph type="ftr" sz="quarter" idx="11"/>
          </p:nvPr>
        </p:nvSpPr>
        <p:spPr/>
        <p:txBody>
          <a:bodyPr/>
          <a:lstStyle/>
          <a:p>
            <a:endParaRPr lang="en-SG"/>
          </a:p>
        </p:txBody>
      </p:sp>
      <p:sp>
        <p:nvSpPr>
          <p:cNvPr id="5" name="Slide Number Placeholder 4">
            <a:extLst>
              <a:ext uri="{FF2B5EF4-FFF2-40B4-BE49-F238E27FC236}">
                <a16:creationId xmlns:a16="http://schemas.microsoft.com/office/drawing/2014/main" id="{5B73EBFD-2CA4-C8FD-EAE6-EFD4D6248469}"/>
              </a:ext>
            </a:extLst>
          </p:cNvPr>
          <p:cNvSpPr>
            <a:spLocks noGrp="1"/>
          </p:cNvSpPr>
          <p:nvPr>
            <p:ph type="sldNum" sz="quarter" idx="12"/>
          </p:nvPr>
        </p:nvSpPr>
        <p:spPr/>
        <p:txBody>
          <a:bodyPr/>
          <a:lstStyle/>
          <a:p>
            <a:fld id="{0DFC87F7-FBE0-440B-B472-9E3EA371B6AB}" type="slidenum">
              <a:rPr lang="en-SG" smtClean="0"/>
              <a:t>‹#›</a:t>
            </a:fld>
            <a:endParaRPr lang="en-SG"/>
          </a:p>
        </p:txBody>
      </p:sp>
    </p:spTree>
    <p:extLst>
      <p:ext uri="{BB962C8B-B14F-4D97-AF65-F5344CB8AC3E}">
        <p14:creationId xmlns:p14="http://schemas.microsoft.com/office/powerpoint/2010/main" val="28603749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CBB52DF-B79C-9F03-1496-C98AF4811412}"/>
              </a:ext>
            </a:extLst>
          </p:cNvPr>
          <p:cNvSpPr>
            <a:spLocks noGrp="1"/>
          </p:cNvSpPr>
          <p:nvPr>
            <p:ph type="dt" sz="half" idx="10"/>
          </p:nvPr>
        </p:nvSpPr>
        <p:spPr/>
        <p:txBody>
          <a:bodyPr/>
          <a:lstStyle/>
          <a:p>
            <a:fld id="{F0CE7589-AD03-4D94-8E83-254DE5308DC1}" type="datetimeFigureOut">
              <a:rPr lang="en-SG" smtClean="0"/>
              <a:t>11/9/2024</a:t>
            </a:fld>
            <a:endParaRPr lang="en-SG"/>
          </a:p>
        </p:txBody>
      </p:sp>
      <p:sp>
        <p:nvSpPr>
          <p:cNvPr id="3" name="Footer Placeholder 2">
            <a:extLst>
              <a:ext uri="{FF2B5EF4-FFF2-40B4-BE49-F238E27FC236}">
                <a16:creationId xmlns:a16="http://schemas.microsoft.com/office/drawing/2014/main" id="{69E7C789-F05B-2207-687D-9CDD359E50BF}"/>
              </a:ext>
            </a:extLst>
          </p:cNvPr>
          <p:cNvSpPr>
            <a:spLocks noGrp="1"/>
          </p:cNvSpPr>
          <p:nvPr>
            <p:ph type="ftr" sz="quarter" idx="11"/>
          </p:nvPr>
        </p:nvSpPr>
        <p:spPr/>
        <p:txBody>
          <a:bodyPr/>
          <a:lstStyle/>
          <a:p>
            <a:endParaRPr lang="en-SG"/>
          </a:p>
        </p:txBody>
      </p:sp>
      <p:sp>
        <p:nvSpPr>
          <p:cNvPr id="4" name="Slide Number Placeholder 3">
            <a:extLst>
              <a:ext uri="{FF2B5EF4-FFF2-40B4-BE49-F238E27FC236}">
                <a16:creationId xmlns:a16="http://schemas.microsoft.com/office/drawing/2014/main" id="{0325607B-6818-1852-03E0-2A9C4F129B2A}"/>
              </a:ext>
            </a:extLst>
          </p:cNvPr>
          <p:cNvSpPr>
            <a:spLocks noGrp="1"/>
          </p:cNvSpPr>
          <p:nvPr>
            <p:ph type="sldNum" sz="quarter" idx="12"/>
          </p:nvPr>
        </p:nvSpPr>
        <p:spPr/>
        <p:txBody>
          <a:bodyPr/>
          <a:lstStyle/>
          <a:p>
            <a:fld id="{0DFC87F7-FBE0-440B-B472-9E3EA371B6AB}" type="slidenum">
              <a:rPr lang="en-SG" smtClean="0"/>
              <a:t>‹#›</a:t>
            </a:fld>
            <a:endParaRPr lang="en-SG"/>
          </a:p>
        </p:txBody>
      </p:sp>
    </p:spTree>
    <p:extLst>
      <p:ext uri="{BB962C8B-B14F-4D97-AF65-F5344CB8AC3E}">
        <p14:creationId xmlns:p14="http://schemas.microsoft.com/office/powerpoint/2010/main" val="10349633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76595-8181-5A7A-A394-1A0184C8778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Content Placeholder 2">
            <a:extLst>
              <a:ext uri="{FF2B5EF4-FFF2-40B4-BE49-F238E27FC236}">
                <a16:creationId xmlns:a16="http://schemas.microsoft.com/office/drawing/2014/main" id="{138C4551-6DF0-BF46-CDBC-E3015940460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Text Placeholder 3">
            <a:extLst>
              <a:ext uri="{FF2B5EF4-FFF2-40B4-BE49-F238E27FC236}">
                <a16:creationId xmlns:a16="http://schemas.microsoft.com/office/drawing/2014/main" id="{7EA129FF-D7B5-15E6-B85A-7BD830EE441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6362174-142A-46A4-8F2D-04F3B0D49E15}"/>
              </a:ext>
            </a:extLst>
          </p:cNvPr>
          <p:cNvSpPr>
            <a:spLocks noGrp="1"/>
          </p:cNvSpPr>
          <p:nvPr>
            <p:ph type="dt" sz="half" idx="10"/>
          </p:nvPr>
        </p:nvSpPr>
        <p:spPr/>
        <p:txBody>
          <a:bodyPr/>
          <a:lstStyle/>
          <a:p>
            <a:fld id="{F0CE7589-AD03-4D94-8E83-254DE5308DC1}" type="datetimeFigureOut">
              <a:rPr lang="en-SG" smtClean="0"/>
              <a:t>11/9/2024</a:t>
            </a:fld>
            <a:endParaRPr lang="en-SG"/>
          </a:p>
        </p:txBody>
      </p:sp>
      <p:sp>
        <p:nvSpPr>
          <p:cNvPr id="6" name="Footer Placeholder 5">
            <a:extLst>
              <a:ext uri="{FF2B5EF4-FFF2-40B4-BE49-F238E27FC236}">
                <a16:creationId xmlns:a16="http://schemas.microsoft.com/office/drawing/2014/main" id="{1779538D-2411-F4CB-B6EE-528C7A5D2465}"/>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1A5D9E35-D301-E0D2-A855-20D2EFA46BA7}"/>
              </a:ext>
            </a:extLst>
          </p:cNvPr>
          <p:cNvSpPr>
            <a:spLocks noGrp="1"/>
          </p:cNvSpPr>
          <p:nvPr>
            <p:ph type="sldNum" sz="quarter" idx="12"/>
          </p:nvPr>
        </p:nvSpPr>
        <p:spPr/>
        <p:txBody>
          <a:bodyPr/>
          <a:lstStyle/>
          <a:p>
            <a:fld id="{0DFC87F7-FBE0-440B-B472-9E3EA371B6AB}" type="slidenum">
              <a:rPr lang="en-SG" smtClean="0"/>
              <a:t>‹#›</a:t>
            </a:fld>
            <a:endParaRPr lang="en-SG"/>
          </a:p>
        </p:txBody>
      </p:sp>
    </p:spTree>
    <p:extLst>
      <p:ext uri="{BB962C8B-B14F-4D97-AF65-F5344CB8AC3E}">
        <p14:creationId xmlns:p14="http://schemas.microsoft.com/office/powerpoint/2010/main" val="19962759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866598-415B-9C49-7D44-A494D042067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Picture Placeholder 2">
            <a:extLst>
              <a:ext uri="{FF2B5EF4-FFF2-40B4-BE49-F238E27FC236}">
                <a16:creationId xmlns:a16="http://schemas.microsoft.com/office/drawing/2014/main" id="{BEF04DCE-FCEA-7471-05B8-E0490F080EF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SG"/>
          </a:p>
        </p:txBody>
      </p:sp>
      <p:sp>
        <p:nvSpPr>
          <p:cNvPr id="4" name="Text Placeholder 3">
            <a:extLst>
              <a:ext uri="{FF2B5EF4-FFF2-40B4-BE49-F238E27FC236}">
                <a16:creationId xmlns:a16="http://schemas.microsoft.com/office/drawing/2014/main" id="{A48B1555-7F45-A406-89BA-D8D03724FF1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D5495F3-AF4B-5726-3D38-E31FD85B91C9}"/>
              </a:ext>
            </a:extLst>
          </p:cNvPr>
          <p:cNvSpPr>
            <a:spLocks noGrp="1"/>
          </p:cNvSpPr>
          <p:nvPr>
            <p:ph type="dt" sz="half" idx="10"/>
          </p:nvPr>
        </p:nvSpPr>
        <p:spPr/>
        <p:txBody>
          <a:bodyPr/>
          <a:lstStyle/>
          <a:p>
            <a:fld id="{F0CE7589-AD03-4D94-8E83-254DE5308DC1}" type="datetimeFigureOut">
              <a:rPr lang="en-SG" smtClean="0"/>
              <a:t>11/9/2024</a:t>
            </a:fld>
            <a:endParaRPr lang="en-SG"/>
          </a:p>
        </p:txBody>
      </p:sp>
      <p:sp>
        <p:nvSpPr>
          <p:cNvPr id="6" name="Footer Placeholder 5">
            <a:extLst>
              <a:ext uri="{FF2B5EF4-FFF2-40B4-BE49-F238E27FC236}">
                <a16:creationId xmlns:a16="http://schemas.microsoft.com/office/drawing/2014/main" id="{8D87AB7B-A419-74F7-C8F3-B1C0131796FC}"/>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64D65766-895E-8766-B4C5-651490C658E6}"/>
              </a:ext>
            </a:extLst>
          </p:cNvPr>
          <p:cNvSpPr>
            <a:spLocks noGrp="1"/>
          </p:cNvSpPr>
          <p:nvPr>
            <p:ph type="sldNum" sz="quarter" idx="12"/>
          </p:nvPr>
        </p:nvSpPr>
        <p:spPr/>
        <p:txBody>
          <a:bodyPr/>
          <a:lstStyle/>
          <a:p>
            <a:fld id="{0DFC87F7-FBE0-440B-B472-9E3EA371B6AB}" type="slidenum">
              <a:rPr lang="en-SG" smtClean="0"/>
              <a:t>‹#›</a:t>
            </a:fld>
            <a:endParaRPr lang="en-SG"/>
          </a:p>
        </p:txBody>
      </p:sp>
    </p:spTree>
    <p:extLst>
      <p:ext uri="{BB962C8B-B14F-4D97-AF65-F5344CB8AC3E}">
        <p14:creationId xmlns:p14="http://schemas.microsoft.com/office/powerpoint/2010/main" val="40294678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CF4002-B534-545A-8510-B4ACB9BCC17E}"/>
              </a:ext>
            </a:extLst>
          </p:cNvPr>
          <p:cNvSpPr>
            <a:spLocks noGrp="1"/>
          </p:cNvSpPr>
          <p:nvPr>
            <p:ph type="title"/>
          </p:nvPr>
        </p:nvSpPr>
        <p:spPr/>
        <p:txBody>
          <a:bodyPr/>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690DC03B-6618-4D00-83CE-DAEA78FFB61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E996CF31-10AB-5D26-E28B-D7C33E0B7262}"/>
              </a:ext>
            </a:extLst>
          </p:cNvPr>
          <p:cNvSpPr>
            <a:spLocks noGrp="1"/>
          </p:cNvSpPr>
          <p:nvPr>
            <p:ph type="dt" sz="half" idx="10"/>
          </p:nvPr>
        </p:nvSpPr>
        <p:spPr/>
        <p:txBody>
          <a:bodyPr/>
          <a:lstStyle/>
          <a:p>
            <a:fld id="{F0CE7589-AD03-4D94-8E83-254DE5308DC1}" type="datetimeFigureOut">
              <a:rPr lang="en-SG" smtClean="0"/>
              <a:t>11/9/2024</a:t>
            </a:fld>
            <a:endParaRPr lang="en-SG"/>
          </a:p>
        </p:txBody>
      </p:sp>
      <p:sp>
        <p:nvSpPr>
          <p:cNvPr id="5" name="Footer Placeholder 4">
            <a:extLst>
              <a:ext uri="{FF2B5EF4-FFF2-40B4-BE49-F238E27FC236}">
                <a16:creationId xmlns:a16="http://schemas.microsoft.com/office/drawing/2014/main" id="{D3176164-4C19-7C5E-DFF2-9EE13C5FA235}"/>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73DB965F-9E47-3CE6-2336-3846D7EC700C}"/>
              </a:ext>
            </a:extLst>
          </p:cNvPr>
          <p:cNvSpPr>
            <a:spLocks noGrp="1"/>
          </p:cNvSpPr>
          <p:nvPr>
            <p:ph type="sldNum" sz="quarter" idx="12"/>
          </p:nvPr>
        </p:nvSpPr>
        <p:spPr/>
        <p:txBody>
          <a:bodyPr/>
          <a:lstStyle/>
          <a:p>
            <a:fld id="{0DFC87F7-FBE0-440B-B472-9E3EA371B6AB}" type="slidenum">
              <a:rPr lang="en-SG" smtClean="0"/>
              <a:t>‹#›</a:t>
            </a:fld>
            <a:endParaRPr lang="en-SG"/>
          </a:p>
        </p:txBody>
      </p:sp>
    </p:spTree>
    <p:extLst>
      <p:ext uri="{BB962C8B-B14F-4D97-AF65-F5344CB8AC3E}">
        <p14:creationId xmlns:p14="http://schemas.microsoft.com/office/powerpoint/2010/main" val="15447135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FE8DC93-29BD-5C7F-F8F6-01358CF1FE7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B76D9CB4-287D-C679-5227-203E74DD8C9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4C6700A3-FB86-C936-2821-546AE35BD077}"/>
              </a:ext>
            </a:extLst>
          </p:cNvPr>
          <p:cNvSpPr>
            <a:spLocks noGrp="1"/>
          </p:cNvSpPr>
          <p:nvPr>
            <p:ph type="dt" sz="half" idx="10"/>
          </p:nvPr>
        </p:nvSpPr>
        <p:spPr/>
        <p:txBody>
          <a:bodyPr/>
          <a:lstStyle/>
          <a:p>
            <a:fld id="{F0CE7589-AD03-4D94-8E83-254DE5308DC1}" type="datetimeFigureOut">
              <a:rPr lang="en-SG" smtClean="0"/>
              <a:t>11/9/2024</a:t>
            </a:fld>
            <a:endParaRPr lang="en-SG"/>
          </a:p>
        </p:txBody>
      </p:sp>
      <p:sp>
        <p:nvSpPr>
          <p:cNvPr id="5" name="Footer Placeholder 4">
            <a:extLst>
              <a:ext uri="{FF2B5EF4-FFF2-40B4-BE49-F238E27FC236}">
                <a16:creationId xmlns:a16="http://schemas.microsoft.com/office/drawing/2014/main" id="{A46DB49F-4D37-D6C5-3AF3-3C9B0D98DA69}"/>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BB6F6BB6-E51A-56C5-8F19-F093301BCB63}"/>
              </a:ext>
            </a:extLst>
          </p:cNvPr>
          <p:cNvSpPr>
            <a:spLocks noGrp="1"/>
          </p:cNvSpPr>
          <p:nvPr>
            <p:ph type="sldNum" sz="quarter" idx="12"/>
          </p:nvPr>
        </p:nvSpPr>
        <p:spPr/>
        <p:txBody>
          <a:bodyPr/>
          <a:lstStyle/>
          <a:p>
            <a:fld id="{0DFC87F7-FBE0-440B-B472-9E3EA371B6AB}" type="slidenum">
              <a:rPr lang="en-SG" smtClean="0"/>
              <a:t>‹#›</a:t>
            </a:fld>
            <a:endParaRPr lang="en-SG"/>
          </a:p>
        </p:txBody>
      </p:sp>
    </p:spTree>
    <p:extLst>
      <p:ext uri="{BB962C8B-B14F-4D97-AF65-F5344CB8AC3E}">
        <p14:creationId xmlns:p14="http://schemas.microsoft.com/office/powerpoint/2010/main" val="10724539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AA9690D-2656-B85D-30D3-317586DC705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SG"/>
          </a:p>
        </p:txBody>
      </p:sp>
      <p:sp>
        <p:nvSpPr>
          <p:cNvPr id="3" name="Text Placeholder 2">
            <a:extLst>
              <a:ext uri="{FF2B5EF4-FFF2-40B4-BE49-F238E27FC236}">
                <a16:creationId xmlns:a16="http://schemas.microsoft.com/office/drawing/2014/main" id="{AAE424C5-A875-A1B4-9E57-CFF1D5B7E70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D11DCED1-0320-5FB8-31B1-D928A0BE5BF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0CE7589-AD03-4D94-8E83-254DE5308DC1}" type="datetimeFigureOut">
              <a:rPr lang="en-SG" smtClean="0"/>
              <a:t>11/9/2024</a:t>
            </a:fld>
            <a:endParaRPr lang="en-SG"/>
          </a:p>
        </p:txBody>
      </p:sp>
      <p:sp>
        <p:nvSpPr>
          <p:cNvPr id="5" name="Footer Placeholder 4">
            <a:extLst>
              <a:ext uri="{FF2B5EF4-FFF2-40B4-BE49-F238E27FC236}">
                <a16:creationId xmlns:a16="http://schemas.microsoft.com/office/drawing/2014/main" id="{04226498-B3DB-C55B-718E-D78F07C4808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SG"/>
          </a:p>
        </p:txBody>
      </p:sp>
      <p:sp>
        <p:nvSpPr>
          <p:cNvPr id="6" name="Slide Number Placeholder 5">
            <a:extLst>
              <a:ext uri="{FF2B5EF4-FFF2-40B4-BE49-F238E27FC236}">
                <a16:creationId xmlns:a16="http://schemas.microsoft.com/office/drawing/2014/main" id="{BCF177AD-DA03-AA63-D95A-EC3B056D3D1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DFC87F7-FBE0-440B-B472-9E3EA371B6AB}" type="slidenum">
              <a:rPr lang="en-SG" smtClean="0"/>
              <a:t>‹#›</a:t>
            </a:fld>
            <a:endParaRPr lang="en-SG"/>
          </a:p>
        </p:txBody>
      </p:sp>
    </p:spTree>
    <p:extLst>
      <p:ext uri="{BB962C8B-B14F-4D97-AF65-F5344CB8AC3E}">
        <p14:creationId xmlns:p14="http://schemas.microsoft.com/office/powerpoint/2010/main" val="10031783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deepai.org/machine-learning-glossary-and-terms/hyperparameter"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medium.com/game-of-bits/understanding-optimizers-for-training-deep-learning-models-694c071b5b70" TargetMode="External"/><Relationship Id="rId2" Type="http://schemas.openxmlformats.org/officeDocument/2006/relationships/hyperlink" Target="https://towardsdatascience.com/understanding-deep-learning-optimizers-momentum-adagrad-rmsprop-adam-e311e377e9c2"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A1EFF-AD40-1FBF-6FB7-CA6F7155583F}"/>
              </a:ext>
            </a:extLst>
          </p:cNvPr>
          <p:cNvSpPr>
            <a:spLocks noGrp="1"/>
          </p:cNvSpPr>
          <p:nvPr>
            <p:ph type="ctrTitle"/>
          </p:nvPr>
        </p:nvSpPr>
        <p:spPr/>
        <p:txBody>
          <a:bodyPr/>
          <a:lstStyle/>
          <a:p>
            <a:r>
              <a:rPr lang="en-SG" dirty="0"/>
              <a:t>Deep Learning </a:t>
            </a:r>
          </a:p>
        </p:txBody>
      </p:sp>
      <p:sp>
        <p:nvSpPr>
          <p:cNvPr id="3" name="Subtitle 2">
            <a:extLst>
              <a:ext uri="{FF2B5EF4-FFF2-40B4-BE49-F238E27FC236}">
                <a16:creationId xmlns:a16="http://schemas.microsoft.com/office/drawing/2014/main" id="{7D8CC614-131E-7A2A-E1A1-30AAA6BE7976}"/>
              </a:ext>
            </a:extLst>
          </p:cNvPr>
          <p:cNvSpPr>
            <a:spLocks noGrp="1"/>
          </p:cNvSpPr>
          <p:nvPr>
            <p:ph type="subTitle" idx="1"/>
          </p:nvPr>
        </p:nvSpPr>
        <p:spPr/>
        <p:txBody>
          <a:bodyPr/>
          <a:lstStyle/>
          <a:p>
            <a:r>
              <a:rPr lang="en-SG" dirty="0"/>
              <a:t>Optimizers</a:t>
            </a:r>
          </a:p>
        </p:txBody>
      </p:sp>
    </p:spTree>
    <p:extLst>
      <p:ext uri="{BB962C8B-B14F-4D97-AF65-F5344CB8AC3E}">
        <p14:creationId xmlns:p14="http://schemas.microsoft.com/office/powerpoint/2010/main" val="37806139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9587B6-A91D-9C94-B297-DE3C45DCC71D}"/>
              </a:ext>
            </a:extLst>
          </p:cNvPr>
          <p:cNvSpPr>
            <a:spLocks noGrp="1"/>
          </p:cNvSpPr>
          <p:nvPr>
            <p:ph type="title"/>
          </p:nvPr>
        </p:nvSpPr>
        <p:spPr/>
        <p:txBody>
          <a:bodyPr/>
          <a:lstStyle/>
          <a:p>
            <a:endParaRPr lang="en-SG"/>
          </a:p>
        </p:txBody>
      </p:sp>
      <p:sp>
        <p:nvSpPr>
          <p:cNvPr id="3" name="Content Placeholder 2">
            <a:extLst>
              <a:ext uri="{FF2B5EF4-FFF2-40B4-BE49-F238E27FC236}">
                <a16:creationId xmlns:a16="http://schemas.microsoft.com/office/drawing/2014/main" id="{E92EBE34-56E8-CDA5-BF9E-84174B97DA79}"/>
              </a:ext>
            </a:extLst>
          </p:cNvPr>
          <p:cNvSpPr>
            <a:spLocks noGrp="1"/>
          </p:cNvSpPr>
          <p:nvPr>
            <p:ph idx="1"/>
          </p:nvPr>
        </p:nvSpPr>
        <p:spPr/>
        <p:txBody>
          <a:bodyPr/>
          <a:lstStyle/>
          <a:p>
            <a:endParaRPr lang="en-SG"/>
          </a:p>
        </p:txBody>
      </p:sp>
      <p:pic>
        <p:nvPicPr>
          <p:cNvPr id="5" name="Picture 4">
            <a:extLst>
              <a:ext uri="{FF2B5EF4-FFF2-40B4-BE49-F238E27FC236}">
                <a16:creationId xmlns:a16="http://schemas.microsoft.com/office/drawing/2014/main" id="{E0A2421B-7A57-A033-CEA2-8D8614AFB9DC}"/>
              </a:ext>
            </a:extLst>
          </p:cNvPr>
          <p:cNvPicPr>
            <a:picLocks noChangeAspect="1"/>
          </p:cNvPicPr>
          <p:nvPr/>
        </p:nvPicPr>
        <p:blipFill>
          <a:blip r:embed="rId2"/>
          <a:stretch>
            <a:fillRect/>
          </a:stretch>
        </p:blipFill>
        <p:spPr>
          <a:xfrm>
            <a:off x="838200" y="365125"/>
            <a:ext cx="10643886" cy="5875529"/>
          </a:xfrm>
          <a:prstGeom prst="rect">
            <a:avLst/>
          </a:prstGeom>
        </p:spPr>
      </p:pic>
    </p:spTree>
    <p:extLst>
      <p:ext uri="{BB962C8B-B14F-4D97-AF65-F5344CB8AC3E}">
        <p14:creationId xmlns:p14="http://schemas.microsoft.com/office/powerpoint/2010/main" val="254721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B80F7E-E6BF-2EDD-71AB-69728A68E8CC}"/>
              </a:ext>
            </a:extLst>
          </p:cNvPr>
          <p:cNvSpPr>
            <a:spLocks noGrp="1"/>
          </p:cNvSpPr>
          <p:nvPr>
            <p:ph type="title"/>
          </p:nvPr>
        </p:nvSpPr>
        <p:spPr/>
        <p:txBody>
          <a:bodyPr/>
          <a:lstStyle/>
          <a:p>
            <a:r>
              <a:rPr lang="en-SG" dirty="0"/>
              <a:t>Optimizers</a:t>
            </a:r>
          </a:p>
        </p:txBody>
      </p:sp>
      <p:sp>
        <p:nvSpPr>
          <p:cNvPr id="3" name="Content Placeholder 2">
            <a:extLst>
              <a:ext uri="{FF2B5EF4-FFF2-40B4-BE49-F238E27FC236}">
                <a16:creationId xmlns:a16="http://schemas.microsoft.com/office/drawing/2014/main" id="{BDE8B2EB-31C8-5315-4B2A-CAB5FAF56D7F}"/>
              </a:ext>
            </a:extLst>
          </p:cNvPr>
          <p:cNvSpPr>
            <a:spLocks noGrp="1"/>
          </p:cNvSpPr>
          <p:nvPr>
            <p:ph idx="1"/>
          </p:nvPr>
        </p:nvSpPr>
        <p:spPr/>
        <p:txBody>
          <a:bodyPr/>
          <a:lstStyle/>
          <a:p>
            <a:pPr marL="0" indent="0">
              <a:buNone/>
            </a:pPr>
            <a:r>
              <a:rPr lang="en-US" b="0" i="0" dirty="0">
                <a:solidFill>
                  <a:srgbClr val="171717"/>
                </a:solidFill>
                <a:effectLst/>
                <a:latin typeface="-apple-system"/>
              </a:rPr>
              <a:t>Optimizers are algorithms used to </a:t>
            </a:r>
            <a:r>
              <a:rPr lang="en-US" b="0" i="0" dirty="0">
                <a:solidFill>
                  <a:srgbClr val="171717"/>
                </a:solidFill>
                <a:effectLst/>
                <a:highlight>
                  <a:srgbClr val="FFFF00"/>
                </a:highlight>
                <a:latin typeface="-apple-system"/>
              </a:rPr>
              <a:t>find the optimal set of parameters </a:t>
            </a:r>
            <a:r>
              <a:rPr lang="en-US" b="0" i="0" dirty="0">
                <a:solidFill>
                  <a:srgbClr val="171717"/>
                </a:solidFill>
                <a:effectLst/>
                <a:latin typeface="-apple-system"/>
              </a:rPr>
              <a:t>for a model </a:t>
            </a:r>
            <a:r>
              <a:rPr lang="en-US" b="0" i="0" dirty="0">
                <a:solidFill>
                  <a:srgbClr val="171717"/>
                </a:solidFill>
                <a:effectLst/>
                <a:highlight>
                  <a:srgbClr val="00FFFF"/>
                </a:highlight>
                <a:latin typeface="-apple-system"/>
              </a:rPr>
              <a:t>during the training process</a:t>
            </a:r>
            <a:r>
              <a:rPr lang="en-US" b="0" i="0" dirty="0">
                <a:solidFill>
                  <a:srgbClr val="171717"/>
                </a:solidFill>
                <a:effectLst/>
                <a:latin typeface="-apple-system"/>
              </a:rPr>
              <a:t>. </a:t>
            </a:r>
          </a:p>
          <a:p>
            <a:pPr marL="0" indent="0">
              <a:buNone/>
            </a:pPr>
            <a:r>
              <a:rPr lang="en-US" b="0" i="0" dirty="0">
                <a:solidFill>
                  <a:srgbClr val="171717"/>
                </a:solidFill>
                <a:effectLst/>
                <a:latin typeface="-apple-system"/>
              </a:rPr>
              <a:t>These algorithms adjust the weights and biases in the model iteratively until they converge on a minimum loss value.</a:t>
            </a:r>
            <a:endParaRPr lang="en-SG" dirty="0"/>
          </a:p>
        </p:txBody>
      </p:sp>
    </p:spTree>
    <p:extLst>
      <p:ext uri="{BB962C8B-B14F-4D97-AF65-F5344CB8AC3E}">
        <p14:creationId xmlns:p14="http://schemas.microsoft.com/office/powerpoint/2010/main" val="36169218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2858B5-20C1-59CC-DAA5-DD7B707E2164}"/>
              </a:ext>
            </a:extLst>
          </p:cNvPr>
          <p:cNvSpPr>
            <a:spLocks noGrp="1"/>
          </p:cNvSpPr>
          <p:nvPr>
            <p:ph type="title"/>
          </p:nvPr>
        </p:nvSpPr>
        <p:spPr/>
        <p:txBody>
          <a:bodyPr/>
          <a:lstStyle/>
          <a:p>
            <a:r>
              <a:rPr lang="en-SG" dirty="0"/>
              <a:t>Types Of Optimizers</a:t>
            </a:r>
          </a:p>
        </p:txBody>
      </p:sp>
      <p:sp>
        <p:nvSpPr>
          <p:cNvPr id="3" name="Content Placeholder 2">
            <a:extLst>
              <a:ext uri="{FF2B5EF4-FFF2-40B4-BE49-F238E27FC236}">
                <a16:creationId xmlns:a16="http://schemas.microsoft.com/office/drawing/2014/main" id="{281B0917-B62C-DA13-F3D0-322980E0028E}"/>
              </a:ext>
            </a:extLst>
          </p:cNvPr>
          <p:cNvSpPr>
            <a:spLocks noGrp="1"/>
          </p:cNvSpPr>
          <p:nvPr>
            <p:ph idx="1"/>
          </p:nvPr>
        </p:nvSpPr>
        <p:spPr/>
        <p:txBody>
          <a:bodyPr>
            <a:normAutofit/>
          </a:bodyPr>
          <a:lstStyle/>
          <a:p>
            <a:pPr algn="l">
              <a:buFont typeface="+mj-lt"/>
              <a:buAutoNum type="arabicPeriod"/>
            </a:pPr>
            <a:r>
              <a:rPr lang="en-SG" b="0" i="1" dirty="0">
                <a:solidFill>
                  <a:srgbClr val="242424"/>
                </a:solidFill>
                <a:effectLst/>
                <a:latin typeface="source-serif-pro"/>
              </a:rPr>
              <a:t>Gradient Descent Algorithm</a:t>
            </a:r>
            <a:endParaRPr lang="en-SG" b="0" i="0" dirty="0">
              <a:solidFill>
                <a:srgbClr val="242424"/>
              </a:solidFill>
              <a:effectLst/>
              <a:latin typeface="source-serif-pro"/>
            </a:endParaRPr>
          </a:p>
          <a:p>
            <a:pPr algn="l">
              <a:buFont typeface="+mj-lt"/>
              <a:buAutoNum type="arabicPeriod"/>
            </a:pPr>
            <a:r>
              <a:rPr lang="en-SG" b="0" i="1" dirty="0">
                <a:solidFill>
                  <a:srgbClr val="242424"/>
                </a:solidFill>
                <a:effectLst/>
                <a:latin typeface="source-serif-pro"/>
              </a:rPr>
              <a:t>Stochastic Gradient Descent</a:t>
            </a:r>
          </a:p>
          <a:p>
            <a:pPr algn="l">
              <a:buFont typeface="+mj-lt"/>
              <a:buAutoNum type="arabicPeriod"/>
            </a:pPr>
            <a:r>
              <a:rPr lang="en-SG" i="1" dirty="0">
                <a:solidFill>
                  <a:srgbClr val="242424"/>
                </a:solidFill>
                <a:latin typeface="source-serif-pro"/>
              </a:rPr>
              <a:t>Mini-batch Gradient Descent</a:t>
            </a:r>
            <a:endParaRPr lang="en-SG" b="0" i="0" dirty="0">
              <a:solidFill>
                <a:srgbClr val="242424"/>
              </a:solidFill>
              <a:effectLst/>
              <a:latin typeface="source-serif-pro"/>
            </a:endParaRPr>
          </a:p>
          <a:p>
            <a:pPr algn="l">
              <a:buFont typeface="+mj-lt"/>
              <a:buAutoNum type="arabicPeriod"/>
            </a:pPr>
            <a:r>
              <a:rPr lang="en-SG" b="0" i="1" dirty="0">
                <a:solidFill>
                  <a:srgbClr val="242424"/>
                </a:solidFill>
                <a:effectLst/>
                <a:latin typeface="source-serif-pro"/>
              </a:rPr>
              <a:t>Momentum</a:t>
            </a:r>
          </a:p>
          <a:p>
            <a:pPr algn="l">
              <a:buFont typeface="+mj-lt"/>
              <a:buAutoNum type="arabicPeriod"/>
            </a:pPr>
            <a:r>
              <a:rPr lang="en-SG" b="0" i="0" dirty="0">
                <a:solidFill>
                  <a:srgbClr val="242424"/>
                </a:solidFill>
                <a:effectLst/>
                <a:latin typeface="source-serif-pro"/>
              </a:rPr>
              <a:t>Nesterov</a:t>
            </a:r>
          </a:p>
          <a:p>
            <a:pPr algn="l">
              <a:buFont typeface="+mj-lt"/>
              <a:buAutoNum type="arabicPeriod"/>
            </a:pPr>
            <a:r>
              <a:rPr lang="en-SG" b="0" i="1" dirty="0" err="1">
                <a:solidFill>
                  <a:srgbClr val="242424"/>
                </a:solidFill>
                <a:effectLst/>
                <a:latin typeface="source-serif-pro"/>
              </a:rPr>
              <a:t>Adagrad</a:t>
            </a:r>
            <a:endParaRPr lang="en-SG" b="0" i="0" dirty="0">
              <a:solidFill>
                <a:srgbClr val="242424"/>
              </a:solidFill>
              <a:effectLst/>
              <a:latin typeface="source-serif-pro"/>
            </a:endParaRPr>
          </a:p>
          <a:p>
            <a:pPr algn="l">
              <a:buFont typeface="+mj-lt"/>
              <a:buAutoNum type="arabicPeriod"/>
            </a:pPr>
            <a:r>
              <a:rPr lang="en-SG" b="0" i="1" dirty="0" err="1">
                <a:solidFill>
                  <a:srgbClr val="242424"/>
                </a:solidFill>
                <a:effectLst/>
                <a:latin typeface="source-serif-pro"/>
              </a:rPr>
              <a:t>RmsProp</a:t>
            </a:r>
            <a:endParaRPr lang="en-SG" b="0" i="0" dirty="0">
              <a:solidFill>
                <a:srgbClr val="242424"/>
              </a:solidFill>
              <a:effectLst/>
              <a:latin typeface="source-serif-pro"/>
            </a:endParaRPr>
          </a:p>
          <a:p>
            <a:pPr algn="l">
              <a:buFont typeface="+mj-lt"/>
              <a:buAutoNum type="arabicPeriod"/>
            </a:pPr>
            <a:r>
              <a:rPr lang="en-SG" b="0" i="1" dirty="0">
                <a:solidFill>
                  <a:srgbClr val="242424"/>
                </a:solidFill>
                <a:effectLst/>
                <a:latin typeface="source-serif-pro"/>
              </a:rPr>
              <a:t>Adam</a:t>
            </a:r>
            <a:endParaRPr lang="en-SG" b="0" i="0" dirty="0">
              <a:solidFill>
                <a:srgbClr val="242424"/>
              </a:solidFill>
              <a:effectLst/>
              <a:latin typeface="source-serif-pro"/>
            </a:endParaRPr>
          </a:p>
          <a:p>
            <a:endParaRPr lang="en-SG" dirty="0"/>
          </a:p>
        </p:txBody>
      </p:sp>
    </p:spTree>
    <p:extLst>
      <p:ext uri="{BB962C8B-B14F-4D97-AF65-F5344CB8AC3E}">
        <p14:creationId xmlns:p14="http://schemas.microsoft.com/office/powerpoint/2010/main" val="42571714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D36FC4-A630-FB51-A834-C28D81CE7A8D}"/>
              </a:ext>
            </a:extLst>
          </p:cNvPr>
          <p:cNvSpPr>
            <a:spLocks noGrp="1"/>
          </p:cNvSpPr>
          <p:nvPr>
            <p:ph type="title"/>
          </p:nvPr>
        </p:nvSpPr>
        <p:spPr/>
        <p:txBody>
          <a:bodyPr/>
          <a:lstStyle/>
          <a:p>
            <a:r>
              <a:rPr lang="en-SG" dirty="0"/>
              <a:t>Optimization Challenges in Deep Learning</a:t>
            </a:r>
          </a:p>
        </p:txBody>
      </p:sp>
      <p:sp>
        <p:nvSpPr>
          <p:cNvPr id="3" name="Content Placeholder 2">
            <a:extLst>
              <a:ext uri="{FF2B5EF4-FFF2-40B4-BE49-F238E27FC236}">
                <a16:creationId xmlns:a16="http://schemas.microsoft.com/office/drawing/2014/main" id="{1471B48F-4746-E58E-CF25-08888A67CA81}"/>
              </a:ext>
            </a:extLst>
          </p:cNvPr>
          <p:cNvSpPr>
            <a:spLocks noGrp="1"/>
          </p:cNvSpPr>
          <p:nvPr>
            <p:ph idx="1"/>
          </p:nvPr>
        </p:nvSpPr>
        <p:spPr/>
        <p:txBody>
          <a:bodyPr/>
          <a:lstStyle/>
          <a:p>
            <a:r>
              <a:rPr lang="en-SG" dirty="0"/>
              <a:t>Learning Rate</a:t>
            </a:r>
          </a:p>
          <a:p>
            <a:r>
              <a:rPr lang="en-SG" dirty="0"/>
              <a:t>Learning Rate Scheduling</a:t>
            </a:r>
          </a:p>
          <a:p>
            <a:r>
              <a:rPr lang="en-SG" dirty="0"/>
              <a:t>Multiple optimal value find</a:t>
            </a:r>
          </a:p>
          <a:p>
            <a:r>
              <a:rPr lang="en-SG" dirty="0"/>
              <a:t>Local Minima</a:t>
            </a:r>
          </a:p>
          <a:p>
            <a:r>
              <a:rPr lang="en-SG" dirty="0"/>
              <a:t>Saddle Point</a:t>
            </a:r>
          </a:p>
        </p:txBody>
      </p:sp>
    </p:spTree>
    <p:extLst>
      <p:ext uri="{BB962C8B-B14F-4D97-AF65-F5344CB8AC3E}">
        <p14:creationId xmlns:p14="http://schemas.microsoft.com/office/powerpoint/2010/main" val="31007896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CD249-DF2D-B3DA-8B56-39C6C175A21A}"/>
              </a:ext>
            </a:extLst>
          </p:cNvPr>
          <p:cNvSpPr>
            <a:spLocks noGrp="1"/>
          </p:cNvSpPr>
          <p:nvPr>
            <p:ph type="title"/>
          </p:nvPr>
        </p:nvSpPr>
        <p:spPr>
          <a:xfrm>
            <a:off x="800100" y="4167167"/>
            <a:ext cx="4229100" cy="2255461"/>
          </a:xfrm>
        </p:spPr>
        <p:txBody>
          <a:bodyPr anchor="t">
            <a:normAutofit/>
          </a:bodyPr>
          <a:lstStyle/>
          <a:p>
            <a:r>
              <a:rPr lang="en-SG" sz="3200"/>
              <a:t>Learning Rate</a:t>
            </a:r>
          </a:p>
        </p:txBody>
      </p:sp>
      <p:pic>
        <p:nvPicPr>
          <p:cNvPr id="5" name="Content Placeholder 4">
            <a:extLst>
              <a:ext uri="{FF2B5EF4-FFF2-40B4-BE49-F238E27FC236}">
                <a16:creationId xmlns:a16="http://schemas.microsoft.com/office/drawing/2014/main" id="{E1DFC6AB-F29A-4736-9F7D-F8DFB9D52E61}"/>
              </a:ext>
            </a:extLst>
          </p:cNvPr>
          <p:cNvPicPr>
            <a:picLocks noChangeAspect="1"/>
          </p:cNvPicPr>
          <p:nvPr/>
        </p:nvPicPr>
        <p:blipFill>
          <a:blip r:embed="rId2"/>
          <a:stretch>
            <a:fillRect/>
          </a:stretch>
        </p:blipFill>
        <p:spPr>
          <a:xfrm>
            <a:off x="1623238" y="618563"/>
            <a:ext cx="9280113" cy="2899431"/>
          </a:xfrm>
          <a:prstGeom prst="rect">
            <a:avLst/>
          </a:prstGeom>
        </p:spPr>
      </p:pic>
      <p:cxnSp>
        <p:nvCxnSpPr>
          <p:cNvPr id="12" name="Straight Connector 11">
            <a:extLst>
              <a:ext uri="{FF2B5EF4-FFF2-40B4-BE49-F238E27FC236}">
                <a16:creationId xmlns:a16="http://schemas.microsoft.com/office/drawing/2014/main" id="{B7952C56-EE0E-C94A-9A44-E17DD73E845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86300" y="3943277"/>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9" name="Content Placeholder 8">
            <a:extLst>
              <a:ext uri="{FF2B5EF4-FFF2-40B4-BE49-F238E27FC236}">
                <a16:creationId xmlns:a16="http://schemas.microsoft.com/office/drawing/2014/main" id="{8C1DD974-E076-71B7-F0F7-3C5384E56F7C}"/>
              </a:ext>
            </a:extLst>
          </p:cNvPr>
          <p:cNvSpPr>
            <a:spLocks noGrp="1"/>
          </p:cNvSpPr>
          <p:nvPr>
            <p:ph idx="1"/>
          </p:nvPr>
        </p:nvSpPr>
        <p:spPr>
          <a:xfrm>
            <a:off x="3368234" y="3854885"/>
            <a:ext cx="7985566" cy="2384552"/>
          </a:xfrm>
        </p:spPr>
        <p:txBody>
          <a:bodyPr>
            <a:normAutofit/>
          </a:bodyPr>
          <a:lstStyle/>
          <a:p>
            <a:pPr marL="0" indent="0" algn="just">
              <a:buNone/>
            </a:pPr>
            <a:r>
              <a:rPr lang="en-US" sz="2400" dirty="0">
                <a:solidFill>
                  <a:srgbClr val="242424"/>
                </a:solidFill>
                <a:latin typeface="source-serif-pro"/>
              </a:rPr>
              <a:t>O</a:t>
            </a:r>
            <a:r>
              <a:rPr lang="en-US" sz="2400" b="0" i="0" dirty="0">
                <a:solidFill>
                  <a:srgbClr val="242424"/>
                </a:solidFill>
                <a:effectLst/>
                <a:latin typeface="source-serif-pro"/>
              </a:rPr>
              <a:t>ur goal is to find the right learning rate which will get us to the optimum in the right amount of steps. </a:t>
            </a:r>
          </a:p>
          <a:p>
            <a:pPr marL="0" indent="0" algn="just">
              <a:buNone/>
            </a:pPr>
            <a:r>
              <a:rPr lang="en-US" sz="2400" b="0" i="0" dirty="0">
                <a:solidFill>
                  <a:srgbClr val="242424"/>
                </a:solidFill>
                <a:effectLst/>
                <a:latin typeface="source-serif-pro"/>
              </a:rPr>
              <a:t>Luckily we have many libraries/ frameworks which help in selecting the best hyperparameters like </a:t>
            </a:r>
            <a:r>
              <a:rPr lang="en-US" sz="2400" b="0" i="0" dirty="0" err="1">
                <a:solidFill>
                  <a:srgbClr val="242424"/>
                </a:solidFill>
                <a:effectLst/>
                <a:latin typeface="source-serif-pro"/>
              </a:rPr>
              <a:t>optuna</a:t>
            </a:r>
            <a:r>
              <a:rPr lang="en-US" sz="2400" b="0" i="0" dirty="0">
                <a:solidFill>
                  <a:srgbClr val="242424"/>
                </a:solidFill>
                <a:effectLst/>
                <a:latin typeface="source-serif-pro"/>
              </a:rPr>
              <a:t>, </a:t>
            </a:r>
            <a:r>
              <a:rPr lang="en-US" sz="2400" b="0" i="0" dirty="0" err="1">
                <a:solidFill>
                  <a:srgbClr val="242424"/>
                </a:solidFill>
                <a:effectLst/>
                <a:latin typeface="source-serif-pro"/>
              </a:rPr>
              <a:t>hyperopt</a:t>
            </a:r>
            <a:r>
              <a:rPr lang="en-US" sz="2400" b="0" i="0" dirty="0">
                <a:solidFill>
                  <a:srgbClr val="242424"/>
                </a:solidFill>
                <a:effectLst/>
                <a:latin typeface="source-serif-pro"/>
              </a:rPr>
              <a:t>, </a:t>
            </a:r>
            <a:r>
              <a:rPr lang="en-US" sz="2400" b="0" i="0" dirty="0" err="1">
                <a:solidFill>
                  <a:srgbClr val="242424"/>
                </a:solidFill>
                <a:effectLst/>
                <a:latin typeface="source-serif-pro"/>
              </a:rPr>
              <a:t>gridsearchcv</a:t>
            </a:r>
            <a:r>
              <a:rPr lang="en-US" sz="2400" b="0" i="0" dirty="0">
                <a:solidFill>
                  <a:srgbClr val="242424"/>
                </a:solidFill>
                <a:effectLst/>
                <a:latin typeface="source-serif-pro"/>
              </a:rPr>
              <a:t>, Ray-Tune, </a:t>
            </a:r>
            <a:r>
              <a:rPr lang="en-US" sz="2400" b="0" i="0" dirty="0" err="1">
                <a:solidFill>
                  <a:srgbClr val="242424"/>
                </a:solidFill>
                <a:effectLst/>
                <a:latin typeface="source-serif-pro"/>
              </a:rPr>
              <a:t>keras_tuner</a:t>
            </a:r>
            <a:r>
              <a:rPr lang="en-US" sz="2400" b="0" i="0" dirty="0">
                <a:solidFill>
                  <a:srgbClr val="242424"/>
                </a:solidFill>
                <a:effectLst/>
                <a:latin typeface="source-serif-pro"/>
              </a:rPr>
              <a:t> and many more.</a:t>
            </a:r>
            <a:endParaRPr lang="en-US" sz="2400" dirty="0"/>
          </a:p>
        </p:txBody>
      </p:sp>
    </p:spTree>
    <p:extLst>
      <p:ext uri="{BB962C8B-B14F-4D97-AF65-F5344CB8AC3E}">
        <p14:creationId xmlns:p14="http://schemas.microsoft.com/office/powerpoint/2010/main" val="2825054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127975D-134A-E0C0-B8F2-D4A8092511A1}"/>
              </a:ext>
            </a:extLst>
          </p:cNvPr>
          <p:cNvSpPr>
            <a:spLocks noGrp="1"/>
          </p:cNvSpPr>
          <p:nvPr>
            <p:ph type="title"/>
          </p:nvPr>
        </p:nvSpPr>
        <p:spPr>
          <a:xfrm>
            <a:off x="793662" y="386930"/>
            <a:ext cx="10066122" cy="1298448"/>
          </a:xfrm>
        </p:spPr>
        <p:txBody>
          <a:bodyPr anchor="b">
            <a:normAutofit/>
          </a:bodyPr>
          <a:lstStyle/>
          <a:p>
            <a:r>
              <a:rPr lang="en-SG" sz="4800" dirty="0"/>
              <a:t>Local Optima</a:t>
            </a:r>
          </a:p>
        </p:txBody>
      </p:sp>
      <p:sp>
        <p:nvSpPr>
          <p:cNvPr id="21" name="Rectangle 20">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78AB6CD4-554F-EF16-EF46-3A1D8414F77D}"/>
              </a:ext>
            </a:extLst>
          </p:cNvPr>
          <p:cNvPicPr>
            <a:picLocks noChangeAspect="1"/>
          </p:cNvPicPr>
          <p:nvPr/>
        </p:nvPicPr>
        <p:blipFill>
          <a:blip r:embed="rId2"/>
          <a:stretch>
            <a:fillRect/>
          </a:stretch>
        </p:blipFill>
        <p:spPr>
          <a:xfrm>
            <a:off x="1155644" y="2637483"/>
            <a:ext cx="9880709" cy="3399182"/>
          </a:xfrm>
          <a:prstGeom prst="rect">
            <a:avLst/>
          </a:prstGeom>
        </p:spPr>
      </p:pic>
      <p:sp>
        <p:nvSpPr>
          <p:cNvPr id="24" name="Rectangle 23">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006950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9F52EB-37E9-DBD5-550E-A6487D9939BA}"/>
              </a:ext>
            </a:extLst>
          </p:cNvPr>
          <p:cNvSpPr>
            <a:spLocks noGrp="1"/>
          </p:cNvSpPr>
          <p:nvPr>
            <p:ph type="title"/>
          </p:nvPr>
        </p:nvSpPr>
        <p:spPr/>
        <p:txBody>
          <a:bodyPr/>
          <a:lstStyle/>
          <a:p>
            <a:r>
              <a:rPr lang="en-SG" dirty="0"/>
              <a:t>Saddle point</a:t>
            </a:r>
          </a:p>
        </p:txBody>
      </p:sp>
      <p:sp>
        <p:nvSpPr>
          <p:cNvPr id="3" name="Content Placeholder 2">
            <a:extLst>
              <a:ext uri="{FF2B5EF4-FFF2-40B4-BE49-F238E27FC236}">
                <a16:creationId xmlns:a16="http://schemas.microsoft.com/office/drawing/2014/main" id="{27EC0804-08BB-2594-B74F-56405A078310}"/>
              </a:ext>
            </a:extLst>
          </p:cNvPr>
          <p:cNvSpPr>
            <a:spLocks noGrp="1"/>
          </p:cNvSpPr>
          <p:nvPr>
            <p:ph idx="1"/>
          </p:nvPr>
        </p:nvSpPr>
        <p:spPr/>
        <p:txBody>
          <a:bodyPr/>
          <a:lstStyle/>
          <a:p>
            <a:pPr marL="0" indent="0">
              <a:buNone/>
            </a:pPr>
            <a:r>
              <a:rPr lang="en-US" dirty="0">
                <a:solidFill>
                  <a:srgbClr val="040C28"/>
                </a:solidFill>
                <a:latin typeface="Google Sans"/>
              </a:rPr>
              <a:t>A </a:t>
            </a:r>
            <a:r>
              <a:rPr lang="en-US" b="0" i="0" dirty="0">
                <a:solidFill>
                  <a:srgbClr val="040C28"/>
                </a:solidFill>
                <a:effectLst/>
                <a:latin typeface="Google Sans"/>
              </a:rPr>
              <a:t>point on the surface of the graph of a function where the slopes (derivatives) in orthogonal directions are all zero (a critical point), but which is not a local extremum of the function</a:t>
            </a:r>
            <a:endParaRPr lang="en-SG" dirty="0"/>
          </a:p>
        </p:txBody>
      </p:sp>
      <p:pic>
        <p:nvPicPr>
          <p:cNvPr id="5" name="Picture 4">
            <a:extLst>
              <a:ext uri="{FF2B5EF4-FFF2-40B4-BE49-F238E27FC236}">
                <a16:creationId xmlns:a16="http://schemas.microsoft.com/office/drawing/2014/main" id="{6401662A-4D8D-2D60-3192-5638F47296C4}"/>
              </a:ext>
            </a:extLst>
          </p:cNvPr>
          <p:cNvPicPr>
            <a:picLocks noChangeAspect="1"/>
          </p:cNvPicPr>
          <p:nvPr/>
        </p:nvPicPr>
        <p:blipFill>
          <a:blip r:embed="rId2"/>
          <a:stretch>
            <a:fillRect/>
          </a:stretch>
        </p:blipFill>
        <p:spPr>
          <a:xfrm>
            <a:off x="5346700" y="3099648"/>
            <a:ext cx="5651500" cy="2667231"/>
          </a:xfrm>
          <a:prstGeom prst="rect">
            <a:avLst/>
          </a:prstGeom>
        </p:spPr>
      </p:pic>
      <p:pic>
        <p:nvPicPr>
          <p:cNvPr id="6" name="Picture 5">
            <a:extLst>
              <a:ext uri="{FF2B5EF4-FFF2-40B4-BE49-F238E27FC236}">
                <a16:creationId xmlns:a16="http://schemas.microsoft.com/office/drawing/2014/main" id="{75706D6C-2F3B-FA81-165E-0EBF7DCE420C}"/>
              </a:ext>
            </a:extLst>
          </p:cNvPr>
          <p:cNvPicPr>
            <a:picLocks noChangeAspect="1"/>
          </p:cNvPicPr>
          <p:nvPr/>
        </p:nvPicPr>
        <p:blipFill>
          <a:blip r:embed="rId3"/>
          <a:stretch>
            <a:fillRect/>
          </a:stretch>
        </p:blipFill>
        <p:spPr>
          <a:xfrm>
            <a:off x="1193800" y="3099649"/>
            <a:ext cx="3797300" cy="2667230"/>
          </a:xfrm>
          <a:prstGeom prst="rect">
            <a:avLst/>
          </a:prstGeom>
        </p:spPr>
      </p:pic>
    </p:spTree>
    <p:extLst>
      <p:ext uri="{BB962C8B-B14F-4D97-AF65-F5344CB8AC3E}">
        <p14:creationId xmlns:p14="http://schemas.microsoft.com/office/powerpoint/2010/main" val="12876347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869B666-9B07-144C-ED6A-D660E42314FC}"/>
              </a:ext>
            </a:extLst>
          </p:cNvPr>
          <p:cNvSpPr>
            <a:spLocks noGrp="1"/>
          </p:cNvSpPr>
          <p:nvPr>
            <p:ph type="title"/>
          </p:nvPr>
        </p:nvSpPr>
        <p:spPr>
          <a:xfrm>
            <a:off x="630936" y="639520"/>
            <a:ext cx="3429000" cy="1719072"/>
          </a:xfrm>
        </p:spPr>
        <p:txBody>
          <a:bodyPr anchor="b">
            <a:normAutofit/>
          </a:bodyPr>
          <a:lstStyle/>
          <a:p>
            <a:r>
              <a:rPr lang="en-SG" sz="5400"/>
              <a:t>Momentum</a:t>
            </a:r>
          </a:p>
        </p:txBody>
      </p:sp>
      <p:sp>
        <p:nvSpPr>
          <p:cNvPr id="22"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ontent Placeholder 8">
            <a:extLst>
              <a:ext uri="{FF2B5EF4-FFF2-40B4-BE49-F238E27FC236}">
                <a16:creationId xmlns:a16="http://schemas.microsoft.com/office/drawing/2014/main" id="{84238611-AEDE-EB06-A7B9-E6F12428DC72}"/>
              </a:ext>
            </a:extLst>
          </p:cNvPr>
          <p:cNvSpPr>
            <a:spLocks noGrp="1"/>
          </p:cNvSpPr>
          <p:nvPr>
            <p:ph idx="1"/>
          </p:nvPr>
        </p:nvSpPr>
        <p:spPr>
          <a:xfrm>
            <a:off x="630936" y="2807208"/>
            <a:ext cx="3429000" cy="3410712"/>
          </a:xfrm>
        </p:spPr>
        <p:txBody>
          <a:bodyPr anchor="t">
            <a:normAutofit/>
          </a:bodyPr>
          <a:lstStyle/>
          <a:p>
            <a:pPr marL="0" indent="0">
              <a:buNone/>
            </a:pPr>
            <a:r>
              <a:rPr lang="en-US" sz="2200" b="0" i="0" dirty="0">
                <a:effectLst/>
                <a:latin typeface="source-serif-pro"/>
              </a:rPr>
              <a:t>Momentum simulates the inertia of an object when it is moving, that is, the direction of the previous update is retained to a certain extent during the update, while the current update gradient is used to fine-tune the final update direction.</a:t>
            </a:r>
            <a:endParaRPr lang="en-US" sz="2200" dirty="0"/>
          </a:p>
        </p:txBody>
      </p:sp>
      <p:pic>
        <p:nvPicPr>
          <p:cNvPr id="6" name="Picture 5">
            <a:extLst>
              <a:ext uri="{FF2B5EF4-FFF2-40B4-BE49-F238E27FC236}">
                <a16:creationId xmlns:a16="http://schemas.microsoft.com/office/drawing/2014/main" id="{DEEE069D-83F6-C16A-0829-DCC8E836A0A7}"/>
              </a:ext>
            </a:extLst>
          </p:cNvPr>
          <p:cNvPicPr>
            <a:picLocks noChangeAspect="1"/>
          </p:cNvPicPr>
          <p:nvPr/>
        </p:nvPicPr>
        <p:blipFill>
          <a:blip r:embed="rId2"/>
          <a:stretch>
            <a:fillRect/>
          </a:stretch>
        </p:blipFill>
        <p:spPr>
          <a:xfrm>
            <a:off x="4654296" y="1772107"/>
            <a:ext cx="6903720" cy="3313786"/>
          </a:xfrm>
          <a:prstGeom prst="rect">
            <a:avLst/>
          </a:prstGeom>
        </p:spPr>
      </p:pic>
    </p:spTree>
    <p:extLst>
      <p:ext uri="{BB962C8B-B14F-4D97-AF65-F5344CB8AC3E}">
        <p14:creationId xmlns:p14="http://schemas.microsoft.com/office/powerpoint/2010/main" val="18538585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A1ABB84-5938-0B71-AE21-E3787E1EE77C}"/>
              </a:ext>
            </a:extLst>
          </p:cNvPr>
          <p:cNvPicPr>
            <a:picLocks noGrp="1" noChangeAspect="1"/>
          </p:cNvPicPr>
          <p:nvPr>
            <p:ph idx="1"/>
          </p:nvPr>
        </p:nvPicPr>
        <p:blipFill>
          <a:blip r:embed="rId2"/>
          <a:stretch>
            <a:fillRect/>
          </a:stretch>
        </p:blipFill>
        <p:spPr>
          <a:xfrm>
            <a:off x="643467" y="1765976"/>
            <a:ext cx="10905066" cy="3326046"/>
          </a:xfrm>
          <a:prstGeom prst="rect">
            <a:avLst/>
          </a:prstGeom>
        </p:spPr>
      </p:pic>
    </p:spTree>
    <p:extLst>
      <p:ext uri="{BB962C8B-B14F-4D97-AF65-F5344CB8AC3E}">
        <p14:creationId xmlns:p14="http://schemas.microsoft.com/office/powerpoint/2010/main" val="20530122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328FCE3-BB51-93F4-4063-DE1C57EE6A0D}"/>
              </a:ext>
            </a:extLst>
          </p:cNvPr>
          <p:cNvSpPr>
            <a:spLocks noGrp="1"/>
          </p:cNvSpPr>
          <p:nvPr>
            <p:ph type="title"/>
          </p:nvPr>
        </p:nvSpPr>
        <p:spPr>
          <a:xfrm>
            <a:off x="838200" y="365125"/>
            <a:ext cx="10515600" cy="1325563"/>
          </a:xfrm>
        </p:spPr>
        <p:txBody>
          <a:bodyPr>
            <a:normAutofit/>
          </a:bodyPr>
          <a:lstStyle/>
          <a:p>
            <a:endParaRPr lang="en-SG" sz="5400"/>
          </a:p>
        </p:txBody>
      </p:sp>
      <p:sp>
        <p:nvSpPr>
          <p:cNvPr id="12"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Content Placeholder 2">
            <a:extLst>
              <a:ext uri="{FF2B5EF4-FFF2-40B4-BE49-F238E27FC236}">
                <a16:creationId xmlns:a16="http://schemas.microsoft.com/office/drawing/2014/main" id="{A9CF6CF2-7E3F-BD41-0C4F-10A57F090F64}"/>
              </a:ext>
            </a:extLst>
          </p:cNvPr>
          <p:cNvSpPr>
            <a:spLocks noGrp="1"/>
          </p:cNvSpPr>
          <p:nvPr>
            <p:ph idx="1"/>
          </p:nvPr>
        </p:nvSpPr>
        <p:spPr>
          <a:xfrm>
            <a:off x="838200" y="1929384"/>
            <a:ext cx="10515600" cy="4251960"/>
          </a:xfrm>
        </p:spPr>
        <p:txBody>
          <a:bodyPr>
            <a:normAutofit/>
          </a:bodyPr>
          <a:lstStyle/>
          <a:p>
            <a:pPr marL="0" indent="0">
              <a:buNone/>
            </a:pPr>
            <a:r>
              <a:rPr lang="en-US" sz="2200" b="1" i="0">
                <a:effectLst/>
                <a:latin typeface="source-serif-pro"/>
              </a:rPr>
              <a:t>Advantages of SGD with momentum</a:t>
            </a:r>
            <a:endParaRPr lang="en-US" sz="2200" b="0" i="0">
              <a:effectLst/>
              <a:latin typeface="source-serif-pro"/>
            </a:endParaRPr>
          </a:p>
          <a:p>
            <a:pPr lvl="1">
              <a:buFont typeface="+mj-lt"/>
              <a:buAutoNum type="arabicPeriod"/>
            </a:pPr>
            <a:r>
              <a:rPr lang="en-US" sz="2200" b="0" i="0">
                <a:effectLst/>
                <a:latin typeface="source-serif-pro"/>
              </a:rPr>
              <a:t>Momentum helps to reduce the noise.</a:t>
            </a:r>
          </a:p>
          <a:p>
            <a:pPr lvl="1">
              <a:buFont typeface="+mj-lt"/>
              <a:buAutoNum type="arabicPeriod"/>
            </a:pPr>
            <a:r>
              <a:rPr lang="en-US" sz="2200" b="0" i="0">
                <a:effectLst/>
                <a:latin typeface="source-serif-pro"/>
              </a:rPr>
              <a:t>Reduces the oscillations and high variance of the parameters.</a:t>
            </a:r>
          </a:p>
          <a:p>
            <a:pPr lvl="1">
              <a:buFont typeface="+mj-lt"/>
              <a:buAutoNum type="arabicPeriod"/>
            </a:pPr>
            <a:r>
              <a:rPr lang="en-US" sz="2200" b="0" i="0">
                <a:effectLst/>
                <a:latin typeface="source-serif-pro"/>
              </a:rPr>
              <a:t>Exponential Weighted Average is used to smoothen the curve.</a:t>
            </a:r>
          </a:p>
          <a:p>
            <a:pPr lvl="1">
              <a:buFont typeface="+mj-lt"/>
              <a:buAutoNum type="arabicPeriod"/>
            </a:pPr>
            <a:r>
              <a:rPr lang="en-SG" sz="2200" b="0" i="0">
                <a:effectLst/>
                <a:latin typeface="source-serif-pro"/>
              </a:rPr>
              <a:t>Converges faster than gradient descent.</a:t>
            </a:r>
            <a:endParaRPr lang="en-US" sz="2200" b="0" i="0">
              <a:effectLst/>
              <a:latin typeface="source-serif-pro"/>
            </a:endParaRPr>
          </a:p>
          <a:p>
            <a:pPr marL="0" indent="0">
              <a:buNone/>
            </a:pPr>
            <a:r>
              <a:rPr lang="en-US" sz="2200" b="1" i="0">
                <a:effectLst/>
                <a:latin typeface="source-serif-pro"/>
              </a:rPr>
              <a:t>Disadvantage of SGD with momentum</a:t>
            </a:r>
            <a:endParaRPr lang="en-US" sz="2200" b="0" i="0">
              <a:effectLst/>
              <a:latin typeface="source-serif-pro"/>
            </a:endParaRPr>
          </a:p>
          <a:p>
            <a:pPr lvl="1">
              <a:buFont typeface="+mj-lt"/>
              <a:buAutoNum type="arabicPeriod"/>
            </a:pPr>
            <a:r>
              <a:rPr lang="en-US" sz="2200" b="0" i="0">
                <a:effectLst/>
                <a:latin typeface="source-serif-pro"/>
              </a:rPr>
              <a:t>Extra hyperparameter is added.</a:t>
            </a:r>
          </a:p>
          <a:p>
            <a:endParaRPr lang="en-SG" sz="2200"/>
          </a:p>
        </p:txBody>
      </p:sp>
    </p:spTree>
    <p:extLst>
      <p:ext uri="{BB962C8B-B14F-4D97-AF65-F5344CB8AC3E}">
        <p14:creationId xmlns:p14="http://schemas.microsoft.com/office/powerpoint/2010/main" val="34880489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9B8876-DCFA-AC82-8046-00B8EB5726FB}"/>
              </a:ext>
            </a:extLst>
          </p:cNvPr>
          <p:cNvSpPr>
            <a:spLocks noGrp="1"/>
          </p:cNvSpPr>
          <p:nvPr>
            <p:ph type="title"/>
          </p:nvPr>
        </p:nvSpPr>
        <p:spPr/>
        <p:txBody>
          <a:bodyPr/>
          <a:lstStyle/>
          <a:p>
            <a:r>
              <a:rPr lang="en-SG" dirty="0"/>
              <a:t>Nesterov Accelerated Gradient (NAG)</a:t>
            </a:r>
          </a:p>
        </p:txBody>
      </p:sp>
      <p:sp>
        <p:nvSpPr>
          <p:cNvPr id="3" name="Content Placeholder 2">
            <a:extLst>
              <a:ext uri="{FF2B5EF4-FFF2-40B4-BE49-F238E27FC236}">
                <a16:creationId xmlns:a16="http://schemas.microsoft.com/office/drawing/2014/main" id="{0B06A7E6-7F95-06B3-BE8F-345A2B76211B}"/>
              </a:ext>
            </a:extLst>
          </p:cNvPr>
          <p:cNvSpPr>
            <a:spLocks noGrp="1"/>
          </p:cNvSpPr>
          <p:nvPr>
            <p:ph idx="1"/>
          </p:nvPr>
        </p:nvSpPr>
        <p:spPr/>
        <p:txBody>
          <a:bodyPr/>
          <a:lstStyle/>
          <a:p>
            <a:r>
              <a:rPr lang="en-US" b="0" i="0" dirty="0">
                <a:solidFill>
                  <a:srgbClr val="242424"/>
                </a:solidFill>
                <a:effectLst/>
                <a:latin typeface="source-serif-pro"/>
              </a:rPr>
              <a:t>Momentum may be a good method, but if the momentum is too high the algorithm may miss the local minima and may continue to rise up. So, to resolve this issue the NAG algorithm was developed</a:t>
            </a:r>
          </a:p>
          <a:p>
            <a:endParaRPr lang="en-SG" dirty="0"/>
          </a:p>
        </p:txBody>
      </p:sp>
    </p:spTree>
    <p:extLst>
      <p:ext uri="{BB962C8B-B14F-4D97-AF65-F5344CB8AC3E}">
        <p14:creationId xmlns:p14="http://schemas.microsoft.com/office/powerpoint/2010/main" val="39383211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EC2F5F4-9129-B44A-0AA5-BB299563651C}"/>
              </a:ext>
            </a:extLst>
          </p:cNvPr>
          <p:cNvPicPr>
            <a:picLocks noGrp="1" noChangeAspect="1"/>
          </p:cNvPicPr>
          <p:nvPr>
            <p:ph idx="1"/>
          </p:nvPr>
        </p:nvPicPr>
        <p:blipFill>
          <a:blip r:embed="rId2"/>
          <a:stretch>
            <a:fillRect/>
          </a:stretch>
        </p:blipFill>
        <p:spPr>
          <a:xfrm>
            <a:off x="643467" y="661839"/>
            <a:ext cx="10905066" cy="5534321"/>
          </a:xfrm>
          <a:prstGeom prst="rect">
            <a:avLst/>
          </a:prstGeom>
        </p:spPr>
      </p:pic>
    </p:spTree>
    <p:extLst>
      <p:ext uri="{BB962C8B-B14F-4D97-AF65-F5344CB8AC3E}">
        <p14:creationId xmlns:p14="http://schemas.microsoft.com/office/powerpoint/2010/main" val="1383520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05133D1-F94B-381F-D9A6-97197313FCCC}"/>
              </a:ext>
            </a:extLst>
          </p:cNvPr>
          <p:cNvPicPr>
            <a:picLocks noGrp="1" noChangeAspect="1"/>
          </p:cNvPicPr>
          <p:nvPr>
            <p:ph idx="1"/>
          </p:nvPr>
        </p:nvPicPr>
        <p:blipFill>
          <a:blip r:embed="rId2"/>
          <a:stretch>
            <a:fillRect/>
          </a:stretch>
        </p:blipFill>
        <p:spPr>
          <a:xfrm>
            <a:off x="643467" y="1070779"/>
            <a:ext cx="10905066" cy="4716440"/>
          </a:xfrm>
          <a:prstGeom prst="rect">
            <a:avLst/>
          </a:prstGeom>
        </p:spPr>
      </p:pic>
    </p:spTree>
    <p:extLst>
      <p:ext uri="{BB962C8B-B14F-4D97-AF65-F5344CB8AC3E}">
        <p14:creationId xmlns:p14="http://schemas.microsoft.com/office/powerpoint/2010/main" val="38073421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C7D8E4A-F744-A9CC-98DE-94732E7F3C38}"/>
              </a:ext>
            </a:extLst>
          </p:cNvPr>
          <p:cNvSpPr>
            <a:spLocks noGrp="1"/>
          </p:cNvSpPr>
          <p:nvPr>
            <p:ph idx="1"/>
          </p:nvPr>
        </p:nvSpPr>
        <p:spPr>
          <a:xfrm>
            <a:off x="838200" y="601884"/>
            <a:ext cx="10515600" cy="5575079"/>
          </a:xfrm>
        </p:spPr>
        <p:txBody>
          <a:bodyPr>
            <a:normAutofit/>
          </a:bodyPr>
          <a:lstStyle/>
          <a:p>
            <a:pPr algn="l"/>
            <a:r>
              <a:rPr lang="en-US" b="1" i="0" dirty="0">
                <a:solidFill>
                  <a:srgbClr val="101010"/>
                </a:solidFill>
                <a:effectLst/>
                <a:latin typeface="Atkinson Hyperlegible"/>
              </a:rPr>
              <a:t>Advantages of Nesterov’s Momentum</a:t>
            </a:r>
          </a:p>
          <a:p>
            <a:pPr lvl="1"/>
            <a:r>
              <a:rPr lang="en-US" b="1" i="0" dirty="0">
                <a:solidFill>
                  <a:srgbClr val="101010"/>
                </a:solidFill>
                <a:effectLst/>
                <a:latin typeface="Atkinson Hyperlegible"/>
              </a:rPr>
              <a:t>Speed:</a:t>
            </a:r>
            <a:r>
              <a:rPr lang="en-US" b="0" i="0" dirty="0">
                <a:solidFill>
                  <a:srgbClr val="101010"/>
                </a:solidFill>
                <a:effectLst/>
                <a:latin typeface="Atkinson Hyperlegible"/>
              </a:rPr>
              <a:t> It converges faster to the minimum, especially in scenarios where the surface of the loss function has many flat regions or sharp curvatures.</a:t>
            </a:r>
          </a:p>
          <a:p>
            <a:pPr lvl="1"/>
            <a:r>
              <a:rPr lang="en-US" b="1" i="0" dirty="0">
                <a:solidFill>
                  <a:srgbClr val="101010"/>
                </a:solidFill>
                <a:effectLst/>
                <a:latin typeface="Atkinson Hyperlegible"/>
              </a:rPr>
              <a:t>Responsiveness:</a:t>
            </a:r>
            <a:r>
              <a:rPr lang="en-US" b="0" i="0" dirty="0">
                <a:solidFill>
                  <a:srgbClr val="101010"/>
                </a:solidFill>
                <a:effectLst/>
                <a:latin typeface="Atkinson Hyperlegible"/>
              </a:rPr>
              <a:t> The look-ahead step allows the optimizer to be more responsive to changes in the gradient, which can help in avoiding suboptimal local minima.</a:t>
            </a:r>
          </a:p>
          <a:p>
            <a:pPr lvl="1"/>
            <a:r>
              <a:rPr lang="en-US" b="1" i="0" dirty="0">
                <a:solidFill>
                  <a:srgbClr val="101010"/>
                </a:solidFill>
                <a:effectLst/>
                <a:latin typeface="Atkinson Hyperlegible"/>
              </a:rPr>
              <a:t>Stability:</a:t>
            </a:r>
            <a:r>
              <a:rPr lang="en-US" b="0" i="0" dirty="0">
                <a:solidFill>
                  <a:srgbClr val="101010"/>
                </a:solidFill>
                <a:effectLst/>
                <a:latin typeface="Atkinson Hyperlegible"/>
              </a:rPr>
              <a:t> It tends to overshoot less and exhibits more stable convergence behavior.</a:t>
            </a:r>
          </a:p>
          <a:p>
            <a:pPr algn="l"/>
            <a:r>
              <a:rPr lang="en-US" b="1" i="0" dirty="0">
                <a:solidFill>
                  <a:srgbClr val="101010"/>
                </a:solidFill>
                <a:effectLst/>
                <a:latin typeface="Atkinson Hyperlegible"/>
              </a:rPr>
              <a:t>When to Use Nesterov’s Momentum</a:t>
            </a:r>
          </a:p>
          <a:p>
            <a:pPr marL="457200" lvl="1" indent="0" algn="just">
              <a:buNone/>
            </a:pPr>
            <a:r>
              <a:rPr lang="en-US" b="0" i="0" dirty="0">
                <a:solidFill>
                  <a:srgbClr val="101010"/>
                </a:solidFill>
                <a:effectLst/>
                <a:latin typeface="Atkinson Hyperlegible"/>
              </a:rPr>
              <a:t>Nesterov’s Momentum is particularly useful when training deep neural networks with complex loss landscapes. It is well-suited for tasks where the </a:t>
            </a:r>
            <a:r>
              <a:rPr lang="en-US" b="0" i="0" dirty="0">
                <a:solidFill>
                  <a:srgbClr val="101010"/>
                </a:solidFill>
                <a:effectLst/>
                <a:highlight>
                  <a:srgbClr val="00FFFF"/>
                </a:highlight>
                <a:latin typeface="Atkinson Hyperlegible"/>
              </a:rPr>
              <a:t>optimization path may contain many saddle points or regions with high curvature</a:t>
            </a:r>
            <a:r>
              <a:rPr lang="en-US" b="0" i="0" dirty="0">
                <a:solidFill>
                  <a:srgbClr val="101010"/>
                </a:solidFill>
                <a:effectLst/>
                <a:latin typeface="Atkinson Hyperlegible"/>
              </a:rPr>
              <a:t>. However, it is important to tune the </a:t>
            </a:r>
            <a:r>
              <a:rPr lang="en-US" b="0" i="0" u="none" strike="noStrike" dirty="0">
                <a:solidFill>
                  <a:srgbClr val="101010"/>
                </a:solidFill>
                <a:effectLst/>
                <a:latin typeface="Atkinson Hyperlegible"/>
                <a:hlinkClick r:id="rId2"/>
              </a:rPr>
              <a:t>hyperparameters</a:t>
            </a:r>
            <a:r>
              <a:rPr lang="en-US" b="0" i="0" dirty="0">
                <a:solidFill>
                  <a:srgbClr val="101010"/>
                </a:solidFill>
                <a:effectLst/>
                <a:latin typeface="Atkinson Hyperlegible"/>
              </a:rPr>
              <a:t>, such as the learning rate and momentum factor, to achieve the best performance.</a:t>
            </a:r>
          </a:p>
          <a:p>
            <a:endParaRPr lang="en-SG" dirty="0"/>
          </a:p>
        </p:txBody>
      </p:sp>
    </p:spTree>
    <p:extLst>
      <p:ext uri="{BB962C8B-B14F-4D97-AF65-F5344CB8AC3E}">
        <p14:creationId xmlns:p14="http://schemas.microsoft.com/office/powerpoint/2010/main" val="25721862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D36C49-3C14-E050-9ED8-B9AE668EDAAC}"/>
              </a:ext>
            </a:extLst>
          </p:cNvPr>
          <p:cNvSpPr>
            <a:spLocks noGrp="1"/>
          </p:cNvSpPr>
          <p:nvPr>
            <p:ph type="title"/>
          </p:nvPr>
        </p:nvSpPr>
        <p:spPr/>
        <p:txBody>
          <a:bodyPr/>
          <a:lstStyle/>
          <a:p>
            <a:r>
              <a:rPr lang="en-SG" dirty="0" err="1"/>
              <a:t>AdaGrad</a:t>
            </a:r>
            <a:r>
              <a:rPr lang="en-SG" dirty="0"/>
              <a:t> (Adaptive Gradient)</a:t>
            </a:r>
          </a:p>
        </p:txBody>
      </p:sp>
      <p:pic>
        <p:nvPicPr>
          <p:cNvPr id="5" name="Content Placeholder 4">
            <a:extLst>
              <a:ext uri="{FF2B5EF4-FFF2-40B4-BE49-F238E27FC236}">
                <a16:creationId xmlns:a16="http://schemas.microsoft.com/office/drawing/2014/main" id="{8E4F96A6-68D8-8641-1521-5D05BA6EB6E4}"/>
              </a:ext>
            </a:extLst>
          </p:cNvPr>
          <p:cNvPicPr>
            <a:picLocks noGrp="1" noChangeAspect="1"/>
          </p:cNvPicPr>
          <p:nvPr>
            <p:ph idx="1"/>
          </p:nvPr>
        </p:nvPicPr>
        <p:blipFill>
          <a:blip r:embed="rId2"/>
          <a:stretch>
            <a:fillRect/>
          </a:stretch>
        </p:blipFill>
        <p:spPr>
          <a:xfrm>
            <a:off x="838200" y="1840837"/>
            <a:ext cx="10515600" cy="4320914"/>
          </a:xfrm>
        </p:spPr>
      </p:pic>
    </p:spTree>
    <p:extLst>
      <p:ext uri="{BB962C8B-B14F-4D97-AF65-F5344CB8AC3E}">
        <p14:creationId xmlns:p14="http://schemas.microsoft.com/office/powerpoint/2010/main" val="20292675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D73E5F-B5FD-5F91-12B6-02D2F990B7AB}"/>
              </a:ext>
            </a:extLst>
          </p:cNvPr>
          <p:cNvSpPr>
            <a:spLocks noGrp="1"/>
          </p:cNvSpPr>
          <p:nvPr>
            <p:ph idx="1"/>
          </p:nvPr>
        </p:nvSpPr>
        <p:spPr>
          <a:xfrm>
            <a:off x="838200" y="821803"/>
            <a:ext cx="10515600" cy="5355160"/>
          </a:xfrm>
        </p:spPr>
        <p:txBody>
          <a:bodyPr/>
          <a:lstStyle/>
          <a:p>
            <a:pPr marL="0" indent="0">
              <a:buNone/>
            </a:pPr>
            <a:r>
              <a:rPr lang="en-US" b="1" dirty="0"/>
              <a:t>Advantage</a:t>
            </a:r>
          </a:p>
          <a:p>
            <a:pPr lvl="1"/>
            <a:r>
              <a:rPr lang="en-US" dirty="0"/>
              <a:t>Well-suited for dealing with sparse data. </a:t>
            </a:r>
          </a:p>
          <a:p>
            <a:pPr lvl="1"/>
            <a:r>
              <a:rPr lang="en-US" dirty="0"/>
              <a:t> Significantly improves robustness of SGD. </a:t>
            </a:r>
          </a:p>
          <a:p>
            <a:pPr lvl="1"/>
            <a:r>
              <a:rPr lang="en-US" dirty="0"/>
              <a:t> Lesser need to manually tune the learning rate. </a:t>
            </a:r>
          </a:p>
          <a:p>
            <a:endParaRPr lang="en-US" dirty="0"/>
          </a:p>
          <a:p>
            <a:pPr marL="0" indent="0">
              <a:buNone/>
            </a:pPr>
            <a:r>
              <a:rPr lang="en-US" b="1" dirty="0"/>
              <a:t>Disadvantage </a:t>
            </a:r>
          </a:p>
          <a:p>
            <a:pPr marL="0" indent="0">
              <a:buNone/>
            </a:pPr>
            <a:r>
              <a:rPr lang="en-US" dirty="0"/>
              <a:t>Accumulates squared gradients in the denominator. </a:t>
            </a:r>
          </a:p>
          <a:p>
            <a:pPr marL="0" indent="0">
              <a:buNone/>
            </a:pPr>
            <a:r>
              <a:rPr lang="en-US" dirty="0"/>
              <a:t>This causes the learning rate to shrink and become infinitely small. </a:t>
            </a:r>
            <a:endParaRPr lang="en-SG" dirty="0"/>
          </a:p>
        </p:txBody>
      </p:sp>
    </p:spTree>
    <p:extLst>
      <p:ext uri="{BB962C8B-B14F-4D97-AF65-F5344CB8AC3E}">
        <p14:creationId xmlns:p14="http://schemas.microsoft.com/office/powerpoint/2010/main" val="6438622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D1AB04-BA4B-7B48-993D-ED430A2C1AFC}"/>
              </a:ext>
            </a:extLst>
          </p:cNvPr>
          <p:cNvSpPr>
            <a:spLocks noGrp="1"/>
          </p:cNvSpPr>
          <p:nvPr>
            <p:ph type="title"/>
          </p:nvPr>
        </p:nvSpPr>
        <p:spPr/>
        <p:txBody>
          <a:bodyPr/>
          <a:lstStyle/>
          <a:p>
            <a:r>
              <a:rPr lang="en-SG" dirty="0"/>
              <a:t>RMS prop</a:t>
            </a:r>
          </a:p>
        </p:txBody>
      </p:sp>
      <p:sp>
        <p:nvSpPr>
          <p:cNvPr id="3" name="Content Placeholder 2">
            <a:extLst>
              <a:ext uri="{FF2B5EF4-FFF2-40B4-BE49-F238E27FC236}">
                <a16:creationId xmlns:a16="http://schemas.microsoft.com/office/drawing/2014/main" id="{9E82C95C-6FAA-3670-AF78-052B9E064724}"/>
              </a:ext>
            </a:extLst>
          </p:cNvPr>
          <p:cNvSpPr>
            <a:spLocks noGrp="1"/>
          </p:cNvSpPr>
          <p:nvPr>
            <p:ph idx="1"/>
          </p:nvPr>
        </p:nvSpPr>
        <p:spPr/>
        <p:txBody>
          <a:bodyPr/>
          <a:lstStyle/>
          <a:p>
            <a:pPr marL="0" indent="0">
              <a:buNone/>
            </a:pPr>
            <a:r>
              <a:rPr lang="en-SG" dirty="0"/>
              <a:t>https://deepai.org/machine-learning-glossary-and-terms/rmsprop</a:t>
            </a:r>
          </a:p>
        </p:txBody>
      </p:sp>
    </p:spTree>
    <p:extLst>
      <p:ext uri="{BB962C8B-B14F-4D97-AF65-F5344CB8AC3E}">
        <p14:creationId xmlns:p14="http://schemas.microsoft.com/office/powerpoint/2010/main" val="10373969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29683C-A36B-851F-CC3E-D7897DB1A92F}"/>
              </a:ext>
            </a:extLst>
          </p:cNvPr>
          <p:cNvSpPr>
            <a:spLocks noGrp="1"/>
          </p:cNvSpPr>
          <p:nvPr>
            <p:ph type="title"/>
          </p:nvPr>
        </p:nvSpPr>
        <p:spPr/>
        <p:txBody>
          <a:bodyPr/>
          <a:lstStyle/>
          <a:p>
            <a:r>
              <a:rPr lang="en-SG" dirty="0"/>
              <a:t>Adam</a:t>
            </a:r>
          </a:p>
        </p:txBody>
      </p:sp>
      <p:sp>
        <p:nvSpPr>
          <p:cNvPr id="3" name="Content Placeholder 2">
            <a:extLst>
              <a:ext uri="{FF2B5EF4-FFF2-40B4-BE49-F238E27FC236}">
                <a16:creationId xmlns:a16="http://schemas.microsoft.com/office/drawing/2014/main" id="{51E2A262-9605-1C7E-D2FE-48024FAFCAEF}"/>
              </a:ext>
            </a:extLst>
          </p:cNvPr>
          <p:cNvSpPr>
            <a:spLocks noGrp="1"/>
          </p:cNvSpPr>
          <p:nvPr>
            <p:ph idx="1"/>
          </p:nvPr>
        </p:nvSpPr>
        <p:spPr/>
        <p:txBody>
          <a:bodyPr/>
          <a:lstStyle/>
          <a:p>
            <a:r>
              <a:rPr lang="en-SG" dirty="0"/>
              <a:t>https://builtin.com/machine-learning/adam-optimization#:~:text=Adam%20is%20an%20adaptive%20learning,A%20Method%20for%20Stochastic%20Optimization.%E2%80%9D&amp;text=Image%3A%20Screenshot%20by%20the%20author.</a:t>
            </a:r>
          </a:p>
        </p:txBody>
      </p:sp>
    </p:spTree>
    <p:extLst>
      <p:ext uri="{BB962C8B-B14F-4D97-AF65-F5344CB8AC3E}">
        <p14:creationId xmlns:p14="http://schemas.microsoft.com/office/powerpoint/2010/main" val="34885996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955CA-349A-C230-43C8-2EE33AE57978}"/>
              </a:ext>
            </a:extLst>
          </p:cNvPr>
          <p:cNvSpPr>
            <a:spLocks noGrp="1"/>
          </p:cNvSpPr>
          <p:nvPr>
            <p:ph type="title"/>
          </p:nvPr>
        </p:nvSpPr>
        <p:spPr/>
        <p:txBody>
          <a:bodyPr/>
          <a:lstStyle/>
          <a:p>
            <a:r>
              <a:rPr lang="en-SG" dirty="0"/>
              <a:t>Reference</a:t>
            </a:r>
          </a:p>
        </p:txBody>
      </p:sp>
      <p:sp>
        <p:nvSpPr>
          <p:cNvPr id="3" name="Content Placeholder 2">
            <a:extLst>
              <a:ext uri="{FF2B5EF4-FFF2-40B4-BE49-F238E27FC236}">
                <a16:creationId xmlns:a16="http://schemas.microsoft.com/office/drawing/2014/main" id="{7B4C5F52-7F75-2C2F-D548-E0F8E1583A63}"/>
              </a:ext>
            </a:extLst>
          </p:cNvPr>
          <p:cNvSpPr>
            <a:spLocks noGrp="1"/>
          </p:cNvSpPr>
          <p:nvPr>
            <p:ph idx="1"/>
          </p:nvPr>
        </p:nvSpPr>
        <p:spPr/>
        <p:txBody>
          <a:bodyPr/>
          <a:lstStyle/>
          <a:p>
            <a:r>
              <a:rPr lang="en-SG" dirty="0">
                <a:hlinkClick r:id="rId2"/>
              </a:rPr>
              <a:t>https://towardsdatascience.com/understanding-deep-learning-optimizers-momentum-adagrad-rmsprop-adam-e311e377e9c2</a:t>
            </a:r>
            <a:endParaRPr lang="en-SG" dirty="0"/>
          </a:p>
          <a:p>
            <a:r>
              <a:rPr lang="en-SG" dirty="0">
                <a:hlinkClick r:id="rId3"/>
              </a:rPr>
              <a:t>https://medium.com/game-of-bits/understanding-optimizers-for-training-deep-learning-models-694c071b5b70</a:t>
            </a:r>
            <a:endParaRPr lang="en-SG" dirty="0"/>
          </a:p>
          <a:p>
            <a:endParaRPr lang="en-SG" dirty="0"/>
          </a:p>
        </p:txBody>
      </p:sp>
    </p:spTree>
    <p:extLst>
      <p:ext uri="{BB962C8B-B14F-4D97-AF65-F5344CB8AC3E}">
        <p14:creationId xmlns:p14="http://schemas.microsoft.com/office/powerpoint/2010/main" val="35270624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9746AF-0E0B-E223-E5F5-65ED675DDBCF}"/>
              </a:ext>
            </a:extLst>
          </p:cNvPr>
          <p:cNvSpPr>
            <a:spLocks noGrp="1"/>
          </p:cNvSpPr>
          <p:nvPr>
            <p:ph type="title"/>
          </p:nvPr>
        </p:nvSpPr>
        <p:spPr/>
        <p:txBody>
          <a:bodyPr/>
          <a:lstStyle/>
          <a:p>
            <a:endParaRPr lang="en-SG"/>
          </a:p>
        </p:txBody>
      </p:sp>
      <p:sp>
        <p:nvSpPr>
          <p:cNvPr id="3" name="Content Placeholder 2">
            <a:extLst>
              <a:ext uri="{FF2B5EF4-FFF2-40B4-BE49-F238E27FC236}">
                <a16:creationId xmlns:a16="http://schemas.microsoft.com/office/drawing/2014/main" id="{D80D32A4-16ED-5041-2937-0AC64E6D41DD}"/>
              </a:ext>
            </a:extLst>
          </p:cNvPr>
          <p:cNvSpPr>
            <a:spLocks noGrp="1"/>
          </p:cNvSpPr>
          <p:nvPr>
            <p:ph idx="1"/>
          </p:nvPr>
        </p:nvSpPr>
        <p:spPr/>
        <p:txBody>
          <a:bodyPr>
            <a:normAutofit fontScale="92500" lnSpcReduction="20000"/>
          </a:bodyPr>
          <a:lstStyle/>
          <a:p>
            <a:r>
              <a:rPr lang="en-US" b="1" i="0" dirty="0">
                <a:effectLst/>
                <a:latin typeface="-apple-system"/>
              </a:rPr>
              <a:t>Regularization methods:</a:t>
            </a:r>
          </a:p>
          <a:p>
            <a:pPr lvl="1"/>
            <a:r>
              <a:rPr lang="en-US" dirty="0">
                <a:latin typeface="-apple-system"/>
              </a:rPr>
              <a:t>A</a:t>
            </a:r>
            <a:r>
              <a:rPr lang="en-US" b="0" i="0" dirty="0">
                <a:effectLst/>
                <a:latin typeface="-apple-system"/>
              </a:rPr>
              <a:t>dd constraints or penalties to the loss function or parameters to prevent overfitting and improve generalization. </a:t>
            </a:r>
          </a:p>
          <a:p>
            <a:pPr lvl="1"/>
            <a:r>
              <a:rPr lang="en-US" b="0" i="0" dirty="0">
                <a:effectLst/>
                <a:latin typeface="-apple-system"/>
              </a:rPr>
              <a:t>Examples are L1 and L2 regularization, dropout, batch normalization, and data augmentation</a:t>
            </a:r>
          </a:p>
          <a:p>
            <a:pPr marL="457200" lvl="1" indent="0">
              <a:buNone/>
            </a:pPr>
            <a:endParaRPr lang="en-SG" dirty="0">
              <a:latin typeface="-apple-system"/>
            </a:endParaRPr>
          </a:p>
          <a:p>
            <a:r>
              <a:rPr lang="en-US" b="1" i="0" dirty="0">
                <a:effectLst/>
                <a:latin typeface="-apple-system"/>
              </a:rPr>
              <a:t>Hyperparameter tuning </a:t>
            </a:r>
            <a:endParaRPr lang="en-US" dirty="0">
              <a:latin typeface="-apple-system"/>
            </a:endParaRPr>
          </a:p>
          <a:p>
            <a:pPr lvl="1"/>
            <a:r>
              <a:rPr lang="en-US" dirty="0">
                <a:latin typeface="-apple-system"/>
              </a:rPr>
              <a:t>O</a:t>
            </a:r>
            <a:r>
              <a:rPr lang="en-US" b="0" i="0" dirty="0">
                <a:effectLst/>
                <a:latin typeface="-apple-system"/>
              </a:rPr>
              <a:t>ptimize hyperparameters of the model and optimization algorithm such as learning rate, batch size, number of layers, number of neurons, and activation functions. </a:t>
            </a:r>
          </a:p>
          <a:p>
            <a:pPr lvl="1"/>
            <a:r>
              <a:rPr lang="en-US" b="0" i="0" dirty="0">
                <a:effectLst/>
                <a:latin typeface="-apple-system"/>
              </a:rPr>
              <a:t>Hyperparameter tuning methods can improve the performance and efficiency of the model and optimization algorithm by finding the best combination of hyperparameters for a given problem. </a:t>
            </a:r>
          </a:p>
          <a:p>
            <a:pPr lvl="1"/>
            <a:r>
              <a:rPr lang="en-US" b="0" i="0" dirty="0">
                <a:effectLst/>
                <a:latin typeface="-apple-system"/>
              </a:rPr>
              <a:t>Examples are grid search, random search, Bayesian optimization, and evolutionary algorithms</a:t>
            </a:r>
            <a:endParaRPr lang="en-US" dirty="0">
              <a:latin typeface="-apple-system"/>
            </a:endParaRPr>
          </a:p>
        </p:txBody>
      </p:sp>
    </p:spTree>
    <p:extLst>
      <p:ext uri="{BB962C8B-B14F-4D97-AF65-F5344CB8AC3E}">
        <p14:creationId xmlns:p14="http://schemas.microsoft.com/office/powerpoint/2010/main" val="4188745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1534</TotalTime>
  <Words>684</Words>
  <Application>Microsoft Office PowerPoint</Application>
  <PresentationFormat>Widescreen</PresentationFormat>
  <Paragraphs>67</Paragraphs>
  <Slides>21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-apple-system</vt:lpstr>
      <vt:lpstr>Aptos</vt:lpstr>
      <vt:lpstr>Aptos Display</vt:lpstr>
      <vt:lpstr>Arial</vt:lpstr>
      <vt:lpstr>Atkinson Hyperlegible</vt:lpstr>
      <vt:lpstr>Google Sans</vt:lpstr>
      <vt:lpstr>source-serif-pro</vt:lpstr>
      <vt:lpstr>Office Theme</vt:lpstr>
      <vt:lpstr>Deep Learning </vt:lpstr>
      <vt:lpstr>PowerPoint Presentation</vt:lpstr>
      <vt:lpstr>Optimizers</vt:lpstr>
      <vt:lpstr>Types Of Optimizers</vt:lpstr>
      <vt:lpstr>Optimization Challenges in Deep Learning</vt:lpstr>
      <vt:lpstr>Learning Rate</vt:lpstr>
      <vt:lpstr>Local Optima</vt:lpstr>
      <vt:lpstr>Saddle point</vt:lpstr>
      <vt:lpstr>Momentum</vt:lpstr>
      <vt:lpstr>PowerPoint Presentation</vt:lpstr>
      <vt:lpstr>PowerPoint Presentation</vt:lpstr>
      <vt:lpstr>Nesterov Accelerated Gradient (NAG)</vt:lpstr>
      <vt:lpstr>PowerPoint Presentation</vt:lpstr>
      <vt:lpstr>PowerPoint Presentation</vt:lpstr>
      <vt:lpstr>PowerPoint Presentation</vt:lpstr>
      <vt:lpstr>AdaGrad (Adaptive Gradient)</vt:lpstr>
      <vt:lpstr>PowerPoint Presentation</vt:lpstr>
      <vt:lpstr>RMS prop</vt:lpstr>
      <vt:lpstr>Adam</vt:lpstr>
      <vt:lpstr>Reference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Summaid Umer Khan</dc:creator>
  <cp:lastModifiedBy>Summaid Umer Khan</cp:lastModifiedBy>
  <cp:revision>1</cp:revision>
  <dcterms:created xsi:type="dcterms:W3CDTF">2024-09-09T07:50:16Z</dcterms:created>
  <dcterms:modified xsi:type="dcterms:W3CDTF">2024-09-12T08:10:53Z</dcterms:modified>
</cp:coreProperties>
</file>