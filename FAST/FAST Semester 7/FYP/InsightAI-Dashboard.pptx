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3" r:id="rId27"/>
    <p:sldId id="280" r:id="rId28"/>
    <p:sldId id="282" r:id="rId29"/>
  </p:sldIdLst>
  <p:sldSz cx="14630400" cy="8229600"/>
  <p:notesSz cx="8229600" cy="14630400"/>
  <p:embeddedFontLst>
    <p:embeddedFont>
      <p:font typeface="Montserrat Bold" panose="020B0604020202020204" charset="0"/>
      <p:bold r:id="rId31"/>
    </p:embeddedFont>
    <p:embeddedFont>
      <p:font typeface="Source Sans Pro" panose="020B0503030403020204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72A5"/>
    <a:srgbClr val="FFFFFF"/>
    <a:srgbClr val="383840"/>
    <a:srgbClr val="3636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4610"/>
  </p:normalViewPr>
  <p:slideViewPr>
    <p:cSldViewPr snapToGrid="0" snapToObjects="1">
      <p:cViewPr>
        <p:scale>
          <a:sx n="77" d="100"/>
          <a:sy n="77" d="100"/>
        </p:scale>
        <p:origin x="43" y="-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0947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338" y="1070253"/>
            <a:ext cx="7551896" cy="890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7000"/>
              </a:lnSpc>
              <a:buNone/>
            </a:pPr>
            <a:r>
              <a:rPr lang="en-US" sz="5600" b="1" kern="0" spc="-5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InsightAI Dashboard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795338" y="2302073"/>
            <a:ext cx="7553325" cy="68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Innovative web application for interactive data visualization and analysis with Artificial Intelligence.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3909" y="5161019"/>
            <a:ext cx="7553325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000" b="1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Supervisor</a:t>
            </a:r>
            <a:r>
              <a:rPr lang="en-US" sz="20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</a:t>
            </a:r>
            <a:r>
              <a:rPr lang="en-US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</a:p>
          <a:p>
            <a:pPr marL="0" indent="0">
              <a:lnSpc>
                <a:spcPts val="2650"/>
              </a:lnSpc>
              <a:buNone/>
            </a:pPr>
            <a:r>
              <a:rPr lang="en-US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          Muhammad Zeeshan Nazar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EA68A9-70D7-740C-67B6-85C986152568}"/>
              </a:ext>
            </a:extLst>
          </p:cNvPr>
          <p:cNvGrpSpPr/>
          <p:nvPr/>
        </p:nvGrpSpPr>
        <p:grpSpPr>
          <a:xfrm>
            <a:off x="583677" y="3376518"/>
            <a:ext cx="7553325" cy="1403398"/>
            <a:chOff x="795338" y="5095228"/>
            <a:chExt cx="7553325" cy="1488967"/>
          </a:xfrm>
        </p:grpSpPr>
        <p:sp>
          <p:nvSpPr>
            <p:cNvPr id="8" name="Text 5"/>
            <p:cNvSpPr/>
            <p:nvPr/>
          </p:nvSpPr>
          <p:spPr>
            <a:xfrm>
              <a:off x="795338" y="5095228"/>
              <a:ext cx="7553325" cy="340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650"/>
                </a:lnSpc>
                <a:buNone/>
              </a:pPr>
              <a:r>
                <a:rPr lang="en-US" sz="2000" b="1" dirty="0"/>
                <a:t>     Group:</a:t>
              </a:r>
            </a:p>
            <a:p>
              <a:pPr marL="0" indent="0">
                <a:lnSpc>
                  <a:spcPts val="2650"/>
                </a:lnSpc>
                <a:buNone/>
              </a:pPr>
              <a:endParaRPr lang="en-US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795338" y="5521293"/>
              <a:ext cx="7553325" cy="340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3D3838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	Sohaib Ahmed 21L-5635  </a:t>
              </a: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95338" y="5862169"/>
              <a:ext cx="7553325" cy="340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3D3838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	Muhammad Hamza Khan 21L-5654  </a:t>
              </a:r>
              <a:endParaRPr lang="en-US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95338" y="6243319"/>
              <a:ext cx="7553325" cy="34087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>
                <a:lnSpc>
                  <a:spcPts val="2650"/>
                </a:lnSpc>
                <a:buNone/>
              </a:pPr>
              <a:r>
                <a:rPr lang="en-US" dirty="0">
                  <a:solidFill>
                    <a:srgbClr val="3D3838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	Muhammad Hassan Khalid 21L-5692 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799" y="530900"/>
            <a:ext cx="4388287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500" b="1" kern="0" spc="-3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Outline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75799" y="1682710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2605" y="1768197"/>
            <a:ext cx="100608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303139" y="1682710"/>
            <a:ext cx="222206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11760" y="1682710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52492" y="1768197"/>
            <a:ext cx="152757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303139" y="2744391"/>
            <a:ext cx="2194084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Goals Achieved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5799" y="2744391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6293" y="2829878"/>
            <a:ext cx="153233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8039100" y="1757243"/>
            <a:ext cx="2194084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Scope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11760" y="2744391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39514" y="2829878"/>
            <a:ext cx="178832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8039100" y="2744391"/>
            <a:ext cx="2341602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Related Applications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5799" y="3806071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935" y="3891558"/>
            <a:ext cx="154067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303139" y="3806071"/>
            <a:ext cx="2194084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Overview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11760" y="3806071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46300" y="3891558"/>
            <a:ext cx="165140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8039100" y="3806071"/>
            <a:ext cx="2817495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Important Requirements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75799" y="4867751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2602" y="4953238"/>
            <a:ext cx="160615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1303139" y="4867751"/>
            <a:ext cx="2717363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Graphical User Interface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03139" y="5257800"/>
            <a:ext cx="5915620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411760" y="4867751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43324" y="4953238"/>
            <a:ext cx="171212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</a:t>
            </a:r>
            <a:endParaRPr lang="en-US" sz="2050" dirty="0"/>
          </a:p>
        </p:txBody>
      </p:sp>
      <p:sp>
        <p:nvSpPr>
          <p:cNvPr id="27" name="Text 25"/>
          <p:cNvSpPr/>
          <p:nvPr/>
        </p:nvSpPr>
        <p:spPr>
          <a:xfrm>
            <a:off x="8039100" y="4867751"/>
            <a:ext cx="3117175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Constraints and Limitations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75799" y="5957649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0339" y="6043136"/>
            <a:ext cx="165140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</a:t>
            </a:r>
            <a:endParaRPr lang="en-US" sz="2050" dirty="0"/>
          </a:p>
        </p:txBody>
      </p:sp>
      <p:sp>
        <p:nvSpPr>
          <p:cNvPr id="30" name="Text 28"/>
          <p:cNvSpPr/>
          <p:nvPr/>
        </p:nvSpPr>
        <p:spPr>
          <a:xfrm>
            <a:off x="1303139" y="5957649"/>
            <a:ext cx="2194084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Goals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411760" y="5957649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0579" y="6043136"/>
            <a:ext cx="276701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</a:t>
            </a:r>
            <a:endParaRPr lang="en-US" sz="2050" dirty="0"/>
          </a:p>
        </p:txBody>
      </p:sp>
      <p:sp>
        <p:nvSpPr>
          <p:cNvPr id="33" name="Text 31"/>
          <p:cNvSpPr/>
          <p:nvPr/>
        </p:nvSpPr>
        <p:spPr>
          <a:xfrm>
            <a:off x="8039100" y="5957649"/>
            <a:ext cx="2194084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Timeline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039100" y="6347698"/>
            <a:ext cx="5915620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5799" y="7047548"/>
            <a:ext cx="434340" cy="43434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2361" y="7133034"/>
            <a:ext cx="201216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205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11</a:t>
            </a:r>
            <a:endParaRPr lang="en-US" sz="2050" dirty="0"/>
          </a:p>
        </p:txBody>
      </p:sp>
      <p:sp>
        <p:nvSpPr>
          <p:cNvPr id="37" name="Text 35"/>
          <p:cNvSpPr/>
          <p:nvPr/>
        </p:nvSpPr>
        <p:spPr>
          <a:xfrm>
            <a:off x="1303139" y="7047548"/>
            <a:ext cx="4477226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Conclusion: Transforming Data Analysis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130266"/>
            <a:ext cx="568309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5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Statement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50198" y="3448526"/>
            <a:ext cx="239184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Complex Applications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50198" y="4396621"/>
            <a:ext cx="239184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Limited flexibility hinders data exploration.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351883" y="3448526"/>
            <a:ext cx="1910001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Technical Barriers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351883" y="4396621"/>
            <a:ext cx="1910001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Non-technical users struggle with analysis tools.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871722" y="3448526"/>
            <a:ext cx="1910001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Costly Solutions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71722" y="4396621"/>
            <a:ext cx="1910001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Extracting meaningful insights is challenging.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76416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Scope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5727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In-Scope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40637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7158" y="2515672"/>
            <a:ext cx="12858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665923" y="240637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Ingestion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65923" y="2905006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 for structured and unstructured data formats.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6965" y="240637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26988" y="2515672"/>
            <a:ext cx="19526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6049089" y="240637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Analysis Tools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49089" y="2905006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AI-powered and manual data manipulation options.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240637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09798" y="2515672"/>
            <a:ext cx="1958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432256" y="240637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432256" y="2905006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Creation of interactive charts, graphs, and diagrams.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3798" y="416980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7152" y="4279106"/>
            <a:ext cx="22848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665923" y="416980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Reporting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65923" y="4668441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Generation of custom reports and actionable insights.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246965" y="416980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26154" y="4279106"/>
            <a:ext cx="19692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6049089" y="416980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Diagram Creation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49089" y="4668441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Flowcharts, ER diagrams, and more.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630132" y="416980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02297" y="4279106"/>
            <a:ext cx="21097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2650" dirty="0"/>
          </a:p>
        </p:txBody>
      </p:sp>
      <p:sp>
        <p:nvSpPr>
          <p:cNvPr id="25" name="Text 23"/>
          <p:cNvSpPr/>
          <p:nvPr/>
        </p:nvSpPr>
        <p:spPr>
          <a:xfrm>
            <a:off x="10432256" y="4169807"/>
            <a:ext cx="330779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User-Friendly Interface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432256" y="4668441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Responsive design for all expertise levels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63798" y="593324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38820" y="6042541"/>
            <a:ext cx="20526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650" dirty="0"/>
          </a:p>
        </p:txBody>
      </p:sp>
      <p:sp>
        <p:nvSpPr>
          <p:cNvPr id="29" name="Text 27"/>
          <p:cNvSpPr/>
          <p:nvPr/>
        </p:nvSpPr>
        <p:spPr>
          <a:xfrm>
            <a:off x="1665923" y="593324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Download Options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65923" y="6431875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Export visuals and reports in preferred formats.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5246965" y="593324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15201" y="6042541"/>
            <a:ext cx="21871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</a:t>
            </a:r>
            <a:endParaRPr lang="en-US" sz="2650" dirty="0"/>
          </a:p>
        </p:txBody>
      </p:sp>
      <p:sp>
        <p:nvSpPr>
          <p:cNvPr id="33" name="Text 31"/>
          <p:cNvSpPr/>
          <p:nvPr/>
        </p:nvSpPr>
        <p:spPr>
          <a:xfrm>
            <a:off x="6049089" y="5933242"/>
            <a:ext cx="286845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Cleaning Tools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049089" y="6431875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Preprocessing options for dataset optimization.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9630132" y="593324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02297" y="6042541"/>
            <a:ext cx="21097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</a:t>
            </a:r>
            <a:endParaRPr lang="en-US" sz="2650" dirty="0"/>
          </a:p>
        </p:txBody>
      </p:sp>
      <p:sp>
        <p:nvSpPr>
          <p:cNvPr id="37" name="Text 35"/>
          <p:cNvSpPr/>
          <p:nvPr/>
        </p:nvSpPr>
        <p:spPr>
          <a:xfrm>
            <a:off x="10432256" y="5933242"/>
            <a:ext cx="292596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Custom Dashboards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432256" y="6431875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 and export visualizations easily.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304" y="1151802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Out-of-Scope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9073" y="257034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2433" y="2679647"/>
            <a:ext cx="12858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631198" y="2570347"/>
            <a:ext cx="3334226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Data Connections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31198" y="3419620"/>
            <a:ext cx="333422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live data streaming support.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12240" y="257034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2263" y="2679647"/>
            <a:ext cx="19526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6014364" y="2570347"/>
            <a:ext cx="301513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Mobile Development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14364" y="3068981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mobile app versions planned.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595407" y="2570347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75073" y="2679647"/>
            <a:ext cx="1958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0397531" y="2570347"/>
            <a:ext cx="301597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Collaborative Editing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97531" y="3068981"/>
            <a:ext cx="333422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simultaneous multi-user editing.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3798" y="4403230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27152" y="4512529"/>
            <a:ext cx="22848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665923" y="4403230"/>
            <a:ext cx="316170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Advanced AI Features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65923" y="4901864"/>
            <a:ext cx="552592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Advanced AI features deferred for future.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438668" y="4403230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17857" y="4512529"/>
            <a:ext cx="19692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8240792" y="4403230"/>
            <a:ext cx="368629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Enterprise-Level Features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40792" y="4901864"/>
            <a:ext cx="552592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Large-scale enterprise solutions not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0609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5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Goals Achieved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177534"/>
            <a:ext cx="616982" cy="616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3041333"/>
            <a:ext cx="330779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User-Friendly Interface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3798" y="3539966"/>
            <a:ext cx="62662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Implemented intuitive home page and AI chat.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223" y="2177534"/>
            <a:ext cx="616982" cy="616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00223" y="3041333"/>
            <a:ext cx="281547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Interactive Analysis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00223" y="3539966"/>
            <a:ext cx="626637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Discovered libraries of visualization charts for building of custom dashboards.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98" y="5020747"/>
            <a:ext cx="616982" cy="6169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3798" y="5884545"/>
            <a:ext cx="304478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Extracted data for AI.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3798" y="6383179"/>
            <a:ext cx="62662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Researched on large datasets.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0223" y="5020747"/>
            <a:ext cx="616982" cy="6169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00223" y="5884545"/>
            <a:ext cx="448317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Review on related Applications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00223" y="6383179"/>
            <a:ext cx="626637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 reviewed the related applications in detail to assess what we need to build.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23781"/>
            <a:ext cx="598884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5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Related Applications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63798" y="1795224"/>
            <a:ext cx="4136350" cy="2275403"/>
          </a:xfrm>
          <a:prstGeom prst="roundRect">
            <a:avLst>
              <a:gd name="adj" fmla="val 162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10615" y="204204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5426" y="2540675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Lacks AI-driven analytics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5426" y="2997160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Limited metrics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5426" y="3453646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manual data handling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6965" y="1795224"/>
            <a:ext cx="4136350" cy="2275403"/>
          </a:xfrm>
          <a:prstGeom prst="roundRect">
            <a:avLst>
              <a:gd name="adj" fmla="val 162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93782" y="204204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Geckoboard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888593" y="2540675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Complex interface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888593" y="2997160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Limited large dataset handling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888593" y="3453646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 pricing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1795224"/>
            <a:ext cx="4136350" cy="2275403"/>
          </a:xfrm>
          <a:prstGeom prst="roundRect">
            <a:avLst>
              <a:gd name="adj" fmla="val 162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76949" y="204204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Tableau Public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71760" y="2540675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AI features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71760" y="2997160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is public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271760" y="3453646"/>
            <a:ext cx="3247906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 costs for full version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63798" y="4317444"/>
            <a:ext cx="12902803" cy="3188375"/>
          </a:xfrm>
          <a:prstGeom prst="roundRect">
            <a:avLst>
              <a:gd name="adj" fmla="val 116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0615" y="4564261"/>
            <a:ext cx="297108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InsightAI Dashboard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5426" y="5062895"/>
            <a:ext cx="120143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insights generation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505426" y="5519380"/>
            <a:ext cx="120143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Automated data handling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05426" y="5975866"/>
            <a:ext cx="120143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 for unstructured files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505426" y="6432352"/>
            <a:ext cx="120143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Handling of larger uploads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505426" y="6888837"/>
            <a:ext cx="1201435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Research assistant and relational diagrams functionality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273" y="1464858"/>
            <a:ext cx="7211735" cy="58859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8FD64E8-7AED-0CA1-F3C0-F425E6F4A516}"/>
              </a:ext>
            </a:extLst>
          </p:cNvPr>
          <p:cNvSpPr/>
          <p:nvPr/>
        </p:nvSpPr>
        <p:spPr>
          <a:xfrm>
            <a:off x="9152878" y="3950563"/>
            <a:ext cx="269289" cy="100614"/>
          </a:xfrm>
          <a:prstGeom prst="rect">
            <a:avLst/>
          </a:prstGeom>
          <a:solidFill>
            <a:srgbClr val="5772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300" y="541139"/>
            <a:ext cx="4469963" cy="55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50"/>
              </a:lnSpc>
              <a:buNone/>
            </a:pPr>
            <a:r>
              <a:rPr lang="en-US" sz="3500" b="1" kern="0" spc="-3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Overview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00" y="1394698"/>
            <a:ext cx="983337" cy="1573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6555" y="1591270"/>
            <a:ext cx="2234922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 Application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966555" y="1988582"/>
            <a:ext cx="11975544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User-friendly interface with customizable themes.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00" y="2968109"/>
            <a:ext cx="983337" cy="15734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66555" y="3164681"/>
            <a:ext cx="2234922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Processing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966555" y="3561993"/>
            <a:ext cx="11975544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Combining Manual methods with AI-powered analysis techniques.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00" y="4541520"/>
            <a:ext cx="983337" cy="15734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66555" y="4738092"/>
            <a:ext cx="2345888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Visualization Engine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966555" y="5135404"/>
            <a:ext cx="11975544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Interactive tools for creating charts and diagrams.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00" y="6114931"/>
            <a:ext cx="983337" cy="15734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66555" y="6311503"/>
            <a:ext cx="2234922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kern="0" spc="-18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Assistant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966555" y="6708815"/>
            <a:ext cx="11975544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Engage with AI for Advanced Data Insights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615" y="811506"/>
            <a:ext cx="7391170" cy="682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350"/>
              </a:lnSpc>
              <a:buNone/>
            </a:pPr>
            <a:r>
              <a:rPr lang="en-US" sz="3500" b="1" kern="0" spc="-43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 Level System Architecture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96" y="1824514"/>
            <a:ext cx="12947809" cy="5268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96" y="7363301"/>
            <a:ext cx="12947809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56694" y="657744"/>
            <a:ext cx="7092957" cy="54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00" b="1" kern="0" spc="-3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</a:t>
            </a:r>
            <a:r>
              <a:rPr lang="en-US" sz="3500" b="1" kern="0" spc="-3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Management</a:t>
            </a:r>
            <a:r>
              <a:rPr lang="en-US" sz="3400" b="1" kern="0" spc="-3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Subsystem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73656" y="7410450"/>
            <a:ext cx="1328308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endParaRPr lang="en-US" sz="15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87F30B1-C483-288D-946F-49340D0CB1D1}"/>
              </a:ext>
            </a:extLst>
          </p:cNvPr>
          <p:cNvGrpSpPr/>
          <p:nvPr/>
        </p:nvGrpSpPr>
        <p:grpSpPr>
          <a:xfrm>
            <a:off x="2789499" y="1204598"/>
            <a:ext cx="9051402" cy="6494579"/>
            <a:chOff x="2673752" y="1204598"/>
            <a:chExt cx="9051402" cy="6494579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1507" y="1678662"/>
              <a:ext cx="7667387" cy="573178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AC7E39-9CE3-E831-79B3-8A4632C888E1}"/>
                </a:ext>
              </a:extLst>
            </p:cNvPr>
            <p:cNvSpPr/>
            <p:nvPr/>
          </p:nvSpPr>
          <p:spPr>
            <a:xfrm>
              <a:off x="2673752" y="1204598"/>
              <a:ext cx="9051402" cy="6494579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4183" y="674833"/>
            <a:ext cx="616203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35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Handling Subsystem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63798" y="664059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endParaRPr lang="en-US" sz="19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0BFA15-E097-B279-1B8E-C3986D9B3427}"/>
              </a:ext>
            </a:extLst>
          </p:cNvPr>
          <p:cNvGrpSpPr/>
          <p:nvPr/>
        </p:nvGrpSpPr>
        <p:grpSpPr>
          <a:xfrm>
            <a:off x="863800" y="1665478"/>
            <a:ext cx="12660748" cy="5634646"/>
            <a:chOff x="863800" y="1665478"/>
            <a:chExt cx="12660748" cy="5634646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4827" y="2413754"/>
              <a:ext cx="12418695" cy="394918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2EB9EAA-D22B-E71E-4A03-2DD1442C5F9B}"/>
                </a:ext>
              </a:extLst>
            </p:cNvPr>
            <p:cNvSpPr/>
            <p:nvPr/>
          </p:nvSpPr>
          <p:spPr>
            <a:xfrm>
              <a:off x="863800" y="1665478"/>
              <a:ext cx="12660748" cy="5634646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6514" y="530423"/>
            <a:ext cx="6537372" cy="54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00" b="1" kern="0" spc="-3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InsightAI Engine Subsystem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73656" y="7410450"/>
            <a:ext cx="1328308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endParaRPr lang="en-US" sz="15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86240B-0C58-A301-DA90-4370A95F03E6}"/>
              </a:ext>
            </a:extLst>
          </p:cNvPr>
          <p:cNvGrpSpPr/>
          <p:nvPr/>
        </p:nvGrpSpPr>
        <p:grpSpPr>
          <a:xfrm>
            <a:off x="1979271" y="1307941"/>
            <a:ext cx="11343190" cy="6241407"/>
            <a:chOff x="1979271" y="1307941"/>
            <a:chExt cx="11343190" cy="6241407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50955" y="1678662"/>
              <a:ext cx="8873847" cy="573178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0EDCE7-BA14-F0AB-E1E9-475F1D465381}"/>
                </a:ext>
              </a:extLst>
            </p:cNvPr>
            <p:cNvSpPr/>
            <p:nvPr/>
          </p:nvSpPr>
          <p:spPr>
            <a:xfrm>
              <a:off x="1979271" y="1307941"/>
              <a:ext cx="11343190" cy="6241407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87485"/>
            <a:ext cx="720602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Important Requirements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105745"/>
            <a:ext cx="358461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u="sng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58729" y="3703201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 Registration and Login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58729" y="4159687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 various data formats.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58729" y="4616172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Analysis with AI and manual techniques.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58729" y="5072658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4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Visualization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58729" y="5529143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5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Report Generation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58729" y="5985629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6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Customized Dashboards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3105745"/>
            <a:ext cx="421886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u="sng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Non-functional requirements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18859" y="3703201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Guarantee reliability and uptime.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18859" y="4159687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2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Ensure Data Security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018859" y="4616172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3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Scalability for Large Datasets and User Growth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018859" y="5072658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4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User-Friendly Interface for All Users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018859" y="5529143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5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Cross-Platform Compatibility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018859" y="5985629"/>
            <a:ext cx="5755362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Font typeface="+mj-lt"/>
              <a:buAutoNum type="arabicPeriod" startAt="6"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Performance Optimization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147179"/>
            <a:ext cx="7416403" cy="1935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00"/>
              </a:lnSpc>
              <a:buNone/>
            </a:pPr>
            <a:r>
              <a:rPr lang="en-US" sz="6050" b="1" kern="0" spc="-6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Graphical User Interface</a:t>
            </a:r>
            <a:endParaRPr lang="en-US" sz="6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18" y="678775"/>
            <a:ext cx="12902565" cy="63737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831D23-2E37-BBB3-7E47-0E1FC19AF1A0}"/>
              </a:ext>
            </a:extLst>
          </p:cNvPr>
          <p:cNvSpPr/>
          <p:nvPr/>
        </p:nvSpPr>
        <p:spPr>
          <a:xfrm>
            <a:off x="2824222" y="983849"/>
            <a:ext cx="2395960" cy="694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36363E"/>
                </a:solidFill>
              </a:rPr>
              <a:t>Welcome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98" y="1379458"/>
            <a:ext cx="12902803" cy="54706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800F4E-5B18-6453-CCC5-71F76DC62B39}"/>
              </a:ext>
            </a:extLst>
          </p:cNvPr>
          <p:cNvSpPr/>
          <p:nvPr/>
        </p:nvSpPr>
        <p:spPr>
          <a:xfrm>
            <a:off x="2824222" y="2164466"/>
            <a:ext cx="2395960" cy="694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383840"/>
                </a:solidFill>
              </a:rPr>
              <a:t>Welcome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111" y="441603"/>
            <a:ext cx="6764179" cy="73463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8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83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264" y="647581"/>
            <a:ext cx="12309872" cy="63165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4151" y="7228999"/>
            <a:ext cx="12982099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1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2E3839-3E1C-7574-9E02-1A94B3A555D4}"/>
              </a:ext>
            </a:extLst>
          </p:cNvPr>
          <p:cNvSpPr/>
          <p:nvPr/>
        </p:nvSpPr>
        <p:spPr>
          <a:xfrm>
            <a:off x="1985554" y="4663440"/>
            <a:ext cx="124097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18" y="1060133"/>
            <a:ext cx="12902565" cy="61093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98" y="1040725"/>
            <a:ext cx="12902803" cy="61481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430" y="642699"/>
            <a:ext cx="10797421" cy="69442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124075"/>
            <a:ext cx="7972187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Constraints and Limitations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347317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77158" y="3582472"/>
            <a:ext cx="12858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665923" y="347317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Size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65923" y="3971806"/>
            <a:ext cx="552592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Limited processing for extremely large datasets.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668" y="347317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8690" y="3582472"/>
            <a:ext cx="19526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240792" y="347317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Complex Queries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40792" y="3971806"/>
            <a:ext cx="552592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Performance issues with highly complex SQL queries.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63798" y="486644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3464" y="4975741"/>
            <a:ext cx="1958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1665923" y="486644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Accuracy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65923" y="5365075"/>
            <a:ext cx="5525929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Potential for errors in AI-generated responses.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668" y="4866442"/>
            <a:ext cx="555308" cy="555308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02022" y="4975741"/>
            <a:ext cx="22848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kern="0" spc="-2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8240792" y="486644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Connectivity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40792" y="5365075"/>
            <a:ext cx="5525929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Dependency on internet connection for full functionality.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630930"/>
            <a:ext cx="7416403" cy="967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7600"/>
              </a:lnSpc>
              <a:buNone/>
            </a:pPr>
            <a:r>
              <a:rPr lang="en-US" sz="6050" b="1" kern="0" spc="-6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Timeline</a:t>
            </a:r>
            <a:endParaRPr lang="en-US" sz="6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DF65F7B3-8996-2F34-74B3-AD437A722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463040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505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865" y="648176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b="1" kern="0" spc="-4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Goals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163122" y="1671161"/>
            <a:ext cx="30480" cy="5910858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3034" y="2186226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3209" y="1936313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6925" y="2040731"/>
            <a:ext cx="12275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2474714" y="1906786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Responsiveness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474714" y="2382917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Support for the application across all platforms (mobile/desktop devices)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1413034" y="3722846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3209" y="3472934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85136" y="3577352"/>
            <a:ext cx="18633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474714" y="3443407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training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474714" y="3919538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Implementation of the fine tuned/hosted AI model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1413034" y="5259467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3209" y="5009555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84778" y="5113973"/>
            <a:ext cx="18704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474714" y="4980027"/>
            <a:ext cx="311848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Error Handling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474714" y="5456158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Ability to handle errors in the applications for test cases.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1413034" y="6796088"/>
            <a:ext cx="824865" cy="30480"/>
          </a:xfrm>
          <a:prstGeom prst="roundRect">
            <a:avLst>
              <a:gd name="adj" fmla="val 115995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3209" y="6546175"/>
            <a:ext cx="530304" cy="530304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9300" y="6650593"/>
            <a:ext cx="21812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b="1" kern="0" spc="-25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2474714" y="6516648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kern="0" spc="-2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Implementation for basic features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474714" y="6992779"/>
            <a:ext cx="11330821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85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Development of the basic implementation for the applications </a:t>
            </a:r>
            <a:endParaRPr lang="en-US" sz="1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675692"/>
            <a:ext cx="1145083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Conclusion: Transforming Data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Innovation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4591407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Bridging gap between complex data and user-friendly analysis.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Empowerment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72576" y="4591407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Enabling all users to gain valuable data insights.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93952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Future-Ready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81354" y="4591407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Positioned for growth with AI and visualization capabilities.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630</Words>
  <Application>Microsoft Office PowerPoint</Application>
  <PresentationFormat>Custom</PresentationFormat>
  <Paragraphs>203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Montserrat Bold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L215635Sohaib Ahmed</cp:lastModifiedBy>
  <cp:revision>29</cp:revision>
  <dcterms:created xsi:type="dcterms:W3CDTF">2024-10-17T14:34:57Z</dcterms:created>
  <dcterms:modified xsi:type="dcterms:W3CDTF">2024-10-25T06:30:25Z</dcterms:modified>
</cp:coreProperties>
</file>