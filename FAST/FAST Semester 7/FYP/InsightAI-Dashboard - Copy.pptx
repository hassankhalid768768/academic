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87" r:id="rId5"/>
    <p:sldId id="280" r:id="rId6"/>
    <p:sldId id="284" r:id="rId7"/>
    <p:sldId id="283" r:id="rId8"/>
    <p:sldId id="282" r:id="rId9"/>
  </p:sldIdLst>
  <p:sldSz cx="14630400" cy="8229600"/>
  <p:notesSz cx="8229600" cy="14630400"/>
  <p:embeddedFontLst>
    <p:embeddedFont>
      <p:font typeface="Montserrat Bold" panose="020B0604020202020204" charset="0"/>
      <p:bold r:id="rId11"/>
    </p:embeddedFont>
    <p:embeddedFont>
      <p:font typeface="Source Sans Pro" panose="020B0503030403020204" pitchFamily="34" charset="0"/>
      <p:regular r:id="rId12"/>
      <p:bold r:id="rId13"/>
      <p:italic r:id="rId14"/>
      <p:boldItalic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772A5"/>
    <a:srgbClr val="FFFFFF"/>
    <a:srgbClr val="383840"/>
    <a:srgbClr val="3636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0" autoAdjust="0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58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0947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E93A1-C68C-D37E-6FA0-5623C8457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E8F46D-D025-1D90-DCB5-63BCD69A14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CBA270-7ECB-A745-EEB9-CB64B6DE6B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D78F62-0A8F-24F0-F61D-6649A9D9A1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6961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398D9-101B-BFA8-915B-F00A1C195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F728AC-2BE5-A78F-A9B1-6FA327492E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A4C4B9-9801-B273-5151-C79C26EB68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B7BC5C-DAFA-36EC-B43E-CEB16AF6E8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8614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5338" y="1070253"/>
            <a:ext cx="7551896" cy="890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7000"/>
              </a:lnSpc>
              <a:buNone/>
            </a:pPr>
            <a:r>
              <a:rPr lang="en-US" sz="5600" b="1" kern="0" spc="-56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InsightAI Dashboard</a:t>
            </a:r>
            <a:endParaRPr lang="en-US" sz="5600" dirty="0"/>
          </a:p>
        </p:txBody>
      </p:sp>
      <p:sp>
        <p:nvSpPr>
          <p:cNvPr id="4" name="Text 1"/>
          <p:cNvSpPr/>
          <p:nvPr/>
        </p:nvSpPr>
        <p:spPr>
          <a:xfrm>
            <a:off x="795338" y="2302073"/>
            <a:ext cx="7553325" cy="68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Innovative web application for interactive data visualization and analysis with Artificial Intelligence.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793909" y="5161019"/>
            <a:ext cx="7553325" cy="34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2000" b="1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Supervisor</a:t>
            </a:r>
            <a:r>
              <a:rPr lang="en-US" sz="20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:</a:t>
            </a:r>
            <a:r>
              <a:rPr lang="en-US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</a:p>
          <a:p>
            <a:pPr marL="0" indent="0">
              <a:lnSpc>
                <a:spcPts val="2650"/>
              </a:lnSpc>
              <a:buNone/>
            </a:pPr>
            <a:r>
              <a:rPr lang="en-US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             Muhammad Zeeshan Nazar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BEA68A9-70D7-740C-67B6-85C986152568}"/>
              </a:ext>
            </a:extLst>
          </p:cNvPr>
          <p:cNvGrpSpPr/>
          <p:nvPr/>
        </p:nvGrpSpPr>
        <p:grpSpPr>
          <a:xfrm>
            <a:off x="583677" y="3376518"/>
            <a:ext cx="7553325" cy="1403398"/>
            <a:chOff x="795338" y="5095228"/>
            <a:chExt cx="7553325" cy="1488967"/>
          </a:xfrm>
        </p:grpSpPr>
        <p:sp>
          <p:nvSpPr>
            <p:cNvPr id="8" name="Text 5"/>
            <p:cNvSpPr/>
            <p:nvPr/>
          </p:nvSpPr>
          <p:spPr>
            <a:xfrm>
              <a:off x="795338" y="5095228"/>
              <a:ext cx="7553325" cy="34087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650"/>
                </a:lnSpc>
                <a:buNone/>
              </a:pPr>
              <a:r>
                <a:rPr lang="en-US" sz="2000" b="1" dirty="0"/>
                <a:t>     Group:</a:t>
              </a:r>
            </a:p>
            <a:p>
              <a:pPr marL="0" indent="0">
                <a:lnSpc>
                  <a:spcPts val="2650"/>
                </a:lnSpc>
                <a:buNone/>
              </a:pPr>
              <a:endParaRPr lang="en-US" dirty="0"/>
            </a:p>
          </p:txBody>
        </p:sp>
        <p:sp>
          <p:nvSpPr>
            <p:cNvPr id="9" name="Text 6"/>
            <p:cNvSpPr/>
            <p:nvPr/>
          </p:nvSpPr>
          <p:spPr>
            <a:xfrm>
              <a:off x="795338" y="5521293"/>
              <a:ext cx="7553325" cy="34087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650"/>
                </a:lnSpc>
                <a:buNone/>
              </a:pPr>
              <a:r>
                <a:rPr lang="en-US" dirty="0">
                  <a:solidFill>
                    <a:srgbClr val="3D3838"/>
                  </a:solidFill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	Sohaib Ahmed 21L-5635  </a:t>
              </a:r>
              <a:endParaRPr lang="en-US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795338" y="5862169"/>
              <a:ext cx="7553325" cy="34087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650"/>
                </a:lnSpc>
                <a:buNone/>
              </a:pPr>
              <a:r>
                <a:rPr lang="en-US" dirty="0">
                  <a:solidFill>
                    <a:srgbClr val="3D3838"/>
                  </a:solidFill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	Muhammad Hamza Khan 21L-5654  </a:t>
              </a:r>
              <a:endParaRPr lang="en-US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795338" y="6243319"/>
              <a:ext cx="7553325" cy="34087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650"/>
                </a:lnSpc>
                <a:buNone/>
              </a:pPr>
              <a:r>
                <a:rPr lang="en-US" dirty="0">
                  <a:solidFill>
                    <a:srgbClr val="3D3838"/>
                  </a:solidFill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	Muhammad Hassan Khalid 21L-5692 </a:t>
              </a:r>
              <a:endParaRPr lang="en-US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2130266"/>
            <a:ext cx="5683091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3500" b="1" kern="0" spc="-44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Problem Statement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6350198" y="3448526"/>
            <a:ext cx="2391847" cy="70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kern="0" spc="-22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Complex Applications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350198" y="4396621"/>
            <a:ext cx="2391847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Limited flexibility hinders data exploration.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9351883" y="3448526"/>
            <a:ext cx="1910001" cy="70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kern="0" spc="-22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Technical Barriers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351883" y="4396621"/>
            <a:ext cx="1910001" cy="1480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Non-technical users struggle with analysis tools.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1871722" y="3448526"/>
            <a:ext cx="1910001" cy="70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kern="0" spc="-22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Costly Solutions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1871722" y="4396621"/>
            <a:ext cx="1910001" cy="1480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Extracting meaningful insights is challenging.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15379" y="671632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3500" b="1" kern="0" spc="-44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Goals Achieved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156" y="5092500"/>
            <a:ext cx="616982" cy="6169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3798" y="3041333"/>
            <a:ext cx="330779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22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File Controls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63798" y="3539966"/>
            <a:ext cx="3407413" cy="1233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000" dirty="0"/>
              <a:t>Efficient handling of file uploads, storage</a:t>
            </a:r>
          </a:p>
          <a:p>
            <a:pPr marL="0" indent="0" algn="l">
              <a:lnSpc>
                <a:spcPts val="2900"/>
              </a:lnSpc>
              <a:buNone/>
            </a:pPr>
            <a:r>
              <a:rPr lang="en-US" sz="2000" dirty="0"/>
              <a:t>and format compatibility.</a:t>
            </a:r>
            <a:endParaRPr lang="en-US" sz="1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0223" y="4962128"/>
            <a:ext cx="616982" cy="61698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00223" y="3041333"/>
            <a:ext cx="2815471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latin typeface="Montserrat Bold" panose="020B0604020202020204" charset="0"/>
              </a:rPr>
              <a:t>Authentication</a:t>
            </a:r>
          </a:p>
        </p:txBody>
      </p:sp>
      <p:sp>
        <p:nvSpPr>
          <p:cNvPr id="8" name="Text 4"/>
          <p:cNvSpPr/>
          <p:nvPr/>
        </p:nvSpPr>
        <p:spPr>
          <a:xfrm>
            <a:off x="7500223" y="3539966"/>
            <a:ext cx="6266378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000" dirty="0">
                <a:solidFill>
                  <a:srgbClr val="3D3838"/>
                </a:solidFill>
                <a:ea typeface="Source Sans Pro" pitchFamily="34" charset="-122"/>
                <a:cs typeface="Source Sans Pro" pitchFamily="34" charset="-120"/>
              </a:rPr>
              <a:t>Secure user registration and login system to </a:t>
            </a:r>
          </a:p>
          <a:p>
            <a:pPr marL="0" indent="0" algn="l">
              <a:lnSpc>
                <a:spcPts val="2900"/>
              </a:lnSpc>
              <a:buNone/>
            </a:pPr>
            <a:r>
              <a:rPr lang="en-US" sz="2000" dirty="0">
                <a:solidFill>
                  <a:srgbClr val="3D3838"/>
                </a:solidFill>
                <a:ea typeface="Source Sans Pro" pitchFamily="34" charset="-122"/>
                <a:cs typeface="Source Sans Pro" pitchFamily="34" charset="-120"/>
              </a:rPr>
              <a:t>manage access and ensure data privacy.</a:t>
            </a:r>
          </a:p>
        </p:txBody>
      </p:sp>
      <p:sp>
        <p:nvSpPr>
          <p:cNvPr id="10" name="Text 5"/>
          <p:cNvSpPr/>
          <p:nvPr/>
        </p:nvSpPr>
        <p:spPr>
          <a:xfrm>
            <a:off x="863798" y="5884545"/>
            <a:ext cx="3044785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22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Home Page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863798" y="6383179"/>
            <a:ext cx="6266259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000" dirty="0"/>
              <a:t>Intuitive starting point providing seamless </a:t>
            </a:r>
          </a:p>
          <a:p>
            <a:pPr marL="0" indent="0" algn="l">
              <a:lnSpc>
                <a:spcPts val="2900"/>
              </a:lnSpc>
              <a:buNone/>
            </a:pPr>
            <a:r>
              <a:rPr lang="en-US" sz="2000" dirty="0"/>
              <a:t>navigation across application features.</a:t>
            </a:r>
            <a:endParaRPr lang="en-US" sz="19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0223" y="2168235"/>
            <a:ext cx="616982" cy="61698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500223" y="5884545"/>
            <a:ext cx="4483179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22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Dashboard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500223" y="6383179"/>
            <a:ext cx="6266378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000" dirty="0"/>
              <a:t>Central hub displaying key insights and user-</a:t>
            </a:r>
          </a:p>
          <a:p>
            <a:pPr marL="0" indent="0" algn="l">
              <a:lnSpc>
                <a:spcPts val="2900"/>
              </a:lnSpc>
              <a:buNone/>
            </a:pPr>
            <a:r>
              <a:rPr lang="en-US" sz="2000" dirty="0"/>
              <a:t>customized data visualizations.</a:t>
            </a:r>
            <a:endParaRPr lang="en-US" sz="1900" dirty="0"/>
          </a:p>
        </p:txBody>
      </p:sp>
      <p:pic>
        <p:nvPicPr>
          <p:cNvPr id="1026" name="Picture 2" descr="Flat icon in black and white documents folder vector image on VectorStock">
            <a:extLst>
              <a:ext uri="{FF2B5EF4-FFF2-40B4-BE49-F238E27FC236}">
                <a16:creationId xmlns:a16="http://schemas.microsoft.com/office/drawing/2014/main" id="{E7FF8AF5-4C1F-83CE-E585-62302EFE37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53" b="20698"/>
          <a:stretch/>
        </p:blipFill>
        <p:spPr bwMode="auto">
          <a:xfrm>
            <a:off x="818156" y="2134943"/>
            <a:ext cx="951052" cy="782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E2F40-1D98-7B8D-40DC-9F5125CE7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9E285AE-0B9F-0947-A693-CD1B392A4532}"/>
              </a:ext>
            </a:extLst>
          </p:cNvPr>
          <p:cNvSpPr/>
          <p:nvPr/>
        </p:nvSpPr>
        <p:spPr>
          <a:xfrm>
            <a:off x="4915379" y="671632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3500" b="1" kern="0" spc="-44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Goals Achieved</a:t>
            </a:r>
            <a:endParaRPr lang="en-US" sz="35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56874089-DF87-80F1-0460-CFFAA568D7A9}"/>
              </a:ext>
            </a:extLst>
          </p:cNvPr>
          <p:cNvSpPr/>
          <p:nvPr/>
        </p:nvSpPr>
        <p:spPr>
          <a:xfrm>
            <a:off x="863798" y="3041333"/>
            <a:ext cx="330779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22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 Table Page</a:t>
            </a:r>
            <a:endParaRPr lang="en-US" sz="22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49568C55-892D-7B7A-FC4B-D7A06FE6528F}"/>
              </a:ext>
            </a:extLst>
          </p:cNvPr>
          <p:cNvSpPr/>
          <p:nvPr/>
        </p:nvSpPr>
        <p:spPr>
          <a:xfrm>
            <a:off x="863798" y="3539966"/>
            <a:ext cx="3407413" cy="1233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000" dirty="0"/>
              <a:t>Organized representation of uploaded datasets </a:t>
            </a:r>
          </a:p>
          <a:p>
            <a:pPr marL="0" indent="0" algn="l">
              <a:lnSpc>
                <a:spcPts val="2900"/>
              </a:lnSpc>
              <a:buNone/>
            </a:pPr>
            <a:r>
              <a:rPr lang="en-US" sz="2000" dirty="0"/>
              <a:t>for easy viewing and interaction.</a:t>
            </a:r>
            <a:endParaRPr lang="en-US" sz="19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2E8B86EF-235B-A3DA-2C2B-654C09381C75}"/>
              </a:ext>
            </a:extLst>
          </p:cNvPr>
          <p:cNvSpPr/>
          <p:nvPr/>
        </p:nvSpPr>
        <p:spPr>
          <a:xfrm>
            <a:off x="7500223" y="3041333"/>
            <a:ext cx="2815471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22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 Visualization Agent</a:t>
            </a:r>
            <a:endParaRPr lang="en-US" sz="22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166D8504-7CBD-F7F5-7E7F-76586A844D1E}"/>
              </a:ext>
            </a:extLst>
          </p:cNvPr>
          <p:cNvSpPr/>
          <p:nvPr/>
        </p:nvSpPr>
        <p:spPr>
          <a:xfrm>
            <a:off x="7500223" y="3539966"/>
            <a:ext cx="6266378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000" dirty="0"/>
              <a:t>AI-driven insights enabling users to generate </a:t>
            </a:r>
          </a:p>
          <a:p>
            <a:pPr marL="0" indent="0" algn="l">
              <a:lnSpc>
                <a:spcPts val="2900"/>
              </a:lnSpc>
              <a:buNone/>
            </a:pPr>
            <a:r>
              <a:rPr lang="en-US" sz="2000" dirty="0"/>
              <a:t>advanced visual analytics.</a:t>
            </a:r>
            <a:endParaRPr lang="en-US" sz="190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C70126ED-6149-6194-3E39-512863841FEB}"/>
              </a:ext>
            </a:extLst>
          </p:cNvPr>
          <p:cNvSpPr/>
          <p:nvPr/>
        </p:nvSpPr>
        <p:spPr>
          <a:xfrm>
            <a:off x="863798" y="5884545"/>
            <a:ext cx="3044785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22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Chart Rendering</a:t>
            </a:r>
            <a:endParaRPr lang="en-US" sz="22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360BE7AD-A204-1D7A-6E34-11B8BE856AC5}"/>
              </a:ext>
            </a:extLst>
          </p:cNvPr>
          <p:cNvSpPr/>
          <p:nvPr/>
        </p:nvSpPr>
        <p:spPr>
          <a:xfrm>
            <a:off x="863798" y="6383179"/>
            <a:ext cx="6266259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000" dirty="0"/>
              <a:t>Dynamic creation of charts and graphs for clear </a:t>
            </a:r>
          </a:p>
          <a:p>
            <a:pPr marL="0" indent="0" algn="l">
              <a:lnSpc>
                <a:spcPts val="2900"/>
              </a:lnSpc>
              <a:buNone/>
            </a:pPr>
            <a:r>
              <a:rPr lang="en-US" sz="2000" dirty="0"/>
              <a:t>data representation.</a:t>
            </a:r>
            <a:endParaRPr lang="en-US" sz="190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5C15474C-C9ED-1D32-A01B-8CAD37F82611}"/>
              </a:ext>
            </a:extLst>
          </p:cNvPr>
          <p:cNvSpPr/>
          <p:nvPr/>
        </p:nvSpPr>
        <p:spPr>
          <a:xfrm>
            <a:off x="7500223" y="5884545"/>
            <a:ext cx="4483179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22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SQL and Mermaid Diagram Agent</a:t>
            </a:r>
            <a:endParaRPr lang="en-US" sz="22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A7B3C5C3-AD69-94DC-9744-66C605652902}"/>
              </a:ext>
            </a:extLst>
          </p:cNvPr>
          <p:cNvSpPr/>
          <p:nvPr/>
        </p:nvSpPr>
        <p:spPr>
          <a:xfrm>
            <a:off x="7500223" y="6383179"/>
            <a:ext cx="6266378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000" dirty="0"/>
              <a:t>Tool for executing SQL queries to analyze datasets and automatically generating flowcharts and diagrams for structured visualization.</a:t>
            </a:r>
            <a:endParaRPr lang="en-US" sz="1900" dirty="0"/>
          </a:p>
        </p:txBody>
      </p:sp>
      <p:pic>
        <p:nvPicPr>
          <p:cNvPr id="1026" name="Picture 2" descr="64,046 Bar Graph Black White Royalty-Free Images, Stock ...">
            <a:extLst>
              <a:ext uri="{FF2B5EF4-FFF2-40B4-BE49-F238E27FC236}">
                <a16:creationId xmlns:a16="http://schemas.microsoft.com/office/drawing/2014/main" id="{8DD6AF56-F6EB-0E48-7EA3-D9C131CD6D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797" y="4782165"/>
            <a:ext cx="1136984" cy="1136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ata - Free business icons">
            <a:extLst>
              <a:ext uri="{FF2B5EF4-FFF2-40B4-BE49-F238E27FC236}">
                <a16:creationId xmlns:a16="http://schemas.microsoft.com/office/drawing/2014/main" id="{096D9833-343B-4970-237E-E7A81534D2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0223" y="2093238"/>
            <a:ext cx="859447" cy="859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ql server - Free seo and web icons">
            <a:extLst>
              <a:ext uri="{FF2B5EF4-FFF2-40B4-BE49-F238E27FC236}">
                <a16:creationId xmlns:a16="http://schemas.microsoft.com/office/drawing/2014/main" id="{DD97B7E1-E4BD-0DCF-3AD1-87F78A913C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0222" y="4818695"/>
            <a:ext cx="859447" cy="859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14,500+ Data Table Icon Stock Illustrations, Royalty-Free ...">
            <a:extLst>
              <a:ext uri="{FF2B5EF4-FFF2-40B4-BE49-F238E27FC236}">
                <a16:creationId xmlns:a16="http://schemas.microsoft.com/office/drawing/2014/main" id="{06468E10-5D6F-7AA3-5682-E59BC6ABAE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798" y="2004045"/>
            <a:ext cx="930982" cy="930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2353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4865" y="648176"/>
            <a:ext cx="5356741" cy="669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250"/>
              </a:lnSpc>
              <a:buNone/>
            </a:pPr>
            <a:r>
              <a:rPr lang="en-US" sz="4200" b="1" kern="0" spc="-42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Future Goals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1163122" y="1671161"/>
            <a:ext cx="30480" cy="5910858"/>
          </a:xfrm>
          <a:prstGeom prst="roundRect">
            <a:avLst>
              <a:gd name="adj" fmla="val 115995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413034" y="2186226"/>
            <a:ext cx="824865" cy="30480"/>
          </a:xfrm>
          <a:prstGeom prst="roundRect">
            <a:avLst>
              <a:gd name="adj" fmla="val 115995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3209" y="1936313"/>
            <a:ext cx="530304" cy="530304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16925" y="2040731"/>
            <a:ext cx="122753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b="1" kern="0" spc="-25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2474714" y="1906786"/>
            <a:ext cx="2678311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400" b="1" dirty="0">
                <a:latin typeface="Montserrat Bold" panose="020B0604020202020204" charset="0"/>
              </a:rPr>
              <a:t>Research Assistant Agent</a:t>
            </a:r>
          </a:p>
        </p:txBody>
      </p:sp>
      <p:sp>
        <p:nvSpPr>
          <p:cNvPr id="8" name="Text 6"/>
          <p:cNvSpPr/>
          <p:nvPr/>
        </p:nvSpPr>
        <p:spPr>
          <a:xfrm>
            <a:off x="2474714" y="2382917"/>
            <a:ext cx="11330821" cy="353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dirty="0"/>
              <a:t>Develop an assistant capable of summarizing data, generating insights and answering user queries intelligently.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1413034" y="3722846"/>
            <a:ext cx="824865" cy="30480"/>
          </a:xfrm>
          <a:prstGeom prst="roundRect">
            <a:avLst>
              <a:gd name="adj" fmla="val 115995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13209" y="3472934"/>
            <a:ext cx="530304" cy="530304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85136" y="3577352"/>
            <a:ext cx="186333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b="1" kern="0" spc="-25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2474714" y="3472934"/>
            <a:ext cx="2678311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2400" b="1" dirty="0">
                <a:latin typeface="Montserrat Bold" panose="020B0604020202020204" charset="0"/>
              </a:rPr>
              <a:t>Data Cleaning Agent</a:t>
            </a:r>
            <a:endParaRPr lang="en-US" sz="2400" dirty="0">
              <a:latin typeface="Montserrat Bold" panose="020B060402020202020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474714" y="3919538"/>
            <a:ext cx="11330821" cy="353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dirty="0"/>
              <a:t>Implement an agent to automate the detection and correction of inconsistencies and missing values in datasets.</a:t>
            </a:r>
            <a:endParaRPr lang="en-US" sz="1850" dirty="0"/>
          </a:p>
        </p:txBody>
      </p:sp>
      <p:sp>
        <p:nvSpPr>
          <p:cNvPr id="14" name="Shape 12"/>
          <p:cNvSpPr/>
          <p:nvPr/>
        </p:nvSpPr>
        <p:spPr>
          <a:xfrm>
            <a:off x="1413034" y="5259467"/>
            <a:ext cx="824865" cy="30480"/>
          </a:xfrm>
          <a:prstGeom prst="roundRect">
            <a:avLst>
              <a:gd name="adj" fmla="val 115995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13209" y="5009555"/>
            <a:ext cx="530304" cy="530304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84778" y="5113973"/>
            <a:ext cx="187047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b="1" kern="0" spc="-25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2474714" y="4980027"/>
            <a:ext cx="3118485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2400" b="1" dirty="0">
                <a:latin typeface="Montserrat Bold" panose="020B0604020202020204" charset="0"/>
              </a:rPr>
              <a:t>Business Analytics Agent</a:t>
            </a:r>
            <a:endParaRPr lang="en-US" sz="2400" dirty="0">
              <a:latin typeface="Montserrat Bold" panose="020B060402020202020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413034" y="6796088"/>
            <a:ext cx="824865" cy="30480"/>
          </a:xfrm>
          <a:prstGeom prst="roundRect">
            <a:avLst>
              <a:gd name="adj" fmla="val 115995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13209" y="6546175"/>
            <a:ext cx="530304" cy="530304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116925" y="6650593"/>
            <a:ext cx="218123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b="1" kern="0" spc="-25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2474714" y="6516648"/>
            <a:ext cx="2678311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2400" b="1" dirty="0">
                <a:latin typeface="Montserrat Bold" panose="020B0604020202020204" charset="0"/>
              </a:rPr>
              <a:t>Multi-File Integration in AI</a:t>
            </a:r>
            <a:endParaRPr lang="en-US" sz="2400" dirty="0">
              <a:latin typeface="Montserrat Bold" panose="020B060402020202020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474714" y="6992778"/>
            <a:ext cx="7778675" cy="1149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dirty="0"/>
              <a:t>Enable the application to support seamless integration of multiple files.</a:t>
            </a:r>
            <a:endParaRPr lang="en-US" sz="185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BD6E210-E2C9-1A30-6F86-A2B17BA7E257}"/>
              </a:ext>
            </a:extLst>
          </p:cNvPr>
          <p:cNvSpPr txBox="1"/>
          <p:nvPr/>
        </p:nvSpPr>
        <p:spPr>
          <a:xfrm>
            <a:off x="2356045" y="5435442"/>
            <a:ext cx="126054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an agent tailored to deliver advanced business analytics, including trend analysis and decision support.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6E7FA-4380-3D91-0411-800DE81B0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CF93BD7-7204-A734-B253-F436CB5ED915}"/>
              </a:ext>
            </a:extLst>
          </p:cNvPr>
          <p:cNvSpPr/>
          <p:nvPr/>
        </p:nvSpPr>
        <p:spPr>
          <a:xfrm>
            <a:off x="824865" y="648176"/>
            <a:ext cx="5356741" cy="669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250"/>
              </a:lnSpc>
              <a:buNone/>
            </a:pPr>
            <a:r>
              <a:rPr lang="en-US" sz="4200" b="1" kern="0" spc="-42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Future Goals</a:t>
            </a:r>
            <a:endParaRPr lang="en-US" sz="4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9FB810E-A4C6-68F1-0E6B-D9BE27390BF8}"/>
              </a:ext>
            </a:extLst>
          </p:cNvPr>
          <p:cNvSpPr/>
          <p:nvPr/>
        </p:nvSpPr>
        <p:spPr>
          <a:xfrm>
            <a:off x="1163122" y="1671161"/>
            <a:ext cx="30480" cy="5910858"/>
          </a:xfrm>
          <a:prstGeom prst="roundRect">
            <a:avLst>
              <a:gd name="adj" fmla="val 115995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BA80E50-3024-CA61-50F1-77C75C38BBE5}"/>
              </a:ext>
            </a:extLst>
          </p:cNvPr>
          <p:cNvSpPr/>
          <p:nvPr/>
        </p:nvSpPr>
        <p:spPr>
          <a:xfrm>
            <a:off x="1413034" y="2186226"/>
            <a:ext cx="824865" cy="30480"/>
          </a:xfrm>
          <a:prstGeom prst="roundRect">
            <a:avLst>
              <a:gd name="adj" fmla="val 115995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DB14067-4983-540E-4468-30A16A70F4AE}"/>
              </a:ext>
            </a:extLst>
          </p:cNvPr>
          <p:cNvSpPr/>
          <p:nvPr/>
        </p:nvSpPr>
        <p:spPr>
          <a:xfrm>
            <a:off x="913209" y="1936313"/>
            <a:ext cx="530304" cy="530304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0208E3C-363D-7DEF-A734-4CA7725ACE04}"/>
              </a:ext>
            </a:extLst>
          </p:cNvPr>
          <p:cNvSpPr/>
          <p:nvPr/>
        </p:nvSpPr>
        <p:spPr>
          <a:xfrm>
            <a:off x="1116925" y="2040731"/>
            <a:ext cx="122753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b="1" kern="0" spc="-25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5</a:t>
            </a:r>
            <a:endParaRPr lang="en-US" sz="25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199A57D-80A1-48B2-B0FD-5C83AE420650}"/>
              </a:ext>
            </a:extLst>
          </p:cNvPr>
          <p:cNvSpPr/>
          <p:nvPr/>
        </p:nvSpPr>
        <p:spPr>
          <a:xfrm>
            <a:off x="2474714" y="1906786"/>
            <a:ext cx="2678311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400" b="1" kern="0" spc="-21" dirty="0">
                <a:solidFill>
                  <a:srgbClr val="3D3838"/>
                </a:solidFill>
                <a:latin typeface="Montserrat Bold" pitchFamily="34" charset="0"/>
              </a:rPr>
              <a:t>Application Customization</a:t>
            </a:r>
            <a:endParaRPr lang="en-US" sz="2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A201079-142A-44FD-875C-A01FD057E8C5}"/>
              </a:ext>
            </a:extLst>
          </p:cNvPr>
          <p:cNvSpPr/>
          <p:nvPr/>
        </p:nvSpPr>
        <p:spPr>
          <a:xfrm>
            <a:off x="2474714" y="2382917"/>
            <a:ext cx="11330821" cy="353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dirty="0"/>
              <a:t>Introduce extensive customization options, enabling users to personalize workflows, dashboards</a:t>
            </a:r>
          </a:p>
          <a:p>
            <a:pPr marL="0" indent="0" algn="l">
              <a:lnSpc>
                <a:spcPts val="2750"/>
              </a:lnSpc>
              <a:buNone/>
            </a:pPr>
            <a:r>
              <a:rPr lang="en-US" sz="2000" dirty="0"/>
              <a:t>and data visualization styles based on their specific needs</a:t>
            </a:r>
            <a:endParaRPr lang="en-US" sz="185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7DFE3B0-5598-4EF7-3B58-95E2156A9423}"/>
              </a:ext>
            </a:extLst>
          </p:cNvPr>
          <p:cNvSpPr/>
          <p:nvPr/>
        </p:nvSpPr>
        <p:spPr>
          <a:xfrm>
            <a:off x="1413034" y="3722846"/>
            <a:ext cx="824865" cy="30480"/>
          </a:xfrm>
          <a:prstGeom prst="roundRect">
            <a:avLst>
              <a:gd name="adj" fmla="val 115995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74D901B-73A8-76B8-DEEF-70A0A3E40843}"/>
              </a:ext>
            </a:extLst>
          </p:cNvPr>
          <p:cNvSpPr/>
          <p:nvPr/>
        </p:nvSpPr>
        <p:spPr>
          <a:xfrm>
            <a:off x="913209" y="3472934"/>
            <a:ext cx="530304" cy="530304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E1C2FD0-4C00-6D0C-2C6C-AD7E605CC6A5}"/>
              </a:ext>
            </a:extLst>
          </p:cNvPr>
          <p:cNvSpPr/>
          <p:nvPr/>
        </p:nvSpPr>
        <p:spPr>
          <a:xfrm>
            <a:off x="1085136" y="3577352"/>
            <a:ext cx="186333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b="1" kern="0" spc="-25" dirty="0">
                <a:solidFill>
                  <a:srgbClr val="3D3838"/>
                </a:solidFill>
                <a:latin typeface="Montserrat Bold" pitchFamily="34" charset="0"/>
              </a:rPr>
              <a:t>6</a:t>
            </a:r>
            <a:endParaRPr lang="en-US" sz="25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982E627-AF4B-DAEE-C9C5-8EECCFF9FE72}"/>
              </a:ext>
            </a:extLst>
          </p:cNvPr>
          <p:cNvSpPr/>
          <p:nvPr/>
        </p:nvSpPr>
        <p:spPr>
          <a:xfrm>
            <a:off x="2474714" y="3443407"/>
            <a:ext cx="2678311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400" b="1" kern="0" spc="-2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Dataset Saving</a:t>
            </a:r>
            <a:endParaRPr lang="en-US" sz="2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273D8E0-D341-03D6-F14E-9776DF947C29}"/>
              </a:ext>
            </a:extLst>
          </p:cNvPr>
          <p:cNvSpPr/>
          <p:nvPr/>
        </p:nvSpPr>
        <p:spPr>
          <a:xfrm>
            <a:off x="2474714" y="3919538"/>
            <a:ext cx="11330821" cy="353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dirty="0"/>
              <a:t>Provide functionality for users to save their datasets.</a:t>
            </a:r>
            <a:endParaRPr lang="en-US" sz="18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43CB57C-B502-4F60-A844-52094E0374EE}"/>
              </a:ext>
            </a:extLst>
          </p:cNvPr>
          <p:cNvSpPr/>
          <p:nvPr/>
        </p:nvSpPr>
        <p:spPr>
          <a:xfrm>
            <a:off x="1413034" y="5259467"/>
            <a:ext cx="824865" cy="30480"/>
          </a:xfrm>
          <a:prstGeom prst="roundRect">
            <a:avLst>
              <a:gd name="adj" fmla="val 115995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1A6181CA-A5AA-5F51-9CD9-89EACD40A1D9}"/>
              </a:ext>
            </a:extLst>
          </p:cNvPr>
          <p:cNvSpPr/>
          <p:nvPr/>
        </p:nvSpPr>
        <p:spPr>
          <a:xfrm>
            <a:off x="913209" y="5009555"/>
            <a:ext cx="530304" cy="530304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920E6B0-EC19-AE89-24D9-165D87C4A586}"/>
              </a:ext>
            </a:extLst>
          </p:cNvPr>
          <p:cNvSpPr/>
          <p:nvPr/>
        </p:nvSpPr>
        <p:spPr>
          <a:xfrm>
            <a:off x="1084778" y="5113973"/>
            <a:ext cx="187047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b="1" kern="0" spc="-25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7</a:t>
            </a:r>
            <a:endParaRPr lang="en-US" sz="25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76D98661-3D12-C09C-F1ED-FB243205CDC4}"/>
              </a:ext>
            </a:extLst>
          </p:cNvPr>
          <p:cNvSpPr/>
          <p:nvPr/>
        </p:nvSpPr>
        <p:spPr>
          <a:xfrm>
            <a:off x="2474714" y="4980027"/>
            <a:ext cx="3118485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400" b="1" dirty="0">
                <a:latin typeface="Montserrat Bold" panose="020B0604020202020204" charset="0"/>
              </a:rPr>
              <a:t>Advanced and Custom Analysis Features</a:t>
            </a: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BE8C643B-80CA-3C25-D025-4A1B80251B57}"/>
              </a:ext>
            </a:extLst>
          </p:cNvPr>
          <p:cNvSpPr/>
          <p:nvPr/>
        </p:nvSpPr>
        <p:spPr>
          <a:xfrm>
            <a:off x="2474714" y="5456158"/>
            <a:ext cx="11330821" cy="353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dirty="0"/>
              <a:t>Enhance the analytical capabilities of the application by adding advanced features like correlation analysis</a:t>
            </a:r>
          </a:p>
          <a:p>
            <a:pPr marL="0" indent="0" algn="l">
              <a:lnSpc>
                <a:spcPts val="2750"/>
              </a:lnSpc>
              <a:buNone/>
            </a:pPr>
            <a:r>
              <a:rPr lang="en-US" sz="2000" dirty="0"/>
              <a:t>and tailored analytics to meet diverse user requirements.</a:t>
            </a:r>
            <a:endParaRPr lang="en-US" sz="185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8C4A790F-EF09-D45D-9875-363E8AC22FE1}"/>
              </a:ext>
            </a:extLst>
          </p:cNvPr>
          <p:cNvSpPr/>
          <p:nvPr/>
        </p:nvSpPr>
        <p:spPr>
          <a:xfrm>
            <a:off x="1413034" y="6796088"/>
            <a:ext cx="824865" cy="30480"/>
          </a:xfrm>
          <a:prstGeom prst="roundRect">
            <a:avLst>
              <a:gd name="adj" fmla="val 115995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2A9595AA-AF79-6254-CAEF-18289C8F04C3}"/>
              </a:ext>
            </a:extLst>
          </p:cNvPr>
          <p:cNvSpPr/>
          <p:nvPr/>
        </p:nvSpPr>
        <p:spPr>
          <a:xfrm>
            <a:off x="913209" y="6546175"/>
            <a:ext cx="530304" cy="530304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E2058AF-7470-4801-B1C5-62B018E6D007}"/>
              </a:ext>
            </a:extLst>
          </p:cNvPr>
          <p:cNvSpPr/>
          <p:nvPr/>
        </p:nvSpPr>
        <p:spPr>
          <a:xfrm>
            <a:off x="1116925" y="6650593"/>
            <a:ext cx="218123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b="1" kern="0" spc="-25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8</a:t>
            </a:r>
            <a:endParaRPr lang="en-US" sz="25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09434FC5-E505-87B3-EA94-B444733851F0}"/>
              </a:ext>
            </a:extLst>
          </p:cNvPr>
          <p:cNvSpPr/>
          <p:nvPr/>
        </p:nvSpPr>
        <p:spPr>
          <a:xfrm>
            <a:off x="2474714" y="6516648"/>
            <a:ext cx="2678311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400" b="1" kern="0" spc="-2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Enhancing the User Interface</a:t>
            </a:r>
            <a:endParaRPr lang="en-US" sz="2400" dirty="0"/>
          </a:p>
        </p:txBody>
      </p:sp>
      <p:sp>
        <p:nvSpPr>
          <p:cNvPr id="25" name="Rectangle 2">
            <a:extLst>
              <a:ext uri="{FF2B5EF4-FFF2-40B4-BE49-F238E27FC236}">
                <a16:creationId xmlns:a16="http://schemas.microsoft.com/office/drawing/2014/main" id="{95DD18D8-F450-02DD-DFE9-52E098BC57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2248" y="7124819"/>
            <a:ext cx="14630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 the user interface to improve usability and overall user experience.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0351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828" y="0"/>
            <a:ext cx="14626743" cy="8229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 descr="A screenshot of a project&#10;&#10;Description automatically generated">
            <a:extLst>
              <a:ext uri="{FF2B5EF4-FFF2-40B4-BE49-F238E27FC236}">
                <a16:creationId xmlns:a16="http://schemas.microsoft.com/office/drawing/2014/main" id="{C4A4D382-CD4D-0E73-A405-699A51A9B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72024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505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2675692"/>
            <a:ext cx="11450836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b="1" kern="0" spc="-44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Conclusion: Transforming Data Analysis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3993952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kern="0" spc="-22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Innovation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3798" y="4591407"/>
            <a:ext cx="3898940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Bridging gap between complex data and user-friendly analysis.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372576" y="3993952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kern="0" spc="-22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Empowerment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72576" y="4591407"/>
            <a:ext cx="3898940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Enabling all users to gain valuable data insights.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881354" y="3993952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kern="0" spc="-22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Future-Ready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81354" y="4591407"/>
            <a:ext cx="3898940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Positioned for growth with AI and visualization capabilities.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2956</TotalTime>
  <Words>390</Words>
  <Application>Microsoft Office PowerPoint</Application>
  <PresentationFormat>Custom</PresentationFormat>
  <Paragraphs>82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Montserrat Bold</vt:lpstr>
      <vt:lpstr>Source Sans Pro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L215692Muhammad Hassan KhaLid</cp:lastModifiedBy>
  <cp:revision>39</cp:revision>
  <dcterms:created xsi:type="dcterms:W3CDTF">2024-10-17T14:34:57Z</dcterms:created>
  <dcterms:modified xsi:type="dcterms:W3CDTF">2025-01-07T14:48:59Z</dcterms:modified>
</cp:coreProperties>
</file>