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5748"/>
  </p:normalViewPr>
  <p:slideViewPr>
    <p:cSldViewPr snapToGrid="0">
      <p:cViewPr varScale="1">
        <p:scale>
          <a:sx n="64" d="100"/>
          <a:sy n="64" d="100"/>
        </p:scale>
        <p:origin x="90" y="2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3.xml.rels><?xml version="1.0" encoding="UTF-8" standalone="yes"?>
<Relationships xmlns="http://schemas.openxmlformats.org/package/2006/relationships"><Relationship Id="rId1" Type="http://schemas.openxmlformats.org/officeDocument/2006/relationships/image" Target="../media/image12.png"/></Relationships>
</file>

<file path=ppt/diagrams/_rels/drawing3.xml.rels><?xml version="1.0" encoding="UTF-8" standalone="yes"?>
<Relationships xmlns="http://schemas.openxmlformats.org/package/2006/relationships"><Relationship Id="rId1" Type="http://schemas.openxmlformats.org/officeDocument/2006/relationships/image" Target="../media/image12.pn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D4F8281-84C0-6C40-834F-2A40335BFDB1}" type="doc">
      <dgm:prSet loTypeId="urn:microsoft.com/office/officeart/2005/8/layout/orgChart1" loCatId="hierarchy" qsTypeId="urn:microsoft.com/office/officeart/2005/8/quickstyle/simple4" qsCatId="simple" csTypeId="urn:microsoft.com/office/officeart/2005/8/colors/accent2_2" csCatId="accent2" phldr="1"/>
      <dgm:spPr/>
      <dgm:t>
        <a:bodyPr/>
        <a:lstStyle/>
        <a:p>
          <a:endParaRPr lang="en-US"/>
        </a:p>
      </dgm:t>
    </dgm:pt>
    <dgm:pt modelId="{EB6E47BB-5025-244C-B082-9769AAE1D8C8}">
      <dgm:prSet/>
      <dgm:spPr/>
      <dgm:t>
        <a:bodyPr/>
        <a:lstStyle/>
        <a:p>
          <a:r>
            <a:rPr lang="en-US" b="1" u="sng" dirty="0"/>
            <a:t>PSEB</a:t>
          </a:r>
          <a:r>
            <a:rPr lang="en-US" dirty="0"/>
            <a:t> </a:t>
          </a:r>
        </a:p>
      </dgm:t>
    </dgm:pt>
    <dgm:pt modelId="{3EF6FD92-41BE-A84A-90DB-1087D5238C80}" type="parTrans" cxnId="{16C40754-462F-9041-B8CE-D1ADEB6B5E82}">
      <dgm:prSet/>
      <dgm:spPr/>
      <dgm:t>
        <a:bodyPr/>
        <a:lstStyle/>
        <a:p>
          <a:endParaRPr lang="en-US"/>
        </a:p>
      </dgm:t>
    </dgm:pt>
    <dgm:pt modelId="{708D455C-ED13-B047-8630-65532C641017}" type="sibTrans" cxnId="{16C40754-462F-9041-B8CE-D1ADEB6B5E82}">
      <dgm:prSet/>
      <dgm:spPr/>
      <dgm:t>
        <a:bodyPr/>
        <a:lstStyle/>
        <a:p>
          <a:endParaRPr lang="en-US"/>
        </a:p>
      </dgm:t>
    </dgm:pt>
    <dgm:pt modelId="{D3821033-35B6-014A-AB81-040AEC212622}">
      <dgm:prSet/>
      <dgm:spPr/>
      <dgm:t>
        <a:bodyPr/>
        <a:lstStyle/>
        <a:p>
          <a:r>
            <a:rPr lang="en-US" dirty="0"/>
            <a:t>Board of directors</a:t>
          </a:r>
        </a:p>
      </dgm:t>
    </dgm:pt>
    <dgm:pt modelId="{19056F68-D887-2549-8CC6-78426A8359FE}" type="parTrans" cxnId="{CE547B16-111F-FF48-B20D-FF601E873B75}">
      <dgm:prSet/>
      <dgm:spPr/>
      <dgm:t>
        <a:bodyPr/>
        <a:lstStyle/>
        <a:p>
          <a:endParaRPr lang="en-US"/>
        </a:p>
      </dgm:t>
    </dgm:pt>
    <dgm:pt modelId="{1984AEAD-7D99-CC4E-BC4A-8823F60E7B7B}" type="sibTrans" cxnId="{CE547B16-111F-FF48-B20D-FF601E873B75}">
      <dgm:prSet/>
      <dgm:spPr/>
      <dgm:t>
        <a:bodyPr/>
        <a:lstStyle/>
        <a:p>
          <a:endParaRPr lang="en-US"/>
        </a:p>
      </dgm:t>
    </dgm:pt>
    <dgm:pt modelId="{0A875FD4-150A-D149-A11A-DBDB852E1F51}">
      <dgm:prSet/>
      <dgm:spPr/>
      <dgm:t>
        <a:bodyPr/>
        <a:lstStyle/>
        <a:p>
          <a:r>
            <a:rPr lang="en-US" dirty="0"/>
            <a:t>Executive management</a:t>
          </a:r>
        </a:p>
      </dgm:t>
    </dgm:pt>
    <dgm:pt modelId="{712B708B-EC00-5D4B-B731-617CC1FAA960}" type="parTrans" cxnId="{C6480340-6EFF-1F40-AF95-DD7D42E940A1}">
      <dgm:prSet/>
      <dgm:spPr/>
      <dgm:t>
        <a:bodyPr/>
        <a:lstStyle/>
        <a:p>
          <a:endParaRPr lang="en-US"/>
        </a:p>
      </dgm:t>
    </dgm:pt>
    <dgm:pt modelId="{17CF8C50-B471-A74B-B63D-DC609428B2F1}" type="sibTrans" cxnId="{C6480340-6EFF-1F40-AF95-DD7D42E940A1}">
      <dgm:prSet/>
      <dgm:spPr/>
      <dgm:t>
        <a:bodyPr/>
        <a:lstStyle/>
        <a:p>
          <a:endParaRPr lang="en-US"/>
        </a:p>
      </dgm:t>
    </dgm:pt>
    <dgm:pt modelId="{451C878D-4752-B646-8C00-596265BCC244}">
      <dgm:prSet/>
      <dgm:spPr/>
      <dgm:t>
        <a:bodyPr/>
        <a:lstStyle/>
        <a:p>
          <a:r>
            <a:rPr lang="en-US" dirty="0"/>
            <a:t>Department heads</a:t>
          </a:r>
        </a:p>
      </dgm:t>
    </dgm:pt>
    <dgm:pt modelId="{FE2A6884-DC71-6440-AFC2-886A872907AB}" type="parTrans" cxnId="{17BEEE76-7967-0B40-8CB2-C69111345589}">
      <dgm:prSet/>
      <dgm:spPr/>
      <dgm:t>
        <a:bodyPr/>
        <a:lstStyle/>
        <a:p>
          <a:endParaRPr lang="en-US"/>
        </a:p>
      </dgm:t>
    </dgm:pt>
    <dgm:pt modelId="{ADFDA89B-97A5-0147-B64A-7F6AA6AC4B3A}" type="sibTrans" cxnId="{17BEEE76-7967-0B40-8CB2-C69111345589}">
      <dgm:prSet/>
      <dgm:spPr/>
      <dgm:t>
        <a:bodyPr/>
        <a:lstStyle/>
        <a:p>
          <a:endParaRPr lang="en-US"/>
        </a:p>
      </dgm:t>
    </dgm:pt>
    <dgm:pt modelId="{55F9874E-E43C-0A4A-B6BA-DA0A3F1E335E}">
      <dgm:prSet/>
      <dgm:spPr/>
      <dgm:t>
        <a:bodyPr/>
        <a:lstStyle/>
        <a:p>
          <a:r>
            <a:rPr lang="en-US" dirty="0"/>
            <a:t>Staff</a:t>
          </a:r>
        </a:p>
      </dgm:t>
    </dgm:pt>
    <dgm:pt modelId="{2154E706-0ABE-A24D-84E7-51EE53A0B2E6}" type="parTrans" cxnId="{1A80A51A-5461-2841-B72E-8D82BC04D411}">
      <dgm:prSet/>
      <dgm:spPr/>
      <dgm:t>
        <a:bodyPr/>
        <a:lstStyle/>
        <a:p>
          <a:endParaRPr lang="en-US"/>
        </a:p>
      </dgm:t>
    </dgm:pt>
    <dgm:pt modelId="{0D8B7EA3-AB9D-294D-8822-C6F7AB671DA3}" type="sibTrans" cxnId="{1A80A51A-5461-2841-B72E-8D82BC04D411}">
      <dgm:prSet/>
      <dgm:spPr/>
      <dgm:t>
        <a:bodyPr/>
        <a:lstStyle/>
        <a:p>
          <a:endParaRPr lang="en-US"/>
        </a:p>
      </dgm:t>
    </dgm:pt>
    <dgm:pt modelId="{5779A6B0-D896-0649-8A33-114A6D530B1E}" type="pres">
      <dgm:prSet presAssocID="{9D4F8281-84C0-6C40-834F-2A40335BFDB1}" presName="hierChild1" presStyleCnt="0">
        <dgm:presLayoutVars>
          <dgm:orgChart val="1"/>
          <dgm:chPref val="1"/>
          <dgm:dir/>
          <dgm:animOne val="branch"/>
          <dgm:animLvl val="lvl"/>
          <dgm:resizeHandles/>
        </dgm:presLayoutVars>
      </dgm:prSet>
      <dgm:spPr/>
    </dgm:pt>
    <dgm:pt modelId="{98324743-83D3-664C-B2AF-FAC1C628C09C}" type="pres">
      <dgm:prSet presAssocID="{EB6E47BB-5025-244C-B082-9769AAE1D8C8}" presName="hierRoot1" presStyleCnt="0">
        <dgm:presLayoutVars>
          <dgm:hierBranch val="init"/>
        </dgm:presLayoutVars>
      </dgm:prSet>
      <dgm:spPr/>
    </dgm:pt>
    <dgm:pt modelId="{6CC63EF7-5EE7-F940-80FF-C44C3755327C}" type="pres">
      <dgm:prSet presAssocID="{EB6E47BB-5025-244C-B082-9769AAE1D8C8}" presName="rootComposite1" presStyleCnt="0"/>
      <dgm:spPr/>
    </dgm:pt>
    <dgm:pt modelId="{BC35AD6C-43D9-4A4C-B135-547EDE29417F}" type="pres">
      <dgm:prSet presAssocID="{EB6E47BB-5025-244C-B082-9769AAE1D8C8}" presName="rootText1" presStyleLbl="node0" presStyleIdx="0" presStyleCnt="1">
        <dgm:presLayoutVars>
          <dgm:chPref val="3"/>
        </dgm:presLayoutVars>
      </dgm:prSet>
      <dgm:spPr/>
    </dgm:pt>
    <dgm:pt modelId="{C8C956F3-3663-7E48-80E7-A2989B8A1745}" type="pres">
      <dgm:prSet presAssocID="{EB6E47BB-5025-244C-B082-9769AAE1D8C8}" presName="rootConnector1" presStyleLbl="node1" presStyleIdx="0" presStyleCnt="0"/>
      <dgm:spPr/>
    </dgm:pt>
    <dgm:pt modelId="{B8D770F3-F434-ED43-84DA-F41F77ECCB20}" type="pres">
      <dgm:prSet presAssocID="{EB6E47BB-5025-244C-B082-9769AAE1D8C8}" presName="hierChild2" presStyleCnt="0"/>
      <dgm:spPr/>
    </dgm:pt>
    <dgm:pt modelId="{5189DDCD-4594-FE43-A368-C2EB96F4CA8E}" type="pres">
      <dgm:prSet presAssocID="{19056F68-D887-2549-8CC6-78426A8359FE}" presName="Name37" presStyleLbl="parChTrans1D2" presStyleIdx="0" presStyleCnt="4"/>
      <dgm:spPr/>
    </dgm:pt>
    <dgm:pt modelId="{F041EDAA-DB59-6047-9909-3BB8DF2E6219}" type="pres">
      <dgm:prSet presAssocID="{D3821033-35B6-014A-AB81-040AEC212622}" presName="hierRoot2" presStyleCnt="0">
        <dgm:presLayoutVars>
          <dgm:hierBranch val="init"/>
        </dgm:presLayoutVars>
      </dgm:prSet>
      <dgm:spPr/>
    </dgm:pt>
    <dgm:pt modelId="{D7B91A04-C1A9-824F-BE4B-DCDA79E1C16E}" type="pres">
      <dgm:prSet presAssocID="{D3821033-35B6-014A-AB81-040AEC212622}" presName="rootComposite" presStyleCnt="0"/>
      <dgm:spPr/>
    </dgm:pt>
    <dgm:pt modelId="{E213B623-4AE9-9B44-9EDB-0A215B4705BC}" type="pres">
      <dgm:prSet presAssocID="{D3821033-35B6-014A-AB81-040AEC212622}" presName="rootText" presStyleLbl="node2" presStyleIdx="0" presStyleCnt="4">
        <dgm:presLayoutVars>
          <dgm:chPref val="3"/>
        </dgm:presLayoutVars>
      </dgm:prSet>
      <dgm:spPr/>
    </dgm:pt>
    <dgm:pt modelId="{E4E67B28-A684-184B-AF4D-65291518CA6E}" type="pres">
      <dgm:prSet presAssocID="{D3821033-35B6-014A-AB81-040AEC212622}" presName="rootConnector" presStyleLbl="node2" presStyleIdx="0" presStyleCnt="4"/>
      <dgm:spPr/>
    </dgm:pt>
    <dgm:pt modelId="{9031DCD3-4BF8-E74D-BC56-23110E32F2A7}" type="pres">
      <dgm:prSet presAssocID="{D3821033-35B6-014A-AB81-040AEC212622}" presName="hierChild4" presStyleCnt="0"/>
      <dgm:spPr/>
    </dgm:pt>
    <dgm:pt modelId="{F3A64BF4-1CCF-FF4A-8BB0-FB2424B52E0C}" type="pres">
      <dgm:prSet presAssocID="{D3821033-35B6-014A-AB81-040AEC212622}" presName="hierChild5" presStyleCnt="0"/>
      <dgm:spPr/>
    </dgm:pt>
    <dgm:pt modelId="{AE5CB77A-8798-FE45-8850-CA035E46BDF2}" type="pres">
      <dgm:prSet presAssocID="{712B708B-EC00-5D4B-B731-617CC1FAA960}" presName="Name37" presStyleLbl="parChTrans1D2" presStyleIdx="1" presStyleCnt="4"/>
      <dgm:spPr/>
    </dgm:pt>
    <dgm:pt modelId="{3AD5F3BD-D9E5-D84D-A9CC-3A0FB5D2F746}" type="pres">
      <dgm:prSet presAssocID="{0A875FD4-150A-D149-A11A-DBDB852E1F51}" presName="hierRoot2" presStyleCnt="0">
        <dgm:presLayoutVars>
          <dgm:hierBranch val="init"/>
        </dgm:presLayoutVars>
      </dgm:prSet>
      <dgm:spPr/>
    </dgm:pt>
    <dgm:pt modelId="{A3480BC9-0164-334C-82AC-19E0C539C9FA}" type="pres">
      <dgm:prSet presAssocID="{0A875FD4-150A-D149-A11A-DBDB852E1F51}" presName="rootComposite" presStyleCnt="0"/>
      <dgm:spPr/>
    </dgm:pt>
    <dgm:pt modelId="{46E411BB-5B0B-D44C-9F4A-A1C3F239B851}" type="pres">
      <dgm:prSet presAssocID="{0A875FD4-150A-D149-A11A-DBDB852E1F51}" presName="rootText" presStyleLbl="node2" presStyleIdx="1" presStyleCnt="4">
        <dgm:presLayoutVars>
          <dgm:chPref val="3"/>
        </dgm:presLayoutVars>
      </dgm:prSet>
      <dgm:spPr/>
    </dgm:pt>
    <dgm:pt modelId="{F1CDA125-B8BD-8743-B31B-9B746970FC22}" type="pres">
      <dgm:prSet presAssocID="{0A875FD4-150A-D149-A11A-DBDB852E1F51}" presName="rootConnector" presStyleLbl="node2" presStyleIdx="1" presStyleCnt="4"/>
      <dgm:spPr/>
    </dgm:pt>
    <dgm:pt modelId="{51109E4F-FDC4-F04E-99F8-253129B4A705}" type="pres">
      <dgm:prSet presAssocID="{0A875FD4-150A-D149-A11A-DBDB852E1F51}" presName="hierChild4" presStyleCnt="0"/>
      <dgm:spPr/>
    </dgm:pt>
    <dgm:pt modelId="{126984F0-5F71-3247-9E6B-EE9184D85B9A}" type="pres">
      <dgm:prSet presAssocID="{0A875FD4-150A-D149-A11A-DBDB852E1F51}" presName="hierChild5" presStyleCnt="0"/>
      <dgm:spPr/>
    </dgm:pt>
    <dgm:pt modelId="{1878C516-9727-F748-95E9-6A09303FBF16}" type="pres">
      <dgm:prSet presAssocID="{FE2A6884-DC71-6440-AFC2-886A872907AB}" presName="Name37" presStyleLbl="parChTrans1D2" presStyleIdx="2" presStyleCnt="4"/>
      <dgm:spPr/>
    </dgm:pt>
    <dgm:pt modelId="{AF6F2127-DB18-2F40-8C92-C2A9D14B0A4B}" type="pres">
      <dgm:prSet presAssocID="{451C878D-4752-B646-8C00-596265BCC244}" presName="hierRoot2" presStyleCnt="0">
        <dgm:presLayoutVars>
          <dgm:hierBranch val="init"/>
        </dgm:presLayoutVars>
      </dgm:prSet>
      <dgm:spPr/>
    </dgm:pt>
    <dgm:pt modelId="{35319743-C53D-1140-B87B-75922B3E36DB}" type="pres">
      <dgm:prSet presAssocID="{451C878D-4752-B646-8C00-596265BCC244}" presName="rootComposite" presStyleCnt="0"/>
      <dgm:spPr/>
    </dgm:pt>
    <dgm:pt modelId="{FCE39996-B82C-3246-B748-9793E8FB8186}" type="pres">
      <dgm:prSet presAssocID="{451C878D-4752-B646-8C00-596265BCC244}" presName="rootText" presStyleLbl="node2" presStyleIdx="2" presStyleCnt="4">
        <dgm:presLayoutVars>
          <dgm:chPref val="3"/>
        </dgm:presLayoutVars>
      </dgm:prSet>
      <dgm:spPr/>
    </dgm:pt>
    <dgm:pt modelId="{EE185F37-740B-5B45-AC3D-91BF7E5B1505}" type="pres">
      <dgm:prSet presAssocID="{451C878D-4752-B646-8C00-596265BCC244}" presName="rootConnector" presStyleLbl="node2" presStyleIdx="2" presStyleCnt="4"/>
      <dgm:spPr/>
    </dgm:pt>
    <dgm:pt modelId="{51ADD1D4-3F29-7B4C-929A-CC3369E3F24C}" type="pres">
      <dgm:prSet presAssocID="{451C878D-4752-B646-8C00-596265BCC244}" presName="hierChild4" presStyleCnt="0"/>
      <dgm:spPr/>
    </dgm:pt>
    <dgm:pt modelId="{1F4A6DC8-822D-F346-A039-1A816204B397}" type="pres">
      <dgm:prSet presAssocID="{451C878D-4752-B646-8C00-596265BCC244}" presName="hierChild5" presStyleCnt="0"/>
      <dgm:spPr/>
    </dgm:pt>
    <dgm:pt modelId="{303F3FC6-3E85-6A4E-A537-8D3E9412A80F}" type="pres">
      <dgm:prSet presAssocID="{2154E706-0ABE-A24D-84E7-51EE53A0B2E6}" presName="Name37" presStyleLbl="parChTrans1D2" presStyleIdx="3" presStyleCnt="4"/>
      <dgm:spPr/>
    </dgm:pt>
    <dgm:pt modelId="{61A7544A-7CF0-0A45-8F3B-02453352ECED}" type="pres">
      <dgm:prSet presAssocID="{55F9874E-E43C-0A4A-B6BA-DA0A3F1E335E}" presName="hierRoot2" presStyleCnt="0">
        <dgm:presLayoutVars>
          <dgm:hierBranch val="init"/>
        </dgm:presLayoutVars>
      </dgm:prSet>
      <dgm:spPr/>
    </dgm:pt>
    <dgm:pt modelId="{5E107F57-BFDF-A148-810F-F4B1543A8FA4}" type="pres">
      <dgm:prSet presAssocID="{55F9874E-E43C-0A4A-B6BA-DA0A3F1E335E}" presName="rootComposite" presStyleCnt="0"/>
      <dgm:spPr/>
    </dgm:pt>
    <dgm:pt modelId="{D725B16C-704A-394A-A5F9-57CD9DC5967D}" type="pres">
      <dgm:prSet presAssocID="{55F9874E-E43C-0A4A-B6BA-DA0A3F1E335E}" presName="rootText" presStyleLbl="node2" presStyleIdx="3" presStyleCnt="4">
        <dgm:presLayoutVars>
          <dgm:chPref val="3"/>
        </dgm:presLayoutVars>
      </dgm:prSet>
      <dgm:spPr/>
    </dgm:pt>
    <dgm:pt modelId="{C276B684-D5D1-3643-A927-68DAE2E920F4}" type="pres">
      <dgm:prSet presAssocID="{55F9874E-E43C-0A4A-B6BA-DA0A3F1E335E}" presName="rootConnector" presStyleLbl="node2" presStyleIdx="3" presStyleCnt="4"/>
      <dgm:spPr/>
    </dgm:pt>
    <dgm:pt modelId="{57B6CCBF-5A65-6944-A63D-5C5DFDAEA6FC}" type="pres">
      <dgm:prSet presAssocID="{55F9874E-E43C-0A4A-B6BA-DA0A3F1E335E}" presName="hierChild4" presStyleCnt="0"/>
      <dgm:spPr/>
    </dgm:pt>
    <dgm:pt modelId="{DB4C59B9-5E71-BE4B-8057-52E70AAA9AE4}" type="pres">
      <dgm:prSet presAssocID="{55F9874E-E43C-0A4A-B6BA-DA0A3F1E335E}" presName="hierChild5" presStyleCnt="0"/>
      <dgm:spPr/>
    </dgm:pt>
    <dgm:pt modelId="{C4C1D25B-B5D7-D540-8A3D-05ECB4EB45B9}" type="pres">
      <dgm:prSet presAssocID="{EB6E47BB-5025-244C-B082-9769AAE1D8C8}" presName="hierChild3" presStyleCnt="0"/>
      <dgm:spPr/>
    </dgm:pt>
  </dgm:ptLst>
  <dgm:cxnLst>
    <dgm:cxn modelId="{CE547B16-111F-FF48-B20D-FF601E873B75}" srcId="{EB6E47BB-5025-244C-B082-9769AAE1D8C8}" destId="{D3821033-35B6-014A-AB81-040AEC212622}" srcOrd="0" destOrd="0" parTransId="{19056F68-D887-2549-8CC6-78426A8359FE}" sibTransId="{1984AEAD-7D99-CC4E-BC4A-8823F60E7B7B}"/>
    <dgm:cxn modelId="{1A80A51A-5461-2841-B72E-8D82BC04D411}" srcId="{EB6E47BB-5025-244C-B082-9769AAE1D8C8}" destId="{55F9874E-E43C-0A4A-B6BA-DA0A3F1E335E}" srcOrd="3" destOrd="0" parTransId="{2154E706-0ABE-A24D-84E7-51EE53A0B2E6}" sibTransId="{0D8B7EA3-AB9D-294D-8822-C6F7AB671DA3}"/>
    <dgm:cxn modelId="{F620D91B-BBAD-E242-BFAC-BD759A4716FE}" type="presOf" srcId="{19056F68-D887-2549-8CC6-78426A8359FE}" destId="{5189DDCD-4594-FE43-A368-C2EB96F4CA8E}" srcOrd="0" destOrd="0" presId="urn:microsoft.com/office/officeart/2005/8/layout/orgChart1"/>
    <dgm:cxn modelId="{1A575728-A609-C549-9D99-31D3899916A1}" type="presOf" srcId="{2154E706-0ABE-A24D-84E7-51EE53A0B2E6}" destId="{303F3FC6-3E85-6A4E-A537-8D3E9412A80F}" srcOrd="0" destOrd="0" presId="urn:microsoft.com/office/officeart/2005/8/layout/orgChart1"/>
    <dgm:cxn modelId="{62017139-4B18-3F40-85DA-23F4FCB93EBC}" type="presOf" srcId="{D3821033-35B6-014A-AB81-040AEC212622}" destId="{E213B623-4AE9-9B44-9EDB-0A215B4705BC}" srcOrd="0" destOrd="0" presId="urn:microsoft.com/office/officeart/2005/8/layout/orgChart1"/>
    <dgm:cxn modelId="{2251AA3B-7113-3049-BF9E-4D8CDBE3900B}" type="presOf" srcId="{0A875FD4-150A-D149-A11A-DBDB852E1F51}" destId="{F1CDA125-B8BD-8743-B31B-9B746970FC22}" srcOrd="1" destOrd="0" presId="urn:microsoft.com/office/officeart/2005/8/layout/orgChart1"/>
    <dgm:cxn modelId="{C6480340-6EFF-1F40-AF95-DD7D42E940A1}" srcId="{EB6E47BB-5025-244C-B082-9769AAE1D8C8}" destId="{0A875FD4-150A-D149-A11A-DBDB852E1F51}" srcOrd="1" destOrd="0" parTransId="{712B708B-EC00-5D4B-B731-617CC1FAA960}" sibTransId="{17CF8C50-B471-A74B-B63D-DC609428B2F1}"/>
    <dgm:cxn modelId="{0CB6774D-D2D2-9147-93A7-70ACF3A7E359}" type="presOf" srcId="{0A875FD4-150A-D149-A11A-DBDB852E1F51}" destId="{46E411BB-5B0B-D44C-9F4A-A1C3F239B851}" srcOrd="0" destOrd="0" presId="urn:microsoft.com/office/officeart/2005/8/layout/orgChart1"/>
    <dgm:cxn modelId="{3FF06270-C305-0A41-9735-399D4C5B8F26}" type="presOf" srcId="{451C878D-4752-B646-8C00-596265BCC244}" destId="{EE185F37-740B-5B45-AC3D-91BF7E5B1505}" srcOrd="1" destOrd="0" presId="urn:microsoft.com/office/officeart/2005/8/layout/orgChart1"/>
    <dgm:cxn modelId="{16C40754-462F-9041-B8CE-D1ADEB6B5E82}" srcId="{9D4F8281-84C0-6C40-834F-2A40335BFDB1}" destId="{EB6E47BB-5025-244C-B082-9769AAE1D8C8}" srcOrd="0" destOrd="0" parTransId="{3EF6FD92-41BE-A84A-90DB-1087D5238C80}" sibTransId="{708D455C-ED13-B047-8630-65532C641017}"/>
    <dgm:cxn modelId="{E37B0E55-2783-6245-BC17-F8585B20A5B1}" type="presOf" srcId="{451C878D-4752-B646-8C00-596265BCC244}" destId="{FCE39996-B82C-3246-B748-9793E8FB8186}" srcOrd="0" destOrd="0" presId="urn:microsoft.com/office/officeart/2005/8/layout/orgChart1"/>
    <dgm:cxn modelId="{17BEEE76-7967-0B40-8CB2-C69111345589}" srcId="{EB6E47BB-5025-244C-B082-9769AAE1D8C8}" destId="{451C878D-4752-B646-8C00-596265BCC244}" srcOrd="2" destOrd="0" parTransId="{FE2A6884-DC71-6440-AFC2-886A872907AB}" sibTransId="{ADFDA89B-97A5-0147-B64A-7F6AA6AC4B3A}"/>
    <dgm:cxn modelId="{624F1E90-9C2C-2644-A54B-629FD921FD76}" type="presOf" srcId="{EB6E47BB-5025-244C-B082-9769AAE1D8C8}" destId="{C8C956F3-3663-7E48-80E7-A2989B8A1745}" srcOrd="1" destOrd="0" presId="urn:microsoft.com/office/officeart/2005/8/layout/orgChart1"/>
    <dgm:cxn modelId="{F6299196-F46F-BA43-974E-ED2114A8E664}" type="presOf" srcId="{55F9874E-E43C-0A4A-B6BA-DA0A3F1E335E}" destId="{C276B684-D5D1-3643-A927-68DAE2E920F4}" srcOrd="1" destOrd="0" presId="urn:microsoft.com/office/officeart/2005/8/layout/orgChart1"/>
    <dgm:cxn modelId="{1F27B0A4-2B04-8641-A9B9-3D67C099254F}" type="presOf" srcId="{D3821033-35B6-014A-AB81-040AEC212622}" destId="{E4E67B28-A684-184B-AF4D-65291518CA6E}" srcOrd="1" destOrd="0" presId="urn:microsoft.com/office/officeart/2005/8/layout/orgChart1"/>
    <dgm:cxn modelId="{B75F29C0-C04A-7941-8CD1-E511056CEA98}" type="presOf" srcId="{712B708B-EC00-5D4B-B731-617CC1FAA960}" destId="{AE5CB77A-8798-FE45-8850-CA035E46BDF2}" srcOrd="0" destOrd="0" presId="urn:microsoft.com/office/officeart/2005/8/layout/orgChart1"/>
    <dgm:cxn modelId="{106B7BCD-D47A-E149-B3B5-50063DE3554D}" type="presOf" srcId="{FE2A6884-DC71-6440-AFC2-886A872907AB}" destId="{1878C516-9727-F748-95E9-6A09303FBF16}" srcOrd="0" destOrd="0" presId="urn:microsoft.com/office/officeart/2005/8/layout/orgChart1"/>
    <dgm:cxn modelId="{C3BB30D3-9CAA-994A-91A8-164E84DC293B}" type="presOf" srcId="{9D4F8281-84C0-6C40-834F-2A40335BFDB1}" destId="{5779A6B0-D896-0649-8A33-114A6D530B1E}" srcOrd="0" destOrd="0" presId="urn:microsoft.com/office/officeart/2005/8/layout/orgChart1"/>
    <dgm:cxn modelId="{4ED4BADD-29F1-6140-AC0B-4F25F796682F}" type="presOf" srcId="{55F9874E-E43C-0A4A-B6BA-DA0A3F1E335E}" destId="{D725B16C-704A-394A-A5F9-57CD9DC5967D}" srcOrd="0" destOrd="0" presId="urn:microsoft.com/office/officeart/2005/8/layout/orgChart1"/>
    <dgm:cxn modelId="{89133BDF-15B0-D140-B05B-5557A0EF7630}" type="presOf" srcId="{EB6E47BB-5025-244C-B082-9769AAE1D8C8}" destId="{BC35AD6C-43D9-4A4C-B135-547EDE29417F}" srcOrd="0" destOrd="0" presId="urn:microsoft.com/office/officeart/2005/8/layout/orgChart1"/>
    <dgm:cxn modelId="{11A2B34B-44A6-5849-8D0E-93C21CFB6614}" type="presParOf" srcId="{5779A6B0-D896-0649-8A33-114A6D530B1E}" destId="{98324743-83D3-664C-B2AF-FAC1C628C09C}" srcOrd="0" destOrd="0" presId="urn:microsoft.com/office/officeart/2005/8/layout/orgChart1"/>
    <dgm:cxn modelId="{10437B32-5F19-BD49-B3E1-2B9745BBCB06}" type="presParOf" srcId="{98324743-83D3-664C-B2AF-FAC1C628C09C}" destId="{6CC63EF7-5EE7-F940-80FF-C44C3755327C}" srcOrd="0" destOrd="0" presId="urn:microsoft.com/office/officeart/2005/8/layout/orgChart1"/>
    <dgm:cxn modelId="{FEB9C0B0-61A8-CE40-ACC9-9DA03379E622}" type="presParOf" srcId="{6CC63EF7-5EE7-F940-80FF-C44C3755327C}" destId="{BC35AD6C-43D9-4A4C-B135-547EDE29417F}" srcOrd="0" destOrd="0" presId="urn:microsoft.com/office/officeart/2005/8/layout/orgChart1"/>
    <dgm:cxn modelId="{E1D0E70C-0D58-1843-BA76-E716D82D8C27}" type="presParOf" srcId="{6CC63EF7-5EE7-F940-80FF-C44C3755327C}" destId="{C8C956F3-3663-7E48-80E7-A2989B8A1745}" srcOrd="1" destOrd="0" presId="urn:microsoft.com/office/officeart/2005/8/layout/orgChart1"/>
    <dgm:cxn modelId="{0151373A-B302-F84E-8DDA-633CC13993FD}" type="presParOf" srcId="{98324743-83D3-664C-B2AF-FAC1C628C09C}" destId="{B8D770F3-F434-ED43-84DA-F41F77ECCB20}" srcOrd="1" destOrd="0" presId="urn:microsoft.com/office/officeart/2005/8/layout/orgChart1"/>
    <dgm:cxn modelId="{BEF4693A-E679-F948-872F-F5245189CBD9}" type="presParOf" srcId="{B8D770F3-F434-ED43-84DA-F41F77ECCB20}" destId="{5189DDCD-4594-FE43-A368-C2EB96F4CA8E}" srcOrd="0" destOrd="0" presId="urn:microsoft.com/office/officeart/2005/8/layout/orgChart1"/>
    <dgm:cxn modelId="{D5E04EAE-E31B-4145-BFF0-F0948A3AA0F1}" type="presParOf" srcId="{B8D770F3-F434-ED43-84DA-F41F77ECCB20}" destId="{F041EDAA-DB59-6047-9909-3BB8DF2E6219}" srcOrd="1" destOrd="0" presId="urn:microsoft.com/office/officeart/2005/8/layout/orgChart1"/>
    <dgm:cxn modelId="{F7A7D1DA-C44C-E543-8C1B-148B90D2EB89}" type="presParOf" srcId="{F041EDAA-DB59-6047-9909-3BB8DF2E6219}" destId="{D7B91A04-C1A9-824F-BE4B-DCDA79E1C16E}" srcOrd="0" destOrd="0" presId="urn:microsoft.com/office/officeart/2005/8/layout/orgChart1"/>
    <dgm:cxn modelId="{3E5535DF-D1B2-AB40-84EC-37D5007AEBF7}" type="presParOf" srcId="{D7B91A04-C1A9-824F-BE4B-DCDA79E1C16E}" destId="{E213B623-4AE9-9B44-9EDB-0A215B4705BC}" srcOrd="0" destOrd="0" presId="urn:microsoft.com/office/officeart/2005/8/layout/orgChart1"/>
    <dgm:cxn modelId="{A4099987-B803-594A-AC2B-17FCD58959E2}" type="presParOf" srcId="{D7B91A04-C1A9-824F-BE4B-DCDA79E1C16E}" destId="{E4E67B28-A684-184B-AF4D-65291518CA6E}" srcOrd="1" destOrd="0" presId="urn:microsoft.com/office/officeart/2005/8/layout/orgChart1"/>
    <dgm:cxn modelId="{431EE41D-83E7-B94C-B420-529049B2FCC2}" type="presParOf" srcId="{F041EDAA-DB59-6047-9909-3BB8DF2E6219}" destId="{9031DCD3-4BF8-E74D-BC56-23110E32F2A7}" srcOrd="1" destOrd="0" presId="urn:microsoft.com/office/officeart/2005/8/layout/orgChart1"/>
    <dgm:cxn modelId="{88EB7980-56BE-AF46-B22A-34A41C575DEA}" type="presParOf" srcId="{F041EDAA-DB59-6047-9909-3BB8DF2E6219}" destId="{F3A64BF4-1CCF-FF4A-8BB0-FB2424B52E0C}" srcOrd="2" destOrd="0" presId="urn:microsoft.com/office/officeart/2005/8/layout/orgChart1"/>
    <dgm:cxn modelId="{F836208F-4F7E-3E44-B01B-AD4EC28D02FB}" type="presParOf" srcId="{B8D770F3-F434-ED43-84DA-F41F77ECCB20}" destId="{AE5CB77A-8798-FE45-8850-CA035E46BDF2}" srcOrd="2" destOrd="0" presId="urn:microsoft.com/office/officeart/2005/8/layout/orgChart1"/>
    <dgm:cxn modelId="{A7476EC9-CAB0-234E-A780-A787BB327BA1}" type="presParOf" srcId="{B8D770F3-F434-ED43-84DA-F41F77ECCB20}" destId="{3AD5F3BD-D9E5-D84D-A9CC-3A0FB5D2F746}" srcOrd="3" destOrd="0" presId="urn:microsoft.com/office/officeart/2005/8/layout/orgChart1"/>
    <dgm:cxn modelId="{06C20EEB-0161-8548-A08E-98879B78C019}" type="presParOf" srcId="{3AD5F3BD-D9E5-D84D-A9CC-3A0FB5D2F746}" destId="{A3480BC9-0164-334C-82AC-19E0C539C9FA}" srcOrd="0" destOrd="0" presId="urn:microsoft.com/office/officeart/2005/8/layout/orgChart1"/>
    <dgm:cxn modelId="{AB034E57-67DE-C544-B8F0-A32E28A70C2E}" type="presParOf" srcId="{A3480BC9-0164-334C-82AC-19E0C539C9FA}" destId="{46E411BB-5B0B-D44C-9F4A-A1C3F239B851}" srcOrd="0" destOrd="0" presId="urn:microsoft.com/office/officeart/2005/8/layout/orgChart1"/>
    <dgm:cxn modelId="{528BAB5B-B5B1-D343-8750-B487F6CEB8C0}" type="presParOf" srcId="{A3480BC9-0164-334C-82AC-19E0C539C9FA}" destId="{F1CDA125-B8BD-8743-B31B-9B746970FC22}" srcOrd="1" destOrd="0" presId="urn:microsoft.com/office/officeart/2005/8/layout/orgChart1"/>
    <dgm:cxn modelId="{24A0C4E1-D64E-0947-8BCD-CA391E29EBC5}" type="presParOf" srcId="{3AD5F3BD-D9E5-D84D-A9CC-3A0FB5D2F746}" destId="{51109E4F-FDC4-F04E-99F8-253129B4A705}" srcOrd="1" destOrd="0" presId="urn:microsoft.com/office/officeart/2005/8/layout/orgChart1"/>
    <dgm:cxn modelId="{6CCDA236-3AB4-EC42-9BBF-5A5A0B8500B8}" type="presParOf" srcId="{3AD5F3BD-D9E5-D84D-A9CC-3A0FB5D2F746}" destId="{126984F0-5F71-3247-9E6B-EE9184D85B9A}" srcOrd="2" destOrd="0" presId="urn:microsoft.com/office/officeart/2005/8/layout/orgChart1"/>
    <dgm:cxn modelId="{BBB5747E-0B5A-DC4D-9922-30541CB6FB8D}" type="presParOf" srcId="{B8D770F3-F434-ED43-84DA-F41F77ECCB20}" destId="{1878C516-9727-F748-95E9-6A09303FBF16}" srcOrd="4" destOrd="0" presId="urn:microsoft.com/office/officeart/2005/8/layout/orgChart1"/>
    <dgm:cxn modelId="{30A3470A-EC97-8141-B6EF-9F7EC77C363C}" type="presParOf" srcId="{B8D770F3-F434-ED43-84DA-F41F77ECCB20}" destId="{AF6F2127-DB18-2F40-8C92-C2A9D14B0A4B}" srcOrd="5" destOrd="0" presId="urn:microsoft.com/office/officeart/2005/8/layout/orgChart1"/>
    <dgm:cxn modelId="{6B6AFB6B-2511-CC48-A44A-F4A6C74ABA1A}" type="presParOf" srcId="{AF6F2127-DB18-2F40-8C92-C2A9D14B0A4B}" destId="{35319743-C53D-1140-B87B-75922B3E36DB}" srcOrd="0" destOrd="0" presId="urn:microsoft.com/office/officeart/2005/8/layout/orgChart1"/>
    <dgm:cxn modelId="{8EAB58EE-9363-7344-A5CF-E1A05774E57F}" type="presParOf" srcId="{35319743-C53D-1140-B87B-75922B3E36DB}" destId="{FCE39996-B82C-3246-B748-9793E8FB8186}" srcOrd="0" destOrd="0" presId="urn:microsoft.com/office/officeart/2005/8/layout/orgChart1"/>
    <dgm:cxn modelId="{63FDC5E2-CC04-D343-872D-5256EB206A18}" type="presParOf" srcId="{35319743-C53D-1140-B87B-75922B3E36DB}" destId="{EE185F37-740B-5B45-AC3D-91BF7E5B1505}" srcOrd="1" destOrd="0" presId="urn:microsoft.com/office/officeart/2005/8/layout/orgChart1"/>
    <dgm:cxn modelId="{51C381C2-B35C-034B-B104-E57D426E3FD7}" type="presParOf" srcId="{AF6F2127-DB18-2F40-8C92-C2A9D14B0A4B}" destId="{51ADD1D4-3F29-7B4C-929A-CC3369E3F24C}" srcOrd="1" destOrd="0" presId="urn:microsoft.com/office/officeart/2005/8/layout/orgChart1"/>
    <dgm:cxn modelId="{97894FF8-D0A4-3643-96BA-5993916BB174}" type="presParOf" srcId="{AF6F2127-DB18-2F40-8C92-C2A9D14B0A4B}" destId="{1F4A6DC8-822D-F346-A039-1A816204B397}" srcOrd="2" destOrd="0" presId="urn:microsoft.com/office/officeart/2005/8/layout/orgChart1"/>
    <dgm:cxn modelId="{5F751DB1-968B-2645-BA2D-5F0202835D8B}" type="presParOf" srcId="{B8D770F3-F434-ED43-84DA-F41F77ECCB20}" destId="{303F3FC6-3E85-6A4E-A537-8D3E9412A80F}" srcOrd="6" destOrd="0" presId="urn:microsoft.com/office/officeart/2005/8/layout/orgChart1"/>
    <dgm:cxn modelId="{3FD3C447-813A-4941-ABD0-6F88DB61709C}" type="presParOf" srcId="{B8D770F3-F434-ED43-84DA-F41F77ECCB20}" destId="{61A7544A-7CF0-0A45-8F3B-02453352ECED}" srcOrd="7" destOrd="0" presId="urn:microsoft.com/office/officeart/2005/8/layout/orgChart1"/>
    <dgm:cxn modelId="{6D622E7E-782B-7540-B0C5-A00BF21CE54B}" type="presParOf" srcId="{61A7544A-7CF0-0A45-8F3B-02453352ECED}" destId="{5E107F57-BFDF-A148-810F-F4B1543A8FA4}" srcOrd="0" destOrd="0" presId="urn:microsoft.com/office/officeart/2005/8/layout/orgChart1"/>
    <dgm:cxn modelId="{F903E0C4-1A76-0247-B6FC-A27F1B8C0A42}" type="presParOf" srcId="{5E107F57-BFDF-A148-810F-F4B1543A8FA4}" destId="{D725B16C-704A-394A-A5F9-57CD9DC5967D}" srcOrd="0" destOrd="0" presId="urn:microsoft.com/office/officeart/2005/8/layout/orgChart1"/>
    <dgm:cxn modelId="{0D287A26-9CB5-F04C-8CD4-DBB53A9942BA}" type="presParOf" srcId="{5E107F57-BFDF-A148-810F-F4B1543A8FA4}" destId="{C276B684-D5D1-3643-A927-68DAE2E920F4}" srcOrd="1" destOrd="0" presId="urn:microsoft.com/office/officeart/2005/8/layout/orgChart1"/>
    <dgm:cxn modelId="{4889D8FA-507A-134A-8010-27B16256B030}" type="presParOf" srcId="{61A7544A-7CF0-0A45-8F3B-02453352ECED}" destId="{57B6CCBF-5A65-6944-A63D-5C5DFDAEA6FC}" srcOrd="1" destOrd="0" presId="urn:microsoft.com/office/officeart/2005/8/layout/orgChart1"/>
    <dgm:cxn modelId="{71E5CFF4-3FF3-B643-BE80-3C5276C2F2FB}" type="presParOf" srcId="{61A7544A-7CF0-0A45-8F3B-02453352ECED}" destId="{DB4C59B9-5E71-BE4B-8057-52E70AAA9AE4}" srcOrd="2" destOrd="0" presId="urn:microsoft.com/office/officeart/2005/8/layout/orgChart1"/>
    <dgm:cxn modelId="{27C0F7C8-024F-AF43-B8C8-5298CD81E034}" type="presParOf" srcId="{98324743-83D3-664C-B2AF-FAC1C628C09C}" destId="{C4C1D25B-B5D7-D540-8A3D-05ECB4EB45B9}"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4AD4980-5B8B-0F4D-95CD-C33440E5CD09}" type="doc">
      <dgm:prSet loTypeId="urn:microsoft.com/office/officeart/2005/8/layout/vList5" loCatId="list" qsTypeId="urn:microsoft.com/office/officeart/2005/8/quickstyle/simple4" qsCatId="simple" csTypeId="urn:microsoft.com/office/officeart/2005/8/colors/colorful5" csCatId="colorful"/>
      <dgm:spPr/>
      <dgm:t>
        <a:bodyPr/>
        <a:lstStyle/>
        <a:p>
          <a:endParaRPr lang="en-US"/>
        </a:p>
      </dgm:t>
    </dgm:pt>
    <dgm:pt modelId="{12BAC6E2-3441-8145-9044-FD313E47811C}">
      <dgm:prSet/>
      <dgm:spPr/>
      <dgm:t>
        <a:bodyPr/>
        <a:lstStyle/>
        <a:p>
          <a:r>
            <a:rPr lang="en-US"/>
            <a:t>Programs</a:t>
          </a:r>
        </a:p>
      </dgm:t>
    </dgm:pt>
    <dgm:pt modelId="{0DC926F4-98D0-4545-962F-49B72B416627}" type="parTrans" cxnId="{387B878A-F5F4-8140-984C-740D4FBB8024}">
      <dgm:prSet/>
      <dgm:spPr/>
      <dgm:t>
        <a:bodyPr/>
        <a:lstStyle/>
        <a:p>
          <a:endParaRPr lang="en-US"/>
        </a:p>
      </dgm:t>
    </dgm:pt>
    <dgm:pt modelId="{8973CF40-4D77-D344-BE9B-8DA6EC62A6CB}" type="sibTrans" cxnId="{387B878A-F5F4-8140-984C-740D4FBB8024}">
      <dgm:prSet/>
      <dgm:spPr/>
      <dgm:t>
        <a:bodyPr/>
        <a:lstStyle/>
        <a:p>
          <a:endParaRPr lang="en-US"/>
        </a:p>
      </dgm:t>
    </dgm:pt>
    <dgm:pt modelId="{C6EB54BF-3440-A343-BA63-55E3C54C10A6}">
      <dgm:prSet/>
      <dgm:spPr/>
      <dgm:t>
        <a:bodyPr/>
        <a:lstStyle/>
        <a:p>
          <a:r>
            <a:rPr lang="en-US" b="0"/>
            <a:t>IT industry support program</a:t>
          </a:r>
          <a:endParaRPr lang="en-US"/>
        </a:p>
      </dgm:t>
    </dgm:pt>
    <dgm:pt modelId="{BC008063-F035-4D41-B71E-3B85FF9E208C}" type="parTrans" cxnId="{9D292BE8-60E3-BC47-AF03-144C5811A252}">
      <dgm:prSet/>
      <dgm:spPr/>
      <dgm:t>
        <a:bodyPr/>
        <a:lstStyle/>
        <a:p>
          <a:endParaRPr lang="en-US"/>
        </a:p>
      </dgm:t>
    </dgm:pt>
    <dgm:pt modelId="{722CF609-E123-4E49-B4E2-D4A15CFB667E}" type="sibTrans" cxnId="{9D292BE8-60E3-BC47-AF03-144C5811A252}">
      <dgm:prSet/>
      <dgm:spPr/>
      <dgm:t>
        <a:bodyPr/>
        <a:lstStyle/>
        <a:p>
          <a:endParaRPr lang="en-US"/>
        </a:p>
      </dgm:t>
    </dgm:pt>
    <dgm:pt modelId="{F697B459-B6BF-404B-96A8-A3F548DDE788}">
      <dgm:prSet/>
      <dgm:spPr/>
      <dgm:t>
        <a:bodyPr/>
        <a:lstStyle/>
        <a:p>
          <a:r>
            <a:rPr lang="en-US" b="0"/>
            <a:t>IT Talent Development Program</a:t>
          </a:r>
          <a:endParaRPr lang="en-US"/>
        </a:p>
      </dgm:t>
    </dgm:pt>
    <dgm:pt modelId="{3B6C2B7B-D573-1245-819D-96611297B176}" type="parTrans" cxnId="{860CBF81-3275-5C4E-896F-9418728773A8}">
      <dgm:prSet/>
      <dgm:spPr/>
      <dgm:t>
        <a:bodyPr/>
        <a:lstStyle/>
        <a:p>
          <a:endParaRPr lang="en-US"/>
        </a:p>
      </dgm:t>
    </dgm:pt>
    <dgm:pt modelId="{FDD301A7-A616-A040-8ACC-96BB718FF79F}" type="sibTrans" cxnId="{860CBF81-3275-5C4E-896F-9418728773A8}">
      <dgm:prSet/>
      <dgm:spPr/>
      <dgm:t>
        <a:bodyPr/>
        <a:lstStyle/>
        <a:p>
          <a:endParaRPr lang="en-US"/>
        </a:p>
      </dgm:t>
    </dgm:pt>
    <dgm:pt modelId="{6090B814-C6BB-084A-9232-5BBF3C1FE2AC}">
      <dgm:prSet/>
      <dgm:spPr/>
      <dgm:t>
        <a:bodyPr/>
        <a:lstStyle/>
        <a:p>
          <a:r>
            <a:rPr lang="en-US" b="0"/>
            <a:t>Pakistan Digital Skills Program</a:t>
          </a:r>
          <a:endParaRPr lang="en-US"/>
        </a:p>
      </dgm:t>
    </dgm:pt>
    <dgm:pt modelId="{36EA18B7-6E53-AC46-B5D4-A05A501EF75F}" type="parTrans" cxnId="{02E0CE3B-7C8C-984B-8919-BE326FDA9D40}">
      <dgm:prSet/>
      <dgm:spPr/>
      <dgm:t>
        <a:bodyPr/>
        <a:lstStyle/>
        <a:p>
          <a:endParaRPr lang="en-US"/>
        </a:p>
      </dgm:t>
    </dgm:pt>
    <dgm:pt modelId="{65E4BCF5-919C-9B40-9208-C8FFCD872577}" type="sibTrans" cxnId="{02E0CE3B-7C8C-984B-8919-BE326FDA9D40}">
      <dgm:prSet/>
      <dgm:spPr/>
      <dgm:t>
        <a:bodyPr/>
        <a:lstStyle/>
        <a:p>
          <a:endParaRPr lang="en-US"/>
        </a:p>
      </dgm:t>
    </dgm:pt>
    <dgm:pt modelId="{A40D196F-04AF-1041-832E-DEB2C46DBE48}">
      <dgm:prSet/>
      <dgm:spPr/>
      <dgm:t>
        <a:bodyPr/>
        <a:lstStyle/>
        <a:p>
          <a:r>
            <a:rPr lang="en-US"/>
            <a:t>Initiatives</a:t>
          </a:r>
        </a:p>
      </dgm:t>
    </dgm:pt>
    <dgm:pt modelId="{4B1D0258-A574-E945-BF7A-450C09B19828}" type="parTrans" cxnId="{8547BD2B-1364-514D-9F86-E1CE1B22F5A0}">
      <dgm:prSet/>
      <dgm:spPr/>
      <dgm:t>
        <a:bodyPr/>
        <a:lstStyle/>
        <a:p>
          <a:endParaRPr lang="en-US"/>
        </a:p>
      </dgm:t>
    </dgm:pt>
    <dgm:pt modelId="{F5E3ADD2-2EA0-C34A-B05F-001666CDC24F}" type="sibTrans" cxnId="{8547BD2B-1364-514D-9F86-E1CE1B22F5A0}">
      <dgm:prSet/>
      <dgm:spPr/>
      <dgm:t>
        <a:bodyPr/>
        <a:lstStyle/>
        <a:p>
          <a:endParaRPr lang="en-US"/>
        </a:p>
      </dgm:t>
    </dgm:pt>
    <dgm:pt modelId="{FBE1261D-5DBF-044B-9EFB-E05E4F80E3AC}">
      <dgm:prSet/>
      <dgm:spPr/>
      <dgm:t>
        <a:bodyPr/>
        <a:lstStyle/>
        <a:p>
          <a:r>
            <a:rPr lang="en-US" b="0"/>
            <a:t>Women in IT</a:t>
          </a:r>
          <a:endParaRPr lang="en-US"/>
        </a:p>
      </dgm:t>
    </dgm:pt>
    <dgm:pt modelId="{2D1991B6-108F-664E-B114-EF0ED9EF3BBF}" type="parTrans" cxnId="{C90DB24F-E39C-784F-BFF8-F5A3DC26DD85}">
      <dgm:prSet/>
      <dgm:spPr/>
      <dgm:t>
        <a:bodyPr/>
        <a:lstStyle/>
        <a:p>
          <a:endParaRPr lang="en-US"/>
        </a:p>
      </dgm:t>
    </dgm:pt>
    <dgm:pt modelId="{3DE1FE00-BE5C-B442-922B-A37DDCDE6388}" type="sibTrans" cxnId="{C90DB24F-E39C-784F-BFF8-F5A3DC26DD85}">
      <dgm:prSet/>
      <dgm:spPr/>
      <dgm:t>
        <a:bodyPr/>
        <a:lstStyle/>
        <a:p>
          <a:endParaRPr lang="en-US"/>
        </a:p>
      </dgm:t>
    </dgm:pt>
    <dgm:pt modelId="{ED2D0D08-85B8-8C40-BD48-7BBE63180D5C}">
      <dgm:prSet/>
      <dgm:spPr/>
      <dgm:t>
        <a:bodyPr/>
        <a:lstStyle/>
        <a:p>
          <a:r>
            <a:rPr lang="en-US" b="0"/>
            <a:t>IT Export Awards</a:t>
          </a:r>
          <a:endParaRPr lang="en-US"/>
        </a:p>
      </dgm:t>
    </dgm:pt>
    <dgm:pt modelId="{55923E78-12CA-924B-A4C1-3FB1300C69EF}" type="parTrans" cxnId="{B9898979-DDFA-454D-A0A6-7F6E57DA0743}">
      <dgm:prSet/>
      <dgm:spPr/>
      <dgm:t>
        <a:bodyPr/>
        <a:lstStyle/>
        <a:p>
          <a:endParaRPr lang="en-US"/>
        </a:p>
      </dgm:t>
    </dgm:pt>
    <dgm:pt modelId="{9EFE8410-AFD8-8B44-BC25-5E56DB660DC7}" type="sibTrans" cxnId="{B9898979-DDFA-454D-A0A6-7F6E57DA0743}">
      <dgm:prSet/>
      <dgm:spPr/>
      <dgm:t>
        <a:bodyPr/>
        <a:lstStyle/>
        <a:p>
          <a:endParaRPr lang="en-US"/>
        </a:p>
      </dgm:t>
    </dgm:pt>
    <dgm:pt modelId="{56B429C4-E65B-9740-B67F-23CEC0A8143F}" type="pres">
      <dgm:prSet presAssocID="{94AD4980-5B8B-0F4D-95CD-C33440E5CD09}" presName="Name0" presStyleCnt="0">
        <dgm:presLayoutVars>
          <dgm:dir/>
          <dgm:animLvl val="lvl"/>
          <dgm:resizeHandles val="exact"/>
        </dgm:presLayoutVars>
      </dgm:prSet>
      <dgm:spPr/>
    </dgm:pt>
    <dgm:pt modelId="{32AAE505-B799-514B-874A-53DEC4ABEA8A}" type="pres">
      <dgm:prSet presAssocID="{12BAC6E2-3441-8145-9044-FD313E47811C}" presName="linNode" presStyleCnt="0"/>
      <dgm:spPr/>
    </dgm:pt>
    <dgm:pt modelId="{3A18A319-FBDD-8248-A356-E1A3239B1912}" type="pres">
      <dgm:prSet presAssocID="{12BAC6E2-3441-8145-9044-FD313E47811C}" presName="parentText" presStyleLbl="node1" presStyleIdx="0" presStyleCnt="2">
        <dgm:presLayoutVars>
          <dgm:chMax val="1"/>
          <dgm:bulletEnabled val="1"/>
        </dgm:presLayoutVars>
      </dgm:prSet>
      <dgm:spPr/>
    </dgm:pt>
    <dgm:pt modelId="{B0565433-C80A-424C-BBC0-2AE85B943392}" type="pres">
      <dgm:prSet presAssocID="{12BAC6E2-3441-8145-9044-FD313E47811C}" presName="descendantText" presStyleLbl="alignAccFollowNode1" presStyleIdx="0" presStyleCnt="2">
        <dgm:presLayoutVars>
          <dgm:bulletEnabled val="1"/>
        </dgm:presLayoutVars>
      </dgm:prSet>
      <dgm:spPr/>
    </dgm:pt>
    <dgm:pt modelId="{D4ED093B-4315-6E48-B646-93DB2267FAB8}" type="pres">
      <dgm:prSet presAssocID="{8973CF40-4D77-D344-BE9B-8DA6EC62A6CB}" presName="sp" presStyleCnt="0"/>
      <dgm:spPr/>
    </dgm:pt>
    <dgm:pt modelId="{5FE3701D-31BF-804C-B80A-B96427D850A5}" type="pres">
      <dgm:prSet presAssocID="{A40D196F-04AF-1041-832E-DEB2C46DBE48}" presName="linNode" presStyleCnt="0"/>
      <dgm:spPr/>
    </dgm:pt>
    <dgm:pt modelId="{5FFADF82-57E6-AE45-A7DD-ECE619ACF8BD}" type="pres">
      <dgm:prSet presAssocID="{A40D196F-04AF-1041-832E-DEB2C46DBE48}" presName="parentText" presStyleLbl="node1" presStyleIdx="1" presStyleCnt="2">
        <dgm:presLayoutVars>
          <dgm:chMax val="1"/>
          <dgm:bulletEnabled val="1"/>
        </dgm:presLayoutVars>
      </dgm:prSet>
      <dgm:spPr/>
    </dgm:pt>
    <dgm:pt modelId="{166A3165-13A1-3E4C-8CA5-C170884B2A4C}" type="pres">
      <dgm:prSet presAssocID="{A40D196F-04AF-1041-832E-DEB2C46DBE48}" presName="descendantText" presStyleLbl="alignAccFollowNode1" presStyleIdx="1" presStyleCnt="2">
        <dgm:presLayoutVars>
          <dgm:bulletEnabled val="1"/>
        </dgm:presLayoutVars>
      </dgm:prSet>
      <dgm:spPr/>
    </dgm:pt>
  </dgm:ptLst>
  <dgm:cxnLst>
    <dgm:cxn modelId="{8547BD2B-1364-514D-9F86-E1CE1B22F5A0}" srcId="{94AD4980-5B8B-0F4D-95CD-C33440E5CD09}" destId="{A40D196F-04AF-1041-832E-DEB2C46DBE48}" srcOrd="1" destOrd="0" parTransId="{4B1D0258-A574-E945-BF7A-450C09B19828}" sibTransId="{F5E3ADD2-2EA0-C34A-B05F-001666CDC24F}"/>
    <dgm:cxn modelId="{02E0CE3B-7C8C-984B-8919-BE326FDA9D40}" srcId="{12BAC6E2-3441-8145-9044-FD313E47811C}" destId="{6090B814-C6BB-084A-9232-5BBF3C1FE2AC}" srcOrd="2" destOrd="0" parTransId="{36EA18B7-6E53-AC46-B5D4-A05A501EF75F}" sibTransId="{65E4BCF5-919C-9B40-9208-C8FFCD872577}"/>
    <dgm:cxn modelId="{C88FF948-A806-2D43-B9B9-9182D307D181}" type="presOf" srcId="{94AD4980-5B8B-0F4D-95CD-C33440E5CD09}" destId="{56B429C4-E65B-9740-B67F-23CEC0A8143F}" srcOrd="0" destOrd="0" presId="urn:microsoft.com/office/officeart/2005/8/layout/vList5"/>
    <dgm:cxn modelId="{E5D6616B-BCBA-9941-8D49-6719FC4EFF75}" type="presOf" srcId="{FBE1261D-5DBF-044B-9EFB-E05E4F80E3AC}" destId="{166A3165-13A1-3E4C-8CA5-C170884B2A4C}" srcOrd="0" destOrd="0" presId="urn:microsoft.com/office/officeart/2005/8/layout/vList5"/>
    <dgm:cxn modelId="{CD61AB6E-F5CB-1548-B80E-DEDB53CE4117}" type="presOf" srcId="{C6EB54BF-3440-A343-BA63-55E3C54C10A6}" destId="{B0565433-C80A-424C-BBC0-2AE85B943392}" srcOrd="0" destOrd="0" presId="urn:microsoft.com/office/officeart/2005/8/layout/vList5"/>
    <dgm:cxn modelId="{C90DB24F-E39C-784F-BFF8-F5A3DC26DD85}" srcId="{A40D196F-04AF-1041-832E-DEB2C46DBE48}" destId="{FBE1261D-5DBF-044B-9EFB-E05E4F80E3AC}" srcOrd="0" destOrd="0" parTransId="{2D1991B6-108F-664E-B114-EF0ED9EF3BBF}" sibTransId="{3DE1FE00-BE5C-B442-922B-A37DDCDE6388}"/>
    <dgm:cxn modelId="{B9898979-DDFA-454D-A0A6-7F6E57DA0743}" srcId="{A40D196F-04AF-1041-832E-DEB2C46DBE48}" destId="{ED2D0D08-85B8-8C40-BD48-7BBE63180D5C}" srcOrd="1" destOrd="0" parTransId="{55923E78-12CA-924B-A4C1-3FB1300C69EF}" sibTransId="{9EFE8410-AFD8-8B44-BC25-5E56DB660DC7}"/>
    <dgm:cxn modelId="{860CBF81-3275-5C4E-896F-9418728773A8}" srcId="{12BAC6E2-3441-8145-9044-FD313E47811C}" destId="{F697B459-B6BF-404B-96A8-A3F548DDE788}" srcOrd="1" destOrd="0" parTransId="{3B6C2B7B-D573-1245-819D-96611297B176}" sibTransId="{FDD301A7-A616-A040-8ACC-96BB718FF79F}"/>
    <dgm:cxn modelId="{387B878A-F5F4-8140-984C-740D4FBB8024}" srcId="{94AD4980-5B8B-0F4D-95CD-C33440E5CD09}" destId="{12BAC6E2-3441-8145-9044-FD313E47811C}" srcOrd="0" destOrd="0" parTransId="{0DC926F4-98D0-4545-962F-49B72B416627}" sibTransId="{8973CF40-4D77-D344-BE9B-8DA6EC62A6CB}"/>
    <dgm:cxn modelId="{78058C96-7EE5-CE4D-93F2-AD74D9615540}" type="presOf" srcId="{ED2D0D08-85B8-8C40-BD48-7BBE63180D5C}" destId="{166A3165-13A1-3E4C-8CA5-C170884B2A4C}" srcOrd="0" destOrd="1" presId="urn:microsoft.com/office/officeart/2005/8/layout/vList5"/>
    <dgm:cxn modelId="{1C75C298-E8DE-FD49-80B6-D42BDD7D4776}" type="presOf" srcId="{6090B814-C6BB-084A-9232-5BBF3C1FE2AC}" destId="{B0565433-C80A-424C-BBC0-2AE85B943392}" srcOrd="0" destOrd="2" presId="urn:microsoft.com/office/officeart/2005/8/layout/vList5"/>
    <dgm:cxn modelId="{9C94E0A6-BD08-9149-9644-13700C90ECDE}" type="presOf" srcId="{F697B459-B6BF-404B-96A8-A3F548DDE788}" destId="{B0565433-C80A-424C-BBC0-2AE85B943392}" srcOrd="0" destOrd="1" presId="urn:microsoft.com/office/officeart/2005/8/layout/vList5"/>
    <dgm:cxn modelId="{DA201FE4-1C45-8948-98E9-09F9A2633C48}" type="presOf" srcId="{12BAC6E2-3441-8145-9044-FD313E47811C}" destId="{3A18A319-FBDD-8248-A356-E1A3239B1912}" srcOrd="0" destOrd="0" presId="urn:microsoft.com/office/officeart/2005/8/layout/vList5"/>
    <dgm:cxn modelId="{9D292BE8-60E3-BC47-AF03-144C5811A252}" srcId="{12BAC6E2-3441-8145-9044-FD313E47811C}" destId="{C6EB54BF-3440-A343-BA63-55E3C54C10A6}" srcOrd="0" destOrd="0" parTransId="{BC008063-F035-4D41-B71E-3B85FF9E208C}" sibTransId="{722CF609-E123-4E49-B4E2-D4A15CFB667E}"/>
    <dgm:cxn modelId="{0EBBB6F3-FD76-964A-858F-2E960FB26081}" type="presOf" srcId="{A40D196F-04AF-1041-832E-DEB2C46DBE48}" destId="{5FFADF82-57E6-AE45-A7DD-ECE619ACF8BD}" srcOrd="0" destOrd="0" presId="urn:microsoft.com/office/officeart/2005/8/layout/vList5"/>
    <dgm:cxn modelId="{96BA7A50-2242-904E-8678-678A4D665AE5}" type="presParOf" srcId="{56B429C4-E65B-9740-B67F-23CEC0A8143F}" destId="{32AAE505-B799-514B-874A-53DEC4ABEA8A}" srcOrd="0" destOrd="0" presId="urn:microsoft.com/office/officeart/2005/8/layout/vList5"/>
    <dgm:cxn modelId="{A4315AF2-FD64-D044-B7BE-35248290788B}" type="presParOf" srcId="{32AAE505-B799-514B-874A-53DEC4ABEA8A}" destId="{3A18A319-FBDD-8248-A356-E1A3239B1912}" srcOrd="0" destOrd="0" presId="urn:microsoft.com/office/officeart/2005/8/layout/vList5"/>
    <dgm:cxn modelId="{83427A69-20FE-E746-9C18-4B324F74881A}" type="presParOf" srcId="{32AAE505-B799-514B-874A-53DEC4ABEA8A}" destId="{B0565433-C80A-424C-BBC0-2AE85B943392}" srcOrd="1" destOrd="0" presId="urn:microsoft.com/office/officeart/2005/8/layout/vList5"/>
    <dgm:cxn modelId="{E8A88F56-0EE1-3C43-B68D-36352A922A50}" type="presParOf" srcId="{56B429C4-E65B-9740-B67F-23CEC0A8143F}" destId="{D4ED093B-4315-6E48-B646-93DB2267FAB8}" srcOrd="1" destOrd="0" presId="urn:microsoft.com/office/officeart/2005/8/layout/vList5"/>
    <dgm:cxn modelId="{CC8DC48F-67E7-F54F-B985-A4FFD81ED2C6}" type="presParOf" srcId="{56B429C4-E65B-9740-B67F-23CEC0A8143F}" destId="{5FE3701D-31BF-804C-B80A-B96427D850A5}" srcOrd="2" destOrd="0" presId="urn:microsoft.com/office/officeart/2005/8/layout/vList5"/>
    <dgm:cxn modelId="{54FC9F9D-9686-5642-983D-EEAB90EB0D33}" type="presParOf" srcId="{5FE3701D-31BF-804C-B80A-B96427D850A5}" destId="{5FFADF82-57E6-AE45-A7DD-ECE619ACF8BD}" srcOrd="0" destOrd="0" presId="urn:microsoft.com/office/officeart/2005/8/layout/vList5"/>
    <dgm:cxn modelId="{FB002C71-95C5-764A-BB6F-A9073C644D61}" type="presParOf" srcId="{5FE3701D-31BF-804C-B80A-B96427D850A5}" destId="{166A3165-13A1-3E4C-8CA5-C170884B2A4C}"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74B2B2A-4D33-F44E-9AA5-44CA96BD49FE}"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US"/>
        </a:p>
      </dgm:t>
    </dgm:pt>
    <dgm:pt modelId="{0AF88D1D-C711-304B-AEAC-715917FAA1AE}">
      <dgm:prSet/>
      <dgm:spPr/>
      <dgm:t>
        <a:bodyPr/>
        <a:lstStyle/>
        <a:p>
          <a:r>
            <a:rPr lang="en-US" b="1" u="sng" dirty="0">
              <a:latin typeface="Times New Roman" panose="02020603050405020304" pitchFamily="18" charset="0"/>
              <a:cs typeface="Times New Roman" panose="02020603050405020304" pitchFamily="18" charset="0"/>
            </a:rPr>
            <a:t>PSEB stakeholders </a:t>
          </a:r>
        </a:p>
      </dgm:t>
    </dgm:pt>
    <dgm:pt modelId="{9FD93191-6347-9C46-98C3-FA1D4B1604CB}" type="parTrans" cxnId="{651BFCEA-C7BE-1640-AAAD-5CDB98AA65F3}">
      <dgm:prSet/>
      <dgm:spPr/>
      <dgm:t>
        <a:bodyPr/>
        <a:lstStyle/>
        <a:p>
          <a:endParaRPr lang="en-US"/>
        </a:p>
      </dgm:t>
    </dgm:pt>
    <dgm:pt modelId="{8C3ABD4B-FD9B-B248-8581-50641C585F35}" type="sibTrans" cxnId="{651BFCEA-C7BE-1640-AAAD-5CDB98AA65F3}">
      <dgm:prSet/>
      <dgm:spPr/>
      <dgm:t>
        <a:bodyPr/>
        <a:lstStyle/>
        <a:p>
          <a:endParaRPr lang="en-US"/>
        </a:p>
      </dgm:t>
    </dgm:pt>
    <dgm:pt modelId="{BB371736-20D9-5A4C-9B19-7D75C8E4E3A6}">
      <dgm:prSet/>
      <dgm:spPr/>
      <dgm:t>
        <a:bodyPr/>
        <a:lstStyle/>
        <a:p>
          <a:r>
            <a:rPr lang="en-US" dirty="0">
              <a:latin typeface="Times New Roman" panose="02020603050405020304" pitchFamily="18" charset="0"/>
              <a:cs typeface="Times New Roman" panose="02020603050405020304" pitchFamily="18" charset="0"/>
            </a:rPr>
            <a:t>IT companies</a:t>
          </a:r>
        </a:p>
      </dgm:t>
    </dgm:pt>
    <dgm:pt modelId="{AF3FE9DD-76BB-EE4F-A072-0E24D7684469}" type="parTrans" cxnId="{72692ECA-9FF9-5246-83A1-CCABFDB368EA}">
      <dgm:prSet/>
      <dgm:spPr/>
      <dgm:t>
        <a:bodyPr/>
        <a:lstStyle/>
        <a:p>
          <a:endParaRPr lang="en-US"/>
        </a:p>
      </dgm:t>
    </dgm:pt>
    <dgm:pt modelId="{9F301EDD-B56B-0948-9A73-04FC53FAE004}" type="sibTrans" cxnId="{72692ECA-9FF9-5246-83A1-CCABFDB368EA}">
      <dgm:prSet/>
      <dgm:spPr/>
      <dgm:t>
        <a:bodyPr/>
        <a:lstStyle/>
        <a:p>
          <a:endParaRPr lang="en-US"/>
        </a:p>
      </dgm:t>
    </dgm:pt>
    <dgm:pt modelId="{91522B86-7781-F949-A001-F0C60E0D000C}">
      <dgm:prSet/>
      <dgm:spPr/>
      <dgm:t>
        <a:bodyPr/>
        <a:lstStyle/>
        <a:p>
          <a:r>
            <a:rPr lang="en-US">
              <a:latin typeface="Times New Roman" panose="02020603050405020304" pitchFamily="18" charset="0"/>
              <a:cs typeface="Times New Roman" panose="02020603050405020304" pitchFamily="18" charset="0"/>
            </a:rPr>
            <a:t>Professionals</a:t>
          </a:r>
        </a:p>
      </dgm:t>
    </dgm:pt>
    <dgm:pt modelId="{2662CE36-C560-1743-A7D5-D54A949A4BEB}" type="parTrans" cxnId="{00DAC940-0831-0742-854D-740A3B3C3B02}">
      <dgm:prSet/>
      <dgm:spPr/>
      <dgm:t>
        <a:bodyPr/>
        <a:lstStyle/>
        <a:p>
          <a:endParaRPr lang="en-US"/>
        </a:p>
      </dgm:t>
    </dgm:pt>
    <dgm:pt modelId="{A5DA20B7-93C5-0546-AF16-825F77C6668C}" type="sibTrans" cxnId="{00DAC940-0831-0742-854D-740A3B3C3B02}">
      <dgm:prSet/>
      <dgm:spPr/>
      <dgm:t>
        <a:bodyPr/>
        <a:lstStyle/>
        <a:p>
          <a:endParaRPr lang="en-US"/>
        </a:p>
      </dgm:t>
    </dgm:pt>
    <dgm:pt modelId="{274D37E3-F062-4749-A1AF-4B8D8CBB5812}">
      <dgm:prSet/>
      <dgm:spPr/>
      <dgm:t>
        <a:bodyPr/>
        <a:lstStyle/>
        <a:p>
          <a:r>
            <a:rPr lang="en-US" dirty="0">
              <a:latin typeface="Times New Roman" panose="02020603050405020304" pitchFamily="18" charset="0"/>
              <a:cs typeface="Times New Roman" panose="02020603050405020304" pitchFamily="18" charset="0"/>
            </a:rPr>
            <a:t>Government</a:t>
          </a:r>
        </a:p>
      </dgm:t>
    </dgm:pt>
    <dgm:pt modelId="{34872123-16FD-A441-9E82-2B49A5FC210B}" type="parTrans" cxnId="{E940E84D-7D36-A745-B8A2-9BD73D8F408A}">
      <dgm:prSet/>
      <dgm:spPr/>
      <dgm:t>
        <a:bodyPr/>
        <a:lstStyle/>
        <a:p>
          <a:endParaRPr lang="en-US"/>
        </a:p>
      </dgm:t>
    </dgm:pt>
    <dgm:pt modelId="{46D0E6D6-BB7E-7647-A4A4-F49A9FF8BB9C}" type="sibTrans" cxnId="{E940E84D-7D36-A745-B8A2-9BD73D8F408A}">
      <dgm:prSet/>
      <dgm:spPr/>
      <dgm:t>
        <a:bodyPr/>
        <a:lstStyle/>
        <a:p>
          <a:endParaRPr lang="en-US"/>
        </a:p>
      </dgm:t>
    </dgm:pt>
    <dgm:pt modelId="{9417BA1E-C39B-9C4F-9CF9-45A34C59C19C}">
      <dgm:prSet/>
      <dgm:spPr/>
      <dgm:t>
        <a:bodyPr/>
        <a:lstStyle/>
        <a:p>
          <a:r>
            <a:rPr lang="en-US" dirty="0">
              <a:latin typeface="Times New Roman" panose="02020603050405020304" pitchFamily="18" charset="0"/>
              <a:cs typeface="Times New Roman" panose="02020603050405020304" pitchFamily="18" charset="0"/>
            </a:rPr>
            <a:t>Educational institutions</a:t>
          </a:r>
        </a:p>
      </dgm:t>
    </dgm:pt>
    <dgm:pt modelId="{A481D617-AF03-3143-A34B-77AC272E1EB4}" type="parTrans" cxnId="{F0B8AABE-4A58-9446-A9E2-0EEC8861C6B1}">
      <dgm:prSet/>
      <dgm:spPr/>
      <dgm:t>
        <a:bodyPr/>
        <a:lstStyle/>
        <a:p>
          <a:endParaRPr lang="en-US"/>
        </a:p>
      </dgm:t>
    </dgm:pt>
    <dgm:pt modelId="{169FEF98-A10E-A447-91B6-58FC9B368B00}" type="sibTrans" cxnId="{F0B8AABE-4A58-9446-A9E2-0EEC8861C6B1}">
      <dgm:prSet/>
      <dgm:spPr/>
      <dgm:t>
        <a:bodyPr/>
        <a:lstStyle/>
        <a:p>
          <a:endParaRPr lang="en-US"/>
        </a:p>
      </dgm:t>
    </dgm:pt>
    <dgm:pt modelId="{6BB71E70-946C-2E4B-8814-EDA34FF587C6}">
      <dgm:prSet/>
      <dgm:spPr/>
      <dgm:t>
        <a:bodyPr/>
        <a:lstStyle/>
        <a:p>
          <a:r>
            <a:rPr lang="en-US" dirty="0">
              <a:latin typeface="Times New Roman" panose="02020603050405020304" pitchFamily="18" charset="0"/>
              <a:cs typeface="Times New Roman" panose="02020603050405020304" pitchFamily="18" charset="0"/>
            </a:rPr>
            <a:t>Investors</a:t>
          </a:r>
        </a:p>
      </dgm:t>
    </dgm:pt>
    <dgm:pt modelId="{C4D2921F-90B7-AA4F-B9BB-70CA3E799B2B}" type="parTrans" cxnId="{6D6D8B3C-1F82-414C-9673-529C2DE427E4}">
      <dgm:prSet/>
      <dgm:spPr/>
      <dgm:t>
        <a:bodyPr/>
        <a:lstStyle/>
        <a:p>
          <a:endParaRPr lang="en-US"/>
        </a:p>
      </dgm:t>
    </dgm:pt>
    <dgm:pt modelId="{99E03D0B-E586-D84C-8459-A3B4B4EE2DD9}" type="sibTrans" cxnId="{6D6D8B3C-1F82-414C-9673-529C2DE427E4}">
      <dgm:prSet/>
      <dgm:spPr/>
      <dgm:t>
        <a:bodyPr/>
        <a:lstStyle/>
        <a:p>
          <a:endParaRPr lang="en-US"/>
        </a:p>
      </dgm:t>
    </dgm:pt>
    <dgm:pt modelId="{1F3C06BE-84B3-8740-9449-955C0F435F4F}">
      <dgm:prSet/>
      <dgm:spPr/>
      <dgm:t>
        <a:bodyPr/>
        <a:lstStyle/>
        <a:p>
          <a:r>
            <a:rPr lang="en-US" dirty="0">
              <a:latin typeface="Times New Roman" panose="02020603050405020304" pitchFamily="18" charset="0"/>
              <a:cs typeface="Times New Roman" panose="02020603050405020304" pitchFamily="18" charset="0"/>
            </a:rPr>
            <a:t>End-users</a:t>
          </a:r>
        </a:p>
      </dgm:t>
    </dgm:pt>
    <dgm:pt modelId="{7B896DC7-1872-4E41-B93D-B232F06A7E67}" type="parTrans" cxnId="{2973F05D-586D-D446-B82A-3ED201FA8B56}">
      <dgm:prSet/>
      <dgm:spPr/>
      <dgm:t>
        <a:bodyPr/>
        <a:lstStyle/>
        <a:p>
          <a:endParaRPr lang="en-US"/>
        </a:p>
      </dgm:t>
    </dgm:pt>
    <dgm:pt modelId="{888E2B89-81CF-2140-BA07-7396410225C4}" type="sibTrans" cxnId="{2973F05D-586D-D446-B82A-3ED201FA8B56}">
      <dgm:prSet/>
      <dgm:spPr/>
      <dgm:t>
        <a:bodyPr/>
        <a:lstStyle/>
        <a:p>
          <a:endParaRPr lang="en-US"/>
        </a:p>
      </dgm:t>
    </dgm:pt>
    <dgm:pt modelId="{92CCA918-8BFB-BB42-BFF1-054B58E30F26}">
      <dgm:prSet/>
      <dgm:spPr/>
      <dgm:t>
        <a:bodyPr/>
        <a:lstStyle/>
        <a:p>
          <a:r>
            <a:rPr lang="en-US" dirty="0">
              <a:latin typeface="Times New Roman" panose="02020603050405020304" pitchFamily="18" charset="0"/>
              <a:cs typeface="Times New Roman" panose="02020603050405020304" pitchFamily="18" charset="0"/>
            </a:rPr>
            <a:t>Partner organizations</a:t>
          </a:r>
        </a:p>
      </dgm:t>
    </dgm:pt>
    <dgm:pt modelId="{6F739781-F197-554C-9619-F9D618825384}" type="parTrans" cxnId="{C3339364-0993-894E-A884-071229A3C3A1}">
      <dgm:prSet/>
      <dgm:spPr/>
      <dgm:t>
        <a:bodyPr/>
        <a:lstStyle/>
        <a:p>
          <a:endParaRPr lang="en-US"/>
        </a:p>
      </dgm:t>
    </dgm:pt>
    <dgm:pt modelId="{5E0BBACC-3CEC-8947-80D3-4EBC937A2B2D}" type="sibTrans" cxnId="{C3339364-0993-894E-A884-071229A3C3A1}">
      <dgm:prSet/>
      <dgm:spPr/>
      <dgm:t>
        <a:bodyPr/>
        <a:lstStyle/>
        <a:p>
          <a:endParaRPr lang="en-US"/>
        </a:p>
      </dgm:t>
    </dgm:pt>
    <dgm:pt modelId="{99DF2C10-CEAC-8D4B-80CE-D6E4D3AE26A1}">
      <dgm:prSet/>
      <dgm:spPr/>
      <dgm:t>
        <a:bodyPr/>
        <a:lstStyle/>
        <a:p>
          <a:r>
            <a:rPr lang="en-US" dirty="0">
              <a:latin typeface="Times New Roman" panose="02020603050405020304" pitchFamily="18" charset="0"/>
              <a:cs typeface="Times New Roman" panose="02020603050405020304" pitchFamily="18" charset="0"/>
            </a:rPr>
            <a:t>Media.</a:t>
          </a:r>
        </a:p>
      </dgm:t>
    </dgm:pt>
    <dgm:pt modelId="{BDF3A070-436B-6A4C-ABA9-8F8340CA004B}" type="parTrans" cxnId="{A60DE2E3-9EF3-B04C-BEA7-244CBD6AF994}">
      <dgm:prSet/>
      <dgm:spPr/>
      <dgm:t>
        <a:bodyPr/>
        <a:lstStyle/>
        <a:p>
          <a:endParaRPr lang="en-US"/>
        </a:p>
      </dgm:t>
    </dgm:pt>
    <dgm:pt modelId="{67109C6F-C9F2-0341-BBC6-A1464AA185EF}" type="sibTrans" cxnId="{A60DE2E3-9EF3-B04C-BEA7-244CBD6AF994}">
      <dgm:prSet/>
      <dgm:spPr/>
      <dgm:t>
        <a:bodyPr/>
        <a:lstStyle/>
        <a:p>
          <a:endParaRPr lang="en-US"/>
        </a:p>
      </dgm:t>
    </dgm:pt>
    <dgm:pt modelId="{D3947FB4-B7CE-8B4F-B591-94C143E16AF7}" type="pres">
      <dgm:prSet presAssocID="{574B2B2A-4D33-F44E-9AA5-44CA96BD49FE}" presName="linearFlow" presStyleCnt="0">
        <dgm:presLayoutVars>
          <dgm:dir/>
          <dgm:resizeHandles val="exact"/>
        </dgm:presLayoutVars>
      </dgm:prSet>
      <dgm:spPr/>
    </dgm:pt>
    <dgm:pt modelId="{B9B3449E-1468-9D41-8A16-B04FC8A6F0AE}" type="pres">
      <dgm:prSet presAssocID="{0AF88D1D-C711-304B-AEAC-715917FAA1AE}" presName="composite" presStyleCnt="0"/>
      <dgm:spPr/>
    </dgm:pt>
    <dgm:pt modelId="{61626BAA-E988-A446-A31D-0DD173496DE4}" type="pres">
      <dgm:prSet presAssocID="{0AF88D1D-C711-304B-AEAC-715917FAA1AE}" presName="imgShp" presStyleLbl="fgImgPlace1" presStyleIdx="0" presStyleCnt="1"/>
      <dgm:spPr>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dgm:spPr>
    </dgm:pt>
    <dgm:pt modelId="{0B3A3358-FACB-024B-8C2A-9BB840067E0D}" type="pres">
      <dgm:prSet presAssocID="{0AF88D1D-C711-304B-AEAC-715917FAA1AE}" presName="txShp" presStyleLbl="node1" presStyleIdx="0" presStyleCnt="1" custLinFactNeighborX="-340" custLinFactNeighborY="674">
        <dgm:presLayoutVars>
          <dgm:bulletEnabled val="1"/>
        </dgm:presLayoutVars>
      </dgm:prSet>
      <dgm:spPr/>
    </dgm:pt>
  </dgm:ptLst>
  <dgm:cxnLst>
    <dgm:cxn modelId="{5120B101-D649-9A4F-BB16-76D0A63667D4}" type="presOf" srcId="{BB371736-20D9-5A4C-9B19-7D75C8E4E3A6}" destId="{0B3A3358-FACB-024B-8C2A-9BB840067E0D}" srcOrd="0" destOrd="1" presId="urn:microsoft.com/office/officeart/2005/8/layout/vList3"/>
    <dgm:cxn modelId="{6765A612-C74F-F34C-B267-B75FDCB4B3E9}" type="presOf" srcId="{274D37E3-F062-4749-A1AF-4B8D8CBB5812}" destId="{0B3A3358-FACB-024B-8C2A-9BB840067E0D}" srcOrd="0" destOrd="3" presId="urn:microsoft.com/office/officeart/2005/8/layout/vList3"/>
    <dgm:cxn modelId="{2CCB0E17-76D9-B748-B93C-828A1DC26178}" type="presOf" srcId="{574B2B2A-4D33-F44E-9AA5-44CA96BD49FE}" destId="{D3947FB4-B7CE-8B4F-B591-94C143E16AF7}" srcOrd="0" destOrd="0" presId="urn:microsoft.com/office/officeart/2005/8/layout/vList3"/>
    <dgm:cxn modelId="{5E7B0421-3F3A-414F-A208-9FE27D9708B3}" type="presOf" srcId="{9417BA1E-C39B-9C4F-9CF9-45A34C59C19C}" destId="{0B3A3358-FACB-024B-8C2A-9BB840067E0D}" srcOrd="0" destOrd="4" presId="urn:microsoft.com/office/officeart/2005/8/layout/vList3"/>
    <dgm:cxn modelId="{364E6822-9D25-6D4C-9730-E4F1E2A20132}" type="presOf" srcId="{0AF88D1D-C711-304B-AEAC-715917FAA1AE}" destId="{0B3A3358-FACB-024B-8C2A-9BB840067E0D}" srcOrd="0" destOrd="0" presId="urn:microsoft.com/office/officeart/2005/8/layout/vList3"/>
    <dgm:cxn modelId="{6D6D8B3C-1F82-414C-9673-529C2DE427E4}" srcId="{0AF88D1D-C711-304B-AEAC-715917FAA1AE}" destId="{6BB71E70-946C-2E4B-8814-EDA34FF587C6}" srcOrd="4" destOrd="0" parTransId="{C4D2921F-90B7-AA4F-B9BB-70CA3E799B2B}" sibTransId="{99E03D0B-E586-D84C-8459-A3B4B4EE2DD9}"/>
    <dgm:cxn modelId="{00DAC940-0831-0742-854D-740A3B3C3B02}" srcId="{0AF88D1D-C711-304B-AEAC-715917FAA1AE}" destId="{91522B86-7781-F949-A001-F0C60E0D000C}" srcOrd="1" destOrd="0" parTransId="{2662CE36-C560-1743-A7D5-D54A949A4BEB}" sibTransId="{A5DA20B7-93C5-0546-AF16-825F77C6668C}"/>
    <dgm:cxn modelId="{2973F05D-586D-D446-B82A-3ED201FA8B56}" srcId="{0AF88D1D-C711-304B-AEAC-715917FAA1AE}" destId="{1F3C06BE-84B3-8740-9449-955C0F435F4F}" srcOrd="5" destOrd="0" parTransId="{7B896DC7-1872-4E41-B93D-B232F06A7E67}" sibTransId="{888E2B89-81CF-2140-BA07-7396410225C4}"/>
    <dgm:cxn modelId="{F5E05461-2051-784C-B0B9-9796E5521320}" type="presOf" srcId="{1F3C06BE-84B3-8740-9449-955C0F435F4F}" destId="{0B3A3358-FACB-024B-8C2A-9BB840067E0D}" srcOrd="0" destOrd="6" presId="urn:microsoft.com/office/officeart/2005/8/layout/vList3"/>
    <dgm:cxn modelId="{C3339364-0993-894E-A884-071229A3C3A1}" srcId="{0AF88D1D-C711-304B-AEAC-715917FAA1AE}" destId="{92CCA918-8BFB-BB42-BFF1-054B58E30F26}" srcOrd="6" destOrd="0" parTransId="{6F739781-F197-554C-9619-F9D618825384}" sibTransId="{5E0BBACC-3CEC-8947-80D3-4EBC937A2B2D}"/>
    <dgm:cxn modelId="{1C05AB65-185F-6149-B4B1-E3D3F529BC53}" type="presOf" srcId="{99DF2C10-CEAC-8D4B-80CE-D6E4D3AE26A1}" destId="{0B3A3358-FACB-024B-8C2A-9BB840067E0D}" srcOrd="0" destOrd="8" presId="urn:microsoft.com/office/officeart/2005/8/layout/vList3"/>
    <dgm:cxn modelId="{E940E84D-7D36-A745-B8A2-9BD73D8F408A}" srcId="{0AF88D1D-C711-304B-AEAC-715917FAA1AE}" destId="{274D37E3-F062-4749-A1AF-4B8D8CBB5812}" srcOrd="2" destOrd="0" parTransId="{34872123-16FD-A441-9E82-2B49A5FC210B}" sibTransId="{46D0E6D6-BB7E-7647-A4A4-F49A9FF8BB9C}"/>
    <dgm:cxn modelId="{0B58E98D-0D80-3C41-8A9C-184E0547FCBB}" type="presOf" srcId="{6BB71E70-946C-2E4B-8814-EDA34FF587C6}" destId="{0B3A3358-FACB-024B-8C2A-9BB840067E0D}" srcOrd="0" destOrd="5" presId="urn:microsoft.com/office/officeart/2005/8/layout/vList3"/>
    <dgm:cxn modelId="{E8AD7697-ECBC-B349-8410-CBF94C101CEB}" type="presOf" srcId="{92CCA918-8BFB-BB42-BFF1-054B58E30F26}" destId="{0B3A3358-FACB-024B-8C2A-9BB840067E0D}" srcOrd="0" destOrd="7" presId="urn:microsoft.com/office/officeart/2005/8/layout/vList3"/>
    <dgm:cxn modelId="{4790D7B6-7468-EC47-8A83-474E6DD963CF}" type="presOf" srcId="{91522B86-7781-F949-A001-F0C60E0D000C}" destId="{0B3A3358-FACB-024B-8C2A-9BB840067E0D}" srcOrd="0" destOrd="2" presId="urn:microsoft.com/office/officeart/2005/8/layout/vList3"/>
    <dgm:cxn modelId="{F0B8AABE-4A58-9446-A9E2-0EEC8861C6B1}" srcId="{0AF88D1D-C711-304B-AEAC-715917FAA1AE}" destId="{9417BA1E-C39B-9C4F-9CF9-45A34C59C19C}" srcOrd="3" destOrd="0" parTransId="{A481D617-AF03-3143-A34B-77AC272E1EB4}" sibTransId="{169FEF98-A10E-A447-91B6-58FC9B368B00}"/>
    <dgm:cxn modelId="{72692ECA-9FF9-5246-83A1-CCABFDB368EA}" srcId="{0AF88D1D-C711-304B-AEAC-715917FAA1AE}" destId="{BB371736-20D9-5A4C-9B19-7D75C8E4E3A6}" srcOrd="0" destOrd="0" parTransId="{AF3FE9DD-76BB-EE4F-A072-0E24D7684469}" sibTransId="{9F301EDD-B56B-0948-9A73-04FC53FAE004}"/>
    <dgm:cxn modelId="{A60DE2E3-9EF3-B04C-BEA7-244CBD6AF994}" srcId="{0AF88D1D-C711-304B-AEAC-715917FAA1AE}" destId="{99DF2C10-CEAC-8D4B-80CE-D6E4D3AE26A1}" srcOrd="7" destOrd="0" parTransId="{BDF3A070-436B-6A4C-ABA9-8F8340CA004B}" sibTransId="{67109C6F-C9F2-0341-BBC6-A1464AA185EF}"/>
    <dgm:cxn modelId="{651BFCEA-C7BE-1640-AAAD-5CDB98AA65F3}" srcId="{574B2B2A-4D33-F44E-9AA5-44CA96BD49FE}" destId="{0AF88D1D-C711-304B-AEAC-715917FAA1AE}" srcOrd="0" destOrd="0" parTransId="{9FD93191-6347-9C46-98C3-FA1D4B1604CB}" sibTransId="{8C3ABD4B-FD9B-B248-8581-50641C585F35}"/>
    <dgm:cxn modelId="{7AD3D956-C657-D84F-9A16-DFE975C8782F}" type="presParOf" srcId="{D3947FB4-B7CE-8B4F-B591-94C143E16AF7}" destId="{B9B3449E-1468-9D41-8A16-B04FC8A6F0AE}" srcOrd="0" destOrd="0" presId="urn:microsoft.com/office/officeart/2005/8/layout/vList3"/>
    <dgm:cxn modelId="{40DD83B1-FBD6-4947-BD97-086BD2C80466}" type="presParOf" srcId="{B9B3449E-1468-9D41-8A16-B04FC8A6F0AE}" destId="{61626BAA-E988-A446-A31D-0DD173496DE4}" srcOrd="0" destOrd="0" presId="urn:microsoft.com/office/officeart/2005/8/layout/vList3"/>
    <dgm:cxn modelId="{9F5BFC0A-B685-994E-AECF-492CFC987482}" type="presParOf" srcId="{B9B3449E-1468-9D41-8A16-B04FC8A6F0AE}" destId="{0B3A3358-FACB-024B-8C2A-9BB840067E0D}"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3F3FC6-3E85-6A4E-A537-8D3E9412A80F}">
      <dsp:nvSpPr>
        <dsp:cNvPr id="0" name=""/>
        <dsp:cNvSpPr/>
      </dsp:nvSpPr>
      <dsp:spPr>
        <a:xfrm>
          <a:off x="2386940" y="2501450"/>
          <a:ext cx="1869466" cy="216301"/>
        </a:xfrm>
        <a:custGeom>
          <a:avLst/>
          <a:gdLst/>
          <a:ahLst/>
          <a:cxnLst/>
          <a:rect l="0" t="0" r="0" b="0"/>
          <a:pathLst>
            <a:path>
              <a:moveTo>
                <a:pt x="0" y="0"/>
              </a:moveTo>
              <a:lnTo>
                <a:pt x="0" y="108150"/>
              </a:lnTo>
              <a:lnTo>
                <a:pt x="1869466" y="108150"/>
              </a:lnTo>
              <a:lnTo>
                <a:pt x="1869466" y="216301"/>
              </a:lnTo>
            </a:path>
          </a:pathLst>
        </a:custGeom>
        <a:noFill/>
        <a:ln w="6350" cap="flat" cmpd="sng" algn="ctr">
          <a:solidFill>
            <a:schemeClr val="accent2">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1878C516-9727-F748-95E9-6A09303FBF16}">
      <dsp:nvSpPr>
        <dsp:cNvPr id="0" name=""/>
        <dsp:cNvSpPr/>
      </dsp:nvSpPr>
      <dsp:spPr>
        <a:xfrm>
          <a:off x="2386940" y="2501450"/>
          <a:ext cx="623155" cy="216301"/>
        </a:xfrm>
        <a:custGeom>
          <a:avLst/>
          <a:gdLst/>
          <a:ahLst/>
          <a:cxnLst/>
          <a:rect l="0" t="0" r="0" b="0"/>
          <a:pathLst>
            <a:path>
              <a:moveTo>
                <a:pt x="0" y="0"/>
              </a:moveTo>
              <a:lnTo>
                <a:pt x="0" y="108150"/>
              </a:lnTo>
              <a:lnTo>
                <a:pt x="623155" y="108150"/>
              </a:lnTo>
              <a:lnTo>
                <a:pt x="623155" y="216301"/>
              </a:lnTo>
            </a:path>
          </a:pathLst>
        </a:custGeom>
        <a:noFill/>
        <a:ln w="6350" cap="flat" cmpd="sng" algn="ctr">
          <a:solidFill>
            <a:schemeClr val="accent2">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AE5CB77A-8798-FE45-8850-CA035E46BDF2}">
      <dsp:nvSpPr>
        <dsp:cNvPr id="0" name=""/>
        <dsp:cNvSpPr/>
      </dsp:nvSpPr>
      <dsp:spPr>
        <a:xfrm>
          <a:off x="1763784" y="2501450"/>
          <a:ext cx="623155" cy="216301"/>
        </a:xfrm>
        <a:custGeom>
          <a:avLst/>
          <a:gdLst/>
          <a:ahLst/>
          <a:cxnLst/>
          <a:rect l="0" t="0" r="0" b="0"/>
          <a:pathLst>
            <a:path>
              <a:moveTo>
                <a:pt x="623155" y="0"/>
              </a:moveTo>
              <a:lnTo>
                <a:pt x="623155" y="108150"/>
              </a:lnTo>
              <a:lnTo>
                <a:pt x="0" y="108150"/>
              </a:lnTo>
              <a:lnTo>
                <a:pt x="0" y="216301"/>
              </a:lnTo>
            </a:path>
          </a:pathLst>
        </a:custGeom>
        <a:noFill/>
        <a:ln w="6350" cap="flat" cmpd="sng" algn="ctr">
          <a:solidFill>
            <a:schemeClr val="accent2">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5189DDCD-4594-FE43-A368-C2EB96F4CA8E}">
      <dsp:nvSpPr>
        <dsp:cNvPr id="0" name=""/>
        <dsp:cNvSpPr/>
      </dsp:nvSpPr>
      <dsp:spPr>
        <a:xfrm>
          <a:off x="517473" y="2501450"/>
          <a:ext cx="1869466" cy="216301"/>
        </a:xfrm>
        <a:custGeom>
          <a:avLst/>
          <a:gdLst/>
          <a:ahLst/>
          <a:cxnLst/>
          <a:rect l="0" t="0" r="0" b="0"/>
          <a:pathLst>
            <a:path>
              <a:moveTo>
                <a:pt x="1869466" y="0"/>
              </a:moveTo>
              <a:lnTo>
                <a:pt x="1869466" y="108150"/>
              </a:lnTo>
              <a:lnTo>
                <a:pt x="0" y="108150"/>
              </a:lnTo>
              <a:lnTo>
                <a:pt x="0" y="216301"/>
              </a:lnTo>
            </a:path>
          </a:pathLst>
        </a:custGeom>
        <a:noFill/>
        <a:ln w="6350" cap="flat" cmpd="sng" algn="ctr">
          <a:solidFill>
            <a:schemeClr val="accent2">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BC35AD6C-43D9-4A4C-B135-547EDE29417F}">
      <dsp:nvSpPr>
        <dsp:cNvPr id="0" name=""/>
        <dsp:cNvSpPr/>
      </dsp:nvSpPr>
      <dsp:spPr>
        <a:xfrm>
          <a:off x="1871935" y="1986445"/>
          <a:ext cx="1030009" cy="515004"/>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u="sng" kern="1200" dirty="0"/>
            <a:t>PSEB</a:t>
          </a:r>
          <a:r>
            <a:rPr lang="en-US" sz="1400" kern="1200" dirty="0"/>
            <a:t> </a:t>
          </a:r>
        </a:p>
      </dsp:txBody>
      <dsp:txXfrm>
        <a:off x="1871935" y="1986445"/>
        <a:ext cx="1030009" cy="515004"/>
      </dsp:txXfrm>
    </dsp:sp>
    <dsp:sp modelId="{E213B623-4AE9-9B44-9EDB-0A215B4705BC}">
      <dsp:nvSpPr>
        <dsp:cNvPr id="0" name=""/>
        <dsp:cNvSpPr/>
      </dsp:nvSpPr>
      <dsp:spPr>
        <a:xfrm>
          <a:off x="2469" y="2717752"/>
          <a:ext cx="1030009" cy="515004"/>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Board of directors</a:t>
          </a:r>
        </a:p>
      </dsp:txBody>
      <dsp:txXfrm>
        <a:off x="2469" y="2717752"/>
        <a:ext cx="1030009" cy="515004"/>
      </dsp:txXfrm>
    </dsp:sp>
    <dsp:sp modelId="{46E411BB-5B0B-D44C-9F4A-A1C3F239B851}">
      <dsp:nvSpPr>
        <dsp:cNvPr id="0" name=""/>
        <dsp:cNvSpPr/>
      </dsp:nvSpPr>
      <dsp:spPr>
        <a:xfrm>
          <a:off x="1248780" y="2717752"/>
          <a:ext cx="1030009" cy="515004"/>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Executive management</a:t>
          </a:r>
        </a:p>
      </dsp:txBody>
      <dsp:txXfrm>
        <a:off x="1248780" y="2717752"/>
        <a:ext cx="1030009" cy="515004"/>
      </dsp:txXfrm>
    </dsp:sp>
    <dsp:sp modelId="{FCE39996-B82C-3246-B748-9793E8FB8186}">
      <dsp:nvSpPr>
        <dsp:cNvPr id="0" name=""/>
        <dsp:cNvSpPr/>
      </dsp:nvSpPr>
      <dsp:spPr>
        <a:xfrm>
          <a:off x="2495091" y="2717752"/>
          <a:ext cx="1030009" cy="515004"/>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Department heads</a:t>
          </a:r>
        </a:p>
      </dsp:txBody>
      <dsp:txXfrm>
        <a:off x="2495091" y="2717752"/>
        <a:ext cx="1030009" cy="515004"/>
      </dsp:txXfrm>
    </dsp:sp>
    <dsp:sp modelId="{D725B16C-704A-394A-A5F9-57CD9DC5967D}">
      <dsp:nvSpPr>
        <dsp:cNvPr id="0" name=""/>
        <dsp:cNvSpPr/>
      </dsp:nvSpPr>
      <dsp:spPr>
        <a:xfrm>
          <a:off x="3741402" y="2717752"/>
          <a:ext cx="1030009" cy="515004"/>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Staff</a:t>
          </a:r>
        </a:p>
      </dsp:txBody>
      <dsp:txXfrm>
        <a:off x="3741402" y="2717752"/>
        <a:ext cx="1030009" cy="51500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565433-C80A-424C-BBC0-2AE85B943392}">
      <dsp:nvSpPr>
        <dsp:cNvPr id="0" name=""/>
        <dsp:cNvSpPr/>
      </dsp:nvSpPr>
      <dsp:spPr>
        <a:xfrm rot="5400000">
          <a:off x="1712664" y="-318171"/>
          <a:ext cx="1251582" cy="2200899"/>
        </a:xfrm>
        <a:prstGeom prst="round2SameRect">
          <a:avLst/>
        </a:prstGeom>
        <a:solidFill>
          <a:schemeClr val="accent5">
            <a:tint val="40000"/>
            <a:alpha val="90000"/>
            <a:hueOff val="0"/>
            <a:satOff val="0"/>
            <a:lumOff val="0"/>
            <a:alphaOff val="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9530" tIns="24765" rIns="49530" bIns="24765" numCol="1" spcCol="1270" anchor="ctr" anchorCtr="0">
          <a:noAutofit/>
        </a:bodyPr>
        <a:lstStyle/>
        <a:p>
          <a:pPr marL="114300" lvl="1" indent="-114300" algn="l" defTabSz="577850">
            <a:lnSpc>
              <a:spcPct val="90000"/>
            </a:lnSpc>
            <a:spcBef>
              <a:spcPct val="0"/>
            </a:spcBef>
            <a:spcAft>
              <a:spcPct val="15000"/>
            </a:spcAft>
            <a:buChar char="•"/>
          </a:pPr>
          <a:r>
            <a:rPr lang="en-US" sz="1300" b="0" kern="1200"/>
            <a:t>IT industry support program</a:t>
          </a:r>
          <a:endParaRPr lang="en-US" sz="1300" kern="1200"/>
        </a:p>
        <a:p>
          <a:pPr marL="114300" lvl="1" indent="-114300" algn="l" defTabSz="577850">
            <a:lnSpc>
              <a:spcPct val="90000"/>
            </a:lnSpc>
            <a:spcBef>
              <a:spcPct val="0"/>
            </a:spcBef>
            <a:spcAft>
              <a:spcPct val="15000"/>
            </a:spcAft>
            <a:buChar char="•"/>
          </a:pPr>
          <a:r>
            <a:rPr lang="en-US" sz="1300" b="0" kern="1200"/>
            <a:t>IT Talent Development Program</a:t>
          </a:r>
          <a:endParaRPr lang="en-US" sz="1300" kern="1200"/>
        </a:p>
        <a:p>
          <a:pPr marL="114300" lvl="1" indent="-114300" algn="l" defTabSz="577850">
            <a:lnSpc>
              <a:spcPct val="90000"/>
            </a:lnSpc>
            <a:spcBef>
              <a:spcPct val="0"/>
            </a:spcBef>
            <a:spcAft>
              <a:spcPct val="15000"/>
            </a:spcAft>
            <a:buChar char="•"/>
          </a:pPr>
          <a:r>
            <a:rPr lang="en-US" sz="1300" b="0" kern="1200"/>
            <a:t>Pakistan Digital Skills Program</a:t>
          </a:r>
          <a:endParaRPr lang="en-US" sz="1300" kern="1200"/>
        </a:p>
      </dsp:txBody>
      <dsp:txXfrm rot="-5400000">
        <a:off x="1238006" y="217584"/>
        <a:ext cx="2139802" cy="1129388"/>
      </dsp:txXfrm>
    </dsp:sp>
    <dsp:sp modelId="{3A18A319-FBDD-8248-A356-E1A3239B1912}">
      <dsp:nvSpPr>
        <dsp:cNvPr id="0" name=""/>
        <dsp:cNvSpPr/>
      </dsp:nvSpPr>
      <dsp:spPr>
        <a:xfrm>
          <a:off x="0" y="39"/>
          <a:ext cx="1238006" cy="1564477"/>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36195" rIns="72390" bIns="36195" numCol="1" spcCol="1270" anchor="ctr" anchorCtr="0">
          <a:noAutofit/>
        </a:bodyPr>
        <a:lstStyle/>
        <a:p>
          <a:pPr marL="0" lvl="0" indent="0" algn="ctr" defTabSz="844550">
            <a:lnSpc>
              <a:spcPct val="90000"/>
            </a:lnSpc>
            <a:spcBef>
              <a:spcPct val="0"/>
            </a:spcBef>
            <a:spcAft>
              <a:spcPct val="35000"/>
            </a:spcAft>
            <a:buNone/>
          </a:pPr>
          <a:r>
            <a:rPr lang="en-US" sz="1900" kern="1200"/>
            <a:t>Programs</a:t>
          </a:r>
        </a:p>
      </dsp:txBody>
      <dsp:txXfrm>
        <a:off x="60434" y="60473"/>
        <a:ext cx="1117138" cy="1443609"/>
      </dsp:txXfrm>
    </dsp:sp>
    <dsp:sp modelId="{166A3165-13A1-3E4C-8CA5-C170884B2A4C}">
      <dsp:nvSpPr>
        <dsp:cNvPr id="0" name=""/>
        <dsp:cNvSpPr/>
      </dsp:nvSpPr>
      <dsp:spPr>
        <a:xfrm rot="5400000">
          <a:off x="1712664" y="1324529"/>
          <a:ext cx="1251582" cy="2200899"/>
        </a:xfrm>
        <a:prstGeom prst="round2SameRect">
          <a:avLst/>
        </a:prstGeom>
        <a:solidFill>
          <a:schemeClr val="accent5">
            <a:tint val="40000"/>
            <a:alpha val="90000"/>
            <a:hueOff val="-6739762"/>
            <a:satOff val="-22832"/>
            <a:lumOff val="-2928"/>
            <a:alphaOff val="0"/>
          </a:schemeClr>
        </a:solidFill>
        <a:ln w="6350" cap="flat" cmpd="sng" algn="ctr">
          <a:solidFill>
            <a:schemeClr val="accent5">
              <a:tint val="40000"/>
              <a:alpha val="90000"/>
              <a:hueOff val="-6739762"/>
              <a:satOff val="-22832"/>
              <a:lumOff val="-292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9530" tIns="24765" rIns="49530" bIns="24765" numCol="1" spcCol="1270" anchor="ctr" anchorCtr="0">
          <a:noAutofit/>
        </a:bodyPr>
        <a:lstStyle/>
        <a:p>
          <a:pPr marL="114300" lvl="1" indent="-114300" algn="l" defTabSz="577850">
            <a:lnSpc>
              <a:spcPct val="90000"/>
            </a:lnSpc>
            <a:spcBef>
              <a:spcPct val="0"/>
            </a:spcBef>
            <a:spcAft>
              <a:spcPct val="15000"/>
            </a:spcAft>
            <a:buChar char="•"/>
          </a:pPr>
          <a:r>
            <a:rPr lang="en-US" sz="1300" b="0" kern="1200"/>
            <a:t>Women in IT</a:t>
          </a:r>
          <a:endParaRPr lang="en-US" sz="1300" kern="1200"/>
        </a:p>
        <a:p>
          <a:pPr marL="114300" lvl="1" indent="-114300" algn="l" defTabSz="577850">
            <a:lnSpc>
              <a:spcPct val="90000"/>
            </a:lnSpc>
            <a:spcBef>
              <a:spcPct val="0"/>
            </a:spcBef>
            <a:spcAft>
              <a:spcPct val="15000"/>
            </a:spcAft>
            <a:buChar char="•"/>
          </a:pPr>
          <a:r>
            <a:rPr lang="en-US" sz="1300" b="0" kern="1200"/>
            <a:t>IT Export Awards</a:t>
          </a:r>
          <a:endParaRPr lang="en-US" sz="1300" kern="1200"/>
        </a:p>
      </dsp:txBody>
      <dsp:txXfrm rot="-5400000">
        <a:off x="1238006" y="1860285"/>
        <a:ext cx="2139802" cy="1129388"/>
      </dsp:txXfrm>
    </dsp:sp>
    <dsp:sp modelId="{5FFADF82-57E6-AE45-A7DD-ECE619ACF8BD}">
      <dsp:nvSpPr>
        <dsp:cNvPr id="0" name=""/>
        <dsp:cNvSpPr/>
      </dsp:nvSpPr>
      <dsp:spPr>
        <a:xfrm>
          <a:off x="0" y="1642740"/>
          <a:ext cx="1238006" cy="1564477"/>
        </a:xfrm>
        <a:prstGeom prst="roundRect">
          <a:avLst/>
        </a:prstGeom>
        <a:gradFill rotWithShape="0">
          <a:gsLst>
            <a:gs pos="0">
              <a:schemeClr val="accent5">
                <a:hueOff val="-6758543"/>
                <a:satOff val="-17419"/>
                <a:lumOff val="-11765"/>
                <a:alphaOff val="0"/>
                <a:satMod val="103000"/>
                <a:lumMod val="102000"/>
                <a:tint val="94000"/>
              </a:schemeClr>
            </a:gs>
            <a:gs pos="50000">
              <a:schemeClr val="accent5">
                <a:hueOff val="-6758543"/>
                <a:satOff val="-17419"/>
                <a:lumOff val="-11765"/>
                <a:alphaOff val="0"/>
                <a:satMod val="110000"/>
                <a:lumMod val="100000"/>
                <a:shade val="100000"/>
              </a:schemeClr>
            </a:gs>
            <a:gs pos="100000">
              <a:schemeClr val="accent5">
                <a:hueOff val="-6758543"/>
                <a:satOff val="-17419"/>
                <a:lumOff val="-1176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36195" rIns="72390" bIns="36195" numCol="1" spcCol="1270" anchor="ctr" anchorCtr="0">
          <a:noAutofit/>
        </a:bodyPr>
        <a:lstStyle/>
        <a:p>
          <a:pPr marL="0" lvl="0" indent="0" algn="ctr" defTabSz="844550">
            <a:lnSpc>
              <a:spcPct val="90000"/>
            </a:lnSpc>
            <a:spcBef>
              <a:spcPct val="0"/>
            </a:spcBef>
            <a:spcAft>
              <a:spcPct val="35000"/>
            </a:spcAft>
            <a:buNone/>
          </a:pPr>
          <a:r>
            <a:rPr lang="en-US" sz="1900" kern="1200"/>
            <a:t>Initiatives</a:t>
          </a:r>
        </a:p>
      </dsp:txBody>
      <dsp:txXfrm>
        <a:off x="60434" y="1703174"/>
        <a:ext cx="1117138" cy="144360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3A3358-FACB-024B-8C2A-9BB840067E0D}">
      <dsp:nvSpPr>
        <dsp:cNvPr id="0" name=""/>
        <dsp:cNvSpPr/>
      </dsp:nvSpPr>
      <dsp:spPr>
        <a:xfrm rot="10800000">
          <a:off x="2618268" y="438049"/>
          <a:ext cx="6992874" cy="3522726"/>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53424" tIns="110490" rIns="206248" bIns="110490" numCol="1" spcCol="1270" anchor="t" anchorCtr="0">
          <a:noAutofit/>
        </a:bodyPr>
        <a:lstStyle/>
        <a:p>
          <a:pPr marL="0" lvl="0" indent="0" algn="l" defTabSz="1289050">
            <a:lnSpc>
              <a:spcPct val="90000"/>
            </a:lnSpc>
            <a:spcBef>
              <a:spcPct val="0"/>
            </a:spcBef>
            <a:spcAft>
              <a:spcPct val="35000"/>
            </a:spcAft>
            <a:buNone/>
          </a:pPr>
          <a:r>
            <a:rPr lang="en-US" sz="2900" b="1" u="sng" kern="1200" dirty="0">
              <a:latin typeface="Times New Roman" panose="02020603050405020304" pitchFamily="18" charset="0"/>
              <a:cs typeface="Times New Roman" panose="02020603050405020304" pitchFamily="18" charset="0"/>
            </a:rPr>
            <a:t>PSEB stakeholders </a:t>
          </a:r>
        </a:p>
        <a:p>
          <a:pPr marL="228600" lvl="1" indent="-228600" algn="l" defTabSz="1022350">
            <a:lnSpc>
              <a:spcPct val="90000"/>
            </a:lnSpc>
            <a:spcBef>
              <a:spcPct val="0"/>
            </a:spcBef>
            <a:spcAft>
              <a:spcPct val="15000"/>
            </a:spcAft>
            <a:buChar char="•"/>
          </a:pPr>
          <a:r>
            <a:rPr lang="en-US" sz="2300" kern="1200" dirty="0">
              <a:latin typeface="Times New Roman" panose="02020603050405020304" pitchFamily="18" charset="0"/>
              <a:cs typeface="Times New Roman" panose="02020603050405020304" pitchFamily="18" charset="0"/>
            </a:rPr>
            <a:t>IT companies</a:t>
          </a:r>
        </a:p>
        <a:p>
          <a:pPr marL="228600" lvl="1" indent="-228600" algn="l" defTabSz="1022350">
            <a:lnSpc>
              <a:spcPct val="90000"/>
            </a:lnSpc>
            <a:spcBef>
              <a:spcPct val="0"/>
            </a:spcBef>
            <a:spcAft>
              <a:spcPct val="15000"/>
            </a:spcAft>
            <a:buChar char="•"/>
          </a:pPr>
          <a:r>
            <a:rPr lang="en-US" sz="2300" kern="1200">
              <a:latin typeface="Times New Roman" panose="02020603050405020304" pitchFamily="18" charset="0"/>
              <a:cs typeface="Times New Roman" panose="02020603050405020304" pitchFamily="18" charset="0"/>
            </a:rPr>
            <a:t>Professionals</a:t>
          </a:r>
        </a:p>
        <a:p>
          <a:pPr marL="228600" lvl="1" indent="-228600" algn="l" defTabSz="1022350">
            <a:lnSpc>
              <a:spcPct val="90000"/>
            </a:lnSpc>
            <a:spcBef>
              <a:spcPct val="0"/>
            </a:spcBef>
            <a:spcAft>
              <a:spcPct val="15000"/>
            </a:spcAft>
            <a:buChar char="•"/>
          </a:pPr>
          <a:r>
            <a:rPr lang="en-US" sz="2300" kern="1200" dirty="0">
              <a:latin typeface="Times New Roman" panose="02020603050405020304" pitchFamily="18" charset="0"/>
              <a:cs typeface="Times New Roman" panose="02020603050405020304" pitchFamily="18" charset="0"/>
            </a:rPr>
            <a:t>Government</a:t>
          </a:r>
        </a:p>
        <a:p>
          <a:pPr marL="228600" lvl="1" indent="-228600" algn="l" defTabSz="1022350">
            <a:lnSpc>
              <a:spcPct val="90000"/>
            </a:lnSpc>
            <a:spcBef>
              <a:spcPct val="0"/>
            </a:spcBef>
            <a:spcAft>
              <a:spcPct val="15000"/>
            </a:spcAft>
            <a:buChar char="•"/>
          </a:pPr>
          <a:r>
            <a:rPr lang="en-US" sz="2300" kern="1200" dirty="0">
              <a:latin typeface="Times New Roman" panose="02020603050405020304" pitchFamily="18" charset="0"/>
              <a:cs typeface="Times New Roman" panose="02020603050405020304" pitchFamily="18" charset="0"/>
            </a:rPr>
            <a:t>Educational institutions</a:t>
          </a:r>
        </a:p>
        <a:p>
          <a:pPr marL="228600" lvl="1" indent="-228600" algn="l" defTabSz="1022350">
            <a:lnSpc>
              <a:spcPct val="90000"/>
            </a:lnSpc>
            <a:spcBef>
              <a:spcPct val="0"/>
            </a:spcBef>
            <a:spcAft>
              <a:spcPct val="15000"/>
            </a:spcAft>
            <a:buChar char="•"/>
          </a:pPr>
          <a:r>
            <a:rPr lang="en-US" sz="2300" kern="1200" dirty="0">
              <a:latin typeface="Times New Roman" panose="02020603050405020304" pitchFamily="18" charset="0"/>
              <a:cs typeface="Times New Roman" panose="02020603050405020304" pitchFamily="18" charset="0"/>
            </a:rPr>
            <a:t>Investors</a:t>
          </a:r>
        </a:p>
        <a:p>
          <a:pPr marL="228600" lvl="1" indent="-228600" algn="l" defTabSz="1022350">
            <a:lnSpc>
              <a:spcPct val="90000"/>
            </a:lnSpc>
            <a:spcBef>
              <a:spcPct val="0"/>
            </a:spcBef>
            <a:spcAft>
              <a:spcPct val="15000"/>
            </a:spcAft>
            <a:buChar char="•"/>
          </a:pPr>
          <a:r>
            <a:rPr lang="en-US" sz="2300" kern="1200" dirty="0">
              <a:latin typeface="Times New Roman" panose="02020603050405020304" pitchFamily="18" charset="0"/>
              <a:cs typeface="Times New Roman" panose="02020603050405020304" pitchFamily="18" charset="0"/>
            </a:rPr>
            <a:t>End-users</a:t>
          </a:r>
        </a:p>
        <a:p>
          <a:pPr marL="228600" lvl="1" indent="-228600" algn="l" defTabSz="1022350">
            <a:lnSpc>
              <a:spcPct val="90000"/>
            </a:lnSpc>
            <a:spcBef>
              <a:spcPct val="0"/>
            </a:spcBef>
            <a:spcAft>
              <a:spcPct val="15000"/>
            </a:spcAft>
            <a:buChar char="•"/>
          </a:pPr>
          <a:r>
            <a:rPr lang="en-US" sz="2300" kern="1200" dirty="0">
              <a:latin typeface="Times New Roman" panose="02020603050405020304" pitchFamily="18" charset="0"/>
              <a:cs typeface="Times New Roman" panose="02020603050405020304" pitchFamily="18" charset="0"/>
            </a:rPr>
            <a:t>Partner organizations</a:t>
          </a:r>
        </a:p>
        <a:p>
          <a:pPr marL="228600" lvl="1" indent="-228600" algn="l" defTabSz="1022350">
            <a:lnSpc>
              <a:spcPct val="90000"/>
            </a:lnSpc>
            <a:spcBef>
              <a:spcPct val="0"/>
            </a:spcBef>
            <a:spcAft>
              <a:spcPct val="15000"/>
            </a:spcAft>
            <a:buChar char="•"/>
          </a:pPr>
          <a:r>
            <a:rPr lang="en-US" sz="2300" kern="1200" dirty="0">
              <a:latin typeface="Times New Roman" panose="02020603050405020304" pitchFamily="18" charset="0"/>
              <a:cs typeface="Times New Roman" panose="02020603050405020304" pitchFamily="18" charset="0"/>
            </a:rPr>
            <a:t>Media.</a:t>
          </a:r>
        </a:p>
      </dsp:txBody>
      <dsp:txXfrm rot="10800000">
        <a:off x="3498949" y="438049"/>
        <a:ext cx="6112193" cy="3522726"/>
      </dsp:txXfrm>
    </dsp:sp>
    <dsp:sp modelId="{61626BAA-E988-A446-A31D-0DD173496DE4}">
      <dsp:nvSpPr>
        <dsp:cNvPr id="0" name=""/>
        <dsp:cNvSpPr/>
      </dsp:nvSpPr>
      <dsp:spPr>
        <a:xfrm>
          <a:off x="880681" y="414305"/>
          <a:ext cx="3522726" cy="3522726"/>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74A5EBC-4FD9-4344-B5D1-CE63EB15E7D1}" type="datetimeFigureOut">
              <a:rPr lang="en-US" smtClean="0"/>
              <a:t>5/3/2023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A13DCF-804C-C54A-8E96-3C1DBA47BC4F}" type="slidenum">
              <a:rPr lang="en-US" smtClean="0"/>
              <a:t>‹#›</a:t>
            </a:fld>
            <a:endParaRPr lang="en-US"/>
          </a:p>
        </p:txBody>
      </p:sp>
    </p:spTree>
    <p:extLst>
      <p:ext uri="{BB962C8B-B14F-4D97-AF65-F5344CB8AC3E}">
        <p14:creationId xmlns:p14="http://schemas.microsoft.com/office/powerpoint/2010/main" val="5128789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4A5EBC-4FD9-4344-B5D1-CE63EB15E7D1}" type="datetimeFigureOut">
              <a:rPr lang="en-US" smtClean="0"/>
              <a:t>5/3/2023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A13DCF-804C-C54A-8E96-3C1DBA47BC4F}" type="slidenum">
              <a:rPr lang="en-US" smtClean="0"/>
              <a:t>‹#›</a:t>
            </a:fld>
            <a:endParaRPr lang="en-US"/>
          </a:p>
        </p:txBody>
      </p:sp>
    </p:spTree>
    <p:extLst>
      <p:ext uri="{BB962C8B-B14F-4D97-AF65-F5344CB8AC3E}">
        <p14:creationId xmlns:p14="http://schemas.microsoft.com/office/powerpoint/2010/main" val="13641285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74A5EBC-4FD9-4344-B5D1-CE63EB15E7D1}" type="datetimeFigureOut">
              <a:rPr lang="en-US" smtClean="0"/>
              <a:t>5/3/2023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A13DCF-804C-C54A-8E96-3C1DBA47BC4F}" type="slidenum">
              <a:rPr lang="en-US" smtClean="0"/>
              <a:t>‹#›</a:t>
            </a:fld>
            <a:endParaRPr lang="en-US"/>
          </a:p>
        </p:txBody>
      </p:sp>
    </p:spTree>
    <p:extLst>
      <p:ext uri="{BB962C8B-B14F-4D97-AF65-F5344CB8AC3E}">
        <p14:creationId xmlns:p14="http://schemas.microsoft.com/office/powerpoint/2010/main" val="38816277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74A5EBC-4FD9-4344-B5D1-CE63EB15E7D1}" type="datetimeFigureOut">
              <a:rPr lang="en-US" smtClean="0"/>
              <a:t>5/3/2023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EA13DCF-804C-C54A-8E96-3C1DBA47BC4F}" type="slidenum">
              <a:rPr lang="en-US" smtClean="0"/>
              <a:t>‹#›</a:t>
            </a:fld>
            <a:endParaRPr lang="en-US"/>
          </a:p>
        </p:txBody>
      </p:sp>
    </p:spTree>
    <p:extLst>
      <p:ext uri="{BB962C8B-B14F-4D97-AF65-F5344CB8AC3E}">
        <p14:creationId xmlns:p14="http://schemas.microsoft.com/office/powerpoint/2010/main" val="5548578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74A5EBC-4FD9-4344-B5D1-CE63EB15E7D1}" type="datetimeFigureOut">
              <a:rPr lang="en-US" smtClean="0"/>
              <a:t>5/3/2023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EA13DCF-804C-C54A-8E96-3C1DBA47BC4F}" type="slidenum">
              <a:rPr lang="en-US" smtClean="0"/>
              <a:t>‹#›</a:t>
            </a:fld>
            <a:endParaRPr lang="en-US"/>
          </a:p>
        </p:txBody>
      </p:sp>
    </p:spTree>
    <p:extLst>
      <p:ext uri="{BB962C8B-B14F-4D97-AF65-F5344CB8AC3E}">
        <p14:creationId xmlns:p14="http://schemas.microsoft.com/office/powerpoint/2010/main" val="2965027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74A5EBC-4FD9-4344-B5D1-CE63EB15E7D1}" type="datetimeFigureOut">
              <a:rPr lang="en-US" smtClean="0"/>
              <a:t>5/3/2023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EA13DCF-804C-C54A-8E96-3C1DBA47BC4F}" type="slidenum">
              <a:rPr lang="en-US" smtClean="0"/>
              <a:t>‹#›</a:t>
            </a:fld>
            <a:endParaRPr lang="en-US"/>
          </a:p>
        </p:txBody>
      </p:sp>
    </p:spTree>
    <p:extLst>
      <p:ext uri="{BB962C8B-B14F-4D97-AF65-F5344CB8AC3E}">
        <p14:creationId xmlns:p14="http://schemas.microsoft.com/office/powerpoint/2010/main" val="13358365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4A5EBC-4FD9-4344-B5D1-CE63EB15E7D1}" type="datetimeFigureOut">
              <a:rPr lang="en-US" smtClean="0"/>
              <a:t>5/3/2023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EA13DCF-804C-C54A-8E96-3C1DBA47BC4F}" type="slidenum">
              <a:rPr lang="en-US" smtClean="0"/>
              <a:t>‹#›</a:t>
            </a:fld>
            <a:endParaRPr lang="en-US"/>
          </a:p>
        </p:txBody>
      </p:sp>
    </p:spTree>
    <p:extLst>
      <p:ext uri="{BB962C8B-B14F-4D97-AF65-F5344CB8AC3E}">
        <p14:creationId xmlns:p14="http://schemas.microsoft.com/office/powerpoint/2010/main" val="28602380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74A5EBC-4FD9-4344-B5D1-CE63EB15E7D1}" type="datetimeFigureOut">
              <a:rPr lang="en-US" smtClean="0"/>
              <a:t>5/3/2023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EA13DCF-804C-C54A-8E96-3C1DBA47BC4F}" type="slidenum">
              <a:rPr lang="en-US" smtClean="0"/>
              <a:t>‹#›</a:t>
            </a:fld>
            <a:endParaRPr lang="en-US"/>
          </a:p>
        </p:txBody>
      </p:sp>
    </p:spTree>
    <p:extLst>
      <p:ext uri="{BB962C8B-B14F-4D97-AF65-F5344CB8AC3E}">
        <p14:creationId xmlns:p14="http://schemas.microsoft.com/office/powerpoint/2010/main" val="38918437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74A5EBC-4FD9-4344-B5D1-CE63EB15E7D1}" type="datetimeFigureOut">
              <a:rPr lang="en-US" smtClean="0"/>
              <a:t>5/3/2023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EA13DCF-804C-C54A-8E96-3C1DBA47BC4F}" type="slidenum">
              <a:rPr lang="en-US" smtClean="0"/>
              <a:t>‹#›</a:t>
            </a:fld>
            <a:endParaRPr lang="en-US"/>
          </a:p>
        </p:txBody>
      </p:sp>
    </p:spTree>
    <p:extLst>
      <p:ext uri="{BB962C8B-B14F-4D97-AF65-F5344CB8AC3E}">
        <p14:creationId xmlns:p14="http://schemas.microsoft.com/office/powerpoint/2010/main" val="39927087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4A5EBC-4FD9-4344-B5D1-CE63EB15E7D1}" type="datetimeFigureOut">
              <a:rPr lang="en-US" smtClean="0"/>
              <a:t>5/3/2023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A13DCF-804C-C54A-8E96-3C1DBA47BC4F}" type="slidenum">
              <a:rPr lang="en-US" smtClean="0"/>
              <a:t>‹#›</a:t>
            </a:fld>
            <a:endParaRPr lang="en-US"/>
          </a:p>
        </p:txBody>
      </p:sp>
    </p:spTree>
    <p:extLst>
      <p:ext uri="{BB962C8B-B14F-4D97-AF65-F5344CB8AC3E}">
        <p14:creationId xmlns:p14="http://schemas.microsoft.com/office/powerpoint/2010/main" val="39408237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4A5EBC-4FD9-4344-B5D1-CE63EB15E7D1}" type="datetimeFigureOut">
              <a:rPr lang="en-US" smtClean="0"/>
              <a:t>5/3/2023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A13DCF-804C-C54A-8E96-3C1DBA47BC4F}" type="slidenum">
              <a:rPr lang="en-US" smtClean="0"/>
              <a:t>‹#›</a:t>
            </a:fld>
            <a:endParaRPr lang="en-US"/>
          </a:p>
        </p:txBody>
      </p:sp>
    </p:spTree>
    <p:extLst>
      <p:ext uri="{BB962C8B-B14F-4D97-AF65-F5344CB8AC3E}">
        <p14:creationId xmlns:p14="http://schemas.microsoft.com/office/powerpoint/2010/main" val="16277485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4A5EBC-4FD9-4344-B5D1-CE63EB15E7D1}" type="datetimeFigureOut">
              <a:rPr lang="en-US" smtClean="0"/>
              <a:t>5/3/2023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A13DCF-804C-C54A-8E96-3C1DBA47BC4F}" type="slidenum">
              <a:rPr lang="en-US" smtClean="0"/>
              <a:t>‹#›</a:t>
            </a:fld>
            <a:endParaRPr lang="en-US"/>
          </a:p>
        </p:txBody>
      </p:sp>
    </p:spTree>
    <p:extLst>
      <p:ext uri="{BB962C8B-B14F-4D97-AF65-F5344CB8AC3E}">
        <p14:creationId xmlns:p14="http://schemas.microsoft.com/office/powerpoint/2010/main" val="410252621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8.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9.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8" name="Rectangle 1047">
            <a:extLst>
              <a:ext uri="{FF2B5EF4-FFF2-40B4-BE49-F238E27FC236}">
                <a16:creationId xmlns:a16="http://schemas.microsoft.com/office/drawing/2014/main" id="{0A597D97-203B-498B-95D3-E90DC961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PSEB is Holding a Digital Content Contest to Promote Local Talent">
            <a:extLst>
              <a:ext uri="{FF2B5EF4-FFF2-40B4-BE49-F238E27FC236}">
                <a16:creationId xmlns:a16="http://schemas.microsoft.com/office/drawing/2014/main" id="{A55345F0-94A5-C034-C27B-26CDC2D79C0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2009" r="-1" b="12008"/>
          <a:stretch/>
        </p:blipFill>
        <p:spPr bwMode="auto">
          <a:xfrm>
            <a:off x="4267201" y="10"/>
            <a:ext cx="7924800" cy="338327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akistan Software Export Board - Products, Competitors, Financials,  Employees, Headquarters Locations">
            <a:extLst>
              <a:ext uri="{FF2B5EF4-FFF2-40B4-BE49-F238E27FC236}">
                <a16:creationId xmlns:a16="http://schemas.microsoft.com/office/drawing/2014/main" id="{A5839343-1002-D28B-214F-D4882C14C33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0814" r="1" b="11899"/>
          <a:stretch/>
        </p:blipFill>
        <p:spPr bwMode="auto">
          <a:xfrm>
            <a:off x="4650916" y="3474720"/>
            <a:ext cx="7555832" cy="3383280"/>
          </a:xfrm>
          <a:prstGeom prst="rect">
            <a:avLst/>
          </a:prstGeom>
          <a:noFill/>
          <a:extLst>
            <a:ext uri="{909E8E84-426E-40DD-AFC4-6F175D3DCCD1}">
              <a14:hiddenFill xmlns:a14="http://schemas.microsoft.com/office/drawing/2010/main">
                <a:solidFill>
                  <a:srgbClr val="FFFFFF"/>
                </a:solidFill>
              </a14:hiddenFill>
            </a:ext>
          </a:extLst>
        </p:spPr>
      </p:pic>
      <p:sp useBgFill="1">
        <p:nvSpPr>
          <p:cNvPr id="1050" name="Freeform: Shape 1049">
            <a:extLst>
              <a:ext uri="{FF2B5EF4-FFF2-40B4-BE49-F238E27FC236}">
                <a16:creationId xmlns:a16="http://schemas.microsoft.com/office/drawing/2014/main" id="{6A6EF10E-DF41-4BD3-8EB4-6F646531DC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244272" cy="6858000"/>
          </a:xfrm>
          <a:custGeom>
            <a:avLst/>
            <a:gdLst>
              <a:gd name="connsiteX0" fmla="*/ 0 w 6244272"/>
              <a:gd name="connsiteY0" fmla="*/ 0 h 6858000"/>
              <a:gd name="connsiteX1" fmla="*/ 732568 w 6244272"/>
              <a:gd name="connsiteY1" fmla="*/ 0 h 6858000"/>
              <a:gd name="connsiteX2" fmla="*/ 947849 w 6244272"/>
              <a:gd name="connsiteY2" fmla="*/ 0 h 6858000"/>
              <a:gd name="connsiteX3" fmla="*/ 1823619 w 6244272"/>
              <a:gd name="connsiteY3" fmla="*/ 0 h 6858000"/>
              <a:gd name="connsiteX4" fmla="*/ 5235673 w 6244272"/>
              <a:gd name="connsiteY4" fmla="*/ 0 h 6858000"/>
              <a:gd name="connsiteX5" fmla="*/ 4933297 w 6244272"/>
              <a:gd name="connsiteY5" fmla="*/ 110269 h 6858000"/>
              <a:gd name="connsiteX6" fmla="*/ 4976910 w 6244272"/>
              <a:gd name="connsiteY6" fmla="*/ 135168 h 6858000"/>
              <a:gd name="connsiteX7" fmla="*/ 5238580 w 6244272"/>
              <a:gd name="connsiteY7" fmla="*/ 71141 h 6858000"/>
              <a:gd name="connsiteX8" fmla="*/ 5290914 w 6244272"/>
              <a:gd name="connsiteY8" fmla="*/ 88927 h 6858000"/>
              <a:gd name="connsiteX9" fmla="*/ 5264747 w 6244272"/>
              <a:gd name="connsiteY9" fmla="*/ 163625 h 6858000"/>
              <a:gd name="connsiteX10" fmla="*/ 5151357 w 6244272"/>
              <a:gd name="connsiteY10" fmla="*/ 192082 h 6858000"/>
              <a:gd name="connsiteX11" fmla="*/ 4974002 w 6244272"/>
              <a:gd name="connsiteY11" fmla="*/ 373491 h 6858000"/>
              <a:gd name="connsiteX12" fmla="*/ 5241488 w 6244272"/>
              <a:gd name="connsiteY12" fmla="*/ 352148 h 6858000"/>
              <a:gd name="connsiteX13" fmla="*/ 5288007 w 6244272"/>
              <a:gd name="connsiteY13" fmla="*/ 394834 h 6858000"/>
              <a:gd name="connsiteX14" fmla="*/ 5305452 w 6244272"/>
              <a:gd name="connsiteY14" fmla="*/ 451747 h 6858000"/>
              <a:gd name="connsiteX15" fmla="*/ 5383953 w 6244272"/>
              <a:gd name="connsiteY15" fmla="*/ 359262 h 6858000"/>
              <a:gd name="connsiteX16" fmla="*/ 5450825 w 6244272"/>
              <a:gd name="connsiteY16" fmla="*/ 334364 h 6858000"/>
              <a:gd name="connsiteX17" fmla="*/ 5471177 w 6244272"/>
              <a:gd name="connsiteY17" fmla="*/ 416176 h 6858000"/>
              <a:gd name="connsiteX18" fmla="*/ 5410121 w 6244272"/>
              <a:gd name="connsiteY18" fmla="*/ 505101 h 6858000"/>
              <a:gd name="connsiteX19" fmla="*/ 5247303 w 6244272"/>
              <a:gd name="connsiteY19" fmla="*/ 558458 h 6858000"/>
              <a:gd name="connsiteX20" fmla="*/ 5421750 w 6244272"/>
              <a:gd name="connsiteY20" fmla="*/ 558458 h 6858000"/>
              <a:gd name="connsiteX21" fmla="*/ 5622364 w 6244272"/>
              <a:gd name="connsiteY21" fmla="*/ 522887 h 6858000"/>
              <a:gd name="connsiteX22" fmla="*/ 5834608 w 6244272"/>
              <a:gd name="connsiteY22" fmla="*/ 533558 h 6858000"/>
              <a:gd name="connsiteX23" fmla="*/ 6035223 w 6244272"/>
              <a:gd name="connsiteY23" fmla="*/ 462417 h 6858000"/>
              <a:gd name="connsiteX24" fmla="*/ 6238745 w 6244272"/>
              <a:gd name="connsiteY24" fmla="*/ 465975 h 6858000"/>
              <a:gd name="connsiteX25" fmla="*/ 5337434 w 6244272"/>
              <a:gd name="connsiteY25" fmla="*/ 910606 h 6858000"/>
              <a:gd name="connsiteX26" fmla="*/ 5381046 w 6244272"/>
              <a:gd name="connsiteY26" fmla="*/ 921277 h 6858000"/>
              <a:gd name="connsiteX27" fmla="*/ 5439195 w 6244272"/>
              <a:gd name="connsiteY27" fmla="*/ 949734 h 6858000"/>
              <a:gd name="connsiteX28" fmla="*/ 5395583 w 6244272"/>
              <a:gd name="connsiteY28" fmla="*/ 1006647 h 6858000"/>
              <a:gd name="connsiteX29" fmla="*/ 5160079 w 6244272"/>
              <a:gd name="connsiteY29" fmla="*/ 1113358 h 6858000"/>
              <a:gd name="connsiteX30" fmla="*/ 5101930 w 6244272"/>
              <a:gd name="connsiteY30" fmla="*/ 1220069 h 6858000"/>
              <a:gd name="connsiteX31" fmla="*/ 5174617 w 6244272"/>
              <a:gd name="connsiteY31" fmla="*/ 1209399 h 6858000"/>
              <a:gd name="connsiteX32" fmla="*/ 5238580 w 6244272"/>
              <a:gd name="connsiteY32" fmla="*/ 1230741 h 6858000"/>
              <a:gd name="connsiteX33" fmla="*/ 5212414 w 6244272"/>
              <a:gd name="connsiteY33" fmla="*/ 1365909 h 6858000"/>
              <a:gd name="connsiteX34" fmla="*/ 4878056 w 6244272"/>
              <a:gd name="connsiteY34" fmla="*/ 1540204 h 6858000"/>
              <a:gd name="connsiteX35" fmla="*/ 4848982 w 6244272"/>
              <a:gd name="connsiteY35" fmla="*/ 1597117 h 6858000"/>
              <a:gd name="connsiteX36" fmla="*/ 4889686 w 6244272"/>
              <a:gd name="connsiteY36" fmla="*/ 1636245 h 6858000"/>
              <a:gd name="connsiteX37" fmla="*/ 4997261 w 6244272"/>
              <a:gd name="connsiteY37" fmla="*/ 1657587 h 6858000"/>
              <a:gd name="connsiteX38" fmla="*/ 4846074 w 6244272"/>
              <a:gd name="connsiteY38" fmla="*/ 1849668 h 6858000"/>
              <a:gd name="connsiteX39" fmla="*/ 4790832 w 6244272"/>
              <a:gd name="connsiteY39" fmla="*/ 1903025 h 6858000"/>
              <a:gd name="connsiteX40" fmla="*/ 4694886 w 6244272"/>
              <a:gd name="connsiteY40" fmla="*/ 1984836 h 6858000"/>
              <a:gd name="connsiteX41" fmla="*/ 4694886 w 6244272"/>
              <a:gd name="connsiteY41" fmla="*/ 2013292 h 6858000"/>
              <a:gd name="connsiteX42" fmla="*/ 4822814 w 6244272"/>
              <a:gd name="connsiteY42" fmla="*/ 2102219 h 6858000"/>
              <a:gd name="connsiteX43" fmla="*/ 5055411 w 6244272"/>
              <a:gd name="connsiteY43" fmla="*/ 2077320 h 6858000"/>
              <a:gd name="connsiteX44" fmla="*/ 4712331 w 6244272"/>
              <a:gd name="connsiteY44" fmla="*/ 2208931 h 6858000"/>
              <a:gd name="connsiteX45" fmla="*/ 5822979 w 6244272"/>
              <a:gd name="connsiteY45" fmla="*/ 1892353 h 6858000"/>
              <a:gd name="connsiteX46" fmla="*/ 5753200 w 6244272"/>
              <a:gd name="connsiteY46" fmla="*/ 1974165 h 6858000"/>
              <a:gd name="connsiteX47" fmla="*/ 5363601 w 6244272"/>
              <a:gd name="connsiteY47" fmla="*/ 2191146 h 6858000"/>
              <a:gd name="connsiteX48" fmla="*/ 5253118 w 6244272"/>
              <a:gd name="connsiteY48" fmla="*/ 2326314 h 6858000"/>
              <a:gd name="connsiteX49" fmla="*/ 5136819 w 6244272"/>
              <a:gd name="connsiteY49" fmla="*/ 2401012 h 6858000"/>
              <a:gd name="connsiteX50" fmla="*/ 4974002 w 6244272"/>
              <a:gd name="connsiteY50" fmla="*/ 2401012 h 6858000"/>
              <a:gd name="connsiteX51" fmla="*/ 4857704 w 6244272"/>
              <a:gd name="connsiteY51" fmla="*/ 2518395 h 6858000"/>
              <a:gd name="connsiteX52" fmla="*/ 4976910 w 6244272"/>
              <a:gd name="connsiteY52" fmla="*/ 2543294 h 6858000"/>
              <a:gd name="connsiteX53" fmla="*/ 5116467 w 6244272"/>
              <a:gd name="connsiteY53" fmla="*/ 2525509 h 6858000"/>
              <a:gd name="connsiteX54" fmla="*/ 5273470 w 6244272"/>
              <a:gd name="connsiteY54" fmla="*/ 2564636 h 6858000"/>
              <a:gd name="connsiteX55" fmla="*/ 5418843 w 6244272"/>
              <a:gd name="connsiteY55" fmla="*/ 2532623 h 6858000"/>
              <a:gd name="connsiteX56" fmla="*/ 5593290 w 6244272"/>
              <a:gd name="connsiteY56" fmla="*/ 2553965 h 6858000"/>
              <a:gd name="connsiteX57" fmla="*/ 5648532 w 6244272"/>
              <a:gd name="connsiteY57" fmla="*/ 2692689 h 6858000"/>
              <a:gd name="connsiteX58" fmla="*/ 5665976 w 6244272"/>
              <a:gd name="connsiteY58" fmla="*/ 2703362 h 6858000"/>
              <a:gd name="connsiteX59" fmla="*/ 5988704 w 6244272"/>
              <a:gd name="connsiteY59" fmla="*/ 2923898 h 6858000"/>
              <a:gd name="connsiteX60" fmla="*/ 6078835 w 6244272"/>
              <a:gd name="connsiteY60" fmla="*/ 2941684 h 6858000"/>
              <a:gd name="connsiteX61" fmla="*/ 5546771 w 6244272"/>
              <a:gd name="connsiteY61" fmla="*/ 3329402 h 6858000"/>
              <a:gd name="connsiteX62" fmla="*/ 5904388 w 6244272"/>
              <a:gd name="connsiteY62" fmla="*/ 3229805 h 6858000"/>
              <a:gd name="connsiteX63" fmla="*/ 5953814 w 6244272"/>
              <a:gd name="connsiteY63" fmla="*/ 3393429 h 6858000"/>
              <a:gd name="connsiteX64" fmla="*/ 5785182 w 6244272"/>
              <a:gd name="connsiteY64" fmla="*/ 3539269 h 6858000"/>
              <a:gd name="connsiteX65" fmla="*/ 5724125 w 6244272"/>
              <a:gd name="connsiteY65" fmla="*/ 3827390 h 6858000"/>
              <a:gd name="connsiteX66" fmla="*/ 5753200 w 6244272"/>
              <a:gd name="connsiteY66" fmla="*/ 4090612 h 6858000"/>
              <a:gd name="connsiteX67" fmla="*/ 5825886 w 6244272"/>
              <a:gd name="connsiteY67" fmla="*/ 4172424 h 6858000"/>
              <a:gd name="connsiteX68" fmla="*/ 5930554 w 6244272"/>
              <a:gd name="connsiteY68" fmla="*/ 4321821 h 6858000"/>
              <a:gd name="connsiteX69" fmla="*/ 5994519 w 6244272"/>
              <a:gd name="connsiteY69" fmla="*/ 4414305 h 6858000"/>
              <a:gd name="connsiteX70" fmla="*/ 6218393 w 6244272"/>
              <a:gd name="connsiteY70" fmla="*/ 4378734 h 6858000"/>
              <a:gd name="connsiteX71" fmla="*/ 5918925 w 6244272"/>
              <a:gd name="connsiteY71" fmla="*/ 4613499 h 6858000"/>
              <a:gd name="connsiteX72" fmla="*/ 6160243 w 6244272"/>
              <a:gd name="connsiteY72" fmla="*/ 4585042 h 6858000"/>
              <a:gd name="connsiteX73" fmla="*/ 6238745 w 6244272"/>
              <a:gd name="connsiteY73" fmla="*/ 4602828 h 6858000"/>
              <a:gd name="connsiteX74" fmla="*/ 6195133 w 6244272"/>
              <a:gd name="connsiteY74" fmla="*/ 4677526 h 6858000"/>
              <a:gd name="connsiteX75" fmla="*/ 6017778 w 6244272"/>
              <a:gd name="connsiteY75" fmla="*/ 4805580 h 6858000"/>
              <a:gd name="connsiteX76" fmla="*/ 5651439 w 6244272"/>
              <a:gd name="connsiteY76" fmla="*/ 5154171 h 6858000"/>
              <a:gd name="connsiteX77" fmla="*/ 6006149 w 6244272"/>
              <a:gd name="connsiteY77" fmla="*/ 4994104 h 6858000"/>
              <a:gd name="connsiteX78" fmla="*/ 5633994 w 6244272"/>
              <a:gd name="connsiteY78" fmla="*/ 5353367 h 6858000"/>
              <a:gd name="connsiteX79" fmla="*/ 5552586 w 6244272"/>
              <a:gd name="connsiteY79" fmla="*/ 5474306 h 6858000"/>
              <a:gd name="connsiteX80" fmla="*/ 5383953 w 6244272"/>
              <a:gd name="connsiteY80" fmla="*/ 5769542 h 6858000"/>
              <a:gd name="connsiteX81" fmla="*/ 5392675 w 6244272"/>
              <a:gd name="connsiteY81" fmla="*/ 5801555 h 6858000"/>
              <a:gd name="connsiteX82" fmla="*/ 5584568 w 6244272"/>
              <a:gd name="connsiteY82" fmla="*/ 5755314 h 6858000"/>
              <a:gd name="connsiteX83" fmla="*/ 5334526 w 6244272"/>
              <a:gd name="connsiteY83" fmla="*/ 6004307 h 6858000"/>
              <a:gd name="connsiteX84" fmla="*/ 5075763 w 6244272"/>
              <a:gd name="connsiteY84" fmla="*/ 6196388 h 6858000"/>
              <a:gd name="connsiteX85" fmla="*/ 5258933 w 6244272"/>
              <a:gd name="connsiteY85" fmla="*/ 6167932 h 6858000"/>
              <a:gd name="connsiteX86" fmla="*/ 5511881 w 6244272"/>
              <a:gd name="connsiteY86" fmla="*/ 6057663 h 6858000"/>
              <a:gd name="connsiteX87" fmla="*/ 5599105 w 6244272"/>
              <a:gd name="connsiteY87" fmla="*/ 6100347 h 6858000"/>
              <a:gd name="connsiteX88" fmla="*/ 5360693 w 6244272"/>
              <a:gd name="connsiteY88" fmla="*/ 6281757 h 6858000"/>
              <a:gd name="connsiteX89" fmla="*/ 5224043 w 6244272"/>
              <a:gd name="connsiteY89" fmla="*/ 6367127 h 6858000"/>
              <a:gd name="connsiteX90" fmla="*/ 5168801 w 6244272"/>
              <a:gd name="connsiteY90" fmla="*/ 6431153 h 6858000"/>
              <a:gd name="connsiteX91" fmla="*/ 5011799 w 6244272"/>
              <a:gd name="connsiteY91" fmla="*/ 6658805 h 6858000"/>
              <a:gd name="connsiteX92" fmla="*/ 4651275 w 6244272"/>
              <a:gd name="connsiteY92" fmla="*/ 6858000 h 6858000"/>
              <a:gd name="connsiteX93" fmla="*/ 1823619 w 6244272"/>
              <a:gd name="connsiteY93" fmla="*/ 6858000 h 6858000"/>
              <a:gd name="connsiteX94" fmla="*/ 947849 w 6244272"/>
              <a:gd name="connsiteY94" fmla="*/ 6858000 h 6858000"/>
              <a:gd name="connsiteX95" fmla="*/ 732568 w 6244272"/>
              <a:gd name="connsiteY95" fmla="*/ 6858000 h 6858000"/>
              <a:gd name="connsiteX96" fmla="*/ 0 w 6244272"/>
              <a:gd name="connsiteY9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6244272" h="6858000">
                <a:moveTo>
                  <a:pt x="0" y="0"/>
                </a:moveTo>
                <a:lnTo>
                  <a:pt x="732568" y="0"/>
                </a:lnTo>
                <a:lnTo>
                  <a:pt x="947849" y="0"/>
                </a:lnTo>
                <a:lnTo>
                  <a:pt x="1823619" y="0"/>
                </a:lnTo>
                <a:lnTo>
                  <a:pt x="5235673" y="0"/>
                </a:lnTo>
                <a:cubicBezTo>
                  <a:pt x="5133912" y="35571"/>
                  <a:pt x="5035058" y="78255"/>
                  <a:pt x="4933297" y="110269"/>
                </a:cubicBezTo>
                <a:cubicBezTo>
                  <a:pt x="4947835" y="145839"/>
                  <a:pt x="4962372" y="138725"/>
                  <a:pt x="4976910" y="135168"/>
                </a:cubicBezTo>
                <a:cubicBezTo>
                  <a:pt x="5064133" y="120941"/>
                  <a:pt x="5154264" y="110269"/>
                  <a:pt x="5238580" y="71141"/>
                </a:cubicBezTo>
                <a:cubicBezTo>
                  <a:pt x="5258933" y="64027"/>
                  <a:pt x="5282192" y="64027"/>
                  <a:pt x="5290914" y="88927"/>
                </a:cubicBezTo>
                <a:cubicBezTo>
                  <a:pt x="5305452" y="124497"/>
                  <a:pt x="5285100" y="145839"/>
                  <a:pt x="5264747" y="163625"/>
                </a:cubicBezTo>
                <a:cubicBezTo>
                  <a:pt x="5229858" y="195638"/>
                  <a:pt x="5189154" y="188525"/>
                  <a:pt x="5151357" y="192082"/>
                </a:cubicBezTo>
                <a:cubicBezTo>
                  <a:pt x="5046689" y="209867"/>
                  <a:pt x="4997261" y="259665"/>
                  <a:pt x="4974002" y="373491"/>
                </a:cubicBezTo>
                <a:cubicBezTo>
                  <a:pt x="5064133" y="327250"/>
                  <a:pt x="5154264" y="384162"/>
                  <a:pt x="5241488" y="352148"/>
                </a:cubicBezTo>
                <a:cubicBezTo>
                  <a:pt x="5264747" y="345034"/>
                  <a:pt x="5299637" y="355706"/>
                  <a:pt x="5288007" y="394834"/>
                </a:cubicBezTo>
                <a:cubicBezTo>
                  <a:pt x="5276378" y="430405"/>
                  <a:pt x="5238580" y="458860"/>
                  <a:pt x="5305452" y="451747"/>
                </a:cubicBezTo>
                <a:cubicBezTo>
                  <a:pt x="5354879" y="448189"/>
                  <a:pt x="5369416" y="405504"/>
                  <a:pt x="5383953" y="359262"/>
                </a:cubicBezTo>
                <a:cubicBezTo>
                  <a:pt x="5395583" y="334364"/>
                  <a:pt x="5427565" y="320135"/>
                  <a:pt x="5450825" y="334364"/>
                </a:cubicBezTo>
                <a:cubicBezTo>
                  <a:pt x="5479899" y="348592"/>
                  <a:pt x="5471177" y="387720"/>
                  <a:pt x="5471177" y="416176"/>
                </a:cubicBezTo>
                <a:cubicBezTo>
                  <a:pt x="5474085" y="469532"/>
                  <a:pt x="5450825" y="494431"/>
                  <a:pt x="5410121" y="505101"/>
                </a:cubicBezTo>
                <a:cubicBezTo>
                  <a:pt x="5360693" y="519330"/>
                  <a:pt x="5311267" y="537116"/>
                  <a:pt x="5247303" y="558458"/>
                </a:cubicBezTo>
                <a:cubicBezTo>
                  <a:pt x="5317082" y="594028"/>
                  <a:pt x="5369416" y="586915"/>
                  <a:pt x="5421750" y="558458"/>
                </a:cubicBezTo>
                <a:cubicBezTo>
                  <a:pt x="5485714" y="526444"/>
                  <a:pt x="5570030" y="483759"/>
                  <a:pt x="5622364" y="522887"/>
                </a:cubicBezTo>
                <a:cubicBezTo>
                  <a:pt x="5700865" y="579800"/>
                  <a:pt x="5764829" y="544229"/>
                  <a:pt x="5834608" y="533558"/>
                </a:cubicBezTo>
                <a:cubicBezTo>
                  <a:pt x="5979982" y="512216"/>
                  <a:pt x="5889850" y="480203"/>
                  <a:pt x="6035223" y="462417"/>
                </a:cubicBezTo>
                <a:cubicBezTo>
                  <a:pt x="6093372" y="455303"/>
                  <a:pt x="6154429" y="426847"/>
                  <a:pt x="6238745" y="465975"/>
                </a:cubicBezTo>
                <a:cubicBezTo>
                  <a:pt x="5857868" y="672284"/>
                  <a:pt x="5677606" y="658055"/>
                  <a:pt x="5337434" y="910606"/>
                </a:cubicBezTo>
                <a:cubicBezTo>
                  <a:pt x="5351971" y="935506"/>
                  <a:pt x="5366508" y="924835"/>
                  <a:pt x="5381046" y="921277"/>
                </a:cubicBezTo>
                <a:cubicBezTo>
                  <a:pt x="5404305" y="917720"/>
                  <a:pt x="5433380" y="903491"/>
                  <a:pt x="5439195" y="949734"/>
                </a:cubicBezTo>
                <a:cubicBezTo>
                  <a:pt x="5442103" y="985305"/>
                  <a:pt x="5424657" y="1003089"/>
                  <a:pt x="5395583" y="1006647"/>
                </a:cubicBezTo>
                <a:cubicBezTo>
                  <a:pt x="5311267" y="1020875"/>
                  <a:pt x="5235673" y="1070674"/>
                  <a:pt x="5160079" y="1113358"/>
                </a:cubicBezTo>
                <a:cubicBezTo>
                  <a:pt x="5125190" y="1131144"/>
                  <a:pt x="5087393" y="1156043"/>
                  <a:pt x="5101930" y="1220069"/>
                </a:cubicBezTo>
                <a:cubicBezTo>
                  <a:pt x="5131004" y="1237855"/>
                  <a:pt x="5151357" y="1212955"/>
                  <a:pt x="5174617" y="1209399"/>
                </a:cubicBezTo>
                <a:cubicBezTo>
                  <a:pt x="5197876" y="1205842"/>
                  <a:pt x="5253118" y="1220069"/>
                  <a:pt x="5238580" y="1230741"/>
                </a:cubicBezTo>
                <a:cubicBezTo>
                  <a:pt x="5171709" y="1269868"/>
                  <a:pt x="5293822" y="1365909"/>
                  <a:pt x="5212414" y="1365909"/>
                </a:cubicBezTo>
                <a:cubicBezTo>
                  <a:pt x="5078671" y="1365909"/>
                  <a:pt x="5005984" y="1536647"/>
                  <a:pt x="4878056" y="1540204"/>
                </a:cubicBezTo>
                <a:cubicBezTo>
                  <a:pt x="4857704" y="1540204"/>
                  <a:pt x="4848982" y="1572219"/>
                  <a:pt x="4848982" y="1597117"/>
                </a:cubicBezTo>
                <a:cubicBezTo>
                  <a:pt x="4848982" y="1629132"/>
                  <a:pt x="4869333" y="1632688"/>
                  <a:pt x="4889686" y="1636245"/>
                </a:cubicBezTo>
                <a:cubicBezTo>
                  <a:pt x="4921668" y="1639802"/>
                  <a:pt x="4956557" y="1597117"/>
                  <a:pt x="4997261" y="1657587"/>
                </a:cubicBezTo>
                <a:cubicBezTo>
                  <a:pt x="4921668" y="1693158"/>
                  <a:pt x="4843167" y="1728729"/>
                  <a:pt x="4846074" y="1849668"/>
                </a:cubicBezTo>
                <a:cubicBezTo>
                  <a:pt x="4846074" y="1881683"/>
                  <a:pt x="4814092" y="1895910"/>
                  <a:pt x="4790832" y="1903025"/>
                </a:cubicBezTo>
                <a:cubicBezTo>
                  <a:pt x="4750128" y="1917252"/>
                  <a:pt x="4718146" y="1938595"/>
                  <a:pt x="4694886" y="1984836"/>
                </a:cubicBezTo>
                <a:cubicBezTo>
                  <a:pt x="4694886" y="1995507"/>
                  <a:pt x="4694886" y="2002622"/>
                  <a:pt x="4694886" y="2013292"/>
                </a:cubicBezTo>
                <a:cubicBezTo>
                  <a:pt x="4700701" y="2123562"/>
                  <a:pt x="4758850" y="2120004"/>
                  <a:pt x="4822814" y="2102219"/>
                </a:cubicBezTo>
                <a:cubicBezTo>
                  <a:pt x="4898408" y="2080877"/>
                  <a:pt x="4974002" y="2038192"/>
                  <a:pt x="5055411" y="2077320"/>
                </a:cubicBezTo>
                <a:cubicBezTo>
                  <a:pt x="4942020" y="2130676"/>
                  <a:pt x="4817000" y="2134233"/>
                  <a:pt x="4712331" y="2208931"/>
                </a:cubicBezTo>
                <a:cubicBezTo>
                  <a:pt x="5101930" y="2223159"/>
                  <a:pt x="5445010" y="1984836"/>
                  <a:pt x="5822979" y="1892353"/>
                </a:cubicBezTo>
                <a:cubicBezTo>
                  <a:pt x="5811349" y="1952823"/>
                  <a:pt x="5779367" y="1967051"/>
                  <a:pt x="5753200" y="1974165"/>
                </a:cubicBezTo>
                <a:cubicBezTo>
                  <a:pt x="5613642" y="2020407"/>
                  <a:pt x="5491529" y="2112891"/>
                  <a:pt x="5363601" y="2191146"/>
                </a:cubicBezTo>
                <a:cubicBezTo>
                  <a:pt x="5311267" y="2223159"/>
                  <a:pt x="5273470" y="2258731"/>
                  <a:pt x="5253118" y="2326314"/>
                </a:cubicBezTo>
                <a:cubicBezTo>
                  <a:pt x="5235673" y="2390340"/>
                  <a:pt x="5200783" y="2418796"/>
                  <a:pt x="5136819" y="2401012"/>
                </a:cubicBezTo>
                <a:cubicBezTo>
                  <a:pt x="5084485" y="2386784"/>
                  <a:pt x="5029243" y="2393898"/>
                  <a:pt x="4974002" y="2401012"/>
                </a:cubicBezTo>
                <a:cubicBezTo>
                  <a:pt x="4912946" y="2408126"/>
                  <a:pt x="4843167" y="2479267"/>
                  <a:pt x="4857704" y="2518395"/>
                </a:cubicBezTo>
                <a:cubicBezTo>
                  <a:pt x="4886778" y="2582422"/>
                  <a:pt x="4936205" y="2550408"/>
                  <a:pt x="4976910" y="2543294"/>
                </a:cubicBezTo>
                <a:cubicBezTo>
                  <a:pt x="5026336" y="2536181"/>
                  <a:pt x="5116467" y="2518395"/>
                  <a:pt x="5116467" y="2525509"/>
                </a:cubicBezTo>
                <a:cubicBezTo>
                  <a:pt x="5148450" y="2685576"/>
                  <a:pt x="5221136" y="2564636"/>
                  <a:pt x="5273470" y="2564636"/>
                </a:cubicBezTo>
                <a:cubicBezTo>
                  <a:pt x="5322897" y="2564636"/>
                  <a:pt x="5372323" y="2546851"/>
                  <a:pt x="5418843" y="2532623"/>
                </a:cubicBezTo>
                <a:cubicBezTo>
                  <a:pt x="5479899" y="2514837"/>
                  <a:pt x="5535140" y="2546851"/>
                  <a:pt x="5593290" y="2553965"/>
                </a:cubicBezTo>
                <a:cubicBezTo>
                  <a:pt x="5645624" y="2561080"/>
                  <a:pt x="5616550" y="2653563"/>
                  <a:pt x="5648532" y="2692689"/>
                </a:cubicBezTo>
                <a:cubicBezTo>
                  <a:pt x="5654346" y="2703362"/>
                  <a:pt x="5660161" y="2703362"/>
                  <a:pt x="5665976" y="2703362"/>
                </a:cubicBezTo>
                <a:cubicBezTo>
                  <a:pt x="5683421" y="2980812"/>
                  <a:pt x="5988704" y="2913227"/>
                  <a:pt x="5988704" y="2923898"/>
                </a:cubicBezTo>
                <a:cubicBezTo>
                  <a:pt x="6014871" y="2941684"/>
                  <a:pt x="6046853" y="2899000"/>
                  <a:pt x="6078835" y="2941684"/>
                </a:cubicBezTo>
                <a:cubicBezTo>
                  <a:pt x="5942185" y="3137322"/>
                  <a:pt x="5732847" y="3183563"/>
                  <a:pt x="5546771" y="3329402"/>
                </a:cubicBezTo>
                <a:cubicBezTo>
                  <a:pt x="5700865" y="3379202"/>
                  <a:pt x="5790997" y="3208463"/>
                  <a:pt x="5904388" y="3229805"/>
                </a:cubicBezTo>
                <a:cubicBezTo>
                  <a:pt x="5959629" y="3283162"/>
                  <a:pt x="5793904" y="3368530"/>
                  <a:pt x="5953814" y="3393429"/>
                </a:cubicBezTo>
                <a:cubicBezTo>
                  <a:pt x="5884036" y="3439672"/>
                  <a:pt x="5834608" y="3485914"/>
                  <a:pt x="5785182" y="3539269"/>
                </a:cubicBezTo>
                <a:cubicBezTo>
                  <a:pt x="5700865" y="3635309"/>
                  <a:pt x="5683421" y="3699337"/>
                  <a:pt x="5724125" y="3827390"/>
                </a:cubicBezTo>
                <a:cubicBezTo>
                  <a:pt x="5750293" y="3912759"/>
                  <a:pt x="5788089" y="3991015"/>
                  <a:pt x="5753200" y="4090612"/>
                </a:cubicBezTo>
                <a:cubicBezTo>
                  <a:pt x="5729940" y="4158196"/>
                  <a:pt x="5738663" y="4204438"/>
                  <a:pt x="5825886" y="4172424"/>
                </a:cubicBezTo>
                <a:cubicBezTo>
                  <a:pt x="5918925" y="4140411"/>
                  <a:pt x="5953814" y="4200882"/>
                  <a:pt x="5930554" y="4321821"/>
                </a:cubicBezTo>
                <a:cubicBezTo>
                  <a:pt x="5916018" y="4400076"/>
                  <a:pt x="5930554" y="4424975"/>
                  <a:pt x="5994519" y="4414305"/>
                </a:cubicBezTo>
                <a:cubicBezTo>
                  <a:pt x="6064297" y="4403633"/>
                  <a:pt x="6131169" y="4353835"/>
                  <a:pt x="6218393" y="4378734"/>
                </a:cubicBezTo>
                <a:cubicBezTo>
                  <a:pt x="6148614" y="4521016"/>
                  <a:pt x="6000333" y="4478331"/>
                  <a:pt x="5918925" y="4613499"/>
                </a:cubicBezTo>
                <a:cubicBezTo>
                  <a:pt x="6014871" y="4613499"/>
                  <a:pt x="6090465" y="4613499"/>
                  <a:pt x="6160243" y="4585042"/>
                </a:cubicBezTo>
                <a:cubicBezTo>
                  <a:pt x="6189318" y="4574373"/>
                  <a:pt x="6221300" y="4560144"/>
                  <a:pt x="6238745" y="4602828"/>
                </a:cubicBezTo>
                <a:cubicBezTo>
                  <a:pt x="6259098" y="4652628"/>
                  <a:pt x="6218393" y="4670412"/>
                  <a:pt x="6195133" y="4677526"/>
                </a:cubicBezTo>
                <a:cubicBezTo>
                  <a:pt x="6128261" y="4702425"/>
                  <a:pt x="6075928" y="4759339"/>
                  <a:pt x="6017778" y="4805580"/>
                </a:cubicBezTo>
                <a:cubicBezTo>
                  <a:pt x="5892758" y="4905177"/>
                  <a:pt x="5756107" y="4990547"/>
                  <a:pt x="5651439" y="5154171"/>
                </a:cubicBezTo>
                <a:cubicBezTo>
                  <a:pt x="5782275" y="5111487"/>
                  <a:pt x="5881128" y="5011889"/>
                  <a:pt x="6006149" y="4994104"/>
                </a:cubicBezTo>
                <a:cubicBezTo>
                  <a:pt x="5898572" y="5143500"/>
                  <a:pt x="5761922" y="5243097"/>
                  <a:pt x="5633994" y="5353367"/>
                </a:cubicBezTo>
                <a:cubicBezTo>
                  <a:pt x="5596197" y="5385379"/>
                  <a:pt x="5558400" y="5406721"/>
                  <a:pt x="5552586" y="5474306"/>
                </a:cubicBezTo>
                <a:cubicBezTo>
                  <a:pt x="5535140" y="5605917"/>
                  <a:pt x="5488622" y="5712629"/>
                  <a:pt x="5383953" y="5769542"/>
                </a:cubicBezTo>
                <a:cubicBezTo>
                  <a:pt x="5383953" y="5769542"/>
                  <a:pt x="5389768" y="5790884"/>
                  <a:pt x="5392675" y="5801555"/>
                </a:cubicBezTo>
                <a:cubicBezTo>
                  <a:pt x="5456640" y="5805112"/>
                  <a:pt x="5506066" y="5726858"/>
                  <a:pt x="5584568" y="5755314"/>
                </a:cubicBezTo>
                <a:cubicBezTo>
                  <a:pt x="5506066" y="5862025"/>
                  <a:pt x="5442103" y="5954508"/>
                  <a:pt x="5334526" y="6004307"/>
                </a:cubicBezTo>
                <a:cubicBezTo>
                  <a:pt x="5247303" y="6043434"/>
                  <a:pt x="5139727" y="6068335"/>
                  <a:pt x="5075763" y="6196388"/>
                </a:cubicBezTo>
                <a:cubicBezTo>
                  <a:pt x="5148450" y="6221287"/>
                  <a:pt x="5203691" y="6189274"/>
                  <a:pt x="5258933" y="6167932"/>
                </a:cubicBezTo>
                <a:cubicBezTo>
                  <a:pt x="5343249" y="6132361"/>
                  <a:pt x="5427565" y="6093234"/>
                  <a:pt x="5511881" y="6057663"/>
                </a:cubicBezTo>
                <a:cubicBezTo>
                  <a:pt x="5543864" y="6043434"/>
                  <a:pt x="5578753" y="6036320"/>
                  <a:pt x="5599105" y="6100347"/>
                </a:cubicBezTo>
                <a:cubicBezTo>
                  <a:pt x="5491529" y="6114575"/>
                  <a:pt x="5427565" y="6199945"/>
                  <a:pt x="5360693" y="6281757"/>
                </a:cubicBezTo>
                <a:cubicBezTo>
                  <a:pt x="5322897" y="6327999"/>
                  <a:pt x="5290914" y="6388469"/>
                  <a:pt x="5224043" y="6367127"/>
                </a:cubicBezTo>
                <a:cubicBezTo>
                  <a:pt x="5189154" y="6356456"/>
                  <a:pt x="5165894" y="6388469"/>
                  <a:pt x="5168801" y="6431153"/>
                </a:cubicBezTo>
                <a:cubicBezTo>
                  <a:pt x="5183339" y="6580550"/>
                  <a:pt x="5099022" y="6630349"/>
                  <a:pt x="5011799" y="6658805"/>
                </a:cubicBezTo>
                <a:cubicBezTo>
                  <a:pt x="4883871" y="6701489"/>
                  <a:pt x="4770480" y="6786859"/>
                  <a:pt x="4651275" y="6858000"/>
                </a:cubicBezTo>
                <a:lnTo>
                  <a:pt x="1823619" y="6858000"/>
                </a:lnTo>
                <a:lnTo>
                  <a:pt x="947849" y="6858000"/>
                </a:lnTo>
                <a:lnTo>
                  <a:pt x="732568"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4D50CCA-3193-6C29-5A52-81C2AF0C6C57}"/>
              </a:ext>
            </a:extLst>
          </p:cNvPr>
          <p:cNvSpPr>
            <a:spLocks noGrp="1"/>
          </p:cNvSpPr>
          <p:nvPr>
            <p:ph type="ctrTitle"/>
          </p:nvPr>
        </p:nvSpPr>
        <p:spPr>
          <a:xfrm>
            <a:off x="643468" y="609601"/>
            <a:ext cx="5452532" cy="2773680"/>
          </a:xfrm>
        </p:spPr>
        <p:txBody>
          <a:bodyPr>
            <a:normAutofit/>
          </a:bodyPr>
          <a:lstStyle/>
          <a:p>
            <a:pPr algn="l"/>
            <a:r>
              <a:rPr lang="en-US" sz="4400" b="1" dirty="0">
                <a:latin typeface="Times New Roman" panose="02020603050405020304" pitchFamily="18" charset="0"/>
                <a:cs typeface="Times New Roman" panose="02020603050405020304" pitchFamily="18" charset="0"/>
              </a:rPr>
              <a:t>Pakistan Software Export Board</a:t>
            </a:r>
            <a:br>
              <a:rPr lang="en-US" sz="4400" dirty="0">
                <a:latin typeface="Times New Roman" panose="02020603050405020304" pitchFamily="18" charset="0"/>
                <a:cs typeface="Times New Roman" panose="02020603050405020304" pitchFamily="18" charset="0"/>
              </a:rPr>
            </a:br>
            <a:r>
              <a:rPr lang="en-US" sz="4400" b="1" dirty="0">
                <a:latin typeface="Times New Roman" panose="02020603050405020304" pitchFamily="18" charset="0"/>
                <a:cs typeface="Times New Roman" panose="02020603050405020304" pitchFamily="18" charset="0"/>
              </a:rPr>
              <a:t>(PSEB)</a:t>
            </a:r>
            <a:endParaRPr lang="en-US" sz="44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E81D5715-BF0B-4CBE-AFB6-14C832FC2284}"/>
              </a:ext>
            </a:extLst>
          </p:cNvPr>
          <p:cNvSpPr>
            <a:spLocks noGrp="1"/>
          </p:cNvSpPr>
          <p:nvPr>
            <p:ph type="subTitle" idx="1"/>
          </p:nvPr>
        </p:nvSpPr>
        <p:spPr>
          <a:xfrm>
            <a:off x="1" y="4191990"/>
            <a:ext cx="4650916" cy="1698171"/>
          </a:xfrm>
        </p:spPr>
        <p:txBody>
          <a:bodyPr>
            <a:normAutofit/>
          </a:bodyPr>
          <a:lstStyle/>
          <a:p>
            <a:pPr algn="l"/>
            <a:r>
              <a:rPr lang="en-US" b="1" i="0" dirty="0">
                <a:solidFill>
                  <a:srgbClr val="D1D5DB"/>
                </a:solidFill>
                <a:effectLst/>
                <a:latin typeface="Söhne"/>
              </a:rPr>
              <a:t>Hosted by:</a:t>
            </a:r>
          </a:p>
          <a:p>
            <a:pPr lvl="3" algn="l"/>
            <a:r>
              <a:rPr lang="en-US" sz="1800" b="1" dirty="0">
                <a:solidFill>
                  <a:srgbClr val="D1D5DB"/>
                </a:solidFill>
                <a:latin typeface="Times New Roman" panose="02020603050405020304" pitchFamily="18" charset="0"/>
                <a:cs typeface="Times New Roman" panose="02020603050405020304" pitchFamily="18" charset="0"/>
              </a:rPr>
              <a:t>Muhammad Ahmad</a:t>
            </a:r>
          </a:p>
          <a:p>
            <a:pPr lvl="3" algn="l"/>
            <a:r>
              <a:rPr lang="en-US" sz="1800" b="1" dirty="0">
                <a:solidFill>
                  <a:srgbClr val="D1D5DB"/>
                </a:solidFill>
                <a:latin typeface="Times New Roman" panose="02020603050405020304" pitchFamily="18" charset="0"/>
                <a:cs typeface="Times New Roman" panose="02020603050405020304" pitchFamily="18" charset="0"/>
              </a:rPr>
              <a:t>Nimra  Amer</a:t>
            </a:r>
          </a:p>
          <a:p>
            <a:pPr lvl="3" algn="l"/>
            <a:r>
              <a:rPr lang="en-US" sz="1800" b="1" dirty="0">
                <a:solidFill>
                  <a:srgbClr val="D1D5DB"/>
                </a:solidFill>
                <a:latin typeface="Times New Roman" panose="02020603050405020304" pitchFamily="18" charset="0"/>
                <a:cs typeface="Times New Roman" panose="02020603050405020304" pitchFamily="18" charset="0"/>
              </a:rPr>
              <a:t>Muhammad Hassan Khalid</a:t>
            </a:r>
          </a:p>
          <a:p>
            <a:pPr lvl="3" algn="l"/>
            <a:r>
              <a:rPr lang="en-US" sz="1800" b="1" dirty="0">
                <a:solidFill>
                  <a:srgbClr val="D1D5DB"/>
                </a:solidFill>
                <a:latin typeface="Times New Roman" panose="02020603050405020304" pitchFamily="18" charset="0"/>
                <a:cs typeface="Times New Roman" panose="02020603050405020304" pitchFamily="18" charset="0"/>
              </a:rPr>
              <a:t>Muhammad Hamza </a:t>
            </a:r>
            <a:endParaRPr lang="en-US"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82207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picture containing text, store&#10;&#10;Description automatically generated">
            <a:extLst>
              <a:ext uri="{FF2B5EF4-FFF2-40B4-BE49-F238E27FC236}">
                <a16:creationId xmlns:a16="http://schemas.microsoft.com/office/drawing/2014/main" id="{2AC5ED41-472B-B470-8883-1127080BD973}"/>
              </a:ext>
            </a:extLst>
          </p:cNvPr>
          <p:cNvPicPr>
            <a:picLocks noChangeAspect="1"/>
          </p:cNvPicPr>
          <p:nvPr/>
        </p:nvPicPr>
        <p:blipFill rotWithShape="1">
          <a:blip r:embed="rId2">
            <a:extLst>
              <a:ext uri="{28A0092B-C50C-407E-A947-70E740481C1C}">
                <a14:useLocalDpi xmlns:a14="http://schemas.microsoft.com/office/drawing/2010/main" val="0"/>
              </a:ext>
            </a:extLst>
          </a:blip>
          <a:srcRect t="22025" b="7052"/>
          <a:stretch/>
        </p:blipFill>
        <p:spPr>
          <a:xfrm>
            <a:off x="0" y="365125"/>
            <a:ext cx="9669642" cy="6857990"/>
          </a:xfrm>
          <a:prstGeom prst="rect">
            <a:avLst/>
          </a:prstGeom>
        </p:spPr>
      </p:pic>
      <p:sp>
        <p:nvSpPr>
          <p:cNvPr id="11" name="Rectangle 10">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21AB63F-5D18-AC85-8F09-6DE5DE9DCD03}"/>
              </a:ext>
            </a:extLst>
          </p:cNvPr>
          <p:cNvSpPr>
            <a:spLocks noGrp="1"/>
          </p:cNvSpPr>
          <p:nvPr>
            <p:ph type="title"/>
          </p:nvPr>
        </p:nvSpPr>
        <p:spPr>
          <a:xfrm>
            <a:off x="5332022" y="365125"/>
            <a:ext cx="6021778" cy="1119291"/>
          </a:xfrm>
        </p:spPr>
        <p:txBody>
          <a:bodyPr>
            <a:normAutofit/>
          </a:bodyPr>
          <a:lstStyle/>
          <a:p>
            <a:pPr algn="ctr"/>
            <a:r>
              <a:rPr lang="en-US" sz="6600" b="1" u="sng" dirty="0"/>
              <a:t>Introduction</a:t>
            </a:r>
          </a:p>
        </p:txBody>
      </p:sp>
      <p:sp>
        <p:nvSpPr>
          <p:cNvPr id="3" name="Content Placeholder 2">
            <a:extLst>
              <a:ext uri="{FF2B5EF4-FFF2-40B4-BE49-F238E27FC236}">
                <a16:creationId xmlns:a16="http://schemas.microsoft.com/office/drawing/2014/main" id="{C6CCD7BD-58B3-7240-2231-E45C75748899}"/>
              </a:ext>
            </a:extLst>
          </p:cNvPr>
          <p:cNvSpPr>
            <a:spLocks noGrp="1"/>
          </p:cNvSpPr>
          <p:nvPr>
            <p:ph idx="1"/>
          </p:nvPr>
        </p:nvSpPr>
        <p:spPr>
          <a:xfrm>
            <a:off x="6947066" y="2458192"/>
            <a:ext cx="4406734" cy="4399797"/>
          </a:xfrm>
        </p:spPr>
        <p:txBody>
          <a:bodyPr>
            <a:normAutofit/>
          </a:bodyPr>
          <a:lstStyle/>
          <a:p>
            <a:r>
              <a:rPr lang="en-US" dirty="0">
                <a:latin typeface="Times New Roman" panose="02020603050405020304" pitchFamily="18" charset="0"/>
                <a:cs typeface="Times New Roman" panose="02020603050405020304" pitchFamily="18" charset="0"/>
              </a:rPr>
              <a:t>National IT Expert Board of Pakistan </a:t>
            </a:r>
          </a:p>
          <a:p>
            <a:r>
              <a:rPr lang="en-US" dirty="0">
                <a:latin typeface="Times New Roman" panose="02020603050405020304" pitchFamily="18" charset="0"/>
                <a:cs typeface="Times New Roman" panose="02020603050405020304" pitchFamily="18" charset="0"/>
              </a:rPr>
              <a:t>a government agency that promotes and develops the IT industry in Pakistan.</a:t>
            </a:r>
          </a:p>
          <a:p>
            <a:r>
              <a:rPr lang="en-US" dirty="0">
                <a:solidFill>
                  <a:srgbClr val="D1D5DB"/>
                </a:solidFill>
                <a:latin typeface="Söhne"/>
              </a:rPr>
              <a:t>R</a:t>
            </a:r>
            <a:r>
              <a:rPr lang="en-US" b="0" i="0" dirty="0">
                <a:solidFill>
                  <a:srgbClr val="D1D5DB"/>
                </a:solidFill>
                <a:effectLst/>
                <a:latin typeface="Söhne"/>
              </a:rPr>
              <a:t>esponsible for enabling local IT companies to compete globally.</a:t>
            </a:r>
            <a:endParaRPr lang="en-US" sz="2000" dirty="0"/>
          </a:p>
        </p:txBody>
      </p:sp>
    </p:spTree>
    <p:extLst>
      <p:ext uri="{BB962C8B-B14F-4D97-AF65-F5344CB8AC3E}">
        <p14:creationId xmlns:p14="http://schemas.microsoft.com/office/powerpoint/2010/main" val="1584391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055" name="Rectangle 2054">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Slowdown in IT exports? - BR Research - Business Recorder">
            <a:extLst>
              <a:ext uri="{FF2B5EF4-FFF2-40B4-BE49-F238E27FC236}">
                <a16:creationId xmlns:a16="http://schemas.microsoft.com/office/drawing/2014/main" id="{E45DABBE-DD82-F42B-1998-60CA4799AE1C}"/>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t="14456" b="10544"/>
          <a:stretch/>
        </p:blipFill>
        <p:spPr bwMode="auto">
          <a:xfrm>
            <a:off x="20" y="0"/>
            <a:ext cx="12191980" cy="685799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9740EB27-65B3-F0ED-2073-FB0BD19CF669}"/>
              </a:ext>
            </a:extLst>
          </p:cNvPr>
          <p:cNvSpPr>
            <a:spLocks noGrp="1"/>
          </p:cNvSpPr>
          <p:nvPr>
            <p:ph type="title"/>
          </p:nvPr>
        </p:nvSpPr>
        <p:spPr>
          <a:xfrm>
            <a:off x="1524000" y="152401"/>
            <a:ext cx="9144000" cy="975756"/>
          </a:xfrm>
        </p:spPr>
        <p:txBody>
          <a:bodyPr vert="horz" lIns="91440" tIns="45720" rIns="91440" bIns="45720" rtlCol="0" anchor="b">
            <a:normAutofit/>
          </a:bodyPr>
          <a:lstStyle/>
          <a:p>
            <a:r>
              <a:rPr lang="en-US" sz="6000" b="1" u="sng" dirty="0">
                <a:latin typeface="Times New Roman" panose="02020603050405020304" pitchFamily="18" charset="0"/>
                <a:cs typeface="Times New Roman" panose="02020603050405020304" pitchFamily="18" charset="0"/>
              </a:rPr>
              <a:t>History</a:t>
            </a:r>
          </a:p>
        </p:txBody>
      </p:sp>
      <p:sp>
        <p:nvSpPr>
          <p:cNvPr id="3" name="Content Placeholder 2">
            <a:extLst>
              <a:ext uri="{FF2B5EF4-FFF2-40B4-BE49-F238E27FC236}">
                <a16:creationId xmlns:a16="http://schemas.microsoft.com/office/drawing/2014/main" id="{285E16AC-3621-A509-CE68-D63BE2996259}"/>
              </a:ext>
            </a:extLst>
          </p:cNvPr>
          <p:cNvSpPr>
            <a:spLocks noGrp="1"/>
          </p:cNvSpPr>
          <p:nvPr>
            <p:ph idx="1"/>
          </p:nvPr>
        </p:nvSpPr>
        <p:spPr>
          <a:xfrm>
            <a:off x="593766" y="3428999"/>
            <a:ext cx="11598214" cy="3429000"/>
          </a:xfrm>
        </p:spPr>
        <p:txBody>
          <a:bodyPr vert="horz" lIns="91440" tIns="45720" rIns="91440" bIns="45720" rtlCol="0">
            <a:normAutofit/>
          </a:bodyPr>
          <a:lstStyle/>
          <a:p>
            <a:r>
              <a:rPr lang="en-US" dirty="0">
                <a:solidFill>
                  <a:srgbClr val="FFFFFF"/>
                </a:solidFill>
                <a:latin typeface="Times New Roman" panose="02020603050405020304" pitchFamily="18" charset="0"/>
                <a:cs typeface="Times New Roman" panose="02020603050405020304" pitchFamily="18" charset="0"/>
              </a:rPr>
              <a:t>PSEB was formed by the Pakistani government to boost the software industry</a:t>
            </a:r>
          </a:p>
          <a:p>
            <a:r>
              <a:rPr lang="en-US" b="0" i="0" dirty="0">
                <a:solidFill>
                  <a:srgbClr val="D1D5DB"/>
                </a:solidFill>
                <a:effectLst/>
                <a:latin typeface="Times New Roman" panose="02020603050405020304" pitchFamily="18" charset="0"/>
                <a:cs typeface="Times New Roman" panose="02020603050405020304" pitchFamily="18" charset="0"/>
              </a:rPr>
              <a:t>The federal cabinet approved PSEB's establishment in 1995.</a:t>
            </a:r>
          </a:p>
          <a:p>
            <a:r>
              <a:rPr lang="en-US" dirty="0">
                <a:solidFill>
                  <a:srgbClr val="FFFFFF"/>
                </a:solidFill>
                <a:latin typeface="Times New Roman" panose="02020603050405020304" pitchFamily="18" charset="0"/>
                <a:cs typeface="Times New Roman" panose="02020603050405020304" pitchFamily="18" charset="0"/>
              </a:rPr>
              <a:t>PSEB has developed with government and industry expert guidance.</a:t>
            </a:r>
          </a:p>
          <a:p>
            <a:r>
              <a:rPr lang="en-US" dirty="0">
                <a:solidFill>
                  <a:srgbClr val="FFFFFF"/>
                </a:solidFill>
                <a:latin typeface="Times New Roman" panose="02020603050405020304" pitchFamily="18" charset="0"/>
                <a:cs typeface="Times New Roman" panose="02020603050405020304" pitchFamily="18" charset="0"/>
              </a:rPr>
              <a:t>Mr.Ataullah Shah chaired PSEB from 1995-1997.</a:t>
            </a:r>
          </a:p>
          <a:p>
            <a:endParaRPr lang="en-US" sz="2400" dirty="0">
              <a:solidFill>
                <a:srgbClr val="FFFFF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91146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a:extLst>
              <a:ext uri="{FF2B5EF4-FFF2-40B4-BE49-F238E27FC236}">
                <a16:creationId xmlns:a16="http://schemas.microsoft.com/office/drawing/2014/main" id="{7C432AFE-B3D2-4BFF-BF8F-96C27AFF1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3 reasons why women should choose a career in software development | T">
            <a:extLst>
              <a:ext uri="{FF2B5EF4-FFF2-40B4-BE49-F238E27FC236}">
                <a16:creationId xmlns:a16="http://schemas.microsoft.com/office/drawing/2014/main" id="{DC03FBC0-F636-62BD-42F5-B6ACC448FCD6}"/>
              </a:ext>
            </a:extLst>
          </p:cNvPr>
          <p:cNvPicPr>
            <a:picLocks noChangeAspect="1" noChangeArrowheads="1"/>
          </p:cNvPicPr>
          <p:nvPr/>
        </p:nvPicPr>
        <p:blipFill rotWithShape="1">
          <a:blip r:embed="rId2">
            <a:alphaModFix amt="40000"/>
            <a:extLst>
              <a:ext uri="{28A0092B-C50C-407E-A947-70E740481C1C}">
                <a14:useLocalDpi xmlns:a14="http://schemas.microsoft.com/office/drawing/2010/main" val="0"/>
              </a:ext>
            </a:extLst>
          </a:blip>
          <a:srcRect t="11113" b="13887"/>
          <a:stretch/>
        </p:blipFill>
        <p:spPr bwMode="auto">
          <a:xfrm>
            <a:off x="21" y="0"/>
            <a:ext cx="12191979"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07E94324-B7DB-86F3-C0D6-1C9B056A9FB6}"/>
              </a:ext>
            </a:extLst>
          </p:cNvPr>
          <p:cNvSpPr>
            <a:spLocks noGrp="1"/>
          </p:cNvSpPr>
          <p:nvPr>
            <p:ph type="title"/>
          </p:nvPr>
        </p:nvSpPr>
        <p:spPr>
          <a:xfrm>
            <a:off x="841249" y="941832"/>
            <a:ext cx="10506456" cy="1058685"/>
          </a:xfrm>
        </p:spPr>
        <p:txBody>
          <a:bodyPr anchor="b">
            <a:normAutofit/>
          </a:bodyPr>
          <a:lstStyle/>
          <a:p>
            <a:r>
              <a:rPr lang="en-US" sz="5000" b="1" u="sng" dirty="0">
                <a:latin typeface="Times New Roman" panose="02020603050405020304" pitchFamily="18" charset="0"/>
                <a:cs typeface="Times New Roman" panose="02020603050405020304" pitchFamily="18" charset="0"/>
              </a:rPr>
              <a:t>Evolution</a:t>
            </a:r>
          </a:p>
        </p:txBody>
      </p:sp>
      <p:sp>
        <p:nvSpPr>
          <p:cNvPr id="3081" name="Rectangle 3080">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0140"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083" name="Rectangle 3082">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3241202"/>
            <a:ext cx="10506456"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E047E8F8-45B9-8F19-D838-9F8333CB0F99}"/>
              </a:ext>
            </a:extLst>
          </p:cNvPr>
          <p:cNvSpPr>
            <a:spLocks noGrp="1"/>
          </p:cNvSpPr>
          <p:nvPr>
            <p:ph idx="1"/>
          </p:nvPr>
        </p:nvSpPr>
        <p:spPr>
          <a:xfrm>
            <a:off x="570016" y="3502152"/>
            <a:ext cx="10777688" cy="2670048"/>
          </a:xfrm>
        </p:spPr>
        <p:txBody>
          <a:bodyPr>
            <a:normAutofit/>
          </a:bodyPr>
          <a:lstStyle/>
          <a:p>
            <a:r>
              <a:rPr lang="en-US" sz="2400" dirty="0">
                <a:latin typeface="Times New Roman" panose="02020603050405020304" pitchFamily="18" charset="0"/>
                <a:cs typeface="Times New Roman" panose="02020603050405020304" pitchFamily="18" charset="0"/>
              </a:rPr>
              <a:t>PSEB boosts Pakistan's IT industry via programs and initiatives.</a:t>
            </a:r>
          </a:p>
          <a:p>
            <a:r>
              <a:rPr lang="en-US" sz="2400" b="0" i="0" dirty="0">
                <a:effectLst/>
                <a:latin typeface="Times New Roman" panose="02020603050405020304" pitchFamily="18" charset="0"/>
                <a:cs typeface="Times New Roman" panose="02020603050405020304" pitchFamily="18" charset="0"/>
              </a:rPr>
              <a:t>PSEB initially aided Pakistani IT firms with infrastructure and regulations.</a:t>
            </a:r>
          </a:p>
          <a:p>
            <a:r>
              <a:rPr lang="en-US" sz="2400" dirty="0">
                <a:latin typeface="Times New Roman" panose="02020603050405020304" pitchFamily="18" charset="0"/>
                <a:cs typeface="Times New Roman" panose="02020603050405020304" pitchFamily="18" charset="0"/>
              </a:rPr>
              <a:t>PSEB began training Pakistani IT professionals in the mid-2000s.</a:t>
            </a:r>
          </a:p>
          <a:p>
            <a:r>
              <a:rPr lang="en-US" sz="2400" dirty="0">
                <a:latin typeface="Times New Roman" panose="02020603050405020304" pitchFamily="18" charset="0"/>
                <a:cs typeface="Times New Roman" panose="02020603050405020304" pitchFamily="18" charset="0"/>
              </a:rPr>
              <a:t>PSEB partnered with global organizations for best practices in Pakistan.</a:t>
            </a:r>
          </a:p>
          <a:p>
            <a:r>
              <a:rPr lang="en-US" sz="2400" b="0" i="0" dirty="0">
                <a:effectLst/>
                <a:latin typeface="Times New Roman" panose="02020603050405020304" pitchFamily="18" charset="0"/>
                <a:cs typeface="Times New Roman" panose="02020603050405020304" pitchFamily="18" charset="0"/>
              </a:rPr>
              <a:t>PSEB fosters IT entrepreneurship, supports startups, and enables cross-border trade.</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14607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3" name="Rectangle 4102">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8" name="Picture 2" descr="Macaskill on markets: Building a better bank board | Euromoney">
            <a:extLst>
              <a:ext uri="{FF2B5EF4-FFF2-40B4-BE49-F238E27FC236}">
                <a16:creationId xmlns:a16="http://schemas.microsoft.com/office/drawing/2014/main" id="{1E97BCB0-D1E5-2CC5-CB06-09F2C271FFC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837"/>
          <a:stretch/>
        </p:blipFill>
        <p:spPr bwMode="auto">
          <a:xfrm>
            <a:off x="-3047" y="0"/>
            <a:ext cx="9063920" cy="6857990"/>
          </a:xfrm>
          <a:prstGeom prst="rect">
            <a:avLst/>
          </a:prstGeom>
          <a:noFill/>
          <a:extLst>
            <a:ext uri="{909E8E84-426E-40DD-AFC4-6F175D3DCCD1}">
              <a14:hiddenFill xmlns:a14="http://schemas.microsoft.com/office/drawing/2010/main">
                <a:solidFill>
                  <a:srgbClr val="FFFFFF"/>
                </a:solidFill>
              </a14:hiddenFill>
            </a:ext>
          </a:extLst>
        </p:spPr>
      </p:pic>
      <p:sp>
        <p:nvSpPr>
          <p:cNvPr id="4105" name="Rectangle 4104">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22C1C9C-C00D-58D9-2B0D-5024E1D1AD3A}"/>
              </a:ext>
            </a:extLst>
          </p:cNvPr>
          <p:cNvSpPr>
            <a:spLocks noGrp="1"/>
          </p:cNvSpPr>
          <p:nvPr>
            <p:ph type="title"/>
          </p:nvPr>
        </p:nvSpPr>
        <p:spPr>
          <a:xfrm>
            <a:off x="7531610" y="365125"/>
            <a:ext cx="3822189" cy="1388039"/>
          </a:xfrm>
        </p:spPr>
        <p:txBody>
          <a:bodyPr>
            <a:normAutofit/>
          </a:bodyPr>
          <a:lstStyle/>
          <a:p>
            <a:r>
              <a:rPr lang="en-US" b="1" u="sng" dirty="0">
                <a:latin typeface="Times New Roman" panose="02020603050405020304" pitchFamily="18" charset="0"/>
                <a:cs typeface="Times New Roman" panose="02020603050405020304" pitchFamily="18" charset="0"/>
              </a:rPr>
              <a:t>Functions</a:t>
            </a:r>
          </a:p>
        </p:txBody>
      </p:sp>
      <p:sp>
        <p:nvSpPr>
          <p:cNvPr id="3" name="Content Placeholder 2">
            <a:extLst>
              <a:ext uri="{FF2B5EF4-FFF2-40B4-BE49-F238E27FC236}">
                <a16:creationId xmlns:a16="http://schemas.microsoft.com/office/drawing/2014/main" id="{95AB708D-A98F-F31C-F216-2117423FDBA8}"/>
              </a:ext>
            </a:extLst>
          </p:cNvPr>
          <p:cNvSpPr>
            <a:spLocks noGrp="1"/>
          </p:cNvSpPr>
          <p:nvPr>
            <p:ph idx="1"/>
          </p:nvPr>
        </p:nvSpPr>
        <p:spPr>
          <a:xfrm>
            <a:off x="7531610" y="2434200"/>
            <a:ext cx="4657341" cy="4423799"/>
          </a:xfrm>
        </p:spPr>
        <p:txBody>
          <a:bodyPr>
            <a:noAutofit/>
          </a:bodyPr>
          <a:lstStyle/>
          <a:p>
            <a:r>
              <a:rPr lang="en-US" sz="2000" b="0" i="0" dirty="0">
                <a:effectLst/>
                <a:latin typeface="Times New Roman" panose="02020603050405020304" pitchFamily="18" charset="0"/>
                <a:cs typeface="Times New Roman" panose="02020603050405020304" pitchFamily="18" charset="0"/>
              </a:rPr>
              <a:t>PSEB boosts Pakistan's IT industry via funding, training, marketing and investments.</a:t>
            </a:r>
          </a:p>
          <a:p>
            <a:r>
              <a:rPr lang="en-US" sz="2000" dirty="0">
                <a:latin typeface="Times New Roman" panose="02020603050405020304" pitchFamily="18" charset="0"/>
                <a:cs typeface="Times New Roman" panose="02020603050405020304" pitchFamily="18" charset="0"/>
              </a:rPr>
              <a:t>PSEB funds Pakistan's IT firms via grants, loans, and support.</a:t>
            </a:r>
          </a:p>
          <a:p>
            <a:r>
              <a:rPr lang="en-US" sz="2000" dirty="0">
                <a:latin typeface="Times New Roman" panose="02020603050405020304" pitchFamily="18" charset="0"/>
                <a:cs typeface="Times New Roman" panose="02020603050405020304" pitchFamily="18" charset="0"/>
              </a:rPr>
              <a:t>PSEB builds IT parks to support tech companies and call centers in Pakistan.</a:t>
            </a:r>
          </a:p>
          <a:p>
            <a:r>
              <a:rPr lang="en-US" sz="2000" dirty="0">
                <a:latin typeface="Times New Roman" panose="02020603050405020304" pitchFamily="18" charset="0"/>
                <a:cs typeface="Times New Roman" panose="02020603050405020304" pitchFamily="18" charset="0"/>
              </a:rPr>
              <a:t>PSEB shapes Pakistan's IT industry policies.</a:t>
            </a:r>
          </a:p>
          <a:p>
            <a:r>
              <a:rPr lang="en-US" sz="2000" dirty="0">
                <a:latin typeface="Times New Roman" panose="02020603050405020304" pitchFamily="18" charset="0"/>
                <a:cs typeface="Times New Roman" panose="02020603050405020304" pitchFamily="18" charset="0"/>
              </a:rPr>
              <a:t>PSEB promotes Pakistan's IT industry for foreign investment.</a:t>
            </a:r>
          </a:p>
        </p:txBody>
      </p:sp>
    </p:spTree>
    <p:extLst>
      <p:ext uri="{BB962C8B-B14F-4D97-AF65-F5344CB8AC3E}">
        <p14:creationId xmlns:p14="http://schemas.microsoft.com/office/powerpoint/2010/main" val="24358362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7" name="Rectangle 5126">
            <a:extLst>
              <a:ext uri="{FF2B5EF4-FFF2-40B4-BE49-F238E27FC236}">
                <a16:creationId xmlns:a16="http://schemas.microsoft.com/office/drawing/2014/main" id="{0E3596DD-156A-473E-9BB3-C6A29F757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29" name="Freeform: Shape 5128">
            <a:extLst>
              <a:ext uri="{FF2B5EF4-FFF2-40B4-BE49-F238E27FC236}">
                <a16:creationId xmlns:a16="http://schemas.microsoft.com/office/drawing/2014/main" id="{2C46C4D6-C474-4E92-B52E-944C1118F7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2EE7AF8-A617-AEA4-707C-C395F51515D5}"/>
              </a:ext>
            </a:extLst>
          </p:cNvPr>
          <p:cNvSpPr>
            <a:spLocks noGrp="1"/>
          </p:cNvSpPr>
          <p:nvPr>
            <p:ph type="title"/>
          </p:nvPr>
        </p:nvSpPr>
        <p:spPr>
          <a:xfrm>
            <a:off x="838201" y="643467"/>
            <a:ext cx="3888526" cy="1800526"/>
          </a:xfrm>
        </p:spPr>
        <p:txBody>
          <a:bodyPr>
            <a:normAutofit/>
          </a:bodyPr>
          <a:lstStyle/>
          <a:p>
            <a:r>
              <a:rPr lang="en-US" b="1" u="sng" dirty="0">
                <a:latin typeface="Times New Roman" panose="02020603050405020304" pitchFamily="18" charset="0"/>
                <a:cs typeface="Times New Roman" panose="02020603050405020304" pitchFamily="18" charset="0"/>
              </a:rPr>
              <a:t>Scope</a:t>
            </a:r>
          </a:p>
        </p:txBody>
      </p:sp>
      <p:sp>
        <p:nvSpPr>
          <p:cNvPr id="3" name="Content Placeholder 2">
            <a:extLst>
              <a:ext uri="{FF2B5EF4-FFF2-40B4-BE49-F238E27FC236}">
                <a16:creationId xmlns:a16="http://schemas.microsoft.com/office/drawing/2014/main" id="{EED152E9-DC14-7669-C689-85885962651A}"/>
              </a:ext>
            </a:extLst>
          </p:cNvPr>
          <p:cNvSpPr>
            <a:spLocks noGrp="1"/>
          </p:cNvSpPr>
          <p:nvPr>
            <p:ph idx="1"/>
          </p:nvPr>
        </p:nvSpPr>
        <p:spPr>
          <a:xfrm>
            <a:off x="838201" y="2623381"/>
            <a:ext cx="3888528" cy="3553581"/>
          </a:xfrm>
        </p:spPr>
        <p:txBody>
          <a:bodyPr>
            <a:normAutofit/>
          </a:bodyPr>
          <a:lstStyle/>
          <a:p>
            <a:r>
              <a:rPr lang="en-US" sz="1700" dirty="0">
                <a:latin typeface="Times New Roman" panose="02020603050405020304" pitchFamily="18" charset="0"/>
                <a:cs typeface="Times New Roman" panose="02020603050405020304" pitchFamily="18" charset="0"/>
              </a:rPr>
              <a:t>PSEB supports, develops, and promotes Pakistan's IT industry for investment</a:t>
            </a:r>
          </a:p>
          <a:p>
            <a:r>
              <a:rPr lang="en-US" sz="1700" dirty="0">
                <a:latin typeface="Times New Roman" panose="02020603050405020304" pitchFamily="18" charset="0"/>
                <a:cs typeface="Times New Roman" panose="02020603050405020304" pitchFamily="18" charset="0"/>
              </a:rPr>
              <a:t>PSEB promotes Pakistan as an ideal IT outsourcing and investment destination with foreign investor partnerships.</a:t>
            </a:r>
          </a:p>
          <a:p>
            <a:r>
              <a:rPr lang="en-US" sz="1700" dirty="0">
                <a:latin typeface="Times New Roman" panose="02020603050405020304" pitchFamily="18" charset="0"/>
                <a:cs typeface="Times New Roman" panose="02020603050405020304" pitchFamily="18" charset="0"/>
              </a:rPr>
              <a:t>PSEB supports local firms to enhance their offerings for global clients.</a:t>
            </a:r>
          </a:p>
          <a:p>
            <a:r>
              <a:rPr lang="en-US" sz="1700" i="0" dirty="0">
                <a:effectLst/>
                <a:latin typeface="Times New Roman" panose="02020603050405020304" pitchFamily="18" charset="0"/>
                <a:cs typeface="Times New Roman" panose="02020603050405020304" pitchFamily="18" charset="0"/>
              </a:rPr>
              <a:t>PSEB trains IT professionals with educational institutions.</a:t>
            </a:r>
          </a:p>
          <a:p>
            <a:r>
              <a:rPr lang="en-US" sz="1700" i="0" dirty="0">
                <a:effectLst/>
                <a:latin typeface="Times New Roman" panose="02020603050405020304" pitchFamily="18" charset="0"/>
                <a:cs typeface="Times New Roman" panose="02020603050405020304" pitchFamily="18" charset="0"/>
              </a:rPr>
              <a:t>PSEB and the government collaborate on IT industry growth policies.</a:t>
            </a:r>
          </a:p>
          <a:p>
            <a:endParaRPr lang="en-US" sz="1700" dirty="0">
              <a:latin typeface="Times New Roman" panose="02020603050405020304" pitchFamily="18" charset="0"/>
              <a:cs typeface="Times New Roman" panose="02020603050405020304" pitchFamily="18" charset="0"/>
            </a:endParaRPr>
          </a:p>
        </p:txBody>
      </p:sp>
      <p:pic>
        <p:nvPicPr>
          <p:cNvPr id="5122" name="Picture 2" descr="Defining Project Scope: What's In, What's Out | by Karl Wiegers | Analyst's  corner | Medium">
            <a:extLst>
              <a:ext uri="{FF2B5EF4-FFF2-40B4-BE49-F238E27FC236}">
                <a16:creationId xmlns:a16="http://schemas.microsoft.com/office/drawing/2014/main" id="{49A32602-CFEB-B92A-C2D6-BF2E0C6D22C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800986" y="1877858"/>
            <a:ext cx="4747547" cy="31306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0099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5" name="Rectangle 6150">
            <a:extLst>
              <a:ext uri="{FF2B5EF4-FFF2-40B4-BE49-F238E27FC236}">
                <a16:creationId xmlns:a16="http://schemas.microsoft.com/office/drawing/2014/main" id="{D19BB8BE-1351-4D9B-B761-F84A0B5B65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C89AE0D-3E82-DB14-A85B-D8BA73EBB113}"/>
              </a:ext>
            </a:extLst>
          </p:cNvPr>
          <p:cNvSpPr>
            <a:spLocks noGrp="1"/>
          </p:cNvSpPr>
          <p:nvPr>
            <p:ph type="title"/>
          </p:nvPr>
        </p:nvSpPr>
        <p:spPr>
          <a:xfrm>
            <a:off x="838199" y="573742"/>
            <a:ext cx="3785554" cy="886924"/>
          </a:xfrm>
        </p:spPr>
        <p:txBody>
          <a:bodyPr anchor="b">
            <a:normAutofit/>
          </a:bodyPr>
          <a:lstStyle/>
          <a:p>
            <a:r>
              <a:rPr lang="en-US" b="1" u="sng" dirty="0">
                <a:latin typeface="Times New Roman" panose="02020603050405020304" pitchFamily="18" charset="0"/>
                <a:cs typeface="Times New Roman" panose="02020603050405020304" pitchFamily="18" charset="0"/>
              </a:rPr>
              <a:t>Functionaries</a:t>
            </a:r>
          </a:p>
        </p:txBody>
      </p:sp>
      <p:pic>
        <p:nvPicPr>
          <p:cNvPr id="6146" name="Picture 2" descr="How to Pronounce Functionaries - YouTube">
            <a:extLst>
              <a:ext uri="{FF2B5EF4-FFF2-40B4-BE49-F238E27FC236}">
                <a16:creationId xmlns:a16="http://schemas.microsoft.com/office/drawing/2014/main" id="{7881E892-7B3B-EE00-7127-7B05BDBA842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991801" y="0"/>
            <a:ext cx="7197150" cy="6857999"/>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Content Placeholder 5">
            <a:extLst>
              <a:ext uri="{FF2B5EF4-FFF2-40B4-BE49-F238E27FC236}">
                <a16:creationId xmlns:a16="http://schemas.microsoft.com/office/drawing/2014/main" id="{4752C59C-618E-CCFD-8F51-27A8B1B68424}"/>
              </a:ext>
            </a:extLst>
          </p:cNvPr>
          <p:cNvGraphicFramePr>
            <a:graphicFrameLocks noGrp="1"/>
          </p:cNvGraphicFramePr>
          <p:nvPr>
            <p:ph idx="1"/>
            <p:extLst>
              <p:ext uri="{D42A27DB-BD31-4B8C-83A1-F6EECF244321}">
                <p14:modId xmlns:p14="http://schemas.microsoft.com/office/powerpoint/2010/main" val="2873703198"/>
              </p:ext>
            </p:extLst>
          </p:nvPr>
        </p:nvGraphicFramePr>
        <p:xfrm>
          <a:off x="130629" y="1638795"/>
          <a:ext cx="4773881" cy="521920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465730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75" name="Rectangle 7174">
            <a:extLst>
              <a:ext uri="{FF2B5EF4-FFF2-40B4-BE49-F238E27FC236}">
                <a16:creationId xmlns:a16="http://schemas.microsoft.com/office/drawing/2014/main" id="{6B5E2835-4E47-45B3-9CFE-732FF7B054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170" name="Picture 2" descr="The Keys to Attracting/Retaining Top Talent? It's Continuous Feedback and  Career Mobility - RecruitingDaily">
            <a:extLst>
              <a:ext uri="{FF2B5EF4-FFF2-40B4-BE49-F238E27FC236}">
                <a16:creationId xmlns:a16="http://schemas.microsoft.com/office/drawing/2014/main" id="{B7C8B64B-7570-9258-5AC7-712B3223810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8441"/>
          <a:stretch/>
        </p:blipFill>
        <p:spPr bwMode="auto">
          <a:xfrm>
            <a:off x="3253836" y="10"/>
            <a:ext cx="8938163" cy="6857990"/>
          </a:xfrm>
          <a:custGeom>
            <a:avLst/>
            <a:gdLst/>
            <a:ahLst/>
            <a:cxnLst/>
            <a:rect l="l" t="t" r="r" b="b"/>
            <a:pathLst>
              <a:path w="8949307" h="6858000">
                <a:moveTo>
                  <a:pt x="0" y="0"/>
                </a:moveTo>
                <a:lnTo>
                  <a:pt x="8949307" y="0"/>
                </a:lnTo>
                <a:lnTo>
                  <a:pt x="8949307" y="6858000"/>
                </a:lnTo>
                <a:lnTo>
                  <a:pt x="0" y="6858000"/>
                </a:lnTo>
                <a:lnTo>
                  <a:pt x="62983" y="6788730"/>
                </a:lnTo>
                <a:cubicBezTo>
                  <a:pt x="773509" y="5928900"/>
                  <a:pt x="1212979" y="4741056"/>
                  <a:pt x="1212979" y="3429000"/>
                </a:cubicBezTo>
                <a:cubicBezTo>
                  <a:pt x="1212979" y="2116944"/>
                  <a:pt x="773509" y="929100"/>
                  <a:pt x="62983" y="69271"/>
                </a:cubicBezTo>
                <a:close/>
              </a:path>
            </a:pathLst>
          </a:custGeom>
          <a:noFill/>
          <a:extLst>
            <a:ext uri="{909E8E84-426E-40DD-AFC4-6F175D3DCCD1}">
              <a14:hiddenFill xmlns:a14="http://schemas.microsoft.com/office/drawing/2010/main">
                <a:solidFill>
                  <a:srgbClr val="FFFFFF"/>
                </a:solidFill>
              </a14:hiddenFill>
            </a:ext>
          </a:extLst>
        </p:spPr>
      </p:pic>
      <p:sp useBgFill="1">
        <p:nvSpPr>
          <p:cNvPr id="7177" name="Freeform: Shape 7176">
            <a:extLst>
              <a:ext uri="{FF2B5EF4-FFF2-40B4-BE49-F238E27FC236}">
                <a16:creationId xmlns:a16="http://schemas.microsoft.com/office/drawing/2014/main" id="{5B45AD5D-AA52-4F7B-9362-576A39AD9E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D5D5D5"/>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7179" name="Freeform: Shape 7178">
            <a:extLst>
              <a:ext uri="{FF2B5EF4-FFF2-40B4-BE49-F238E27FC236}">
                <a16:creationId xmlns:a16="http://schemas.microsoft.com/office/drawing/2014/main" id="{AEDD7960-4866-4399-BEF6-DD1431AB4E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97A174A-CE55-70E6-BC7E-41579126F697}"/>
              </a:ext>
            </a:extLst>
          </p:cNvPr>
          <p:cNvSpPr>
            <a:spLocks noGrp="1"/>
          </p:cNvSpPr>
          <p:nvPr>
            <p:ph type="title"/>
          </p:nvPr>
        </p:nvSpPr>
        <p:spPr>
          <a:xfrm>
            <a:off x="1" y="737220"/>
            <a:ext cx="5593278" cy="1549796"/>
          </a:xfrm>
        </p:spPr>
        <p:txBody>
          <a:bodyPr anchor="b">
            <a:noAutofit/>
          </a:bodyPr>
          <a:lstStyle/>
          <a:p>
            <a:r>
              <a:rPr lang="en-US" b="1" u="sng" dirty="0">
                <a:latin typeface="Times New Roman" panose="02020603050405020304" pitchFamily="18" charset="0"/>
                <a:cs typeface="Times New Roman" panose="02020603050405020304" pitchFamily="18" charset="0"/>
              </a:rPr>
              <a:t>Initiatives &amp; Programs</a:t>
            </a:r>
          </a:p>
        </p:txBody>
      </p:sp>
      <p:sp>
        <p:nvSpPr>
          <p:cNvPr id="7181" name="Rectangle 7180">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183" name="Rectangle 7182">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375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4" name="Content Placeholder 3">
            <a:extLst>
              <a:ext uri="{FF2B5EF4-FFF2-40B4-BE49-F238E27FC236}">
                <a16:creationId xmlns:a16="http://schemas.microsoft.com/office/drawing/2014/main" id="{63BB97B0-785E-225D-97B8-6FA04E23AEF4}"/>
              </a:ext>
            </a:extLst>
          </p:cNvPr>
          <p:cNvGraphicFramePr>
            <a:graphicFrameLocks noGrp="1"/>
          </p:cNvGraphicFramePr>
          <p:nvPr>
            <p:ph idx="1"/>
            <p:extLst>
              <p:ext uri="{D42A27DB-BD31-4B8C-83A1-F6EECF244321}">
                <p14:modId xmlns:p14="http://schemas.microsoft.com/office/powerpoint/2010/main" val="1939486611"/>
              </p:ext>
            </p:extLst>
          </p:nvPr>
        </p:nvGraphicFramePr>
        <p:xfrm>
          <a:off x="371094" y="2718054"/>
          <a:ext cx="3438906" cy="320725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866598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194" name="Picture 2" descr="Benefits A-Z - Childrens">
            <a:extLst>
              <a:ext uri="{FF2B5EF4-FFF2-40B4-BE49-F238E27FC236}">
                <a16:creationId xmlns:a16="http://schemas.microsoft.com/office/drawing/2014/main" id="{2AEF22DB-BB75-0F61-D0B8-BE1E6BB570E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0070" b="21119"/>
          <a:stretch/>
        </p:blipFill>
        <p:spPr bwMode="auto">
          <a:xfrm>
            <a:off x="20" y="10"/>
            <a:ext cx="12191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25723E53-D2D9-A80F-2A63-CA7AE5743B57}"/>
              </a:ext>
            </a:extLst>
          </p:cNvPr>
          <p:cNvSpPr>
            <a:spLocks noGrp="1"/>
          </p:cNvSpPr>
          <p:nvPr>
            <p:ph idx="1"/>
          </p:nvPr>
        </p:nvSpPr>
        <p:spPr>
          <a:xfrm>
            <a:off x="0" y="3752850"/>
            <a:ext cx="11709395" cy="3105140"/>
          </a:xfrm>
        </p:spPr>
        <p:txBody>
          <a:bodyPr anchor="ctr">
            <a:normAutofit/>
          </a:bodyPr>
          <a:lstStyle/>
          <a:p>
            <a:r>
              <a:rPr lang="en-US" sz="1800" dirty="0">
                <a:latin typeface="Times New Roman" panose="02020603050405020304" pitchFamily="18" charset="0"/>
                <a:cs typeface="Times New Roman" panose="02020603050405020304" pitchFamily="18" charset="0"/>
              </a:rPr>
              <a:t>PSEB boosts IT employment in Pakistan.</a:t>
            </a:r>
          </a:p>
          <a:p>
            <a:r>
              <a:rPr lang="en-US" sz="1800" dirty="0">
                <a:latin typeface="Times New Roman" panose="02020603050405020304" pitchFamily="18" charset="0"/>
                <a:cs typeface="Times New Roman" panose="02020603050405020304" pitchFamily="18" charset="0"/>
              </a:rPr>
              <a:t>PSEB's IT employment boost spurs Pakistan's economic growth.</a:t>
            </a:r>
          </a:p>
          <a:p>
            <a:r>
              <a:rPr lang="en-US" sz="1800" dirty="0">
                <a:latin typeface="Times New Roman" panose="02020603050405020304" pitchFamily="18" charset="0"/>
                <a:cs typeface="Times New Roman" panose="02020603050405020304" pitchFamily="18" charset="0"/>
              </a:rPr>
              <a:t>PSEB enhances Pakistan's IT outsourcing and investment appeal.</a:t>
            </a:r>
          </a:p>
          <a:p>
            <a:r>
              <a:rPr lang="en-US" sz="1800" dirty="0">
                <a:latin typeface="Times New Roman" panose="02020603050405020304" pitchFamily="18" charset="0"/>
                <a:cs typeface="Times New Roman" panose="02020603050405020304" pitchFamily="18" charset="0"/>
              </a:rPr>
              <a:t>PSEB fosters a favorable environment for local IT firms to thrive.</a:t>
            </a:r>
          </a:p>
          <a:p>
            <a:r>
              <a:rPr lang="en-US" sz="1800" dirty="0">
                <a:latin typeface="Times New Roman" panose="02020603050405020304" pitchFamily="18" charset="0"/>
                <a:cs typeface="Times New Roman" panose="02020603050405020304" pitchFamily="18" charset="0"/>
              </a:rPr>
              <a:t>PSEB supports local IT firms through finance, training, and programs.</a:t>
            </a:r>
          </a:p>
          <a:p>
            <a:r>
              <a:rPr lang="en-US" sz="1800" dirty="0">
                <a:latin typeface="Times New Roman" panose="02020603050405020304" pitchFamily="18" charset="0"/>
                <a:cs typeface="Times New Roman" panose="02020603050405020304" pitchFamily="18" charset="0"/>
              </a:rPr>
              <a:t>PSEB's support has empowered local IT firms to compete globally.</a:t>
            </a:r>
          </a:p>
        </p:txBody>
      </p:sp>
    </p:spTree>
    <p:extLst>
      <p:ext uri="{BB962C8B-B14F-4D97-AF65-F5344CB8AC3E}">
        <p14:creationId xmlns:p14="http://schemas.microsoft.com/office/powerpoint/2010/main" val="9612812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A3ADF-AC21-FC2A-EF8B-DEC551CC4766}"/>
              </a:ext>
            </a:extLst>
          </p:cNvPr>
          <p:cNvSpPr>
            <a:spLocks noGrp="1"/>
          </p:cNvSpPr>
          <p:nvPr>
            <p:ph type="title"/>
          </p:nvPr>
        </p:nvSpPr>
        <p:spPr>
          <a:xfrm>
            <a:off x="481013" y="3752849"/>
            <a:ext cx="3414093" cy="2452687"/>
          </a:xfrm>
        </p:spPr>
        <p:txBody>
          <a:bodyPr anchor="ctr">
            <a:normAutofit/>
          </a:bodyPr>
          <a:lstStyle/>
          <a:p>
            <a:r>
              <a:rPr lang="en-US" sz="5400" b="1" u="sng" dirty="0">
                <a:latin typeface="Times New Roman" panose="02020603050405020304" pitchFamily="18" charset="0"/>
                <a:cs typeface="Times New Roman" panose="02020603050405020304" pitchFamily="18" charset="0"/>
              </a:rPr>
              <a:t>Challenges</a:t>
            </a:r>
          </a:p>
        </p:txBody>
      </p:sp>
      <p:pic>
        <p:nvPicPr>
          <p:cNvPr id="9218" name="Picture 2" descr="10 Most Common Software Development Challenges">
            <a:extLst>
              <a:ext uri="{FF2B5EF4-FFF2-40B4-BE49-F238E27FC236}">
                <a16:creationId xmlns:a16="http://schemas.microsoft.com/office/drawing/2014/main" id="{4C806C73-B111-6D72-8F6D-7A56EF56689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0843" b="3352"/>
          <a:stretch/>
        </p:blipFill>
        <p:spPr bwMode="auto">
          <a:xfrm>
            <a:off x="20" y="10"/>
            <a:ext cx="12191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613E0E61-4E7C-3A6B-0F8E-72681FB99A82}"/>
              </a:ext>
            </a:extLst>
          </p:cNvPr>
          <p:cNvSpPr>
            <a:spLocks noGrp="1"/>
          </p:cNvSpPr>
          <p:nvPr>
            <p:ph idx="1"/>
          </p:nvPr>
        </p:nvSpPr>
        <p:spPr>
          <a:xfrm>
            <a:off x="4203865" y="3752850"/>
            <a:ext cx="7505530" cy="3105140"/>
          </a:xfrm>
        </p:spPr>
        <p:txBody>
          <a:bodyPr anchor="ctr">
            <a:noAutofit/>
          </a:bodyPr>
          <a:lstStyle/>
          <a:p>
            <a:r>
              <a:rPr lang="en-US" sz="2000" dirty="0">
                <a:latin typeface="Times New Roman" panose="02020603050405020304" pitchFamily="18" charset="0"/>
                <a:cs typeface="Times New Roman" panose="02020603050405020304" pitchFamily="18" charset="0"/>
              </a:rPr>
              <a:t>PSEB faces hurdles in boosting Pakistan's IT industry growth.</a:t>
            </a:r>
          </a:p>
          <a:p>
            <a:r>
              <a:rPr lang="en-US" sz="2000" dirty="0">
                <a:latin typeface="Times New Roman" panose="02020603050405020304" pitchFamily="18" charset="0"/>
                <a:cs typeface="Times New Roman" panose="02020603050405020304" pitchFamily="18" charset="0"/>
              </a:rPr>
              <a:t>Limited finance access is a challenge for PSEB.</a:t>
            </a:r>
          </a:p>
          <a:p>
            <a:r>
              <a:rPr lang="en-US" sz="2000" dirty="0">
                <a:latin typeface="Times New Roman" panose="02020603050405020304" pitchFamily="18" charset="0"/>
                <a:cs typeface="Times New Roman" panose="02020603050405020304" pitchFamily="18" charset="0"/>
              </a:rPr>
              <a:t>Pakistan's IT industry has a skills gap to address.</a:t>
            </a:r>
          </a:p>
          <a:p>
            <a:r>
              <a:rPr lang="en-US" sz="2000" dirty="0">
                <a:latin typeface="Times New Roman" panose="02020603050405020304" pitchFamily="18" charset="0"/>
                <a:cs typeface="Times New Roman" panose="02020603050405020304" pitchFamily="18" charset="0"/>
              </a:rPr>
              <a:t>Infrastructure issues impede PSEB's IT industry growth goals.</a:t>
            </a:r>
          </a:p>
          <a:p>
            <a:r>
              <a:rPr lang="en-US" sz="2000" dirty="0">
                <a:latin typeface="Times New Roman" panose="02020603050405020304" pitchFamily="18" charset="0"/>
                <a:cs typeface="Times New Roman" panose="02020603050405020304" pitchFamily="18" charset="0"/>
              </a:rPr>
              <a:t>Awareness and exposure are vital for Pakistan's IT industry growth.</a:t>
            </a:r>
          </a:p>
          <a:p>
            <a:r>
              <a:rPr lang="en-US" sz="2000" b="0" i="0" dirty="0">
                <a:effectLst/>
                <a:latin typeface="Times New Roman" panose="02020603050405020304" pitchFamily="18" charset="0"/>
                <a:cs typeface="Times New Roman" panose="02020603050405020304" pitchFamily="18" charset="0"/>
              </a:rPr>
              <a:t>Political instability affects Pakistan's IT industry growth.</a:t>
            </a:r>
          </a:p>
          <a:p>
            <a:r>
              <a:rPr lang="en-US" sz="2000" b="0" i="0" dirty="0">
                <a:effectLst/>
                <a:latin typeface="Times New Roman" panose="02020603050405020304" pitchFamily="18" charset="0"/>
                <a:cs typeface="Times New Roman" panose="02020603050405020304" pitchFamily="18" charset="0"/>
              </a:rPr>
              <a:t>Security concerns challenge PSEB's IT industry growth efforts.</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73607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379F2-8272-583B-0107-CE9CDF7D2FD7}"/>
              </a:ext>
            </a:extLst>
          </p:cNvPr>
          <p:cNvSpPr>
            <a:spLocks noGrp="1"/>
          </p:cNvSpPr>
          <p:nvPr>
            <p:ph type="title"/>
          </p:nvPr>
        </p:nvSpPr>
        <p:spPr/>
        <p:txBody>
          <a:bodyPr/>
          <a:lstStyle/>
          <a:p>
            <a:r>
              <a:rPr lang="en-US" b="1" u="sng" dirty="0">
                <a:latin typeface="Times New Roman" panose="02020603050405020304" pitchFamily="18" charset="0"/>
                <a:cs typeface="Times New Roman" panose="02020603050405020304" pitchFamily="18" charset="0"/>
              </a:rPr>
              <a:t>Key Stakeholders</a:t>
            </a:r>
          </a:p>
        </p:txBody>
      </p:sp>
      <p:graphicFrame>
        <p:nvGraphicFramePr>
          <p:cNvPr id="4" name="Content Placeholder 3">
            <a:extLst>
              <a:ext uri="{FF2B5EF4-FFF2-40B4-BE49-F238E27FC236}">
                <a16:creationId xmlns:a16="http://schemas.microsoft.com/office/drawing/2014/main" id="{0B6F8962-1DFD-E582-4725-37DE22FE2188}"/>
              </a:ext>
            </a:extLst>
          </p:cNvPr>
          <p:cNvGraphicFramePr>
            <a:graphicFrameLocks noGrp="1"/>
          </p:cNvGraphicFramePr>
          <p:nvPr>
            <p:ph idx="1"/>
            <p:extLst>
              <p:ext uri="{D42A27DB-BD31-4B8C-83A1-F6EECF244321}">
                <p14:modId xmlns:p14="http://schemas.microsoft.com/office/powerpoint/2010/main" val="267064428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809146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7455B-490B-0D09-6579-CA33EB64E480}"/>
              </a:ext>
            </a:extLst>
          </p:cNvPr>
          <p:cNvSpPr>
            <a:spLocks noGrp="1"/>
          </p:cNvSpPr>
          <p:nvPr>
            <p:ph type="title"/>
          </p:nvPr>
        </p:nvSpPr>
        <p:spPr>
          <a:xfrm>
            <a:off x="6096001" y="490537"/>
            <a:ext cx="5613396" cy="958253"/>
          </a:xfrm>
        </p:spPr>
        <p:txBody>
          <a:bodyPr anchor="b">
            <a:normAutofit/>
          </a:bodyPr>
          <a:lstStyle/>
          <a:p>
            <a:r>
              <a:rPr lang="en-US" b="1" u="sng" dirty="0">
                <a:latin typeface="Times New Roman" panose="02020603050405020304" pitchFamily="18" charset="0"/>
                <a:cs typeface="Times New Roman" panose="02020603050405020304" pitchFamily="18" charset="0"/>
              </a:rPr>
              <a:t>Future Plans &amp; Vision</a:t>
            </a:r>
          </a:p>
        </p:txBody>
      </p:sp>
      <p:pic>
        <p:nvPicPr>
          <p:cNvPr id="10242" name="Picture 2" descr="6 Powerful Tips To Creating A Clear Vision And Mission - Business Academia">
            <a:extLst>
              <a:ext uri="{FF2B5EF4-FFF2-40B4-BE49-F238E27FC236}">
                <a16:creationId xmlns:a16="http://schemas.microsoft.com/office/drawing/2014/main" id="{709AE2A4-8C01-88B0-86B0-CC0840734BA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5787" r="24202"/>
          <a:stretch/>
        </p:blipFill>
        <p:spPr bwMode="auto">
          <a:xfrm>
            <a:off x="2" y="1"/>
            <a:ext cx="6095999" cy="6858000"/>
          </a:xfrm>
          <a:custGeom>
            <a:avLst/>
            <a:gdLst/>
            <a:ahLst/>
            <a:cxnLst/>
            <a:rect l="l" t="t" r="r" b="b"/>
            <a:pathLst>
              <a:path w="6649908" h="6856413">
                <a:moveTo>
                  <a:pt x="0" y="0"/>
                </a:moveTo>
                <a:lnTo>
                  <a:pt x="6559859" y="0"/>
                </a:lnTo>
                <a:lnTo>
                  <a:pt x="6572145" y="79394"/>
                </a:lnTo>
                <a:cubicBezTo>
                  <a:pt x="6857782" y="2230562"/>
                  <a:pt x="6243159" y="4473353"/>
                  <a:pt x="6528796" y="6624522"/>
                </a:cubicBezTo>
                <a:lnTo>
                  <a:pt x="6564680" y="6856413"/>
                </a:lnTo>
                <a:lnTo>
                  <a:pt x="0" y="6856413"/>
                </a:lnTo>
                <a:close/>
              </a:path>
            </a:pathLst>
          </a:cu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427003FE-F4E5-3F0F-997B-49178B9150C8}"/>
              </a:ext>
            </a:extLst>
          </p:cNvPr>
          <p:cNvSpPr>
            <a:spLocks noGrp="1"/>
          </p:cNvSpPr>
          <p:nvPr>
            <p:ph idx="1"/>
          </p:nvPr>
        </p:nvSpPr>
        <p:spPr>
          <a:xfrm>
            <a:off x="6417734" y="1939326"/>
            <a:ext cx="5291663" cy="4428135"/>
          </a:xfrm>
        </p:spPr>
        <p:txBody>
          <a:bodyPr>
            <a:noAutofit/>
          </a:bodyPr>
          <a:lstStyle/>
          <a:p>
            <a:r>
              <a:rPr lang="en-US" sz="2000" dirty="0">
                <a:latin typeface="Times New Roman" panose="02020603050405020304" pitchFamily="18" charset="0"/>
                <a:cs typeface="Times New Roman" panose="02020603050405020304" pitchFamily="18" charset="0"/>
              </a:rPr>
              <a:t>PSEB aims to fortify and broaden Pakistan's IT industry.</a:t>
            </a:r>
          </a:p>
          <a:p>
            <a:r>
              <a:rPr lang="en-US" sz="2000" b="0" i="0" dirty="0">
                <a:effectLst/>
                <a:latin typeface="Times New Roman" panose="02020603050405020304" pitchFamily="18" charset="0"/>
                <a:cs typeface="Times New Roman" panose="02020603050405020304" pitchFamily="18" charset="0"/>
              </a:rPr>
              <a:t>PSEB aims to attract foreign investment to Pakistan's IT sector.</a:t>
            </a:r>
          </a:p>
          <a:p>
            <a:r>
              <a:rPr lang="en-US" sz="2000" dirty="0">
                <a:latin typeface="Times New Roman" panose="02020603050405020304" pitchFamily="18" charset="0"/>
                <a:cs typeface="Times New Roman" panose="02020603050405020304" pitchFamily="18" charset="0"/>
              </a:rPr>
              <a:t>PSEB plans to enhance HR capabilities, foster innovation, and entrepreneurship.</a:t>
            </a:r>
          </a:p>
          <a:p>
            <a:r>
              <a:rPr lang="en-US" sz="2000" b="0" i="0" dirty="0">
                <a:effectLst/>
                <a:latin typeface="Times New Roman" panose="02020603050405020304" pitchFamily="18" charset="0"/>
                <a:cs typeface="Times New Roman" panose="02020603050405020304" pitchFamily="18" charset="0"/>
              </a:rPr>
              <a:t>PSEB aims to promote cross-border trade in IT services.</a:t>
            </a:r>
          </a:p>
          <a:p>
            <a:r>
              <a:rPr lang="en-US" sz="2000" b="0" i="0" dirty="0">
                <a:effectLst/>
                <a:latin typeface="Times New Roman" panose="02020603050405020304" pitchFamily="18" charset="0"/>
                <a:cs typeface="Times New Roman" panose="02020603050405020304" pitchFamily="18" charset="0"/>
              </a:rPr>
              <a:t>PSEB aims to make Pakistan a top IT destination.</a:t>
            </a:r>
            <a:endParaRPr lang="en-US" sz="2000" dirty="0">
              <a:latin typeface="Times New Roman" panose="02020603050405020304" pitchFamily="18" charset="0"/>
              <a:cs typeface="Times New Roman" panose="02020603050405020304" pitchFamily="18" charset="0"/>
            </a:endParaRPr>
          </a:p>
          <a:p>
            <a:r>
              <a:rPr lang="en-US" sz="2000" b="0" i="0" dirty="0">
                <a:effectLst/>
                <a:latin typeface="Times New Roman" panose="02020603050405020304" pitchFamily="18" charset="0"/>
                <a:cs typeface="Times New Roman" panose="02020603050405020304" pitchFamily="18" charset="0"/>
              </a:rPr>
              <a:t>PSEB plans to support IT startups with a favorable ecosystem.</a:t>
            </a:r>
          </a:p>
          <a:p>
            <a:r>
              <a:rPr lang="en-US" sz="2000" b="0" i="0" dirty="0">
                <a:effectLst/>
                <a:latin typeface="Times New Roman" panose="02020603050405020304" pitchFamily="18" charset="0"/>
                <a:cs typeface="Times New Roman" panose="02020603050405020304" pitchFamily="18" charset="0"/>
              </a:rPr>
              <a:t>PSEB aims to provide a favorable business environment for IT in Pakistan.</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06926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71" name="Rectangle 11270">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266" name="Picture 2" descr="Writing Really Effective Conclusions | by Walter Bowne | The Writing  Cooperative">
            <a:extLst>
              <a:ext uri="{FF2B5EF4-FFF2-40B4-BE49-F238E27FC236}">
                <a16:creationId xmlns:a16="http://schemas.microsoft.com/office/drawing/2014/main" id="{6D6B5BA2-2179-F551-9D99-A88F481EF5A5}"/>
              </a:ext>
            </a:extLst>
          </p:cNvPr>
          <p:cNvPicPr>
            <a:picLocks noChangeAspect="1" noChangeArrowheads="1"/>
          </p:cNvPicPr>
          <p:nvPr/>
        </p:nvPicPr>
        <p:blipFill rotWithShape="1">
          <a:blip r:embed="rId2">
            <a:alphaModFix amt="35000"/>
            <a:extLst>
              <a:ext uri="{28A0092B-C50C-407E-A947-70E740481C1C}">
                <a14:useLocalDpi xmlns:a14="http://schemas.microsoft.com/office/drawing/2010/main" val="0"/>
              </a:ext>
            </a:extLst>
          </a:blip>
          <a:srcRect/>
          <a:stretch/>
        </p:blipFill>
        <p:spPr bwMode="auto">
          <a:xfrm>
            <a:off x="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BADB4856-E7A6-8C54-2478-0D86E672B134}"/>
              </a:ext>
            </a:extLst>
          </p:cNvPr>
          <p:cNvSpPr>
            <a:spLocks noGrp="1"/>
          </p:cNvSpPr>
          <p:nvPr>
            <p:ph idx="1"/>
          </p:nvPr>
        </p:nvSpPr>
        <p:spPr>
          <a:xfrm>
            <a:off x="1876300" y="2909456"/>
            <a:ext cx="5284521" cy="3651652"/>
          </a:xfrm>
        </p:spPr>
        <p:txBody>
          <a:bodyPr>
            <a:normAutofit fontScale="92500" lnSpcReduction="20000"/>
          </a:bodyPr>
          <a:lstStyle/>
          <a:p>
            <a:pPr marL="0" indent="0">
              <a:buNone/>
            </a:pPr>
            <a:r>
              <a:rPr lang="en-US" b="1" dirty="0">
                <a:solidFill>
                  <a:srgbClr val="FFFFFF"/>
                </a:solidFill>
                <a:latin typeface="Times New Roman" panose="02020603050405020304" pitchFamily="18" charset="0"/>
                <a:cs typeface="Times New Roman" panose="02020603050405020304" pitchFamily="18" charset="0"/>
              </a:rPr>
              <a:t>The Pakistan Software Export Board (PSEB) plays a crucial role in promoting and developing the IT industry in Pakistan by offering various services and programs. Its efforts have led to increased employment opportunities, economic growth, and improved international image. PSEB's work is essential for the continued growth and success of the IT industry in Pakistan.</a:t>
            </a:r>
          </a:p>
        </p:txBody>
      </p:sp>
    </p:spTree>
    <p:extLst>
      <p:ext uri="{BB962C8B-B14F-4D97-AF65-F5344CB8AC3E}">
        <p14:creationId xmlns:p14="http://schemas.microsoft.com/office/powerpoint/2010/main" val="3954692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304" name="Rectangle 12303">
            <a:extLst>
              <a:ext uri="{FF2B5EF4-FFF2-40B4-BE49-F238E27FC236}">
                <a16:creationId xmlns:a16="http://schemas.microsoft.com/office/drawing/2014/main" id="{C3862298-AF85-4572-BED3-52E573EBD4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06" name="Oval 12305">
            <a:extLst>
              <a:ext uri="{FF2B5EF4-FFF2-40B4-BE49-F238E27FC236}">
                <a16:creationId xmlns:a16="http://schemas.microsoft.com/office/drawing/2014/main" id="{7BE265E6-D012-42B3-A7DE-C8FEED40DB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24917" y="3131936"/>
            <a:ext cx="1240640" cy="1240638"/>
          </a:xfrm>
          <a:prstGeom prst="ellipse">
            <a:avLst/>
          </a:prstGeom>
          <a:solidFill>
            <a:schemeClr val="accent6">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08" name="Freeform: Shape 12307">
            <a:extLst>
              <a:ext uri="{FF2B5EF4-FFF2-40B4-BE49-F238E27FC236}">
                <a16:creationId xmlns:a16="http://schemas.microsoft.com/office/drawing/2014/main" id="{6EB9A5AE-0A9C-4EB1-9569-A44D89EFC5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70306" y="4546924"/>
            <a:ext cx="2369988" cy="2311077"/>
          </a:xfrm>
          <a:custGeom>
            <a:avLst/>
            <a:gdLst>
              <a:gd name="connsiteX0" fmla="*/ 0 w 2369988"/>
              <a:gd name="connsiteY0" fmla="*/ 0 h 2311077"/>
              <a:gd name="connsiteX1" fmla="*/ 1128071 w 2369988"/>
              <a:gd name="connsiteY1" fmla="*/ 0 h 2311077"/>
              <a:gd name="connsiteX2" fmla="*/ 1157716 w 2369988"/>
              <a:gd name="connsiteY2" fmla="*/ 128440 h 2311077"/>
              <a:gd name="connsiteX3" fmla="*/ 2316462 w 2369988"/>
              <a:gd name="connsiteY3" fmla="*/ 2257392 h 2311077"/>
              <a:gd name="connsiteX4" fmla="*/ 2369988 w 2369988"/>
              <a:gd name="connsiteY4" fmla="*/ 2311077 h 2311077"/>
              <a:gd name="connsiteX5" fmla="*/ 957894 w 2369988"/>
              <a:gd name="connsiteY5" fmla="*/ 2311077 h 2311077"/>
              <a:gd name="connsiteX6" fmla="*/ 777804 w 2369988"/>
              <a:gd name="connsiteY6" fmla="*/ 2040997 h 2311077"/>
              <a:gd name="connsiteX7" fmla="*/ 19614 w 2369988"/>
              <a:gd name="connsiteY7" fmla="*/ 109827 h 2311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69988" h="2311077">
                <a:moveTo>
                  <a:pt x="0" y="0"/>
                </a:moveTo>
                <a:lnTo>
                  <a:pt x="1128071" y="0"/>
                </a:lnTo>
                <a:lnTo>
                  <a:pt x="1157716" y="128440"/>
                </a:lnTo>
                <a:cubicBezTo>
                  <a:pt x="1365270" y="935139"/>
                  <a:pt x="1769588" y="1662859"/>
                  <a:pt x="2316462" y="2257392"/>
                </a:cubicBezTo>
                <a:lnTo>
                  <a:pt x="2369988" y="2311077"/>
                </a:lnTo>
                <a:lnTo>
                  <a:pt x="957894" y="2311077"/>
                </a:lnTo>
                <a:lnTo>
                  <a:pt x="777804" y="2040997"/>
                </a:lnTo>
                <a:cubicBezTo>
                  <a:pt x="421651" y="1454849"/>
                  <a:pt x="161627" y="803832"/>
                  <a:pt x="19614" y="109827"/>
                </a:cubicBezTo>
                <a:close/>
              </a:path>
            </a:pathLst>
          </a:custGeom>
          <a:solidFill>
            <a:schemeClr val="tx1">
              <a:lumMod val="50000"/>
              <a:lumOff val="50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2296" name="Picture 8" descr="Meme: &quot;Thank you for your attention Don't ask any questions&quot; - All  Templates - Meme-arsenal.com">
            <a:extLst>
              <a:ext uri="{FF2B5EF4-FFF2-40B4-BE49-F238E27FC236}">
                <a16:creationId xmlns:a16="http://schemas.microsoft.com/office/drawing/2014/main" id="{1DA3B8C3-2385-AEC9-01E4-4024221B3B2F}"/>
              </a:ext>
            </a:extLst>
          </p:cNvPr>
          <p:cNvPicPr>
            <a:picLocks noChangeAspect="1" noChangeArrowheads="1"/>
          </p:cNvPicPr>
          <p:nvPr/>
        </p:nvPicPr>
        <p:blipFill>
          <a:blip r:embed="rId2">
            <a:duotone>
              <a:prstClr val="black"/>
              <a:prstClr val="white"/>
            </a:duotone>
            <a:extLst>
              <a:ext uri="{28A0092B-C50C-407E-A947-70E740481C1C}">
                <a14:useLocalDpi xmlns:a14="http://schemas.microsoft.com/office/drawing/2010/main" val="0"/>
              </a:ext>
            </a:extLst>
          </a:blip>
          <a:stretch>
            <a:fillRect/>
          </a:stretch>
        </p:blipFill>
        <p:spPr bwMode="auto">
          <a:xfrm>
            <a:off x="5426572" y="965201"/>
            <a:ext cx="4691932" cy="492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371001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F46216B-77A9-411A-B9D3-5023FCB70208}"/>
    </a:ext>
  </a:extLst>
</a:theme>
</file>

<file path=docProps/app.xml><?xml version="1.0" encoding="utf-8"?>
<Properties xmlns="http://schemas.openxmlformats.org/officeDocument/2006/extended-properties" xmlns:vt="http://schemas.openxmlformats.org/officeDocument/2006/docPropsVTypes">
  <Template>Office Theme 2013 - 2022</Template>
  <TotalTime>205</TotalTime>
  <Words>586</Words>
  <Application>Microsoft Office PowerPoint</Application>
  <PresentationFormat>Widescreen</PresentationFormat>
  <Paragraphs>80</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Calibri Light</vt:lpstr>
      <vt:lpstr>Söhne</vt:lpstr>
      <vt:lpstr>Times New Roman</vt:lpstr>
      <vt:lpstr>Office Theme</vt:lpstr>
      <vt:lpstr>Pakistan Software Export Board (PSEB)</vt:lpstr>
      <vt:lpstr>Introduction</vt:lpstr>
      <vt:lpstr>History</vt:lpstr>
      <vt:lpstr>Evolution</vt:lpstr>
      <vt:lpstr>Functions</vt:lpstr>
      <vt:lpstr>Scope</vt:lpstr>
      <vt:lpstr>Functionaries</vt:lpstr>
      <vt:lpstr>Initiatives &amp; Programs</vt:lpstr>
      <vt:lpstr>PowerPoint Presentation</vt:lpstr>
      <vt:lpstr>Challenges</vt:lpstr>
      <vt:lpstr>Key Stakeholders</vt:lpstr>
      <vt:lpstr>Future Plans &amp; Vision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Pakistan Software Export Board (PSEB)</dc:title>
  <dc:creator>L215617Muhammad Ahmad</dc:creator>
  <cp:lastModifiedBy>M HASSAN KHALID</cp:lastModifiedBy>
  <cp:revision>2</cp:revision>
  <dcterms:created xsi:type="dcterms:W3CDTF">2023-04-26T12:20:20Z</dcterms:created>
  <dcterms:modified xsi:type="dcterms:W3CDTF">2023-05-03T17:38:59Z</dcterms:modified>
</cp:coreProperties>
</file>