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7772400" cx="10058400"/>
  <p:notesSz cx="10058400" cy="7772400"/>
  <p:embeddedFontLst>
    <p:embeddedFont>
      <p:font typeface="Arimo"/>
      <p:regular r:id="rId18"/>
      <p:bold r:id="rId19"/>
      <p:italic r:id="rId20"/>
      <p:boldItalic r:id="rId21"/>
    </p:embeddedFont>
    <p:embeddedFont>
      <p:font typeface="Tahom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grFlFhr7W7wf23E39z+TX44OL4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D327CA-5784-4EC6-991F-50E0151CFC29}">
  <a:tblStyle styleId="{F8D327CA-5784-4EC6-991F-50E0151CFC2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italic.fntdata"/><Relationship Id="rId11" Type="http://schemas.openxmlformats.org/officeDocument/2006/relationships/slide" Target="slides/slide5.xml"/><Relationship Id="rId22" Type="http://schemas.openxmlformats.org/officeDocument/2006/relationships/font" Target="fonts/Tahoma-regular.fntdata"/><Relationship Id="rId10" Type="http://schemas.openxmlformats.org/officeDocument/2006/relationships/slide" Target="slides/slide4.xml"/><Relationship Id="rId21" Type="http://schemas.openxmlformats.org/officeDocument/2006/relationships/font" Target="fonts/Arimo-boldItalic.fntdata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Tahom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Arim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Arim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1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1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2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3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4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5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5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6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7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9"/>
          <p:cNvSpPr txBox="1"/>
          <p:nvPr>
            <p:ph type="title"/>
          </p:nvPr>
        </p:nvSpPr>
        <p:spPr>
          <a:xfrm>
            <a:off x="1513973" y="441461"/>
            <a:ext cx="7030452" cy="56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5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9"/>
          <p:cNvSpPr txBox="1"/>
          <p:nvPr>
            <p:ph idx="1" type="body"/>
          </p:nvPr>
        </p:nvSpPr>
        <p:spPr>
          <a:xfrm>
            <a:off x="476746" y="1557081"/>
            <a:ext cx="9104906" cy="506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9"/>
          <p:cNvSpPr txBox="1"/>
          <p:nvPr>
            <p:ph idx="11" type="ftr"/>
          </p:nvPr>
        </p:nvSpPr>
        <p:spPr>
          <a:xfrm>
            <a:off x="7352818" y="7407271"/>
            <a:ext cx="255714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>
                <a:solidFill>
                  <a:srgbClr val="33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0" type="dt"/>
          </p:nvPr>
        </p:nvSpPr>
        <p:spPr>
          <a:xfrm>
            <a:off x="292088" y="7443812"/>
            <a:ext cx="280098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9"/>
          <p:cNvSpPr txBox="1"/>
          <p:nvPr>
            <p:ph idx="12" type="sldNum"/>
          </p:nvPr>
        </p:nvSpPr>
        <p:spPr>
          <a:xfrm>
            <a:off x="4778766" y="7436195"/>
            <a:ext cx="325754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0"/>
          <p:cNvSpPr/>
          <p:nvPr/>
        </p:nvSpPr>
        <p:spPr>
          <a:xfrm>
            <a:off x="315468" y="114300"/>
            <a:ext cx="1315211" cy="99974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0"/>
          <p:cNvSpPr/>
          <p:nvPr/>
        </p:nvSpPr>
        <p:spPr>
          <a:xfrm>
            <a:off x="0" y="114300"/>
            <a:ext cx="251460" cy="2514600"/>
          </a:xfrm>
          <a:custGeom>
            <a:rect b="b" l="l" r="r" t="t"/>
            <a:pathLst>
              <a:path extrusionOk="0" h="2514600" w="251460">
                <a:moveTo>
                  <a:pt x="251459" y="2514600"/>
                </a:moveTo>
                <a:lnTo>
                  <a:pt x="0" y="2514600"/>
                </a:lnTo>
                <a:lnTo>
                  <a:pt x="0" y="0"/>
                </a:lnTo>
                <a:lnTo>
                  <a:pt x="251459" y="0"/>
                </a:lnTo>
                <a:lnTo>
                  <a:pt x="251459" y="2514600"/>
                </a:lnTo>
                <a:close/>
              </a:path>
            </a:pathLst>
          </a:custGeom>
          <a:solidFill>
            <a:srgbClr val="3366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0"/>
          <p:cNvSpPr/>
          <p:nvPr/>
        </p:nvSpPr>
        <p:spPr>
          <a:xfrm>
            <a:off x="502919" y="1062227"/>
            <a:ext cx="8884920" cy="0"/>
          </a:xfrm>
          <a:custGeom>
            <a:rect b="b" l="l" r="r" t="t"/>
            <a:pathLst>
              <a:path extrusionOk="0" h="120000" w="8884920">
                <a:moveTo>
                  <a:pt x="0" y="0"/>
                </a:moveTo>
                <a:lnTo>
                  <a:pt x="8884920" y="0"/>
                </a:lnTo>
              </a:path>
            </a:pathLst>
          </a:custGeom>
          <a:noFill/>
          <a:ln cap="flat" cmpd="sng" w="21325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0"/>
          <p:cNvSpPr/>
          <p:nvPr/>
        </p:nvSpPr>
        <p:spPr>
          <a:xfrm>
            <a:off x="0" y="2628900"/>
            <a:ext cx="251459" cy="502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0"/>
          <p:cNvSpPr/>
          <p:nvPr/>
        </p:nvSpPr>
        <p:spPr>
          <a:xfrm>
            <a:off x="8552688" y="6550152"/>
            <a:ext cx="1412748" cy="8717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0"/>
          <p:cNvSpPr txBox="1"/>
          <p:nvPr>
            <p:ph type="ctrTitle"/>
          </p:nvPr>
        </p:nvSpPr>
        <p:spPr>
          <a:xfrm>
            <a:off x="3031271" y="441461"/>
            <a:ext cx="3995856" cy="56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5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" type="subTitle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0"/>
          <p:cNvSpPr txBox="1"/>
          <p:nvPr>
            <p:ph idx="11" type="ftr"/>
          </p:nvPr>
        </p:nvSpPr>
        <p:spPr>
          <a:xfrm>
            <a:off x="7352818" y="7407271"/>
            <a:ext cx="255714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>
                <a:solidFill>
                  <a:srgbClr val="33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0"/>
          <p:cNvSpPr txBox="1"/>
          <p:nvPr>
            <p:ph idx="10" type="dt"/>
          </p:nvPr>
        </p:nvSpPr>
        <p:spPr>
          <a:xfrm>
            <a:off x="292088" y="7443812"/>
            <a:ext cx="280098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0"/>
          <p:cNvSpPr txBox="1"/>
          <p:nvPr>
            <p:ph idx="12" type="sldNum"/>
          </p:nvPr>
        </p:nvSpPr>
        <p:spPr>
          <a:xfrm>
            <a:off x="4778766" y="7436195"/>
            <a:ext cx="325754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1"/>
          <p:cNvSpPr txBox="1"/>
          <p:nvPr>
            <p:ph idx="11" type="ftr"/>
          </p:nvPr>
        </p:nvSpPr>
        <p:spPr>
          <a:xfrm>
            <a:off x="7352818" y="7407271"/>
            <a:ext cx="255714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>
                <a:solidFill>
                  <a:srgbClr val="33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0" type="dt"/>
          </p:nvPr>
        </p:nvSpPr>
        <p:spPr>
          <a:xfrm>
            <a:off x="292088" y="7443812"/>
            <a:ext cx="280098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1"/>
          <p:cNvSpPr txBox="1"/>
          <p:nvPr>
            <p:ph idx="12" type="sldNum"/>
          </p:nvPr>
        </p:nvSpPr>
        <p:spPr>
          <a:xfrm>
            <a:off x="4778766" y="7436195"/>
            <a:ext cx="325754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2"/>
          <p:cNvSpPr txBox="1"/>
          <p:nvPr>
            <p:ph type="title"/>
          </p:nvPr>
        </p:nvSpPr>
        <p:spPr>
          <a:xfrm>
            <a:off x="1513973" y="441461"/>
            <a:ext cx="7030452" cy="56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5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2"/>
          <p:cNvSpPr txBox="1"/>
          <p:nvPr>
            <p:ph idx="1" type="body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2"/>
          <p:cNvSpPr txBox="1"/>
          <p:nvPr>
            <p:ph idx="2" type="body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1" type="ftr"/>
          </p:nvPr>
        </p:nvSpPr>
        <p:spPr>
          <a:xfrm>
            <a:off x="7352818" y="7407271"/>
            <a:ext cx="255714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>
                <a:solidFill>
                  <a:srgbClr val="33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0" type="dt"/>
          </p:nvPr>
        </p:nvSpPr>
        <p:spPr>
          <a:xfrm>
            <a:off x="292088" y="7443812"/>
            <a:ext cx="280098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2"/>
          <p:cNvSpPr txBox="1"/>
          <p:nvPr>
            <p:ph idx="12" type="sldNum"/>
          </p:nvPr>
        </p:nvSpPr>
        <p:spPr>
          <a:xfrm>
            <a:off x="4778766" y="7436195"/>
            <a:ext cx="325754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3"/>
          <p:cNvSpPr txBox="1"/>
          <p:nvPr>
            <p:ph type="title"/>
          </p:nvPr>
        </p:nvSpPr>
        <p:spPr>
          <a:xfrm>
            <a:off x="1513973" y="441461"/>
            <a:ext cx="7030452" cy="56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5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3"/>
          <p:cNvSpPr txBox="1"/>
          <p:nvPr>
            <p:ph idx="11" type="ftr"/>
          </p:nvPr>
        </p:nvSpPr>
        <p:spPr>
          <a:xfrm>
            <a:off x="7352818" y="7407271"/>
            <a:ext cx="255714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>
                <a:solidFill>
                  <a:srgbClr val="33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3"/>
          <p:cNvSpPr txBox="1"/>
          <p:nvPr>
            <p:ph idx="10" type="dt"/>
          </p:nvPr>
        </p:nvSpPr>
        <p:spPr>
          <a:xfrm>
            <a:off x="292088" y="7443812"/>
            <a:ext cx="280098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3"/>
          <p:cNvSpPr txBox="1"/>
          <p:nvPr>
            <p:ph idx="12" type="sldNum"/>
          </p:nvPr>
        </p:nvSpPr>
        <p:spPr>
          <a:xfrm>
            <a:off x="4778766" y="7436195"/>
            <a:ext cx="325754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 marR="0" algn="l">
              <a:lnSpc>
                <a:spcPct val="100000"/>
              </a:lnSpc>
              <a:spcBef>
                <a:spcPts val="0"/>
              </a:spcBef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/>
          <p:nvPr/>
        </p:nvSpPr>
        <p:spPr>
          <a:xfrm>
            <a:off x="315468" y="114300"/>
            <a:ext cx="1315211" cy="999744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38"/>
          <p:cNvSpPr/>
          <p:nvPr/>
        </p:nvSpPr>
        <p:spPr>
          <a:xfrm>
            <a:off x="0" y="114300"/>
            <a:ext cx="251460" cy="2514600"/>
          </a:xfrm>
          <a:custGeom>
            <a:rect b="b" l="l" r="r" t="t"/>
            <a:pathLst>
              <a:path extrusionOk="0" h="2514600" w="251460">
                <a:moveTo>
                  <a:pt x="251459" y="2514600"/>
                </a:moveTo>
                <a:lnTo>
                  <a:pt x="0" y="2514600"/>
                </a:lnTo>
                <a:lnTo>
                  <a:pt x="0" y="0"/>
                </a:lnTo>
                <a:lnTo>
                  <a:pt x="251459" y="0"/>
                </a:lnTo>
                <a:lnTo>
                  <a:pt x="251459" y="2514600"/>
                </a:lnTo>
                <a:close/>
              </a:path>
            </a:pathLst>
          </a:custGeom>
          <a:solidFill>
            <a:srgbClr val="3366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38"/>
          <p:cNvSpPr txBox="1"/>
          <p:nvPr>
            <p:ph type="title"/>
          </p:nvPr>
        </p:nvSpPr>
        <p:spPr>
          <a:xfrm>
            <a:off x="1513973" y="441461"/>
            <a:ext cx="7030452" cy="56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5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38"/>
          <p:cNvSpPr txBox="1"/>
          <p:nvPr>
            <p:ph idx="1" type="body"/>
          </p:nvPr>
        </p:nvSpPr>
        <p:spPr>
          <a:xfrm>
            <a:off x="476746" y="1557081"/>
            <a:ext cx="9104906" cy="506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8"/>
          <p:cNvSpPr txBox="1"/>
          <p:nvPr>
            <p:ph idx="11" type="ftr"/>
          </p:nvPr>
        </p:nvSpPr>
        <p:spPr>
          <a:xfrm>
            <a:off x="7352818" y="7407271"/>
            <a:ext cx="255714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>
                <a:solidFill>
                  <a:srgbClr val="33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8"/>
          <p:cNvSpPr txBox="1"/>
          <p:nvPr>
            <p:ph idx="10" type="dt"/>
          </p:nvPr>
        </p:nvSpPr>
        <p:spPr>
          <a:xfrm>
            <a:off x="292088" y="7443812"/>
            <a:ext cx="280098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8"/>
          <p:cNvSpPr txBox="1"/>
          <p:nvPr>
            <p:ph idx="12" type="sldNum"/>
          </p:nvPr>
        </p:nvSpPr>
        <p:spPr>
          <a:xfrm>
            <a:off x="4778766" y="7436195"/>
            <a:ext cx="325754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rtl="0" algn="l">
              <a:lnSpc>
                <a:spcPct val="100000"/>
              </a:lnSpc>
              <a:spcBef>
                <a:spcPts val="0"/>
              </a:spcBef>
              <a:buNone/>
              <a:defRPr b="1" i="0" sz="11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 marR="0" rtl="0" algn="l">
              <a:lnSpc>
                <a:spcPct val="100000"/>
              </a:lnSpc>
              <a:spcBef>
                <a:spcPts val="0"/>
              </a:spcBef>
              <a:buNone/>
              <a:defRPr b="1" i="0" sz="11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 marR="0" rtl="0" algn="l">
              <a:lnSpc>
                <a:spcPct val="100000"/>
              </a:lnSpc>
              <a:spcBef>
                <a:spcPts val="0"/>
              </a:spcBef>
              <a:buNone/>
              <a:defRPr b="1" i="0" sz="11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 marR="0" rtl="0" algn="l">
              <a:lnSpc>
                <a:spcPct val="100000"/>
              </a:lnSpc>
              <a:spcBef>
                <a:spcPts val="0"/>
              </a:spcBef>
              <a:buNone/>
              <a:defRPr b="1" i="0" sz="11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 marR="0" rtl="0" algn="l">
              <a:lnSpc>
                <a:spcPct val="100000"/>
              </a:lnSpc>
              <a:spcBef>
                <a:spcPts val="0"/>
              </a:spcBef>
              <a:buNone/>
              <a:defRPr b="1" i="0" sz="11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 marR="0" rtl="0" algn="l">
              <a:lnSpc>
                <a:spcPct val="100000"/>
              </a:lnSpc>
              <a:spcBef>
                <a:spcPts val="0"/>
              </a:spcBef>
              <a:buNone/>
              <a:defRPr b="1" i="0" sz="11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 marR="0" rtl="0" algn="l">
              <a:lnSpc>
                <a:spcPct val="100000"/>
              </a:lnSpc>
              <a:spcBef>
                <a:spcPts val="0"/>
              </a:spcBef>
              <a:buNone/>
              <a:defRPr b="1" i="0" sz="11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 marR="0" rtl="0" algn="l">
              <a:lnSpc>
                <a:spcPct val="100000"/>
              </a:lnSpc>
              <a:spcBef>
                <a:spcPts val="0"/>
              </a:spcBef>
              <a:buNone/>
              <a:defRPr b="1" i="0" sz="11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 marR="0" rtl="0" algn="l">
              <a:lnSpc>
                <a:spcPct val="100000"/>
              </a:lnSpc>
              <a:spcBef>
                <a:spcPts val="0"/>
              </a:spcBef>
              <a:buNone/>
              <a:defRPr b="1" i="0" sz="11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hyperlink" Target="mailto:rubab.anam@nu.edu.pk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hyperlink" Target="http://en.wikipedia.org/wiki/Time-sharing" TargetMode="External"/><Relationship Id="rId6" Type="http://schemas.openxmlformats.org/officeDocument/2006/relationships/hyperlink" Target="http://en.wikipedia.org/wiki/Operating_system" TargetMode="External"/><Relationship Id="rId7" Type="http://schemas.openxmlformats.org/officeDocument/2006/relationships/hyperlink" Target="http://en.wikipedia.org/wiki/Distributed_computing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/>
          <p:nvPr/>
        </p:nvSpPr>
        <p:spPr>
          <a:xfrm>
            <a:off x="502919" y="1062227"/>
            <a:ext cx="8884920" cy="0"/>
          </a:xfrm>
          <a:custGeom>
            <a:rect b="b" l="l" r="r" t="t"/>
            <a:pathLst>
              <a:path extrusionOk="0" h="120000" w="8884920">
                <a:moveTo>
                  <a:pt x="0" y="0"/>
                </a:moveTo>
                <a:lnTo>
                  <a:pt x="8884920" y="0"/>
                </a:lnTo>
              </a:path>
            </a:pathLst>
          </a:custGeom>
          <a:noFill/>
          <a:ln cap="flat" cmpd="sng" w="21325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0" y="2628900"/>
            <a:ext cx="251459" cy="502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8552688" y="6550152"/>
            <a:ext cx="1412748" cy="8717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 txBox="1"/>
          <p:nvPr>
            <p:ph type="title"/>
          </p:nvPr>
        </p:nvSpPr>
        <p:spPr>
          <a:xfrm>
            <a:off x="2542946" y="1273100"/>
            <a:ext cx="5258435" cy="201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506220" lvl="0" marL="1518285" marR="508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800">
                <a:solidFill>
                  <a:srgbClr val="4D4D00"/>
                </a:solidFill>
                <a:latin typeface="Arial"/>
                <a:ea typeface="Arial"/>
                <a:cs typeface="Arial"/>
                <a:sym typeface="Arial"/>
              </a:rPr>
              <a:t>Operating Systems</a:t>
            </a:r>
            <a:br>
              <a:rPr b="0" lang="en-US" sz="4800">
                <a:solidFill>
                  <a:srgbClr val="4D4D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4800">
                <a:solidFill>
                  <a:srgbClr val="4D4D00"/>
                </a:solidFill>
                <a:latin typeface="Arial"/>
                <a:ea typeface="Arial"/>
                <a:cs typeface="Arial"/>
                <a:sym typeface="Arial"/>
              </a:rPr>
              <a:t>BDS-5A</a:t>
            </a:r>
            <a:endParaRPr b="0" sz="4800">
              <a:solidFill>
                <a:srgbClr val="4D4D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"/>
          <p:cNvSpPr txBox="1"/>
          <p:nvPr>
            <p:ph idx="11" type="ftr"/>
          </p:nvPr>
        </p:nvSpPr>
        <p:spPr>
          <a:xfrm>
            <a:off x="7352818" y="7407271"/>
            <a:ext cx="255714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6699"/>
                </a:solidFill>
              </a:rPr>
              <a:t>Silberschatz, Galvin and Gagne ©2018</a:t>
            </a:r>
            <a:endParaRPr>
              <a:solidFill>
                <a:srgbClr val="006699"/>
              </a:solidFill>
            </a:endParaRPr>
          </a:p>
        </p:txBody>
      </p:sp>
      <p:sp>
        <p:nvSpPr>
          <p:cNvPr id="55" name="Google Shape;55;p1"/>
          <p:cNvSpPr txBox="1"/>
          <p:nvPr>
            <p:ph idx="10" type="dt"/>
          </p:nvPr>
        </p:nvSpPr>
        <p:spPr>
          <a:xfrm>
            <a:off x="292088" y="7443812"/>
            <a:ext cx="280098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Operating System Concepts – 10</a:t>
            </a:r>
            <a:r>
              <a:rPr baseline="30000" lang="en-US" sz="1050"/>
              <a:t>th </a:t>
            </a:r>
            <a:r>
              <a:rPr lang="en-US" sz="1100"/>
              <a:t>Edition</a:t>
            </a:r>
            <a:endParaRPr sz="1100"/>
          </a:p>
        </p:txBody>
      </p:sp>
      <p:sp>
        <p:nvSpPr>
          <p:cNvPr id="56" name="Google Shape;56;p1"/>
          <p:cNvSpPr txBox="1"/>
          <p:nvPr>
            <p:ph idx="12" type="sldNum"/>
          </p:nvPr>
        </p:nvSpPr>
        <p:spPr>
          <a:xfrm>
            <a:off x="4778766" y="7436195"/>
            <a:ext cx="325754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1"/>
          <p:cNvSpPr txBox="1"/>
          <p:nvPr/>
        </p:nvSpPr>
        <p:spPr>
          <a:xfrm>
            <a:off x="3012502" y="3901551"/>
            <a:ext cx="4315460" cy="2215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2550">
            <a:spAutoFit/>
          </a:bodyPr>
          <a:lstStyle/>
          <a:p>
            <a:pPr indent="0" lvl="0" marL="317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 1</a:t>
            </a:r>
            <a:endParaRPr sz="3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175" marR="0" rtl="0" algn="ctr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21-08-2023</a:t>
            </a:r>
            <a:endParaRPr sz="3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540" marR="0" rtl="0" algn="ctr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3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/>
          <p:nvPr/>
        </p:nvSpPr>
        <p:spPr>
          <a:xfrm>
            <a:off x="502919" y="1062227"/>
            <a:ext cx="8884920" cy="0"/>
          </a:xfrm>
          <a:custGeom>
            <a:rect b="b" l="l" r="r" t="t"/>
            <a:pathLst>
              <a:path extrusionOk="0" h="120000" w="8884920">
                <a:moveTo>
                  <a:pt x="0" y="0"/>
                </a:moveTo>
                <a:lnTo>
                  <a:pt x="8884920" y="0"/>
                </a:lnTo>
              </a:path>
            </a:pathLst>
          </a:custGeom>
          <a:noFill/>
          <a:ln cap="flat" cmpd="sng" w="21325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0" y="2628900"/>
            <a:ext cx="251459" cy="502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8552688" y="6550152"/>
            <a:ext cx="1412748" cy="8717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 txBox="1"/>
          <p:nvPr>
            <p:ph type="title"/>
          </p:nvPr>
        </p:nvSpPr>
        <p:spPr>
          <a:xfrm>
            <a:off x="4321569" y="441461"/>
            <a:ext cx="1416050" cy="56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Myself</a:t>
            </a:r>
            <a:endParaRPr/>
          </a:p>
        </p:txBody>
      </p:sp>
      <p:sp>
        <p:nvSpPr>
          <p:cNvPr id="66" name="Google Shape;66;p2"/>
          <p:cNvSpPr txBox="1"/>
          <p:nvPr>
            <p:ph idx="11" type="ftr"/>
          </p:nvPr>
        </p:nvSpPr>
        <p:spPr>
          <a:xfrm>
            <a:off x="7352818" y="7407271"/>
            <a:ext cx="255714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6699"/>
                </a:solidFill>
              </a:rPr>
              <a:t>Silberschatz, Galvin and Gagne ©2018</a:t>
            </a:r>
            <a:endParaRPr>
              <a:solidFill>
                <a:srgbClr val="006699"/>
              </a:solidFill>
            </a:endParaRPr>
          </a:p>
        </p:txBody>
      </p:sp>
      <p:sp>
        <p:nvSpPr>
          <p:cNvPr id="67" name="Google Shape;67;p2"/>
          <p:cNvSpPr txBox="1"/>
          <p:nvPr>
            <p:ph idx="10" type="dt"/>
          </p:nvPr>
        </p:nvSpPr>
        <p:spPr>
          <a:xfrm>
            <a:off x="292088" y="7443812"/>
            <a:ext cx="280098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Operating System Concepts – 10</a:t>
            </a:r>
            <a:r>
              <a:rPr baseline="30000" lang="en-US" sz="1050"/>
              <a:t>th </a:t>
            </a:r>
            <a:r>
              <a:rPr lang="en-US" sz="1100"/>
              <a:t>Edition</a:t>
            </a:r>
            <a:endParaRPr sz="1100"/>
          </a:p>
        </p:txBody>
      </p:sp>
      <p:sp>
        <p:nvSpPr>
          <p:cNvPr id="68" name="Google Shape;68;p2"/>
          <p:cNvSpPr txBox="1"/>
          <p:nvPr>
            <p:ph idx="12" type="sldNum"/>
          </p:nvPr>
        </p:nvSpPr>
        <p:spPr>
          <a:xfrm>
            <a:off x="4778766" y="7436195"/>
            <a:ext cx="325754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2"/>
          <p:cNvSpPr txBox="1"/>
          <p:nvPr/>
        </p:nvSpPr>
        <p:spPr>
          <a:xfrm>
            <a:off x="972820" y="2442845"/>
            <a:ext cx="7866380" cy="249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marR="11398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RUBAB ANAM JANJUA</a:t>
            </a:r>
            <a:endParaRPr sz="3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139825" rtl="0" algn="ctr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Email: </a:t>
            </a:r>
            <a:r>
              <a:rPr b="1" lang="en-US" sz="3050" u="sng">
                <a:solidFill>
                  <a:srgbClr val="BF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rubab.anam@nu.edu.pk</a:t>
            </a:r>
            <a:endParaRPr sz="3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Office Num: E-229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 School of Computing, FAST-NUCES, Lahore.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/>
          <p:nvPr/>
        </p:nvSpPr>
        <p:spPr>
          <a:xfrm>
            <a:off x="2671063" y="441461"/>
            <a:ext cx="4716780" cy="56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Books and Resources</a:t>
            </a:r>
            <a:endParaRPr sz="3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1452333" y="1499082"/>
            <a:ext cx="7100570" cy="830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-314325" lvl="0" marL="351790" marR="30480" rtl="0" algn="l">
              <a:lnSpc>
                <a:spcPct val="1196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CC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	</a:t>
            </a:r>
            <a:r>
              <a:rPr b="1" lang="en-US" sz="2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Operating System Concepts </a:t>
            </a:r>
            <a:r>
              <a:rPr lang="en-US" sz="2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aseline="30000" lang="en-US" sz="262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 </a:t>
            </a:r>
            <a:r>
              <a:rPr lang="en-US" sz="2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Edition by  Silberschatz, Galvin and Gagne</a:t>
            </a:r>
            <a:endParaRPr sz="2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392423" y="2429255"/>
            <a:ext cx="3835907" cy="479755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 txBox="1"/>
          <p:nvPr>
            <p:ph idx="11" type="ftr"/>
          </p:nvPr>
        </p:nvSpPr>
        <p:spPr>
          <a:xfrm>
            <a:off x="7352818" y="7407271"/>
            <a:ext cx="255714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6699"/>
                </a:solidFill>
              </a:rPr>
              <a:t>Silberschatz, Galvin and Gagne ©2018</a:t>
            </a:r>
            <a:endParaRPr>
              <a:solidFill>
                <a:srgbClr val="006699"/>
              </a:solidFill>
            </a:endParaRPr>
          </a:p>
        </p:txBody>
      </p:sp>
      <p:sp>
        <p:nvSpPr>
          <p:cNvPr id="78" name="Google Shape;78;p3"/>
          <p:cNvSpPr txBox="1"/>
          <p:nvPr>
            <p:ph idx="10" type="dt"/>
          </p:nvPr>
        </p:nvSpPr>
        <p:spPr>
          <a:xfrm>
            <a:off x="292088" y="7443812"/>
            <a:ext cx="280098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Operating System Concepts – 10</a:t>
            </a:r>
            <a:r>
              <a:rPr baseline="30000" lang="en-US" sz="1050"/>
              <a:t>th </a:t>
            </a:r>
            <a:r>
              <a:rPr lang="en-US" sz="1100"/>
              <a:t>Edition</a:t>
            </a:r>
            <a:endParaRPr sz="1100"/>
          </a:p>
        </p:txBody>
      </p:sp>
      <p:sp>
        <p:nvSpPr>
          <p:cNvPr id="79" name="Google Shape;79;p3"/>
          <p:cNvSpPr txBox="1"/>
          <p:nvPr>
            <p:ph idx="12" type="sldNum"/>
          </p:nvPr>
        </p:nvSpPr>
        <p:spPr>
          <a:xfrm>
            <a:off x="4778766" y="7436195"/>
            <a:ext cx="325754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502919" y="1062227"/>
            <a:ext cx="8884920" cy="0"/>
          </a:xfrm>
          <a:custGeom>
            <a:rect b="b" l="l" r="r" t="t"/>
            <a:pathLst>
              <a:path extrusionOk="0" h="120000" w="8884920">
                <a:moveTo>
                  <a:pt x="0" y="0"/>
                </a:moveTo>
                <a:lnTo>
                  <a:pt x="8884920" y="0"/>
                </a:lnTo>
              </a:path>
            </a:pathLst>
          </a:custGeom>
          <a:noFill/>
          <a:ln cap="flat" cmpd="sng" w="21325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0" y="2628900"/>
            <a:ext cx="251459" cy="502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8552688" y="6550152"/>
            <a:ext cx="1412748" cy="8717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 txBox="1"/>
          <p:nvPr>
            <p:ph type="title"/>
          </p:nvPr>
        </p:nvSpPr>
        <p:spPr>
          <a:xfrm>
            <a:off x="3460558" y="441461"/>
            <a:ext cx="3136265" cy="56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outline</a:t>
            </a:r>
            <a:endParaRPr/>
          </a:p>
        </p:txBody>
      </p:sp>
      <p:sp>
        <p:nvSpPr>
          <p:cNvPr id="88" name="Google Shape;88;p4"/>
          <p:cNvSpPr txBox="1"/>
          <p:nvPr>
            <p:ph idx="11" type="ftr"/>
          </p:nvPr>
        </p:nvSpPr>
        <p:spPr>
          <a:xfrm>
            <a:off x="7352818" y="7407271"/>
            <a:ext cx="255714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6699"/>
                </a:solidFill>
              </a:rPr>
              <a:t>Silberschatz, Galvin and Gagne ©2018</a:t>
            </a:r>
            <a:endParaRPr>
              <a:solidFill>
                <a:srgbClr val="006699"/>
              </a:solidFill>
            </a:endParaRPr>
          </a:p>
        </p:txBody>
      </p:sp>
      <p:sp>
        <p:nvSpPr>
          <p:cNvPr id="89" name="Google Shape;89;p4"/>
          <p:cNvSpPr txBox="1"/>
          <p:nvPr>
            <p:ph idx="10" type="dt"/>
          </p:nvPr>
        </p:nvSpPr>
        <p:spPr>
          <a:xfrm>
            <a:off x="292088" y="7443812"/>
            <a:ext cx="280098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Operating System Concepts – 10</a:t>
            </a:r>
            <a:r>
              <a:rPr baseline="30000" lang="en-US" sz="1050"/>
              <a:t>th </a:t>
            </a:r>
            <a:r>
              <a:rPr lang="en-US" sz="1100"/>
              <a:t>Edition</a:t>
            </a:r>
            <a:endParaRPr sz="1100"/>
          </a:p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4778766" y="7436195"/>
            <a:ext cx="325754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4"/>
          <p:cNvSpPr txBox="1"/>
          <p:nvPr/>
        </p:nvSpPr>
        <p:spPr>
          <a:xfrm>
            <a:off x="988519" y="1415355"/>
            <a:ext cx="6469380" cy="4401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0">
            <a:spAutoFit/>
          </a:bodyPr>
          <a:lstStyle/>
          <a:p>
            <a:pPr indent="-299085" lvl="0" marL="311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4816"/>
              </a:buClr>
              <a:buSzPts val="2200"/>
              <a:buFont typeface="Arimo"/>
              <a:buChar char=""/>
            </a:pPr>
            <a:r>
              <a:rPr lang="en-US" sz="2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2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085" lvl="0" marL="311150" marR="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rgbClr val="D34816"/>
              </a:buClr>
              <a:buSzPts val="2253"/>
              <a:buFont typeface="Arimo"/>
              <a:buChar char=""/>
            </a:pPr>
            <a:r>
              <a:rPr lang="en-US" sz="2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Processes, Inter-process communication,</a:t>
            </a:r>
            <a:endParaRPr sz="2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085" lvl="0" marL="31115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D34816"/>
              </a:buClr>
              <a:buSzPts val="2253"/>
              <a:buFont typeface="Arimo"/>
              <a:buChar char=""/>
            </a:pPr>
            <a:r>
              <a:rPr lang="en-US" sz="2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Threads</a:t>
            </a:r>
            <a:endParaRPr sz="2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085" lvl="0" marL="311150" marR="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rgbClr val="D34816"/>
              </a:buClr>
              <a:buSzPts val="2200"/>
              <a:buFont typeface="Arimo"/>
              <a:buChar char=""/>
            </a:pPr>
            <a:r>
              <a:rPr lang="en-US" sz="2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Synchronization, Semaphores,</a:t>
            </a:r>
            <a:endParaRPr sz="2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085" lvl="0" marL="31115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D34816"/>
              </a:buClr>
              <a:buSzPts val="2200"/>
              <a:buFont typeface="Arimo"/>
              <a:buChar char=""/>
            </a:pPr>
            <a:r>
              <a:rPr lang="en-US" sz="2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Deadlocks</a:t>
            </a:r>
            <a:endParaRPr sz="2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085" lvl="0" marL="31115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D34816"/>
              </a:buClr>
              <a:buSzPts val="2200"/>
              <a:buFont typeface="Arimo"/>
              <a:buChar char=""/>
            </a:pPr>
            <a:r>
              <a:rPr lang="en-US" sz="2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 Scheduling</a:t>
            </a:r>
            <a:endParaRPr sz="2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085" lvl="0" marL="311150" marR="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rgbClr val="D34816"/>
              </a:buClr>
              <a:buSzPts val="2253"/>
              <a:buFont typeface="Arimo"/>
              <a:buChar char=""/>
            </a:pPr>
            <a:r>
              <a:rPr lang="en-US" sz="2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management</a:t>
            </a:r>
            <a:endParaRPr sz="2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085" lvl="0" marL="31115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D34816"/>
              </a:buClr>
              <a:buSzPts val="2253"/>
              <a:buFont typeface="Arimo"/>
              <a:buChar char=""/>
            </a:pPr>
            <a:r>
              <a:rPr lang="en-US" sz="2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File-system management</a:t>
            </a:r>
            <a:endParaRPr sz="2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D34816"/>
                </a:solidFill>
                <a:latin typeface="Arimo"/>
                <a:ea typeface="Arimo"/>
                <a:cs typeface="Arimo"/>
                <a:sym typeface="Arimo"/>
              </a:rPr>
              <a:t></a:t>
            </a:r>
            <a:r>
              <a:rPr lang="en-US" sz="2250">
                <a:solidFill>
                  <a:srgbClr val="D348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 sz="2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1"/>
          <p:cNvSpPr/>
          <p:nvPr/>
        </p:nvSpPr>
        <p:spPr>
          <a:xfrm>
            <a:off x="502919" y="1062227"/>
            <a:ext cx="8884920" cy="0"/>
          </a:xfrm>
          <a:custGeom>
            <a:rect b="b" l="l" r="r" t="t"/>
            <a:pathLst>
              <a:path extrusionOk="0" h="120000" w="8884920">
                <a:moveTo>
                  <a:pt x="0" y="0"/>
                </a:moveTo>
                <a:lnTo>
                  <a:pt x="8884920" y="0"/>
                </a:lnTo>
              </a:path>
            </a:pathLst>
          </a:custGeom>
          <a:noFill/>
          <a:ln cap="flat" cmpd="sng" w="21325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1"/>
          <p:cNvSpPr/>
          <p:nvPr/>
        </p:nvSpPr>
        <p:spPr>
          <a:xfrm>
            <a:off x="0" y="2628900"/>
            <a:ext cx="251459" cy="502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31"/>
          <p:cNvGrpSpPr/>
          <p:nvPr/>
        </p:nvGrpSpPr>
        <p:grpSpPr>
          <a:xfrm>
            <a:off x="454151" y="556259"/>
            <a:ext cx="9511284" cy="6865620"/>
            <a:chOff x="454151" y="556259"/>
            <a:chExt cx="9511284" cy="6865620"/>
          </a:xfrm>
        </p:grpSpPr>
        <p:sp>
          <p:nvSpPr>
            <p:cNvPr id="99" name="Google Shape;99;p31"/>
            <p:cNvSpPr/>
            <p:nvPr/>
          </p:nvSpPr>
          <p:spPr>
            <a:xfrm>
              <a:off x="8552687" y="6550151"/>
              <a:ext cx="1412748" cy="871728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31"/>
            <p:cNvSpPr/>
            <p:nvPr/>
          </p:nvSpPr>
          <p:spPr>
            <a:xfrm>
              <a:off x="454151" y="556259"/>
              <a:ext cx="9151619" cy="6661403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31"/>
            <p:cNvSpPr/>
            <p:nvPr/>
          </p:nvSpPr>
          <p:spPr>
            <a:xfrm>
              <a:off x="521208" y="623315"/>
              <a:ext cx="9019540" cy="6501765"/>
            </a:xfrm>
            <a:custGeom>
              <a:rect b="b" l="l" r="r" t="t"/>
              <a:pathLst>
                <a:path extrusionOk="0" h="6501765" w="9019540">
                  <a:moveTo>
                    <a:pt x="9019032" y="306324"/>
                  </a:moveTo>
                  <a:lnTo>
                    <a:pt x="9017508" y="289560"/>
                  </a:lnTo>
                  <a:lnTo>
                    <a:pt x="9012936" y="266700"/>
                  </a:lnTo>
                  <a:lnTo>
                    <a:pt x="9012936" y="323088"/>
                  </a:lnTo>
                  <a:lnTo>
                    <a:pt x="9012936" y="6178308"/>
                  </a:lnTo>
                  <a:lnTo>
                    <a:pt x="9002268" y="6256032"/>
                  </a:lnTo>
                  <a:lnTo>
                    <a:pt x="8988552" y="6298704"/>
                  </a:lnTo>
                  <a:lnTo>
                    <a:pt x="8967216" y="6338329"/>
                  </a:lnTo>
                  <a:lnTo>
                    <a:pt x="8941308" y="6374905"/>
                  </a:lnTo>
                  <a:lnTo>
                    <a:pt x="8910828" y="6408433"/>
                  </a:lnTo>
                  <a:lnTo>
                    <a:pt x="8875776" y="6435865"/>
                  </a:lnTo>
                  <a:lnTo>
                    <a:pt x="8837676" y="6458725"/>
                  </a:lnTo>
                  <a:lnTo>
                    <a:pt x="8795004" y="6477013"/>
                  </a:lnTo>
                  <a:lnTo>
                    <a:pt x="8749284" y="6489205"/>
                  </a:lnTo>
                  <a:lnTo>
                    <a:pt x="8703564" y="6493777"/>
                  </a:lnTo>
                  <a:lnTo>
                    <a:pt x="332232" y="6493777"/>
                  </a:lnTo>
                  <a:lnTo>
                    <a:pt x="284988" y="6490729"/>
                  </a:lnTo>
                  <a:lnTo>
                    <a:pt x="239268" y="6481585"/>
                  </a:lnTo>
                  <a:lnTo>
                    <a:pt x="196596" y="6466345"/>
                  </a:lnTo>
                  <a:lnTo>
                    <a:pt x="156972" y="6445009"/>
                  </a:lnTo>
                  <a:lnTo>
                    <a:pt x="120396" y="6419101"/>
                  </a:lnTo>
                  <a:lnTo>
                    <a:pt x="88392" y="6387097"/>
                  </a:lnTo>
                  <a:lnTo>
                    <a:pt x="59436" y="6352045"/>
                  </a:lnTo>
                  <a:lnTo>
                    <a:pt x="36576" y="6313944"/>
                  </a:lnTo>
                  <a:lnTo>
                    <a:pt x="19812" y="6271272"/>
                  </a:lnTo>
                  <a:lnTo>
                    <a:pt x="9144" y="6225552"/>
                  </a:lnTo>
                  <a:lnTo>
                    <a:pt x="6096" y="6176784"/>
                  </a:lnTo>
                  <a:lnTo>
                    <a:pt x="6096" y="323088"/>
                  </a:lnTo>
                  <a:lnTo>
                    <a:pt x="27432" y="210312"/>
                  </a:lnTo>
                  <a:lnTo>
                    <a:pt x="48768" y="166116"/>
                  </a:lnTo>
                  <a:lnTo>
                    <a:pt x="77724" y="124968"/>
                  </a:lnTo>
                  <a:lnTo>
                    <a:pt x="112776" y="88392"/>
                  </a:lnTo>
                  <a:lnTo>
                    <a:pt x="181356" y="41148"/>
                  </a:lnTo>
                  <a:lnTo>
                    <a:pt x="230124" y="22860"/>
                  </a:lnTo>
                  <a:lnTo>
                    <a:pt x="280416" y="10668"/>
                  </a:lnTo>
                  <a:lnTo>
                    <a:pt x="332232" y="6096"/>
                  </a:lnTo>
                  <a:lnTo>
                    <a:pt x="8702040" y="6096"/>
                  </a:lnTo>
                  <a:lnTo>
                    <a:pt x="8766048" y="15240"/>
                  </a:lnTo>
                  <a:lnTo>
                    <a:pt x="8810244" y="28956"/>
                  </a:lnTo>
                  <a:lnTo>
                    <a:pt x="8851392" y="48768"/>
                  </a:lnTo>
                  <a:lnTo>
                    <a:pt x="8889492" y="74676"/>
                  </a:lnTo>
                  <a:lnTo>
                    <a:pt x="8923020" y="105156"/>
                  </a:lnTo>
                  <a:lnTo>
                    <a:pt x="8951976" y="138684"/>
                  </a:lnTo>
                  <a:lnTo>
                    <a:pt x="8976360" y="176784"/>
                  </a:lnTo>
                  <a:lnTo>
                    <a:pt x="8994648" y="217932"/>
                  </a:lnTo>
                  <a:lnTo>
                    <a:pt x="9006840" y="260604"/>
                  </a:lnTo>
                  <a:lnTo>
                    <a:pt x="9011412" y="306324"/>
                  </a:lnTo>
                  <a:lnTo>
                    <a:pt x="9012936" y="323088"/>
                  </a:lnTo>
                  <a:lnTo>
                    <a:pt x="9012936" y="266700"/>
                  </a:lnTo>
                  <a:lnTo>
                    <a:pt x="8994648" y="199644"/>
                  </a:lnTo>
                  <a:lnTo>
                    <a:pt x="8973312" y="158496"/>
                  </a:lnTo>
                  <a:lnTo>
                    <a:pt x="8947404" y="121920"/>
                  </a:lnTo>
                  <a:lnTo>
                    <a:pt x="8915400" y="88392"/>
                  </a:lnTo>
                  <a:lnTo>
                    <a:pt x="8880348" y="59436"/>
                  </a:lnTo>
                  <a:lnTo>
                    <a:pt x="8840724" y="36576"/>
                  </a:lnTo>
                  <a:lnTo>
                    <a:pt x="8796528" y="18288"/>
                  </a:lnTo>
                  <a:lnTo>
                    <a:pt x="8750808" y="6096"/>
                  </a:lnTo>
                  <a:lnTo>
                    <a:pt x="8703564" y="0"/>
                  </a:lnTo>
                  <a:lnTo>
                    <a:pt x="332232" y="0"/>
                  </a:lnTo>
                  <a:lnTo>
                    <a:pt x="284988" y="3048"/>
                  </a:lnTo>
                  <a:lnTo>
                    <a:pt x="237744" y="13716"/>
                  </a:lnTo>
                  <a:lnTo>
                    <a:pt x="193548" y="28956"/>
                  </a:lnTo>
                  <a:lnTo>
                    <a:pt x="152400" y="50292"/>
                  </a:lnTo>
                  <a:lnTo>
                    <a:pt x="115824" y="77724"/>
                  </a:lnTo>
                  <a:lnTo>
                    <a:pt x="82296" y="109728"/>
                  </a:lnTo>
                  <a:lnTo>
                    <a:pt x="54864" y="144780"/>
                  </a:lnTo>
                  <a:lnTo>
                    <a:pt x="32004" y="185928"/>
                  </a:lnTo>
                  <a:lnTo>
                    <a:pt x="13716" y="228600"/>
                  </a:lnTo>
                  <a:lnTo>
                    <a:pt x="3048" y="274320"/>
                  </a:lnTo>
                  <a:lnTo>
                    <a:pt x="0" y="306324"/>
                  </a:lnTo>
                  <a:lnTo>
                    <a:pt x="0" y="6193536"/>
                  </a:lnTo>
                  <a:lnTo>
                    <a:pt x="3048" y="6227064"/>
                  </a:lnTo>
                  <a:lnTo>
                    <a:pt x="6096" y="6239256"/>
                  </a:lnTo>
                  <a:lnTo>
                    <a:pt x="21336" y="6291084"/>
                  </a:lnTo>
                  <a:lnTo>
                    <a:pt x="42672" y="6338329"/>
                  </a:lnTo>
                  <a:lnTo>
                    <a:pt x="73152" y="6379477"/>
                  </a:lnTo>
                  <a:lnTo>
                    <a:pt x="108204" y="6417577"/>
                  </a:lnTo>
                  <a:lnTo>
                    <a:pt x="179832" y="6464821"/>
                  </a:lnTo>
                  <a:lnTo>
                    <a:pt x="227076" y="6484633"/>
                  </a:lnTo>
                  <a:lnTo>
                    <a:pt x="278892" y="6496825"/>
                  </a:lnTo>
                  <a:lnTo>
                    <a:pt x="332232" y="6501397"/>
                  </a:lnTo>
                  <a:lnTo>
                    <a:pt x="8685276" y="6501397"/>
                  </a:lnTo>
                  <a:lnTo>
                    <a:pt x="8767572" y="6490729"/>
                  </a:lnTo>
                  <a:lnTo>
                    <a:pt x="8813292" y="6477013"/>
                  </a:lnTo>
                  <a:lnTo>
                    <a:pt x="8854440" y="6455677"/>
                  </a:lnTo>
                  <a:lnTo>
                    <a:pt x="8894064" y="6431293"/>
                  </a:lnTo>
                  <a:lnTo>
                    <a:pt x="8927592" y="6400813"/>
                  </a:lnTo>
                  <a:lnTo>
                    <a:pt x="8956548" y="6365761"/>
                  </a:lnTo>
                  <a:lnTo>
                    <a:pt x="8980932" y="6327661"/>
                  </a:lnTo>
                  <a:lnTo>
                    <a:pt x="9000744" y="6284988"/>
                  </a:lnTo>
                  <a:lnTo>
                    <a:pt x="9012936" y="6240792"/>
                  </a:lnTo>
                  <a:lnTo>
                    <a:pt x="9019032" y="6193536"/>
                  </a:lnTo>
                  <a:lnTo>
                    <a:pt x="9019032" y="3063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31"/>
            <p:cNvSpPr/>
            <p:nvPr/>
          </p:nvSpPr>
          <p:spPr>
            <a:xfrm>
              <a:off x="521207" y="1915668"/>
              <a:ext cx="9020810" cy="116205"/>
            </a:xfrm>
            <a:custGeom>
              <a:rect b="b" l="l" r="r" t="t"/>
              <a:pathLst>
                <a:path extrusionOk="0" h="116205" w="9020810">
                  <a:moveTo>
                    <a:pt x="9020556" y="115823"/>
                  </a:moveTo>
                  <a:lnTo>
                    <a:pt x="0" y="115823"/>
                  </a:lnTo>
                  <a:lnTo>
                    <a:pt x="0" y="0"/>
                  </a:lnTo>
                  <a:lnTo>
                    <a:pt x="9020556" y="0"/>
                  </a:lnTo>
                  <a:lnTo>
                    <a:pt x="9020556" y="115823"/>
                  </a:lnTo>
                  <a:close/>
                </a:path>
              </a:pathLst>
            </a:custGeom>
            <a:solidFill>
              <a:srgbClr val="E6B1A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31"/>
            <p:cNvSpPr/>
            <p:nvPr/>
          </p:nvSpPr>
          <p:spPr>
            <a:xfrm>
              <a:off x="521207" y="3448811"/>
              <a:ext cx="9020810" cy="108585"/>
            </a:xfrm>
            <a:custGeom>
              <a:rect b="b" l="l" r="r" t="t"/>
              <a:pathLst>
                <a:path extrusionOk="0" h="108585" w="9020810">
                  <a:moveTo>
                    <a:pt x="9020556" y="108203"/>
                  </a:moveTo>
                  <a:lnTo>
                    <a:pt x="0" y="108203"/>
                  </a:lnTo>
                  <a:lnTo>
                    <a:pt x="0" y="0"/>
                  </a:lnTo>
                  <a:lnTo>
                    <a:pt x="9020556" y="0"/>
                  </a:lnTo>
                  <a:lnTo>
                    <a:pt x="9020556" y="108203"/>
                  </a:lnTo>
                  <a:close/>
                </a:path>
              </a:pathLst>
            </a:custGeom>
            <a:solidFill>
              <a:srgbClr val="90838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31"/>
          <p:cNvSpPr txBox="1"/>
          <p:nvPr/>
        </p:nvSpPr>
        <p:spPr>
          <a:xfrm>
            <a:off x="521208" y="2033016"/>
            <a:ext cx="9020810" cy="1416050"/>
          </a:xfrm>
          <a:prstGeom prst="rect">
            <a:avLst/>
          </a:prstGeom>
          <a:solidFill>
            <a:srgbClr val="D34816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3334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endParaRPr sz="3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065" marR="0" rtl="0" algn="ctr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sz="3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1"/>
          <p:cNvSpPr txBox="1"/>
          <p:nvPr>
            <p:ph idx="11" type="ftr"/>
          </p:nvPr>
        </p:nvSpPr>
        <p:spPr>
          <a:xfrm>
            <a:off x="7352818" y="7407271"/>
            <a:ext cx="255714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6699"/>
                </a:solidFill>
              </a:rPr>
              <a:t>Silberschatz, Galvin and Gagne ©2018</a:t>
            </a:r>
            <a:endParaRPr>
              <a:solidFill>
                <a:srgbClr val="006699"/>
              </a:solidFill>
            </a:endParaRPr>
          </a:p>
        </p:txBody>
      </p:sp>
      <p:sp>
        <p:nvSpPr>
          <p:cNvPr id="106" name="Google Shape;106;p31"/>
          <p:cNvSpPr txBox="1"/>
          <p:nvPr>
            <p:ph idx="10" type="dt"/>
          </p:nvPr>
        </p:nvSpPr>
        <p:spPr>
          <a:xfrm>
            <a:off x="292088" y="7443812"/>
            <a:ext cx="280098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Operating System Concepts – 10</a:t>
            </a:r>
            <a:r>
              <a:rPr baseline="30000" lang="en-US" sz="1050"/>
              <a:t>th </a:t>
            </a:r>
            <a:r>
              <a:rPr lang="en-US" sz="1100"/>
              <a:t>Edition</a:t>
            </a:r>
            <a:endParaRPr sz="1100"/>
          </a:p>
        </p:txBody>
      </p:sp>
      <p:sp>
        <p:nvSpPr>
          <p:cNvPr id="107" name="Google Shape;107;p31"/>
          <p:cNvSpPr txBox="1"/>
          <p:nvPr>
            <p:ph idx="12" type="sldNum"/>
          </p:nvPr>
        </p:nvSpPr>
        <p:spPr>
          <a:xfrm>
            <a:off x="4778766" y="7436195"/>
            <a:ext cx="325754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2"/>
          <p:cNvSpPr/>
          <p:nvPr/>
        </p:nvSpPr>
        <p:spPr>
          <a:xfrm>
            <a:off x="502919" y="1062227"/>
            <a:ext cx="8884920" cy="0"/>
          </a:xfrm>
          <a:custGeom>
            <a:rect b="b" l="l" r="r" t="t"/>
            <a:pathLst>
              <a:path extrusionOk="0" h="120000" w="8884920">
                <a:moveTo>
                  <a:pt x="0" y="0"/>
                </a:moveTo>
                <a:lnTo>
                  <a:pt x="8884920" y="0"/>
                </a:lnTo>
              </a:path>
            </a:pathLst>
          </a:custGeom>
          <a:noFill/>
          <a:ln cap="flat" cmpd="sng" w="21325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2"/>
          <p:cNvSpPr/>
          <p:nvPr/>
        </p:nvSpPr>
        <p:spPr>
          <a:xfrm>
            <a:off x="0" y="2628900"/>
            <a:ext cx="251459" cy="502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" name="Google Shape;114;p32"/>
          <p:cNvGrpSpPr/>
          <p:nvPr/>
        </p:nvGrpSpPr>
        <p:grpSpPr>
          <a:xfrm>
            <a:off x="528827" y="1208532"/>
            <a:ext cx="9436608" cy="6213348"/>
            <a:chOff x="528827" y="1208532"/>
            <a:chExt cx="9436608" cy="6213348"/>
          </a:xfrm>
        </p:grpSpPr>
        <p:sp>
          <p:nvSpPr>
            <p:cNvPr id="115" name="Google Shape;115;p32"/>
            <p:cNvSpPr/>
            <p:nvPr/>
          </p:nvSpPr>
          <p:spPr>
            <a:xfrm>
              <a:off x="8552687" y="6550152"/>
              <a:ext cx="1412748" cy="871728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32"/>
            <p:cNvSpPr/>
            <p:nvPr/>
          </p:nvSpPr>
          <p:spPr>
            <a:xfrm>
              <a:off x="528827" y="1208532"/>
              <a:ext cx="9026652" cy="567689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32"/>
          <p:cNvSpPr txBox="1"/>
          <p:nvPr>
            <p:ph type="title"/>
          </p:nvPr>
        </p:nvSpPr>
        <p:spPr>
          <a:xfrm>
            <a:off x="1330022" y="423144"/>
            <a:ext cx="8339455" cy="495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0"/>
              <a:t>The Operating System controls the	machine</a:t>
            </a:r>
            <a:endParaRPr sz="3050"/>
          </a:p>
        </p:txBody>
      </p:sp>
      <p:sp>
        <p:nvSpPr>
          <p:cNvPr id="118" name="Google Shape;118;p32"/>
          <p:cNvSpPr txBox="1"/>
          <p:nvPr/>
        </p:nvSpPr>
        <p:spPr>
          <a:xfrm>
            <a:off x="6275241" y="3448295"/>
            <a:ext cx="1094105" cy="32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OS Kernel</a:t>
            </a:r>
            <a:endParaRPr sz="19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9" name="Google Shape;119;p32"/>
          <p:cNvSpPr txBox="1"/>
          <p:nvPr/>
        </p:nvSpPr>
        <p:spPr>
          <a:xfrm>
            <a:off x="6450518" y="4042659"/>
            <a:ext cx="7747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444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Hard  ware</a:t>
            </a:r>
            <a:endParaRPr sz="27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0" name="Google Shape;120;p32"/>
          <p:cNvSpPr txBox="1"/>
          <p:nvPr/>
        </p:nvSpPr>
        <p:spPr>
          <a:xfrm>
            <a:off x="5792234" y="2795957"/>
            <a:ext cx="539115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gcc</a:t>
            </a:r>
            <a:endParaRPr sz="27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1" name="Google Shape;121;p32"/>
          <p:cNvSpPr txBox="1"/>
          <p:nvPr/>
        </p:nvSpPr>
        <p:spPr>
          <a:xfrm>
            <a:off x="7211048" y="2747221"/>
            <a:ext cx="60579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gdb</a:t>
            </a:r>
            <a:endParaRPr sz="27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2" name="Google Shape;122;p32"/>
          <p:cNvSpPr txBox="1"/>
          <p:nvPr/>
        </p:nvSpPr>
        <p:spPr>
          <a:xfrm>
            <a:off x="5059140" y="4566833"/>
            <a:ext cx="280035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vi</a:t>
            </a:r>
            <a:endParaRPr sz="27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32"/>
          <p:cNvSpPr txBox="1"/>
          <p:nvPr/>
        </p:nvSpPr>
        <p:spPr>
          <a:xfrm>
            <a:off x="8225995" y="4537864"/>
            <a:ext cx="7048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date</a:t>
            </a:r>
            <a:endParaRPr sz="27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" name="Google Shape;124;p32"/>
          <p:cNvSpPr txBox="1"/>
          <p:nvPr/>
        </p:nvSpPr>
        <p:spPr>
          <a:xfrm>
            <a:off x="8133122" y="3525984"/>
            <a:ext cx="72136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grep</a:t>
            </a:r>
            <a:endParaRPr sz="27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5" name="Google Shape;125;p32"/>
          <p:cNvSpPr txBox="1"/>
          <p:nvPr/>
        </p:nvSpPr>
        <p:spPr>
          <a:xfrm>
            <a:off x="5217619" y="5367067"/>
            <a:ext cx="918844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xterm</a:t>
            </a:r>
            <a:endParaRPr sz="27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6" name="Google Shape;126;p32"/>
          <p:cNvSpPr txBox="1"/>
          <p:nvPr/>
        </p:nvSpPr>
        <p:spPr>
          <a:xfrm>
            <a:off x="6159462" y="5385301"/>
            <a:ext cx="2360930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358900" lvl="0" marL="12700" marR="5080" rtl="0" algn="l">
              <a:lnSpc>
                <a:spcPct val="1247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emacs  netscape</a:t>
            </a:r>
            <a:endParaRPr sz="27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" name="Google Shape;127;p32"/>
          <p:cNvSpPr txBox="1"/>
          <p:nvPr/>
        </p:nvSpPr>
        <p:spPr>
          <a:xfrm>
            <a:off x="5043974" y="3615959"/>
            <a:ext cx="517525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diff</a:t>
            </a:r>
            <a:endParaRPr sz="275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" name="Google Shape;128;p32"/>
          <p:cNvSpPr/>
          <p:nvPr/>
        </p:nvSpPr>
        <p:spPr>
          <a:xfrm>
            <a:off x="1062228" y="3215639"/>
            <a:ext cx="2601595" cy="2969260"/>
          </a:xfrm>
          <a:custGeom>
            <a:rect b="b" l="l" r="r" t="t"/>
            <a:pathLst>
              <a:path extrusionOk="0" h="2969260" w="2601595">
                <a:moveTo>
                  <a:pt x="2601468" y="0"/>
                </a:moveTo>
                <a:lnTo>
                  <a:pt x="2596896" y="0"/>
                </a:lnTo>
                <a:lnTo>
                  <a:pt x="2596896" y="10668"/>
                </a:lnTo>
                <a:lnTo>
                  <a:pt x="2596896" y="740664"/>
                </a:lnTo>
                <a:lnTo>
                  <a:pt x="2596896" y="2220468"/>
                </a:lnTo>
                <a:lnTo>
                  <a:pt x="4572" y="2220468"/>
                </a:lnTo>
                <a:lnTo>
                  <a:pt x="4572" y="1490472"/>
                </a:lnTo>
                <a:lnTo>
                  <a:pt x="4572" y="1488948"/>
                </a:lnTo>
                <a:lnTo>
                  <a:pt x="10668" y="1484376"/>
                </a:lnTo>
                <a:lnTo>
                  <a:pt x="10668" y="1488948"/>
                </a:lnTo>
                <a:lnTo>
                  <a:pt x="2592324" y="1488948"/>
                </a:lnTo>
                <a:lnTo>
                  <a:pt x="2592324" y="1484376"/>
                </a:lnTo>
                <a:lnTo>
                  <a:pt x="2596896" y="1488948"/>
                </a:lnTo>
                <a:lnTo>
                  <a:pt x="2596896" y="1479804"/>
                </a:lnTo>
                <a:lnTo>
                  <a:pt x="4572" y="1479804"/>
                </a:lnTo>
                <a:lnTo>
                  <a:pt x="4572" y="751332"/>
                </a:lnTo>
                <a:lnTo>
                  <a:pt x="10668" y="745236"/>
                </a:lnTo>
                <a:lnTo>
                  <a:pt x="10668" y="751332"/>
                </a:lnTo>
                <a:lnTo>
                  <a:pt x="2592324" y="751332"/>
                </a:lnTo>
                <a:lnTo>
                  <a:pt x="2592324" y="745236"/>
                </a:lnTo>
                <a:lnTo>
                  <a:pt x="2596896" y="751332"/>
                </a:lnTo>
                <a:lnTo>
                  <a:pt x="2596896" y="740664"/>
                </a:lnTo>
                <a:lnTo>
                  <a:pt x="4572" y="740664"/>
                </a:lnTo>
                <a:lnTo>
                  <a:pt x="4572" y="10668"/>
                </a:lnTo>
                <a:lnTo>
                  <a:pt x="10668" y="4572"/>
                </a:lnTo>
                <a:lnTo>
                  <a:pt x="10668" y="10668"/>
                </a:lnTo>
                <a:lnTo>
                  <a:pt x="2592324" y="10668"/>
                </a:lnTo>
                <a:lnTo>
                  <a:pt x="2592324" y="4572"/>
                </a:lnTo>
                <a:lnTo>
                  <a:pt x="2596896" y="10668"/>
                </a:lnTo>
                <a:lnTo>
                  <a:pt x="2596896" y="0"/>
                </a:lnTo>
                <a:lnTo>
                  <a:pt x="0" y="0"/>
                </a:lnTo>
                <a:lnTo>
                  <a:pt x="0" y="740664"/>
                </a:lnTo>
                <a:lnTo>
                  <a:pt x="0" y="749808"/>
                </a:lnTo>
                <a:lnTo>
                  <a:pt x="0" y="2968752"/>
                </a:lnTo>
                <a:lnTo>
                  <a:pt x="4572" y="2968752"/>
                </a:lnTo>
                <a:lnTo>
                  <a:pt x="4572" y="2231136"/>
                </a:lnTo>
                <a:lnTo>
                  <a:pt x="4572" y="2229612"/>
                </a:lnTo>
                <a:lnTo>
                  <a:pt x="10668" y="2225040"/>
                </a:lnTo>
                <a:lnTo>
                  <a:pt x="10668" y="2229612"/>
                </a:lnTo>
                <a:lnTo>
                  <a:pt x="2592324" y="2229612"/>
                </a:lnTo>
                <a:lnTo>
                  <a:pt x="2592324" y="2225040"/>
                </a:lnTo>
                <a:lnTo>
                  <a:pt x="2596896" y="2229612"/>
                </a:lnTo>
                <a:lnTo>
                  <a:pt x="2596896" y="2231136"/>
                </a:lnTo>
                <a:lnTo>
                  <a:pt x="2596896" y="2968752"/>
                </a:lnTo>
                <a:lnTo>
                  <a:pt x="2601468" y="2968752"/>
                </a:lnTo>
                <a:lnTo>
                  <a:pt x="2601468" y="740664"/>
                </a:lnTo>
                <a:lnTo>
                  <a:pt x="260146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32"/>
          <p:cNvGraphicFramePr/>
          <p:nvPr/>
        </p:nvGraphicFramePr>
        <p:xfrm>
          <a:off x="1066800" y="32202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{F8D327CA-5784-4EC6-991F-50E0151CFC29}</a:tableStyleId>
              </a:tblPr>
              <a:tblGrid>
                <a:gridCol w="2587000"/>
              </a:tblGrid>
              <a:tr h="740275">
                <a:tc>
                  <a:txBody>
                    <a:bodyPr/>
                    <a:lstStyle/>
                    <a:p>
                      <a:pPr indent="0" lvl="0" marL="0" marR="125729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User</a:t>
                      </a:r>
                      <a:endParaRPr sz="2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886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0400">
                <a:tc>
                  <a:txBody>
                    <a:bodyPr/>
                    <a:lstStyle/>
                    <a:p>
                      <a:pPr indent="0" lvl="0" marL="45211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Application</a:t>
                      </a:r>
                      <a:endParaRPr sz="2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873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0400">
                <a:tc>
                  <a:txBody>
                    <a:bodyPr/>
                    <a:lstStyle/>
                    <a:p>
                      <a:pPr indent="0" lvl="0" marL="838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Operating System</a:t>
                      </a:r>
                      <a:endParaRPr sz="24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11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8500">
                <a:tc>
                  <a:txBody>
                    <a:bodyPr/>
                    <a:lstStyle/>
                    <a:p>
                      <a:pPr indent="0" lvl="0" marL="5359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5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Hardware</a:t>
                      </a:r>
                      <a:endParaRPr sz="275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860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0" name="Google Shape;130;p32"/>
          <p:cNvSpPr txBox="1"/>
          <p:nvPr>
            <p:ph idx="11" type="ftr"/>
          </p:nvPr>
        </p:nvSpPr>
        <p:spPr>
          <a:xfrm>
            <a:off x="7352818" y="7407271"/>
            <a:ext cx="255714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6699"/>
                </a:solidFill>
              </a:rPr>
              <a:t>Silberschatz, Galvin and Gagne ©2018</a:t>
            </a:r>
            <a:endParaRPr>
              <a:solidFill>
                <a:srgbClr val="006699"/>
              </a:solidFill>
            </a:endParaRPr>
          </a:p>
        </p:txBody>
      </p:sp>
      <p:sp>
        <p:nvSpPr>
          <p:cNvPr id="131" name="Google Shape;131;p32"/>
          <p:cNvSpPr txBox="1"/>
          <p:nvPr>
            <p:ph idx="10" type="dt"/>
          </p:nvPr>
        </p:nvSpPr>
        <p:spPr>
          <a:xfrm>
            <a:off x="292088" y="7443812"/>
            <a:ext cx="280098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Operating System Concepts – 10</a:t>
            </a:r>
            <a:r>
              <a:rPr baseline="30000" lang="en-US" sz="1050"/>
              <a:t>th </a:t>
            </a:r>
            <a:r>
              <a:rPr lang="en-US" sz="1100"/>
              <a:t>Edition</a:t>
            </a:r>
            <a:endParaRPr sz="1100"/>
          </a:p>
        </p:txBody>
      </p:sp>
      <p:sp>
        <p:nvSpPr>
          <p:cNvPr id="132" name="Google Shape;132;p32"/>
          <p:cNvSpPr txBox="1"/>
          <p:nvPr>
            <p:ph idx="12" type="sldNum"/>
          </p:nvPr>
        </p:nvSpPr>
        <p:spPr>
          <a:xfrm>
            <a:off x="4778766" y="7436195"/>
            <a:ext cx="325754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3"/>
          <p:cNvSpPr/>
          <p:nvPr/>
        </p:nvSpPr>
        <p:spPr>
          <a:xfrm>
            <a:off x="502919" y="1062227"/>
            <a:ext cx="8884920" cy="0"/>
          </a:xfrm>
          <a:custGeom>
            <a:rect b="b" l="l" r="r" t="t"/>
            <a:pathLst>
              <a:path extrusionOk="0" h="120000" w="8884920">
                <a:moveTo>
                  <a:pt x="0" y="0"/>
                </a:moveTo>
                <a:lnTo>
                  <a:pt x="8884920" y="0"/>
                </a:lnTo>
              </a:path>
            </a:pathLst>
          </a:custGeom>
          <a:noFill/>
          <a:ln cap="flat" cmpd="sng" w="21325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3"/>
          <p:cNvSpPr/>
          <p:nvPr/>
        </p:nvSpPr>
        <p:spPr>
          <a:xfrm>
            <a:off x="0" y="2628900"/>
            <a:ext cx="251459" cy="502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3"/>
          <p:cNvSpPr/>
          <p:nvPr/>
        </p:nvSpPr>
        <p:spPr>
          <a:xfrm>
            <a:off x="8552688" y="6550152"/>
            <a:ext cx="1412748" cy="8717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3"/>
          <p:cNvSpPr txBox="1"/>
          <p:nvPr>
            <p:ph type="title"/>
          </p:nvPr>
        </p:nvSpPr>
        <p:spPr>
          <a:xfrm>
            <a:off x="1886145" y="310424"/>
            <a:ext cx="3301365" cy="56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better picture</a:t>
            </a:r>
            <a:endParaRPr/>
          </a:p>
        </p:txBody>
      </p:sp>
      <p:sp>
        <p:nvSpPr>
          <p:cNvPr id="141" name="Google Shape;141;p33"/>
          <p:cNvSpPr/>
          <p:nvPr/>
        </p:nvSpPr>
        <p:spPr>
          <a:xfrm>
            <a:off x="1072896" y="1732788"/>
            <a:ext cx="5931408" cy="482345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3"/>
          <p:cNvSpPr txBox="1"/>
          <p:nvPr/>
        </p:nvSpPr>
        <p:spPr>
          <a:xfrm>
            <a:off x="2530808" y="6148781"/>
            <a:ext cx="1320800" cy="394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Hardware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3" name="Google Shape;143;p33"/>
          <p:cNvGrpSpPr/>
          <p:nvPr/>
        </p:nvGrpSpPr>
        <p:grpSpPr>
          <a:xfrm>
            <a:off x="1595627" y="4026407"/>
            <a:ext cx="2334768" cy="2015236"/>
            <a:chOff x="1595627" y="4026407"/>
            <a:chExt cx="2334768" cy="2015236"/>
          </a:xfrm>
        </p:grpSpPr>
        <p:sp>
          <p:nvSpPr>
            <p:cNvPr id="144" name="Google Shape;144;p33"/>
            <p:cNvSpPr/>
            <p:nvPr/>
          </p:nvSpPr>
          <p:spPr>
            <a:xfrm>
              <a:off x="1595627" y="5875020"/>
              <a:ext cx="170687" cy="11125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33"/>
            <p:cNvSpPr/>
            <p:nvPr/>
          </p:nvSpPr>
          <p:spPr>
            <a:xfrm>
              <a:off x="1652016" y="5289803"/>
              <a:ext cx="56515" cy="751840"/>
            </a:xfrm>
            <a:custGeom>
              <a:rect b="b" l="l" r="r" t="t"/>
              <a:pathLst>
                <a:path extrusionOk="0" h="751839" w="56514">
                  <a:moveTo>
                    <a:pt x="56388" y="612648"/>
                  </a:moveTo>
                  <a:lnTo>
                    <a:pt x="0" y="612648"/>
                  </a:lnTo>
                  <a:lnTo>
                    <a:pt x="0" y="694956"/>
                  </a:lnTo>
                  <a:lnTo>
                    <a:pt x="28956" y="751332"/>
                  </a:lnTo>
                  <a:lnTo>
                    <a:pt x="56388" y="696468"/>
                  </a:lnTo>
                  <a:lnTo>
                    <a:pt x="56388" y="612648"/>
                  </a:lnTo>
                  <a:close/>
                </a:path>
                <a:path extrusionOk="0" h="751839" w="56514">
                  <a:moveTo>
                    <a:pt x="56388" y="0"/>
                  </a:moveTo>
                  <a:lnTo>
                    <a:pt x="0" y="0"/>
                  </a:lnTo>
                  <a:lnTo>
                    <a:pt x="0" y="585216"/>
                  </a:lnTo>
                  <a:lnTo>
                    <a:pt x="56388" y="585216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33"/>
            <p:cNvSpPr/>
            <p:nvPr/>
          </p:nvSpPr>
          <p:spPr>
            <a:xfrm>
              <a:off x="3747516" y="5855208"/>
              <a:ext cx="173736" cy="112775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33"/>
            <p:cNvSpPr/>
            <p:nvPr/>
          </p:nvSpPr>
          <p:spPr>
            <a:xfrm>
              <a:off x="3805428" y="5269991"/>
              <a:ext cx="58419" cy="753110"/>
            </a:xfrm>
            <a:custGeom>
              <a:rect b="b" l="l" r="r" t="t"/>
              <a:pathLst>
                <a:path extrusionOk="0" h="753110" w="58420">
                  <a:moveTo>
                    <a:pt x="57912" y="612648"/>
                  </a:moveTo>
                  <a:lnTo>
                    <a:pt x="0" y="612648"/>
                  </a:lnTo>
                  <a:lnTo>
                    <a:pt x="0" y="696468"/>
                  </a:lnTo>
                  <a:lnTo>
                    <a:pt x="28956" y="752868"/>
                  </a:lnTo>
                  <a:lnTo>
                    <a:pt x="57912" y="697992"/>
                  </a:lnTo>
                  <a:lnTo>
                    <a:pt x="57912" y="612648"/>
                  </a:lnTo>
                  <a:close/>
                </a:path>
                <a:path extrusionOk="0" h="753110" w="58420">
                  <a:moveTo>
                    <a:pt x="57912" y="0"/>
                  </a:moveTo>
                  <a:lnTo>
                    <a:pt x="0" y="0"/>
                  </a:lnTo>
                  <a:lnTo>
                    <a:pt x="0" y="585216"/>
                  </a:lnTo>
                  <a:lnTo>
                    <a:pt x="57912" y="585216"/>
                  </a:lnTo>
                  <a:lnTo>
                    <a:pt x="579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33"/>
            <p:cNvSpPr/>
            <p:nvPr/>
          </p:nvSpPr>
          <p:spPr>
            <a:xfrm>
              <a:off x="3758183" y="4613148"/>
              <a:ext cx="172212" cy="111251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33"/>
            <p:cNvSpPr/>
            <p:nvPr/>
          </p:nvSpPr>
          <p:spPr>
            <a:xfrm>
              <a:off x="3816096" y="4026407"/>
              <a:ext cx="56515" cy="753110"/>
            </a:xfrm>
            <a:custGeom>
              <a:rect b="b" l="l" r="r" t="t"/>
              <a:pathLst>
                <a:path extrusionOk="0" h="753110" w="56514">
                  <a:moveTo>
                    <a:pt x="56388" y="612648"/>
                  </a:moveTo>
                  <a:lnTo>
                    <a:pt x="0" y="612648"/>
                  </a:lnTo>
                  <a:lnTo>
                    <a:pt x="0" y="697992"/>
                  </a:lnTo>
                  <a:lnTo>
                    <a:pt x="27432" y="752856"/>
                  </a:lnTo>
                  <a:lnTo>
                    <a:pt x="56388" y="696468"/>
                  </a:lnTo>
                  <a:lnTo>
                    <a:pt x="56388" y="612648"/>
                  </a:lnTo>
                  <a:close/>
                </a:path>
                <a:path extrusionOk="0" h="753110" w="56514">
                  <a:moveTo>
                    <a:pt x="56388" y="0"/>
                  </a:moveTo>
                  <a:lnTo>
                    <a:pt x="0" y="0"/>
                  </a:lnTo>
                  <a:lnTo>
                    <a:pt x="0" y="586740"/>
                  </a:lnTo>
                  <a:lnTo>
                    <a:pt x="56388" y="586740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33"/>
          <p:cNvSpPr txBox="1"/>
          <p:nvPr/>
        </p:nvSpPr>
        <p:spPr>
          <a:xfrm>
            <a:off x="4172203" y="3803396"/>
            <a:ext cx="1359535" cy="204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75">
            <a:spAutoFit/>
          </a:bodyPr>
          <a:lstStyle/>
          <a:p>
            <a:pPr indent="-129540" lvl="0" marL="192405" marR="66802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  calls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0815" lvl="0" marL="182880" marR="5080" rtl="0" algn="l">
              <a:lnSpc>
                <a:spcPct val="101000"/>
              </a:lnSpc>
              <a:spcBef>
                <a:spcPts val="14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Operating  System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0815" lvl="0" marL="182880" marR="183515" rtl="0" algn="l">
              <a:lnSpc>
                <a:spcPct val="103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Privileged  instructions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1" name="Google Shape;151;p33"/>
          <p:cNvSpPr txBox="1"/>
          <p:nvPr>
            <p:ph idx="11" type="ftr"/>
          </p:nvPr>
        </p:nvSpPr>
        <p:spPr>
          <a:xfrm>
            <a:off x="7352818" y="7407271"/>
            <a:ext cx="255714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6699"/>
                </a:solidFill>
              </a:rPr>
              <a:t>Silberschatz, Galvin and Gagne ©2018</a:t>
            </a:r>
            <a:endParaRPr>
              <a:solidFill>
                <a:srgbClr val="006699"/>
              </a:solidFill>
            </a:endParaRPr>
          </a:p>
        </p:txBody>
      </p:sp>
      <p:sp>
        <p:nvSpPr>
          <p:cNvPr id="152" name="Google Shape;152;p33"/>
          <p:cNvSpPr txBox="1"/>
          <p:nvPr>
            <p:ph idx="10" type="dt"/>
          </p:nvPr>
        </p:nvSpPr>
        <p:spPr>
          <a:xfrm>
            <a:off x="292088" y="7443812"/>
            <a:ext cx="280098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Operating System Concepts – 10</a:t>
            </a:r>
            <a:r>
              <a:rPr baseline="30000" lang="en-US" sz="1050"/>
              <a:t>th </a:t>
            </a:r>
            <a:r>
              <a:rPr lang="en-US" sz="1100"/>
              <a:t>Edition</a:t>
            </a:r>
            <a:endParaRPr sz="1100"/>
          </a:p>
        </p:txBody>
      </p:sp>
      <p:sp>
        <p:nvSpPr>
          <p:cNvPr id="153" name="Google Shape;153;p33"/>
          <p:cNvSpPr txBox="1"/>
          <p:nvPr>
            <p:ph idx="12" type="sldNum"/>
          </p:nvPr>
        </p:nvSpPr>
        <p:spPr>
          <a:xfrm>
            <a:off x="4778766" y="7436195"/>
            <a:ext cx="325754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33"/>
          <p:cNvSpPr txBox="1"/>
          <p:nvPr/>
        </p:nvSpPr>
        <p:spPr>
          <a:xfrm>
            <a:off x="1877060" y="5360923"/>
            <a:ext cx="1010285" cy="494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75">
            <a:spAutoFit/>
          </a:bodyPr>
          <a:lstStyle/>
          <a:p>
            <a:pPr indent="141605" lvl="0" marL="12700" marR="508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Machine  instructions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" name="Google Shape;155;p33"/>
          <p:cNvSpPr txBox="1"/>
          <p:nvPr/>
        </p:nvSpPr>
        <p:spPr>
          <a:xfrm>
            <a:off x="2213941" y="3270066"/>
            <a:ext cx="1502410" cy="394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7106546" y="3321102"/>
            <a:ext cx="2418454" cy="162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53035" marR="0" rtl="0" algn="l">
              <a:lnSpc>
                <a:spcPct val="119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5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53035" marR="0" rtl="0" algn="l">
              <a:lnSpc>
                <a:spcPct val="126458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One Operating  System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None/>
            </a:pPr>
            <a:r>
              <a:rPr i="1" lang="en-US" sz="25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One 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Hardware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7483894" y="1842619"/>
            <a:ext cx="2269706" cy="774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5550">
            <a:spAutoFit/>
          </a:bodyPr>
          <a:lstStyle/>
          <a:p>
            <a:pPr indent="0" lvl="0" marL="5905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many applications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4"/>
          <p:cNvSpPr/>
          <p:nvPr/>
        </p:nvSpPr>
        <p:spPr>
          <a:xfrm>
            <a:off x="0" y="2628900"/>
            <a:ext cx="251459" cy="502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4"/>
          <p:cNvSpPr/>
          <p:nvPr/>
        </p:nvSpPr>
        <p:spPr>
          <a:xfrm>
            <a:off x="8552688" y="6550152"/>
            <a:ext cx="1412748" cy="8717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4"/>
          <p:cNvSpPr txBox="1"/>
          <p:nvPr>
            <p:ph type="title"/>
          </p:nvPr>
        </p:nvSpPr>
        <p:spPr>
          <a:xfrm>
            <a:off x="490219" y="491827"/>
            <a:ext cx="8910320" cy="56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u="sng"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US" u="sng"/>
              <a:t>Operating System in Action	</a:t>
            </a:r>
            <a:endParaRPr u="sng"/>
          </a:p>
        </p:txBody>
      </p:sp>
      <p:sp>
        <p:nvSpPr>
          <p:cNvPr id="165" name="Google Shape;165;p34"/>
          <p:cNvSpPr txBox="1"/>
          <p:nvPr>
            <p:ph idx="11" type="ftr"/>
          </p:nvPr>
        </p:nvSpPr>
        <p:spPr>
          <a:xfrm>
            <a:off x="7352818" y="7407271"/>
            <a:ext cx="255714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6699"/>
                </a:solidFill>
              </a:rPr>
              <a:t>Silberschatz, Galvin and Gagne ©2018</a:t>
            </a:r>
            <a:endParaRPr>
              <a:solidFill>
                <a:srgbClr val="006699"/>
              </a:solidFill>
            </a:endParaRPr>
          </a:p>
        </p:txBody>
      </p:sp>
      <p:sp>
        <p:nvSpPr>
          <p:cNvPr id="166" name="Google Shape;166;p34"/>
          <p:cNvSpPr txBox="1"/>
          <p:nvPr>
            <p:ph idx="10" type="dt"/>
          </p:nvPr>
        </p:nvSpPr>
        <p:spPr>
          <a:xfrm>
            <a:off x="292088" y="7443812"/>
            <a:ext cx="280098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Operating System Concepts – 10</a:t>
            </a:r>
            <a:r>
              <a:rPr baseline="30000" lang="en-US" sz="1050"/>
              <a:t>th </a:t>
            </a:r>
            <a:r>
              <a:rPr lang="en-US" sz="1100"/>
              <a:t>Edition</a:t>
            </a:r>
            <a:endParaRPr sz="1100"/>
          </a:p>
        </p:txBody>
      </p:sp>
      <p:sp>
        <p:nvSpPr>
          <p:cNvPr id="167" name="Google Shape;167;p34"/>
          <p:cNvSpPr txBox="1"/>
          <p:nvPr>
            <p:ph idx="12" type="sldNum"/>
          </p:nvPr>
        </p:nvSpPr>
        <p:spPr>
          <a:xfrm>
            <a:off x="4778766" y="7436195"/>
            <a:ext cx="325754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34"/>
          <p:cNvSpPr txBox="1"/>
          <p:nvPr>
            <p:ph idx="1" type="body"/>
          </p:nvPr>
        </p:nvSpPr>
        <p:spPr>
          <a:xfrm>
            <a:off x="476746" y="1557081"/>
            <a:ext cx="9104906" cy="506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68605" lvl="0" marL="11214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4816"/>
              </a:buClr>
              <a:buSzPts val="1848"/>
              <a:buFont typeface="Arimo"/>
              <a:buChar char=""/>
            </a:pPr>
            <a:r>
              <a:rPr lang="en-US"/>
              <a:t>OS is a program, just like any other program</a:t>
            </a:r>
            <a:endParaRPr/>
          </a:p>
          <a:p>
            <a:pPr indent="-268605" lvl="0" marL="1121410" rtl="0" algn="l">
              <a:lnSpc>
                <a:spcPct val="100000"/>
              </a:lnSpc>
              <a:spcBef>
                <a:spcPts val="1945"/>
              </a:spcBef>
              <a:spcAft>
                <a:spcPts val="0"/>
              </a:spcAft>
              <a:buClr>
                <a:srgbClr val="D34816"/>
              </a:buClr>
              <a:buSzPts val="1848"/>
              <a:buFont typeface="Arimo"/>
              <a:buChar char=""/>
            </a:pPr>
            <a:r>
              <a:rPr lang="en-US"/>
              <a:t>When you turn power on, </a:t>
            </a:r>
            <a:r>
              <a:rPr b="1" i="1" lang="en-US">
                <a:latin typeface="Times New Roman"/>
                <a:ea typeface="Times New Roman"/>
                <a:cs typeface="Times New Roman"/>
                <a:sym typeface="Times New Roman"/>
              </a:rPr>
              <a:t>bootstrap </a:t>
            </a:r>
            <a:r>
              <a:rPr lang="en-US"/>
              <a:t>program is loaded from	ROM</a:t>
            </a:r>
            <a:endParaRPr/>
          </a:p>
          <a:p>
            <a:pPr indent="-268605" lvl="0" marL="1121410" rtl="0" algn="l">
              <a:lnSpc>
                <a:spcPct val="100000"/>
              </a:lnSpc>
              <a:spcBef>
                <a:spcPts val="1570"/>
              </a:spcBef>
              <a:spcAft>
                <a:spcPts val="0"/>
              </a:spcAft>
              <a:buClr>
                <a:srgbClr val="D34816"/>
              </a:buClr>
              <a:buSzPts val="1848"/>
              <a:buFont typeface="Arimo"/>
              <a:buChar char=""/>
            </a:pPr>
            <a:r>
              <a:rPr lang="en-US"/>
              <a:t>Bootstrap program</a:t>
            </a:r>
            <a:endParaRPr/>
          </a:p>
          <a:p>
            <a:pPr indent="-226060" lvl="1" marL="1392555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Clr>
                <a:srgbClr val="9A2D1F"/>
              </a:buClr>
              <a:buSzPts val="1804"/>
              <a:buFont typeface="Arimo"/>
              <a:buChar char="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Examine/check machine configuration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6060" lvl="2" marL="166370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E6B1AA"/>
              </a:buClr>
              <a:buSzPts val="1848"/>
              <a:buFont typeface="Arimo"/>
              <a:buChar char="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# CPUs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6060" lvl="2" marL="1663700" rtl="0" algn="l">
              <a:lnSpc>
                <a:spcPct val="100000"/>
              </a:lnSpc>
              <a:spcBef>
                <a:spcPts val="1430"/>
              </a:spcBef>
              <a:spcAft>
                <a:spcPts val="0"/>
              </a:spcAft>
              <a:buClr>
                <a:srgbClr val="E6B1AA"/>
              </a:buClr>
              <a:buSzPts val="1848"/>
              <a:buFont typeface="Arimo"/>
              <a:buChar char="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How much memory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6060" lvl="2" marL="1663700" rtl="0" algn="l">
              <a:lnSpc>
                <a:spcPct val="100000"/>
              </a:lnSpc>
              <a:spcBef>
                <a:spcPts val="1430"/>
              </a:spcBef>
              <a:spcAft>
                <a:spcPts val="0"/>
              </a:spcAft>
              <a:buClr>
                <a:srgbClr val="E6B1AA"/>
              </a:buClr>
              <a:buSzPts val="1848"/>
              <a:buFont typeface="Arimo"/>
              <a:buChar char="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# and type of HW devices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6060" lvl="1" marL="1392555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9A2D1F"/>
              </a:buClr>
              <a:buSzPts val="1848"/>
              <a:buFont typeface="Arimo"/>
              <a:buChar char="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Build configuration structure describing the HW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6060" lvl="1" marL="1392555" rtl="0" algn="l">
              <a:lnSpc>
                <a:spcPct val="100000"/>
              </a:lnSpc>
              <a:spcBef>
                <a:spcPts val="1425"/>
              </a:spcBef>
              <a:spcAft>
                <a:spcPts val="0"/>
              </a:spcAft>
              <a:buClr>
                <a:srgbClr val="9A2D1F"/>
              </a:buClr>
              <a:buSzPts val="1848"/>
              <a:buFont typeface="Arimo"/>
              <a:buChar char="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Locates and Loads the OS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6060" lvl="1" marL="1392555" rtl="0" algn="l">
              <a:lnSpc>
                <a:spcPct val="100000"/>
              </a:lnSpc>
              <a:spcBef>
                <a:spcPts val="1430"/>
              </a:spcBef>
              <a:spcAft>
                <a:spcPts val="0"/>
              </a:spcAft>
              <a:buClr>
                <a:srgbClr val="9A2D1F"/>
              </a:buClr>
              <a:buSzPts val="1848"/>
              <a:buFont typeface="Arimo"/>
              <a:buChar char="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 control transfers to the OS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/>
          <p:cNvSpPr/>
          <p:nvPr/>
        </p:nvSpPr>
        <p:spPr>
          <a:xfrm>
            <a:off x="0" y="2628900"/>
            <a:ext cx="251459" cy="502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5"/>
          <p:cNvSpPr/>
          <p:nvPr/>
        </p:nvSpPr>
        <p:spPr>
          <a:xfrm>
            <a:off x="8552688" y="6550152"/>
            <a:ext cx="1412748" cy="8717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5"/>
          <p:cNvSpPr txBox="1"/>
          <p:nvPr>
            <p:ph type="title"/>
          </p:nvPr>
        </p:nvSpPr>
        <p:spPr>
          <a:xfrm>
            <a:off x="490219" y="491827"/>
            <a:ext cx="8910320" cy="56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u="sng"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US" u="sng"/>
              <a:t>Operating System in Action	</a:t>
            </a:r>
            <a:endParaRPr u="sng"/>
          </a:p>
        </p:txBody>
      </p:sp>
      <p:sp>
        <p:nvSpPr>
          <p:cNvPr id="176" name="Google Shape;176;p35"/>
          <p:cNvSpPr txBox="1"/>
          <p:nvPr>
            <p:ph idx="11" type="ftr"/>
          </p:nvPr>
        </p:nvSpPr>
        <p:spPr>
          <a:xfrm>
            <a:off x="7352818" y="7407271"/>
            <a:ext cx="255714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6699"/>
                </a:solidFill>
              </a:rPr>
              <a:t>Silberschatz, Galvin and Gagne ©2018</a:t>
            </a:r>
            <a:endParaRPr>
              <a:solidFill>
                <a:srgbClr val="006699"/>
              </a:solidFill>
            </a:endParaRPr>
          </a:p>
        </p:txBody>
      </p:sp>
      <p:sp>
        <p:nvSpPr>
          <p:cNvPr id="177" name="Google Shape;177;p35"/>
          <p:cNvSpPr txBox="1"/>
          <p:nvPr>
            <p:ph idx="10" type="dt"/>
          </p:nvPr>
        </p:nvSpPr>
        <p:spPr>
          <a:xfrm>
            <a:off x="292088" y="7443812"/>
            <a:ext cx="280098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Operating System Concepts – 10</a:t>
            </a:r>
            <a:r>
              <a:rPr baseline="30000" lang="en-US" sz="1050"/>
              <a:t>th </a:t>
            </a:r>
            <a:r>
              <a:rPr lang="en-US" sz="1100"/>
              <a:t>Edition</a:t>
            </a:r>
            <a:endParaRPr sz="1100"/>
          </a:p>
        </p:txBody>
      </p:sp>
      <p:sp>
        <p:nvSpPr>
          <p:cNvPr id="178" name="Google Shape;178;p35"/>
          <p:cNvSpPr txBox="1"/>
          <p:nvPr>
            <p:ph idx="12" type="sldNum"/>
          </p:nvPr>
        </p:nvSpPr>
        <p:spPr>
          <a:xfrm>
            <a:off x="4778766" y="7436195"/>
            <a:ext cx="325754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35"/>
          <p:cNvSpPr txBox="1"/>
          <p:nvPr/>
        </p:nvSpPr>
        <p:spPr>
          <a:xfrm>
            <a:off x="1450286" y="1779447"/>
            <a:ext cx="5867400" cy="2356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System: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9875" lvl="0" marL="28194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D34816"/>
              </a:buClr>
              <a:buSzPts val="2100"/>
              <a:buFont typeface="Arimo"/>
              <a:buChar char="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Initialize kernel data structures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9875" lvl="0" marL="281940" marR="0" rtl="0" algn="l">
              <a:lnSpc>
                <a:spcPct val="100000"/>
              </a:lnSpc>
              <a:spcBef>
                <a:spcPts val="2115"/>
              </a:spcBef>
              <a:spcAft>
                <a:spcPts val="0"/>
              </a:spcAft>
              <a:buClr>
                <a:srgbClr val="D34816"/>
              </a:buClr>
              <a:buSzPts val="2100"/>
              <a:buFont typeface="Arimo"/>
              <a:buChar char="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Initialize state of HW devices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9875" lvl="0" marL="28194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D34816"/>
              </a:buClr>
              <a:buSzPts val="2100"/>
              <a:buFont typeface="Arimo"/>
              <a:buChar char="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a number of processes to start operation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/>
          <p:nvPr/>
        </p:nvSpPr>
        <p:spPr>
          <a:xfrm>
            <a:off x="0" y="2628900"/>
            <a:ext cx="251459" cy="502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6"/>
          <p:cNvSpPr/>
          <p:nvPr/>
        </p:nvSpPr>
        <p:spPr>
          <a:xfrm>
            <a:off x="8552688" y="6550152"/>
            <a:ext cx="1412748" cy="87172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6"/>
          <p:cNvSpPr txBox="1"/>
          <p:nvPr>
            <p:ph type="title"/>
          </p:nvPr>
        </p:nvSpPr>
        <p:spPr>
          <a:xfrm>
            <a:off x="490219" y="491827"/>
            <a:ext cx="8910320" cy="56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u="sng"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US" u="sng"/>
              <a:t>References	</a:t>
            </a:r>
            <a:endParaRPr u="sng"/>
          </a:p>
        </p:txBody>
      </p:sp>
      <p:sp>
        <p:nvSpPr>
          <p:cNvPr id="187" name="Google Shape;187;p36"/>
          <p:cNvSpPr txBox="1"/>
          <p:nvPr>
            <p:ph idx="11" type="ftr"/>
          </p:nvPr>
        </p:nvSpPr>
        <p:spPr>
          <a:xfrm>
            <a:off x="7352818" y="7407271"/>
            <a:ext cx="255714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6699"/>
                </a:solidFill>
              </a:rPr>
              <a:t>Silberschatz, Galvin and Gagne ©2018</a:t>
            </a:r>
            <a:endParaRPr>
              <a:solidFill>
                <a:srgbClr val="006699"/>
              </a:solidFill>
            </a:endParaRPr>
          </a:p>
        </p:txBody>
      </p:sp>
      <p:sp>
        <p:nvSpPr>
          <p:cNvPr id="188" name="Google Shape;188;p36"/>
          <p:cNvSpPr txBox="1"/>
          <p:nvPr>
            <p:ph idx="10" type="dt"/>
          </p:nvPr>
        </p:nvSpPr>
        <p:spPr>
          <a:xfrm>
            <a:off x="292088" y="7443812"/>
            <a:ext cx="280098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Operating System Concepts – 10</a:t>
            </a:r>
            <a:r>
              <a:rPr baseline="30000" lang="en-US" sz="1050"/>
              <a:t>th </a:t>
            </a:r>
            <a:r>
              <a:rPr lang="en-US" sz="1100"/>
              <a:t>Edition</a:t>
            </a:r>
            <a:endParaRPr sz="1100"/>
          </a:p>
        </p:txBody>
      </p:sp>
      <p:sp>
        <p:nvSpPr>
          <p:cNvPr id="189" name="Google Shape;189;p36"/>
          <p:cNvSpPr txBox="1"/>
          <p:nvPr>
            <p:ph idx="12" type="sldNum"/>
          </p:nvPr>
        </p:nvSpPr>
        <p:spPr>
          <a:xfrm>
            <a:off x="4778766" y="7436195"/>
            <a:ext cx="325754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36"/>
          <p:cNvSpPr txBox="1"/>
          <p:nvPr/>
        </p:nvSpPr>
        <p:spPr>
          <a:xfrm>
            <a:off x="1426439" y="1739877"/>
            <a:ext cx="6491605" cy="433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68605" lvl="0" marL="3060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4816"/>
              </a:buClr>
              <a:buSzPts val="2310"/>
              <a:buFont typeface="Arimo"/>
              <a:buChar char=""/>
            </a:pPr>
            <a:r>
              <a:rPr lang="en-US" sz="2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Concepts 8/9</a:t>
            </a:r>
            <a:r>
              <a:rPr baseline="30000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 </a:t>
            </a:r>
            <a:r>
              <a:rPr lang="en-US" sz="2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 Chapter 1</a:t>
            </a:r>
            <a:endParaRPr sz="2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605" lvl="0" marL="306070" marR="0" rtl="0" algn="l">
              <a:lnSpc>
                <a:spcPct val="100000"/>
              </a:lnSpc>
              <a:spcBef>
                <a:spcPts val="2195"/>
              </a:spcBef>
              <a:spcAft>
                <a:spcPts val="0"/>
              </a:spcAft>
              <a:buClr>
                <a:srgbClr val="D34816"/>
              </a:buClr>
              <a:buSzPts val="2310"/>
              <a:buFont typeface="Arimo"/>
              <a:buChar char=""/>
            </a:pPr>
            <a:r>
              <a:rPr lang="en-US" sz="2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Operating Systems 3</a:t>
            </a:r>
            <a:r>
              <a:rPr baseline="30000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 </a:t>
            </a:r>
            <a:r>
              <a:rPr lang="en-US" sz="2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 Chapter 1</a:t>
            </a:r>
            <a:endParaRPr sz="2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605" lvl="0" marL="306070" marR="0" rtl="0" algn="l">
              <a:lnSpc>
                <a:spcPct val="100000"/>
              </a:lnSpc>
              <a:spcBef>
                <a:spcPts val="2210"/>
              </a:spcBef>
              <a:spcAft>
                <a:spcPts val="0"/>
              </a:spcAft>
              <a:buClr>
                <a:srgbClr val="D34816"/>
              </a:buClr>
              <a:buSzPts val="2310"/>
              <a:buFont typeface="Arimo"/>
              <a:buChar char=""/>
            </a:pPr>
            <a:r>
              <a:rPr lang="en-US" sz="2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Systems 6</a:t>
            </a:r>
            <a:r>
              <a:rPr baseline="30000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 </a:t>
            </a:r>
            <a:r>
              <a:rPr lang="en-US" sz="2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 Chapter 2</a:t>
            </a:r>
            <a:endParaRPr sz="2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9885" marR="0" rtl="0" algn="l">
              <a:lnSpc>
                <a:spcPct val="100000"/>
              </a:lnSpc>
              <a:spcBef>
                <a:spcPts val="200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9A2D1F"/>
                </a:solidFill>
                <a:latin typeface="Arimo"/>
                <a:ea typeface="Arimo"/>
                <a:cs typeface="Arimo"/>
                <a:sym typeface="Arimo"/>
              </a:rPr>
              <a:t></a:t>
            </a:r>
            <a:r>
              <a:rPr lang="en-US" sz="2000">
                <a:solidFill>
                  <a:srgbClr val="9A2D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William Stalling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605" lvl="0" marL="306070" marR="0" rtl="0" algn="l">
              <a:lnSpc>
                <a:spcPct val="100000"/>
              </a:lnSpc>
              <a:spcBef>
                <a:spcPts val="2030"/>
              </a:spcBef>
              <a:spcAft>
                <a:spcPts val="0"/>
              </a:spcAft>
              <a:buClr>
                <a:srgbClr val="D34816"/>
              </a:buClr>
              <a:buSzPts val="1992"/>
              <a:buFont typeface="Arimo"/>
              <a:buChar char=""/>
            </a:pPr>
            <a:r>
              <a:rPr lang="en-US" sz="2400" u="sng">
                <a:solidFill>
                  <a:srgbClr val="FFCC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http://en.wikipedia.org/wiki/Time-sharing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605" lvl="0" marL="306070" marR="0" rtl="0" algn="l">
              <a:lnSpc>
                <a:spcPct val="100000"/>
              </a:lnSpc>
              <a:spcBef>
                <a:spcPts val="2015"/>
              </a:spcBef>
              <a:spcAft>
                <a:spcPts val="0"/>
              </a:spcAft>
              <a:buClr>
                <a:srgbClr val="D34816"/>
              </a:buClr>
              <a:buSzPts val="2040"/>
              <a:buFont typeface="Arimo"/>
              <a:buChar char=""/>
            </a:pPr>
            <a:r>
              <a:rPr lang="en-US" sz="2400" u="sng">
                <a:solidFill>
                  <a:srgbClr val="FFCC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http://en.wikipedia.org/wiki/Operating_system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605" lvl="0" marL="306070" marR="0" rtl="0" algn="l">
              <a:lnSpc>
                <a:spcPct val="100000"/>
              </a:lnSpc>
              <a:spcBef>
                <a:spcPts val="2030"/>
              </a:spcBef>
              <a:spcAft>
                <a:spcPts val="0"/>
              </a:spcAft>
              <a:buClr>
                <a:srgbClr val="D34816"/>
              </a:buClr>
              <a:buSzPts val="1992"/>
              <a:buFont typeface="Arimo"/>
              <a:buChar char=""/>
            </a:pPr>
            <a:r>
              <a:rPr lang="en-US" sz="2400" u="sng">
                <a:solidFill>
                  <a:srgbClr val="FFCC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http://en.wikipedia.org/wiki/Distributed_computing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37"/>
          <p:cNvGrpSpPr/>
          <p:nvPr/>
        </p:nvGrpSpPr>
        <p:grpSpPr>
          <a:xfrm>
            <a:off x="219456" y="3371088"/>
            <a:ext cx="9471787" cy="222885"/>
            <a:chOff x="219456" y="3371088"/>
            <a:chExt cx="9471787" cy="222885"/>
          </a:xfrm>
        </p:grpSpPr>
        <p:sp>
          <p:nvSpPr>
            <p:cNvPr id="196" name="Google Shape;196;p37"/>
            <p:cNvSpPr/>
            <p:nvPr/>
          </p:nvSpPr>
          <p:spPr>
            <a:xfrm>
              <a:off x="219456" y="3371088"/>
              <a:ext cx="3156585" cy="222885"/>
            </a:xfrm>
            <a:custGeom>
              <a:rect b="b" l="l" r="r" t="t"/>
              <a:pathLst>
                <a:path extrusionOk="0" h="222885" w="3156585">
                  <a:moveTo>
                    <a:pt x="3156203" y="222503"/>
                  </a:moveTo>
                  <a:lnTo>
                    <a:pt x="0" y="222503"/>
                  </a:lnTo>
                  <a:lnTo>
                    <a:pt x="0" y="0"/>
                  </a:lnTo>
                  <a:lnTo>
                    <a:pt x="3156203" y="0"/>
                  </a:lnTo>
                  <a:lnTo>
                    <a:pt x="3156203" y="222503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37"/>
            <p:cNvSpPr/>
            <p:nvPr/>
          </p:nvSpPr>
          <p:spPr>
            <a:xfrm>
              <a:off x="3375660" y="3371088"/>
              <a:ext cx="3157855" cy="222885"/>
            </a:xfrm>
            <a:custGeom>
              <a:rect b="b" l="l" r="r" t="t"/>
              <a:pathLst>
                <a:path extrusionOk="0" h="222885" w="3157854">
                  <a:moveTo>
                    <a:pt x="3157728" y="222503"/>
                  </a:moveTo>
                  <a:lnTo>
                    <a:pt x="0" y="222503"/>
                  </a:lnTo>
                  <a:lnTo>
                    <a:pt x="0" y="0"/>
                  </a:lnTo>
                  <a:lnTo>
                    <a:pt x="3157728" y="0"/>
                  </a:lnTo>
                  <a:lnTo>
                    <a:pt x="3157728" y="222503"/>
                  </a:ln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37"/>
            <p:cNvSpPr/>
            <p:nvPr/>
          </p:nvSpPr>
          <p:spPr>
            <a:xfrm>
              <a:off x="6533388" y="3371088"/>
              <a:ext cx="3157855" cy="222885"/>
            </a:xfrm>
            <a:custGeom>
              <a:rect b="b" l="l" r="r" t="t"/>
              <a:pathLst>
                <a:path extrusionOk="0" h="222885" w="3157854">
                  <a:moveTo>
                    <a:pt x="3157728" y="222503"/>
                  </a:moveTo>
                  <a:lnTo>
                    <a:pt x="0" y="222503"/>
                  </a:lnTo>
                  <a:lnTo>
                    <a:pt x="0" y="0"/>
                  </a:lnTo>
                  <a:lnTo>
                    <a:pt x="3157728" y="0"/>
                  </a:lnTo>
                  <a:lnTo>
                    <a:pt x="3157728" y="222503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" name="Google Shape;199;p37"/>
          <p:cNvGrpSpPr/>
          <p:nvPr/>
        </p:nvGrpSpPr>
        <p:grpSpPr>
          <a:xfrm>
            <a:off x="3515868" y="4491228"/>
            <a:ext cx="2633980" cy="2139950"/>
            <a:chOff x="3515868" y="4491228"/>
            <a:chExt cx="2633980" cy="2139950"/>
          </a:xfrm>
        </p:grpSpPr>
        <p:sp>
          <p:nvSpPr>
            <p:cNvPr id="200" name="Google Shape;200;p37"/>
            <p:cNvSpPr/>
            <p:nvPr/>
          </p:nvSpPr>
          <p:spPr>
            <a:xfrm>
              <a:off x="3697223" y="4687824"/>
              <a:ext cx="2269235" cy="1754123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37"/>
            <p:cNvSpPr/>
            <p:nvPr/>
          </p:nvSpPr>
          <p:spPr>
            <a:xfrm>
              <a:off x="3656075" y="4646676"/>
              <a:ext cx="2352040" cy="1836420"/>
            </a:xfrm>
            <a:custGeom>
              <a:rect b="b" l="l" r="r" t="t"/>
              <a:pathLst>
                <a:path extrusionOk="0" h="1836420" w="2352040">
                  <a:moveTo>
                    <a:pt x="0" y="0"/>
                  </a:moveTo>
                  <a:lnTo>
                    <a:pt x="2351532" y="0"/>
                  </a:lnTo>
                  <a:lnTo>
                    <a:pt x="2351532" y="1836420"/>
                  </a:lnTo>
                  <a:lnTo>
                    <a:pt x="0" y="183642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83800">
              <a:solidFill>
                <a:srgbClr val="33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37"/>
            <p:cNvSpPr/>
            <p:nvPr/>
          </p:nvSpPr>
          <p:spPr>
            <a:xfrm>
              <a:off x="3515868" y="4491228"/>
              <a:ext cx="2633980" cy="2139950"/>
            </a:xfrm>
            <a:custGeom>
              <a:rect b="b" l="l" r="r" t="t"/>
              <a:pathLst>
                <a:path extrusionOk="0" h="2139950" w="2633979">
                  <a:moveTo>
                    <a:pt x="2607564" y="24130"/>
                  </a:moveTo>
                  <a:lnTo>
                    <a:pt x="25908" y="24130"/>
                  </a:lnTo>
                  <a:lnTo>
                    <a:pt x="25908" y="62230"/>
                  </a:lnTo>
                  <a:lnTo>
                    <a:pt x="25908" y="2075180"/>
                  </a:lnTo>
                  <a:lnTo>
                    <a:pt x="25908" y="2113280"/>
                  </a:lnTo>
                  <a:lnTo>
                    <a:pt x="2607564" y="2113280"/>
                  </a:lnTo>
                  <a:lnTo>
                    <a:pt x="2607564" y="2075700"/>
                  </a:lnTo>
                  <a:lnTo>
                    <a:pt x="2607564" y="2075180"/>
                  </a:lnTo>
                  <a:lnTo>
                    <a:pt x="2607564" y="62496"/>
                  </a:lnTo>
                  <a:lnTo>
                    <a:pt x="2570988" y="62496"/>
                  </a:lnTo>
                  <a:lnTo>
                    <a:pt x="2570988" y="2075180"/>
                  </a:lnTo>
                  <a:lnTo>
                    <a:pt x="62484" y="2075180"/>
                  </a:lnTo>
                  <a:lnTo>
                    <a:pt x="62484" y="62230"/>
                  </a:lnTo>
                  <a:lnTo>
                    <a:pt x="2607564" y="62230"/>
                  </a:lnTo>
                  <a:lnTo>
                    <a:pt x="2607564" y="24130"/>
                  </a:lnTo>
                  <a:close/>
                </a:path>
                <a:path extrusionOk="0" h="2139950" w="2633979">
                  <a:moveTo>
                    <a:pt x="2633472" y="0"/>
                  </a:moveTo>
                  <a:lnTo>
                    <a:pt x="2621280" y="0"/>
                  </a:lnTo>
                  <a:lnTo>
                    <a:pt x="2621280" y="12700"/>
                  </a:lnTo>
                  <a:lnTo>
                    <a:pt x="2621280" y="2125980"/>
                  </a:lnTo>
                  <a:lnTo>
                    <a:pt x="12192" y="2125980"/>
                  </a:lnTo>
                  <a:lnTo>
                    <a:pt x="12192" y="12700"/>
                  </a:lnTo>
                  <a:lnTo>
                    <a:pt x="2621280" y="12700"/>
                  </a:lnTo>
                  <a:lnTo>
                    <a:pt x="262128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2125980"/>
                  </a:lnTo>
                  <a:lnTo>
                    <a:pt x="0" y="2139950"/>
                  </a:lnTo>
                  <a:lnTo>
                    <a:pt x="2633472" y="2139950"/>
                  </a:lnTo>
                  <a:lnTo>
                    <a:pt x="2633472" y="2125992"/>
                  </a:lnTo>
                  <a:lnTo>
                    <a:pt x="2633472" y="12700"/>
                  </a:lnTo>
                  <a:lnTo>
                    <a:pt x="2633472" y="12204"/>
                  </a:lnTo>
                  <a:lnTo>
                    <a:pt x="2633472" y="0"/>
                  </a:ln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37"/>
          <p:cNvSpPr txBox="1"/>
          <p:nvPr/>
        </p:nvSpPr>
        <p:spPr>
          <a:xfrm>
            <a:off x="4449677" y="2407304"/>
            <a:ext cx="1160780" cy="746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sz="4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7"/>
          <p:cNvSpPr txBox="1"/>
          <p:nvPr>
            <p:ph idx="11" type="ftr"/>
          </p:nvPr>
        </p:nvSpPr>
        <p:spPr>
          <a:xfrm>
            <a:off x="7352818" y="7407271"/>
            <a:ext cx="2557145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Silberschatz, Galvin and Gagne ©2018</a:t>
            </a:r>
            <a:endParaRPr/>
          </a:p>
        </p:txBody>
      </p:sp>
      <p:sp>
        <p:nvSpPr>
          <p:cNvPr id="205" name="Google Shape;205;p37"/>
          <p:cNvSpPr txBox="1"/>
          <p:nvPr/>
        </p:nvSpPr>
        <p:spPr>
          <a:xfrm>
            <a:off x="118334" y="7436195"/>
            <a:ext cx="2768600" cy="182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36699"/>
                </a:solidFill>
                <a:latin typeface="Arial"/>
                <a:ea typeface="Arial"/>
                <a:cs typeface="Arial"/>
                <a:sym typeface="Arial"/>
              </a:rPr>
              <a:t>Operating System Concepts – 10</a:t>
            </a:r>
            <a:r>
              <a:rPr b="1" baseline="30000" lang="en-US" sz="1050">
                <a:solidFill>
                  <a:srgbClr val="336699"/>
                </a:solidFill>
                <a:latin typeface="Arial"/>
                <a:ea typeface="Arial"/>
                <a:cs typeface="Arial"/>
                <a:sym typeface="Arial"/>
              </a:rPr>
              <a:t>h </a:t>
            </a:r>
            <a:r>
              <a:rPr b="1" lang="en-US" sz="1100">
                <a:solidFill>
                  <a:srgbClr val="336699"/>
                </a:solidFill>
                <a:latin typeface="Arial"/>
                <a:ea typeface="Arial"/>
                <a:cs typeface="Arial"/>
                <a:sym typeface="Arial"/>
              </a:rPr>
              <a:t>Edition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2023-08-22T06:54:37Z</dcterms:created>
  <dc:creator>rana.asif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2022-03-25T10:00:00Z</vt:filetime>
  </property>
  <property fmtid="{D5CDD505-2E9C-101B-9397-08002B2CF9AE}" pid="3" name="LastSaved">
    <vt:filetime>2023-01-27T10:00:00Z</vt:filetime>
  </property>
  <property fmtid="{D5CDD505-2E9C-101B-9397-08002B2CF9AE}" pid="4" name="KSOProductBuildVer">
    <vt:lpwstr>1033-5.4.4.8063</vt:lpwstr>
  </property>
</Properties>
</file>