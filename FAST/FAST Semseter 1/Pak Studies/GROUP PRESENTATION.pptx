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6"/>
  </p:notesMasterIdLst>
  <p:sldIdLst>
    <p:sldId id="270" r:id="rId2"/>
    <p:sldId id="258" r:id="rId3"/>
    <p:sldId id="256" r:id="rId4"/>
    <p:sldId id="259" r:id="rId5"/>
    <p:sldId id="260" r:id="rId6"/>
    <p:sldId id="261" r:id="rId7"/>
    <p:sldId id="262" r:id="rId8"/>
    <p:sldId id="263" r:id="rId9"/>
    <p:sldId id="271" r:id="rId10"/>
    <p:sldId id="264" r:id="rId11"/>
    <p:sldId id="268" r:id="rId12"/>
    <p:sldId id="265" r:id="rId13"/>
    <p:sldId id="266"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A511E1-DCD6-4FB8-B35F-E4B0F6E4C1CD}" type="datetimeFigureOut">
              <a:rPr lang="en-US" smtClean="0"/>
              <a:t>12/20/2021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6DC3F-0303-41F5-912C-423EA01BF9F8}" type="slidenum">
              <a:rPr lang="en-US" smtClean="0"/>
              <a:t>‹#›</a:t>
            </a:fld>
            <a:endParaRPr lang="en-US" dirty="0"/>
          </a:p>
        </p:txBody>
      </p:sp>
    </p:spTree>
    <p:extLst>
      <p:ext uri="{BB962C8B-B14F-4D97-AF65-F5344CB8AC3E}">
        <p14:creationId xmlns:p14="http://schemas.microsoft.com/office/powerpoint/2010/main" val="1381170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6DC3F-0303-41F5-912C-423EA01BF9F8}" type="slidenum">
              <a:rPr lang="en-US" smtClean="0"/>
              <a:t>4</a:t>
            </a:fld>
            <a:endParaRPr lang="en-US" dirty="0"/>
          </a:p>
        </p:txBody>
      </p:sp>
    </p:spTree>
    <p:extLst>
      <p:ext uri="{BB962C8B-B14F-4D97-AF65-F5344CB8AC3E}">
        <p14:creationId xmlns:p14="http://schemas.microsoft.com/office/powerpoint/2010/main" val="4196601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6DC3F-0303-41F5-912C-423EA01BF9F8}" type="slidenum">
              <a:rPr lang="en-US" smtClean="0"/>
              <a:t>7</a:t>
            </a:fld>
            <a:endParaRPr lang="en-US" dirty="0"/>
          </a:p>
        </p:txBody>
      </p:sp>
    </p:spTree>
    <p:extLst>
      <p:ext uri="{BB962C8B-B14F-4D97-AF65-F5344CB8AC3E}">
        <p14:creationId xmlns:p14="http://schemas.microsoft.com/office/powerpoint/2010/main" val="1068852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547388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882441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95307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388677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52432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052679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69498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00654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76315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2595368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3701252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81888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632663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591116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70574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289655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C21868-3F13-4D35-AAF9-5DD7C0D98D2E}" type="datetimeFigureOut">
              <a:rPr lang="en-US" smtClean="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650D8F-BEC0-46EC-AE4E-27250789C2B1}" type="slidenum">
              <a:rPr lang="en-US" smtClean="0"/>
              <a:t>‹#›</a:t>
            </a:fld>
            <a:endParaRPr lang="en-US" dirty="0"/>
          </a:p>
        </p:txBody>
      </p:sp>
    </p:spTree>
    <p:extLst>
      <p:ext uri="{BB962C8B-B14F-4D97-AF65-F5344CB8AC3E}">
        <p14:creationId xmlns:p14="http://schemas.microsoft.com/office/powerpoint/2010/main" val="1255876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92C21868-3F13-4D35-AAF9-5DD7C0D98D2E}" type="datetimeFigureOut">
              <a:rPr lang="en-US" smtClean="0"/>
              <a:t>12/20/2021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00650D8F-BEC0-46EC-AE4E-27250789C2B1}" type="slidenum">
              <a:rPr lang="en-US" smtClean="0"/>
              <a:t>‹#›</a:t>
            </a:fld>
            <a:endParaRPr lang="en-US" dirty="0"/>
          </a:p>
        </p:txBody>
      </p:sp>
    </p:spTree>
    <p:extLst>
      <p:ext uri="{BB962C8B-B14F-4D97-AF65-F5344CB8AC3E}">
        <p14:creationId xmlns:p14="http://schemas.microsoft.com/office/powerpoint/2010/main" val="2763934669"/>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 id="2147483868" r:id="rId16"/>
    <p:sldLayoutId id="214748386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Government_of_Pakistan" TargetMode="External"/><Relationship Id="rId7" Type="http://schemas.openxmlformats.org/officeDocument/2006/relationships/image" Target="../media/image2.jpg"/><Relationship Id="rId2" Type="http://schemas.openxmlformats.org/officeDocument/2006/relationships/hyperlink" Target="https://en.wikipedia.org/wiki/Ministry_(government_department)" TargetMode="External"/><Relationship Id="rId1" Type="http://schemas.openxmlformats.org/officeDocument/2006/relationships/slideLayout" Target="../slideLayouts/slideLayout2.xml"/><Relationship Id="rId6" Type="http://schemas.openxmlformats.org/officeDocument/2006/relationships/hyperlink" Target="https://en.wikipedia.org/wiki/18th_Amendment_to_the_Constitution_of_Pakistan" TargetMode="External"/><Relationship Id="rId5" Type="http://schemas.openxmlformats.org/officeDocument/2006/relationships/hyperlink" Target="https://en.wikipedia.org/wiki/Provincial_Governments_of_Pakistan" TargetMode="External"/><Relationship Id="rId4" Type="http://schemas.openxmlformats.org/officeDocument/2006/relationships/hyperlink" Target="https://en.wikipedia.org/wiki/Minister_for_Education_(Pakistan)"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Syed_Sardar_Ali_Shah"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hyperlink" Target="https://kp.gov.pk/page_type/profile/page/shahram-khan-tarakai"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mofept.gov.pk/PolicyDetail/YzYzMzhmZDEtOWJhZS00ODAxLWEyN2UtMTM4YzYzY2VkYmY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hyperlink" Target="http://www.mofept.gov.pk/PolicyDetail/ZDlmNGJjMWYtOThkMS00N2I3LWJlNTktOTYzMWRjMTM5Nzgz" TargetMode="External"/><Relationship Id="rId4" Type="http://schemas.openxmlformats.org/officeDocument/2006/relationships/hyperlink" Target="http://www.mofept.gov.pk/PolicyDetail/MGMxNjQwNjUtYjVjZS00OGZlLWI2NzYtMjNhMjFmNjgzY2U2"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www.mofept.gov.pk/PolicyDetail/ZTVkMmE2MTItY2NiNy00ZGY0LWJmYTItYTNkOGNkNDhiMTAw" TargetMode="External"/><Relationship Id="rId2" Type="http://schemas.openxmlformats.org/officeDocument/2006/relationships/hyperlink" Target="http://www.mofept.gov.pk/PolicyDetail/ZTQyY2VlMGUtNWU5MS00M2NmLTkzMjEtZDEwNzQwZDZkM2Nk" TargetMode="Externa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www.mofept.gov.pk/PolicyDetail/Y2U0Njk3MzItMmE3Mi00YmQ3LWE3YTUtNjQ2ZjM4OWFhNjhl" TargetMode="External"/><Relationship Id="rId4" Type="http://schemas.openxmlformats.org/officeDocument/2006/relationships/hyperlink" Target="http://www.mofept.gov.pk/PolicyDetail/NDdkODg1YzctNmVhZS00YWU1LWEzMTMtMDdiNDM1YTBkNzk4"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245" y="251657"/>
            <a:ext cx="10233800" cy="6463935"/>
          </a:xfrm>
        </p:spPr>
        <p:txBody>
          <a:bodyPr>
            <a:normAutofit lnSpcReduction="10000"/>
          </a:bodyPr>
          <a:lstStyle/>
          <a:p>
            <a:pPr marL="0" indent="0" algn="ctr">
              <a:buNone/>
            </a:pPr>
            <a:r>
              <a:rPr lang="en-US" dirty="0" smtClean="0">
                <a:solidFill>
                  <a:schemeClr val="accent2">
                    <a:lumMod val="40000"/>
                    <a:lumOff val="60000"/>
                  </a:schemeClr>
                </a:solidFill>
                <a:latin typeface="Bernard MT Condensed" panose="02050806060905020404" pitchFamily="18" charset="0"/>
              </a:rPr>
              <a:t>PRESENTATION </a:t>
            </a:r>
          </a:p>
          <a:p>
            <a:pPr marL="0" indent="0" algn="ctr">
              <a:buNone/>
            </a:pPr>
            <a:r>
              <a:rPr lang="en-US" b="1" u="sng" dirty="0" smtClean="0">
                <a:solidFill>
                  <a:schemeClr val="accent2">
                    <a:lumMod val="40000"/>
                    <a:lumOff val="60000"/>
                  </a:schemeClr>
                </a:solidFill>
              </a:rPr>
              <a:t>PAK STUDIES</a:t>
            </a:r>
          </a:p>
          <a:p>
            <a:pPr marL="0" indent="0" algn="ctr">
              <a:buNone/>
            </a:pPr>
            <a:r>
              <a:rPr lang="en-US" sz="4800" u="sng" dirty="0" smtClean="0">
                <a:solidFill>
                  <a:schemeClr val="accent2">
                    <a:lumMod val="75000"/>
                  </a:schemeClr>
                </a:solidFill>
                <a:latin typeface="Berlin Sans FB Demi" panose="020E0802020502020306" pitchFamily="34" charset="0"/>
              </a:rPr>
              <a:t>Education Minister</a:t>
            </a:r>
          </a:p>
          <a:p>
            <a:pPr marL="0" indent="0" algn="ctr">
              <a:buNone/>
            </a:pPr>
            <a:r>
              <a:rPr lang="en-US" dirty="0" smtClean="0"/>
              <a:t>By</a:t>
            </a:r>
          </a:p>
          <a:p>
            <a:pPr marL="0" indent="0" algn="ctr">
              <a:buNone/>
            </a:pPr>
            <a:r>
              <a:rPr lang="en-US" dirty="0" smtClean="0">
                <a:solidFill>
                  <a:schemeClr val="accent4">
                    <a:lumMod val="40000"/>
                    <a:lumOff val="60000"/>
                  </a:schemeClr>
                </a:solidFill>
                <a:latin typeface="Arial" panose="020B0604020202020204" pitchFamily="34" charset="0"/>
                <a:cs typeface="Arial" panose="020B0604020202020204" pitchFamily="34" charset="0"/>
              </a:rPr>
              <a:t>Muhammad Hassan Khalid (21L-5692)</a:t>
            </a:r>
          </a:p>
          <a:p>
            <a:pPr marL="0" indent="0" algn="ctr">
              <a:buNone/>
            </a:pPr>
            <a:r>
              <a:rPr lang="en-US" dirty="0" err="1">
                <a:solidFill>
                  <a:schemeClr val="accent4">
                    <a:lumMod val="40000"/>
                    <a:lumOff val="60000"/>
                  </a:schemeClr>
                </a:solidFill>
                <a:latin typeface="Arial" panose="020B0604020202020204" pitchFamily="34" charset="0"/>
                <a:cs typeface="Arial" panose="020B0604020202020204" pitchFamily="34" charset="0"/>
              </a:rPr>
              <a:t>Nimra</a:t>
            </a:r>
            <a:r>
              <a:rPr lang="en-US" dirty="0">
                <a:solidFill>
                  <a:schemeClr val="accent4">
                    <a:lumMod val="40000"/>
                    <a:lumOff val="60000"/>
                  </a:schemeClr>
                </a:solidFill>
                <a:latin typeface="Arial" panose="020B0604020202020204" pitchFamily="34" charset="0"/>
                <a:cs typeface="Arial" panose="020B0604020202020204" pitchFamily="34" charset="0"/>
              </a:rPr>
              <a:t> </a:t>
            </a:r>
            <a:r>
              <a:rPr lang="en-US" dirty="0" err="1">
                <a:solidFill>
                  <a:schemeClr val="accent4">
                    <a:lumMod val="40000"/>
                    <a:lumOff val="60000"/>
                  </a:schemeClr>
                </a:solidFill>
                <a:latin typeface="Arial" panose="020B0604020202020204" pitchFamily="34" charset="0"/>
                <a:cs typeface="Arial" panose="020B0604020202020204" pitchFamily="34" charset="0"/>
              </a:rPr>
              <a:t>Amer</a:t>
            </a:r>
            <a:r>
              <a:rPr lang="en-US" dirty="0">
                <a:solidFill>
                  <a:schemeClr val="accent4">
                    <a:lumMod val="40000"/>
                    <a:lumOff val="60000"/>
                  </a:schemeClr>
                </a:solidFill>
                <a:latin typeface="Arial" panose="020B0604020202020204" pitchFamily="34" charset="0"/>
                <a:cs typeface="Arial" panose="020B0604020202020204" pitchFamily="34" charset="0"/>
              </a:rPr>
              <a:t> (21L-5609)</a:t>
            </a:r>
          </a:p>
          <a:p>
            <a:pPr marL="0" indent="0" algn="ctr">
              <a:buNone/>
            </a:pPr>
            <a:r>
              <a:rPr lang="en-US" dirty="0" err="1">
                <a:solidFill>
                  <a:schemeClr val="accent4">
                    <a:lumMod val="40000"/>
                    <a:lumOff val="60000"/>
                  </a:schemeClr>
                </a:solidFill>
                <a:latin typeface="Arial" panose="020B0604020202020204" pitchFamily="34" charset="0"/>
                <a:cs typeface="Arial" panose="020B0604020202020204" pitchFamily="34" charset="0"/>
              </a:rPr>
              <a:t>Farheen</a:t>
            </a:r>
            <a:r>
              <a:rPr lang="en-US" dirty="0">
                <a:solidFill>
                  <a:schemeClr val="accent4">
                    <a:lumMod val="40000"/>
                    <a:lumOff val="60000"/>
                  </a:schemeClr>
                </a:solidFill>
                <a:latin typeface="Arial" panose="020B0604020202020204" pitchFamily="34" charset="0"/>
                <a:cs typeface="Arial" panose="020B0604020202020204" pitchFamily="34" charset="0"/>
              </a:rPr>
              <a:t> </a:t>
            </a:r>
            <a:r>
              <a:rPr lang="en-US" dirty="0" err="1">
                <a:solidFill>
                  <a:schemeClr val="accent4">
                    <a:lumMod val="40000"/>
                    <a:lumOff val="60000"/>
                  </a:schemeClr>
                </a:solidFill>
                <a:latin typeface="Arial" panose="020B0604020202020204" pitchFamily="34" charset="0"/>
                <a:cs typeface="Arial" panose="020B0604020202020204" pitchFamily="34" charset="0"/>
              </a:rPr>
              <a:t>Akmal</a:t>
            </a:r>
            <a:r>
              <a:rPr lang="en-US" dirty="0">
                <a:solidFill>
                  <a:schemeClr val="accent4">
                    <a:lumMod val="40000"/>
                    <a:lumOff val="60000"/>
                  </a:schemeClr>
                </a:solidFill>
                <a:latin typeface="Arial" panose="020B0604020202020204" pitchFamily="34" charset="0"/>
                <a:cs typeface="Arial" panose="020B0604020202020204" pitchFamily="34" charset="0"/>
              </a:rPr>
              <a:t> (21L-5666)</a:t>
            </a:r>
          </a:p>
          <a:p>
            <a:pPr marL="0" indent="0" algn="ctr">
              <a:buNone/>
            </a:pPr>
            <a:r>
              <a:rPr lang="en-US" dirty="0">
                <a:solidFill>
                  <a:schemeClr val="accent4">
                    <a:lumMod val="40000"/>
                    <a:lumOff val="60000"/>
                  </a:schemeClr>
                </a:solidFill>
                <a:latin typeface="Arial" panose="020B0604020202020204" pitchFamily="34" charset="0"/>
                <a:cs typeface="Arial" panose="020B0604020202020204" pitchFamily="34" charset="0"/>
              </a:rPr>
              <a:t>Muhammad </a:t>
            </a:r>
            <a:r>
              <a:rPr lang="en-US" dirty="0" smtClean="0">
                <a:solidFill>
                  <a:schemeClr val="accent4">
                    <a:lumMod val="40000"/>
                    <a:lumOff val="60000"/>
                  </a:schemeClr>
                </a:solidFill>
                <a:latin typeface="Arial" panose="020B0604020202020204" pitchFamily="34" charset="0"/>
                <a:cs typeface="Arial" panose="020B0604020202020204" pitchFamily="34" charset="0"/>
              </a:rPr>
              <a:t>Hamza (</a:t>
            </a:r>
            <a:r>
              <a:rPr lang="en-US" dirty="0">
                <a:solidFill>
                  <a:schemeClr val="accent4">
                    <a:lumMod val="40000"/>
                    <a:lumOff val="60000"/>
                  </a:schemeClr>
                </a:solidFill>
                <a:latin typeface="Arial" panose="020B0604020202020204" pitchFamily="34" charset="0"/>
                <a:cs typeface="Arial" panose="020B0604020202020204" pitchFamily="34" charset="0"/>
              </a:rPr>
              <a:t>21L-5636)</a:t>
            </a:r>
          </a:p>
          <a:p>
            <a:pPr marL="0" indent="0" algn="ctr">
              <a:buNone/>
            </a:pPr>
            <a:r>
              <a:rPr lang="en-US" dirty="0" err="1">
                <a:solidFill>
                  <a:schemeClr val="accent4">
                    <a:lumMod val="40000"/>
                    <a:lumOff val="60000"/>
                  </a:schemeClr>
                </a:solidFill>
                <a:latin typeface="Arial" panose="020B0604020202020204" pitchFamily="34" charset="0"/>
                <a:cs typeface="Arial" panose="020B0604020202020204" pitchFamily="34" charset="0"/>
              </a:rPr>
              <a:t>Anam</a:t>
            </a:r>
            <a:r>
              <a:rPr lang="en-US" dirty="0">
                <a:solidFill>
                  <a:schemeClr val="accent4">
                    <a:lumMod val="40000"/>
                    <a:lumOff val="60000"/>
                  </a:schemeClr>
                </a:solidFill>
                <a:latin typeface="Arial" panose="020B0604020202020204" pitchFamily="34" charset="0"/>
                <a:cs typeface="Arial" panose="020B0604020202020204" pitchFamily="34" charset="0"/>
              </a:rPr>
              <a:t> Umar (21L-5637</a:t>
            </a:r>
            <a:r>
              <a:rPr lang="en-US" dirty="0" smtClean="0">
                <a:solidFill>
                  <a:schemeClr val="accent4">
                    <a:lumMod val="40000"/>
                    <a:lumOff val="60000"/>
                  </a:schemeClr>
                </a:solidFill>
                <a:latin typeface="Arial" panose="020B0604020202020204" pitchFamily="34" charset="0"/>
                <a:cs typeface="Arial" panose="020B0604020202020204" pitchFamily="34" charset="0"/>
              </a:rPr>
              <a:t>)</a:t>
            </a:r>
          </a:p>
          <a:p>
            <a:pPr marL="0" indent="0" algn="ctr">
              <a:buNone/>
            </a:pPr>
            <a:r>
              <a:rPr lang="en-US" dirty="0" err="1" smtClean="0">
                <a:solidFill>
                  <a:schemeClr val="accent4">
                    <a:lumMod val="40000"/>
                    <a:lumOff val="60000"/>
                  </a:schemeClr>
                </a:solidFill>
                <a:latin typeface="Arial" panose="020B0604020202020204" pitchFamily="34" charset="0"/>
                <a:cs typeface="Arial" panose="020B0604020202020204" pitchFamily="34" charset="0"/>
              </a:rPr>
              <a:t>Rabia</a:t>
            </a:r>
            <a:r>
              <a:rPr lang="en-US" dirty="0" smtClean="0">
                <a:solidFill>
                  <a:schemeClr val="accent4">
                    <a:lumMod val="40000"/>
                    <a:lumOff val="60000"/>
                  </a:schemeClr>
                </a:solidFill>
                <a:latin typeface="Arial" panose="020B0604020202020204" pitchFamily="34" charset="0"/>
                <a:cs typeface="Arial" panose="020B0604020202020204" pitchFamily="34" charset="0"/>
              </a:rPr>
              <a:t> </a:t>
            </a:r>
            <a:r>
              <a:rPr lang="en-US" dirty="0" err="1">
                <a:solidFill>
                  <a:schemeClr val="accent4">
                    <a:lumMod val="40000"/>
                    <a:lumOff val="60000"/>
                  </a:schemeClr>
                </a:solidFill>
                <a:latin typeface="Arial" panose="020B0604020202020204" pitchFamily="34" charset="0"/>
                <a:cs typeface="Arial" panose="020B0604020202020204" pitchFamily="34" charset="0"/>
              </a:rPr>
              <a:t>Sajal</a:t>
            </a:r>
            <a:r>
              <a:rPr lang="en-US" dirty="0">
                <a:solidFill>
                  <a:schemeClr val="accent4">
                    <a:lumMod val="40000"/>
                    <a:lumOff val="60000"/>
                  </a:schemeClr>
                </a:solidFill>
                <a:latin typeface="Arial" panose="020B0604020202020204" pitchFamily="34" charset="0"/>
                <a:cs typeface="Arial" panose="020B0604020202020204" pitchFamily="34" charset="0"/>
              </a:rPr>
              <a:t> </a:t>
            </a:r>
            <a:r>
              <a:rPr lang="en-US" dirty="0" err="1" smtClean="0">
                <a:solidFill>
                  <a:schemeClr val="accent4">
                    <a:lumMod val="40000"/>
                    <a:lumOff val="60000"/>
                  </a:schemeClr>
                </a:solidFill>
                <a:latin typeface="Arial" panose="020B0604020202020204" pitchFamily="34" charset="0"/>
                <a:cs typeface="Arial" panose="020B0604020202020204" pitchFamily="34" charset="0"/>
              </a:rPr>
              <a:t>Niazi</a:t>
            </a:r>
            <a:r>
              <a:rPr lang="en-US" dirty="0" smtClean="0">
                <a:solidFill>
                  <a:schemeClr val="accent4">
                    <a:lumMod val="40000"/>
                    <a:lumOff val="60000"/>
                  </a:schemeClr>
                </a:solidFill>
                <a:latin typeface="Arial" panose="020B0604020202020204" pitchFamily="34" charset="0"/>
                <a:cs typeface="Arial" panose="020B0604020202020204" pitchFamily="34" charset="0"/>
              </a:rPr>
              <a:t> (21L-5646)</a:t>
            </a:r>
          </a:p>
          <a:p>
            <a:pPr marL="0" indent="0" algn="ctr">
              <a:buNone/>
            </a:pPr>
            <a:r>
              <a:rPr lang="en-US" dirty="0" err="1">
                <a:solidFill>
                  <a:schemeClr val="accent4">
                    <a:lumMod val="40000"/>
                    <a:lumOff val="60000"/>
                  </a:schemeClr>
                </a:solidFill>
                <a:latin typeface="Arial" panose="020B0604020202020204" pitchFamily="34" charset="0"/>
                <a:cs typeface="Arial" panose="020B0604020202020204" pitchFamily="34" charset="0"/>
              </a:rPr>
              <a:t>Zenab</a:t>
            </a:r>
            <a:r>
              <a:rPr lang="en-US" dirty="0">
                <a:solidFill>
                  <a:schemeClr val="accent4">
                    <a:lumMod val="40000"/>
                    <a:lumOff val="60000"/>
                  </a:schemeClr>
                </a:solidFill>
                <a:latin typeface="Arial" panose="020B0604020202020204" pitchFamily="34" charset="0"/>
                <a:cs typeface="Arial" panose="020B0604020202020204" pitchFamily="34" charset="0"/>
              </a:rPr>
              <a:t> </a:t>
            </a:r>
            <a:r>
              <a:rPr lang="en-US" dirty="0" err="1">
                <a:solidFill>
                  <a:schemeClr val="accent4">
                    <a:lumMod val="40000"/>
                    <a:lumOff val="60000"/>
                  </a:schemeClr>
                </a:solidFill>
                <a:latin typeface="Arial" panose="020B0604020202020204" pitchFamily="34" charset="0"/>
                <a:cs typeface="Arial" panose="020B0604020202020204" pitchFamily="34" charset="0"/>
              </a:rPr>
              <a:t>Rizwan</a:t>
            </a:r>
            <a:r>
              <a:rPr lang="en-US" dirty="0">
                <a:solidFill>
                  <a:schemeClr val="accent4">
                    <a:lumMod val="40000"/>
                    <a:lumOff val="60000"/>
                  </a:schemeClr>
                </a:solidFill>
                <a:latin typeface="Arial" panose="020B0604020202020204" pitchFamily="34" charset="0"/>
                <a:cs typeface="Arial" panose="020B0604020202020204" pitchFamily="34" charset="0"/>
              </a:rPr>
              <a:t> </a:t>
            </a:r>
            <a:r>
              <a:rPr lang="en-US" dirty="0" smtClean="0">
                <a:solidFill>
                  <a:schemeClr val="accent4">
                    <a:lumMod val="40000"/>
                    <a:lumOff val="60000"/>
                  </a:schemeClr>
                </a:solidFill>
                <a:latin typeface="Arial" panose="020B0604020202020204" pitchFamily="34" charset="0"/>
                <a:cs typeface="Arial" panose="020B0604020202020204" pitchFamily="34" charset="0"/>
              </a:rPr>
              <a:t>(21L-5640)</a:t>
            </a:r>
          </a:p>
          <a:p>
            <a:pPr marL="0" indent="0" algn="ctr">
              <a:buNone/>
            </a:pPr>
            <a:r>
              <a:rPr lang="en-US" dirty="0" smtClean="0">
                <a:solidFill>
                  <a:schemeClr val="accent4">
                    <a:lumMod val="40000"/>
                    <a:lumOff val="60000"/>
                  </a:schemeClr>
                </a:solidFill>
                <a:latin typeface="Arial" panose="020B0604020202020204" pitchFamily="34" charset="0"/>
                <a:cs typeface="Arial" panose="020B0604020202020204" pitchFamily="34" charset="0"/>
              </a:rPr>
              <a:t>Muhammad </a:t>
            </a:r>
            <a:r>
              <a:rPr lang="en-US" dirty="0">
                <a:solidFill>
                  <a:schemeClr val="accent4">
                    <a:lumMod val="40000"/>
                    <a:lumOff val="60000"/>
                  </a:schemeClr>
                </a:solidFill>
                <a:latin typeface="Arial" panose="020B0604020202020204" pitchFamily="34" charset="0"/>
                <a:cs typeface="Arial" panose="020B0604020202020204" pitchFamily="34" charset="0"/>
              </a:rPr>
              <a:t>Ahmad </a:t>
            </a:r>
            <a:r>
              <a:rPr lang="en-US" dirty="0" smtClean="0">
                <a:solidFill>
                  <a:schemeClr val="accent4">
                    <a:lumMod val="40000"/>
                    <a:lumOff val="60000"/>
                  </a:schemeClr>
                </a:solidFill>
                <a:latin typeface="Arial" panose="020B0604020202020204" pitchFamily="34" charset="0"/>
                <a:cs typeface="Arial" panose="020B0604020202020204" pitchFamily="34" charset="0"/>
              </a:rPr>
              <a:t>(21L-5617)</a:t>
            </a:r>
          </a:p>
          <a:p>
            <a:pPr marL="0" indent="0" algn="ctr">
              <a:buNone/>
            </a:pPr>
            <a:r>
              <a:rPr lang="en-US" dirty="0" err="1" smtClean="0">
                <a:solidFill>
                  <a:schemeClr val="accent4">
                    <a:lumMod val="40000"/>
                    <a:lumOff val="60000"/>
                  </a:schemeClr>
                </a:solidFill>
                <a:latin typeface="Arial" panose="020B0604020202020204" pitchFamily="34" charset="0"/>
                <a:cs typeface="Arial" panose="020B0604020202020204" pitchFamily="34" charset="0"/>
              </a:rPr>
              <a:t>Mahad</a:t>
            </a:r>
            <a:r>
              <a:rPr lang="en-US" dirty="0" smtClean="0">
                <a:solidFill>
                  <a:schemeClr val="accent4">
                    <a:lumMod val="40000"/>
                    <a:lumOff val="60000"/>
                  </a:schemeClr>
                </a:solidFill>
                <a:latin typeface="Arial" panose="020B0604020202020204" pitchFamily="34" charset="0"/>
                <a:cs typeface="Arial" panose="020B0604020202020204" pitchFamily="34" charset="0"/>
              </a:rPr>
              <a:t> </a:t>
            </a:r>
            <a:r>
              <a:rPr lang="en-US" dirty="0">
                <a:solidFill>
                  <a:schemeClr val="accent4">
                    <a:lumMod val="40000"/>
                    <a:lumOff val="60000"/>
                  </a:schemeClr>
                </a:solidFill>
                <a:latin typeface="Arial" panose="020B0604020202020204" pitchFamily="34" charset="0"/>
                <a:cs typeface="Arial" panose="020B0604020202020204" pitchFamily="34" charset="0"/>
              </a:rPr>
              <a:t>Sheikh </a:t>
            </a:r>
            <a:r>
              <a:rPr lang="en-US" dirty="0" smtClean="0">
                <a:solidFill>
                  <a:schemeClr val="accent4">
                    <a:lumMod val="40000"/>
                    <a:lumOff val="60000"/>
                  </a:schemeClr>
                </a:solidFill>
                <a:latin typeface="Arial" panose="020B0604020202020204" pitchFamily="34" charset="0"/>
                <a:cs typeface="Arial" panose="020B0604020202020204" pitchFamily="34" charset="0"/>
              </a:rPr>
              <a:t>(21L-5668)</a:t>
            </a:r>
            <a:endParaRPr lang="en-US" dirty="0">
              <a:solidFill>
                <a:schemeClr val="accent4">
                  <a:lumMod val="40000"/>
                  <a:lumOff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134647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754" y="275184"/>
            <a:ext cx="10515600" cy="744147"/>
          </a:xfrm>
        </p:spPr>
        <p:txBody>
          <a:bodyPr>
            <a:normAutofit fontScale="90000"/>
          </a:bodyPr>
          <a:lstStyle/>
          <a:p>
            <a:r>
              <a:rPr lang="en-US" sz="3200" b="1" u="sng" dirty="0" smtClean="0">
                <a:solidFill>
                  <a:schemeClr val="accent2"/>
                </a:solidFill>
              </a:rPr>
              <a:t>Ministry Of Federal Education And Professional Training</a:t>
            </a:r>
            <a:r>
              <a:rPr lang="en-US" sz="3200" b="1" u="sng" dirty="0" smtClean="0"/>
              <a:t/>
            </a:r>
            <a:br>
              <a:rPr lang="en-US" sz="3200" b="1" u="sng" dirty="0" smtClean="0"/>
            </a:br>
            <a:endParaRPr lang="en-US" sz="3200" b="1" u="sng" dirty="0"/>
          </a:p>
        </p:txBody>
      </p:sp>
      <p:sp>
        <p:nvSpPr>
          <p:cNvPr id="3" name="Content Placeholder 2"/>
          <p:cNvSpPr>
            <a:spLocks noGrp="1"/>
          </p:cNvSpPr>
          <p:nvPr>
            <p:ph idx="1"/>
          </p:nvPr>
        </p:nvSpPr>
        <p:spPr>
          <a:xfrm>
            <a:off x="325521" y="1019331"/>
            <a:ext cx="6539974" cy="5838669"/>
          </a:xfrm>
        </p:spPr>
        <p:txBody>
          <a:bodyPr>
            <a:normAutofit/>
          </a:bodyPr>
          <a:lstStyle/>
          <a:p>
            <a:pPr>
              <a:buFont typeface="Wingdings" panose="05000000000000000000" pitchFamily="2" charset="2"/>
              <a:buChar char="§"/>
            </a:pPr>
            <a:r>
              <a:rPr lang="en-US" dirty="0" smtClean="0"/>
              <a:t>The</a:t>
            </a:r>
            <a:r>
              <a:rPr lang="en-US" dirty="0"/>
              <a:t> ministry of federal education and professional training is a federal </a:t>
            </a:r>
            <a:r>
              <a:rPr lang="en-US" dirty="0">
                <a:solidFill>
                  <a:schemeClr val="tx1"/>
                </a:solidFill>
                <a:hlinkClick r:id="rId2" tooltip="Ministry (government department)"/>
              </a:rPr>
              <a:t>ministry</a:t>
            </a:r>
            <a:r>
              <a:rPr lang="en-US" dirty="0"/>
              <a:t> of the </a:t>
            </a:r>
            <a:r>
              <a:rPr lang="en-US" dirty="0" smtClean="0">
                <a:hlinkClick r:id="rId3" tooltip="Government of Pakistan"/>
              </a:rPr>
              <a:t>Government </a:t>
            </a:r>
            <a:r>
              <a:rPr lang="en-US" dirty="0">
                <a:hlinkClick r:id="rId3" tooltip="Government of Pakistan"/>
              </a:rPr>
              <a:t>of Pakistan</a:t>
            </a:r>
            <a:endParaRPr lang="en-US" dirty="0"/>
          </a:p>
          <a:p>
            <a:pPr>
              <a:buFont typeface="Wingdings" panose="05000000000000000000" pitchFamily="2" charset="2"/>
              <a:buChar char="§"/>
            </a:pPr>
            <a:r>
              <a:rPr lang="en-US" dirty="0"/>
              <a:t>The ministry's political head is known as the </a:t>
            </a:r>
            <a:r>
              <a:rPr lang="en-US" dirty="0">
                <a:hlinkClick r:id="rId4" tooltip="Minister for Education (Pakistan)"/>
              </a:rPr>
              <a:t>education minister of Pakistan</a:t>
            </a:r>
            <a:endParaRPr lang="en-US" dirty="0"/>
          </a:p>
          <a:p>
            <a:pPr>
              <a:buFont typeface="Wingdings" panose="05000000000000000000" pitchFamily="2" charset="2"/>
              <a:buChar char="§"/>
            </a:pPr>
            <a:r>
              <a:rPr lang="en-US" dirty="0" smtClean="0"/>
              <a:t>Education is primarily </a:t>
            </a:r>
            <a:r>
              <a:rPr lang="en-US" dirty="0" smtClean="0">
                <a:hlinkClick r:id="rId5" tooltip="Provincial Governments of Pakistan"/>
              </a:rPr>
              <a:t>provincial</a:t>
            </a:r>
            <a:r>
              <a:rPr lang="en-US" dirty="0" smtClean="0"/>
              <a:t> issue in Pakistan</a:t>
            </a:r>
          </a:p>
          <a:p>
            <a:pPr>
              <a:buFont typeface="Wingdings" panose="05000000000000000000" pitchFamily="2" charset="2"/>
              <a:buChar char="§"/>
            </a:pPr>
            <a:r>
              <a:rPr lang="en-US" dirty="0" smtClean="0"/>
              <a:t> In the wake of </a:t>
            </a:r>
            <a:r>
              <a:rPr lang="en-US" dirty="0" smtClean="0">
                <a:hlinkClick r:id="rId6" tooltip="18th Amendment to the Constitution of Pakistan"/>
              </a:rPr>
              <a:t>18th amendment to the constitution of Pakistan</a:t>
            </a:r>
            <a:r>
              <a:rPr lang="en-US" dirty="0" smtClean="0"/>
              <a:t> when education department was transferred from federal to provinces</a:t>
            </a:r>
          </a:p>
          <a:p>
            <a:pPr>
              <a:buFont typeface="Wingdings" panose="05000000000000000000" pitchFamily="2" charset="2"/>
              <a:buChar char="§"/>
            </a:pPr>
            <a:r>
              <a:rPr lang="en-US" dirty="0" smtClean="0"/>
              <a:t>The ministry was established in July 2011</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52554" y="1763478"/>
            <a:ext cx="5036383" cy="3517068"/>
          </a:xfrm>
          <a:prstGeom prst="rect">
            <a:avLst/>
          </a:prstGeom>
        </p:spPr>
      </p:pic>
    </p:spTree>
    <p:extLst>
      <p:ext uri="{BB962C8B-B14F-4D97-AF65-F5344CB8AC3E}">
        <p14:creationId xmlns:p14="http://schemas.microsoft.com/office/powerpoint/2010/main" val="3914005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72589" y="481176"/>
            <a:ext cx="7216515" cy="1641490"/>
          </a:xfrm>
        </p:spPr>
        <p:txBody>
          <a:bodyPr>
            <a:normAutofit fontScale="90000"/>
          </a:bodyPr>
          <a:lstStyle/>
          <a:p>
            <a:r>
              <a:rPr lang="en-US" sz="6000" b="1" u="sng" dirty="0" smtClean="0">
                <a:solidFill>
                  <a:schemeClr val="accent2"/>
                </a:solidFill>
                <a:effectLst/>
                <a:latin typeface="Cambria Math" panose="02040503050406030204" pitchFamily="18" charset="0"/>
                <a:ea typeface="Cambria Math" panose="02040503050406030204" pitchFamily="18" charset="0"/>
              </a:rPr>
              <a:t>The Role Of  The Ministry Of  Education</a:t>
            </a:r>
            <a:r>
              <a:rPr lang="en-US" b="1" u="sng" dirty="0" smtClean="0">
                <a:solidFill>
                  <a:schemeClr val="tx1"/>
                </a:solidFill>
                <a:effectLst/>
                <a:latin typeface="Cambria Math" panose="02040503050406030204" pitchFamily="18" charset="0"/>
                <a:ea typeface="Cambria Math" panose="02040503050406030204" pitchFamily="18" charset="0"/>
              </a:rPr>
              <a:t/>
            </a:r>
            <a:br>
              <a:rPr lang="en-US" b="1" u="sng" dirty="0" smtClean="0">
                <a:solidFill>
                  <a:schemeClr val="tx1"/>
                </a:solidFill>
                <a:effectLst/>
                <a:latin typeface="Cambria Math" panose="02040503050406030204" pitchFamily="18" charset="0"/>
                <a:ea typeface="Cambria Math" panose="02040503050406030204" pitchFamily="18" charset="0"/>
              </a:rPr>
            </a:br>
            <a:endParaRPr lang="en-US" u="sng" dirty="0">
              <a:solidFill>
                <a:schemeClr val="tx1"/>
              </a:solidFill>
              <a:latin typeface="Cambria Math" panose="02040503050406030204" pitchFamily="18" charset="0"/>
              <a:ea typeface="Cambria Math" panose="02040503050406030204" pitchFamily="18" charset="0"/>
            </a:endParaRPr>
          </a:p>
        </p:txBody>
      </p:sp>
      <p:sp>
        <p:nvSpPr>
          <p:cNvPr id="3" name="Subtitle 2"/>
          <p:cNvSpPr>
            <a:spLocks noGrp="1"/>
          </p:cNvSpPr>
          <p:nvPr>
            <p:ph type="subTitle" idx="1"/>
          </p:nvPr>
        </p:nvSpPr>
        <p:spPr>
          <a:xfrm>
            <a:off x="527936" y="1558742"/>
            <a:ext cx="8283315" cy="5599062"/>
          </a:xfrm>
        </p:spPr>
        <p:txBody>
          <a:bodyPr>
            <a:normAutofit fontScale="47500" lnSpcReduction="20000"/>
          </a:bodyPr>
          <a:lstStyle/>
          <a:p>
            <a:pPr marL="457200" indent="-457200" algn="l">
              <a:buFont typeface="Arial" panose="020B0604020202020204" pitchFamily="34" charset="0"/>
              <a:buChar char="•"/>
            </a:pPr>
            <a:r>
              <a:rPr lang="en-US" sz="6000" dirty="0" smtClean="0"/>
              <a:t>Creating policies</a:t>
            </a:r>
          </a:p>
          <a:p>
            <a:pPr marL="457200" indent="-457200" algn="l">
              <a:buFont typeface="Arial" panose="020B0604020202020204" pitchFamily="34" charset="0"/>
              <a:buChar char="•"/>
            </a:pPr>
            <a:r>
              <a:rPr lang="en-US" sz="6000" dirty="0" smtClean="0"/>
              <a:t>Plans and programs to ensure the accessibility and availability of education in </a:t>
            </a:r>
            <a:r>
              <a:rPr lang="en-US" sz="6000" dirty="0"/>
              <a:t>P</a:t>
            </a:r>
            <a:r>
              <a:rPr lang="en-US" sz="6000" dirty="0" smtClean="0"/>
              <a:t>akistan</a:t>
            </a:r>
          </a:p>
          <a:p>
            <a:pPr marL="457200" indent="-457200" algn="l">
              <a:buFont typeface="Arial" panose="020B0604020202020204" pitchFamily="34" charset="0"/>
              <a:buChar char="•"/>
            </a:pPr>
            <a:r>
              <a:rPr lang="en-US" sz="6000" dirty="0" smtClean="0"/>
              <a:t> Provider of many technical, vocational and professional skills</a:t>
            </a:r>
          </a:p>
          <a:p>
            <a:pPr marL="457200" indent="-457200" algn="l">
              <a:buFont typeface="Arial" panose="020B0604020202020204" pitchFamily="34" charset="0"/>
              <a:buChar char="•"/>
            </a:pPr>
            <a:r>
              <a:rPr lang="en-US" sz="6000" dirty="0" smtClean="0"/>
              <a:t>Training that are needed to satisfy the national and international standards of the employment market</a:t>
            </a:r>
          </a:p>
          <a:p>
            <a:pPr marL="457200" indent="-457200" algn="l">
              <a:buFont typeface="Arial" panose="020B0604020202020204" pitchFamily="34" charset="0"/>
              <a:buChar char="•"/>
            </a:pPr>
            <a:r>
              <a:rPr lang="en-US" sz="6000" dirty="0" smtClean="0"/>
              <a:t>It works in collaboration with other ministries and organizations by sponsoring students</a:t>
            </a:r>
          </a:p>
          <a:p>
            <a:pPr marL="457200" indent="-457200" algn="l">
              <a:buFont typeface="Arial" panose="020B0604020202020204" pitchFamily="34" charset="0"/>
              <a:buChar char="•"/>
            </a:pPr>
            <a:r>
              <a:rPr lang="en-US" sz="6000" dirty="0" smtClean="0"/>
              <a:t>Distributing scholarships</a:t>
            </a:r>
          </a:p>
          <a:p>
            <a:pPr marL="457200" indent="-457200" algn="l">
              <a:buFont typeface="Arial" panose="020B0604020202020204" pitchFamily="34" charset="0"/>
              <a:buChar char="•"/>
            </a:pPr>
            <a:r>
              <a:rPr lang="en-US" sz="6000" dirty="0" smtClean="0"/>
              <a:t>Conducting multiple training sessions</a:t>
            </a:r>
          </a:p>
          <a:p>
            <a:pPr marL="457200" indent="-457200" algn="l">
              <a:buFont typeface="Arial" panose="020B0604020202020204" pitchFamily="34" charset="0"/>
              <a:buChar char="•"/>
            </a:pPr>
            <a:endParaRPr lang="en-US" dirty="0"/>
          </a:p>
          <a:p>
            <a:pPr marL="457200" indent="-457200" algn="l">
              <a:buFont typeface="Arial" panose="020B0604020202020204" pitchFamily="34" charset="0"/>
              <a:buChar char="•"/>
            </a:pPr>
            <a:endParaRPr lang="en-US" dirty="0" smtClean="0"/>
          </a:p>
          <a:p>
            <a:pPr marL="457200" indent="-457200" algn="l">
              <a:buFont typeface="Arial" panose="020B0604020202020204" pitchFamily="34" charset="0"/>
              <a:buChar char="•"/>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1251" y="2338231"/>
            <a:ext cx="2863356" cy="2863356"/>
          </a:xfrm>
          <a:prstGeom prst="rect">
            <a:avLst/>
          </a:prstGeom>
        </p:spPr>
      </p:pic>
    </p:spTree>
    <p:extLst>
      <p:ext uri="{BB962C8B-B14F-4D97-AF65-F5344CB8AC3E}">
        <p14:creationId xmlns:p14="http://schemas.microsoft.com/office/powerpoint/2010/main" val="23213155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433" y="1474398"/>
            <a:ext cx="10515600" cy="1325563"/>
          </a:xfrm>
        </p:spPr>
        <p:txBody>
          <a:bodyPr>
            <a:normAutofit fontScale="90000"/>
          </a:bodyPr>
          <a:lstStyle/>
          <a:p>
            <a:r>
              <a:rPr lang="en-US" sz="3600" b="1" u="sng" dirty="0" smtClean="0">
                <a:solidFill>
                  <a:schemeClr val="accent2"/>
                </a:solidFill>
                <a:latin typeface="+mn-lt"/>
              </a:rPr>
              <a:t>Federal Minister Of Education</a:t>
            </a:r>
            <a:r>
              <a:rPr lang="en-US" dirty="0" smtClean="0"/>
              <a:t/>
            </a:r>
            <a:br>
              <a:rPr lang="en-US" dirty="0" smtClean="0"/>
            </a:br>
            <a:r>
              <a:rPr lang="en-US" sz="3100" dirty="0" smtClean="0"/>
              <a:t/>
            </a:r>
            <a:br>
              <a:rPr lang="en-US" sz="3100" dirty="0" smtClean="0"/>
            </a:br>
            <a:r>
              <a:rPr lang="en-US" sz="3100" dirty="0" smtClean="0"/>
              <a:t>Shafqat Mahmood</a:t>
            </a:r>
            <a:br>
              <a:rPr lang="en-US" sz="3100" dirty="0" smtClean="0"/>
            </a:br>
            <a:r>
              <a:rPr lang="en-US" dirty="0"/>
              <a:t/>
            </a:r>
            <a:br>
              <a:rPr lang="en-US" dirty="0"/>
            </a:br>
            <a:endParaRPr lang="en-US" dirty="0"/>
          </a:p>
        </p:txBody>
      </p:sp>
      <p:sp>
        <p:nvSpPr>
          <p:cNvPr id="3" name="Content Placeholder 2"/>
          <p:cNvSpPr>
            <a:spLocks noGrp="1"/>
          </p:cNvSpPr>
          <p:nvPr>
            <p:ph idx="1"/>
          </p:nvPr>
        </p:nvSpPr>
        <p:spPr>
          <a:xfrm>
            <a:off x="460433" y="2799961"/>
            <a:ext cx="10233800" cy="2566493"/>
          </a:xfrm>
        </p:spPr>
        <p:txBody>
          <a:bodyPr>
            <a:normAutofit fontScale="92500" lnSpcReduction="20000"/>
          </a:bodyPr>
          <a:lstStyle/>
          <a:p>
            <a:pPr marL="0" indent="0">
              <a:buNone/>
            </a:pPr>
            <a:r>
              <a:rPr lang="en-US" sz="3200" b="1" u="sng" dirty="0" smtClean="0">
                <a:solidFill>
                  <a:schemeClr val="accent2"/>
                </a:solidFill>
              </a:rPr>
              <a:t>Ministers Of Education</a:t>
            </a:r>
          </a:p>
          <a:p>
            <a:endParaRPr lang="en-US" dirty="0" smtClean="0">
              <a:solidFill>
                <a:schemeClr val="tx1"/>
              </a:solidFill>
            </a:endParaRPr>
          </a:p>
          <a:p>
            <a:r>
              <a:rPr lang="en-US" dirty="0" smtClean="0">
                <a:solidFill>
                  <a:schemeClr val="tx1"/>
                </a:solidFill>
              </a:rPr>
              <a:t>Murad Raas (Punjab)</a:t>
            </a:r>
            <a:endParaRPr lang="en-US" dirty="0">
              <a:solidFill>
                <a:schemeClr val="tx1"/>
              </a:solidFill>
              <a:hlinkClick r:id="rId3" tooltip="Syed Sardar Ali Shah"/>
            </a:endParaRPr>
          </a:p>
          <a:p>
            <a:r>
              <a:rPr lang="en-US" dirty="0">
                <a:solidFill>
                  <a:schemeClr val="tx1"/>
                </a:solidFill>
                <a:hlinkClick r:id="rId3" tooltip="Syed Sardar Ali Shah"/>
              </a:rPr>
              <a:t>Syed Sardar Ali </a:t>
            </a:r>
            <a:r>
              <a:rPr lang="en-US" dirty="0" smtClean="0">
                <a:solidFill>
                  <a:schemeClr val="tx1"/>
                </a:solidFill>
                <a:hlinkClick r:id="rId3" tooltip="Syed Sardar Ali Shah"/>
              </a:rPr>
              <a:t>Shah</a:t>
            </a:r>
            <a:r>
              <a:rPr lang="en-US" dirty="0" smtClean="0">
                <a:solidFill>
                  <a:schemeClr val="tx1"/>
                </a:solidFill>
              </a:rPr>
              <a:t> (Sindh)</a:t>
            </a:r>
            <a:endParaRPr lang="en-US" dirty="0">
              <a:solidFill>
                <a:schemeClr val="tx1"/>
              </a:solidFill>
            </a:endParaRPr>
          </a:p>
          <a:p>
            <a:r>
              <a:rPr lang="en-US" dirty="0">
                <a:solidFill>
                  <a:schemeClr val="tx1"/>
                </a:solidFill>
              </a:rPr>
              <a:t> Sardar Yar Muhammad </a:t>
            </a:r>
            <a:r>
              <a:rPr lang="en-US" dirty="0" smtClean="0">
                <a:solidFill>
                  <a:schemeClr val="tx1"/>
                </a:solidFill>
              </a:rPr>
              <a:t>Rind (Balochistan)</a:t>
            </a:r>
            <a:endParaRPr lang="en-US" dirty="0">
              <a:solidFill>
                <a:schemeClr val="tx1"/>
              </a:solidFill>
            </a:endParaRPr>
          </a:p>
          <a:p>
            <a:r>
              <a:rPr lang="en-US" dirty="0">
                <a:solidFill>
                  <a:schemeClr val="tx1"/>
                </a:solidFill>
                <a:hlinkClick r:id="rId4"/>
              </a:rPr>
              <a:t>Mr. Shahram Khan </a:t>
            </a:r>
            <a:r>
              <a:rPr lang="en-US" dirty="0" smtClean="0">
                <a:solidFill>
                  <a:schemeClr val="tx1"/>
                </a:solidFill>
                <a:hlinkClick r:id="rId4"/>
              </a:rPr>
              <a:t>Tarakai</a:t>
            </a:r>
            <a:r>
              <a:rPr lang="en-US" dirty="0" smtClean="0">
                <a:solidFill>
                  <a:schemeClr val="tx1"/>
                </a:solidFill>
              </a:rPr>
              <a:t> (</a:t>
            </a:r>
            <a:r>
              <a:rPr lang="en-US" dirty="0">
                <a:solidFill>
                  <a:schemeClr val="tx1"/>
                </a:solidFill>
              </a:rPr>
              <a:t>Khyber </a:t>
            </a:r>
            <a:r>
              <a:rPr lang="en-US" dirty="0" smtClean="0">
                <a:solidFill>
                  <a:schemeClr val="tx1"/>
                </a:solidFill>
              </a:rPr>
              <a:t>Pakhtunkhwa)</a:t>
            </a:r>
            <a:endParaRPr lang="en-US" dirty="0">
              <a:solidFill>
                <a:schemeClr val="tx1"/>
              </a:solidFill>
            </a:endParaRP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0725" y="377781"/>
            <a:ext cx="3931708" cy="29487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9717" y="3896578"/>
            <a:ext cx="3373724" cy="22310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637886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5146" y="904772"/>
            <a:ext cx="10515600" cy="759137"/>
          </a:xfrm>
        </p:spPr>
        <p:txBody>
          <a:bodyPr>
            <a:noAutofit/>
          </a:bodyPr>
          <a:lstStyle/>
          <a:p>
            <a:r>
              <a:rPr lang="en-US" sz="3600" b="1" u="sng" dirty="0" smtClean="0">
                <a:solidFill>
                  <a:schemeClr val="accent2"/>
                </a:solidFill>
              </a:rPr>
              <a:t>Constitution Of The Islamic Republic Of Pakistan</a:t>
            </a:r>
            <a:r>
              <a:rPr lang="en-US" sz="3600" b="1" u="sng" dirty="0"/>
              <a:t/>
            </a:r>
            <a:br>
              <a:rPr lang="en-US" sz="3600" b="1" u="sng" dirty="0"/>
            </a:br>
            <a:r>
              <a:rPr lang="en-US" sz="3600" b="1" u="sng" dirty="0" smtClean="0"/>
              <a:t/>
            </a:r>
            <a:br>
              <a:rPr lang="en-US" sz="3600" b="1" u="sng" dirty="0" smtClean="0"/>
            </a:br>
            <a:r>
              <a:rPr lang="en-US" sz="2400" dirty="0" smtClean="0"/>
              <a:t>The </a:t>
            </a:r>
            <a:r>
              <a:rPr lang="en-US" sz="2400" dirty="0"/>
              <a:t>state of education in Pakistan has received a lot of criticism due to a lack of funds for education in the country, and an unequal distribution of Pakistan's education resources</a:t>
            </a:r>
          </a:p>
        </p:txBody>
      </p:sp>
      <p:sp>
        <p:nvSpPr>
          <p:cNvPr id="3" name="Content Placeholder 2"/>
          <p:cNvSpPr>
            <a:spLocks noGrp="1"/>
          </p:cNvSpPr>
          <p:nvPr>
            <p:ph idx="1"/>
          </p:nvPr>
        </p:nvSpPr>
        <p:spPr>
          <a:xfrm>
            <a:off x="700276" y="2458636"/>
            <a:ext cx="5835436" cy="4204740"/>
          </a:xfrm>
        </p:spPr>
        <p:txBody>
          <a:bodyPr>
            <a:normAutofit/>
          </a:bodyPr>
          <a:lstStyle/>
          <a:p>
            <a:pPr marL="0" indent="0" algn="ctr">
              <a:buNone/>
            </a:pPr>
            <a:r>
              <a:rPr lang="en-US" b="1" u="sng" dirty="0" smtClean="0">
                <a:solidFill>
                  <a:schemeClr val="accent2"/>
                </a:solidFill>
              </a:rPr>
              <a:t>What Rights Does Our Constitution Give Us</a:t>
            </a:r>
          </a:p>
          <a:p>
            <a:pPr marL="0" indent="0" algn="ctr">
              <a:buNone/>
            </a:pPr>
            <a:endParaRPr lang="en-US" b="1" u="sng" dirty="0">
              <a:solidFill>
                <a:schemeClr val="tx1"/>
              </a:solidFill>
            </a:endParaRPr>
          </a:p>
          <a:p>
            <a:pPr marL="0" indent="0">
              <a:buNone/>
            </a:pPr>
            <a:r>
              <a:rPr lang="en-US" dirty="0"/>
              <a:t>In 1959, a </a:t>
            </a:r>
            <a:r>
              <a:rPr lang="en-US" i="1" dirty="0"/>
              <a:t>Commission on National Education</a:t>
            </a:r>
            <a:r>
              <a:rPr lang="en-US" dirty="0"/>
              <a:t> was formed, which suggested that the educational system in Pakistan should pursue quality as an essential objective and recommended compulsory education for children.</a:t>
            </a:r>
          </a:p>
          <a:p>
            <a:pPr marL="0" indent="0" algn="ctr">
              <a:buNone/>
            </a:pPr>
            <a:endParaRPr lang="en-US" b="1" u="sng" dirty="0" smtClean="0">
              <a:solidFill>
                <a:schemeClr val="tx1"/>
              </a:solidFill>
            </a:endParaRPr>
          </a:p>
          <a:p>
            <a:pPr marL="0" indent="0">
              <a:buNone/>
            </a:pPr>
            <a:endParaRPr lang="en-US" dirty="0">
              <a:solidFill>
                <a:schemeClr val="tx1"/>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8098" y="2458636"/>
            <a:ext cx="4839159" cy="4062086"/>
          </a:xfrm>
          <a:prstGeom prst="rect">
            <a:avLst/>
          </a:prstGeom>
        </p:spPr>
      </p:pic>
    </p:spTree>
    <p:extLst>
      <p:ext uri="{BB962C8B-B14F-4D97-AF65-F5344CB8AC3E}">
        <p14:creationId xmlns:p14="http://schemas.microsoft.com/office/powerpoint/2010/main" val="19477920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531" y="269823"/>
            <a:ext cx="7964039" cy="6858000"/>
          </a:xfrm>
        </p:spPr>
        <p:txBody>
          <a:bodyPr>
            <a:normAutofit lnSpcReduction="10000"/>
          </a:bodyPr>
          <a:lstStyle/>
          <a:p>
            <a:r>
              <a:rPr lang="en-US" dirty="0" smtClean="0"/>
              <a:t>In </a:t>
            </a:r>
            <a:r>
              <a:rPr lang="en-US" dirty="0"/>
              <a:t>1973, </a:t>
            </a:r>
            <a:r>
              <a:rPr lang="en-US" dirty="0">
                <a:solidFill>
                  <a:srgbClr val="FF0000"/>
                </a:solidFill>
              </a:rPr>
              <a:t>Article 37-B </a:t>
            </a:r>
            <a:r>
              <a:rPr lang="en-US" dirty="0"/>
              <a:t>of the Pakistani Constitution was created, stating that </a:t>
            </a:r>
            <a:r>
              <a:rPr lang="en-US" b="1" dirty="0">
                <a:solidFill>
                  <a:schemeClr val="accent2">
                    <a:lumMod val="75000"/>
                  </a:schemeClr>
                </a:solidFill>
              </a:rPr>
              <a:t>"The State shall remove illiteracy and provide free and compulsory secondary education within minimum possible period</a:t>
            </a:r>
            <a:r>
              <a:rPr lang="en-US" b="1" dirty="0" smtClean="0">
                <a:solidFill>
                  <a:schemeClr val="accent2">
                    <a:lumMod val="75000"/>
                  </a:schemeClr>
                </a:solidFill>
              </a:rPr>
              <a:t>.</a:t>
            </a:r>
          </a:p>
          <a:p>
            <a:r>
              <a:rPr lang="en-US" dirty="0" smtClean="0"/>
              <a:t> Also </a:t>
            </a:r>
            <a:r>
              <a:rPr lang="en-US" dirty="0"/>
              <a:t>created in 1973 was </a:t>
            </a:r>
            <a:r>
              <a:rPr lang="en-US" dirty="0">
                <a:solidFill>
                  <a:srgbClr val="FF0000"/>
                </a:solidFill>
              </a:rPr>
              <a:t>Article 38-D </a:t>
            </a:r>
            <a:r>
              <a:rPr lang="en-US" dirty="0"/>
              <a:t>of the Pakistani Constitution, which states </a:t>
            </a:r>
            <a:r>
              <a:rPr lang="en-US" b="1" dirty="0">
                <a:solidFill>
                  <a:schemeClr val="accent2">
                    <a:lumMod val="75000"/>
                  </a:schemeClr>
                </a:solidFill>
              </a:rPr>
              <a:t>"The State shall provide basic necessities of life, such as food, clothing, housing, education and medical relief, for all citizens, irrespective of sex, caste, creed or race, as are permanently or temporarily unable to earn their livelihood on account of infirmity, sickness or unemployment</a:t>
            </a:r>
            <a:r>
              <a:rPr lang="en-US" b="1" dirty="0" smtClean="0">
                <a:solidFill>
                  <a:schemeClr val="accent2">
                    <a:lumMod val="75000"/>
                  </a:schemeClr>
                </a:solidFill>
              </a:rPr>
              <a:t>.“</a:t>
            </a:r>
          </a:p>
          <a:p>
            <a:r>
              <a:rPr lang="en-US" dirty="0"/>
              <a:t>In 2010, </a:t>
            </a:r>
            <a:r>
              <a:rPr lang="en-US" dirty="0">
                <a:solidFill>
                  <a:srgbClr val="FF0000"/>
                </a:solidFill>
              </a:rPr>
              <a:t>Article 25-A </a:t>
            </a:r>
            <a:r>
              <a:rPr lang="en-US" dirty="0"/>
              <a:t>of the Pakistani Constitution was created, stating that </a:t>
            </a:r>
            <a:r>
              <a:rPr lang="en-US" b="1" dirty="0">
                <a:solidFill>
                  <a:schemeClr val="accent2">
                    <a:lumMod val="75000"/>
                  </a:schemeClr>
                </a:solidFill>
              </a:rPr>
              <a:t>"The State shall provide free and compulsory education to all children of the age of five to sixteen years in such manner as may be determined by law."</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142" y="1484027"/>
            <a:ext cx="3400425" cy="3702570"/>
          </a:xfrm>
          <a:prstGeom prst="rect">
            <a:avLst/>
          </a:prstGeom>
        </p:spPr>
      </p:pic>
    </p:spTree>
    <p:extLst>
      <p:ext uri="{BB962C8B-B14F-4D97-AF65-F5344CB8AC3E}">
        <p14:creationId xmlns:p14="http://schemas.microsoft.com/office/powerpoint/2010/main" val="31952739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530" y="1064301"/>
            <a:ext cx="8908421" cy="7090348"/>
          </a:xfrm>
        </p:spPr>
        <p:txBody>
          <a:bodyPr>
            <a:noAutofit/>
          </a:bodyPr>
          <a:lstStyle/>
          <a:p>
            <a:r>
              <a:rPr lang="en-US" sz="2400" b="1" dirty="0">
                <a:hlinkClick r:id="rId3"/>
              </a:rPr>
              <a:t>National Skills for all </a:t>
            </a:r>
            <a:r>
              <a:rPr lang="en-US" sz="2400" b="1" dirty="0" smtClean="0">
                <a:hlinkClick r:id="rId3"/>
              </a:rPr>
              <a:t>Strategy</a:t>
            </a:r>
            <a:endParaRPr lang="en-US" sz="2400" b="1" dirty="0" smtClean="0"/>
          </a:p>
          <a:p>
            <a:pPr marL="0" indent="0">
              <a:buNone/>
            </a:pPr>
            <a:r>
              <a:rPr lang="en-US" sz="2400" dirty="0" smtClean="0"/>
              <a:t>. </a:t>
            </a:r>
            <a:r>
              <a:rPr lang="en-US" sz="2400" dirty="0"/>
              <a:t>It </a:t>
            </a:r>
            <a:r>
              <a:rPr lang="en-US" sz="2400" b="1" dirty="0"/>
              <a:t>envisions provision of relevant skills for industrial and economic development</a:t>
            </a:r>
            <a:r>
              <a:rPr lang="en-US" sz="2400" dirty="0"/>
              <a:t>, improvement of access, equity and employability and assurance of quality through an integrated approach</a:t>
            </a:r>
            <a:r>
              <a:rPr lang="en-US" sz="2400" dirty="0" smtClean="0"/>
              <a:t>.</a:t>
            </a:r>
          </a:p>
          <a:p>
            <a:r>
              <a:rPr lang="en-US" sz="2400" b="1" dirty="0">
                <a:hlinkClick r:id="rId4"/>
              </a:rPr>
              <a:t>NATIONAL EDUCATION POLICY FRAMEWORK </a:t>
            </a:r>
            <a:r>
              <a:rPr lang="en-US" sz="2400" b="1" dirty="0" smtClean="0">
                <a:hlinkClick r:id="rId4"/>
              </a:rPr>
              <a:t>2018</a:t>
            </a:r>
            <a:endParaRPr lang="en-US" sz="2400" b="1" dirty="0"/>
          </a:p>
          <a:p>
            <a:pPr marL="0" indent="0">
              <a:buNone/>
            </a:pPr>
            <a:r>
              <a:rPr lang="en-US" sz="2400" dirty="0" smtClean="0"/>
              <a:t>Enrolling </a:t>
            </a:r>
            <a:r>
              <a:rPr lang="en-US" sz="2400" dirty="0"/>
              <a:t>25 million out of school children, provision of </a:t>
            </a:r>
            <a:r>
              <a:rPr lang="en-US" sz="2400" b="1" dirty="0"/>
              <a:t>quality education, skill development and uniformed syllabus</a:t>
            </a:r>
            <a:r>
              <a:rPr lang="en-US" sz="2400" dirty="0"/>
              <a:t> across the </a:t>
            </a:r>
            <a:r>
              <a:rPr lang="en-US" sz="2400" dirty="0" smtClean="0"/>
              <a:t>country</a:t>
            </a:r>
          </a:p>
          <a:p>
            <a:r>
              <a:rPr lang="en-US" sz="2400" b="1" dirty="0">
                <a:hlinkClick r:id="rId5"/>
              </a:rPr>
              <a:t>Technical and Vocational Education and Training (TVET-2018) Policy for </a:t>
            </a:r>
            <a:r>
              <a:rPr lang="en-US" sz="2400" b="1" dirty="0" smtClean="0">
                <a:hlinkClick r:id="rId5"/>
              </a:rPr>
              <a:t>Pakistan</a:t>
            </a:r>
            <a:endParaRPr lang="en-US" sz="2400" b="1" dirty="0" smtClean="0"/>
          </a:p>
          <a:p>
            <a:pPr marL="0" indent="0">
              <a:buNone/>
            </a:pPr>
            <a:r>
              <a:rPr lang="en-US" sz="2400" dirty="0" smtClean="0"/>
              <a:t>TVET </a:t>
            </a:r>
            <a:r>
              <a:rPr lang="en-US" sz="2400" dirty="0"/>
              <a:t>is seen as an integral element to achieve relevant objectives set under Vision 2025, which is key government policy document for macroeconomic development of the </a:t>
            </a:r>
            <a:r>
              <a:rPr lang="en-US" sz="2400" dirty="0" smtClean="0"/>
              <a:t>country</a:t>
            </a:r>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8951" y="2299994"/>
            <a:ext cx="2773180" cy="2309481"/>
          </a:xfrm>
          <a:prstGeom prst="rect">
            <a:avLst/>
          </a:prstGeom>
        </p:spPr>
      </p:pic>
    </p:spTree>
    <p:extLst>
      <p:ext uri="{BB962C8B-B14F-4D97-AF65-F5344CB8AC3E}">
        <p14:creationId xmlns:p14="http://schemas.microsoft.com/office/powerpoint/2010/main" val="16795266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571" y="232348"/>
            <a:ext cx="8203882" cy="6625652"/>
          </a:xfrm>
        </p:spPr>
        <p:txBody>
          <a:bodyPr>
            <a:normAutofit lnSpcReduction="10000"/>
          </a:bodyPr>
          <a:lstStyle/>
          <a:p>
            <a:r>
              <a:rPr lang="en-US" b="1" dirty="0">
                <a:hlinkClick r:id="rId2"/>
              </a:rPr>
              <a:t>Draft National Education Policy 2017</a:t>
            </a:r>
            <a:endParaRPr lang="en-US" b="1" dirty="0"/>
          </a:p>
          <a:p>
            <a:pPr marL="0" indent="0">
              <a:buNone/>
            </a:pPr>
            <a:r>
              <a:rPr lang="en-US" dirty="0" smtClean="0"/>
              <a:t>The </a:t>
            </a:r>
            <a:r>
              <a:rPr lang="en-US" dirty="0"/>
              <a:t>educational institutions </a:t>
            </a:r>
            <a:r>
              <a:rPr lang="en-US" dirty="0" smtClean="0"/>
              <a:t>nationalized </a:t>
            </a:r>
            <a:r>
              <a:rPr lang="en-US" dirty="0"/>
              <a:t>for around 35 years should be provided with adequate compensatory funds to enhance their capacity and operations.</a:t>
            </a:r>
          </a:p>
          <a:p>
            <a:r>
              <a:rPr lang="en-US" b="1" dirty="0">
                <a:hlinkClick r:id="rId3"/>
              </a:rPr>
              <a:t>Quran Bill</a:t>
            </a:r>
            <a:endParaRPr lang="en-US" b="1" dirty="0"/>
          </a:p>
          <a:p>
            <a:pPr marL="0" indent="0">
              <a:buNone/>
            </a:pPr>
            <a:r>
              <a:rPr lang="en-US" dirty="0" smtClean="0"/>
              <a:t>Compulsory </a:t>
            </a:r>
            <a:r>
              <a:rPr lang="en-US" dirty="0"/>
              <a:t>Teaching of the Holy Quran Bill 2017, which will make Quranic education compulsory for Grade 1 through Grade 12 in all federal educational institutions in the country.</a:t>
            </a:r>
          </a:p>
          <a:p>
            <a:r>
              <a:rPr lang="en-US" b="1" dirty="0">
                <a:hlinkClick r:id="rId4"/>
              </a:rPr>
              <a:t>National Curriculum Framework (NCF)</a:t>
            </a:r>
            <a:endParaRPr lang="en-US" b="1" dirty="0"/>
          </a:p>
          <a:p>
            <a:pPr marL="0" indent="0">
              <a:buNone/>
            </a:pPr>
            <a:r>
              <a:rPr lang="en-US" b="1" dirty="0" smtClean="0"/>
              <a:t>Policy </a:t>
            </a:r>
            <a:r>
              <a:rPr lang="en-US" b="1" dirty="0"/>
              <a:t>document which provides guidelines for achieving national Vision, Mission, Goals and Objectives of education through school curricula</a:t>
            </a:r>
            <a:r>
              <a:rPr lang="en-US" dirty="0"/>
              <a:t>. </a:t>
            </a:r>
            <a:endParaRPr lang="en-US" dirty="0" smtClean="0"/>
          </a:p>
          <a:p>
            <a:r>
              <a:rPr lang="en-US" b="1" dirty="0" smtClean="0">
                <a:hlinkClick r:id="rId5"/>
              </a:rPr>
              <a:t>National </a:t>
            </a:r>
            <a:r>
              <a:rPr lang="en-US" b="1" dirty="0">
                <a:hlinkClick r:id="rId5"/>
              </a:rPr>
              <a:t>Education Policy 2009</a:t>
            </a:r>
            <a:endParaRPr lang="en-US" b="1" dirty="0"/>
          </a:p>
          <a:p>
            <a:pPr marL="0" indent="0">
              <a:buNone/>
            </a:pPr>
            <a:r>
              <a:rPr lang="en-US" b="1" dirty="0"/>
              <a:t>To provide and ensure equal educational opportunities to all the citizens of Pakistan</a:t>
            </a:r>
            <a:endParaRPr lang="en-US" dirty="0"/>
          </a:p>
          <a:p>
            <a:endParaRPr lang="en-US" dirty="0"/>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34531" y="1388822"/>
            <a:ext cx="3737548" cy="3810532"/>
          </a:xfrm>
          <a:prstGeom prst="rect">
            <a:avLst/>
          </a:prstGeom>
        </p:spPr>
      </p:pic>
    </p:spTree>
    <p:extLst>
      <p:ext uri="{BB962C8B-B14F-4D97-AF65-F5344CB8AC3E}">
        <p14:creationId xmlns:p14="http://schemas.microsoft.com/office/powerpoint/2010/main" val="34496311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6882" y="1504378"/>
            <a:ext cx="6297118" cy="1325563"/>
          </a:xfrm>
        </p:spPr>
        <p:txBody>
          <a:bodyPr>
            <a:noAutofit/>
          </a:bodyPr>
          <a:lstStyle/>
          <a:p>
            <a:pPr algn="ctr"/>
            <a:r>
              <a:rPr lang="en-US" sz="6600" dirty="0" smtClean="0">
                <a:solidFill>
                  <a:schemeClr val="accent2"/>
                </a:solidFill>
              </a:rPr>
              <a:t>LOOP HOLES IN OUR EDUCATION SYSTEM</a:t>
            </a:r>
            <a:endParaRPr lang="en-US" sz="6600" dirty="0">
              <a:solidFill>
                <a:schemeClr val="accent2"/>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3818" y="3954281"/>
            <a:ext cx="4124325" cy="2667000"/>
          </a:xfrm>
          <a:prstGeom prst="rect">
            <a:avLst/>
          </a:prstGeom>
        </p:spPr>
      </p:pic>
    </p:spTree>
    <p:extLst>
      <p:ext uri="{BB962C8B-B14F-4D97-AF65-F5344CB8AC3E}">
        <p14:creationId xmlns:p14="http://schemas.microsoft.com/office/powerpoint/2010/main" val="748380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rPr>
              <a:t>Single National Curriculum (SNC)</a:t>
            </a:r>
            <a:endParaRPr lang="en-US" dirty="0">
              <a:solidFill>
                <a:schemeClr val="accent2"/>
              </a:solidFill>
            </a:endParaRPr>
          </a:p>
        </p:txBody>
      </p:sp>
      <p:sp>
        <p:nvSpPr>
          <p:cNvPr id="3" name="Content Placeholder 2"/>
          <p:cNvSpPr>
            <a:spLocks noGrp="1"/>
          </p:cNvSpPr>
          <p:nvPr>
            <p:ph idx="1"/>
          </p:nvPr>
        </p:nvSpPr>
        <p:spPr>
          <a:xfrm>
            <a:off x="220591" y="1792445"/>
            <a:ext cx="7814138" cy="4351338"/>
          </a:xfrm>
        </p:spPr>
        <p:txBody>
          <a:bodyPr>
            <a:normAutofit/>
          </a:bodyPr>
          <a:lstStyle/>
          <a:p>
            <a:r>
              <a:rPr lang="en-US" dirty="0"/>
              <a:t>C</a:t>
            </a:r>
            <a:r>
              <a:rPr lang="en-US" dirty="0" smtClean="0"/>
              <a:t>hildren </a:t>
            </a:r>
            <a:r>
              <a:rPr lang="en-US" dirty="0"/>
              <a:t>have a fair and equal opportunity to receive high quality </a:t>
            </a:r>
            <a:r>
              <a:rPr lang="en-US" dirty="0" smtClean="0"/>
              <a:t>education.</a:t>
            </a:r>
          </a:p>
          <a:p>
            <a:r>
              <a:rPr lang="en-US" dirty="0"/>
              <a:t>One system of Education for all, in terms of curriculum, medium of instruction and a common platform of assessment which will ensure:</a:t>
            </a:r>
          </a:p>
          <a:p>
            <a:r>
              <a:rPr lang="en-US" dirty="0"/>
              <a:t>All children have a fair and equal opportunity to receive high quality education</a:t>
            </a:r>
          </a:p>
          <a:p>
            <a:r>
              <a:rPr lang="en-US" dirty="0" smtClean="0"/>
              <a:t>Equal </a:t>
            </a:r>
            <a:r>
              <a:rPr lang="en-US" dirty="0"/>
              <a:t>opportunities for </a:t>
            </a:r>
            <a:r>
              <a:rPr lang="en-US" dirty="0" smtClean="0"/>
              <a:t>everyone</a:t>
            </a:r>
            <a:endParaRPr lang="en-US" dirty="0"/>
          </a:p>
          <a:p>
            <a:r>
              <a:rPr lang="en-US" dirty="0"/>
              <a:t>Equity in education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4729" y="2050478"/>
            <a:ext cx="3977389" cy="3570833"/>
          </a:xfrm>
          <a:prstGeom prst="rect">
            <a:avLst/>
          </a:prstGeom>
        </p:spPr>
      </p:pic>
    </p:spTree>
    <p:extLst>
      <p:ext uri="{BB962C8B-B14F-4D97-AF65-F5344CB8AC3E}">
        <p14:creationId xmlns:p14="http://schemas.microsoft.com/office/powerpoint/2010/main" val="36685865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882" y="839449"/>
            <a:ext cx="7854846" cy="6858000"/>
          </a:xfrm>
        </p:spPr>
        <p:txBody>
          <a:bodyPr>
            <a:normAutofit/>
          </a:bodyPr>
          <a:lstStyle/>
          <a:p>
            <a:pPr>
              <a:buFont typeface="Wingdings" panose="05000000000000000000" pitchFamily="2" charset="2"/>
              <a:buChar char="Ø"/>
            </a:pPr>
            <a:r>
              <a:rPr lang="en-US" dirty="0"/>
              <a:t>Ignorance of the Poor Children. In our system, the government schools are believed to be made for children with poor background only! And the condition of these schools is also like that only. The teachers of the government schools do not even care to come to the school regularly. </a:t>
            </a:r>
            <a:endParaRPr lang="en-US" dirty="0" smtClean="0"/>
          </a:p>
          <a:p>
            <a:pPr>
              <a:buFont typeface="Wingdings" panose="05000000000000000000" pitchFamily="2" charset="2"/>
              <a:buChar char="Ø"/>
            </a:pPr>
            <a:r>
              <a:rPr lang="en-US" dirty="0" smtClean="0"/>
              <a:t>The </a:t>
            </a:r>
            <a:r>
              <a:rPr lang="en-US" dirty="0"/>
              <a:t>problems associated with the education system of Pakistan are lack of adequate budget, lack of policy implementation, defective examination system, poor physical facilities, lack of teacher quality, lack of implementation of education policies, directionless education, low enrollment, high scale dropouts, </a:t>
            </a:r>
            <a:r>
              <a:rPr lang="en-US" dirty="0" smtClean="0"/>
              <a:t>political.</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4728" y="1326160"/>
            <a:ext cx="3987383" cy="4355111"/>
          </a:xfrm>
          <a:prstGeom prst="rect">
            <a:avLst/>
          </a:prstGeom>
        </p:spPr>
      </p:pic>
    </p:spTree>
    <p:extLst>
      <p:ext uri="{BB962C8B-B14F-4D97-AF65-F5344CB8AC3E}">
        <p14:creationId xmlns:p14="http://schemas.microsoft.com/office/powerpoint/2010/main" val="34932991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5403" y="194872"/>
            <a:ext cx="6734846" cy="6857999"/>
          </a:xfrm>
        </p:spPr>
        <p:txBody>
          <a:bodyPr>
            <a:normAutofit/>
          </a:bodyPr>
          <a:lstStyle/>
          <a:p>
            <a:pPr>
              <a:buFont typeface="Wingdings" panose="05000000000000000000" pitchFamily="2" charset="2"/>
              <a:buChar char="Ø"/>
            </a:pPr>
            <a:r>
              <a:rPr lang="en-US" dirty="0"/>
              <a:t>The directionless system of education is </a:t>
            </a:r>
            <a:r>
              <a:rPr lang="en-US" b="1" dirty="0"/>
              <a:t>producing forces of degree holders</a:t>
            </a:r>
            <a:r>
              <a:rPr lang="en-US" dirty="0"/>
              <a:t> who are deficient in high order live skills such as reflection, critical thinking, analysis, research and creativity</a:t>
            </a:r>
            <a:r>
              <a:rPr lang="en-US" dirty="0" smtClean="0"/>
              <a:t>.</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Rattalization </a:t>
            </a:r>
            <a:r>
              <a:rPr lang="en-US" dirty="0"/>
              <a:t>(Cramming):</a:t>
            </a:r>
          </a:p>
          <a:p>
            <a:pPr marL="0" indent="0">
              <a:buNone/>
            </a:pPr>
            <a:r>
              <a:rPr lang="en-US" dirty="0"/>
              <a:t>Students are taught to do “Ratta” of the questions and answer without any concept and just paste that Ratta in the paper to pass the exam. It is because students don't understand the English language and they are taught everything in English</a:t>
            </a:r>
            <a:r>
              <a:rPr lang="en-US" dirty="0" smtClean="0"/>
              <a:t>.</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No skills are being taught to students.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072" y="1429686"/>
            <a:ext cx="4137285" cy="3861842"/>
          </a:xfrm>
          <a:prstGeom prst="rect">
            <a:avLst/>
          </a:prstGeom>
        </p:spPr>
      </p:pic>
    </p:spTree>
    <p:extLst>
      <p:ext uri="{BB962C8B-B14F-4D97-AF65-F5344CB8AC3E}">
        <p14:creationId xmlns:p14="http://schemas.microsoft.com/office/powerpoint/2010/main" val="8164926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chemeClr val="accent2"/>
                </a:solidFill>
              </a:rPr>
              <a:t>What Changes could be made to our education policies?</a:t>
            </a:r>
            <a:endParaRPr lang="en-US" b="1" u="sng" dirty="0">
              <a:solidFill>
                <a:schemeClr val="accent2"/>
              </a:solidFill>
            </a:endParaRPr>
          </a:p>
        </p:txBody>
      </p:sp>
      <p:sp>
        <p:nvSpPr>
          <p:cNvPr id="3" name="Content Placeholder 2"/>
          <p:cNvSpPr>
            <a:spLocks noGrp="1"/>
          </p:cNvSpPr>
          <p:nvPr>
            <p:ph idx="1"/>
          </p:nvPr>
        </p:nvSpPr>
        <p:spPr>
          <a:xfrm>
            <a:off x="838200" y="2170399"/>
            <a:ext cx="4906046" cy="4351338"/>
          </a:xfrm>
        </p:spPr>
        <p:txBody>
          <a:bodyPr>
            <a:normAutofit/>
          </a:bodyPr>
          <a:lstStyle/>
          <a:p>
            <a:pPr>
              <a:buFont typeface="Wingdings" panose="05000000000000000000" pitchFamily="2" charset="2"/>
              <a:buChar char="v"/>
            </a:pPr>
            <a:r>
              <a:rPr lang="en-US" dirty="0" smtClean="0"/>
              <a:t>Upgradation of Books</a:t>
            </a:r>
          </a:p>
          <a:p>
            <a:pPr>
              <a:buFont typeface="Wingdings" panose="05000000000000000000" pitchFamily="2" charset="2"/>
              <a:buChar char="v"/>
            </a:pPr>
            <a:r>
              <a:rPr lang="en-US" dirty="0" smtClean="0"/>
              <a:t>Let children determine their field and let them enhance in that field</a:t>
            </a:r>
          </a:p>
          <a:p>
            <a:pPr>
              <a:buFont typeface="Wingdings" panose="05000000000000000000" pitchFamily="2" charset="2"/>
              <a:buChar char="v"/>
            </a:pPr>
            <a:r>
              <a:rPr lang="en-US" dirty="0" smtClean="0"/>
              <a:t>Establish More Schools</a:t>
            </a:r>
          </a:p>
          <a:p>
            <a:pPr>
              <a:buFont typeface="Wingdings" panose="05000000000000000000" pitchFamily="2" charset="2"/>
              <a:buChar char="v"/>
            </a:pPr>
            <a:r>
              <a:rPr lang="en-US" dirty="0" smtClean="0"/>
              <a:t>Build technical and vocational institutions</a:t>
            </a:r>
          </a:p>
          <a:p>
            <a:pPr>
              <a:buFont typeface="Wingdings" panose="05000000000000000000" pitchFamily="2" charset="2"/>
              <a:buChar char="v"/>
            </a:pPr>
            <a:r>
              <a:rPr lang="en-US" dirty="0" smtClean="0"/>
              <a:t>Encourage Sports sector</a:t>
            </a:r>
          </a:p>
          <a:p>
            <a:pPr>
              <a:buFont typeface="Wingdings" panose="05000000000000000000" pitchFamily="2" charset="2"/>
              <a:buChar char="v"/>
            </a:pPr>
            <a:r>
              <a:rPr lang="en-US" dirty="0" smtClean="0"/>
              <a:t>Work on school infrastructure</a:t>
            </a:r>
          </a:p>
          <a:p>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031688"/>
            <a:ext cx="5572281" cy="4490049"/>
          </a:xfrm>
          <a:prstGeom prst="rect">
            <a:avLst/>
          </a:prstGeom>
        </p:spPr>
      </p:pic>
    </p:spTree>
    <p:extLst>
      <p:ext uri="{BB962C8B-B14F-4D97-AF65-F5344CB8AC3E}">
        <p14:creationId xmlns:p14="http://schemas.microsoft.com/office/powerpoint/2010/main" val="25553820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5383" y="648897"/>
            <a:ext cx="6405062" cy="6763739"/>
          </a:xfrm>
        </p:spPr>
        <p:txBody>
          <a:bodyPr>
            <a:normAutofit/>
          </a:bodyPr>
          <a:lstStyle/>
          <a:p>
            <a:pPr>
              <a:buFont typeface="Wingdings" panose="05000000000000000000" pitchFamily="2" charset="2"/>
              <a:buChar char="v"/>
            </a:pPr>
            <a:r>
              <a:rPr lang="en-US" dirty="0" smtClean="0"/>
              <a:t>Technical </a:t>
            </a:r>
            <a:r>
              <a:rPr lang="en-US" dirty="0"/>
              <a:t>education should be made a part of secondary education</a:t>
            </a:r>
            <a:r>
              <a:rPr lang="en-US" dirty="0" smtClean="0"/>
              <a:t>.</a:t>
            </a:r>
            <a:endParaRPr lang="en-US" dirty="0"/>
          </a:p>
          <a:p>
            <a:pPr>
              <a:buFont typeface="Wingdings" panose="05000000000000000000" pitchFamily="2" charset="2"/>
              <a:buChar char="v"/>
            </a:pPr>
            <a:r>
              <a:rPr lang="en-US" dirty="0" smtClean="0"/>
              <a:t>Providing </a:t>
            </a:r>
            <a:r>
              <a:rPr lang="en-US" dirty="0"/>
              <a:t>economic incentives to the students may encourage the parents to send their children to school and may help in reducing the dropout ratio. </a:t>
            </a:r>
          </a:p>
          <a:p>
            <a:pPr>
              <a:buFont typeface="Wingdings" panose="05000000000000000000" pitchFamily="2" charset="2"/>
              <a:buChar char="v"/>
            </a:pPr>
            <a:r>
              <a:rPr lang="en-US" dirty="0" smtClean="0"/>
              <a:t>Better Standards</a:t>
            </a:r>
          </a:p>
          <a:p>
            <a:pPr>
              <a:buFont typeface="Wingdings" panose="05000000000000000000" pitchFamily="2" charset="2"/>
              <a:buChar char="v"/>
            </a:pPr>
            <a:r>
              <a:rPr lang="en-US" dirty="0" smtClean="0"/>
              <a:t>More Accountability</a:t>
            </a:r>
          </a:p>
          <a:p>
            <a:pPr>
              <a:buFont typeface="Wingdings" panose="05000000000000000000" pitchFamily="2" charset="2"/>
              <a:buChar char="v"/>
            </a:pPr>
            <a:r>
              <a:rPr lang="en-US" dirty="0" smtClean="0"/>
              <a:t>Parent Involvement</a:t>
            </a:r>
          </a:p>
          <a:p>
            <a:pPr>
              <a:buFont typeface="Wingdings" panose="05000000000000000000" pitchFamily="2" charset="2"/>
              <a:buChar char="v"/>
            </a:pPr>
            <a:r>
              <a:rPr lang="en-US" dirty="0" smtClean="0"/>
              <a:t>Adapt </a:t>
            </a:r>
            <a:r>
              <a:rPr lang="en-US" dirty="0"/>
              <a:t>to New </a:t>
            </a:r>
            <a:r>
              <a:rPr lang="en-US" dirty="0" smtClean="0"/>
              <a:t>Technologies</a:t>
            </a:r>
          </a:p>
          <a:p>
            <a:pPr>
              <a:buFont typeface="Wingdings" panose="05000000000000000000" pitchFamily="2" charset="2"/>
              <a:buChar char="v"/>
            </a:pPr>
            <a:r>
              <a:rPr lang="en-US" dirty="0" smtClean="0"/>
              <a:t>Curriculum Revision</a:t>
            </a:r>
          </a:p>
          <a:p>
            <a:pPr>
              <a:buFont typeface="Wingdings" panose="05000000000000000000" pitchFamily="2" charset="2"/>
              <a:buChar char="v"/>
            </a:pPr>
            <a:r>
              <a:rPr lang="en-US" dirty="0" smtClean="0"/>
              <a:t>Periodic Assessments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19006" y="1548307"/>
            <a:ext cx="4415024" cy="3863143"/>
          </a:xfrm>
          <a:prstGeom prst="rect">
            <a:avLst/>
          </a:prstGeom>
        </p:spPr>
      </p:pic>
    </p:spTree>
    <p:extLst>
      <p:ext uri="{BB962C8B-B14F-4D97-AF65-F5344CB8AC3E}">
        <p14:creationId xmlns:p14="http://schemas.microsoft.com/office/powerpoint/2010/main" val="10808086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1056</TotalTime>
  <Words>651</Words>
  <Application>Microsoft Office PowerPoint</Application>
  <PresentationFormat>Widescreen</PresentationFormat>
  <Paragraphs>88</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Berlin Sans FB Demi</vt:lpstr>
      <vt:lpstr>Bernard MT Condensed</vt:lpstr>
      <vt:lpstr>Calibri</vt:lpstr>
      <vt:lpstr>Cambria Math</vt:lpstr>
      <vt:lpstr>Corbel</vt:lpstr>
      <vt:lpstr>Wingdings</vt:lpstr>
      <vt:lpstr>Depth</vt:lpstr>
      <vt:lpstr>PowerPoint Presentation</vt:lpstr>
      <vt:lpstr>Ministry Of Federal Education And Professional Training </vt:lpstr>
      <vt:lpstr>The Role Of  The Ministry Of  Education </vt:lpstr>
      <vt:lpstr>Federal Minister Of Education  Shafqat Mahmood  </vt:lpstr>
      <vt:lpstr>Constitution Of The Islamic Republic Of Pakistan  The state of education in Pakistan has received a lot of criticism due to a lack of funds for education in the country, and an unequal distribution of Pakistan's education resources</vt:lpstr>
      <vt:lpstr>PowerPoint Presentation</vt:lpstr>
      <vt:lpstr>PowerPoint Presentation</vt:lpstr>
      <vt:lpstr>PowerPoint Presentation</vt:lpstr>
      <vt:lpstr>LOOP HOLES IN OUR EDUCATION SYSTEM</vt:lpstr>
      <vt:lpstr>Single National Curriculum (SNC)</vt:lpstr>
      <vt:lpstr>PowerPoint Presentation</vt:lpstr>
      <vt:lpstr>PowerPoint Presentation</vt:lpstr>
      <vt:lpstr>What Changes could be made to our education policies?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the Ministry of Education </dc:title>
  <dc:creator>M HASSAN KHALID</dc:creator>
  <cp:lastModifiedBy>M HASSAN KHALID</cp:lastModifiedBy>
  <cp:revision>24</cp:revision>
  <dcterms:created xsi:type="dcterms:W3CDTF">2021-12-19T17:56:14Z</dcterms:created>
  <dcterms:modified xsi:type="dcterms:W3CDTF">2021-12-20T11:37:50Z</dcterms:modified>
</cp:coreProperties>
</file>