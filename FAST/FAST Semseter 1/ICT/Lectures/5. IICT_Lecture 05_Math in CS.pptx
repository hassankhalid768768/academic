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sldIdLst>
    <p:sldId id="256" r:id="rId2"/>
    <p:sldId id="265" r:id="rId3"/>
    <p:sldId id="258" r:id="rId4"/>
    <p:sldId id="260" r:id="rId5"/>
    <p:sldId id="262" r:id="rId6"/>
    <p:sldId id="268" r:id="rId7"/>
    <p:sldId id="295" r:id="rId8"/>
    <p:sldId id="269" r:id="rId9"/>
    <p:sldId id="267" r:id="rId10"/>
    <p:sldId id="266" r:id="rId11"/>
    <p:sldId id="263" r:id="rId12"/>
    <p:sldId id="264" r:id="rId13"/>
    <p:sldId id="261" r:id="rId14"/>
    <p:sldId id="270" r:id="rId15"/>
    <p:sldId id="278" r:id="rId16"/>
    <p:sldId id="273" r:id="rId17"/>
    <p:sldId id="274" r:id="rId18"/>
    <p:sldId id="275" r:id="rId19"/>
    <p:sldId id="276" r:id="rId20"/>
    <p:sldId id="277" r:id="rId21"/>
    <p:sldId id="279" r:id="rId22"/>
    <p:sldId id="272" r:id="rId23"/>
    <p:sldId id="280" r:id="rId24"/>
    <p:sldId id="282" r:id="rId25"/>
    <p:sldId id="294" r:id="rId26"/>
    <p:sldId id="291" r:id="rId27"/>
    <p:sldId id="292" r:id="rId28"/>
    <p:sldId id="293" r:id="rId29"/>
    <p:sldId id="287" r:id="rId30"/>
    <p:sldId id="286" r:id="rId31"/>
    <p:sldId id="285" r:id="rId32"/>
    <p:sldId id="283" r:id="rId33"/>
    <p:sldId id="288" r:id="rId34"/>
    <p:sldId id="289" r:id="rId35"/>
    <p:sldId id="290" r:id="rId36"/>
    <p:sldId id="25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F8245-2471-4268-B0F5-2A46887AE93A}" type="datetimeFigureOut">
              <a:rPr lang="en-US" smtClean="0"/>
              <a:t>11/4/2021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4CA93-3778-4988-99FD-08C1A7F0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5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44CA93-3778-4988-99FD-08C1A7F042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4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gi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</a:t>
            </a:r>
            <a:r>
              <a:rPr lang="en-US" dirty="0" smtClean="0"/>
              <a:t>05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527352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Mathematics in Computer Science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646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mathematics?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2197"/>
            <a:ext cx="7920756" cy="449916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</a:rPr>
              <a:t>Mathematics is defined as the science which deals with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logic of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</a:rPr>
              <a:t>shape, quantity and arrangement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</a:rPr>
              <a:t>During ancient times in Egypt, the Egyptians used math's and complex mathematic equations like geometry and algebra. That is how they managed to build the pyramids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Mathematics is </a:t>
            </a:r>
            <a:r>
              <a:rPr lang="en-US" sz="2400" dirty="0" smtClean="0">
                <a:solidFill>
                  <a:schemeClr val="tx1"/>
                </a:solidFill>
              </a:rPr>
              <a:t>basically related </a:t>
            </a:r>
            <a:r>
              <a:rPr lang="en-US" sz="2400" dirty="0">
                <a:solidFill>
                  <a:schemeClr val="tx1"/>
                </a:solidFill>
              </a:rPr>
              <a:t>to </a:t>
            </a:r>
            <a:r>
              <a:rPr lang="en-US" sz="2400" dirty="0" smtClean="0">
                <a:solidFill>
                  <a:srgbClr val="0070C0"/>
                </a:solidFill>
              </a:rPr>
              <a:t>understanding structure</a:t>
            </a:r>
            <a:r>
              <a:rPr lang="en-US" sz="2400" dirty="0" smtClean="0">
                <a:solidFill>
                  <a:schemeClr val="tx1"/>
                </a:solidFill>
              </a:rPr>
              <a:t>. It </a:t>
            </a:r>
            <a:r>
              <a:rPr lang="en-US" sz="2400" dirty="0">
                <a:solidFill>
                  <a:schemeClr val="tx1"/>
                </a:solidFill>
              </a:rPr>
              <a:t>is used to </a:t>
            </a:r>
            <a:r>
              <a:rPr lang="en-US" sz="2400" dirty="0" smtClean="0">
                <a:solidFill>
                  <a:schemeClr val="tx1"/>
                </a:solidFill>
              </a:rPr>
              <a:t>do </a:t>
            </a:r>
            <a:r>
              <a:rPr lang="en-US" sz="2400" dirty="0" smtClean="0">
                <a:solidFill>
                  <a:srgbClr val="0070C0"/>
                </a:solidFill>
              </a:rPr>
              <a:t>logical </a:t>
            </a:r>
            <a:r>
              <a:rPr lang="en-US" sz="2400" dirty="0">
                <a:solidFill>
                  <a:srgbClr val="0070C0"/>
                </a:solidFill>
              </a:rPr>
              <a:t>analysis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rgbClr val="0070C0"/>
                </a:solidFill>
              </a:rPr>
              <a:t>make </a:t>
            </a:r>
            <a:r>
              <a:rPr lang="en-US" sz="2400" dirty="0" smtClean="0">
                <a:solidFill>
                  <a:srgbClr val="0070C0"/>
                </a:solidFill>
              </a:rPr>
              <a:t>relevant calculations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and eventually </a:t>
            </a:r>
            <a:r>
              <a:rPr lang="en-US" sz="2400" dirty="0" smtClean="0">
                <a:solidFill>
                  <a:schemeClr val="tx1"/>
                </a:solidFill>
              </a:rPr>
              <a:t>to </a:t>
            </a:r>
            <a:r>
              <a:rPr lang="en-US" sz="2400" dirty="0" smtClean="0">
                <a:solidFill>
                  <a:srgbClr val="0070C0"/>
                </a:solidFill>
              </a:rPr>
              <a:t>deduce conclusions </a:t>
            </a:r>
            <a:r>
              <a:rPr lang="en-US" sz="2400" dirty="0" smtClean="0">
                <a:solidFill>
                  <a:schemeClr val="tx1"/>
                </a:solidFill>
              </a:rPr>
              <a:t>and </a:t>
            </a:r>
            <a:r>
              <a:rPr lang="en-US" sz="2400" dirty="0" smtClean="0">
                <a:solidFill>
                  <a:srgbClr val="0070C0"/>
                </a:solidFill>
              </a:rPr>
              <a:t>pattern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074" name="Picture 2" descr="pyramid-dimens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591" y="1739330"/>
            <a:ext cx="2791725" cy="279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0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Math in 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the importance of the ground in building? </a:t>
            </a:r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you don’t have an understanding of the foundation on which you place a structure, that structure may be fairly wobbly and will fail over 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Same is the case here with Computer Science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621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23331"/>
            <a:ext cx="9599430" cy="5318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Mathematics is prominent at every layer of Computing</a:t>
            </a:r>
            <a:r>
              <a:rPr lang="en-US" sz="2400" dirty="0" smtClean="0">
                <a:solidFill>
                  <a:srgbClr val="0070C0"/>
                </a:solidFill>
              </a:rPr>
              <a:t>:</a:t>
            </a:r>
          </a:p>
          <a:p>
            <a:r>
              <a:rPr lang="en-US" sz="2400" dirty="0"/>
              <a:t>The lowest layer with ALU performing the </a:t>
            </a:r>
            <a:r>
              <a:rPr lang="en-US" sz="2400" dirty="0" smtClean="0"/>
              <a:t>Arithmetic </a:t>
            </a:r>
            <a:r>
              <a:rPr lang="en-US" sz="2400" dirty="0"/>
              <a:t>and logical operations.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middle layer with Operating system making use of mathematics and algorithms for process management, memory management, disk management, networking operations and more.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upper layer with all sort of application and system software using all sort of algorithms to create all sort of magic.</a:t>
            </a:r>
          </a:p>
          <a:p>
            <a:r>
              <a:rPr lang="en-US" sz="2400" dirty="0"/>
              <a:t>Right now, when you are reading </a:t>
            </a:r>
            <a:r>
              <a:rPr lang="en-US" sz="2400" i="1" dirty="0"/>
              <a:t>this</a:t>
            </a:r>
            <a:r>
              <a:rPr lang="en-US" sz="2400" dirty="0"/>
              <a:t> text, there is mathematics going on behind the scenes to render it on your screen taking into account specific </a:t>
            </a:r>
            <a:r>
              <a:rPr lang="en-US" sz="2400" dirty="0">
                <a:solidFill>
                  <a:srgbClr val="0070C0"/>
                </a:solidFill>
              </a:rPr>
              <a:t>font face/size/color/monitor's resolution/aspect ratio/X,Y coordinates</a:t>
            </a:r>
            <a:r>
              <a:rPr lang="en-US" sz="2400" dirty="0"/>
              <a:t> etc. with different algorithms contributing to the final result.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29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6453" y="2615822"/>
            <a:ext cx="7374846" cy="1320800"/>
          </a:xfrm>
        </p:spPr>
        <p:txBody>
          <a:bodyPr/>
          <a:lstStyle/>
          <a:p>
            <a:r>
              <a:rPr lang="en-US" dirty="0" smtClean="0"/>
              <a:t>Mathematics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5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Mathematics in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1379"/>
            <a:ext cx="9012576" cy="4389983"/>
          </a:xfrm>
        </p:spPr>
        <p:txBody>
          <a:bodyPr>
            <a:normAutofit/>
          </a:bodyPr>
          <a:lstStyle/>
          <a:p>
            <a:r>
              <a:rPr lang="en-US" sz="2000" dirty="0"/>
              <a:t>Cryptography is a method of storing and transmitting data in a </a:t>
            </a:r>
            <a:r>
              <a:rPr lang="en-US" sz="2000" dirty="0">
                <a:solidFill>
                  <a:srgbClr val="0070C0"/>
                </a:solidFill>
              </a:rPr>
              <a:t>particular form</a:t>
            </a:r>
            <a:r>
              <a:rPr lang="en-US" sz="2000" dirty="0"/>
              <a:t> so that only those for whom it is intended can read and process it.</a:t>
            </a:r>
          </a:p>
        </p:txBody>
      </p:sp>
      <p:pic>
        <p:nvPicPr>
          <p:cNvPr id="4" name="Picture 4" descr="f1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3" b="53439"/>
          <a:stretch/>
        </p:blipFill>
        <p:spPr bwMode="auto">
          <a:xfrm>
            <a:off x="1136001" y="2391053"/>
            <a:ext cx="7679334" cy="291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59892" y="5392049"/>
            <a:ext cx="77200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2400" dirty="0" smtClean="0">
                <a:solidFill>
                  <a:srgbClr val="0070C0"/>
                </a:solidFill>
              </a:rPr>
              <a:t>Plain Text:    </a:t>
            </a:r>
            <a:r>
              <a:rPr lang="en-US" sz="2400" dirty="0"/>
              <a:t>meet    me  after      the     toga   party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2400" dirty="0">
                <a:solidFill>
                  <a:srgbClr val="0070C0"/>
                </a:solidFill>
              </a:rPr>
              <a:t>C</a:t>
            </a:r>
            <a:r>
              <a:rPr lang="en-US" sz="2400" dirty="0" smtClean="0">
                <a:solidFill>
                  <a:srgbClr val="0070C0"/>
                </a:solidFill>
              </a:rPr>
              <a:t>ipher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US" sz="2400" dirty="0"/>
              <a:t>PHHW PH DIWHU WKH WRJD </a:t>
            </a:r>
            <a:r>
              <a:rPr lang="en-US" sz="2400" dirty="0" smtClean="0"/>
              <a:t>SDUWB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2400" dirty="0" smtClean="0">
                <a:solidFill>
                  <a:srgbClr val="7030A0"/>
                </a:solidFill>
              </a:rPr>
              <a:t>Each element is shifted 3 times to the right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64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Can you decipher (Decode) the following messages?</a:t>
            </a:r>
          </a:p>
          <a:p>
            <a:pPr marL="0" indent="0">
              <a:buNone/>
            </a:pPr>
            <a:r>
              <a:rPr lang="en-US" sz="2000" dirty="0" smtClean="0"/>
              <a:t>1. </a:t>
            </a:r>
            <a:r>
              <a:rPr lang="en-US" sz="2000" dirty="0" err="1" smtClean="0"/>
              <a:t>Zujge</a:t>
            </a:r>
            <a:r>
              <a:rPr lang="en-US" sz="2000" dirty="0" smtClean="0"/>
              <a:t> </a:t>
            </a:r>
            <a:r>
              <a:rPr lang="en-US" sz="2000" dirty="0" err="1"/>
              <a:t>oy</a:t>
            </a:r>
            <a:r>
              <a:rPr lang="en-US" sz="2000" dirty="0"/>
              <a:t> </a:t>
            </a:r>
            <a:r>
              <a:rPr lang="en-US" sz="2000" dirty="0" err="1"/>
              <a:t>ixoiqkz</a:t>
            </a:r>
            <a:r>
              <a:rPr lang="en-US" sz="2000" dirty="0"/>
              <a:t> </a:t>
            </a:r>
            <a:r>
              <a:rPr lang="en-US" sz="2000" dirty="0" err="1"/>
              <a:t>sgzin</a:t>
            </a:r>
            <a:r>
              <a:rPr lang="en-US" sz="2000" dirty="0"/>
              <a:t> </a:t>
            </a:r>
            <a:r>
              <a:rPr lang="en-US" sz="2000" dirty="0" err="1"/>
              <a:t>hkzckkt</a:t>
            </a:r>
            <a:r>
              <a:rPr lang="en-US" sz="2000" dirty="0"/>
              <a:t> </a:t>
            </a:r>
            <a:r>
              <a:rPr lang="en-US" sz="2000" dirty="0" err="1"/>
              <a:t>Vgqoyzgt</a:t>
            </a:r>
            <a:r>
              <a:rPr lang="en-US" sz="2000" dirty="0"/>
              <a:t> </a:t>
            </a:r>
            <a:r>
              <a:rPr lang="en-US" sz="2000" dirty="0" err="1"/>
              <a:t>gtj</a:t>
            </a:r>
            <a:r>
              <a:rPr lang="en-US" sz="2000" dirty="0"/>
              <a:t> </a:t>
            </a:r>
            <a:r>
              <a:rPr lang="en-US" sz="2000" dirty="0" err="1" smtClean="0"/>
              <a:t>Otjog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(Key is 6: Shifted Rightward)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2. </a:t>
            </a:r>
            <a:r>
              <a:rPr lang="en-US" sz="2000" dirty="0" err="1" smtClean="0"/>
              <a:t>tnemeveihca</a:t>
            </a:r>
            <a:r>
              <a:rPr lang="en-US" sz="2000" dirty="0" smtClean="0"/>
              <a:t> </a:t>
            </a:r>
            <a:r>
              <a:rPr lang="en-US" sz="2000" dirty="0" err="1"/>
              <a:t>ot</a:t>
            </a:r>
            <a:r>
              <a:rPr lang="en-US" sz="2000" dirty="0"/>
              <a:t> </a:t>
            </a:r>
            <a:r>
              <a:rPr lang="en-US" sz="2000" dirty="0" err="1"/>
              <a:t>sdael</a:t>
            </a:r>
            <a:r>
              <a:rPr lang="en-US" sz="2000" dirty="0"/>
              <a:t> </a:t>
            </a:r>
            <a:r>
              <a:rPr lang="en-US" sz="2000" dirty="0" err="1"/>
              <a:t>taht</a:t>
            </a:r>
            <a:r>
              <a:rPr lang="en-US" sz="2000" dirty="0"/>
              <a:t> </a:t>
            </a:r>
            <a:r>
              <a:rPr lang="en-US" sz="2000" dirty="0" err="1"/>
              <a:t>htiaf</a:t>
            </a:r>
            <a:r>
              <a:rPr lang="en-US" sz="2000" dirty="0"/>
              <a:t> </a:t>
            </a:r>
            <a:r>
              <a:rPr lang="en-US" sz="2000" dirty="0" err="1"/>
              <a:t>eht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msimitpO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u="sn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791659"/>
              </p:ext>
            </p:extLst>
          </p:nvPr>
        </p:nvGraphicFramePr>
        <p:xfrm>
          <a:off x="1346604" y="4873086"/>
          <a:ext cx="8596312" cy="640080"/>
        </p:xfrm>
        <a:graphic>
          <a:graphicData uri="http://schemas.openxmlformats.org/drawingml/2006/table">
            <a:tbl>
              <a:tblPr/>
              <a:tblGrid>
                <a:gridCol w="8596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/>
                      </a:r>
                      <a:br>
                        <a:rPr lang="en-US" dirty="0"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90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36895"/>
            <a:ext cx="8596668" cy="1320800"/>
          </a:xfrm>
        </p:spPr>
        <p:txBody>
          <a:bodyPr/>
          <a:lstStyle/>
          <a:p>
            <a:r>
              <a:rPr lang="en-US" dirty="0" smtClean="0"/>
              <a:t>Image Processing &amp; Computer 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855" y="1614678"/>
            <a:ext cx="4686237" cy="485855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Detecting/tracking Hurricanes</a:t>
            </a:r>
            <a:endParaRPr lang="en-US" sz="2400" dirty="0"/>
          </a:p>
          <a:p>
            <a:r>
              <a:rPr lang="en-US" sz="2400" dirty="0" smtClean="0"/>
              <a:t>Cancer/Tumor Detection </a:t>
            </a:r>
          </a:p>
          <a:p>
            <a:r>
              <a:rPr lang="en-US" sz="2400" dirty="0" smtClean="0"/>
              <a:t>Anomaly Detection </a:t>
            </a:r>
          </a:p>
          <a:p>
            <a:r>
              <a:rPr lang="en-US" sz="2400" dirty="0" smtClean="0"/>
              <a:t>Movement detection from satellite images</a:t>
            </a:r>
          </a:p>
          <a:p>
            <a:r>
              <a:rPr lang="en-US" sz="2400" dirty="0" smtClean="0"/>
              <a:t>…and many more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All these applications required heavy mathematical operations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772" y="326840"/>
            <a:ext cx="3562351" cy="2362200"/>
          </a:xfrm>
          <a:prstGeom prst="rect">
            <a:avLst/>
          </a:prstGeom>
        </p:spPr>
      </p:pic>
      <p:pic>
        <p:nvPicPr>
          <p:cNvPr id="4098" name="Picture 2" descr="Image result for anomaly detection in vide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772" y="2838381"/>
            <a:ext cx="35623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tumor detec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995" y="2834525"/>
            <a:ext cx="2140179" cy="236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movement detection from satellite imag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922" y="5349922"/>
            <a:ext cx="6682684" cy="147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4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7388493" cy="4110962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In robotics 3D linear and rotational motion are involved</a:t>
            </a:r>
          </a:p>
          <a:p>
            <a:r>
              <a:rPr lang="en-US" sz="2400" dirty="0" smtClean="0"/>
              <a:t>Understanding of different coordinate systems are necessary to describe position</a:t>
            </a:r>
          </a:p>
          <a:p>
            <a:pPr lvl="1"/>
            <a:r>
              <a:rPr lang="en-US" dirty="0"/>
              <a:t>Coordinates to describe position.</a:t>
            </a:r>
          </a:p>
          <a:p>
            <a:pPr lvl="2"/>
            <a:r>
              <a:rPr lang="en-US" sz="1800" dirty="0"/>
              <a:t>rectangular (</a:t>
            </a:r>
            <a:r>
              <a:rPr lang="en-US" sz="1800" dirty="0" err="1"/>
              <a:t>x,y,z</a:t>
            </a:r>
            <a:r>
              <a:rPr lang="en-US" sz="1800" dirty="0"/>
              <a:t>)</a:t>
            </a:r>
          </a:p>
          <a:p>
            <a:pPr lvl="2"/>
            <a:r>
              <a:rPr lang="en-US" sz="1800" dirty="0"/>
              <a:t>cylindrical (</a:t>
            </a:r>
            <a:r>
              <a:rPr lang="en-US" sz="1800" dirty="0" err="1"/>
              <a:t>r,</a:t>
            </a:r>
            <a:r>
              <a:rPr lang="en-US" sz="1800" dirty="0" err="1">
                <a:sym typeface="Symbol" panose="05050102010706020507" pitchFamily="18" charset="2"/>
              </a:rPr>
              <a:t></a:t>
            </a:r>
            <a:r>
              <a:rPr lang="en-US" sz="1800" dirty="0" err="1"/>
              <a:t>,</a:t>
            </a:r>
            <a:r>
              <a:rPr lang="en-US" sz="1800" dirty="0" err="1" smtClean="0"/>
              <a:t>z</a:t>
            </a:r>
            <a:r>
              <a:rPr lang="en-US" sz="1800" dirty="0" smtClean="0"/>
              <a:t>)</a:t>
            </a:r>
            <a:endParaRPr lang="en-US" sz="1800" dirty="0">
              <a:sym typeface="Symbol" panose="05050102010706020507" pitchFamily="18" charset="2"/>
            </a:endParaRPr>
          </a:p>
          <a:p>
            <a:pPr lvl="2"/>
            <a:r>
              <a:rPr lang="en-US" sz="1800" dirty="0">
                <a:sym typeface="Symbol" panose="05050102010706020507" pitchFamily="18" charset="2"/>
              </a:rPr>
              <a:t>spherical (r,</a:t>
            </a:r>
            <a:r>
              <a:rPr lang="en-US" sz="1800" dirty="0"/>
              <a:t>,</a:t>
            </a:r>
            <a:r>
              <a:rPr lang="en-US" sz="1800" dirty="0">
                <a:sym typeface="Symbol" panose="05050102010706020507" pitchFamily="18" charset="2"/>
              </a:rPr>
              <a:t></a:t>
            </a:r>
            <a:r>
              <a:rPr lang="en-US" sz="1800" dirty="0" smtClean="0"/>
              <a:t>)</a:t>
            </a:r>
          </a:p>
          <a:p>
            <a:r>
              <a:rPr lang="en-US" sz="2200" dirty="0" smtClean="0">
                <a:sym typeface="Symbol" panose="05050102010706020507" pitchFamily="18" charset="2"/>
              </a:rPr>
              <a:t>Similarly pose estimation and object holding</a:t>
            </a:r>
          </a:p>
          <a:p>
            <a:pPr marL="0" indent="0">
              <a:buNone/>
            </a:pPr>
            <a:r>
              <a:rPr lang="en-US" sz="2200" dirty="0" smtClean="0">
                <a:sym typeface="Symbol" panose="05050102010706020507" pitchFamily="18" charset="2"/>
              </a:rPr>
              <a:t> required complex </a:t>
            </a:r>
            <a:r>
              <a:rPr lang="en-US" sz="2200" dirty="0" err="1" smtClean="0">
                <a:sym typeface="Symbol" panose="05050102010706020507" pitchFamily="18" charset="2"/>
              </a:rPr>
              <a:t>maths</a:t>
            </a:r>
            <a:endParaRPr lang="en-US" sz="2200" dirty="0">
              <a:sym typeface="Symbol" panose="05050102010706020507" pitchFamily="18" charset="2"/>
            </a:endParaRPr>
          </a:p>
          <a:p>
            <a:endParaRPr lang="en-US" sz="2400" dirty="0"/>
          </a:p>
        </p:txBody>
      </p:sp>
      <p:pic>
        <p:nvPicPr>
          <p:cNvPr id="5122" name="Picture 2" descr="Image result for MIT robot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478" y="817854"/>
            <a:ext cx="2532243" cy="149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MIT robot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478" y="2521317"/>
            <a:ext cx="2577427" cy="144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7468187" y="4709136"/>
            <a:ext cx="4569139" cy="1837194"/>
            <a:chOff x="1219200" y="2097554"/>
            <a:chExt cx="6702076" cy="4150846"/>
          </a:xfrm>
        </p:grpSpPr>
        <p:graphicFrame>
          <p:nvGraphicFramePr>
            <p:cNvPr id="7" name="Object 9"/>
            <p:cNvGraphicFramePr>
              <a:graphicFrameLocks noGrp="1" noChangeAspect="1"/>
            </p:cNvGraphicFramePr>
            <p:nvPr>
              <p:ph idx="1"/>
              <p:extLst>
                <p:ext uri="{D42A27DB-BD31-4B8C-83A1-F6EECF244321}">
                  <p14:modId xmlns:p14="http://schemas.microsoft.com/office/powerpoint/2010/main" val="2029290623"/>
                </p:ext>
              </p:extLst>
            </p:nvPr>
          </p:nvGraphicFramePr>
          <p:xfrm>
            <a:off x="4836763" y="2097554"/>
            <a:ext cx="3084513" cy="2544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8" name="Bitmap Image" r:id="rId5" imgW="2886478" imgH="2381582" progId="Paint.Picture">
                    <p:embed/>
                  </p:oleObj>
                </mc:Choice>
                <mc:Fallback>
                  <p:oleObj name="Bitmap Image" r:id="rId5" imgW="2886478" imgH="238158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763" y="2097554"/>
                          <a:ext cx="3084513" cy="25447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6180380"/>
                </p:ext>
              </p:extLst>
            </p:nvPr>
          </p:nvGraphicFramePr>
          <p:xfrm>
            <a:off x="1219200" y="2097554"/>
            <a:ext cx="3114675" cy="246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" name="Bitmap Image" r:id="rId7" imgW="3115110" imgH="2467319" progId="Paint.Picture">
                    <p:embed/>
                  </p:oleObj>
                </mc:Choice>
                <mc:Fallback>
                  <p:oleObj name="Bitmap Image" r:id="rId7" imgW="3115110" imgH="246731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097554"/>
                          <a:ext cx="3114675" cy="2466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1219200" y="5334000"/>
              <a:ext cx="6553200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71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sz="1400" dirty="0"/>
                <a:t>Simple </a:t>
              </a:r>
              <a:r>
                <a:rPr lang="en-US" sz="1400" dirty="0" smtClean="0"/>
                <a:t>rotation</a:t>
              </a:r>
              <a:r>
                <a:rPr lang="en-US" sz="1400" dirty="0"/>
                <a:t> </a:t>
              </a:r>
              <a:r>
                <a:rPr lang="en-US" sz="1400" dirty="0" smtClean="0"/>
                <a:t>                   </a:t>
              </a:r>
              <a:r>
                <a:rPr lang="en-US" sz="1400" dirty="0" err="1" smtClean="0"/>
                <a:t>Rotation</a:t>
              </a:r>
              <a:r>
                <a:rPr lang="en-US" sz="1400" dirty="0" smtClean="0"/>
                <a:t> </a:t>
              </a:r>
              <a:r>
                <a:rPr lang="en-US" sz="1400" dirty="0"/>
                <a:t>&amp; translation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405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1473959"/>
            <a:ext cx="6047316" cy="456740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Epidemiology is </a:t>
            </a:r>
            <a:r>
              <a:rPr lang="en-US" sz="2000" dirty="0"/>
              <a:t>the branch of medicine which deals with the incidence, distribution, and possible control of diseases and other factors relating to health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 smtClean="0"/>
              <a:t>What is your hearth rate now? How you measure it? </a:t>
            </a:r>
            <a:r>
              <a:rPr lang="en-US" sz="2000" dirty="0" smtClean="0">
                <a:solidFill>
                  <a:srgbClr val="7030A0"/>
                </a:solidFill>
              </a:rPr>
              <a:t>100 beats/min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How smart devices measure blood pressure, heart rate and sugar?</a:t>
            </a:r>
          </a:p>
          <a:p>
            <a:r>
              <a:rPr lang="en-US" sz="2000" dirty="0" smtClean="0"/>
              <a:t>How the computerized eye-sight checking machine (Auto-</a:t>
            </a:r>
            <a:r>
              <a:rPr lang="en-US" sz="2000" dirty="0" err="1" smtClean="0"/>
              <a:t>Refractometer</a:t>
            </a:r>
            <a:r>
              <a:rPr lang="en-US" sz="2000" dirty="0" smtClean="0"/>
              <a:t>) works?</a:t>
            </a:r>
          </a:p>
          <a:p>
            <a:r>
              <a:rPr lang="en-US" sz="2000" dirty="0" smtClean="0"/>
              <a:t>All these techniques required math at backend.</a:t>
            </a:r>
          </a:p>
        </p:txBody>
      </p:sp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0"/>
            <a:ext cx="54673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qph.fs.quoracdn.net/main-qimg-13fccf59548e130d6ce4e487f17e053b-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9"/>
          <a:stretch/>
        </p:blipFill>
        <p:spPr bwMode="auto">
          <a:xfrm>
            <a:off x="6988002" y="3922290"/>
            <a:ext cx="2286000" cy="20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663" y="3609183"/>
            <a:ext cx="2363337" cy="234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8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14177"/>
            <a:ext cx="8596668" cy="1320800"/>
          </a:xfrm>
        </p:spPr>
        <p:txBody>
          <a:bodyPr/>
          <a:lstStyle/>
          <a:p>
            <a:r>
              <a:rPr lang="en-US" dirty="0" smtClean="0"/>
              <a:t>Math in CS</a:t>
            </a:r>
            <a:br>
              <a:rPr lang="en-US" dirty="0" smtClean="0"/>
            </a:br>
            <a:r>
              <a:rPr lang="en-US" sz="2800" dirty="0" smtClean="0"/>
              <a:t>Civil Engineering Apps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360985"/>
            <a:ext cx="8596668" cy="1680377"/>
          </a:xfrm>
        </p:spPr>
        <p:txBody>
          <a:bodyPr/>
          <a:lstStyle/>
          <a:p>
            <a:r>
              <a:rPr lang="en-US" dirty="0" err="1"/>
              <a:t>WAGmob</a:t>
            </a:r>
            <a:r>
              <a:rPr lang="en-US" dirty="0"/>
              <a:t> brings you, Simple </a:t>
            </a:r>
            <a:r>
              <a:rPr lang="en-US" dirty="0" smtClean="0"/>
              <a:t>and </a:t>
            </a:r>
            <a:r>
              <a:rPr lang="en-US" dirty="0"/>
              <a:t>Easy, on-the-go learning app for "Civil Engineering". The </a:t>
            </a:r>
            <a:r>
              <a:rPr lang="en-US" dirty="0" smtClean="0"/>
              <a:t>byte </a:t>
            </a:r>
            <a:r>
              <a:rPr lang="en-US" dirty="0"/>
              <a:t>sized app helps you to understand the basics of "Civil Engineering".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84056"/>
            <a:ext cx="798195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299" y="5571610"/>
            <a:ext cx="567746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How to develop such applications without understanding of mathematics?</a:t>
            </a:r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6" name="Picture 2" descr="Related imag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60" y="874577"/>
            <a:ext cx="4780855" cy="29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27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 in CS</a:t>
            </a:r>
            <a:br>
              <a:rPr lang="en-US" dirty="0" smtClean="0"/>
            </a:br>
            <a:r>
              <a:rPr lang="en-US" sz="2800" dirty="0" smtClean="0"/>
              <a:t>Mechanical Engineering apps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7142833" cy="42265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Some applications for 3D designing in the field of Mechanical Engineering</a:t>
            </a:r>
          </a:p>
          <a:p>
            <a:pPr lvl="1"/>
            <a:r>
              <a:rPr lang="en-US" sz="2200" dirty="0" smtClean="0"/>
              <a:t>AUTODESK </a:t>
            </a:r>
          </a:p>
          <a:p>
            <a:pPr lvl="1"/>
            <a:r>
              <a:rPr lang="en-US" sz="2200" dirty="0" smtClean="0"/>
              <a:t>INVENTOR</a:t>
            </a:r>
          </a:p>
          <a:p>
            <a:pPr lvl="1"/>
            <a:r>
              <a:rPr lang="en-US" sz="2200" dirty="0" smtClean="0"/>
              <a:t>Etc.</a:t>
            </a:r>
          </a:p>
          <a:p>
            <a:r>
              <a:rPr lang="en-US" sz="2400" dirty="0" smtClean="0"/>
              <a:t>All these application needs heavy math at back end. </a:t>
            </a:r>
          </a:p>
          <a:p>
            <a:r>
              <a:rPr lang="en-US" sz="2400" dirty="0" smtClean="0"/>
              <a:t>As in given figure there are Force, Rotation, Momentum and Velocity involved.</a:t>
            </a:r>
          </a:p>
          <a:p>
            <a:r>
              <a:rPr lang="en-US" sz="2400" dirty="0" smtClean="0"/>
              <a:t>By changing one quantity effects other quantities and the changes can be measured/observed through computer</a:t>
            </a:r>
            <a:endParaRPr lang="en-US" sz="2400" dirty="0"/>
          </a:p>
        </p:txBody>
      </p:sp>
      <p:pic>
        <p:nvPicPr>
          <p:cNvPr id="1028" name="Picture 4" descr="Image result for 3d design civil engineering app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232" y="1930400"/>
            <a:ext cx="3457575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07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sz="2400" dirty="0"/>
              <a:t>In mathematical terms, an </a:t>
            </a:r>
            <a:r>
              <a:rPr lang="en-US" sz="2400" b="1" i="1" dirty="0"/>
              <a:t>optimization problem</a:t>
            </a:r>
            <a:r>
              <a:rPr lang="en-US" sz="2400" dirty="0"/>
              <a:t> is the problem of finding the </a:t>
            </a:r>
            <a:r>
              <a:rPr lang="en-US" sz="2400" i="1" dirty="0"/>
              <a:t>best</a:t>
            </a:r>
            <a:r>
              <a:rPr lang="en-US" sz="2400" dirty="0"/>
              <a:t> solution from among the set of </a:t>
            </a:r>
            <a:r>
              <a:rPr lang="en-US" sz="2400" dirty="0" smtClean="0"/>
              <a:t>all</a:t>
            </a:r>
            <a:r>
              <a:rPr lang="en-US" sz="2400" dirty="0"/>
              <a:t> </a:t>
            </a:r>
            <a:r>
              <a:rPr lang="en-US" sz="2400" i="1" dirty="0"/>
              <a:t>feasible</a:t>
            </a:r>
            <a:r>
              <a:rPr lang="en-US" sz="2400" dirty="0"/>
              <a:t> solutions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simple terms optimization is choosing </a:t>
            </a:r>
            <a:r>
              <a:rPr lang="en-US" sz="2400" dirty="0" smtClean="0">
                <a:solidFill>
                  <a:srgbClr val="0070C0"/>
                </a:solidFill>
              </a:rPr>
              <a:t>INPUTS </a:t>
            </a:r>
            <a:r>
              <a:rPr lang="en-US" sz="2400" dirty="0" smtClean="0"/>
              <a:t>that will result in the </a:t>
            </a:r>
            <a:r>
              <a:rPr lang="en-US" sz="2400" dirty="0" smtClean="0">
                <a:solidFill>
                  <a:srgbClr val="0070C0"/>
                </a:solidFill>
              </a:rPr>
              <a:t>best</a:t>
            </a:r>
            <a:r>
              <a:rPr lang="en-US" sz="2400" dirty="0" smtClean="0"/>
              <a:t> possible </a:t>
            </a:r>
            <a:r>
              <a:rPr lang="en-US" sz="2400" dirty="0" smtClean="0">
                <a:solidFill>
                  <a:srgbClr val="0070C0"/>
                </a:solidFill>
              </a:rPr>
              <a:t>OUTPUTS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413" y="4372471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4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9367"/>
            <a:ext cx="5600636" cy="4621995"/>
          </a:xfrm>
        </p:spPr>
        <p:txBody>
          <a:bodyPr>
            <a:noAutofit/>
          </a:bodyPr>
          <a:lstStyle/>
          <a:p>
            <a:r>
              <a:rPr lang="en-US" sz="2200" dirty="0"/>
              <a:t>Let’s take a look at a very simple example of an optimization problem: </a:t>
            </a:r>
            <a:endParaRPr lang="en-US" sz="2200" dirty="0" smtClean="0"/>
          </a:p>
          <a:p>
            <a:r>
              <a:rPr lang="en-US" sz="2200" dirty="0" smtClean="0"/>
              <a:t>Given </a:t>
            </a:r>
            <a:r>
              <a:rPr lang="en-US" sz="2200" dirty="0"/>
              <a:t>a parabola, chose x to get the </a:t>
            </a:r>
            <a:r>
              <a:rPr lang="en-US" sz="2400" b="1" dirty="0">
                <a:solidFill>
                  <a:srgbClr val="FF0000"/>
                </a:solidFill>
              </a:rPr>
              <a:t>largest y</a:t>
            </a:r>
            <a:r>
              <a:rPr lang="en-US" sz="2200" dirty="0"/>
              <a:t>. We can try different x values to see the resulting y value. </a:t>
            </a:r>
            <a:endParaRPr lang="en-US" sz="2200" dirty="0" smtClean="0"/>
          </a:p>
          <a:p>
            <a:r>
              <a:rPr lang="en-US" sz="2200" dirty="0" smtClean="0"/>
              <a:t>Eventually </a:t>
            </a:r>
            <a:r>
              <a:rPr lang="en-US" sz="2200" dirty="0"/>
              <a:t>we can find the </a:t>
            </a:r>
            <a:r>
              <a:rPr lang="en-US" sz="2200" dirty="0">
                <a:solidFill>
                  <a:srgbClr val="0070C0"/>
                </a:solidFill>
              </a:rPr>
              <a:t>maximum y </a:t>
            </a:r>
            <a:r>
              <a:rPr lang="en-US" sz="2200" dirty="0"/>
              <a:t>value by choosing </a:t>
            </a:r>
            <a:r>
              <a:rPr lang="en-US" sz="2200" dirty="0" smtClean="0">
                <a:solidFill>
                  <a:srgbClr val="0070C0"/>
                </a:solidFill>
              </a:rPr>
              <a:t>Best X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You </a:t>
            </a:r>
            <a:r>
              <a:rPr lang="en-US" sz="2200" dirty="0"/>
              <a:t>may also have solved this type of problem in calculus class by taking the derivative of the parabola and setting it equal to zero.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7403" y="1602853"/>
            <a:ext cx="5504597" cy="3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9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12123" y="309576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Where can we use OPTIMIZATION?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66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Bridge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/>
            <a:r>
              <a:rPr lang="en-US" sz="2000" dirty="0"/>
              <a:t>Designing a bridge that can carry the maximum load possible for a given cost</a:t>
            </a:r>
            <a:r>
              <a:rPr lang="en-US" sz="2000" dirty="0" smtClean="0"/>
              <a:t>.</a:t>
            </a:r>
          </a:p>
          <a:p>
            <a:pPr marL="342900" lvl="1" indent="-342900"/>
            <a:r>
              <a:rPr lang="en-US" sz="2000" dirty="0" smtClean="0"/>
              <a:t>Input is Design and output is to Maximize Load Bearing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46" y="3639097"/>
            <a:ext cx="7172325" cy="2809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33" y="609600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4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Airplane Wing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Design an airplane wing to minimize weight while maintaining strength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Input is Wing Design and output is to Minimize Weight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42" y="3655777"/>
            <a:ext cx="7162800" cy="26157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33" y="619430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5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Stock Market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Selecting the best set of stocks to invest in to maximize returns based on predicted performance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Input is Stock Portfolio and Output is to maximize returns on investment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50" y="3875964"/>
            <a:ext cx="6962704" cy="25163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33" y="609600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5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Warehouse placement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Choosing the optimal location for a warehouse to minimize shipment times to potential customers. 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3269587"/>
            <a:ext cx="7553325" cy="2771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33" y="607805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6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254299" cy="1320800"/>
          </a:xfrm>
        </p:spPr>
        <p:txBody>
          <a:bodyPr/>
          <a:lstStyle/>
          <a:p>
            <a:r>
              <a:rPr lang="en-US" dirty="0"/>
              <a:t>Temperature control of a chemical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Controlling the temperature of a chemical reaction throughout a process to maximize the purity of a desired product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04" y="3392727"/>
            <a:ext cx="7658100" cy="2800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33" y="618882"/>
            <a:ext cx="5260367" cy="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3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057599" cy="1320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Space Shuttle / Suborbital Vehicle trajectory optimization</a:t>
            </a:r>
            <a:br>
              <a:rPr lang="en-US" dirty="0" smtClean="0"/>
            </a:b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914535" cy="388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Even optimization is involved in life critical missions</a:t>
            </a:r>
          </a:p>
          <a:p>
            <a:r>
              <a:rPr lang="en-US" sz="2000" dirty="0" smtClean="0"/>
              <a:t>Trajectory of space shuttle is calculated and optimized to its target position by minimizing fuel cost and time.</a:t>
            </a:r>
          </a:p>
          <a:p>
            <a:endParaRPr lang="en-US" sz="2000" dirty="0" smtClean="0"/>
          </a:p>
        </p:txBody>
      </p:sp>
      <p:pic>
        <p:nvPicPr>
          <p:cNvPr id="2052" name="Picture 4" descr="Image result for trajectory of space shuttle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229" y="0"/>
            <a:ext cx="5429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6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Continue…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 you can see, optimization is a powerful tool in many applications.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is just a small sampling of the many fields that make use of optimization techniques to improve the quality of their solutions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something can be modeled mathematically, it can usually be optimized</a:t>
            </a:r>
            <a:r>
              <a:rPr lang="en-US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3141"/>
            <a:ext cx="6651514" cy="462659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 smtClean="0"/>
              <a:t>In Computer Science, graph is a collection of connected </a:t>
            </a:r>
            <a:r>
              <a:rPr lang="en-US" sz="2200" dirty="0" smtClean="0">
                <a:solidFill>
                  <a:srgbClr val="0070C0"/>
                </a:solidFill>
              </a:rPr>
              <a:t>NODES</a:t>
            </a:r>
            <a:r>
              <a:rPr lang="en-US" sz="2200" dirty="0" smtClean="0"/>
              <a:t> (vertices) with the help of </a:t>
            </a:r>
            <a:r>
              <a:rPr lang="en-US" sz="2200" dirty="0" smtClean="0">
                <a:solidFill>
                  <a:srgbClr val="0070C0"/>
                </a:solidFill>
              </a:rPr>
              <a:t>EDGES </a:t>
            </a:r>
            <a:r>
              <a:rPr lang="en-US" sz="2200" dirty="0" smtClean="0"/>
              <a:t>(links)</a:t>
            </a:r>
          </a:p>
          <a:p>
            <a:r>
              <a:rPr lang="en-US" sz="2200" dirty="0" smtClean="0"/>
              <a:t>A </a:t>
            </a:r>
            <a:r>
              <a:rPr lang="en-US" sz="2200" dirty="0" smtClean="0">
                <a:solidFill>
                  <a:srgbClr val="0070C0"/>
                </a:solidFill>
              </a:rPr>
              <a:t>node </a:t>
            </a:r>
            <a:r>
              <a:rPr lang="en-US" sz="2200" dirty="0" smtClean="0"/>
              <a:t>is</a:t>
            </a:r>
            <a:r>
              <a:rPr lang="en-US" sz="2400" dirty="0" smtClean="0"/>
              <a:t> </a:t>
            </a:r>
            <a:r>
              <a:rPr lang="en-US" sz="2400" dirty="0"/>
              <a:t>a </a:t>
            </a:r>
            <a:r>
              <a:rPr lang="en-US" sz="2400" dirty="0" smtClean="0"/>
              <a:t>thing or an </a:t>
            </a:r>
            <a:r>
              <a:rPr lang="en-US" sz="2400" dirty="0"/>
              <a:t>entity and we can </a:t>
            </a:r>
            <a:r>
              <a:rPr lang="en-US" sz="2400" dirty="0" smtClean="0"/>
              <a:t>assign some </a:t>
            </a:r>
            <a:r>
              <a:rPr lang="en-US" sz="2400" dirty="0"/>
              <a:t>value to it, so a </a:t>
            </a:r>
            <a:r>
              <a:rPr lang="en-US" sz="2400" dirty="0" smtClean="0"/>
              <a:t>person, a car and a city are examples </a:t>
            </a:r>
            <a:r>
              <a:rPr lang="en-US" sz="2400" dirty="0"/>
              <a:t>of a </a:t>
            </a:r>
            <a:r>
              <a:rPr lang="en-US" sz="2400" dirty="0" smtClean="0"/>
              <a:t>node.</a:t>
            </a:r>
            <a:endParaRPr lang="en-US" sz="2200" dirty="0" smtClean="0"/>
          </a:p>
          <a:p>
            <a:r>
              <a:rPr lang="en-US" sz="2200" dirty="0" smtClean="0"/>
              <a:t>An </a:t>
            </a:r>
            <a:r>
              <a:rPr lang="en-US" sz="2200" dirty="0" smtClean="0">
                <a:solidFill>
                  <a:srgbClr val="0070C0"/>
                </a:solidFill>
              </a:rPr>
              <a:t>edge</a:t>
            </a:r>
            <a:r>
              <a:rPr lang="en-US" sz="2200" dirty="0" smtClean="0"/>
              <a:t> can</a:t>
            </a:r>
            <a:r>
              <a:rPr lang="en-US" sz="2400" dirty="0" smtClean="0"/>
              <a:t> </a:t>
            </a:r>
            <a:r>
              <a:rPr lang="en-US" sz="2400" dirty="0"/>
              <a:t>be define as a relation of some sort between two or more nodes</a:t>
            </a:r>
            <a:endParaRPr lang="en-US" sz="2200" dirty="0" smtClean="0"/>
          </a:p>
          <a:p>
            <a:r>
              <a:rPr lang="en-US" sz="2200" dirty="0" smtClean="0"/>
              <a:t>A </a:t>
            </a:r>
            <a:r>
              <a:rPr lang="en-US" sz="2200" dirty="0"/>
              <a:t>perfect layman's example might be </a:t>
            </a:r>
            <a:r>
              <a:rPr lang="en-US" sz="2200" b="1" dirty="0" smtClean="0"/>
              <a:t>Facebook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dirty="0"/>
              <a:t>network of you, your friends, and their friends </a:t>
            </a:r>
            <a:r>
              <a:rPr lang="en-US" sz="2200" dirty="0" smtClean="0"/>
              <a:t>etc. </a:t>
            </a:r>
            <a:r>
              <a:rPr lang="en-US" sz="2200" dirty="0"/>
              <a:t>are collectively </a:t>
            </a:r>
            <a:r>
              <a:rPr lang="en-US" sz="2200" dirty="0" smtClean="0"/>
              <a:t>referred </a:t>
            </a:r>
            <a:r>
              <a:rPr lang="en-US" sz="2200" dirty="0"/>
              <a:t>to as the </a:t>
            </a:r>
            <a:r>
              <a:rPr lang="en-US" sz="2200" b="1" dirty="0"/>
              <a:t>social </a:t>
            </a:r>
            <a:r>
              <a:rPr lang="en-US" sz="2200" b="1" dirty="0" smtClean="0">
                <a:solidFill>
                  <a:schemeClr val="accent2">
                    <a:lumMod val="75000"/>
                  </a:schemeClr>
                </a:solidFill>
              </a:rPr>
              <a:t>graph</a:t>
            </a:r>
          </a:p>
          <a:p>
            <a:r>
              <a:rPr lang="en-US" sz="2200" dirty="0" smtClean="0"/>
              <a:t>Here people are nodes connected through friendship edges</a:t>
            </a:r>
          </a:p>
          <a:p>
            <a:pPr marL="0" indent="0">
              <a:buNone/>
            </a:pPr>
            <a:endParaRPr lang="en-US" sz="2200" dirty="0" smtClean="0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670" y="3704598"/>
            <a:ext cx="4416330" cy="31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nodes and ed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670" y="79914"/>
            <a:ext cx="3340504" cy="300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93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8549"/>
            <a:ext cx="6001871" cy="451281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Similarly we can shows connected cities using graph as in given figure</a:t>
            </a:r>
          </a:p>
          <a:p>
            <a:r>
              <a:rPr lang="en-US" sz="2400" dirty="0" smtClean="0"/>
              <a:t>Cities are represented as nodes (vertices) and the road’s distance is represented on edges.</a:t>
            </a:r>
          </a:p>
          <a:p>
            <a:endParaRPr lang="en-US" sz="2400" dirty="0"/>
          </a:p>
        </p:txBody>
      </p:sp>
      <p:pic>
        <p:nvPicPr>
          <p:cNvPr id="4098" name="Picture 2" descr="Image result for graph of ci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205" y="1403726"/>
            <a:ext cx="5512795" cy="434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02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60561"/>
            <a:ext cx="8596668" cy="428080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There are two types of graphs</a:t>
            </a:r>
          </a:p>
          <a:p>
            <a:pPr lvl="1"/>
            <a:r>
              <a:rPr lang="en-US" sz="2000" dirty="0" smtClean="0"/>
              <a:t>Undirected </a:t>
            </a:r>
          </a:p>
          <a:p>
            <a:pPr lvl="1"/>
            <a:r>
              <a:rPr lang="en-US" sz="2000" dirty="0" smtClean="0"/>
              <a:t>Directed</a:t>
            </a:r>
            <a:endParaRPr lang="en-US" sz="2000" dirty="0"/>
          </a:p>
        </p:txBody>
      </p:sp>
      <p:pic>
        <p:nvPicPr>
          <p:cNvPr id="4" name="Picture 6" descr="Image result for fully connected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470" y="3244413"/>
            <a:ext cx="3357350" cy="27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undirected graph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20" y="3302692"/>
            <a:ext cx="4486275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871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17536"/>
            <a:ext cx="6528684" cy="1320800"/>
          </a:xfrm>
        </p:spPr>
        <p:txBody>
          <a:bodyPr/>
          <a:lstStyle/>
          <a:p>
            <a:r>
              <a:rPr lang="en-US" dirty="0" smtClean="0"/>
              <a:t>Representation of Graph in Computer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smtClean="0"/>
              <a:t>Adjacency Matrix</a:t>
            </a:r>
            <a:endParaRPr lang="en-US" sz="2000"/>
          </a:p>
        </p:txBody>
      </p:sp>
      <p:pic>
        <p:nvPicPr>
          <p:cNvPr id="2050" name="Picture 2" descr="Image result for adjacency matr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5" y="163773"/>
            <a:ext cx="44291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95398"/>
              </p:ext>
            </p:extLst>
          </p:nvPr>
        </p:nvGraphicFramePr>
        <p:xfrm>
          <a:off x="1501253" y="2265529"/>
          <a:ext cx="6261622" cy="403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68991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Vertices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 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 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3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4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5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6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 7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6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6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7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556">
                <a:tc>
                  <a:txBody>
                    <a:bodyPr/>
                    <a:lstStyle/>
                    <a:p>
                      <a:pPr algn="l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7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17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Activity-02</a:t>
            </a:r>
            <a:br>
              <a:rPr lang="en-US" dirty="0" smtClean="0"/>
            </a:br>
            <a:r>
              <a:rPr lang="en-US" sz="2700" dirty="0" smtClean="0">
                <a:solidFill>
                  <a:srgbClr val="0070C0"/>
                </a:solidFill>
              </a:rPr>
              <a:t>Represent the following graph in form of adjacency matrix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074" name="Picture 2" descr="Image result for adjacency matrix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3" r="34528"/>
          <a:stretch/>
        </p:blipFill>
        <p:spPr bwMode="auto">
          <a:xfrm>
            <a:off x="0" y="2278560"/>
            <a:ext cx="4798248" cy="357571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2732916"/>
            <a:ext cx="30289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fully connected grap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988" y="2874996"/>
            <a:ext cx="2934269" cy="238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35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Activity-03</a:t>
            </a:r>
            <a:br>
              <a:rPr lang="en-US" dirty="0" smtClean="0"/>
            </a:br>
            <a:r>
              <a:rPr lang="en-US" sz="2700" dirty="0" smtClean="0">
                <a:solidFill>
                  <a:srgbClr val="0070C0"/>
                </a:solidFill>
              </a:rPr>
              <a:t>Draw a graph from each of the following adjacency matrices</a:t>
            </a:r>
            <a:endParaRPr lang="en-US" sz="2700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274" y="1723641"/>
            <a:ext cx="3321460" cy="3310814"/>
          </a:xfrm>
          <a:prstGeom prst="rect">
            <a:avLst/>
          </a:prstGeom>
        </p:spPr>
      </p:pic>
      <p:pic>
        <p:nvPicPr>
          <p:cNvPr id="3074" name="Picture 2" descr="Image result for adjacency matrix of directed grap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2" t="13130" b="18375"/>
          <a:stretch/>
        </p:blipFill>
        <p:spPr bwMode="auto">
          <a:xfrm>
            <a:off x="4393180" y="1930400"/>
            <a:ext cx="3848670" cy="319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adjacency matrix of directed grap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26" t="12650"/>
          <a:stretch/>
        </p:blipFill>
        <p:spPr bwMode="auto">
          <a:xfrm>
            <a:off x="559557" y="2066877"/>
            <a:ext cx="3414199" cy="322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462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3430" y="3107141"/>
            <a:ext cx="5805352" cy="1320800"/>
          </a:xfrm>
        </p:spPr>
        <p:txBody>
          <a:bodyPr/>
          <a:lstStyle/>
          <a:p>
            <a:r>
              <a:rPr lang="en-US" dirty="0"/>
              <a:t>Working with Graphs</a:t>
            </a:r>
          </a:p>
        </p:txBody>
      </p:sp>
    </p:spTree>
    <p:extLst>
      <p:ext uri="{BB962C8B-B14F-4D97-AF65-F5344CB8AC3E}">
        <p14:creationId xmlns:p14="http://schemas.microsoft.com/office/powerpoint/2010/main" val="73607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Point to Ponder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7098336" cy="3880773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Do you </a:t>
            </a:r>
            <a:r>
              <a:rPr lang="en-US" sz="2400" dirty="0" smtClean="0">
                <a:solidFill>
                  <a:srgbClr val="FF0000"/>
                </a:solidFill>
              </a:rPr>
              <a:t>know: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How does </a:t>
            </a:r>
            <a:r>
              <a:rPr lang="en-US" sz="2200" dirty="0" err="1">
                <a:solidFill>
                  <a:srgbClr val="0070C0"/>
                </a:solidFill>
              </a:rPr>
              <a:t>facebook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suggest friends?</a:t>
            </a:r>
            <a:endParaRPr lang="en-US" sz="2200" dirty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43" y="2590899"/>
            <a:ext cx="5431323" cy="387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85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shortest path between two 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19000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Finding shortest path</a:t>
            </a:r>
          </a:p>
          <a:p>
            <a:r>
              <a:rPr lang="en-US" sz="2400" dirty="0" smtClean="0"/>
              <a:t>Can you find the shortest path between node 1 and 5 in </a:t>
            </a:r>
            <a:r>
              <a:rPr lang="en-US" sz="2400" smtClean="0"/>
              <a:t>given graph?</a:t>
            </a:r>
            <a:endParaRPr lang="en-US" sz="2400" dirty="0"/>
          </a:p>
        </p:txBody>
      </p:sp>
      <p:pic>
        <p:nvPicPr>
          <p:cNvPr id="5122" name="Picture 2" descr="Image result for shortest path between citie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204" y="1930400"/>
            <a:ext cx="4579312" cy="359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48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Can you find the shortest path from Lahore to </a:t>
            </a:r>
            <a:r>
              <a:rPr lang="en-US" sz="2000" dirty="0" err="1" smtClean="0"/>
              <a:t>Gujrat</a:t>
            </a:r>
            <a:r>
              <a:rPr lang="en-US" sz="2000" dirty="0" smtClean="0"/>
              <a:t>?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4114" y="2090030"/>
            <a:ext cx="7818817" cy="42766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10483" y="5540991"/>
            <a:ext cx="805218" cy="8256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1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1255"/>
            <a:ext cx="8596668" cy="4540108"/>
          </a:xfrm>
        </p:spPr>
        <p:txBody>
          <a:bodyPr>
            <a:normAutofit/>
          </a:bodyPr>
          <a:lstStyle/>
          <a:p>
            <a:r>
              <a:rPr lang="en-US" sz="2000" dirty="0"/>
              <a:t>A function relates an input to an output.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is like a machine that has an input and an </a:t>
            </a:r>
            <a:r>
              <a:rPr lang="en-US" sz="2000" dirty="0" smtClean="0"/>
              <a:t>output. And </a:t>
            </a:r>
            <a:r>
              <a:rPr lang="en-US" sz="2000" dirty="0"/>
              <a:t>the output is related </a:t>
            </a:r>
            <a:r>
              <a:rPr lang="en-US" sz="2000" dirty="0" smtClean="0"/>
              <a:t>somehow </a:t>
            </a:r>
            <a:r>
              <a:rPr lang="en-US" sz="2000" dirty="0"/>
              <a:t>to the </a:t>
            </a:r>
            <a:r>
              <a:rPr lang="en-US" sz="2000" dirty="0" smtClean="0"/>
              <a:t>input</a:t>
            </a:r>
          </a:p>
          <a:p>
            <a:endParaRPr lang="en-US" sz="2000" dirty="0"/>
          </a:p>
          <a:p>
            <a:r>
              <a:rPr lang="en-US" sz="2000" dirty="0" smtClean="0"/>
              <a:t>Representation of a function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181563" y="6488668"/>
            <a:ext cx="54376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https://www.mathsisfun.com/sets/function.html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79" y="3853195"/>
            <a:ext cx="4456577" cy="176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function </a:t>
            </a:r>
            <a:r>
              <a:rPr lang="en-US" b="1" i="1" dirty="0"/>
              <a:t>relates</a:t>
            </a:r>
            <a:r>
              <a:rPr lang="en-US" dirty="0"/>
              <a:t> an input to an output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FF0000"/>
                </a:solidFill>
              </a:rPr>
              <a:t>How?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31" y="1767481"/>
            <a:ext cx="7928475" cy="497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function has a special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2197"/>
            <a:ext cx="8596668" cy="44991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It </a:t>
            </a:r>
            <a:r>
              <a:rPr lang="en-US" sz="2400" dirty="0"/>
              <a:t>must work for </a:t>
            </a:r>
            <a:r>
              <a:rPr lang="en-US" sz="2400" b="1" dirty="0"/>
              <a:t>every</a:t>
            </a:r>
            <a:r>
              <a:rPr lang="en-US" sz="2400" dirty="0"/>
              <a:t> possible input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And </a:t>
            </a:r>
            <a:r>
              <a:rPr lang="en-US" sz="2400" dirty="0"/>
              <a:t>it has only </a:t>
            </a:r>
            <a:r>
              <a:rPr lang="en-US" sz="2400" b="1" dirty="0"/>
              <a:t>one relationship</a:t>
            </a:r>
            <a:r>
              <a:rPr lang="en-US" sz="2400" dirty="0"/>
              <a:t> for each input value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5" y="2871179"/>
            <a:ext cx="9165326" cy="222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8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057" y="2790092"/>
            <a:ext cx="3531251" cy="5978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End of Lecture 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7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2271</TotalTime>
  <Words>1165</Words>
  <Application>Microsoft Office PowerPoint</Application>
  <PresentationFormat>Widescreen</PresentationFormat>
  <Paragraphs>194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Symbol</vt:lpstr>
      <vt:lpstr>Trebuchet MS</vt:lpstr>
      <vt:lpstr>Wingdings</vt:lpstr>
      <vt:lpstr>Wingdings 3</vt:lpstr>
      <vt:lpstr>Facet</vt:lpstr>
      <vt:lpstr>Bitmap Image</vt:lpstr>
      <vt:lpstr>Lecture 05</vt:lpstr>
      <vt:lpstr>What is mathematics?</vt:lpstr>
      <vt:lpstr>Role of Math in CS</vt:lpstr>
      <vt:lpstr>PowerPoint Presentation</vt:lpstr>
      <vt:lpstr>Mathematics applications</vt:lpstr>
      <vt:lpstr>Mathematics in Cryptography</vt:lpstr>
      <vt:lpstr>Activity-01</vt:lpstr>
      <vt:lpstr>Image Processing &amp; Computer Vision</vt:lpstr>
      <vt:lpstr>Robotics</vt:lpstr>
      <vt:lpstr>Epidemiology</vt:lpstr>
      <vt:lpstr>Math in CS Civil Engineering Apps</vt:lpstr>
      <vt:lpstr>Math in CS Mechanical Engineering apps</vt:lpstr>
      <vt:lpstr>Concept of Optimization</vt:lpstr>
      <vt:lpstr>Optimization</vt:lpstr>
      <vt:lpstr>PowerPoint Presentation</vt:lpstr>
      <vt:lpstr>Bridge Construction</vt:lpstr>
      <vt:lpstr>Airplane Wing Design</vt:lpstr>
      <vt:lpstr>Stock Market</vt:lpstr>
      <vt:lpstr>Warehouse placement</vt:lpstr>
      <vt:lpstr>Temperature control of a chemical reaction</vt:lpstr>
      <vt:lpstr>Space Shuttle / Suborbital Vehicle trajectory optimization </vt:lpstr>
      <vt:lpstr>Optimization   Continue…</vt:lpstr>
      <vt:lpstr>Introduction to Graph</vt:lpstr>
      <vt:lpstr>Graph</vt:lpstr>
      <vt:lpstr>Types of Graphs</vt:lpstr>
      <vt:lpstr>Representation of Graph in Computer</vt:lpstr>
      <vt:lpstr>Activity-02 Represent the following graph in form of adjacency matrix</vt:lpstr>
      <vt:lpstr>Activity-03 Draw a graph from each of the following adjacency matrices</vt:lpstr>
      <vt:lpstr>Working with Graphs</vt:lpstr>
      <vt:lpstr>Point to Ponder</vt:lpstr>
      <vt:lpstr>Finding shortest path between two nodes</vt:lpstr>
      <vt:lpstr>Activity-04</vt:lpstr>
      <vt:lpstr>Functions</vt:lpstr>
      <vt:lpstr>A function relates an input to an output. How?</vt:lpstr>
      <vt:lpstr>A function has a special rule</vt:lpstr>
      <vt:lpstr>End of Lecture 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II</dc:title>
  <dc:creator>iuser</dc:creator>
  <cp:lastModifiedBy>Lenovo</cp:lastModifiedBy>
  <cp:revision>621</cp:revision>
  <dcterms:created xsi:type="dcterms:W3CDTF">2018-08-31T12:28:43Z</dcterms:created>
  <dcterms:modified xsi:type="dcterms:W3CDTF">2021-11-04T17:41:19Z</dcterms:modified>
</cp:coreProperties>
</file>