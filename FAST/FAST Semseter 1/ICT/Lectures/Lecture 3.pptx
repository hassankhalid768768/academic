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8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C1FD1D-C56C-4261-838F-62460625C8B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LID4096"/>
        </a:p>
      </dgm:t>
    </dgm:pt>
    <dgm:pt modelId="{8478107D-59F1-41DD-AA1A-B0117193E6AA}">
      <dgm:prSet phldrT="[Text]"/>
      <dgm:spPr/>
      <dgm:t>
        <a:bodyPr/>
        <a:lstStyle/>
        <a:p>
          <a:pPr>
            <a:buFont typeface="Arial" charset="0"/>
            <a:buChar char="•"/>
          </a:pPr>
          <a:r>
            <a:rPr lang="en-US" b="1" dirty="0"/>
            <a:t>Arithmetic operations </a:t>
          </a:r>
          <a:endParaRPr lang="LID4096" dirty="0"/>
        </a:p>
      </dgm:t>
    </dgm:pt>
    <dgm:pt modelId="{D83B4D3C-893F-44C9-8CA9-03A8064E14E4}" type="parTrans" cxnId="{2A2E28C7-EE4C-4035-940E-26E27EC4AF82}">
      <dgm:prSet/>
      <dgm:spPr/>
      <dgm:t>
        <a:bodyPr/>
        <a:lstStyle/>
        <a:p>
          <a:endParaRPr lang="LID4096"/>
        </a:p>
      </dgm:t>
    </dgm:pt>
    <dgm:pt modelId="{F348E114-35E7-49B5-9138-50EC0D73A009}" type="sibTrans" cxnId="{2A2E28C7-EE4C-4035-940E-26E27EC4AF82}">
      <dgm:prSet/>
      <dgm:spPr/>
      <dgm:t>
        <a:bodyPr/>
        <a:lstStyle/>
        <a:p>
          <a:endParaRPr lang="LID4096"/>
        </a:p>
      </dgm:t>
    </dgm:pt>
    <dgm:pt modelId="{3A993BF7-9F02-48BD-91A3-84CDBBB32C8C}">
      <dgm:prSet phldrT="[Text]"/>
      <dgm:spPr/>
      <dgm:t>
        <a:bodyPr/>
        <a:lstStyle/>
        <a:p>
          <a:r>
            <a:rPr lang="en-US" dirty="0"/>
            <a:t>addition</a:t>
          </a:r>
          <a:endParaRPr lang="LID4096" dirty="0"/>
        </a:p>
      </dgm:t>
    </dgm:pt>
    <dgm:pt modelId="{7C774126-2950-4515-ADD4-F3F241063103}" type="parTrans" cxnId="{6CB72973-E14A-4DB1-84D5-83DB3749CE45}">
      <dgm:prSet/>
      <dgm:spPr/>
      <dgm:t>
        <a:bodyPr/>
        <a:lstStyle/>
        <a:p>
          <a:endParaRPr lang="LID4096"/>
        </a:p>
      </dgm:t>
    </dgm:pt>
    <dgm:pt modelId="{E28BE1D2-CCF1-43C8-B7EB-E81EFA373AC7}" type="sibTrans" cxnId="{6CB72973-E14A-4DB1-84D5-83DB3749CE45}">
      <dgm:prSet/>
      <dgm:spPr/>
      <dgm:t>
        <a:bodyPr/>
        <a:lstStyle/>
        <a:p>
          <a:endParaRPr lang="LID4096"/>
        </a:p>
      </dgm:t>
    </dgm:pt>
    <dgm:pt modelId="{B592A056-A47A-463E-9F40-53646C849210}">
      <dgm:prSet phldrT="[Text]"/>
      <dgm:spPr/>
      <dgm:t>
        <a:bodyPr/>
        <a:lstStyle/>
        <a:p>
          <a:r>
            <a:rPr lang="en-US" dirty="0"/>
            <a:t>Subtraction</a:t>
          </a:r>
          <a:endParaRPr lang="LID4096" dirty="0"/>
        </a:p>
      </dgm:t>
    </dgm:pt>
    <dgm:pt modelId="{21C67F4F-771B-491A-A326-8762C6068899}" type="parTrans" cxnId="{2E17C0AF-8D3E-42C5-9240-B07D20D17121}">
      <dgm:prSet/>
      <dgm:spPr/>
      <dgm:t>
        <a:bodyPr/>
        <a:lstStyle/>
        <a:p>
          <a:endParaRPr lang="LID4096"/>
        </a:p>
      </dgm:t>
    </dgm:pt>
    <dgm:pt modelId="{A6A50E90-5AC2-4BDA-80A2-1E6B2E0487A6}" type="sibTrans" cxnId="{2E17C0AF-8D3E-42C5-9240-B07D20D17121}">
      <dgm:prSet/>
      <dgm:spPr/>
      <dgm:t>
        <a:bodyPr/>
        <a:lstStyle/>
        <a:p>
          <a:endParaRPr lang="LID4096"/>
        </a:p>
      </dgm:t>
    </dgm:pt>
    <dgm:pt modelId="{84572EF3-070B-468D-8F19-166F248DA5F3}">
      <dgm:prSet phldrT="[Text]"/>
      <dgm:spPr/>
      <dgm:t>
        <a:bodyPr/>
        <a:lstStyle/>
        <a:p>
          <a:r>
            <a:rPr lang="en-US" dirty="0"/>
            <a:t>Logic operations</a:t>
          </a:r>
          <a:endParaRPr lang="LID4096" dirty="0"/>
        </a:p>
      </dgm:t>
    </dgm:pt>
    <dgm:pt modelId="{D928584D-4FEE-43A5-9F0E-0F0996A7553C}" type="parTrans" cxnId="{142A4B24-4A2A-405E-94BD-A67B064BD33C}">
      <dgm:prSet/>
      <dgm:spPr/>
      <dgm:t>
        <a:bodyPr/>
        <a:lstStyle/>
        <a:p>
          <a:endParaRPr lang="LID4096"/>
        </a:p>
      </dgm:t>
    </dgm:pt>
    <dgm:pt modelId="{1821DE57-D7CD-4877-9A64-23AC13EE88B0}" type="sibTrans" cxnId="{142A4B24-4A2A-405E-94BD-A67B064BD33C}">
      <dgm:prSet/>
      <dgm:spPr/>
      <dgm:t>
        <a:bodyPr/>
        <a:lstStyle/>
        <a:p>
          <a:endParaRPr lang="LID4096"/>
        </a:p>
      </dgm:t>
    </dgm:pt>
    <dgm:pt modelId="{2D0B41FA-9D24-4F78-88A6-53AB5D34FA4E}">
      <dgm:prSet phldrT="[Text]"/>
      <dgm:spPr/>
      <dgm:t>
        <a:bodyPr/>
        <a:lstStyle/>
        <a:p>
          <a:r>
            <a:rPr lang="en-US" dirty="0"/>
            <a:t>NOT</a:t>
          </a:r>
          <a:endParaRPr lang="LID4096" dirty="0"/>
        </a:p>
      </dgm:t>
    </dgm:pt>
    <dgm:pt modelId="{63DE20C5-59DF-4DAB-9841-534CE2B858A7}" type="parTrans" cxnId="{FA964501-3ED1-42B3-BB67-426AFF864AEF}">
      <dgm:prSet/>
      <dgm:spPr/>
      <dgm:t>
        <a:bodyPr/>
        <a:lstStyle/>
        <a:p>
          <a:endParaRPr lang="LID4096"/>
        </a:p>
      </dgm:t>
    </dgm:pt>
    <dgm:pt modelId="{70CCFAE8-A566-498A-994C-2178814404B7}" type="sibTrans" cxnId="{FA964501-3ED1-42B3-BB67-426AFF864AEF}">
      <dgm:prSet/>
      <dgm:spPr/>
      <dgm:t>
        <a:bodyPr/>
        <a:lstStyle/>
        <a:p>
          <a:endParaRPr lang="LID4096"/>
        </a:p>
      </dgm:t>
    </dgm:pt>
    <dgm:pt modelId="{1FA3AB91-E096-4DC3-9685-EE941721BC01}">
      <dgm:prSet phldrT="[Text]"/>
      <dgm:spPr/>
      <dgm:t>
        <a:bodyPr/>
        <a:lstStyle/>
        <a:p>
          <a:r>
            <a:rPr lang="en-US" dirty="0"/>
            <a:t>AND</a:t>
          </a:r>
          <a:endParaRPr lang="LID4096" dirty="0"/>
        </a:p>
      </dgm:t>
    </dgm:pt>
    <dgm:pt modelId="{49C5633F-F85A-40DB-A01E-EFA6396E4708}" type="parTrans" cxnId="{20890361-D864-4BFF-B264-75AFFBF6A0DC}">
      <dgm:prSet/>
      <dgm:spPr/>
      <dgm:t>
        <a:bodyPr/>
        <a:lstStyle/>
        <a:p>
          <a:endParaRPr lang="LID4096"/>
        </a:p>
      </dgm:t>
    </dgm:pt>
    <dgm:pt modelId="{D8349285-C579-4DCE-AA0B-6698C51358FE}" type="sibTrans" cxnId="{20890361-D864-4BFF-B264-75AFFBF6A0DC}">
      <dgm:prSet/>
      <dgm:spPr/>
      <dgm:t>
        <a:bodyPr/>
        <a:lstStyle/>
        <a:p>
          <a:endParaRPr lang="LID4096"/>
        </a:p>
      </dgm:t>
    </dgm:pt>
    <dgm:pt modelId="{6A3941F1-058C-45DF-94EC-D467B9BBED68}">
      <dgm:prSet phldrT="[Text]"/>
      <dgm:spPr/>
      <dgm:t>
        <a:bodyPr/>
        <a:lstStyle/>
        <a:p>
          <a:r>
            <a:rPr lang="en-US" dirty="0"/>
            <a:t>Multiplication</a:t>
          </a:r>
          <a:endParaRPr lang="LID4096" dirty="0"/>
        </a:p>
      </dgm:t>
    </dgm:pt>
    <dgm:pt modelId="{7111D934-F788-4B6C-B54C-E2F7A27E2FFF}" type="parTrans" cxnId="{02CE9B14-D7AE-427A-9021-E896CCCD2581}">
      <dgm:prSet/>
      <dgm:spPr/>
      <dgm:t>
        <a:bodyPr/>
        <a:lstStyle/>
        <a:p>
          <a:endParaRPr lang="LID4096"/>
        </a:p>
      </dgm:t>
    </dgm:pt>
    <dgm:pt modelId="{7135A207-4F24-4E91-8F47-7CAB9B291B45}" type="sibTrans" cxnId="{02CE9B14-D7AE-427A-9021-E896CCCD2581}">
      <dgm:prSet/>
      <dgm:spPr/>
      <dgm:t>
        <a:bodyPr/>
        <a:lstStyle/>
        <a:p>
          <a:endParaRPr lang="LID4096"/>
        </a:p>
      </dgm:t>
    </dgm:pt>
    <dgm:pt modelId="{B7E4888D-981A-4EBE-8275-2FDF12D4A8C7}">
      <dgm:prSet phldrT="[Text]"/>
      <dgm:spPr/>
      <dgm:t>
        <a:bodyPr/>
        <a:lstStyle/>
        <a:p>
          <a:r>
            <a:rPr lang="en-US" dirty="0"/>
            <a:t>division</a:t>
          </a:r>
          <a:endParaRPr lang="LID4096" dirty="0"/>
        </a:p>
      </dgm:t>
    </dgm:pt>
    <dgm:pt modelId="{4A6E2472-2A54-4EB5-9523-6FA281A5BC6C}" type="parTrans" cxnId="{CBB55945-C3FE-4B51-A20F-43A00A17C39B}">
      <dgm:prSet/>
      <dgm:spPr/>
      <dgm:t>
        <a:bodyPr/>
        <a:lstStyle/>
        <a:p>
          <a:endParaRPr lang="LID4096"/>
        </a:p>
      </dgm:t>
    </dgm:pt>
    <dgm:pt modelId="{B31F7BF4-3E4C-46A7-A6B3-4413EB013C11}" type="sibTrans" cxnId="{CBB55945-C3FE-4B51-A20F-43A00A17C39B}">
      <dgm:prSet/>
      <dgm:spPr/>
      <dgm:t>
        <a:bodyPr/>
        <a:lstStyle/>
        <a:p>
          <a:endParaRPr lang="LID4096"/>
        </a:p>
      </dgm:t>
    </dgm:pt>
    <dgm:pt modelId="{84E78E89-B831-418A-BA77-DB835C49DD3F}">
      <dgm:prSet phldrT="[Text]"/>
      <dgm:spPr/>
      <dgm:t>
        <a:bodyPr/>
        <a:lstStyle/>
        <a:p>
          <a:r>
            <a:rPr lang="en-US" dirty="0"/>
            <a:t>OR</a:t>
          </a:r>
          <a:endParaRPr lang="LID4096" dirty="0"/>
        </a:p>
      </dgm:t>
    </dgm:pt>
    <dgm:pt modelId="{C1651850-513D-4343-BCD1-5638944EED60}" type="parTrans" cxnId="{B522681E-5254-489A-AEC1-AFA07D124FD4}">
      <dgm:prSet/>
      <dgm:spPr/>
      <dgm:t>
        <a:bodyPr/>
        <a:lstStyle/>
        <a:p>
          <a:endParaRPr lang="LID4096"/>
        </a:p>
      </dgm:t>
    </dgm:pt>
    <dgm:pt modelId="{7E64FC3D-B85F-49EF-BA41-A0A130FECFCF}" type="sibTrans" cxnId="{B522681E-5254-489A-AEC1-AFA07D124FD4}">
      <dgm:prSet/>
      <dgm:spPr/>
      <dgm:t>
        <a:bodyPr/>
        <a:lstStyle/>
        <a:p>
          <a:endParaRPr lang="LID4096"/>
        </a:p>
      </dgm:t>
    </dgm:pt>
    <dgm:pt modelId="{A292A9BB-2055-4EC4-8052-D8C5969385BB}">
      <dgm:prSet phldrT="[Text]"/>
      <dgm:spPr/>
      <dgm:t>
        <a:bodyPr/>
        <a:lstStyle/>
        <a:p>
          <a:pPr>
            <a:buFont typeface="Wingdings" panose="05000000000000000000" pitchFamily="2" charset="2"/>
            <a:buChar char="Ø"/>
          </a:pPr>
          <a:r>
            <a:rPr lang="en-US" dirty="0"/>
            <a:t>comparisons of values such as </a:t>
          </a:r>
          <a:endParaRPr lang="LID4096" dirty="0"/>
        </a:p>
      </dgm:t>
    </dgm:pt>
    <dgm:pt modelId="{A238AF45-FFF4-41EF-82EA-3F8FDFF4FB8B}" type="parTrans" cxnId="{43B288B8-FE55-4216-9A05-53DA0FCAA904}">
      <dgm:prSet/>
      <dgm:spPr/>
      <dgm:t>
        <a:bodyPr/>
        <a:lstStyle/>
        <a:p>
          <a:endParaRPr lang="LID4096"/>
        </a:p>
      </dgm:t>
    </dgm:pt>
    <dgm:pt modelId="{4A7528BB-27FC-48F6-8045-326E2EBD9BD1}" type="sibTrans" cxnId="{43B288B8-FE55-4216-9A05-53DA0FCAA904}">
      <dgm:prSet/>
      <dgm:spPr/>
      <dgm:t>
        <a:bodyPr/>
        <a:lstStyle/>
        <a:p>
          <a:endParaRPr lang="LID4096"/>
        </a:p>
      </dgm:t>
    </dgm:pt>
    <dgm:pt modelId="{31348C00-51B4-486E-8B40-50840B9D0EEB}" type="pres">
      <dgm:prSet presAssocID="{33C1FD1D-C56C-4261-838F-62460625C8B7}" presName="Name0" presStyleCnt="0">
        <dgm:presLayoutVars>
          <dgm:dir/>
          <dgm:animLvl val="lvl"/>
          <dgm:resizeHandles val="exact"/>
        </dgm:presLayoutVars>
      </dgm:prSet>
      <dgm:spPr/>
      <dgm:t>
        <a:bodyPr/>
        <a:lstStyle/>
        <a:p>
          <a:endParaRPr lang="en-US"/>
        </a:p>
      </dgm:t>
    </dgm:pt>
    <dgm:pt modelId="{CA1F6FE2-43BB-4F53-BD1F-6634D45FA863}" type="pres">
      <dgm:prSet presAssocID="{8478107D-59F1-41DD-AA1A-B0117193E6AA}" presName="composite" presStyleCnt="0"/>
      <dgm:spPr/>
    </dgm:pt>
    <dgm:pt modelId="{74A30C28-5CE2-4DEA-ACDA-966A965DACAC}" type="pres">
      <dgm:prSet presAssocID="{8478107D-59F1-41DD-AA1A-B0117193E6AA}" presName="parTx" presStyleLbl="alignNode1" presStyleIdx="0" presStyleCnt="2">
        <dgm:presLayoutVars>
          <dgm:chMax val="0"/>
          <dgm:chPref val="0"/>
          <dgm:bulletEnabled val="1"/>
        </dgm:presLayoutVars>
      </dgm:prSet>
      <dgm:spPr/>
      <dgm:t>
        <a:bodyPr/>
        <a:lstStyle/>
        <a:p>
          <a:endParaRPr lang="en-US"/>
        </a:p>
      </dgm:t>
    </dgm:pt>
    <dgm:pt modelId="{5378F1D2-9F8C-4602-A104-E8A1E4A58A61}" type="pres">
      <dgm:prSet presAssocID="{8478107D-59F1-41DD-AA1A-B0117193E6AA}" presName="desTx" presStyleLbl="alignAccFollowNode1" presStyleIdx="0" presStyleCnt="2">
        <dgm:presLayoutVars>
          <dgm:bulletEnabled val="1"/>
        </dgm:presLayoutVars>
      </dgm:prSet>
      <dgm:spPr/>
      <dgm:t>
        <a:bodyPr/>
        <a:lstStyle/>
        <a:p>
          <a:endParaRPr lang="en-US"/>
        </a:p>
      </dgm:t>
    </dgm:pt>
    <dgm:pt modelId="{3CCD4704-9EB8-4FEA-BDCD-314E47847B23}" type="pres">
      <dgm:prSet presAssocID="{F348E114-35E7-49B5-9138-50EC0D73A009}" presName="space" presStyleCnt="0"/>
      <dgm:spPr/>
    </dgm:pt>
    <dgm:pt modelId="{B9564548-14D1-4ACE-B746-86BE8E5CBF72}" type="pres">
      <dgm:prSet presAssocID="{84572EF3-070B-468D-8F19-166F248DA5F3}" presName="composite" presStyleCnt="0"/>
      <dgm:spPr/>
    </dgm:pt>
    <dgm:pt modelId="{8F31ED52-97CA-490B-9426-4F21945D8809}" type="pres">
      <dgm:prSet presAssocID="{84572EF3-070B-468D-8F19-166F248DA5F3}" presName="parTx" presStyleLbl="alignNode1" presStyleIdx="1" presStyleCnt="2">
        <dgm:presLayoutVars>
          <dgm:chMax val="0"/>
          <dgm:chPref val="0"/>
          <dgm:bulletEnabled val="1"/>
        </dgm:presLayoutVars>
      </dgm:prSet>
      <dgm:spPr/>
      <dgm:t>
        <a:bodyPr/>
        <a:lstStyle/>
        <a:p>
          <a:endParaRPr lang="en-US"/>
        </a:p>
      </dgm:t>
    </dgm:pt>
    <dgm:pt modelId="{D50DCD35-A40C-49DD-BE29-C68242424897}" type="pres">
      <dgm:prSet presAssocID="{84572EF3-070B-468D-8F19-166F248DA5F3}" presName="desTx" presStyleLbl="alignAccFollowNode1" presStyleIdx="1" presStyleCnt="2">
        <dgm:presLayoutVars>
          <dgm:bulletEnabled val="1"/>
        </dgm:presLayoutVars>
      </dgm:prSet>
      <dgm:spPr/>
      <dgm:t>
        <a:bodyPr/>
        <a:lstStyle/>
        <a:p>
          <a:endParaRPr lang="en-US"/>
        </a:p>
      </dgm:t>
    </dgm:pt>
  </dgm:ptLst>
  <dgm:cxnLst>
    <dgm:cxn modelId="{A4B6A3DE-548C-455D-822C-689F4C8AA014}" type="presOf" srcId="{84572EF3-070B-468D-8F19-166F248DA5F3}" destId="{8F31ED52-97CA-490B-9426-4F21945D8809}" srcOrd="0" destOrd="0" presId="urn:microsoft.com/office/officeart/2005/8/layout/hList1"/>
    <dgm:cxn modelId="{99FA4D23-721B-4265-912C-4BAFD6910FEE}" type="presOf" srcId="{1FA3AB91-E096-4DC3-9685-EE941721BC01}" destId="{D50DCD35-A40C-49DD-BE29-C68242424897}" srcOrd="0" destOrd="2" presId="urn:microsoft.com/office/officeart/2005/8/layout/hList1"/>
    <dgm:cxn modelId="{942457B8-C069-48DD-9615-B23F5F9928F5}" type="presOf" srcId="{B7E4888D-981A-4EBE-8275-2FDF12D4A8C7}" destId="{5378F1D2-9F8C-4602-A104-E8A1E4A58A61}" srcOrd="0" destOrd="3" presId="urn:microsoft.com/office/officeart/2005/8/layout/hList1"/>
    <dgm:cxn modelId="{02CE9B14-D7AE-427A-9021-E896CCCD2581}" srcId="{8478107D-59F1-41DD-AA1A-B0117193E6AA}" destId="{6A3941F1-058C-45DF-94EC-D467B9BBED68}" srcOrd="2" destOrd="0" parTransId="{7111D934-F788-4B6C-B54C-E2F7A27E2FFF}" sibTransId="{7135A207-4F24-4E91-8F47-7CAB9B291B45}"/>
    <dgm:cxn modelId="{43B288B8-FE55-4216-9A05-53DA0FCAA904}" srcId="{84572EF3-070B-468D-8F19-166F248DA5F3}" destId="{A292A9BB-2055-4EC4-8052-D8C5969385BB}" srcOrd="0" destOrd="0" parTransId="{A238AF45-FFF4-41EF-82EA-3F8FDFF4FB8B}" sibTransId="{4A7528BB-27FC-48F6-8045-326E2EBD9BD1}"/>
    <dgm:cxn modelId="{F0C885E4-D0A0-4298-AFA0-7CD006F03C6F}" type="presOf" srcId="{8478107D-59F1-41DD-AA1A-B0117193E6AA}" destId="{74A30C28-5CE2-4DEA-ACDA-966A965DACAC}" srcOrd="0" destOrd="0" presId="urn:microsoft.com/office/officeart/2005/8/layout/hList1"/>
    <dgm:cxn modelId="{5AA316F7-2B59-4D19-B7AF-2746DEC85C0E}" type="presOf" srcId="{6A3941F1-058C-45DF-94EC-D467B9BBED68}" destId="{5378F1D2-9F8C-4602-A104-E8A1E4A58A61}" srcOrd="0" destOrd="2" presId="urn:microsoft.com/office/officeart/2005/8/layout/hList1"/>
    <dgm:cxn modelId="{56FDC6CF-D776-4690-9EF2-E0B88E3E45F7}" type="presOf" srcId="{2D0B41FA-9D24-4F78-88A6-53AB5D34FA4E}" destId="{D50DCD35-A40C-49DD-BE29-C68242424897}" srcOrd="0" destOrd="1" presId="urn:microsoft.com/office/officeart/2005/8/layout/hList1"/>
    <dgm:cxn modelId="{EF9BDC6A-CB24-4FF8-BDBE-B4381D9C32BB}" type="presOf" srcId="{B592A056-A47A-463E-9F40-53646C849210}" destId="{5378F1D2-9F8C-4602-A104-E8A1E4A58A61}" srcOrd="0" destOrd="1" presId="urn:microsoft.com/office/officeart/2005/8/layout/hList1"/>
    <dgm:cxn modelId="{2A2E28C7-EE4C-4035-940E-26E27EC4AF82}" srcId="{33C1FD1D-C56C-4261-838F-62460625C8B7}" destId="{8478107D-59F1-41DD-AA1A-B0117193E6AA}" srcOrd="0" destOrd="0" parTransId="{D83B4D3C-893F-44C9-8CA9-03A8064E14E4}" sibTransId="{F348E114-35E7-49B5-9138-50EC0D73A009}"/>
    <dgm:cxn modelId="{FA964501-3ED1-42B3-BB67-426AFF864AEF}" srcId="{84572EF3-070B-468D-8F19-166F248DA5F3}" destId="{2D0B41FA-9D24-4F78-88A6-53AB5D34FA4E}" srcOrd="1" destOrd="0" parTransId="{63DE20C5-59DF-4DAB-9841-534CE2B858A7}" sibTransId="{70CCFAE8-A566-498A-994C-2178814404B7}"/>
    <dgm:cxn modelId="{B522681E-5254-489A-AEC1-AFA07D124FD4}" srcId="{84572EF3-070B-468D-8F19-166F248DA5F3}" destId="{84E78E89-B831-418A-BA77-DB835C49DD3F}" srcOrd="3" destOrd="0" parTransId="{C1651850-513D-4343-BCD1-5638944EED60}" sibTransId="{7E64FC3D-B85F-49EF-BA41-A0A130FECFCF}"/>
    <dgm:cxn modelId="{CBB55945-C3FE-4B51-A20F-43A00A17C39B}" srcId="{8478107D-59F1-41DD-AA1A-B0117193E6AA}" destId="{B7E4888D-981A-4EBE-8275-2FDF12D4A8C7}" srcOrd="3" destOrd="0" parTransId="{4A6E2472-2A54-4EB5-9523-6FA281A5BC6C}" sibTransId="{B31F7BF4-3E4C-46A7-A6B3-4413EB013C11}"/>
    <dgm:cxn modelId="{142A4B24-4A2A-405E-94BD-A67B064BD33C}" srcId="{33C1FD1D-C56C-4261-838F-62460625C8B7}" destId="{84572EF3-070B-468D-8F19-166F248DA5F3}" srcOrd="1" destOrd="0" parTransId="{D928584D-4FEE-43A5-9F0E-0F0996A7553C}" sibTransId="{1821DE57-D7CD-4877-9A64-23AC13EE88B0}"/>
    <dgm:cxn modelId="{1150BA82-3661-4C41-AE11-FC01D37B5059}" type="presOf" srcId="{A292A9BB-2055-4EC4-8052-D8C5969385BB}" destId="{D50DCD35-A40C-49DD-BE29-C68242424897}" srcOrd="0" destOrd="0" presId="urn:microsoft.com/office/officeart/2005/8/layout/hList1"/>
    <dgm:cxn modelId="{085B3201-E0DE-48CB-A361-66B264CA89CB}" type="presOf" srcId="{33C1FD1D-C56C-4261-838F-62460625C8B7}" destId="{31348C00-51B4-486E-8B40-50840B9D0EEB}" srcOrd="0" destOrd="0" presId="urn:microsoft.com/office/officeart/2005/8/layout/hList1"/>
    <dgm:cxn modelId="{6CB72973-E14A-4DB1-84D5-83DB3749CE45}" srcId="{8478107D-59F1-41DD-AA1A-B0117193E6AA}" destId="{3A993BF7-9F02-48BD-91A3-84CDBBB32C8C}" srcOrd="0" destOrd="0" parTransId="{7C774126-2950-4515-ADD4-F3F241063103}" sibTransId="{E28BE1D2-CCF1-43C8-B7EB-E81EFA373AC7}"/>
    <dgm:cxn modelId="{EB420139-6AF3-4220-A8DD-C8DA5D3395A2}" type="presOf" srcId="{3A993BF7-9F02-48BD-91A3-84CDBBB32C8C}" destId="{5378F1D2-9F8C-4602-A104-E8A1E4A58A61}" srcOrd="0" destOrd="0" presId="urn:microsoft.com/office/officeart/2005/8/layout/hList1"/>
    <dgm:cxn modelId="{2E17C0AF-8D3E-42C5-9240-B07D20D17121}" srcId="{8478107D-59F1-41DD-AA1A-B0117193E6AA}" destId="{B592A056-A47A-463E-9F40-53646C849210}" srcOrd="1" destOrd="0" parTransId="{21C67F4F-771B-491A-A326-8762C6068899}" sibTransId="{A6A50E90-5AC2-4BDA-80A2-1E6B2E0487A6}"/>
    <dgm:cxn modelId="{2F41D38F-FDA7-4781-AB8C-1F97C37767F4}" type="presOf" srcId="{84E78E89-B831-418A-BA77-DB835C49DD3F}" destId="{D50DCD35-A40C-49DD-BE29-C68242424897}" srcOrd="0" destOrd="3" presId="urn:microsoft.com/office/officeart/2005/8/layout/hList1"/>
    <dgm:cxn modelId="{20890361-D864-4BFF-B264-75AFFBF6A0DC}" srcId="{84572EF3-070B-468D-8F19-166F248DA5F3}" destId="{1FA3AB91-E096-4DC3-9685-EE941721BC01}" srcOrd="2" destOrd="0" parTransId="{49C5633F-F85A-40DB-A01E-EFA6396E4708}" sibTransId="{D8349285-C579-4DCE-AA0B-6698C51358FE}"/>
    <dgm:cxn modelId="{62BD3BC5-DB60-4078-B0EB-2FB2BA584537}" type="presParOf" srcId="{31348C00-51B4-486E-8B40-50840B9D0EEB}" destId="{CA1F6FE2-43BB-4F53-BD1F-6634D45FA863}" srcOrd="0" destOrd="0" presId="urn:microsoft.com/office/officeart/2005/8/layout/hList1"/>
    <dgm:cxn modelId="{4A7C738D-1FBC-4EA6-9607-F9B66B972037}" type="presParOf" srcId="{CA1F6FE2-43BB-4F53-BD1F-6634D45FA863}" destId="{74A30C28-5CE2-4DEA-ACDA-966A965DACAC}" srcOrd="0" destOrd="0" presId="urn:microsoft.com/office/officeart/2005/8/layout/hList1"/>
    <dgm:cxn modelId="{194DF813-8077-408C-8607-6A9BDE063745}" type="presParOf" srcId="{CA1F6FE2-43BB-4F53-BD1F-6634D45FA863}" destId="{5378F1D2-9F8C-4602-A104-E8A1E4A58A61}" srcOrd="1" destOrd="0" presId="urn:microsoft.com/office/officeart/2005/8/layout/hList1"/>
    <dgm:cxn modelId="{DAC9B128-3205-4825-983D-FCE547D3DC6C}" type="presParOf" srcId="{31348C00-51B4-486E-8B40-50840B9D0EEB}" destId="{3CCD4704-9EB8-4FEA-BDCD-314E47847B23}" srcOrd="1" destOrd="0" presId="urn:microsoft.com/office/officeart/2005/8/layout/hList1"/>
    <dgm:cxn modelId="{4F8633FC-3ABB-4AC1-851E-FD8B2799EBB8}" type="presParOf" srcId="{31348C00-51B4-486E-8B40-50840B9D0EEB}" destId="{B9564548-14D1-4ACE-B746-86BE8E5CBF72}" srcOrd="2" destOrd="0" presId="urn:microsoft.com/office/officeart/2005/8/layout/hList1"/>
    <dgm:cxn modelId="{40CAF76B-7E1D-4307-8D8F-6DDE013D566E}" type="presParOf" srcId="{B9564548-14D1-4ACE-B746-86BE8E5CBF72}" destId="{8F31ED52-97CA-490B-9426-4F21945D8809}" srcOrd="0" destOrd="0" presId="urn:microsoft.com/office/officeart/2005/8/layout/hList1"/>
    <dgm:cxn modelId="{8599D643-EB5D-481F-B4B2-E7374BAE94F1}" type="presParOf" srcId="{B9564548-14D1-4ACE-B746-86BE8E5CBF72}" destId="{D50DCD35-A40C-49DD-BE29-C6824242489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30C28-5CE2-4DEA-ACDA-966A965DACAC}">
      <dsp:nvSpPr>
        <dsp:cNvPr id="0" name=""/>
        <dsp:cNvSpPr/>
      </dsp:nvSpPr>
      <dsp:spPr>
        <a:xfrm>
          <a:off x="40" y="43893"/>
          <a:ext cx="3871004"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buFont typeface="Arial" charset="0"/>
            <a:buChar char="•"/>
          </a:pPr>
          <a:r>
            <a:rPr lang="en-US" sz="1800" b="1" kern="1200" dirty="0"/>
            <a:t>Arithmetic operations </a:t>
          </a:r>
          <a:endParaRPr lang="LID4096" sz="1800" kern="1200" dirty="0"/>
        </a:p>
      </dsp:txBody>
      <dsp:txXfrm>
        <a:off x="40" y="43893"/>
        <a:ext cx="3871004" cy="518400"/>
      </dsp:txXfrm>
    </dsp:sp>
    <dsp:sp modelId="{5378F1D2-9F8C-4602-A104-E8A1E4A58A61}">
      <dsp:nvSpPr>
        <dsp:cNvPr id="0" name=""/>
        <dsp:cNvSpPr/>
      </dsp:nvSpPr>
      <dsp:spPr>
        <a:xfrm>
          <a:off x="40" y="562293"/>
          <a:ext cx="3871004" cy="1383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addition</a:t>
          </a:r>
          <a:endParaRPr lang="LID4096" sz="1800" kern="1200" dirty="0"/>
        </a:p>
        <a:p>
          <a:pPr marL="171450" lvl="1" indent="-171450" algn="l" defTabSz="800100">
            <a:lnSpc>
              <a:spcPct val="90000"/>
            </a:lnSpc>
            <a:spcBef>
              <a:spcPct val="0"/>
            </a:spcBef>
            <a:spcAft>
              <a:spcPct val="15000"/>
            </a:spcAft>
            <a:buChar char="••"/>
          </a:pPr>
          <a:r>
            <a:rPr lang="en-US" sz="1800" kern="1200" dirty="0"/>
            <a:t>Subtraction</a:t>
          </a:r>
          <a:endParaRPr lang="LID4096" sz="1800" kern="1200" dirty="0"/>
        </a:p>
        <a:p>
          <a:pPr marL="171450" lvl="1" indent="-171450" algn="l" defTabSz="800100">
            <a:lnSpc>
              <a:spcPct val="90000"/>
            </a:lnSpc>
            <a:spcBef>
              <a:spcPct val="0"/>
            </a:spcBef>
            <a:spcAft>
              <a:spcPct val="15000"/>
            </a:spcAft>
            <a:buChar char="••"/>
          </a:pPr>
          <a:r>
            <a:rPr lang="en-US" sz="1800" kern="1200" dirty="0"/>
            <a:t>Multiplication</a:t>
          </a:r>
          <a:endParaRPr lang="LID4096" sz="1800" kern="1200" dirty="0"/>
        </a:p>
        <a:p>
          <a:pPr marL="171450" lvl="1" indent="-171450" algn="l" defTabSz="800100">
            <a:lnSpc>
              <a:spcPct val="90000"/>
            </a:lnSpc>
            <a:spcBef>
              <a:spcPct val="0"/>
            </a:spcBef>
            <a:spcAft>
              <a:spcPct val="15000"/>
            </a:spcAft>
            <a:buChar char="••"/>
          </a:pPr>
          <a:r>
            <a:rPr lang="en-US" sz="1800" kern="1200" dirty="0"/>
            <a:t>division</a:t>
          </a:r>
          <a:endParaRPr lang="LID4096" sz="1800" kern="1200" dirty="0"/>
        </a:p>
      </dsp:txBody>
      <dsp:txXfrm>
        <a:off x="40" y="562293"/>
        <a:ext cx="3871004" cy="1383480"/>
      </dsp:txXfrm>
    </dsp:sp>
    <dsp:sp modelId="{8F31ED52-97CA-490B-9426-4F21945D8809}">
      <dsp:nvSpPr>
        <dsp:cNvPr id="0" name=""/>
        <dsp:cNvSpPr/>
      </dsp:nvSpPr>
      <dsp:spPr>
        <a:xfrm>
          <a:off x="4412985" y="43893"/>
          <a:ext cx="3871004"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a:t>Logic operations</a:t>
          </a:r>
          <a:endParaRPr lang="LID4096" sz="1800" kern="1200" dirty="0"/>
        </a:p>
      </dsp:txBody>
      <dsp:txXfrm>
        <a:off x="4412985" y="43893"/>
        <a:ext cx="3871004" cy="518400"/>
      </dsp:txXfrm>
    </dsp:sp>
    <dsp:sp modelId="{D50DCD35-A40C-49DD-BE29-C68242424897}">
      <dsp:nvSpPr>
        <dsp:cNvPr id="0" name=""/>
        <dsp:cNvSpPr/>
      </dsp:nvSpPr>
      <dsp:spPr>
        <a:xfrm>
          <a:off x="4412985" y="562293"/>
          <a:ext cx="3871004" cy="1383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Wingdings" panose="05000000000000000000" pitchFamily="2" charset="2"/>
            <a:buChar char="••"/>
          </a:pPr>
          <a:r>
            <a:rPr lang="en-US" sz="1800" kern="1200" dirty="0"/>
            <a:t>comparisons of values such as </a:t>
          </a:r>
          <a:endParaRPr lang="LID4096" sz="1800" kern="1200" dirty="0"/>
        </a:p>
        <a:p>
          <a:pPr marL="171450" lvl="1" indent="-171450" algn="l" defTabSz="800100">
            <a:lnSpc>
              <a:spcPct val="90000"/>
            </a:lnSpc>
            <a:spcBef>
              <a:spcPct val="0"/>
            </a:spcBef>
            <a:spcAft>
              <a:spcPct val="15000"/>
            </a:spcAft>
            <a:buChar char="••"/>
          </a:pPr>
          <a:r>
            <a:rPr lang="en-US" sz="1800" kern="1200" dirty="0"/>
            <a:t>NOT</a:t>
          </a:r>
          <a:endParaRPr lang="LID4096" sz="1800" kern="1200" dirty="0"/>
        </a:p>
        <a:p>
          <a:pPr marL="171450" lvl="1" indent="-171450" algn="l" defTabSz="800100">
            <a:lnSpc>
              <a:spcPct val="90000"/>
            </a:lnSpc>
            <a:spcBef>
              <a:spcPct val="0"/>
            </a:spcBef>
            <a:spcAft>
              <a:spcPct val="15000"/>
            </a:spcAft>
            <a:buChar char="••"/>
          </a:pPr>
          <a:r>
            <a:rPr lang="en-US" sz="1800" kern="1200" dirty="0"/>
            <a:t>AND</a:t>
          </a:r>
          <a:endParaRPr lang="LID4096" sz="1800" kern="1200" dirty="0"/>
        </a:p>
        <a:p>
          <a:pPr marL="171450" lvl="1" indent="-171450" algn="l" defTabSz="800100">
            <a:lnSpc>
              <a:spcPct val="90000"/>
            </a:lnSpc>
            <a:spcBef>
              <a:spcPct val="0"/>
            </a:spcBef>
            <a:spcAft>
              <a:spcPct val="15000"/>
            </a:spcAft>
            <a:buChar char="••"/>
          </a:pPr>
          <a:r>
            <a:rPr lang="en-US" sz="1800" kern="1200" dirty="0"/>
            <a:t>OR</a:t>
          </a:r>
          <a:endParaRPr lang="LID4096" sz="1800" kern="1200" dirty="0"/>
        </a:p>
      </dsp:txBody>
      <dsp:txXfrm>
        <a:off x="4412985" y="562293"/>
        <a:ext cx="3871004" cy="13834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449F76-7A27-4126-B29E-C768171EF145}" type="datetimeFigureOut">
              <a:rPr lang="en-GB" smtClean="0"/>
              <a:t>04/09/2019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AF86E-6B3C-4A9F-AB86-EC00E7A56762}" type="slidenum">
              <a:rPr lang="en-GB" smtClean="0"/>
              <a:t>‹#›</a:t>
            </a:fld>
            <a:endParaRPr lang="en-GB"/>
          </a:p>
        </p:txBody>
      </p:sp>
    </p:spTree>
    <p:extLst>
      <p:ext uri="{BB962C8B-B14F-4D97-AF65-F5344CB8AC3E}">
        <p14:creationId xmlns:p14="http://schemas.microsoft.com/office/powerpoint/2010/main" val="3924671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Computer systems have four parts—Hardware—Software—Data--User</a:t>
            </a:r>
          </a:p>
          <a:p>
            <a:r>
              <a:rPr lang="en-US" altLang="en-US" b="1" dirty="0"/>
              <a:t>Hardware-</a:t>
            </a:r>
            <a:r>
              <a:rPr lang="en-US" altLang="en-US" dirty="0"/>
              <a:t>--Mechanical devices in the computer---Anything that can be touched</a:t>
            </a:r>
          </a:p>
          <a:p>
            <a:r>
              <a:rPr lang="en-US" altLang="en-US" b="1" dirty="0"/>
              <a:t>Software-</a:t>
            </a:r>
            <a:r>
              <a:rPr lang="en-US" altLang="en-US" dirty="0"/>
              <a:t>--Tell the computer what to do---Also called a program---Thousands of programs exist</a:t>
            </a:r>
          </a:p>
          <a:p>
            <a:r>
              <a:rPr lang="en-US" altLang="en-US" b="1" dirty="0"/>
              <a:t>Data-</a:t>
            </a:r>
            <a:r>
              <a:rPr lang="en-US" altLang="en-US" dirty="0"/>
              <a:t>--Pieces of information---Computer organize and present data</a:t>
            </a:r>
          </a:p>
          <a:p>
            <a:r>
              <a:rPr lang="en-US" altLang="en-US" b="1" dirty="0"/>
              <a:t>Users-</a:t>
            </a:r>
            <a:r>
              <a:rPr lang="en-US" altLang="en-US" dirty="0"/>
              <a:t>--People operating the computer---Most important part---Tell the computer what to do</a:t>
            </a:r>
          </a:p>
          <a:p>
            <a:endParaRPr lang="en-US" altLang="en-US" dirty="0"/>
          </a:p>
        </p:txBody>
      </p:sp>
      <p:sp>
        <p:nvSpPr>
          <p:cNvPr id="4" name="Slide Number Placeholder 3"/>
          <p:cNvSpPr>
            <a:spLocks noGrp="1"/>
          </p:cNvSpPr>
          <p:nvPr>
            <p:ph type="sldNum" sz="quarter" idx="5"/>
          </p:nvPr>
        </p:nvSpPr>
        <p:spPr/>
        <p:txBody>
          <a:bodyPr/>
          <a:lstStyle/>
          <a:p>
            <a:fld id="{104C861A-8677-4586-8970-1BBC32ECCDB8}" type="slidenum">
              <a:rPr lang="LID4096" smtClean="0"/>
              <a:t>3</a:t>
            </a:fld>
            <a:endParaRPr lang="LID4096"/>
          </a:p>
        </p:txBody>
      </p:sp>
    </p:spTree>
    <p:extLst>
      <p:ext uri="{BB962C8B-B14F-4D97-AF65-F5344CB8AC3E}">
        <p14:creationId xmlns:p14="http://schemas.microsoft.com/office/powerpoint/2010/main" val="3151292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Computers use the same basic hardware</a:t>
            </a:r>
          </a:p>
          <a:p>
            <a:r>
              <a:rPr lang="en-US" altLang="en-US" dirty="0"/>
              <a:t>Hardware categorized into four types</a:t>
            </a:r>
          </a:p>
          <a:p>
            <a:r>
              <a:rPr lang="en-US" dirty="0"/>
              <a:t> </a:t>
            </a:r>
          </a:p>
          <a:p>
            <a:pPr fontAlgn="base"/>
            <a:r>
              <a:rPr lang="en-US" sz="1200" b="0" i="1" kern="1200" dirty="0">
                <a:solidFill>
                  <a:schemeClr val="tx1"/>
                </a:solidFill>
                <a:effectLst/>
                <a:latin typeface="+mn-lt"/>
                <a:ea typeface="+mn-ea"/>
                <a:cs typeface="+mn-cs"/>
              </a:rPr>
              <a:t>CRT (cathode ray tube) monitors</a:t>
            </a:r>
          </a:p>
          <a:p>
            <a:r>
              <a:rPr lang="en-US" sz="1200" b="0" i="1" kern="1200" dirty="0">
                <a:solidFill>
                  <a:schemeClr val="tx1"/>
                </a:solidFill>
                <a:effectLst/>
                <a:latin typeface="+mn-lt"/>
                <a:ea typeface="+mn-ea"/>
                <a:cs typeface="+mn-cs"/>
              </a:rPr>
              <a:t>LCD (liquid crystal display) monitors</a:t>
            </a:r>
          </a:p>
          <a:p>
            <a:pPr fontAlgn="base"/>
            <a:r>
              <a:rPr lang="en-US" sz="1200" b="0" i="1" kern="1200" dirty="0">
                <a:solidFill>
                  <a:schemeClr val="tx1"/>
                </a:solidFill>
                <a:effectLst/>
                <a:latin typeface="+mn-lt"/>
                <a:ea typeface="+mn-ea"/>
                <a:cs typeface="+mn-cs"/>
              </a:rPr>
              <a:t>LED (light-emitting diodes) monitors</a:t>
            </a:r>
          </a:p>
          <a:p>
            <a:r>
              <a:rPr lang="en-US" dirty="0"/>
              <a:t/>
            </a:r>
            <a:br>
              <a:rPr lang="en-US" dirty="0"/>
            </a:br>
            <a:r>
              <a:rPr lang="en-US" dirty="0"/>
              <a:t/>
            </a:r>
            <a:br>
              <a:rPr lang="en-US" dirty="0"/>
            </a:br>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7</a:t>
            </a:fld>
            <a:endParaRPr lang="LID4096"/>
          </a:p>
        </p:txBody>
      </p:sp>
    </p:spTree>
    <p:extLst>
      <p:ext uri="{BB962C8B-B14F-4D97-AF65-F5344CB8AC3E}">
        <p14:creationId xmlns:p14="http://schemas.microsoft.com/office/powerpoint/2010/main" val="2738176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8</a:t>
            </a:fld>
            <a:endParaRPr lang="LID4096"/>
          </a:p>
        </p:txBody>
      </p:sp>
    </p:spTree>
    <p:extLst>
      <p:ext uri="{BB962C8B-B14F-4D97-AF65-F5344CB8AC3E}">
        <p14:creationId xmlns:p14="http://schemas.microsoft.com/office/powerpoint/2010/main" val="708819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motherboard is one of the most essential parts of a computer system. It holds together many of the crucial components of a computer, including the central processing unit (CPU), memory and connectors for input and output device</a:t>
            </a:r>
            <a:endParaRPr lang="LID4096" dirty="0"/>
          </a:p>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9</a:t>
            </a:fld>
            <a:endParaRPr lang="LID4096"/>
          </a:p>
        </p:txBody>
      </p:sp>
    </p:spTree>
    <p:extLst>
      <p:ext uri="{BB962C8B-B14F-4D97-AF65-F5344CB8AC3E}">
        <p14:creationId xmlns:p14="http://schemas.microsoft.com/office/powerpoint/2010/main" val="2991391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ALU—Calculations </a:t>
            </a:r>
            <a:r>
              <a:rPr lang="en-US" altLang="en-US" dirty="0" err="1"/>
              <a:t>occure</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Control Unit----manages and coordinates the operations of all other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Cache---, which serves as high-speed memory where instructions can be copied to and retrieved</a:t>
            </a:r>
            <a:endParaRPr lang="en-US" altLang="en-US" dirty="0"/>
          </a:p>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10</a:t>
            </a:fld>
            <a:endParaRPr lang="LID4096"/>
          </a:p>
        </p:txBody>
      </p:sp>
    </p:spTree>
    <p:extLst>
      <p:ext uri="{BB962C8B-B14F-4D97-AF65-F5344CB8AC3E}">
        <p14:creationId xmlns:p14="http://schemas.microsoft.com/office/powerpoint/2010/main" val="2735069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represents the </a:t>
            </a:r>
            <a:r>
              <a:rPr lang="en-US" sz="1200" b="1" i="0" kern="1200" dirty="0">
                <a:solidFill>
                  <a:schemeClr val="tx1"/>
                </a:solidFill>
                <a:effectLst/>
                <a:latin typeface="+mn-lt"/>
                <a:ea typeface="+mn-ea"/>
                <a:cs typeface="+mn-cs"/>
              </a:rPr>
              <a:t>fundamental</a:t>
            </a:r>
            <a:r>
              <a:rPr lang="en-US" sz="1200" b="0" i="0" kern="1200" dirty="0">
                <a:solidFill>
                  <a:schemeClr val="tx1"/>
                </a:solidFill>
                <a:effectLst/>
                <a:latin typeface="+mn-lt"/>
                <a:ea typeface="+mn-ea"/>
                <a:cs typeface="+mn-cs"/>
              </a:rPr>
              <a:t> building block of the </a:t>
            </a:r>
            <a:r>
              <a:rPr lang="en-US" sz="1200" b="1" i="0" kern="1200" dirty="0">
                <a:solidFill>
                  <a:schemeClr val="tx1"/>
                </a:solidFill>
                <a:effectLst/>
                <a:latin typeface="+mn-lt"/>
                <a:ea typeface="+mn-ea"/>
                <a:cs typeface="+mn-cs"/>
              </a:rPr>
              <a:t>central processing unit (CPU)</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Modern CPUs contain very powerful and complex ALUs. In addition modern CPUs contain a control unit (CU).</a:t>
            </a:r>
          </a:p>
          <a:p>
            <a:r>
              <a:rPr lang="en-US" sz="1200" b="0" i="0" kern="1200" dirty="0">
                <a:solidFill>
                  <a:schemeClr val="tx1"/>
                </a:solidFill>
                <a:effectLst/>
                <a:latin typeface="+mn-lt"/>
                <a:ea typeface="+mn-ea"/>
                <a:cs typeface="+mn-cs"/>
              </a:rPr>
              <a:t>Most of the operations of a CPU are performed by one or more ALUs, which load data from input registers. </a:t>
            </a:r>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register</a:t>
            </a:r>
            <a:r>
              <a:rPr lang="en-US" sz="1200" b="0" i="0" kern="1200" dirty="0">
                <a:solidFill>
                  <a:schemeClr val="tx1"/>
                </a:solidFill>
                <a:effectLst/>
                <a:latin typeface="+mn-lt"/>
                <a:ea typeface="+mn-ea"/>
                <a:cs typeface="+mn-cs"/>
              </a:rPr>
              <a:t> is a small amount of storage available as part of a CPU. </a:t>
            </a:r>
          </a:p>
          <a:p>
            <a:r>
              <a:rPr lang="en-US" sz="1200" b="0" i="0" kern="1200" dirty="0">
                <a:solidFill>
                  <a:schemeClr val="tx1"/>
                </a:solidFill>
                <a:effectLst/>
                <a:latin typeface="+mn-lt"/>
                <a:ea typeface="+mn-ea"/>
                <a:cs typeface="+mn-cs"/>
              </a:rPr>
              <a:t>The control unit tells the ALU what operation to perform on that data, and the ALU stores the result in an output register. </a:t>
            </a:r>
          </a:p>
        </p:txBody>
      </p:sp>
      <p:sp>
        <p:nvSpPr>
          <p:cNvPr id="4" name="Slide Number Placeholder 3"/>
          <p:cNvSpPr>
            <a:spLocks noGrp="1"/>
          </p:cNvSpPr>
          <p:nvPr>
            <p:ph type="sldNum" sz="quarter" idx="5"/>
          </p:nvPr>
        </p:nvSpPr>
        <p:spPr/>
        <p:txBody>
          <a:bodyPr/>
          <a:lstStyle/>
          <a:p>
            <a:fld id="{104C861A-8677-4586-8970-1BBC32ECCDB8}" type="slidenum">
              <a:rPr lang="LID4096" smtClean="0"/>
              <a:t>11</a:t>
            </a:fld>
            <a:endParaRPr lang="LID4096"/>
          </a:p>
        </p:txBody>
      </p:sp>
    </p:spTree>
    <p:extLst>
      <p:ext uri="{BB962C8B-B14F-4D97-AF65-F5344CB8AC3E}">
        <p14:creationId xmlns:p14="http://schemas.microsoft.com/office/powerpoint/2010/main" val="3012791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ALU performs basic arithmetic and logic operations</a:t>
            </a:r>
          </a:p>
          <a:p>
            <a:r>
              <a:rPr lang="en-US" sz="1200" b="0" i="0" kern="1200" dirty="0">
                <a:solidFill>
                  <a:schemeClr val="tx1"/>
                </a:solidFill>
                <a:effectLst/>
                <a:latin typeface="+mn-lt"/>
                <a:ea typeface="+mn-ea"/>
                <a:cs typeface="+mn-cs"/>
              </a:rPr>
              <a:t>All information in a computer is stored and manipulated in the form of </a:t>
            </a:r>
            <a:r>
              <a:rPr lang="en-US" sz="1200" b="1" i="0" kern="1200" dirty="0">
                <a:solidFill>
                  <a:schemeClr val="tx1"/>
                </a:solidFill>
                <a:effectLst/>
                <a:latin typeface="+mn-lt"/>
                <a:ea typeface="+mn-ea"/>
                <a:cs typeface="+mn-cs"/>
              </a:rPr>
              <a:t>binary numbers</a:t>
            </a:r>
            <a:r>
              <a:rPr lang="en-US" sz="1200" b="0" i="0" kern="1200" dirty="0">
                <a:solidFill>
                  <a:schemeClr val="tx1"/>
                </a:solidFill>
                <a:effectLst/>
                <a:latin typeface="+mn-lt"/>
                <a:ea typeface="+mn-ea"/>
                <a:cs typeface="+mn-cs"/>
              </a:rPr>
              <a:t>, i.e. 0 and 1.</a:t>
            </a:r>
          </a:p>
          <a:p>
            <a:r>
              <a:rPr lang="en-US" sz="1200" b="1" i="0" kern="1200" dirty="0">
                <a:solidFill>
                  <a:schemeClr val="tx1"/>
                </a:solidFill>
                <a:effectLst/>
                <a:latin typeface="+mn-lt"/>
                <a:ea typeface="+mn-ea"/>
                <a:cs typeface="+mn-cs"/>
              </a:rPr>
              <a:t>Transistor</a:t>
            </a:r>
            <a:r>
              <a:rPr lang="en-US" sz="1200" b="0" i="0" kern="1200" dirty="0">
                <a:solidFill>
                  <a:schemeClr val="tx1"/>
                </a:solidFill>
                <a:effectLst/>
                <a:latin typeface="+mn-lt"/>
                <a:ea typeface="+mn-ea"/>
                <a:cs typeface="+mn-cs"/>
              </a:rPr>
              <a:t> switches are used to manipulate binary numbers since there are only two possible states of a switch: open or closed. An open transistor, through which there is no current, represents a 0. A closed transistor, through which there is a current, represents a 1.</a:t>
            </a:r>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12</a:t>
            </a:fld>
            <a:endParaRPr lang="LID4096"/>
          </a:p>
        </p:txBody>
      </p:sp>
    </p:spTree>
    <p:extLst>
      <p:ext uri="{BB962C8B-B14F-4D97-AF65-F5344CB8AC3E}">
        <p14:creationId xmlns:p14="http://schemas.microsoft.com/office/powerpoint/2010/main" val="3301198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Times" panose="02020603050405020304" pitchFamily="18" charset="0"/>
                <a:cs typeface="Times" panose="02020603050405020304" pitchFamily="18" charset="0"/>
              </a:rPr>
              <a:t>Intel, the manufacturer of popular CPUs, originally made RAM for mainframe and minicomputers. Today Kingston is a leading RAM manufacturer.</a:t>
            </a:r>
            <a:r>
              <a:rPr lang="en-US" altLang="en-US" dirty="0"/>
              <a:t> </a:t>
            </a:r>
          </a:p>
          <a:p>
            <a:r>
              <a:rPr lang="en-US" sz="1200" b="0" i="0" kern="1200" dirty="0">
                <a:solidFill>
                  <a:schemeClr val="tx1"/>
                </a:solidFill>
                <a:effectLst/>
                <a:latin typeface="+mn-lt"/>
                <a:ea typeface="+mn-ea"/>
                <a:cs typeface="+mn-cs"/>
              </a:rPr>
              <a:t>A RAM device makes it possible to access data in </a:t>
            </a:r>
            <a:r>
              <a:rPr lang="en-US" sz="1200" b="1" i="0" kern="1200" dirty="0">
                <a:solidFill>
                  <a:schemeClr val="tx1"/>
                </a:solidFill>
                <a:effectLst/>
                <a:latin typeface="+mn-lt"/>
                <a:ea typeface="+mn-ea"/>
                <a:cs typeface="+mn-cs"/>
              </a:rPr>
              <a:t>random order, </a:t>
            </a:r>
            <a:r>
              <a:rPr lang="en-US" sz="1200" b="0" i="0" kern="1200" dirty="0">
                <a:solidFill>
                  <a:schemeClr val="tx1"/>
                </a:solidFill>
                <a:effectLst/>
                <a:latin typeface="+mn-lt"/>
                <a:ea typeface="+mn-ea"/>
                <a:cs typeface="+mn-cs"/>
              </a:rPr>
              <a:t>which makes it very fast to find a specific piece of information.</a:t>
            </a:r>
          </a:p>
          <a:p>
            <a:r>
              <a:rPr lang="en-US" sz="1200" b="0" i="0" kern="1200" dirty="0">
                <a:solidFill>
                  <a:schemeClr val="tx1"/>
                </a:solidFill>
                <a:effectLst/>
                <a:latin typeface="+mn-lt"/>
                <a:ea typeface="+mn-ea"/>
                <a:cs typeface="+mn-cs"/>
              </a:rPr>
              <a:t> RAM is considered </a:t>
            </a:r>
            <a:r>
              <a:rPr lang="en-US" sz="1200" b="1" i="0" kern="1200" dirty="0">
                <a:solidFill>
                  <a:schemeClr val="tx1"/>
                </a:solidFill>
                <a:effectLst/>
                <a:latin typeface="+mn-lt"/>
                <a:ea typeface="+mn-ea"/>
                <a:cs typeface="+mn-cs"/>
              </a:rPr>
              <a:t>volatile memory</a:t>
            </a:r>
            <a:r>
              <a:rPr lang="en-US" sz="1200" b="0" i="0" kern="1200" dirty="0">
                <a:solidFill>
                  <a:schemeClr val="tx1"/>
                </a:solidFill>
                <a:effectLst/>
                <a:latin typeface="+mn-lt"/>
                <a:ea typeface="+mn-ea"/>
                <a:cs typeface="+mn-cs"/>
              </a:rPr>
              <a:t>, which means that the stored information is lost when there is no power.</a:t>
            </a:r>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14</a:t>
            </a:fld>
            <a:endParaRPr lang="LID4096"/>
          </a:p>
        </p:txBody>
      </p:sp>
    </p:spTree>
    <p:extLst>
      <p:ext uri="{BB962C8B-B14F-4D97-AF65-F5344CB8AC3E}">
        <p14:creationId xmlns:p14="http://schemas.microsoft.com/office/powerpoint/2010/main" val="1154073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Each tiny bit of the disk carries a magnetic charge; the direction of that charge determines whether it represents a 1 or a 0. Optical storage, meanwhile, uses disks made of reflective material; how each bit reflects light–or doesn't reflect it–determines whether it's a 1 or a 0.</a:t>
            </a:r>
          </a:p>
          <a:p>
            <a:pPr fontAlgn="base"/>
            <a:r>
              <a:rPr lang="en-US" sz="1200" b="0" kern="1200" cap="all" dirty="0">
                <a:solidFill>
                  <a:schemeClr val="tx1"/>
                </a:solidFill>
                <a:effectLst/>
                <a:latin typeface="+mn-lt"/>
                <a:ea typeface="+mn-ea"/>
                <a:cs typeface="+mn-cs"/>
              </a:rPr>
              <a:t>VIDEO OF THE DAY</a:t>
            </a:r>
          </a:p>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15</a:t>
            </a:fld>
            <a:endParaRPr lang="LID4096"/>
          </a:p>
        </p:txBody>
      </p:sp>
    </p:spTree>
    <p:extLst>
      <p:ext uri="{BB962C8B-B14F-4D97-AF65-F5344CB8AC3E}">
        <p14:creationId xmlns:p14="http://schemas.microsoft.com/office/powerpoint/2010/main" val="2455545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gn="l">
              <a:lnSpc>
                <a:spcPct val="100000"/>
              </a:lnSpc>
              <a:spcBef>
                <a:spcPts val="95"/>
              </a:spcBef>
              <a:buFont typeface="Arial" panose="020B0604020202020204" pitchFamily="34" charset="0"/>
              <a:buNone/>
            </a:pPr>
            <a:r>
              <a:rPr lang="en-US" sz="1400" b="1" spc="-5" dirty="0">
                <a:latin typeface="Arial"/>
                <a:cs typeface="Arial"/>
              </a:rPr>
              <a:t>Examples of Input</a:t>
            </a:r>
            <a:r>
              <a:rPr lang="en-US" sz="1400" b="1" spc="25" dirty="0">
                <a:latin typeface="Arial"/>
                <a:cs typeface="Arial"/>
              </a:rPr>
              <a:t> </a:t>
            </a:r>
            <a:r>
              <a:rPr lang="en-US" sz="1400" b="1" spc="-5" dirty="0">
                <a:latin typeface="Arial"/>
                <a:cs typeface="Arial"/>
              </a:rPr>
              <a:t>Device—</a:t>
            </a:r>
            <a:r>
              <a:rPr lang="en-US" sz="1200" spc="-5" dirty="0">
                <a:latin typeface="Arial"/>
                <a:cs typeface="Arial"/>
              </a:rPr>
              <a:t>Keyboard—Mouse</a:t>
            </a:r>
            <a:r>
              <a:rPr lang="en-US" sz="1200" spc="0" dirty="0">
                <a:latin typeface="Arial"/>
                <a:cs typeface="Arial"/>
              </a:rPr>
              <a:t>--</a:t>
            </a:r>
            <a:r>
              <a:rPr lang="en-US" sz="1200" spc="-5" dirty="0">
                <a:latin typeface="Arial"/>
                <a:cs typeface="Arial"/>
              </a:rPr>
              <a:t>Touchscreen--Graphic</a:t>
            </a:r>
            <a:r>
              <a:rPr lang="en-US" sz="1200" spc="-25" dirty="0">
                <a:latin typeface="Arial"/>
                <a:cs typeface="Arial"/>
              </a:rPr>
              <a:t> </a:t>
            </a:r>
            <a:r>
              <a:rPr lang="en-US" sz="1200" dirty="0">
                <a:latin typeface="Arial"/>
                <a:cs typeface="Arial"/>
              </a:rPr>
              <a:t>tablet---</a:t>
            </a:r>
            <a:r>
              <a:rPr lang="en-US" sz="1200" spc="-5" dirty="0">
                <a:latin typeface="Arial"/>
                <a:cs typeface="Arial"/>
              </a:rPr>
              <a:t>Microphone</a:t>
            </a:r>
            <a:r>
              <a:rPr lang="en-US" sz="1200" spc="0" dirty="0">
                <a:latin typeface="Arial"/>
                <a:cs typeface="Arial"/>
              </a:rPr>
              <a:t>---</a:t>
            </a:r>
            <a:r>
              <a:rPr lang="en-US" sz="1200" spc="-5" dirty="0">
                <a:latin typeface="Arial"/>
                <a:cs typeface="Arial"/>
              </a:rPr>
              <a:t>Scanner</a:t>
            </a:r>
            <a:endParaRPr lang="en-US" sz="1200" dirty="0">
              <a:latin typeface="Arial"/>
              <a:cs typeface="Arial"/>
            </a:endParaRPr>
          </a:p>
          <a:p>
            <a:pPr marL="12700" indent="0">
              <a:lnSpc>
                <a:spcPct val="100000"/>
              </a:lnSpc>
              <a:spcBef>
                <a:spcPts val="95"/>
              </a:spcBef>
              <a:buFont typeface="Arial" panose="020B0604020202020204" pitchFamily="34" charset="0"/>
              <a:buNone/>
            </a:pPr>
            <a:r>
              <a:rPr lang="en-US" sz="1400" b="1" spc="-5" dirty="0">
                <a:latin typeface="Arial"/>
                <a:cs typeface="Arial"/>
              </a:rPr>
              <a:t>Examples of Output</a:t>
            </a:r>
            <a:r>
              <a:rPr lang="en-US" sz="1400" b="1" spc="40" dirty="0">
                <a:latin typeface="Arial"/>
                <a:cs typeface="Arial"/>
              </a:rPr>
              <a:t> </a:t>
            </a:r>
            <a:r>
              <a:rPr lang="en-US" sz="1400" b="1" spc="-5" dirty="0">
                <a:latin typeface="Arial"/>
                <a:cs typeface="Arial"/>
              </a:rPr>
              <a:t>Device</a:t>
            </a:r>
            <a:r>
              <a:rPr lang="en-US" sz="1200" dirty="0">
                <a:latin typeface="Arial"/>
                <a:cs typeface="Arial"/>
              </a:rPr>
              <a:t>--Monitor</a:t>
            </a:r>
            <a:r>
              <a:rPr lang="en-US" sz="1200" spc="-5" dirty="0">
                <a:latin typeface="Arial"/>
                <a:cs typeface="Arial"/>
              </a:rPr>
              <a:t>--Printer--Speakers</a:t>
            </a:r>
            <a:r>
              <a:rPr lang="en-US" sz="1200" dirty="0">
                <a:latin typeface="Arial"/>
                <a:cs typeface="Arial"/>
              </a:rPr>
              <a:t>--Projector</a:t>
            </a:r>
          </a:p>
          <a:p>
            <a:pPr marL="0" indent="0" algn="l">
              <a:buFont typeface="Arial" panose="020B0604020202020204" pitchFamily="34" charset="0"/>
              <a:buNone/>
            </a:pPr>
            <a:endParaRPr lang="LID4096"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16</a:t>
            </a:fld>
            <a:endParaRPr lang="LID4096"/>
          </a:p>
        </p:txBody>
      </p:sp>
    </p:spTree>
    <p:extLst>
      <p:ext uri="{BB962C8B-B14F-4D97-AF65-F5344CB8AC3E}">
        <p14:creationId xmlns:p14="http://schemas.microsoft.com/office/powerpoint/2010/main" val="1807809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System software--Most important software---Operating system---Windows XP---Network operating system (OS)---Windows Server 2003---Utility---Symantec Antivirus</a:t>
            </a:r>
          </a:p>
          <a:p>
            <a:r>
              <a:rPr lang="en-US" altLang="en-US" dirty="0"/>
              <a:t>Application software---Accomplishes a specific task---Most common type of software---MS Word---Covers most common uses of computers</a:t>
            </a:r>
          </a:p>
          <a:p>
            <a:endParaRPr lang="en-US" altLang="en-US" dirty="0"/>
          </a:p>
        </p:txBody>
      </p:sp>
      <p:sp>
        <p:nvSpPr>
          <p:cNvPr id="4" name="Slide Number Placeholder 3"/>
          <p:cNvSpPr>
            <a:spLocks noGrp="1"/>
          </p:cNvSpPr>
          <p:nvPr>
            <p:ph type="sldNum" sz="quarter" idx="5"/>
          </p:nvPr>
        </p:nvSpPr>
        <p:spPr/>
        <p:txBody>
          <a:bodyPr/>
          <a:lstStyle/>
          <a:p>
            <a:fld id="{104C861A-8677-4586-8970-1BBC32ECCDB8}" type="slidenum">
              <a:rPr lang="LID4096" smtClean="0"/>
              <a:t>18</a:t>
            </a:fld>
            <a:endParaRPr lang="LID4096"/>
          </a:p>
        </p:txBody>
      </p:sp>
    </p:spTree>
    <p:extLst>
      <p:ext uri="{BB962C8B-B14F-4D97-AF65-F5344CB8AC3E}">
        <p14:creationId xmlns:p14="http://schemas.microsoft.com/office/powerpoint/2010/main" val="3674216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fontAlgn="base">
              <a:buNone/>
            </a:pPr>
            <a:r>
              <a:rPr lang="en-US" dirty="0"/>
              <a:t>1. The Central Processing Unit (CPU)</a:t>
            </a:r>
          </a:p>
          <a:p>
            <a:pPr marL="0" indent="0" algn="l" fontAlgn="base">
              <a:buNone/>
            </a:pPr>
            <a:r>
              <a:rPr lang="en-US" dirty="0"/>
              <a:t>2. The Main Memory Unit (RAM)</a:t>
            </a:r>
          </a:p>
          <a:p>
            <a:pPr marL="0" indent="0" algn="l" fontAlgn="base">
              <a:buNone/>
            </a:pPr>
            <a:r>
              <a:rPr lang="en-US" dirty="0"/>
              <a:t>3. The Input / Output Device</a:t>
            </a:r>
          </a:p>
          <a:p>
            <a:pPr algn="l"/>
            <a:endParaRPr lang="en-US" dirty="0"/>
          </a:p>
          <a:p>
            <a:pPr algn="l"/>
            <a:endParaRPr lang="LID4096" dirty="0"/>
          </a:p>
          <a:p>
            <a:pPr algn="l"/>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20</a:t>
            </a:fld>
            <a:endParaRPr lang="LID4096"/>
          </a:p>
        </p:txBody>
      </p:sp>
    </p:spTree>
    <p:extLst>
      <p:ext uri="{BB962C8B-B14F-4D97-AF65-F5344CB8AC3E}">
        <p14:creationId xmlns:p14="http://schemas.microsoft.com/office/powerpoint/2010/main" val="2982879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22</a:t>
            </a:fld>
            <a:endParaRPr lang="LID4096"/>
          </a:p>
        </p:txBody>
      </p:sp>
    </p:spTree>
    <p:extLst>
      <p:ext uri="{BB962C8B-B14F-4D97-AF65-F5344CB8AC3E}">
        <p14:creationId xmlns:p14="http://schemas.microsoft.com/office/powerpoint/2010/main" val="1563597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bus specifies the type of operation that is to be performed (read write commands, bus request/grant </a:t>
            </a:r>
            <a:r>
              <a:rPr lang="en-US" dirty="0" err="1"/>
              <a:t>etc</a:t>
            </a:r>
            <a:r>
              <a:rPr lang="en-US" dirty="0"/>
              <a:t>) travel on control bus</a:t>
            </a:r>
          </a:p>
          <a:p>
            <a:r>
              <a:rPr lang="en-US" dirty="0"/>
              <a:t>E.g. acknowledgement signals travel on control bus</a:t>
            </a:r>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26</a:t>
            </a:fld>
            <a:endParaRPr lang="LID4096"/>
          </a:p>
        </p:txBody>
      </p:sp>
    </p:spTree>
    <p:extLst>
      <p:ext uri="{BB962C8B-B14F-4D97-AF65-F5344CB8AC3E}">
        <p14:creationId xmlns:p14="http://schemas.microsoft.com/office/powerpoint/2010/main" val="1276111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Carries address signal to read or write data to memory </a:t>
            </a:r>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27</a:t>
            </a:fld>
            <a:endParaRPr lang="LID4096"/>
          </a:p>
        </p:txBody>
      </p:sp>
    </p:spTree>
    <p:extLst>
      <p:ext uri="{BB962C8B-B14F-4D97-AF65-F5344CB8AC3E}">
        <p14:creationId xmlns:p14="http://schemas.microsoft.com/office/powerpoint/2010/main" val="302413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04C861A-8677-4586-8970-1BBC32ECCDB8}" type="slidenum">
              <a:rPr lang="LID4096" smtClean="0"/>
              <a:t>28</a:t>
            </a:fld>
            <a:endParaRPr lang="LID4096"/>
          </a:p>
        </p:txBody>
      </p:sp>
    </p:spTree>
    <p:extLst>
      <p:ext uri="{BB962C8B-B14F-4D97-AF65-F5344CB8AC3E}">
        <p14:creationId xmlns:p14="http://schemas.microsoft.com/office/powerpoint/2010/main" val="3363956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memory buffer register</a:t>
            </a:r>
            <a:r>
              <a:rPr lang="en-US" sz="1200" b="0" i="0" kern="1200" dirty="0">
                <a:solidFill>
                  <a:schemeClr val="tx1"/>
                </a:solidFill>
                <a:effectLst/>
                <a:latin typeface="+mn-lt"/>
                <a:ea typeface="+mn-ea"/>
                <a:cs typeface="+mn-cs"/>
              </a:rPr>
              <a:t> (MBR) is the </a:t>
            </a:r>
            <a:r>
              <a:rPr lang="en-US" sz="1200" b="1" i="0" kern="1200" dirty="0">
                <a:solidFill>
                  <a:schemeClr val="tx1"/>
                </a:solidFill>
                <a:effectLst/>
                <a:latin typeface="+mn-lt"/>
                <a:ea typeface="+mn-ea"/>
                <a:cs typeface="+mn-cs"/>
              </a:rPr>
              <a:t>register</a:t>
            </a:r>
            <a:r>
              <a:rPr lang="en-US" sz="1200" b="0" i="0" kern="1200" dirty="0">
                <a:solidFill>
                  <a:schemeClr val="tx1"/>
                </a:solidFill>
                <a:effectLst/>
                <a:latin typeface="+mn-lt"/>
                <a:ea typeface="+mn-ea"/>
                <a:cs typeface="+mn-cs"/>
              </a:rPr>
              <a:t> in a computer's processor, or central processing unit, CPU, that stores the data being transferred to and from the immediate access store.</a:t>
            </a:r>
          </a:p>
          <a:p>
            <a:r>
              <a:rPr lang="en-US" sz="1200" b="1" i="0" kern="1200" dirty="0">
                <a:solidFill>
                  <a:schemeClr val="tx1"/>
                </a:solidFill>
                <a:effectLst/>
                <a:latin typeface="+mn-lt"/>
                <a:ea typeface="+mn-ea"/>
                <a:cs typeface="+mn-cs"/>
              </a:rPr>
              <a:t>Accumulator Register </a:t>
            </a:r>
            <a:r>
              <a:rPr lang="en-US" sz="1200" b="0" i="0" kern="1200" dirty="0">
                <a:solidFill>
                  <a:schemeClr val="tx1"/>
                </a:solidFill>
                <a:effectLst/>
                <a:latin typeface="+mn-lt"/>
                <a:ea typeface="+mn-ea"/>
                <a:cs typeface="+mn-cs"/>
              </a:rPr>
              <a:t>This Register is used for storing the Results those are produced by the System.</a:t>
            </a:r>
          </a:p>
        </p:txBody>
      </p:sp>
      <p:sp>
        <p:nvSpPr>
          <p:cNvPr id="4" name="Slide Number Placeholder 3"/>
          <p:cNvSpPr>
            <a:spLocks noGrp="1"/>
          </p:cNvSpPr>
          <p:nvPr>
            <p:ph type="sldNum" sz="quarter" idx="5"/>
          </p:nvPr>
        </p:nvSpPr>
        <p:spPr/>
        <p:txBody>
          <a:bodyPr/>
          <a:lstStyle/>
          <a:p>
            <a:fld id="{104C861A-8677-4586-8970-1BBC32ECCDB8}" type="slidenum">
              <a:rPr lang="LID4096" smtClean="0"/>
              <a:t>31</a:t>
            </a:fld>
            <a:endParaRPr lang="LID4096"/>
          </a:p>
        </p:txBody>
      </p:sp>
    </p:spTree>
    <p:extLst>
      <p:ext uri="{BB962C8B-B14F-4D97-AF65-F5344CB8AC3E}">
        <p14:creationId xmlns:p14="http://schemas.microsoft.com/office/powerpoint/2010/main" val="3285924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04C861A-8677-4586-8970-1BBC32ECCDB8}" type="slidenum">
              <a:rPr lang="LID4096" smtClean="0"/>
              <a:t>36</a:t>
            </a:fld>
            <a:endParaRPr lang="LID4096"/>
          </a:p>
        </p:txBody>
      </p:sp>
    </p:spTree>
    <p:extLst>
      <p:ext uri="{BB962C8B-B14F-4D97-AF65-F5344CB8AC3E}">
        <p14:creationId xmlns:p14="http://schemas.microsoft.com/office/powerpoint/2010/main" val="232471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800"/>
              </a:spcBef>
              <a:buFont typeface="Arial" charset="0"/>
              <a:buChar char="•"/>
            </a:pPr>
            <a:r>
              <a:rPr lang="en-US" dirty="0">
                <a:solidFill>
                  <a:srgbClr val="000000"/>
                </a:solidFill>
              </a:rPr>
              <a:t>Execution begins by moving the instruction at the address given by the PC (</a:t>
            </a:r>
            <a:r>
              <a:rPr lang="en-US" i="1" dirty="0">
                <a:solidFill>
                  <a:srgbClr val="000000"/>
                </a:solidFill>
              </a:rPr>
              <a:t>PC 2200</a:t>
            </a:r>
            <a:r>
              <a:rPr lang="en-US" dirty="0">
                <a:solidFill>
                  <a:srgbClr val="000000"/>
                </a:solidFill>
              </a:rPr>
              <a:t>) from memory to the control unit</a:t>
            </a:r>
          </a:p>
          <a:p>
            <a:pPr>
              <a:spcBef>
                <a:spcPts val="800"/>
              </a:spcBef>
              <a:buFont typeface="Arial" charset="0"/>
              <a:buChar char="•"/>
            </a:pPr>
            <a:r>
              <a:rPr lang="en-US" dirty="0">
                <a:solidFill>
                  <a:srgbClr val="000000"/>
                </a:solidFill>
              </a:rPr>
              <a:t>Once instruction is fetched, the PC can be readied for fetching the next instruction</a:t>
            </a:r>
          </a:p>
          <a:p>
            <a:endParaRPr lang="LID4096" dirty="0"/>
          </a:p>
        </p:txBody>
      </p:sp>
      <p:sp>
        <p:nvSpPr>
          <p:cNvPr id="4" name="Slide Number Placeholder 3"/>
          <p:cNvSpPr>
            <a:spLocks noGrp="1"/>
          </p:cNvSpPr>
          <p:nvPr>
            <p:ph type="sldNum" sz="quarter" idx="5"/>
          </p:nvPr>
        </p:nvSpPr>
        <p:spPr/>
        <p:txBody>
          <a:bodyPr/>
          <a:lstStyle/>
          <a:p>
            <a:fld id="{104C861A-8677-4586-8970-1BBC32ECCDB8}" type="slidenum">
              <a:rPr lang="LID4096" smtClean="0"/>
              <a:t>41</a:t>
            </a:fld>
            <a:endParaRPr lang="LID4096"/>
          </a:p>
        </p:txBody>
      </p:sp>
    </p:spTree>
    <p:extLst>
      <p:ext uri="{BB962C8B-B14F-4D97-AF65-F5344CB8AC3E}">
        <p14:creationId xmlns:p14="http://schemas.microsoft.com/office/powerpoint/2010/main" val="3584531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82CE0AD-80A2-4E86-A394-7D71A1237E99}" type="datetimeFigureOut">
              <a:rPr lang="en-GB" smtClean="0"/>
              <a:t>04/09/2019</a:t>
            </a:fld>
            <a:endParaRPr lang="en-GB"/>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GB"/>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C6A8EF0-6C45-444E-B706-EC99815BD6B7}" type="slidenum">
              <a:rPr lang="en-GB" smtClean="0"/>
              <a:t>‹#›</a:t>
            </a:fld>
            <a:endParaRPr lang="en-GB"/>
          </a:p>
        </p:txBody>
      </p:sp>
    </p:spTree>
    <p:extLst>
      <p:ext uri="{BB962C8B-B14F-4D97-AF65-F5344CB8AC3E}">
        <p14:creationId xmlns:p14="http://schemas.microsoft.com/office/powerpoint/2010/main" val="219400184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2CE0AD-80A2-4E86-A394-7D71A1237E99}" type="datetimeFigureOut">
              <a:rPr lang="en-GB" smtClean="0"/>
              <a:t>04/09/2019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1711442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82CE0AD-80A2-4E86-A394-7D71A1237E99}" type="datetimeFigureOut">
              <a:rPr lang="en-GB" smtClean="0"/>
              <a:t>04/09/2019</a:t>
            </a:fld>
            <a:endParaRPr lang="en-GB"/>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GB"/>
          </a:p>
        </p:txBody>
      </p:sp>
      <p:sp>
        <p:nvSpPr>
          <p:cNvPr id="6" name="Slide Number Placeholder 5"/>
          <p:cNvSpPr>
            <a:spLocks noGrp="1"/>
          </p:cNvSpPr>
          <p:nvPr>
            <p:ph type="sldNum" sz="quarter" idx="12"/>
          </p:nvPr>
        </p:nvSpPr>
        <p:spPr>
          <a:xfrm>
            <a:off x="8604504" y="5211060"/>
            <a:ext cx="2112264" cy="228600"/>
          </a:xfrm>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305957524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82CE0AD-80A2-4E86-A394-7D71A1237E99}" type="datetimeFigureOut">
              <a:rPr lang="en-GB" smtClean="0"/>
              <a:t>04/09/2019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3293902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2CE0AD-80A2-4E86-A394-7D71A1237E99}" type="datetimeFigureOut">
              <a:rPr lang="en-GB" smtClean="0"/>
              <a:t>04/09/2019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154106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2CE0AD-80A2-4E86-A394-7D71A1237E99}" type="datetimeFigureOut">
              <a:rPr lang="en-GB" smtClean="0"/>
              <a:t>04/09/2019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239475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CE0AD-80A2-4E86-A394-7D71A1237E99}" type="datetimeFigureOut">
              <a:rPr lang="en-GB" smtClean="0"/>
              <a:t>04/09/2019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2641062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282CE0AD-80A2-4E86-A394-7D71A1237E99}" type="datetimeFigureOut">
              <a:rPr lang="en-GB" smtClean="0"/>
              <a:t>04/09/2019</a:t>
            </a:fld>
            <a:endParaRPr lang="en-GB"/>
          </a:p>
        </p:txBody>
      </p:sp>
      <p:sp>
        <p:nvSpPr>
          <p:cNvPr id="9" name="Footer Placeholder 8"/>
          <p:cNvSpPr>
            <a:spLocks noGrp="1"/>
          </p:cNvSpPr>
          <p:nvPr>
            <p:ph type="ftr" sz="quarter" idx="11"/>
          </p:nvPr>
        </p:nvSpPr>
        <p:spPr/>
        <p:txBody>
          <a:bodyPr/>
          <a:lstStyle>
            <a:lvl1pPr algn="r">
              <a:defRPr/>
            </a:lvl1pPr>
          </a:lstStyle>
          <a:p>
            <a:endParaRPr lang="en-GB"/>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C6A8EF0-6C45-444E-B706-EC99815BD6B7}" type="slidenum">
              <a:rPr lang="en-GB" smtClean="0"/>
              <a:t>‹#›</a:t>
            </a:fld>
            <a:endParaRPr lang="en-GB"/>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32729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82CE0AD-80A2-4E86-A394-7D71A1237E99}" type="datetimeFigureOut">
              <a:rPr lang="en-GB" smtClean="0"/>
              <a:t>04/09/2019</a:t>
            </a:fld>
            <a:endParaRPr lang="en-GB"/>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GB"/>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C6A8EF0-6C45-444E-B706-EC99815BD6B7}" type="slidenum">
              <a:rPr lang="en-GB" smtClean="0"/>
              <a:t>‹#›</a:t>
            </a:fld>
            <a:endParaRPr lang="en-GB"/>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85164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2CE0AD-80A2-4E86-A394-7D71A1237E99}" type="datetimeFigureOut">
              <a:rPr lang="en-GB" smtClean="0"/>
              <a:t>04/09/2019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4071495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2CE0AD-80A2-4E86-A394-7D71A1237E99}" type="datetimeFigureOut">
              <a:rPr lang="en-GB" smtClean="0"/>
              <a:t>04/09/2019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6A8EF0-6C45-444E-B706-EC99815BD6B7}" type="slidenum">
              <a:rPr lang="en-GB" smtClean="0"/>
              <a:t>‹#›</a:t>
            </a:fld>
            <a:endParaRPr lang="en-GB"/>
          </a:p>
        </p:txBody>
      </p:sp>
    </p:spTree>
    <p:extLst>
      <p:ext uri="{BB962C8B-B14F-4D97-AF65-F5344CB8AC3E}">
        <p14:creationId xmlns:p14="http://schemas.microsoft.com/office/powerpoint/2010/main" val="4055628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4A458D5-826D-4A55-AC78-9D6B7A4A068A}"/>
              </a:ext>
            </a:extLst>
          </p:cNvPr>
          <p:cNvSpPr>
            <a:spLocks noGrp="1"/>
          </p:cNvSpPr>
          <p:nvPr>
            <p:ph type="dt" sz="half" idx="10"/>
          </p:nvPr>
        </p:nvSpPr>
        <p:spPr/>
        <p:txBody>
          <a:bodyPr/>
          <a:lstStyle/>
          <a:p>
            <a:fld id="{1EA4E2CC-4778-4210-B6E0-F288F30D20DA}" type="datetimeFigureOut">
              <a:rPr lang="en-US" smtClean="0"/>
              <a:t>9/4/2019</a:t>
            </a:fld>
            <a:endParaRPr lang="en-US"/>
          </a:p>
        </p:txBody>
      </p:sp>
      <p:sp>
        <p:nvSpPr>
          <p:cNvPr id="5" name="Footer Placeholder 4">
            <a:extLst>
              <a:ext uri="{FF2B5EF4-FFF2-40B4-BE49-F238E27FC236}">
                <a16:creationId xmlns:a16="http://schemas.microsoft.com/office/drawing/2014/main" id="{670E8BBC-EAF5-445B-8283-38DA23F33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7AA98-6F63-45B6-A2DE-B56C66639729}"/>
              </a:ext>
            </a:extLst>
          </p:cNvPr>
          <p:cNvSpPr>
            <a:spLocks noGrp="1"/>
          </p:cNvSpPr>
          <p:nvPr>
            <p:ph type="sldNum" sz="quarter" idx="12"/>
          </p:nvPr>
        </p:nvSpPr>
        <p:spPr/>
        <p:txBody>
          <a:bodyPr/>
          <a:lstStyle/>
          <a:p>
            <a:fld id="{F2E9CBD7-5C33-4528-B5EE-C60121230393}" type="slidenum">
              <a:rPr lang="en-US" smtClean="0"/>
              <a:t>‹#›</a:t>
            </a:fld>
            <a:endParaRPr lang="en-US"/>
          </a:p>
        </p:txBody>
      </p:sp>
    </p:spTree>
    <p:extLst>
      <p:ext uri="{BB962C8B-B14F-4D97-AF65-F5344CB8AC3E}">
        <p14:creationId xmlns:p14="http://schemas.microsoft.com/office/powerpoint/2010/main" val="36571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82CE0AD-80A2-4E86-A394-7D71A1237E99}" type="datetimeFigureOut">
              <a:rPr lang="en-GB" smtClean="0"/>
              <a:t>04/09/2019</a:t>
            </a:fld>
            <a:endParaRPr lang="en-GB"/>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GB"/>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C6A8EF0-6C45-444E-B706-EC99815BD6B7}" type="slidenum">
              <a:rPr lang="en-GB" smtClean="0"/>
              <a:t>‹#›</a:t>
            </a:fld>
            <a:endParaRPr lang="en-GB"/>
          </a:p>
        </p:txBody>
      </p:sp>
    </p:spTree>
    <p:extLst>
      <p:ext uri="{BB962C8B-B14F-4D97-AF65-F5344CB8AC3E}">
        <p14:creationId xmlns:p14="http://schemas.microsoft.com/office/powerpoint/2010/main" val="112357944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futurelearn.com/courses/how-computers-work/0/steps/49284"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2CA654EA-FC59-487E-8FDD-9274E4AA7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527" y="1705930"/>
            <a:ext cx="5374822" cy="3323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363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0B60-6695-49FE-A51D-2A74C7665C48}"/>
              </a:ext>
            </a:extLst>
          </p:cNvPr>
          <p:cNvSpPr>
            <a:spLocks noGrp="1"/>
          </p:cNvSpPr>
          <p:nvPr>
            <p:ph type="title"/>
          </p:nvPr>
        </p:nvSpPr>
        <p:spPr>
          <a:xfrm>
            <a:off x="2105171" y="2599261"/>
            <a:ext cx="7981657" cy="1659478"/>
          </a:xfrm>
        </p:spPr>
        <p:txBody>
          <a:bodyPr>
            <a:normAutofit/>
          </a:bodyPr>
          <a:lstStyle/>
          <a:p>
            <a:r>
              <a:rPr lang="en-US" sz="4800" b="1" dirty="0"/>
              <a:t>Computer Organization</a:t>
            </a:r>
          </a:p>
        </p:txBody>
      </p:sp>
    </p:spTree>
    <p:extLst>
      <p:ext uri="{BB962C8B-B14F-4D97-AF65-F5344CB8AC3E}">
        <p14:creationId xmlns:p14="http://schemas.microsoft.com/office/powerpoint/2010/main" val="209265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A2C1-176C-451F-B64C-72464B3EE8B8}"/>
              </a:ext>
            </a:extLst>
          </p:cNvPr>
          <p:cNvSpPr>
            <a:spLocks noGrp="1"/>
          </p:cNvSpPr>
          <p:nvPr>
            <p:ph type="title"/>
          </p:nvPr>
        </p:nvSpPr>
        <p:spPr/>
        <p:txBody>
          <a:bodyPr/>
          <a:lstStyle/>
          <a:p>
            <a:r>
              <a:rPr lang="en-US" b="1" dirty="0"/>
              <a:t>Computer Organization</a:t>
            </a:r>
          </a:p>
        </p:txBody>
      </p:sp>
      <p:sp>
        <p:nvSpPr>
          <p:cNvPr id="3" name="Content Placeholder 2">
            <a:extLst>
              <a:ext uri="{FF2B5EF4-FFF2-40B4-BE49-F238E27FC236}">
                <a16:creationId xmlns:a16="http://schemas.microsoft.com/office/drawing/2014/main" id="{2F0EC21E-CCBD-419B-BA32-F347F26D35D1}"/>
              </a:ext>
            </a:extLst>
          </p:cNvPr>
          <p:cNvSpPr>
            <a:spLocks noGrp="1"/>
          </p:cNvSpPr>
          <p:nvPr>
            <p:ph idx="1"/>
          </p:nvPr>
        </p:nvSpPr>
        <p:spPr>
          <a:xfrm>
            <a:off x="1045028" y="1720170"/>
            <a:ext cx="10308771" cy="4353106"/>
          </a:xfrm>
        </p:spPr>
        <p:txBody>
          <a:bodyPr/>
          <a:lstStyle/>
          <a:p>
            <a:r>
              <a:rPr lang="en-US" dirty="0"/>
              <a:t>It deals with the hardware components of a computer system such as the input/output devices, CPU and memory devices</a:t>
            </a:r>
          </a:p>
          <a:p>
            <a:endParaRPr lang="LID4096" dirty="0"/>
          </a:p>
          <a:p>
            <a:pPr marL="0" indent="0">
              <a:buNone/>
            </a:pPr>
            <a:endParaRPr lang="en-US" dirty="0"/>
          </a:p>
        </p:txBody>
      </p:sp>
      <p:pic>
        <p:nvPicPr>
          <p:cNvPr id="4" name="Picture 7">
            <a:extLst>
              <a:ext uri="{FF2B5EF4-FFF2-40B4-BE49-F238E27FC236}">
                <a16:creationId xmlns:a16="http://schemas.microsoft.com/office/drawing/2014/main" id="{513D0E93-E8B1-4B06-8939-213D89A62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5712" y="2587507"/>
            <a:ext cx="5827402" cy="359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380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A1127-5F54-43CF-9CAF-CB3F9A341C69}"/>
              </a:ext>
            </a:extLst>
          </p:cNvPr>
          <p:cNvSpPr>
            <a:spLocks noGrp="1"/>
          </p:cNvSpPr>
          <p:nvPr>
            <p:ph type="title"/>
          </p:nvPr>
        </p:nvSpPr>
        <p:spPr/>
        <p:txBody>
          <a:bodyPr/>
          <a:lstStyle/>
          <a:p>
            <a:r>
              <a:rPr lang="en-US" altLang="en-US" dirty="0"/>
              <a:t>Parts of the Computer System</a:t>
            </a:r>
            <a:endParaRPr lang="LID4096" dirty="0"/>
          </a:p>
        </p:txBody>
      </p:sp>
      <p:sp>
        <p:nvSpPr>
          <p:cNvPr id="3" name="Content Placeholder 2">
            <a:extLst>
              <a:ext uri="{FF2B5EF4-FFF2-40B4-BE49-F238E27FC236}">
                <a16:creationId xmlns:a16="http://schemas.microsoft.com/office/drawing/2014/main" id="{D44B5CD8-9160-43C3-A908-E753A68DC061}"/>
              </a:ext>
            </a:extLst>
          </p:cNvPr>
          <p:cNvSpPr>
            <a:spLocks noGrp="1"/>
          </p:cNvSpPr>
          <p:nvPr>
            <p:ph idx="1"/>
          </p:nvPr>
        </p:nvSpPr>
        <p:spPr/>
        <p:txBody>
          <a:bodyPr/>
          <a:lstStyle/>
          <a:p>
            <a:r>
              <a:rPr lang="en-US" altLang="en-US" dirty="0"/>
              <a:t>Hardware</a:t>
            </a:r>
          </a:p>
          <a:p>
            <a:pPr lvl="1"/>
            <a:r>
              <a:rPr lang="en-US" altLang="en-US" dirty="0"/>
              <a:t>Mechanical devices in the computer</a:t>
            </a:r>
          </a:p>
          <a:p>
            <a:pPr lvl="1"/>
            <a:r>
              <a:rPr lang="en-US" altLang="en-US" dirty="0"/>
              <a:t>Anything that can be touched</a:t>
            </a:r>
          </a:p>
          <a:p>
            <a:r>
              <a:rPr lang="en-US" altLang="en-US" dirty="0"/>
              <a:t>Software</a:t>
            </a:r>
          </a:p>
          <a:p>
            <a:pPr lvl="1"/>
            <a:r>
              <a:rPr lang="en-US" altLang="en-US" dirty="0"/>
              <a:t>Tell the computer what to do</a:t>
            </a:r>
          </a:p>
          <a:p>
            <a:pPr lvl="1"/>
            <a:r>
              <a:rPr lang="en-US" altLang="en-US" dirty="0"/>
              <a:t>Also called a program</a:t>
            </a:r>
          </a:p>
          <a:p>
            <a:pPr lvl="1"/>
            <a:r>
              <a:rPr lang="en-US" altLang="en-US" dirty="0"/>
              <a:t>Thousands of programs exist</a:t>
            </a:r>
          </a:p>
          <a:p>
            <a:pPr lvl="1"/>
            <a:endParaRPr lang="en-US" altLang="en-US" dirty="0"/>
          </a:p>
          <a:p>
            <a:endParaRPr lang="LID4096" dirty="0"/>
          </a:p>
        </p:txBody>
      </p:sp>
    </p:spTree>
    <p:extLst>
      <p:ext uri="{BB962C8B-B14F-4D97-AF65-F5344CB8AC3E}">
        <p14:creationId xmlns:p14="http://schemas.microsoft.com/office/powerpoint/2010/main" val="4061099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F3FA-21A4-4B98-B727-81BD18155F8C}"/>
              </a:ext>
            </a:extLst>
          </p:cNvPr>
          <p:cNvSpPr>
            <a:spLocks noGrp="1"/>
          </p:cNvSpPr>
          <p:nvPr>
            <p:ph type="title"/>
          </p:nvPr>
        </p:nvSpPr>
        <p:spPr/>
        <p:txBody>
          <a:bodyPr/>
          <a:lstStyle/>
          <a:p>
            <a:r>
              <a:rPr lang="en-US" altLang="en-US" dirty="0"/>
              <a:t>Parts of the Computer System</a:t>
            </a:r>
            <a:endParaRPr lang="LID4096" dirty="0"/>
          </a:p>
        </p:txBody>
      </p:sp>
      <p:sp>
        <p:nvSpPr>
          <p:cNvPr id="3" name="Content Placeholder 2">
            <a:extLst>
              <a:ext uri="{FF2B5EF4-FFF2-40B4-BE49-F238E27FC236}">
                <a16:creationId xmlns:a16="http://schemas.microsoft.com/office/drawing/2014/main" id="{38C9C581-F03D-4CCC-8385-730724CF59ED}"/>
              </a:ext>
            </a:extLst>
          </p:cNvPr>
          <p:cNvSpPr>
            <a:spLocks noGrp="1"/>
          </p:cNvSpPr>
          <p:nvPr>
            <p:ph idx="1"/>
          </p:nvPr>
        </p:nvSpPr>
        <p:spPr/>
        <p:txBody>
          <a:bodyPr/>
          <a:lstStyle/>
          <a:p>
            <a:r>
              <a:rPr lang="en-US" altLang="en-US" dirty="0"/>
              <a:t>Data</a:t>
            </a:r>
          </a:p>
          <a:p>
            <a:pPr lvl="1"/>
            <a:r>
              <a:rPr lang="en-US" altLang="en-US" dirty="0"/>
              <a:t>Pieces of information</a:t>
            </a:r>
          </a:p>
          <a:p>
            <a:pPr lvl="1"/>
            <a:r>
              <a:rPr lang="en-US" altLang="en-US" dirty="0"/>
              <a:t>Computer organize and present data</a:t>
            </a:r>
          </a:p>
          <a:p>
            <a:r>
              <a:rPr lang="en-US" altLang="en-US" dirty="0"/>
              <a:t>Users</a:t>
            </a:r>
          </a:p>
          <a:p>
            <a:pPr lvl="1"/>
            <a:r>
              <a:rPr lang="en-US" altLang="en-US" dirty="0"/>
              <a:t>People operating the computer</a:t>
            </a:r>
          </a:p>
          <a:p>
            <a:pPr lvl="1"/>
            <a:r>
              <a:rPr lang="en-US" altLang="en-US" dirty="0"/>
              <a:t>Most important part</a:t>
            </a:r>
          </a:p>
          <a:p>
            <a:pPr lvl="1"/>
            <a:r>
              <a:rPr lang="en-US" altLang="en-US" dirty="0"/>
              <a:t>Tell the computer what to do</a:t>
            </a:r>
          </a:p>
          <a:p>
            <a:endParaRPr lang="LID4096" dirty="0"/>
          </a:p>
        </p:txBody>
      </p:sp>
    </p:spTree>
    <p:extLst>
      <p:ext uri="{BB962C8B-B14F-4D97-AF65-F5344CB8AC3E}">
        <p14:creationId xmlns:p14="http://schemas.microsoft.com/office/powerpoint/2010/main" val="33427220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BF612-C9EB-4F7D-ACD3-57ACD01633ED}"/>
              </a:ext>
            </a:extLst>
          </p:cNvPr>
          <p:cNvSpPr>
            <a:spLocks noGrp="1"/>
          </p:cNvSpPr>
          <p:nvPr>
            <p:ph type="title"/>
          </p:nvPr>
        </p:nvSpPr>
        <p:spPr/>
        <p:txBody>
          <a:bodyPr/>
          <a:lstStyle/>
          <a:p>
            <a:r>
              <a:rPr lang="en-US" altLang="en-US" dirty="0"/>
              <a:t>1.Hardware</a:t>
            </a:r>
            <a:endParaRPr lang="LID4096" dirty="0"/>
          </a:p>
        </p:txBody>
      </p:sp>
    </p:spTree>
    <p:extLst>
      <p:ext uri="{BB962C8B-B14F-4D97-AF65-F5344CB8AC3E}">
        <p14:creationId xmlns:p14="http://schemas.microsoft.com/office/powerpoint/2010/main" val="3808501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15361-B84E-44F5-85E4-6FB21E18D8B8}"/>
              </a:ext>
            </a:extLst>
          </p:cNvPr>
          <p:cNvSpPr>
            <a:spLocks noGrp="1"/>
          </p:cNvSpPr>
          <p:nvPr>
            <p:ph type="title"/>
          </p:nvPr>
        </p:nvSpPr>
        <p:spPr>
          <a:xfrm>
            <a:off x="1080860" y="497635"/>
            <a:ext cx="10308771" cy="1325563"/>
          </a:xfrm>
        </p:spPr>
        <p:txBody>
          <a:bodyPr/>
          <a:lstStyle/>
          <a:p>
            <a:r>
              <a:rPr lang="en-US" altLang="en-US" dirty="0"/>
              <a:t>Essential Computer Hardware</a:t>
            </a:r>
            <a:endParaRPr lang="LID4096" dirty="0"/>
          </a:p>
        </p:txBody>
      </p:sp>
      <p:pic>
        <p:nvPicPr>
          <p:cNvPr id="5" name="Picture 1029">
            <a:extLst>
              <a:ext uri="{FF2B5EF4-FFF2-40B4-BE49-F238E27FC236}">
                <a16:creationId xmlns:a16="http://schemas.microsoft.com/office/drawing/2014/main" id="{71026697-08CB-4A69-8E47-8A2C90389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326" y="2093867"/>
            <a:ext cx="4270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0">
            <a:extLst>
              <a:ext uri="{FF2B5EF4-FFF2-40B4-BE49-F238E27FC236}">
                <a16:creationId xmlns:a16="http://schemas.microsoft.com/office/drawing/2014/main" id="{D35FA247-08BD-460F-99CB-A2F9841B5100}"/>
              </a:ext>
            </a:extLst>
          </p:cNvPr>
          <p:cNvSpPr>
            <a:spLocks noChangeArrowheads="1"/>
          </p:cNvSpPr>
          <p:nvPr/>
        </p:nvSpPr>
        <p:spPr bwMode="auto">
          <a:xfrm>
            <a:off x="6351020" y="1955357"/>
            <a:ext cx="1905000" cy="609600"/>
          </a:xfrm>
          <a:prstGeom prst="wedgeRoundRectCallout">
            <a:avLst>
              <a:gd name="adj1" fmla="val 62250"/>
              <a:gd name="adj2" fmla="val 134116"/>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a:t>CRT Display</a:t>
            </a:r>
          </a:p>
        </p:txBody>
      </p:sp>
      <p:sp>
        <p:nvSpPr>
          <p:cNvPr id="7" name="AutoShape 1031">
            <a:extLst>
              <a:ext uri="{FF2B5EF4-FFF2-40B4-BE49-F238E27FC236}">
                <a16:creationId xmlns:a16="http://schemas.microsoft.com/office/drawing/2014/main" id="{7142DF85-EF08-4415-982F-03F61145A512}"/>
              </a:ext>
            </a:extLst>
          </p:cNvPr>
          <p:cNvSpPr>
            <a:spLocks noChangeArrowheads="1"/>
          </p:cNvSpPr>
          <p:nvPr/>
        </p:nvSpPr>
        <p:spPr bwMode="auto">
          <a:xfrm>
            <a:off x="5400107" y="4349003"/>
            <a:ext cx="1901825" cy="685800"/>
          </a:xfrm>
          <a:prstGeom prst="wedgeRoundRectCallout">
            <a:avLst>
              <a:gd name="adj1" fmla="val 63690"/>
              <a:gd name="adj2" fmla="val 120370"/>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Keyboard</a:t>
            </a:r>
          </a:p>
        </p:txBody>
      </p:sp>
      <p:sp>
        <p:nvSpPr>
          <p:cNvPr id="8" name="AutoShape 1032">
            <a:extLst>
              <a:ext uri="{FF2B5EF4-FFF2-40B4-BE49-F238E27FC236}">
                <a16:creationId xmlns:a16="http://schemas.microsoft.com/office/drawing/2014/main" id="{7856A134-7F1F-4C65-96EF-6F1997C9BE16}"/>
              </a:ext>
            </a:extLst>
          </p:cNvPr>
          <p:cNvSpPr>
            <a:spLocks noChangeArrowheads="1"/>
          </p:cNvSpPr>
          <p:nvPr/>
        </p:nvSpPr>
        <p:spPr bwMode="auto">
          <a:xfrm>
            <a:off x="10125301" y="5972129"/>
            <a:ext cx="1219200" cy="457200"/>
          </a:xfrm>
          <a:prstGeom prst="wedgeRoundRectCallout">
            <a:avLst>
              <a:gd name="adj1" fmla="val -63931"/>
              <a:gd name="adj2" fmla="val -169097"/>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a:t>Mouse</a:t>
            </a:r>
          </a:p>
        </p:txBody>
      </p:sp>
      <p:sp>
        <p:nvSpPr>
          <p:cNvPr id="9" name="AutoShape 1033">
            <a:extLst>
              <a:ext uri="{FF2B5EF4-FFF2-40B4-BE49-F238E27FC236}">
                <a16:creationId xmlns:a16="http://schemas.microsoft.com/office/drawing/2014/main" id="{37D3421A-123A-458C-8859-FF445C4954B0}"/>
              </a:ext>
            </a:extLst>
          </p:cNvPr>
          <p:cNvSpPr>
            <a:spLocks noChangeArrowheads="1"/>
          </p:cNvSpPr>
          <p:nvPr/>
        </p:nvSpPr>
        <p:spPr bwMode="auto">
          <a:xfrm>
            <a:off x="9210901" y="1955357"/>
            <a:ext cx="1524000" cy="685800"/>
          </a:xfrm>
          <a:prstGeom prst="wedgeRoundRectCallout">
            <a:avLst>
              <a:gd name="adj1" fmla="val 45000"/>
              <a:gd name="adj2" fmla="val 115509"/>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“The Box”</a:t>
            </a:r>
          </a:p>
        </p:txBody>
      </p:sp>
      <p:sp>
        <p:nvSpPr>
          <p:cNvPr id="12" name="Rectangle 11">
            <a:extLst>
              <a:ext uri="{FF2B5EF4-FFF2-40B4-BE49-F238E27FC236}">
                <a16:creationId xmlns:a16="http://schemas.microsoft.com/office/drawing/2014/main" id="{52CAC563-91F6-4797-972F-7FE6B120045E}"/>
              </a:ext>
            </a:extLst>
          </p:cNvPr>
          <p:cNvSpPr/>
          <p:nvPr/>
        </p:nvSpPr>
        <p:spPr>
          <a:xfrm>
            <a:off x="802369" y="1778887"/>
            <a:ext cx="4593770" cy="2862322"/>
          </a:xfrm>
          <a:prstGeom prst="rect">
            <a:avLst/>
          </a:prstGeom>
        </p:spPr>
        <p:txBody>
          <a:bodyPr wrap="square">
            <a:spAutoFit/>
          </a:bodyPr>
          <a:lstStyle/>
          <a:p>
            <a:pPr marL="457200" indent="-457200">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rPr>
              <a:t>Computers use the same basic hardware</a:t>
            </a:r>
          </a:p>
          <a:p>
            <a:pPr marL="457200" indent="-457200">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rPr>
              <a:t>Hardware categorized into four types</a:t>
            </a:r>
          </a:p>
        </p:txBody>
      </p:sp>
    </p:spTree>
    <p:extLst>
      <p:ext uri="{BB962C8B-B14F-4D97-AF65-F5344CB8AC3E}">
        <p14:creationId xmlns:p14="http://schemas.microsoft.com/office/powerpoint/2010/main" val="346439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16D1-E30A-4E16-A819-A35FF5902D00}"/>
              </a:ext>
            </a:extLst>
          </p:cNvPr>
          <p:cNvSpPr>
            <a:spLocks noGrp="1"/>
          </p:cNvSpPr>
          <p:nvPr>
            <p:ph type="title"/>
          </p:nvPr>
        </p:nvSpPr>
        <p:spPr/>
        <p:txBody>
          <a:bodyPr/>
          <a:lstStyle/>
          <a:p>
            <a:r>
              <a:rPr lang="en-US" altLang="en-US" dirty="0"/>
              <a:t>Inside the box</a:t>
            </a:r>
            <a:endParaRPr lang="LID4096" dirty="0"/>
          </a:p>
        </p:txBody>
      </p:sp>
      <p:pic>
        <p:nvPicPr>
          <p:cNvPr id="4" name="Picture 2051">
            <a:extLst>
              <a:ext uri="{FF2B5EF4-FFF2-40B4-BE49-F238E27FC236}">
                <a16:creationId xmlns:a16="http://schemas.microsoft.com/office/drawing/2014/main" id="{364339EA-B28B-4C10-84DB-3B2CC79B6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33" y="2066205"/>
            <a:ext cx="2525485" cy="30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2052">
            <a:extLst>
              <a:ext uri="{FF2B5EF4-FFF2-40B4-BE49-F238E27FC236}">
                <a16:creationId xmlns:a16="http://schemas.microsoft.com/office/drawing/2014/main" id="{B9F25578-1D3C-4E48-9D87-00F8B27D3EBC}"/>
              </a:ext>
            </a:extLst>
          </p:cNvPr>
          <p:cNvSpPr>
            <a:spLocks noChangeArrowheads="1"/>
          </p:cNvSpPr>
          <p:nvPr/>
        </p:nvSpPr>
        <p:spPr bwMode="auto">
          <a:xfrm>
            <a:off x="2255847" y="1892897"/>
            <a:ext cx="1981200" cy="762000"/>
          </a:xfrm>
          <a:prstGeom prst="wedgeRoundRectCallout">
            <a:avLst>
              <a:gd name="adj1" fmla="val -31653"/>
              <a:gd name="adj2" fmla="val 36875"/>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Motherboard</a:t>
            </a:r>
          </a:p>
        </p:txBody>
      </p:sp>
      <p:pic>
        <p:nvPicPr>
          <p:cNvPr id="6" name="Picture 1026">
            <a:extLst>
              <a:ext uri="{FF2B5EF4-FFF2-40B4-BE49-F238E27FC236}">
                <a16:creationId xmlns:a16="http://schemas.microsoft.com/office/drawing/2014/main" id="{DEB9CCAA-9655-47AA-942C-AEBF2E08B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9770" y="3246438"/>
            <a:ext cx="4163370"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1027">
            <a:extLst>
              <a:ext uri="{FF2B5EF4-FFF2-40B4-BE49-F238E27FC236}">
                <a16:creationId xmlns:a16="http://schemas.microsoft.com/office/drawing/2014/main" id="{20A377A5-B4B7-4684-A5E2-4D84C6A5810D}"/>
              </a:ext>
            </a:extLst>
          </p:cNvPr>
          <p:cNvSpPr>
            <a:spLocks noChangeArrowheads="1"/>
          </p:cNvSpPr>
          <p:nvPr/>
        </p:nvSpPr>
        <p:spPr bwMode="auto">
          <a:xfrm>
            <a:off x="5487343" y="3185349"/>
            <a:ext cx="2561797" cy="773197"/>
          </a:xfrm>
          <a:prstGeom prst="wedgeRoundRectCallout">
            <a:avLst>
              <a:gd name="adj1" fmla="val 17773"/>
              <a:gd name="adj2" fmla="val -27403"/>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CPU</a:t>
            </a:r>
          </a:p>
          <a:p>
            <a:pPr algn="ctr"/>
            <a:r>
              <a:rPr lang="en-US" altLang="en-US" dirty="0"/>
              <a:t>(Central Processing Unit)</a:t>
            </a:r>
          </a:p>
        </p:txBody>
      </p:sp>
      <p:pic>
        <p:nvPicPr>
          <p:cNvPr id="8" name="Picture 2">
            <a:extLst>
              <a:ext uri="{FF2B5EF4-FFF2-40B4-BE49-F238E27FC236}">
                <a16:creationId xmlns:a16="http://schemas.microsoft.com/office/drawing/2014/main" id="{6A7BC730-930A-4954-8BDF-4FF05BB15B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3523" y="1397255"/>
            <a:ext cx="457200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3">
            <a:extLst>
              <a:ext uri="{FF2B5EF4-FFF2-40B4-BE49-F238E27FC236}">
                <a16:creationId xmlns:a16="http://schemas.microsoft.com/office/drawing/2014/main" id="{81FEEBC6-DF6A-48A7-86A6-16E016C5DCB1}"/>
              </a:ext>
            </a:extLst>
          </p:cNvPr>
          <p:cNvSpPr>
            <a:spLocks noChangeArrowheads="1"/>
          </p:cNvSpPr>
          <p:nvPr/>
        </p:nvSpPr>
        <p:spPr bwMode="auto">
          <a:xfrm>
            <a:off x="9139700" y="1328394"/>
            <a:ext cx="1763485" cy="521380"/>
          </a:xfrm>
          <a:prstGeom prst="wedgeRoundRectCallout">
            <a:avLst>
              <a:gd name="adj1" fmla="val -30319"/>
              <a:gd name="adj2" fmla="val -38782"/>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a:p>
          <a:p>
            <a:pPr algn="ctr"/>
            <a:r>
              <a:rPr lang="en-US" altLang="en-US" dirty="0"/>
              <a:t>(RAM)</a:t>
            </a:r>
          </a:p>
        </p:txBody>
      </p:sp>
      <p:pic>
        <p:nvPicPr>
          <p:cNvPr id="10" name="Picture 1026">
            <a:extLst>
              <a:ext uri="{FF2B5EF4-FFF2-40B4-BE49-F238E27FC236}">
                <a16:creationId xmlns:a16="http://schemas.microsoft.com/office/drawing/2014/main" id="{19AFFFAD-76F2-441D-A40E-996E769DD9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2643" y="2719933"/>
            <a:ext cx="3657600"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AutoShape 1027">
            <a:extLst>
              <a:ext uri="{FF2B5EF4-FFF2-40B4-BE49-F238E27FC236}">
                <a16:creationId xmlns:a16="http://schemas.microsoft.com/office/drawing/2014/main" id="{F4FCDA89-AAB0-4083-AF2D-4810595BC5C5}"/>
              </a:ext>
            </a:extLst>
          </p:cNvPr>
          <p:cNvSpPr>
            <a:spLocks noChangeArrowheads="1"/>
          </p:cNvSpPr>
          <p:nvPr/>
        </p:nvSpPr>
        <p:spPr bwMode="auto">
          <a:xfrm>
            <a:off x="9616483" y="4957648"/>
            <a:ext cx="2170557" cy="821788"/>
          </a:xfrm>
          <a:prstGeom prst="wedgeRoundRectCallout">
            <a:avLst>
              <a:gd name="adj1" fmla="val -24477"/>
              <a:gd name="adj2" fmla="val -15065"/>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HDD</a:t>
            </a:r>
          </a:p>
          <a:p>
            <a:pPr algn="ctr"/>
            <a:r>
              <a:rPr lang="en-US" altLang="en-US" dirty="0"/>
              <a:t>(Hard Disk Drive)</a:t>
            </a:r>
          </a:p>
        </p:txBody>
      </p:sp>
    </p:spTree>
    <p:extLst>
      <p:ext uri="{BB962C8B-B14F-4D97-AF65-F5344CB8AC3E}">
        <p14:creationId xmlns:p14="http://schemas.microsoft.com/office/powerpoint/2010/main" val="3664455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8025-1611-4078-830B-DDFA47764B7C}"/>
              </a:ext>
            </a:extLst>
          </p:cNvPr>
          <p:cNvSpPr>
            <a:spLocks noGrp="1"/>
          </p:cNvSpPr>
          <p:nvPr>
            <p:ph type="title"/>
          </p:nvPr>
        </p:nvSpPr>
        <p:spPr/>
        <p:txBody>
          <a:bodyPr/>
          <a:lstStyle/>
          <a:p>
            <a:r>
              <a:rPr lang="en-US" dirty="0"/>
              <a:t>Mother-board</a:t>
            </a:r>
            <a:endParaRPr lang="LID4096" dirty="0"/>
          </a:p>
        </p:txBody>
      </p:sp>
      <p:sp>
        <p:nvSpPr>
          <p:cNvPr id="3" name="Content Placeholder 2">
            <a:extLst>
              <a:ext uri="{FF2B5EF4-FFF2-40B4-BE49-F238E27FC236}">
                <a16:creationId xmlns:a16="http://schemas.microsoft.com/office/drawing/2014/main" id="{F0D56411-4106-40F9-B6FF-C44092113C75}"/>
              </a:ext>
            </a:extLst>
          </p:cNvPr>
          <p:cNvSpPr>
            <a:spLocks noGrp="1"/>
          </p:cNvSpPr>
          <p:nvPr>
            <p:ph idx="1"/>
          </p:nvPr>
        </p:nvSpPr>
        <p:spPr/>
        <p:txBody>
          <a:bodyPr>
            <a:normAutofit/>
          </a:bodyPr>
          <a:lstStyle/>
          <a:p>
            <a:pPr marL="0" indent="0" algn="ctr">
              <a:buNone/>
            </a:pPr>
            <a:r>
              <a:rPr lang="en-US" dirty="0"/>
              <a:t>It holds together many of the crucial components of a computer</a:t>
            </a:r>
          </a:p>
          <a:p>
            <a:pPr marL="0" indent="0">
              <a:buNone/>
            </a:pPr>
            <a:endParaRPr lang="en-US" b="1" dirty="0"/>
          </a:p>
          <a:p>
            <a:pPr marL="0" indent="0">
              <a:buNone/>
            </a:pPr>
            <a:r>
              <a:rPr lang="en-US" b="1" dirty="0"/>
              <a:t>Parts of a Motherboard</a:t>
            </a:r>
          </a:p>
          <a:p>
            <a:pPr marL="971550" lvl="1" indent="-514350">
              <a:buFont typeface="+mj-lt"/>
              <a:buAutoNum type="arabicPeriod"/>
            </a:pPr>
            <a:r>
              <a:rPr lang="en-US" dirty="0"/>
              <a:t>A CPU socket</a:t>
            </a:r>
          </a:p>
          <a:p>
            <a:pPr marL="971550" lvl="1" indent="-514350">
              <a:buFont typeface="+mj-lt"/>
              <a:buAutoNum type="arabicPeriod"/>
            </a:pPr>
            <a:r>
              <a:rPr lang="en-US" dirty="0"/>
              <a:t>A power connector</a:t>
            </a:r>
          </a:p>
          <a:p>
            <a:pPr marL="971550" lvl="1" indent="-514350">
              <a:buFont typeface="+mj-lt"/>
              <a:buAutoNum type="arabicPeriod"/>
            </a:pPr>
            <a:r>
              <a:rPr lang="en-US" dirty="0"/>
              <a:t>A Slots for RAM</a:t>
            </a:r>
          </a:p>
          <a:p>
            <a:pPr marL="971550" lvl="1" indent="-514350">
              <a:buFont typeface="+mj-lt"/>
              <a:buAutoNum type="arabicPeriod"/>
            </a:pPr>
            <a:r>
              <a:rPr lang="en-US" dirty="0"/>
              <a:t>A second chip controls the input and output (I/O) functions</a:t>
            </a:r>
          </a:p>
          <a:p>
            <a:pPr marL="971550" lvl="1" indent="-514350">
              <a:buFont typeface="+mj-lt"/>
              <a:buAutoNum type="arabicPeriod"/>
            </a:pPr>
            <a:r>
              <a:rPr lang="en-US" dirty="0"/>
              <a:t>A Slots for one or more hard drives</a:t>
            </a:r>
          </a:p>
          <a:p>
            <a:pPr marL="971550" lvl="1" indent="-514350">
              <a:buFont typeface="+mj-lt"/>
              <a:buAutoNum type="arabicPeriod"/>
            </a:pPr>
            <a:r>
              <a:rPr lang="en-US" dirty="0"/>
              <a:t>A read-only memory (ROM) chip</a:t>
            </a:r>
          </a:p>
          <a:p>
            <a:pPr marL="971550" lvl="1" indent="-514350">
              <a:buFont typeface="+mj-lt"/>
              <a:buAutoNum type="arabicPeriod"/>
            </a:pPr>
            <a:r>
              <a:rPr lang="en-US" dirty="0"/>
              <a:t>A slot for a video or graphics card</a:t>
            </a:r>
            <a:endParaRPr lang="LID4096" dirty="0"/>
          </a:p>
        </p:txBody>
      </p:sp>
      <p:pic>
        <p:nvPicPr>
          <p:cNvPr id="4" name="Picture 3">
            <a:extLst>
              <a:ext uri="{FF2B5EF4-FFF2-40B4-BE49-F238E27FC236}">
                <a16:creationId xmlns:a16="http://schemas.microsoft.com/office/drawing/2014/main" id="{70CFC1C5-C884-4875-AD26-982ABF2CE7FC}"/>
              </a:ext>
            </a:extLst>
          </p:cNvPr>
          <p:cNvPicPr>
            <a:picLocks noChangeAspect="1"/>
          </p:cNvPicPr>
          <p:nvPr/>
        </p:nvPicPr>
        <p:blipFill>
          <a:blip r:embed="rId3"/>
          <a:stretch>
            <a:fillRect/>
          </a:stretch>
        </p:blipFill>
        <p:spPr>
          <a:xfrm>
            <a:off x="7095580" y="4464028"/>
            <a:ext cx="4506129" cy="2083934"/>
          </a:xfrm>
          <a:prstGeom prst="rect">
            <a:avLst/>
          </a:prstGeom>
        </p:spPr>
      </p:pic>
    </p:spTree>
    <p:extLst>
      <p:ext uri="{BB962C8B-B14F-4D97-AF65-F5344CB8AC3E}">
        <p14:creationId xmlns:p14="http://schemas.microsoft.com/office/powerpoint/2010/main" val="245062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1E6C8-148B-4B0F-94C1-BC81D999AB8B}"/>
              </a:ext>
            </a:extLst>
          </p:cNvPr>
          <p:cNvSpPr>
            <a:spLocks noGrp="1"/>
          </p:cNvSpPr>
          <p:nvPr>
            <p:ph type="title"/>
          </p:nvPr>
        </p:nvSpPr>
        <p:spPr/>
        <p:txBody>
          <a:bodyPr>
            <a:normAutofit/>
          </a:bodyPr>
          <a:lstStyle/>
          <a:p>
            <a:r>
              <a:rPr lang="en-US" altLang="en-US" sz="4000" dirty="0"/>
              <a:t>Central Processing Unit</a:t>
            </a:r>
            <a:endParaRPr lang="LID4096" sz="4000" dirty="0"/>
          </a:p>
        </p:txBody>
      </p:sp>
      <p:sp>
        <p:nvSpPr>
          <p:cNvPr id="3" name="Content Placeholder 2">
            <a:extLst>
              <a:ext uri="{FF2B5EF4-FFF2-40B4-BE49-F238E27FC236}">
                <a16:creationId xmlns:a16="http://schemas.microsoft.com/office/drawing/2014/main" id="{9B9BB50E-8DEE-4858-93EF-118BAC03EB1F}"/>
              </a:ext>
            </a:extLst>
          </p:cNvPr>
          <p:cNvSpPr>
            <a:spLocks noGrp="1"/>
          </p:cNvSpPr>
          <p:nvPr>
            <p:ph idx="1"/>
          </p:nvPr>
        </p:nvSpPr>
        <p:spPr>
          <a:xfrm>
            <a:off x="1045028" y="1690688"/>
            <a:ext cx="10308771" cy="4488043"/>
          </a:xfrm>
        </p:spPr>
        <p:txBody>
          <a:bodyPr>
            <a:normAutofit/>
          </a:bodyPr>
          <a:lstStyle/>
          <a:p>
            <a:r>
              <a:rPr lang="en-US" altLang="en-US" dirty="0"/>
              <a:t>It is the </a:t>
            </a:r>
            <a:r>
              <a:rPr lang="en-US" altLang="en-US" b="1" dirty="0">
                <a:solidFill>
                  <a:srgbClr val="FF0000"/>
                </a:solidFill>
              </a:rPr>
              <a:t>brain</a:t>
            </a:r>
            <a:r>
              <a:rPr lang="en-US" altLang="en-US" dirty="0"/>
              <a:t> of a computer system.</a:t>
            </a:r>
          </a:p>
          <a:p>
            <a:r>
              <a:rPr lang="en-US" altLang="en-US" dirty="0"/>
              <a:t>Carries out instructions from the program.</a:t>
            </a:r>
          </a:p>
          <a:p>
            <a:r>
              <a:rPr lang="en-US" dirty="0"/>
              <a:t>Performs the basic arithmetical, logical, and input/output operations.</a:t>
            </a:r>
            <a:endParaRPr lang="en-US" altLang="en-US" dirty="0"/>
          </a:p>
          <a:p>
            <a:r>
              <a:rPr lang="en-US" dirty="0"/>
              <a:t>!!Remember that this is all about speed.</a:t>
            </a:r>
            <a:endParaRPr lang="en-US" altLang="en-US" dirty="0"/>
          </a:p>
          <a:p>
            <a:r>
              <a:rPr lang="en-US" b="1" dirty="0"/>
              <a:t>Components</a:t>
            </a:r>
          </a:p>
          <a:p>
            <a:pPr marL="514350" indent="-514350">
              <a:buAutoNum type="arabicPeriod"/>
            </a:pPr>
            <a:r>
              <a:rPr lang="en-US" altLang="en-US" dirty="0"/>
              <a:t>ALU</a:t>
            </a:r>
          </a:p>
          <a:p>
            <a:pPr marL="514350" indent="-514350">
              <a:buAutoNum type="arabicPeriod"/>
            </a:pPr>
            <a:r>
              <a:rPr lang="en-US" altLang="en-US" dirty="0"/>
              <a:t>CU</a:t>
            </a:r>
          </a:p>
          <a:p>
            <a:pPr marL="514350" indent="-514350">
              <a:buAutoNum type="arabicPeriod"/>
            </a:pPr>
            <a:r>
              <a:rPr lang="en-US" altLang="en-US" dirty="0"/>
              <a:t>Cache</a:t>
            </a:r>
          </a:p>
          <a:p>
            <a:endParaRPr lang="LID4096" dirty="0"/>
          </a:p>
        </p:txBody>
      </p:sp>
      <p:pic>
        <p:nvPicPr>
          <p:cNvPr id="4" name="Content Placeholder 4">
            <a:extLst>
              <a:ext uri="{FF2B5EF4-FFF2-40B4-BE49-F238E27FC236}">
                <a16:creationId xmlns:a16="http://schemas.microsoft.com/office/drawing/2014/main" id="{2CF6A5AD-C13B-4308-ABA8-FC165D8899CB}"/>
              </a:ext>
            </a:extLst>
          </p:cNvPr>
          <p:cNvPicPr>
            <a:picLocks noChangeAspect="1"/>
          </p:cNvPicPr>
          <p:nvPr/>
        </p:nvPicPr>
        <p:blipFill>
          <a:blip r:embed="rId3">
            <a:extLst>
              <a:ext uri="{28A0092B-C50C-407E-A947-70E740481C1C}">
                <a14:useLocalDpi xmlns:a14="http://schemas.microsoft.com/office/drawing/2010/main" val="0"/>
              </a:ext>
            </a:extLst>
          </a:blip>
          <a:srcRect b="55667"/>
          <a:stretch>
            <a:fillRect/>
          </a:stretch>
        </p:blipFill>
        <p:spPr bwMode="auto">
          <a:xfrm>
            <a:off x="4015922" y="4502331"/>
            <a:ext cx="71310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Image result for processors">
            <a:extLst>
              <a:ext uri="{FF2B5EF4-FFF2-40B4-BE49-F238E27FC236}">
                <a16:creationId xmlns:a16="http://schemas.microsoft.com/office/drawing/2014/main" id="{BC1FC6D1-857A-419C-A7DE-864A072500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720" y="679269"/>
            <a:ext cx="2637639" cy="1908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157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46EF2-0B7E-49A8-804E-D2F06200F4CC}"/>
              </a:ext>
            </a:extLst>
          </p:cNvPr>
          <p:cNvSpPr>
            <a:spLocks noGrp="1"/>
          </p:cNvSpPr>
          <p:nvPr>
            <p:ph type="title"/>
          </p:nvPr>
        </p:nvSpPr>
        <p:spPr/>
        <p:txBody>
          <a:bodyPr/>
          <a:lstStyle/>
          <a:p>
            <a:r>
              <a:rPr lang="en-US" altLang="en-US" dirty="0"/>
              <a:t>Arithmetic Logic Unit- ALU</a:t>
            </a:r>
            <a:endParaRPr lang="LID4096" dirty="0"/>
          </a:p>
        </p:txBody>
      </p:sp>
      <p:sp>
        <p:nvSpPr>
          <p:cNvPr id="3" name="Content Placeholder 2">
            <a:extLst>
              <a:ext uri="{FF2B5EF4-FFF2-40B4-BE49-F238E27FC236}">
                <a16:creationId xmlns:a16="http://schemas.microsoft.com/office/drawing/2014/main" id="{CF1C0163-EAD3-4F8E-9807-9A1B7B928ECF}"/>
              </a:ext>
            </a:extLst>
          </p:cNvPr>
          <p:cNvSpPr>
            <a:spLocks noGrp="1"/>
          </p:cNvSpPr>
          <p:nvPr>
            <p:ph idx="1"/>
          </p:nvPr>
        </p:nvSpPr>
        <p:spPr>
          <a:xfrm>
            <a:off x="1045028" y="1825625"/>
            <a:ext cx="7625443" cy="4353106"/>
          </a:xfrm>
        </p:spPr>
        <p:txBody>
          <a:bodyPr>
            <a:normAutofit/>
          </a:bodyPr>
          <a:lstStyle/>
          <a:p>
            <a:r>
              <a:rPr lang="en-US" dirty="0"/>
              <a:t>An </a:t>
            </a:r>
            <a:r>
              <a:rPr lang="en-US" b="1" dirty="0"/>
              <a:t>arithmetic logic unit (ALU)</a:t>
            </a:r>
            <a:r>
              <a:rPr lang="en-US" dirty="0"/>
              <a:t> is a digital circuit used to perform arithmetic and logic operations. </a:t>
            </a:r>
          </a:p>
          <a:p>
            <a:r>
              <a:rPr lang="en-US" dirty="0"/>
              <a:t>The </a:t>
            </a:r>
            <a:r>
              <a:rPr lang="en-US" b="1" dirty="0"/>
              <a:t>control unit </a:t>
            </a:r>
            <a:r>
              <a:rPr lang="en-US" dirty="0"/>
              <a:t>moves the data between these registers, the ALU, and memory.</a:t>
            </a:r>
            <a:endParaRPr lang="en-US" altLang="en-US" dirty="0"/>
          </a:p>
          <a:p>
            <a:endParaRPr lang="LID4096" dirty="0"/>
          </a:p>
        </p:txBody>
      </p:sp>
      <p:pic>
        <p:nvPicPr>
          <p:cNvPr id="4" name="Picture 3">
            <a:extLst>
              <a:ext uri="{FF2B5EF4-FFF2-40B4-BE49-F238E27FC236}">
                <a16:creationId xmlns:a16="http://schemas.microsoft.com/office/drawing/2014/main" id="{60B32541-5E1D-423B-9CF5-26CAA938223C}"/>
              </a:ext>
            </a:extLst>
          </p:cNvPr>
          <p:cNvPicPr>
            <a:picLocks noChangeAspect="1"/>
          </p:cNvPicPr>
          <p:nvPr/>
        </p:nvPicPr>
        <p:blipFill>
          <a:blip r:embed="rId3"/>
          <a:stretch>
            <a:fillRect/>
          </a:stretch>
        </p:blipFill>
        <p:spPr>
          <a:xfrm>
            <a:off x="8692241" y="1970133"/>
            <a:ext cx="3037024" cy="40640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69665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4DD0-7E89-439D-950C-B31BFD8B1A2D}"/>
              </a:ext>
            </a:extLst>
          </p:cNvPr>
          <p:cNvSpPr>
            <a:spLocks noGrp="1"/>
          </p:cNvSpPr>
          <p:nvPr>
            <p:ph type="title"/>
          </p:nvPr>
        </p:nvSpPr>
        <p:spPr>
          <a:xfrm>
            <a:off x="1066798" y="477581"/>
            <a:ext cx="10058400" cy="1371600"/>
          </a:xfrm>
        </p:spPr>
        <p:txBody>
          <a:bodyPr>
            <a:normAutofit/>
          </a:bodyPr>
          <a:lstStyle/>
          <a:p>
            <a:r>
              <a:rPr lang="en-US" b="1" dirty="0"/>
              <a:t>How an ALU Works</a:t>
            </a:r>
            <a:endParaRPr lang="LID4096" dirty="0"/>
          </a:p>
        </p:txBody>
      </p:sp>
      <p:sp>
        <p:nvSpPr>
          <p:cNvPr id="3" name="Content Placeholder 2">
            <a:extLst>
              <a:ext uri="{FF2B5EF4-FFF2-40B4-BE49-F238E27FC236}">
                <a16:creationId xmlns:a16="http://schemas.microsoft.com/office/drawing/2014/main" id="{44A4AED1-6E19-4A26-9BE4-427930E94814}"/>
              </a:ext>
            </a:extLst>
          </p:cNvPr>
          <p:cNvSpPr>
            <a:spLocks noGrp="1"/>
          </p:cNvSpPr>
          <p:nvPr>
            <p:ph idx="1"/>
          </p:nvPr>
        </p:nvSpPr>
        <p:spPr>
          <a:xfrm>
            <a:off x="941613" y="3980906"/>
            <a:ext cx="10308771" cy="2407783"/>
          </a:xfrm>
        </p:spPr>
        <p:txBody>
          <a:bodyPr>
            <a:normAutofit/>
          </a:bodyPr>
          <a:lstStyle/>
          <a:p>
            <a:pPr>
              <a:spcBef>
                <a:spcPts val="800"/>
              </a:spcBef>
              <a:buFont typeface="Arial" charset="0"/>
              <a:buChar char="•"/>
            </a:pPr>
            <a:r>
              <a:rPr lang="en-US" dirty="0">
                <a:solidFill>
                  <a:srgbClr val="000000"/>
                </a:solidFill>
              </a:rPr>
              <a:t>There are also circuits for multiplying, for comparing two numbers, etc.</a:t>
            </a:r>
          </a:p>
          <a:p>
            <a:pPr>
              <a:spcBef>
                <a:spcPts val="800"/>
              </a:spcBef>
              <a:buFont typeface="Arial" charset="0"/>
              <a:buChar char="•"/>
            </a:pPr>
            <a:r>
              <a:rPr lang="en-US" b="1" dirty="0"/>
              <a:t>Transistor</a:t>
            </a:r>
            <a:r>
              <a:rPr lang="en-US" dirty="0"/>
              <a:t> switches are used to manipulate binary numbers </a:t>
            </a:r>
            <a:endParaRPr lang="en-US" dirty="0">
              <a:solidFill>
                <a:srgbClr val="000000"/>
              </a:solidFill>
            </a:endParaRPr>
          </a:p>
          <a:p>
            <a:pPr lvl="1">
              <a:buFont typeface="Wingdings" panose="05000000000000000000" pitchFamily="2" charset="2"/>
              <a:buChar char="v"/>
            </a:pPr>
            <a:r>
              <a:rPr lang="en-US" dirty="0"/>
              <a:t>An open transistor represents a 0. </a:t>
            </a:r>
          </a:p>
          <a:p>
            <a:pPr lvl="1">
              <a:buFont typeface="Wingdings" panose="05000000000000000000" pitchFamily="2" charset="2"/>
              <a:buChar char="v"/>
            </a:pPr>
            <a:r>
              <a:rPr lang="en-US" dirty="0"/>
              <a:t>A closed transistor represents a 1.</a:t>
            </a:r>
            <a:endParaRPr lang="LID4096" b="1" dirty="0"/>
          </a:p>
        </p:txBody>
      </p:sp>
      <p:graphicFrame>
        <p:nvGraphicFramePr>
          <p:cNvPr id="4" name="Diagram 3">
            <a:extLst>
              <a:ext uri="{FF2B5EF4-FFF2-40B4-BE49-F238E27FC236}">
                <a16:creationId xmlns:a16="http://schemas.microsoft.com/office/drawing/2014/main" id="{CBB953AD-8412-40D0-8699-8C3E47717895}"/>
              </a:ext>
            </a:extLst>
          </p:cNvPr>
          <p:cNvGraphicFramePr/>
          <p:nvPr>
            <p:extLst/>
          </p:nvPr>
        </p:nvGraphicFramePr>
        <p:xfrm>
          <a:off x="1953984" y="1439334"/>
          <a:ext cx="8284030" cy="1989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3185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F04D7-3274-4797-B5B8-3D05B93435BE}"/>
              </a:ext>
            </a:extLst>
          </p:cNvPr>
          <p:cNvSpPr>
            <a:spLocks noGrp="1"/>
          </p:cNvSpPr>
          <p:nvPr>
            <p:ph type="title"/>
          </p:nvPr>
        </p:nvSpPr>
        <p:spPr/>
        <p:txBody>
          <a:bodyPr/>
          <a:lstStyle/>
          <a:p>
            <a:r>
              <a:rPr lang="en-US" spc="-9" dirty="0"/>
              <a:t>Control Unit</a:t>
            </a:r>
            <a:r>
              <a:rPr lang="en-US" spc="4" dirty="0"/>
              <a:t> </a:t>
            </a:r>
            <a:r>
              <a:rPr lang="en-US" spc="-9" dirty="0"/>
              <a:t>(CU)</a:t>
            </a:r>
            <a:endParaRPr lang="LID4096" dirty="0"/>
          </a:p>
        </p:txBody>
      </p:sp>
      <p:sp>
        <p:nvSpPr>
          <p:cNvPr id="3" name="Content Placeholder 2">
            <a:extLst>
              <a:ext uri="{FF2B5EF4-FFF2-40B4-BE49-F238E27FC236}">
                <a16:creationId xmlns:a16="http://schemas.microsoft.com/office/drawing/2014/main" id="{CB9F10C4-84A1-4C71-8005-A25CEAA6257B}"/>
              </a:ext>
            </a:extLst>
          </p:cNvPr>
          <p:cNvSpPr>
            <a:spLocks noGrp="1"/>
          </p:cNvSpPr>
          <p:nvPr>
            <p:ph idx="1"/>
          </p:nvPr>
        </p:nvSpPr>
        <p:spPr/>
        <p:txBody>
          <a:bodyPr>
            <a:normAutofit/>
          </a:bodyPr>
          <a:lstStyle/>
          <a:p>
            <a:pPr marL="314902" indent="-303696">
              <a:spcBef>
                <a:spcPts val="1019"/>
              </a:spcBef>
              <a:buClr>
                <a:srgbClr val="FF3300"/>
              </a:buClr>
              <a:buFont typeface="Wingdings"/>
              <a:buChar char=""/>
              <a:tabLst>
                <a:tab pos="314902" algn="l"/>
                <a:tab pos="315462" algn="l"/>
              </a:tabLst>
            </a:pPr>
            <a:r>
              <a:rPr lang="en-US" spc="-9" dirty="0">
                <a:solidFill>
                  <a:srgbClr val="333333"/>
                </a:solidFill>
              </a:rPr>
              <a:t>One </a:t>
            </a:r>
            <a:r>
              <a:rPr lang="en-US" spc="-4" dirty="0">
                <a:solidFill>
                  <a:srgbClr val="333333"/>
                </a:solidFill>
              </a:rPr>
              <a:t>of the </a:t>
            </a:r>
            <a:r>
              <a:rPr lang="en-US" spc="-9" dirty="0">
                <a:solidFill>
                  <a:srgbClr val="333333"/>
                </a:solidFill>
              </a:rPr>
              <a:t>two </a:t>
            </a:r>
            <a:r>
              <a:rPr lang="en-US" spc="-4" dirty="0">
                <a:solidFill>
                  <a:srgbClr val="333333"/>
                </a:solidFill>
              </a:rPr>
              <a:t>basic </a:t>
            </a:r>
            <a:r>
              <a:rPr lang="en-US" spc="-9" dirty="0">
                <a:solidFill>
                  <a:srgbClr val="333333"/>
                </a:solidFill>
              </a:rPr>
              <a:t>components of CPU</a:t>
            </a:r>
            <a:endParaRPr lang="en-US" dirty="0"/>
          </a:p>
          <a:p>
            <a:pPr marL="314902" marR="5043" indent="-303696">
              <a:spcBef>
                <a:spcPts val="931"/>
              </a:spcBef>
              <a:buClr>
                <a:srgbClr val="FF3300"/>
              </a:buClr>
              <a:buFont typeface="Wingdings"/>
              <a:buChar char=""/>
              <a:tabLst>
                <a:tab pos="314902" algn="l"/>
                <a:tab pos="315462" algn="l"/>
                <a:tab pos="941344" algn="l"/>
                <a:tab pos="1344217" algn="l"/>
                <a:tab pos="1860276" algn="l"/>
                <a:tab pos="2788172" algn="l"/>
                <a:tab pos="3834857" algn="l"/>
                <a:tab pos="4795253" algn="l"/>
                <a:tab pos="5160584" algn="l"/>
                <a:tab pos="5448030" algn="l"/>
              </a:tabLst>
            </a:pPr>
            <a:r>
              <a:rPr lang="en-US" spc="-4" dirty="0">
                <a:solidFill>
                  <a:srgbClr val="333333"/>
                </a:solidFill>
              </a:rPr>
              <a:t>A</a:t>
            </a:r>
            <a:r>
              <a:rPr lang="en-US" spc="-13" dirty="0">
                <a:solidFill>
                  <a:srgbClr val="333333"/>
                </a:solidFill>
              </a:rPr>
              <a:t>c</a:t>
            </a:r>
            <a:r>
              <a:rPr lang="en-US" dirty="0">
                <a:solidFill>
                  <a:srgbClr val="333333"/>
                </a:solidFill>
              </a:rPr>
              <a:t>t</a:t>
            </a:r>
            <a:r>
              <a:rPr lang="en-US" spc="-4" dirty="0">
                <a:solidFill>
                  <a:srgbClr val="333333"/>
                </a:solidFill>
              </a:rPr>
              <a:t>s as </a:t>
            </a:r>
            <a:r>
              <a:rPr lang="en-US" dirty="0">
                <a:solidFill>
                  <a:srgbClr val="333333"/>
                </a:solidFill>
              </a:rPr>
              <a:t>th</a:t>
            </a:r>
            <a:r>
              <a:rPr lang="en-US" spc="-4" dirty="0">
                <a:solidFill>
                  <a:srgbClr val="333333"/>
                </a:solidFill>
              </a:rPr>
              <a:t>e </a:t>
            </a:r>
            <a:r>
              <a:rPr lang="en-US" spc="4" dirty="0">
                <a:solidFill>
                  <a:srgbClr val="333333"/>
                </a:solidFill>
              </a:rPr>
              <a:t>c</a:t>
            </a:r>
            <a:r>
              <a:rPr lang="en-US" spc="-18" dirty="0">
                <a:solidFill>
                  <a:srgbClr val="333333"/>
                </a:solidFill>
              </a:rPr>
              <a:t>e</a:t>
            </a:r>
            <a:r>
              <a:rPr lang="en-US" dirty="0">
                <a:solidFill>
                  <a:srgbClr val="333333"/>
                </a:solidFill>
              </a:rPr>
              <a:t>nt</a:t>
            </a:r>
            <a:r>
              <a:rPr lang="en-US" spc="-18" dirty="0">
                <a:solidFill>
                  <a:srgbClr val="333333"/>
                </a:solidFill>
              </a:rPr>
              <a:t>r</a:t>
            </a:r>
            <a:r>
              <a:rPr lang="en-US" spc="-4" dirty="0">
                <a:solidFill>
                  <a:srgbClr val="333333"/>
                </a:solidFill>
              </a:rPr>
              <a:t>al </a:t>
            </a:r>
            <a:r>
              <a:rPr lang="en-US" dirty="0">
                <a:solidFill>
                  <a:srgbClr val="333333"/>
                </a:solidFill>
              </a:rPr>
              <a:t>n</a:t>
            </a:r>
            <a:r>
              <a:rPr lang="en-US" spc="-18" dirty="0">
                <a:solidFill>
                  <a:srgbClr val="333333"/>
                </a:solidFill>
              </a:rPr>
              <a:t>er</a:t>
            </a:r>
            <a:r>
              <a:rPr lang="en-US" spc="-4" dirty="0">
                <a:solidFill>
                  <a:srgbClr val="333333"/>
                </a:solidFill>
              </a:rPr>
              <a:t>v</a:t>
            </a:r>
            <a:r>
              <a:rPr lang="en-US" spc="-13" dirty="0">
                <a:solidFill>
                  <a:srgbClr val="333333"/>
                </a:solidFill>
              </a:rPr>
              <a:t>o</a:t>
            </a:r>
            <a:r>
              <a:rPr lang="en-US" dirty="0">
                <a:solidFill>
                  <a:srgbClr val="333333"/>
                </a:solidFill>
              </a:rPr>
              <a:t>u</a:t>
            </a:r>
            <a:r>
              <a:rPr lang="en-US" spc="-4" dirty="0">
                <a:solidFill>
                  <a:srgbClr val="333333"/>
                </a:solidFill>
              </a:rPr>
              <a:t>s </a:t>
            </a:r>
            <a:r>
              <a:rPr lang="en-US" spc="4" dirty="0">
                <a:solidFill>
                  <a:srgbClr val="333333"/>
                </a:solidFill>
              </a:rPr>
              <a:t>s</a:t>
            </a:r>
            <a:r>
              <a:rPr lang="en-US" spc="-4" dirty="0">
                <a:solidFill>
                  <a:srgbClr val="333333"/>
                </a:solidFill>
              </a:rPr>
              <a:t>y</a:t>
            </a:r>
            <a:r>
              <a:rPr lang="en-US" spc="-13" dirty="0">
                <a:solidFill>
                  <a:srgbClr val="333333"/>
                </a:solidFill>
              </a:rPr>
              <a:t>s</a:t>
            </a:r>
            <a:r>
              <a:rPr lang="en-US" dirty="0">
                <a:solidFill>
                  <a:srgbClr val="333333"/>
                </a:solidFill>
              </a:rPr>
              <a:t>te</a:t>
            </a:r>
            <a:r>
              <a:rPr lang="en-US" spc="-9" dirty="0">
                <a:solidFill>
                  <a:srgbClr val="333333"/>
                </a:solidFill>
              </a:rPr>
              <a:t>m </a:t>
            </a:r>
            <a:r>
              <a:rPr lang="en-US" spc="-13" dirty="0">
                <a:solidFill>
                  <a:srgbClr val="333333"/>
                </a:solidFill>
              </a:rPr>
              <a:t>o</a:t>
            </a:r>
            <a:r>
              <a:rPr lang="en-US" spc="-4" dirty="0">
                <a:solidFill>
                  <a:srgbClr val="333333"/>
                </a:solidFill>
              </a:rPr>
              <a:t>f a </a:t>
            </a:r>
            <a:r>
              <a:rPr lang="en-US" spc="-13" dirty="0">
                <a:solidFill>
                  <a:srgbClr val="333333"/>
                </a:solidFill>
              </a:rPr>
              <a:t>c</a:t>
            </a:r>
            <a:r>
              <a:rPr lang="en-US" dirty="0">
                <a:solidFill>
                  <a:srgbClr val="333333"/>
                </a:solidFill>
              </a:rPr>
              <a:t>o</a:t>
            </a:r>
            <a:r>
              <a:rPr lang="en-US" spc="-4" dirty="0">
                <a:solidFill>
                  <a:srgbClr val="333333"/>
                </a:solidFill>
              </a:rPr>
              <a:t>mp</a:t>
            </a:r>
            <a:r>
              <a:rPr lang="en-US" dirty="0">
                <a:solidFill>
                  <a:srgbClr val="333333"/>
                </a:solidFill>
              </a:rPr>
              <a:t>ut</a:t>
            </a:r>
            <a:r>
              <a:rPr lang="en-US" spc="-18" dirty="0">
                <a:solidFill>
                  <a:srgbClr val="333333"/>
                </a:solidFill>
              </a:rPr>
              <a:t>er  </a:t>
            </a:r>
            <a:r>
              <a:rPr lang="en-US" spc="-13" dirty="0">
                <a:solidFill>
                  <a:srgbClr val="333333"/>
                </a:solidFill>
              </a:rPr>
              <a:t>system</a:t>
            </a:r>
            <a:endParaRPr lang="en-US" dirty="0"/>
          </a:p>
          <a:p>
            <a:pPr marL="314902" marR="4483" indent="-303696">
              <a:spcBef>
                <a:spcPts val="953"/>
              </a:spcBef>
              <a:buClr>
                <a:srgbClr val="FF3300"/>
              </a:buClr>
              <a:buFont typeface="Wingdings"/>
              <a:buChar char=""/>
              <a:tabLst>
                <a:tab pos="314902" algn="l"/>
                <a:tab pos="315462" algn="l"/>
                <a:tab pos="1341976" algn="l"/>
                <a:tab pos="1985228" algn="l"/>
                <a:tab pos="3303110" algn="l"/>
                <a:tab pos="4488756" algn="l"/>
                <a:tab pos="6099127" algn="l"/>
              </a:tabLst>
            </a:pPr>
            <a:r>
              <a:rPr lang="en-US" spc="-4" dirty="0">
                <a:solidFill>
                  <a:srgbClr val="333333"/>
                </a:solidFill>
              </a:rPr>
              <a:t>S</a:t>
            </a:r>
            <a:r>
              <a:rPr lang="en-US" spc="-18" dirty="0">
                <a:solidFill>
                  <a:srgbClr val="333333"/>
                </a:solidFill>
              </a:rPr>
              <a:t>e</a:t>
            </a:r>
            <a:r>
              <a:rPr lang="en-US" spc="18" dirty="0">
                <a:solidFill>
                  <a:srgbClr val="333333"/>
                </a:solidFill>
              </a:rPr>
              <a:t>l</a:t>
            </a:r>
            <a:r>
              <a:rPr lang="en-US" spc="-18" dirty="0">
                <a:solidFill>
                  <a:srgbClr val="333333"/>
                </a:solidFill>
              </a:rPr>
              <a:t>e</a:t>
            </a:r>
            <a:r>
              <a:rPr lang="en-US" spc="-13" dirty="0">
                <a:solidFill>
                  <a:srgbClr val="333333"/>
                </a:solidFill>
              </a:rPr>
              <a:t>c</a:t>
            </a:r>
            <a:r>
              <a:rPr lang="en-US" dirty="0">
                <a:solidFill>
                  <a:srgbClr val="333333"/>
                </a:solidFill>
              </a:rPr>
              <a:t>t</a:t>
            </a:r>
            <a:r>
              <a:rPr lang="en-US" spc="-4" dirty="0">
                <a:solidFill>
                  <a:srgbClr val="333333"/>
                </a:solidFill>
              </a:rPr>
              <a:t>s</a:t>
            </a:r>
            <a:r>
              <a:rPr lang="en-US" dirty="0">
                <a:solidFill>
                  <a:srgbClr val="333333"/>
                </a:solidFill>
              </a:rPr>
              <a:t>	</a:t>
            </a:r>
            <a:r>
              <a:rPr lang="en-US" spc="-4" dirty="0">
                <a:solidFill>
                  <a:srgbClr val="333333"/>
                </a:solidFill>
              </a:rPr>
              <a:t>a</a:t>
            </a:r>
            <a:r>
              <a:rPr lang="en-US" dirty="0">
                <a:solidFill>
                  <a:srgbClr val="333333"/>
                </a:solidFill>
              </a:rPr>
              <a:t>n</a:t>
            </a:r>
            <a:r>
              <a:rPr lang="en-US" spc="-4" dirty="0">
                <a:solidFill>
                  <a:srgbClr val="333333"/>
                </a:solidFill>
              </a:rPr>
              <a:t>d</a:t>
            </a:r>
            <a:r>
              <a:rPr lang="en-US" dirty="0">
                <a:solidFill>
                  <a:srgbClr val="333333"/>
                </a:solidFill>
              </a:rPr>
              <a:t>	</a:t>
            </a:r>
            <a:r>
              <a:rPr lang="en-US" spc="18" dirty="0">
                <a:solidFill>
                  <a:srgbClr val="333333"/>
                </a:solidFill>
              </a:rPr>
              <a:t>i</a:t>
            </a:r>
            <a:r>
              <a:rPr lang="en-US" dirty="0">
                <a:solidFill>
                  <a:srgbClr val="333333"/>
                </a:solidFill>
              </a:rPr>
              <a:t>nt</a:t>
            </a:r>
            <a:r>
              <a:rPr lang="en-US" spc="-18" dirty="0">
                <a:solidFill>
                  <a:srgbClr val="333333"/>
                </a:solidFill>
              </a:rPr>
              <a:t>er</a:t>
            </a:r>
            <a:r>
              <a:rPr lang="en-US" spc="-4" dirty="0">
                <a:solidFill>
                  <a:srgbClr val="333333"/>
                </a:solidFill>
              </a:rPr>
              <a:t>p</a:t>
            </a:r>
            <a:r>
              <a:rPr lang="en-US" spc="-18" dirty="0">
                <a:solidFill>
                  <a:srgbClr val="333333"/>
                </a:solidFill>
              </a:rPr>
              <a:t>re</a:t>
            </a:r>
            <a:r>
              <a:rPr lang="en-US" dirty="0">
                <a:solidFill>
                  <a:srgbClr val="333333"/>
                </a:solidFill>
              </a:rPr>
              <a:t>t</a:t>
            </a:r>
            <a:r>
              <a:rPr lang="en-US" spc="-4" dirty="0">
                <a:solidFill>
                  <a:srgbClr val="333333"/>
                </a:solidFill>
              </a:rPr>
              <a:t>s p</a:t>
            </a:r>
            <a:r>
              <a:rPr lang="en-US" dirty="0">
                <a:solidFill>
                  <a:srgbClr val="333333"/>
                </a:solidFill>
              </a:rPr>
              <a:t>r</a:t>
            </a:r>
            <a:r>
              <a:rPr lang="en-US" spc="-13" dirty="0">
                <a:solidFill>
                  <a:srgbClr val="333333"/>
                </a:solidFill>
              </a:rPr>
              <a:t>o</a:t>
            </a:r>
            <a:r>
              <a:rPr lang="en-US" spc="-4" dirty="0">
                <a:solidFill>
                  <a:srgbClr val="333333"/>
                </a:solidFill>
              </a:rPr>
              <a:t>g</a:t>
            </a:r>
            <a:r>
              <a:rPr lang="en-US" spc="-18" dirty="0">
                <a:solidFill>
                  <a:srgbClr val="333333"/>
                </a:solidFill>
              </a:rPr>
              <a:t>r</a:t>
            </a:r>
            <a:r>
              <a:rPr lang="en-US" spc="-9" dirty="0">
                <a:solidFill>
                  <a:srgbClr val="333333"/>
                </a:solidFill>
              </a:rPr>
              <a:t>am </a:t>
            </a:r>
            <a:r>
              <a:rPr lang="en-US" spc="18" dirty="0">
                <a:solidFill>
                  <a:srgbClr val="333333"/>
                </a:solidFill>
              </a:rPr>
              <a:t>i</a:t>
            </a:r>
            <a:r>
              <a:rPr lang="en-US" dirty="0">
                <a:solidFill>
                  <a:srgbClr val="333333"/>
                </a:solidFill>
              </a:rPr>
              <a:t>n</a:t>
            </a:r>
            <a:r>
              <a:rPr lang="en-US" spc="-13" dirty="0">
                <a:solidFill>
                  <a:srgbClr val="333333"/>
                </a:solidFill>
              </a:rPr>
              <a:t>s</a:t>
            </a:r>
            <a:r>
              <a:rPr lang="en-US" dirty="0">
                <a:solidFill>
                  <a:srgbClr val="333333"/>
                </a:solidFill>
              </a:rPr>
              <a:t>t</a:t>
            </a:r>
            <a:r>
              <a:rPr lang="en-US" spc="-18" dirty="0">
                <a:solidFill>
                  <a:srgbClr val="333333"/>
                </a:solidFill>
              </a:rPr>
              <a:t>r</a:t>
            </a:r>
            <a:r>
              <a:rPr lang="en-US" dirty="0">
                <a:solidFill>
                  <a:srgbClr val="333333"/>
                </a:solidFill>
              </a:rPr>
              <a:t>u</a:t>
            </a:r>
            <a:r>
              <a:rPr lang="en-US" spc="-13" dirty="0">
                <a:solidFill>
                  <a:srgbClr val="333333"/>
                </a:solidFill>
              </a:rPr>
              <a:t>c</a:t>
            </a:r>
            <a:r>
              <a:rPr lang="en-US" spc="-22" dirty="0">
                <a:solidFill>
                  <a:srgbClr val="333333"/>
                </a:solidFill>
              </a:rPr>
              <a:t>t</a:t>
            </a:r>
            <a:r>
              <a:rPr lang="en-US" spc="18" dirty="0">
                <a:solidFill>
                  <a:srgbClr val="333333"/>
                </a:solidFill>
              </a:rPr>
              <a:t>i</a:t>
            </a:r>
            <a:r>
              <a:rPr lang="en-US" spc="-13" dirty="0">
                <a:solidFill>
                  <a:srgbClr val="333333"/>
                </a:solidFill>
              </a:rPr>
              <a:t>ons</a:t>
            </a:r>
            <a:r>
              <a:rPr lang="en-US" spc="-4" dirty="0">
                <a:solidFill>
                  <a:srgbClr val="333333"/>
                </a:solidFill>
              </a:rPr>
              <a:t>, a</a:t>
            </a:r>
            <a:r>
              <a:rPr lang="en-US" dirty="0">
                <a:solidFill>
                  <a:srgbClr val="333333"/>
                </a:solidFill>
              </a:rPr>
              <a:t>nd  </a:t>
            </a:r>
            <a:r>
              <a:rPr lang="en-US" spc="-9" dirty="0">
                <a:solidFill>
                  <a:srgbClr val="333333"/>
                </a:solidFill>
              </a:rPr>
              <a:t>coordinates</a:t>
            </a:r>
            <a:r>
              <a:rPr lang="en-US" spc="-18" dirty="0">
                <a:solidFill>
                  <a:srgbClr val="333333"/>
                </a:solidFill>
              </a:rPr>
              <a:t> </a:t>
            </a:r>
            <a:r>
              <a:rPr lang="en-US" spc="-4" dirty="0">
                <a:solidFill>
                  <a:srgbClr val="333333"/>
                </a:solidFill>
              </a:rPr>
              <a:t>execution</a:t>
            </a:r>
          </a:p>
          <a:p>
            <a:pPr marL="314902" marR="4483" indent="-303696">
              <a:spcBef>
                <a:spcPts val="953"/>
              </a:spcBef>
              <a:buClr>
                <a:srgbClr val="FF3300"/>
              </a:buClr>
              <a:buFont typeface="Wingdings"/>
              <a:buChar char=""/>
              <a:tabLst>
                <a:tab pos="314902" algn="l"/>
                <a:tab pos="315462" algn="l"/>
                <a:tab pos="1341976" algn="l"/>
                <a:tab pos="1985228" algn="l"/>
                <a:tab pos="3303110" algn="l"/>
                <a:tab pos="4488756" algn="l"/>
                <a:tab pos="6099127" algn="l"/>
              </a:tabLst>
            </a:pPr>
            <a:r>
              <a:rPr lang="en-US" spc="-4" dirty="0">
                <a:solidFill>
                  <a:srgbClr val="333333"/>
                </a:solidFill>
              </a:rPr>
              <a:t>Fetch </a:t>
            </a:r>
            <a:r>
              <a:rPr lang="en-US" spc="-4" dirty="0">
                <a:solidFill>
                  <a:srgbClr val="333333"/>
                </a:solidFill>
                <a:sym typeface="Wingdings" panose="05000000000000000000" pitchFamily="2" charset="2"/>
              </a:rPr>
              <a:t> decode  execute  write back  fetch </a:t>
            </a:r>
            <a:endParaRPr lang="en-US" dirty="0"/>
          </a:p>
          <a:p>
            <a:pPr marL="314902" marR="4483" indent="-303696">
              <a:spcBef>
                <a:spcPts val="953"/>
              </a:spcBef>
              <a:buClr>
                <a:srgbClr val="FF3300"/>
              </a:buClr>
              <a:buFont typeface="Wingdings"/>
              <a:buChar char=""/>
              <a:tabLst>
                <a:tab pos="314902" algn="l"/>
                <a:tab pos="315462" algn="l"/>
              </a:tabLst>
            </a:pPr>
            <a:r>
              <a:rPr lang="en-US" spc="-9" dirty="0">
                <a:solidFill>
                  <a:srgbClr val="333333"/>
                </a:solidFill>
              </a:rPr>
              <a:t>Has some special purpose registers </a:t>
            </a:r>
            <a:r>
              <a:rPr lang="en-US" spc="-4" dirty="0">
                <a:solidFill>
                  <a:srgbClr val="333333"/>
                </a:solidFill>
              </a:rPr>
              <a:t>and a decoder to  </a:t>
            </a:r>
            <a:r>
              <a:rPr lang="en-US" spc="-13" dirty="0">
                <a:solidFill>
                  <a:srgbClr val="333333"/>
                </a:solidFill>
              </a:rPr>
              <a:t>perform </a:t>
            </a:r>
            <a:r>
              <a:rPr lang="en-US" spc="-9" dirty="0">
                <a:solidFill>
                  <a:srgbClr val="333333"/>
                </a:solidFill>
              </a:rPr>
              <a:t>these</a:t>
            </a:r>
            <a:r>
              <a:rPr lang="en-US" spc="9" dirty="0">
                <a:solidFill>
                  <a:srgbClr val="333333"/>
                </a:solidFill>
              </a:rPr>
              <a:t> </a:t>
            </a:r>
            <a:r>
              <a:rPr lang="en-US" spc="-4" dirty="0">
                <a:solidFill>
                  <a:srgbClr val="333333"/>
                </a:solidFill>
              </a:rPr>
              <a:t>activities</a:t>
            </a:r>
            <a:endParaRPr lang="en-US" dirty="0"/>
          </a:p>
          <a:p>
            <a:r>
              <a:rPr lang="en-US" dirty="0"/>
              <a:t>!!The </a:t>
            </a:r>
            <a:r>
              <a:rPr lang="en-US" b="1" dirty="0"/>
              <a:t>control unit </a:t>
            </a:r>
            <a:r>
              <a:rPr lang="en-US" dirty="0"/>
              <a:t>moves the data between these registers, the ALU, and memory.</a:t>
            </a:r>
            <a:endParaRPr lang="en-US" altLang="en-US" dirty="0"/>
          </a:p>
          <a:p>
            <a:endParaRPr lang="LID4096" dirty="0"/>
          </a:p>
          <a:p>
            <a:endParaRPr lang="LID4096" dirty="0"/>
          </a:p>
        </p:txBody>
      </p:sp>
    </p:spTree>
    <p:extLst>
      <p:ext uri="{BB962C8B-B14F-4D97-AF65-F5344CB8AC3E}">
        <p14:creationId xmlns:p14="http://schemas.microsoft.com/office/powerpoint/2010/main" val="3711847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6DA4-9083-40DF-8EEC-C465601F753A}"/>
              </a:ext>
            </a:extLst>
          </p:cNvPr>
          <p:cNvSpPr>
            <a:spLocks noGrp="1"/>
          </p:cNvSpPr>
          <p:nvPr>
            <p:ph type="title"/>
          </p:nvPr>
        </p:nvSpPr>
        <p:spPr/>
        <p:txBody>
          <a:bodyPr/>
          <a:lstStyle/>
          <a:p>
            <a:r>
              <a:rPr lang="en-US" dirty="0"/>
              <a:t>RAM&amp;ROM</a:t>
            </a:r>
            <a:endParaRPr lang="LID4096" dirty="0"/>
          </a:p>
        </p:txBody>
      </p:sp>
      <p:sp>
        <p:nvSpPr>
          <p:cNvPr id="3" name="Content Placeholder 2">
            <a:extLst>
              <a:ext uri="{FF2B5EF4-FFF2-40B4-BE49-F238E27FC236}">
                <a16:creationId xmlns:a16="http://schemas.microsoft.com/office/drawing/2014/main" id="{FF6AA3A2-0618-423F-9E6B-4EE0A6CB9B4C}"/>
              </a:ext>
            </a:extLst>
          </p:cNvPr>
          <p:cNvSpPr>
            <a:spLocks noGrp="1"/>
          </p:cNvSpPr>
          <p:nvPr>
            <p:ph idx="1"/>
          </p:nvPr>
        </p:nvSpPr>
        <p:spPr/>
        <p:txBody>
          <a:bodyPr>
            <a:normAutofit/>
          </a:bodyPr>
          <a:lstStyle/>
          <a:p>
            <a:pPr lvl="1"/>
            <a:r>
              <a:rPr lang="en-US" altLang="en-US" dirty="0"/>
              <a:t>Stores data or programs</a:t>
            </a:r>
          </a:p>
          <a:p>
            <a:pPr lvl="1"/>
            <a:r>
              <a:rPr lang="en-US" altLang="en-US" dirty="0"/>
              <a:t>Random Access Memory (RAM)</a:t>
            </a:r>
          </a:p>
          <a:p>
            <a:pPr lvl="2"/>
            <a:r>
              <a:rPr lang="en-US" altLang="en-US" dirty="0"/>
              <a:t>Volatile</a:t>
            </a:r>
          </a:p>
          <a:p>
            <a:pPr lvl="2"/>
            <a:r>
              <a:rPr lang="en-US" altLang="en-US" dirty="0"/>
              <a:t>Stores current data and programs</a:t>
            </a:r>
          </a:p>
          <a:p>
            <a:pPr lvl="2"/>
            <a:r>
              <a:rPr lang="en-US" altLang="en-US" dirty="0"/>
              <a:t>More RAM results in a faster system </a:t>
            </a:r>
          </a:p>
          <a:p>
            <a:pPr lvl="2"/>
            <a:r>
              <a:rPr lang="en-US" altLang="en-US" dirty="0"/>
              <a:t>2 to 8 GB</a:t>
            </a:r>
          </a:p>
          <a:p>
            <a:pPr lvl="1"/>
            <a:r>
              <a:rPr lang="en-US" altLang="en-US" dirty="0"/>
              <a:t>Read Only Memory (ROM)</a:t>
            </a:r>
          </a:p>
          <a:p>
            <a:pPr lvl="2"/>
            <a:r>
              <a:rPr lang="en-US" altLang="en-US" dirty="0"/>
              <a:t>Permanent storage of programs</a:t>
            </a:r>
          </a:p>
          <a:p>
            <a:pPr lvl="2"/>
            <a:r>
              <a:rPr lang="en-US" altLang="en-US" dirty="0"/>
              <a:t>Holds the computer boot directions</a:t>
            </a:r>
          </a:p>
          <a:p>
            <a:pPr lvl="2"/>
            <a:endParaRPr lang="en-US" altLang="en-US" dirty="0"/>
          </a:p>
          <a:p>
            <a:endParaRPr lang="LID4096" dirty="0"/>
          </a:p>
        </p:txBody>
      </p:sp>
    </p:spTree>
    <p:extLst>
      <p:ext uri="{BB962C8B-B14F-4D97-AF65-F5344CB8AC3E}">
        <p14:creationId xmlns:p14="http://schemas.microsoft.com/office/powerpoint/2010/main" val="921239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DD54E4-7D3E-426E-955A-2364194D25FD}"/>
              </a:ext>
            </a:extLst>
          </p:cNvPr>
          <p:cNvPicPr>
            <a:picLocks noChangeAspect="1"/>
          </p:cNvPicPr>
          <p:nvPr/>
        </p:nvPicPr>
        <p:blipFill>
          <a:blip r:embed="rId3"/>
          <a:stretch>
            <a:fillRect/>
          </a:stretch>
        </p:blipFill>
        <p:spPr>
          <a:xfrm>
            <a:off x="8725579" y="929321"/>
            <a:ext cx="3118077" cy="2911068"/>
          </a:xfrm>
          <a:prstGeom prst="rect">
            <a:avLst/>
          </a:prstGeom>
        </p:spPr>
      </p:pic>
      <p:sp>
        <p:nvSpPr>
          <p:cNvPr id="2" name="Title 1">
            <a:extLst>
              <a:ext uri="{FF2B5EF4-FFF2-40B4-BE49-F238E27FC236}">
                <a16:creationId xmlns:a16="http://schemas.microsoft.com/office/drawing/2014/main" id="{9F857ACB-653C-4EB5-819D-1655C14631E4}"/>
              </a:ext>
            </a:extLst>
          </p:cNvPr>
          <p:cNvSpPr>
            <a:spLocks noGrp="1"/>
          </p:cNvSpPr>
          <p:nvPr>
            <p:ph type="title"/>
          </p:nvPr>
        </p:nvSpPr>
        <p:spPr/>
        <p:txBody>
          <a:bodyPr/>
          <a:lstStyle/>
          <a:p>
            <a:r>
              <a:rPr lang="en-US" altLang="en-US" dirty="0"/>
              <a:t>Storage devices</a:t>
            </a:r>
            <a:endParaRPr lang="LID4096" dirty="0"/>
          </a:p>
        </p:txBody>
      </p:sp>
      <p:sp>
        <p:nvSpPr>
          <p:cNvPr id="3" name="Content Placeholder 2">
            <a:extLst>
              <a:ext uri="{FF2B5EF4-FFF2-40B4-BE49-F238E27FC236}">
                <a16:creationId xmlns:a16="http://schemas.microsoft.com/office/drawing/2014/main" id="{E5951DCC-00B9-4B4D-84AB-D29816088176}"/>
              </a:ext>
            </a:extLst>
          </p:cNvPr>
          <p:cNvSpPr>
            <a:spLocks noGrp="1"/>
          </p:cNvSpPr>
          <p:nvPr>
            <p:ph idx="1"/>
          </p:nvPr>
        </p:nvSpPr>
        <p:spPr/>
        <p:txBody>
          <a:bodyPr>
            <a:normAutofit/>
          </a:bodyPr>
          <a:lstStyle/>
          <a:p>
            <a:pPr lvl="1"/>
            <a:r>
              <a:rPr lang="en-US" altLang="en-US" dirty="0"/>
              <a:t>Hold data and programs permanently</a:t>
            </a:r>
          </a:p>
          <a:p>
            <a:pPr lvl="1"/>
            <a:r>
              <a:rPr lang="en-US" altLang="en-US" dirty="0"/>
              <a:t>Different from RAM</a:t>
            </a:r>
          </a:p>
          <a:p>
            <a:pPr lvl="1"/>
            <a:r>
              <a:rPr lang="en-US" altLang="en-US" dirty="0"/>
              <a:t>Magnetic storage</a:t>
            </a:r>
          </a:p>
          <a:p>
            <a:pPr lvl="2"/>
            <a:r>
              <a:rPr lang="en-US" altLang="en-US" dirty="0"/>
              <a:t>Floppy and hard drive</a:t>
            </a:r>
          </a:p>
          <a:p>
            <a:pPr lvl="2"/>
            <a:r>
              <a:rPr lang="en-US" altLang="en-US" dirty="0"/>
              <a:t>Uses a magnet to access data</a:t>
            </a:r>
          </a:p>
          <a:p>
            <a:pPr lvl="1"/>
            <a:r>
              <a:rPr lang="en-US" altLang="en-US" dirty="0"/>
              <a:t>Optical storage</a:t>
            </a:r>
          </a:p>
          <a:p>
            <a:pPr lvl="2"/>
            <a:r>
              <a:rPr lang="en-US" altLang="en-US" dirty="0"/>
              <a:t>CD and DVD drives</a:t>
            </a:r>
          </a:p>
          <a:p>
            <a:pPr lvl="2"/>
            <a:r>
              <a:rPr lang="en-US" altLang="en-US" dirty="0"/>
              <a:t>Uses a laser to access data</a:t>
            </a:r>
          </a:p>
          <a:p>
            <a:endParaRPr lang="LID4096" dirty="0"/>
          </a:p>
        </p:txBody>
      </p:sp>
      <p:pic>
        <p:nvPicPr>
          <p:cNvPr id="5" name="Picture 4">
            <a:extLst>
              <a:ext uri="{FF2B5EF4-FFF2-40B4-BE49-F238E27FC236}">
                <a16:creationId xmlns:a16="http://schemas.microsoft.com/office/drawing/2014/main" id="{C5BC8D7F-8BA0-471E-90FB-FF164B4A3798}"/>
              </a:ext>
            </a:extLst>
          </p:cNvPr>
          <p:cNvPicPr>
            <a:picLocks noChangeAspect="1"/>
          </p:cNvPicPr>
          <p:nvPr/>
        </p:nvPicPr>
        <p:blipFill>
          <a:blip r:embed="rId4"/>
          <a:stretch>
            <a:fillRect/>
          </a:stretch>
        </p:blipFill>
        <p:spPr>
          <a:xfrm>
            <a:off x="6096000" y="4002178"/>
            <a:ext cx="4438650" cy="2371725"/>
          </a:xfrm>
          <a:prstGeom prst="rect">
            <a:avLst/>
          </a:prstGeom>
        </p:spPr>
      </p:pic>
    </p:spTree>
    <p:extLst>
      <p:ext uri="{BB962C8B-B14F-4D97-AF65-F5344CB8AC3E}">
        <p14:creationId xmlns:p14="http://schemas.microsoft.com/office/powerpoint/2010/main" val="183255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FF238-70B2-4834-A340-688354E2666F}"/>
              </a:ext>
            </a:extLst>
          </p:cNvPr>
          <p:cNvSpPr>
            <a:spLocks noGrp="1"/>
          </p:cNvSpPr>
          <p:nvPr>
            <p:ph type="title"/>
          </p:nvPr>
        </p:nvSpPr>
        <p:spPr/>
        <p:txBody>
          <a:bodyPr/>
          <a:lstStyle/>
          <a:p>
            <a:r>
              <a:rPr lang="en-US" dirty="0"/>
              <a:t>I/O devices</a:t>
            </a:r>
            <a:endParaRPr lang="LID4096" dirty="0"/>
          </a:p>
        </p:txBody>
      </p:sp>
      <p:sp>
        <p:nvSpPr>
          <p:cNvPr id="3" name="Content Placeholder 2">
            <a:extLst>
              <a:ext uri="{FF2B5EF4-FFF2-40B4-BE49-F238E27FC236}">
                <a16:creationId xmlns:a16="http://schemas.microsoft.com/office/drawing/2014/main" id="{2C3E9EA1-DFAB-40EF-8A48-6CA7DBACF50F}"/>
              </a:ext>
            </a:extLst>
          </p:cNvPr>
          <p:cNvSpPr>
            <a:spLocks noGrp="1"/>
          </p:cNvSpPr>
          <p:nvPr>
            <p:ph idx="1"/>
          </p:nvPr>
        </p:nvSpPr>
        <p:spPr>
          <a:xfrm>
            <a:off x="1045028" y="1825625"/>
            <a:ext cx="5894615" cy="4353106"/>
          </a:xfrm>
        </p:spPr>
        <p:txBody>
          <a:bodyPr>
            <a:normAutofit fontScale="85000" lnSpcReduction="20000"/>
          </a:bodyPr>
          <a:lstStyle/>
          <a:p>
            <a:pPr marL="0" indent="0">
              <a:buNone/>
            </a:pPr>
            <a:r>
              <a:rPr lang="en-US" altLang="en-US" sz="2400" dirty="0"/>
              <a:t>Allows the user to interact</a:t>
            </a:r>
          </a:p>
          <a:p>
            <a:pPr lvl="1"/>
            <a:r>
              <a:rPr lang="en-US" altLang="en-US" dirty="0"/>
              <a:t>Some devices are input and output</a:t>
            </a:r>
          </a:p>
          <a:p>
            <a:pPr lvl="2"/>
            <a:r>
              <a:rPr lang="en-US" altLang="en-US" sz="2400" dirty="0"/>
              <a:t>Touch screens</a:t>
            </a:r>
          </a:p>
          <a:p>
            <a:pPr marL="12700">
              <a:lnSpc>
                <a:spcPct val="100000"/>
              </a:lnSpc>
              <a:spcBef>
                <a:spcPts val="95"/>
              </a:spcBef>
            </a:pPr>
            <a:r>
              <a:rPr lang="en-US" sz="2400" b="1" spc="-5" dirty="0"/>
              <a:t>Input</a:t>
            </a:r>
            <a:r>
              <a:rPr lang="en-US" sz="2400" b="1" spc="-10" dirty="0"/>
              <a:t> </a:t>
            </a:r>
            <a:r>
              <a:rPr lang="en-US" sz="2400" b="1" spc="-5" dirty="0"/>
              <a:t>Devices</a:t>
            </a:r>
          </a:p>
          <a:p>
            <a:r>
              <a:rPr lang="en-US" sz="2400" dirty="0"/>
              <a:t>Any peripheral (piece </a:t>
            </a:r>
            <a:r>
              <a:rPr lang="en-US" sz="2400" spc="-5" dirty="0"/>
              <a:t>of </a:t>
            </a:r>
            <a:r>
              <a:rPr lang="en-US" sz="2400" dirty="0"/>
              <a:t>computer </a:t>
            </a:r>
            <a:r>
              <a:rPr lang="en-US" sz="2400" spc="-5" dirty="0"/>
              <a:t>hardware  equipment) used </a:t>
            </a:r>
            <a:r>
              <a:rPr lang="en-US" sz="2400" dirty="0"/>
              <a:t>to </a:t>
            </a:r>
            <a:r>
              <a:rPr lang="en-US" sz="2400" spc="-5" dirty="0"/>
              <a:t>provide data and control signals  </a:t>
            </a:r>
            <a:r>
              <a:rPr lang="en-US" sz="2400" dirty="0"/>
              <a:t>to </a:t>
            </a:r>
            <a:r>
              <a:rPr lang="en-US" sz="2400" spc="-5" dirty="0"/>
              <a:t>a</a:t>
            </a:r>
            <a:r>
              <a:rPr lang="en-US" sz="2400" spc="-30" dirty="0"/>
              <a:t> </a:t>
            </a:r>
            <a:r>
              <a:rPr lang="en-US" sz="2400" spc="-5" dirty="0"/>
              <a:t>computer.</a:t>
            </a:r>
            <a:endParaRPr lang="en-US" sz="2400" dirty="0"/>
          </a:p>
          <a:p>
            <a:r>
              <a:rPr lang="en-US" sz="2400" spc="-5" dirty="0"/>
              <a:t>Allows </a:t>
            </a:r>
            <a:r>
              <a:rPr lang="en-US" sz="2400" dirty="0"/>
              <a:t>the user to </a:t>
            </a:r>
            <a:r>
              <a:rPr lang="en-US" sz="2400" spc="-5" dirty="0"/>
              <a:t>put </a:t>
            </a:r>
            <a:r>
              <a:rPr lang="en-US" sz="2400" dirty="0"/>
              <a:t>data into the</a:t>
            </a:r>
            <a:r>
              <a:rPr lang="en-US" sz="2400" spc="-55" dirty="0"/>
              <a:t> </a:t>
            </a:r>
            <a:r>
              <a:rPr lang="en-US" sz="2400" dirty="0"/>
              <a:t>computer.</a:t>
            </a:r>
            <a:endParaRPr lang="en-US" sz="2400" spc="-5" dirty="0"/>
          </a:p>
          <a:p>
            <a:pPr marL="12700">
              <a:lnSpc>
                <a:spcPct val="100000"/>
              </a:lnSpc>
              <a:spcBef>
                <a:spcPts val="95"/>
              </a:spcBef>
            </a:pPr>
            <a:r>
              <a:rPr lang="en-US" sz="2400" b="1" spc="-5" dirty="0"/>
              <a:t>Output</a:t>
            </a:r>
            <a:r>
              <a:rPr lang="en-US" sz="2400" b="1" spc="5" dirty="0"/>
              <a:t> </a:t>
            </a:r>
            <a:r>
              <a:rPr lang="en-US" sz="2400" b="1" spc="-5" dirty="0"/>
              <a:t>Devices</a:t>
            </a:r>
          </a:p>
          <a:p>
            <a:pPr marL="12700">
              <a:lnSpc>
                <a:spcPct val="100000"/>
              </a:lnSpc>
              <a:spcBef>
                <a:spcPts val="95"/>
              </a:spcBef>
            </a:pPr>
            <a:r>
              <a:rPr lang="en-US" sz="2400" dirty="0"/>
              <a:t>Any</a:t>
            </a:r>
            <a:r>
              <a:rPr lang="en-US" sz="2400" spc="185" dirty="0"/>
              <a:t> </a:t>
            </a:r>
            <a:r>
              <a:rPr lang="en-US" sz="2400" dirty="0"/>
              <a:t>peripheral</a:t>
            </a:r>
            <a:r>
              <a:rPr lang="en-US" sz="2400" spc="185" dirty="0"/>
              <a:t> </a:t>
            </a:r>
            <a:r>
              <a:rPr lang="en-US" sz="2400" dirty="0"/>
              <a:t>that</a:t>
            </a:r>
            <a:r>
              <a:rPr lang="en-US" sz="2400" spc="200" dirty="0"/>
              <a:t> </a:t>
            </a:r>
            <a:r>
              <a:rPr lang="en-US" altLang="en-US" sz="2400" dirty="0"/>
              <a:t>deliver data</a:t>
            </a:r>
          </a:p>
          <a:p>
            <a:pPr marL="12700">
              <a:lnSpc>
                <a:spcPct val="100000"/>
              </a:lnSpc>
              <a:spcBef>
                <a:spcPts val="95"/>
              </a:spcBef>
            </a:pPr>
            <a:r>
              <a:rPr lang="en-US" sz="2400" dirty="0"/>
              <a:t>Computer hardware </a:t>
            </a:r>
            <a:r>
              <a:rPr lang="en-US" sz="2400" spc="-5" dirty="0"/>
              <a:t>equipment used </a:t>
            </a:r>
            <a:r>
              <a:rPr lang="en-US" sz="2400" dirty="0"/>
              <a:t>to  communicate the </a:t>
            </a:r>
            <a:r>
              <a:rPr lang="en-US" sz="2400" spc="-5" dirty="0"/>
              <a:t>results of data </a:t>
            </a:r>
            <a:r>
              <a:rPr lang="en-US" sz="2400" dirty="0"/>
              <a:t>processing carried  </a:t>
            </a:r>
            <a:r>
              <a:rPr lang="en-US" sz="2400" spc="-5" dirty="0"/>
              <a:t>out by a computer </a:t>
            </a:r>
            <a:r>
              <a:rPr lang="en-US" sz="2400" dirty="0"/>
              <a:t>to the </a:t>
            </a:r>
            <a:r>
              <a:rPr lang="en-US" sz="2400" spc="-5" dirty="0"/>
              <a:t>outside</a:t>
            </a:r>
            <a:r>
              <a:rPr lang="en-US" sz="2400" spc="-10" dirty="0"/>
              <a:t> </a:t>
            </a:r>
            <a:r>
              <a:rPr lang="en-US" sz="2400" spc="-5" dirty="0"/>
              <a:t>world.</a:t>
            </a:r>
            <a:endParaRPr lang="en-US" sz="2400" dirty="0"/>
          </a:p>
          <a:p>
            <a:pPr marL="12700" marR="5080" indent="0" algn="just">
              <a:lnSpc>
                <a:spcPct val="100000"/>
              </a:lnSpc>
              <a:spcBef>
                <a:spcPts val="570"/>
              </a:spcBef>
              <a:buNone/>
              <a:tabLst>
                <a:tab pos="470534" algn="l"/>
              </a:tabLst>
            </a:pPr>
            <a:endParaRPr lang="en-US" sz="2400" dirty="0"/>
          </a:p>
          <a:p>
            <a:pPr lvl="2"/>
            <a:endParaRPr lang="en-US" altLang="en-US" sz="2400" dirty="0"/>
          </a:p>
          <a:p>
            <a:endParaRPr lang="LID4096" sz="2400" dirty="0"/>
          </a:p>
        </p:txBody>
      </p:sp>
      <p:pic>
        <p:nvPicPr>
          <p:cNvPr id="4" name="Picture 3">
            <a:extLst>
              <a:ext uri="{FF2B5EF4-FFF2-40B4-BE49-F238E27FC236}">
                <a16:creationId xmlns:a16="http://schemas.microsoft.com/office/drawing/2014/main" id="{6179C382-278D-4155-BAB4-C55E72FD1E2E}"/>
              </a:ext>
            </a:extLst>
          </p:cNvPr>
          <p:cNvPicPr>
            <a:picLocks noChangeAspect="1"/>
          </p:cNvPicPr>
          <p:nvPr/>
        </p:nvPicPr>
        <p:blipFill>
          <a:blip r:embed="rId3"/>
          <a:stretch>
            <a:fillRect/>
          </a:stretch>
        </p:blipFill>
        <p:spPr>
          <a:xfrm>
            <a:off x="7086600" y="1938156"/>
            <a:ext cx="4755709" cy="2981688"/>
          </a:xfrm>
          <a:prstGeom prst="rect">
            <a:avLst/>
          </a:prstGeom>
        </p:spPr>
      </p:pic>
    </p:spTree>
    <p:extLst>
      <p:ext uri="{BB962C8B-B14F-4D97-AF65-F5344CB8AC3E}">
        <p14:creationId xmlns:p14="http://schemas.microsoft.com/office/powerpoint/2010/main" val="3671751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2CC66-5174-4186-851A-0DA661CB9DBA}"/>
              </a:ext>
            </a:extLst>
          </p:cNvPr>
          <p:cNvSpPr>
            <a:spLocks noGrp="1"/>
          </p:cNvSpPr>
          <p:nvPr>
            <p:ph type="title"/>
          </p:nvPr>
        </p:nvSpPr>
        <p:spPr/>
        <p:txBody>
          <a:bodyPr/>
          <a:lstStyle/>
          <a:p>
            <a:r>
              <a:rPr lang="en-US" dirty="0"/>
              <a:t>Software</a:t>
            </a:r>
            <a:endParaRPr lang="LID4096" dirty="0"/>
          </a:p>
        </p:txBody>
      </p:sp>
    </p:spTree>
    <p:extLst>
      <p:ext uri="{BB962C8B-B14F-4D97-AF65-F5344CB8AC3E}">
        <p14:creationId xmlns:p14="http://schemas.microsoft.com/office/powerpoint/2010/main" val="190418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BA2B-39A3-451A-8B9C-B6419F0E4AC9}"/>
              </a:ext>
            </a:extLst>
          </p:cNvPr>
          <p:cNvSpPr>
            <a:spLocks noGrp="1"/>
          </p:cNvSpPr>
          <p:nvPr>
            <p:ph type="title"/>
          </p:nvPr>
        </p:nvSpPr>
        <p:spPr>
          <a:xfrm>
            <a:off x="1110342" y="410748"/>
            <a:ext cx="10308771" cy="1325563"/>
          </a:xfrm>
        </p:spPr>
        <p:txBody>
          <a:bodyPr/>
          <a:lstStyle/>
          <a:p>
            <a:r>
              <a:rPr lang="en-US" dirty="0"/>
              <a:t>Software</a:t>
            </a:r>
            <a:endParaRPr lang="LID4096" dirty="0"/>
          </a:p>
        </p:txBody>
      </p:sp>
      <p:sp>
        <p:nvSpPr>
          <p:cNvPr id="3" name="Content Placeholder 2">
            <a:extLst>
              <a:ext uri="{FF2B5EF4-FFF2-40B4-BE49-F238E27FC236}">
                <a16:creationId xmlns:a16="http://schemas.microsoft.com/office/drawing/2014/main" id="{41505214-DDCE-43C2-B2BE-EE9DF963AA05}"/>
              </a:ext>
            </a:extLst>
          </p:cNvPr>
          <p:cNvSpPr>
            <a:spLocks noGrp="1"/>
          </p:cNvSpPr>
          <p:nvPr>
            <p:ph idx="1"/>
          </p:nvPr>
        </p:nvSpPr>
        <p:spPr>
          <a:xfrm>
            <a:off x="772887" y="1702046"/>
            <a:ext cx="10308771" cy="4353106"/>
          </a:xfrm>
        </p:spPr>
        <p:txBody>
          <a:bodyPr>
            <a:normAutofit fontScale="47500" lnSpcReduction="20000"/>
          </a:bodyPr>
          <a:lstStyle/>
          <a:p>
            <a:r>
              <a:rPr lang="en-US" altLang="en-US" sz="2900" dirty="0"/>
              <a:t>Tells the computer what to do</a:t>
            </a:r>
          </a:p>
          <a:p>
            <a:r>
              <a:rPr lang="en-US" altLang="en-US" sz="2900" dirty="0"/>
              <a:t>Reason people purchase computers</a:t>
            </a:r>
          </a:p>
          <a:p>
            <a:r>
              <a:rPr lang="en-US" altLang="en-US" sz="2900" dirty="0"/>
              <a:t>Two types</a:t>
            </a:r>
          </a:p>
          <a:p>
            <a:pPr lvl="1"/>
            <a:r>
              <a:rPr lang="en-US" altLang="en-US" sz="2500" dirty="0"/>
              <a:t>System software</a:t>
            </a:r>
          </a:p>
          <a:p>
            <a:pPr lvl="1"/>
            <a:r>
              <a:rPr lang="en-US" altLang="en-US" sz="2500" dirty="0"/>
              <a:t>Application software</a:t>
            </a:r>
          </a:p>
          <a:p>
            <a:r>
              <a:rPr lang="en-US" altLang="en-US" sz="2900" dirty="0"/>
              <a:t>System software</a:t>
            </a:r>
          </a:p>
          <a:p>
            <a:pPr lvl="1"/>
            <a:r>
              <a:rPr lang="en-US" altLang="en-US" sz="2500" dirty="0"/>
              <a:t>Most important software</a:t>
            </a:r>
          </a:p>
          <a:p>
            <a:pPr lvl="1"/>
            <a:r>
              <a:rPr lang="en-US" altLang="en-US" sz="2500" dirty="0"/>
              <a:t>Operating system</a:t>
            </a:r>
          </a:p>
          <a:p>
            <a:pPr lvl="2"/>
            <a:r>
              <a:rPr lang="en-US" altLang="en-US" sz="2200" dirty="0"/>
              <a:t>Windows XP</a:t>
            </a:r>
          </a:p>
          <a:p>
            <a:pPr lvl="1"/>
            <a:r>
              <a:rPr lang="en-US" altLang="en-US" sz="2500" dirty="0"/>
              <a:t>Network operating system (OS)</a:t>
            </a:r>
          </a:p>
          <a:p>
            <a:pPr lvl="2"/>
            <a:r>
              <a:rPr lang="en-US" altLang="en-US" sz="2200" dirty="0"/>
              <a:t>Windows Server 2003</a:t>
            </a:r>
          </a:p>
          <a:p>
            <a:pPr lvl="1"/>
            <a:r>
              <a:rPr lang="en-US" altLang="en-US" sz="2500" dirty="0"/>
              <a:t>Utility</a:t>
            </a:r>
          </a:p>
          <a:p>
            <a:pPr lvl="2"/>
            <a:r>
              <a:rPr lang="en-US" altLang="en-US" sz="2200" dirty="0"/>
              <a:t>Symantec Antivirus</a:t>
            </a:r>
          </a:p>
          <a:p>
            <a:r>
              <a:rPr lang="en-US" altLang="en-US" sz="2900" dirty="0"/>
              <a:t>Application software</a:t>
            </a:r>
          </a:p>
          <a:p>
            <a:pPr lvl="1"/>
            <a:r>
              <a:rPr lang="en-US" altLang="en-US" sz="2500" dirty="0"/>
              <a:t>Accomplishes a specific task</a:t>
            </a:r>
          </a:p>
          <a:p>
            <a:pPr lvl="1"/>
            <a:r>
              <a:rPr lang="en-US" altLang="en-US" sz="2500" dirty="0"/>
              <a:t>Most common type of software</a:t>
            </a:r>
          </a:p>
          <a:p>
            <a:pPr lvl="2"/>
            <a:r>
              <a:rPr lang="en-US" altLang="en-US" sz="2200" dirty="0"/>
              <a:t>MS Word</a:t>
            </a:r>
          </a:p>
          <a:p>
            <a:pPr lvl="1"/>
            <a:r>
              <a:rPr lang="en-US" altLang="en-US" sz="2500" dirty="0"/>
              <a:t>Covers most common uses of computers</a:t>
            </a:r>
          </a:p>
          <a:p>
            <a:pPr lvl="2"/>
            <a:endParaRPr lang="en-US" altLang="en-US" sz="2200" dirty="0"/>
          </a:p>
          <a:p>
            <a:pPr lvl="1"/>
            <a:endParaRPr lang="en-US" altLang="en-US" dirty="0"/>
          </a:p>
          <a:p>
            <a:endParaRPr lang="LID4096" dirty="0"/>
          </a:p>
        </p:txBody>
      </p:sp>
      <p:sp>
        <p:nvSpPr>
          <p:cNvPr id="4" name="Straight Connector 3">
            <a:extLst>
              <a:ext uri="{FF2B5EF4-FFF2-40B4-BE49-F238E27FC236}">
                <a16:creationId xmlns:a16="http://schemas.microsoft.com/office/drawing/2014/main" id="{08CBD6DF-A066-48E7-A564-1C8943FA45A9}"/>
              </a:ext>
            </a:extLst>
          </p:cNvPr>
          <p:cNvSpPr/>
          <p:nvPr/>
        </p:nvSpPr>
        <p:spPr>
          <a:xfrm>
            <a:off x="9248864" y="3074889"/>
            <a:ext cx="371017" cy="1483892"/>
          </a:xfrm>
          <a:custGeom>
            <a:avLst/>
            <a:gdLst/>
            <a:ahLst/>
            <a:cxnLst/>
            <a:rect l="0" t="0" r="0" b="0"/>
            <a:pathLst>
              <a:path>
                <a:moveTo>
                  <a:pt x="0" y="0"/>
                </a:moveTo>
                <a:lnTo>
                  <a:pt x="0" y="1483892"/>
                </a:lnTo>
                <a:lnTo>
                  <a:pt x="371017" y="1483892"/>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5" name="Straight Connector 4">
            <a:extLst>
              <a:ext uri="{FF2B5EF4-FFF2-40B4-BE49-F238E27FC236}">
                <a16:creationId xmlns:a16="http://schemas.microsoft.com/office/drawing/2014/main" id="{789F5489-3F17-404B-9DCA-14E448965304}"/>
              </a:ext>
            </a:extLst>
          </p:cNvPr>
          <p:cNvSpPr/>
          <p:nvPr/>
        </p:nvSpPr>
        <p:spPr>
          <a:xfrm>
            <a:off x="9248864" y="3074889"/>
            <a:ext cx="335928" cy="516661"/>
          </a:xfrm>
          <a:custGeom>
            <a:avLst/>
            <a:gdLst/>
            <a:ahLst/>
            <a:cxnLst/>
            <a:rect l="0" t="0" r="0" b="0"/>
            <a:pathLst>
              <a:path>
                <a:moveTo>
                  <a:pt x="0" y="0"/>
                </a:moveTo>
                <a:lnTo>
                  <a:pt x="0" y="516661"/>
                </a:lnTo>
                <a:lnTo>
                  <a:pt x="335928" y="516661"/>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6" name="Straight Connector 5">
            <a:extLst>
              <a:ext uri="{FF2B5EF4-FFF2-40B4-BE49-F238E27FC236}">
                <a16:creationId xmlns:a16="http://schemas.microsoft.com/office/drawing/2014/main" id="{83375CC9-CC82-47EC-95EE-2F8B69C50872}"/>
              </a:ext>
            </a:extLst>
          </p:cNvPr>
          <p:cNvSpPr/>
          <p:nvPr/>
        </p:nvSpPr>
        <p:spPr>
          <a:xfrm>
            <a:off x="8323587" y="2236462"/>
            <a:ext cx="1384556" cy="264326"/>
          </a:xfrm>
          <a:custGeom>
            <a:avLst/>
            <a:gdLst/>
            <a:ahLst/>
            <a:cxnLst/>
            <a:rect l="0" t="0" r="0" b="0"/>
            <a:pathLst>
              <a:path>
                <a:moveTo>
                  <a:pt x="0" y="0"/>
                </a:moveTo>
                <a:lnTo>
                  <a:pt x="0" y="143766"/>
                </a:lnTo>
                <a:lnTo>
                  <a:pt x="1384556" y="143766"/>
                </a:lnTo>
                <a:lnTo>
                  <a:pt x="1384556" y="264326"/>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7" name="Straight Connector 6">
            <a:extLst>
              <a:ext uri="{FF2B5EF4-FFF2-40B4-BE49-F238E27FC236}">
                <a16:creationId xmlns:a16="http://schemas.microsoft.com/office/drawing/2014/main" id="{B413A7B1-A840-4B8B-967D-C713C62B5A3F}"/>
              </a:ext>
            </a:extLst>
          </p:cNvPr>
          <p:cNvSpPr/>
          <p:nvPr/>
        </p:nvSpPr>
        <p:spPr>
          <a:xfrm>
            <a:off x="6210820" y="3074889"/>
            <a:ext cx="183918" cy="2041866"/>
          </a:xfrm>
          <a:custGeom>
            <a:avLst/>
            <a:gdLst/>
            <a:ahLst/>
            <a:cxnLst/>
            <a:rect l="0" t="0" r="0" b="0"/>
            <a:pathLst>
              <a:path>
                <a:moveTo>
                  <a:pt x="0" y="0"/>
                </a:moveTo>
                <a:lnTo>
                  <a:pt x="0" y="2041866"/>
                </a:lnTo>
                <a:lnTo>
                  <a:pt x="183918" y="2041866"/>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8" name="Straight Connector 7">
            <a:extLst>
              <a:ext uri="{FF2B5EF4-FFF2-40B4-BE49-F238E27FC236}">
                <a16:creationId xmlns:a16="http://schemas.microsoft.com/office/drawing/2014/main" id="{200B6E60-E7D1-42EB-856F-FE45C32B2A5A}"/>
              </a:ext>
            </a:extLst>
          </p:cNvPr>
          <p:cNvSpPr/>
          <p:nvPr/>
        </p:nvSpPr>
        <p:spPr>
          <a:xfrm>
            <a:off x="6210820" y="3074889"/>
            <a:ext cx="183930" cy="1285110"/>
          </a:xfrm>
          <a:custGeom>
            <a:avLst/>
            <a:gdLst/>
            <a:ahLst/>
            <a:cxnLst/>
            <a:rect l="0" t="0" r="0" b="0"/>
            <a:pathLst>
              <a:path>
                <a:moveTo>
                  <a:pt x="0" y="0"/>
                </a:moveTo>
                <a:lnTo>
                  <a:pt x="0" y="1285110"/>
                </a:lnTo>
                <a:lnTo>
                  <a:pt x="183930" y="1285110"/>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9" name="Straight Connector 8">
            <a:extLst>
              <a:ext uri="{FF2B5EF4-FFF2-40B4-BE49-F238E27FC236}">
                <a16:creationId xmlns:a16="http://schemas.microsoft.com/office/drawing/2014/main" id="{7D119F25-F39D-4217-9E96-946ADB1A15A0}"/>
              </a:ext>
            </a:extLst>
          </p:cNvPr>
          <p:cNvSpPr/>
          <p:nvPr/>
        </p:nvSpPr>
        <p:spPr>
          <a:xfrm>
            <a:off x="6210820" y="3074889"/>
            <a:ext cx="148841" cy="481583"/>
          </a:xfrm>
          <a:custGeom>
            <a:avLst/>
            <a:gdLst/>
            <a:ahLst/>
            <a:cxnLst/>
            <a:rect l="0" t="0" r="0" b="0"/>
            <a:pathLst>
              <a:path>
                <a:moveTo>
                  <a:pt x="0" y="0"/>
                </a:moveTo>
                <a:lnTo>
                  <a:pt x="0" y="481583"/>
                </a:lnTo>
                <a:lnTo>
                  <a:pt x="148841" y="481583"/>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10" name="Straight Connector 9">
            <a:extLst>
              <a:ext uri="{FF2B5EF4-FFF2-40B4-BE49-F238E27FC236}">
                <a16:creationId xmlns:a16="http://schemas.microsoft.com/office/drawing/2014/main" id="{A0AC5860-B0DE-485F-9A33-3D7A2C4C10E3}"/>
              </a:ext>
            </a:extLst>
          </p:cNvPr>
          <p:cNvSpPr/>
          <p:nvPr/>
        </p:nvSpPr>
        <p:spPr>
          <a:xfrm>
            <a:off x="6670099" y="2236462"/>
            <a:ext cx="1653487" cy="264326"/>
          </a:xfrm>
          <a:custGeom>
            <a:avLst/>
            <a:gdLst/>
            <a:ahLst/>
            <a:cxnLst/>
            <a:rect l="0" t="0" r="0" b="0"/>
            <a:pathLst>
              <a:path>
                <a:moveTo>
                  <a:pt x="1653487" y="0"/>
                </a:moveTo>
                <a:lnTo>
                  <a:pt x="1653487" y="143766"/>
                </a:lnTo>
                <a:lnTo>
                  <a:pt x="0" y="143766"/>
                </a:lnTo>
                <a:lnTo>
                  <a:pt x="0" y="264326"/>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grpSp>
        <p:nvGrpSpPr>
          <p:cNvPr id="11" name="Group 10">
            <a:extLst>
              <a:ext uri="{FF2B5EF4-FFF2-40B4-BE49-F238E27FC236}">
                <a16:creationId xmlns:a16="http://schemas.microsoft.com/office/drawing/2014/main" id="{12D53E86-B9C8-48B5-B5B4-85DFA644DBFC}"/>
              </a:ext>
            </a:extLst>
          </p:cNvPr>
          <p:cNvGrpSpPr/>
          <p:nvPr/>
        </p:nvGrpSpPr>
        <p:grpSpPr>
          <a:xfrm>
            <a:off x="7749487" y="1662362"/>
            <a:ext cx="1148199" cy="574099"/>
            <a:chOff x="3921610" y="2214"/>
            <a:chExt cx="1148199" cy="574099"/>
          </a:xfrm>
        </p:grpSpPr>
        <p:sp>
          <p:nvSpPr>
            <p:cNvPr id="33" name="Rectangle 32">
              <a:extLst>
                <a:ext uri="{FF2B5EF4-FFF2-40B4-BE49-F238E27FC236}">
                  <a16:creationId xmlns:a16="http://schemas.microsoft.com/office/drawing/2014/main" id="{AC4CAE48-47DF-4F61-8CF1-28401B5161A7}"/>
                </a:ext>
              </a:extLst>
            </p:cNvPr>
            <p:cNvSpPr/>
            <p:nvPr/>
          </p:nvSpPr>
          <p:spPr>
            <a:xfrm>
              <a:off x="3921610" y="2214"/>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4" name="TextBox 33">
              <a:extLst>
                <a:ext uri="{FF2B5EF4-FFF2-40B4-BE49-F238E27FC236}">
                  <a16:creationId xmlns:a16="http://schemas.microsoft.com/office/drawing/2014/main" id="{A4C3857C-6410-4346-ADD3-D768D9EF3F8C}"/>
                </a:ext>
              </a:extLst>
            </p:cNvPr>
            <p:cNvSpPr txBox="1"/>
            <p:nvPr/>
          </p:nvSpPr>
          <p:spPr>
            <a:xfrm>
              <a:off x="3921610" y="2214"/>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Software</a:t>
              </a:r>
            </a:p>
          </p:txBody>
        </p:sp>
      </p:grpSp>
      <p:grpSp>
        <p:nvGrpSpPr>
          <p:cNvPr id="12" name="Group 11">
            <a:extLst>
              <a:ext uri="{FF2B5EF4-FFF2-40B4-BE49-F238E27FC236}">
                <a16:creationId xmlns:a16="http://schemas.microsoft.com/office/drawing/2014/main" id="{DDC50F02-228F-429A-9A15-CD993390B5B1}"/>
              </a:ext>
            </a:extLst>
          </p:cNvPr>
          <p:cNvGrpSpPr/>
          <p:nvPr/>
        </p:nvGrpSpPr>
        <p:grpSpPr>
          <a:xfrm>
            <a:off x="6096000" y="2500789"/>
            <a:ext cx="1148199" cy="574099"/>
            <a:chOff x="2268123" y="840641"/>
            <a:chExt cx="1148199" cy="574099"/>
          </a:xfrm>
        </p:grpSpPr>
        <p:sp>
          <p:nvSpPr>
            <p:cNvPr id="31" name="Rectangle 30">
              <a:extLst>
                <a:ext uri="{FF2B5EF4-FFF2-40B4-BE49-F238E27FC236}">
                  <a16:creationId xmlns:a16="http://schemas.microsoft.com/office/drawing/2014/main" id="{6564DC8E-5C54-4571-9B74-47F9A533E9A5}"/>
                </a:ext>
              </a:extLst>
            </p:cNvPr>
            <p:cNvSpPr/>
            <p:nvPr/>
          </p:nvSpPr>
          <p:spPr>
            <a:xfrm>
              <a:off x="2268123" y="840641"/>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2" name="TextBox 31">
              <a:extLst>
                <a:ext uri="{FF2B5EF4-FFF2-40B4-BE49-F238E27FC236}">
                  <a16:creationId xmlns:a16="http://schemas.microsoft.com/office/drawing/2014/main" id="{AC6C61BA-FE70-4C05-A96A-8E4441775D37}"/>
                </a:ext>
              </a:extLst>
            </p:cNvPr>
            <p:cNvSpPr txBox="1"/>
            <p:nvPr/>
          </p:nvSpPr>
          <p:spPr>
            <a:xfrm>
              <a:off x="2268123" y="840641"/>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System software</a:t>
              </a:r>
            </a:p>
          </p:txBody>
        </p:sp>
      </p:grpSp>
      <p:grpSp>
        <p:nvGrpSpPr>
          <p:cNvPr id="13" name="Group 12">
            <a:extLst>
              <a:ext uri="{FF2B5EF4-FFF2-40B4-BE49-F238E27FC236}">
                <a16:creationId xmlns:a16="http://schemas.microsoft.com/office/drawing/2014/main" id="{1595EFDC-850F-479C-93B0-CF94A3E40EB5}"/>
              </a:ext>
            </a:extLst>
          </p:cNvPr>
          <p:cNvGrpSpPr/>
          <p:nvPr/>
        </p:nvGrpSpPr>
        <p:grpSpPr>
          <a:xfrm>
            <a:off x="6359661" y="3269423"/>
            <a:ext cx="1148199" cy="574099"/>
            <a:chOff x="2531784" y="1609275"/>
            <a:chExt cx="1148199" cy="574099"/>
          </a:xfrm>
        </p:grpSpPr>
        <p:sp>
          <p:nvSpPr>
            <p:cNvPr id="29" name="Rectangle 28">
              <a:extLst>
                <a:ext uri="{FF2B5EF4-FFF2-40B4-BE49-F238E27FC236}">
                  <a16:creationId xmlns:a16="http://schemas.microsoft.com/office/drawing/2014/main" id="{4F7D1C47-4AE7-4AAC-8E9C-BCE012F46757}"/>
                </a:ext>
              </a:extLst>
            </p:cNvPr>
            <p:cNvSpPr/>
            <p:nvPr/>
          </p:nvSpPr>
          <p:spPr>
            <a:xfrm>
              <a:off x="2531784" y="1609275"/>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0" name="TextBox 29">
              <a:extLst>
                <a:ext uri="{FF2B5EF4-FFF2-40B4-BE49-F238E27FC236}">
                  <a16:creationId xmlns:a16="http://schemas.microsoft.com/office/drawing/2014/main" id="{4C769DC6-EA9D-4794-8CC5-BB9490A75E51}"/>
                </a:ext>
              </a:extLst>
            </p:cNvPr>
            <p:cNvSpPr txBox="1"/>
            <p:nvPr/>
          </p:nvSpPr>
          <p:spPr>
            <a:xfrm>
              <a:off x="2531784" y="1609275"/>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Operating system</a:t>
              </a:r>
            </a:p>
          </p:txBody>
        </p:sp>
      </p:grpSp>
      <p:grpSp>
        <p:nvGrpSpPr>
          <p:cNvPr id="14" name="Group 13">
            <a:extLst>
              <a:ext uri="{FF2B5EF4-FFF2-40B4-BE49-F238E27FC236}">
                <a16:creationId xmlns:a16="http://schemas.microsoft.com/office/drawing/2014/main" id="{27DEA45C-4A9E-4CC1-BCC8-32851242C705}"/>
              </a:ext>
            </a:extLst>
          </p:cNvPr>
          <p:cNvGrpSpPr/>
          <p:nvPr/>
        </p:nvGrpSpPr>
        <p:grpSpPr>
          <a:xfrm>
            <a:off x="6394750" y="4072950"/>
            <a:ext cx="1148199" cy="574099"/>
            <a:chOff x="2566873" y="2412802"/>
            <a:chExt cx="1148199" cy="574099"/>
          </a:xfrm>
        </p:grpSpPr>
        <p:sp>
          <p:nvSpPr>
            <p:cNvPr id="27" name="Rectangle 26">
              <a:extLst>
                <a:ext uri="{FF2B5EF4-FFF2-40B4-BE49-F238E27FC236}">
                  <a16:creationId xmlns:a16="http://schemas.microsoft.com/office/drawing/2014/main" id="{81F96E11-F27C-4A4B-9047-54760F00FC7E}"/>
                </a:ext>
              </a:extLst>
            </p:cNvPr>
            <p:cNvSpPr/>
            <p:nvPr/>
          </p:nvSpPr>
          <p:spPr>
            <a:xfrm>
              <a:off x="2566873" y="2412802"/>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8" name="TextBox 27">
              <a:extLst>
                <a:ext uri="{FF2B5EF4-FFF2-40B4-BE49-F238E27FC236}">
                  <a16:creationId xmlns:a16="http://schemas.microsoft.com/office/drawing/2014/main" id="{42B36879-92CB-402C-A22C-D08434E05AE8}"/>
                </a:ext>
              </a:extLst>
            </p:cNvPr>
            <p:cNvSpPr txBox="1"/>
            <p:nvPr/>
          </p:nvSpPr>
          <p:spPr>
            <a:xfrm>
              <a:off x="2566873" y="2412802"/>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Utility software</a:t>
              </a:r>
            </a:p>
          </p:txBody>
        </p:sp>
      </p:grpSp>
      <p:grpSp>
        <p:nvGrpSpPr>
          <p:cNvPr id="15" name="Group 14">
            <a:extLst>
              <a:ext uri="{FF2B5EF4-FFF2-40B4-BE49-F238E27FC236}">
                <a16:creationId xmlns:a16="http://schemas.microsoft.com/office/drawing/2014/main" id="{477D0E36-8490-4C28-8833-7B8FF8683C68}"/>
              </a:ext>
            </a:extLst>
          </p:cNvPr>
          <p:cNvGrpSpPr/>
          <p:nvPr/>
        </p:nvGrpSpPr>
        <p:grpSpPr>
          <a:xfrm>
            <a:off x="6394738" y="4829705"/>
            <a:ext cx="1148199" cy="574099"/>
            <a:chOff x="2566861" y="3169557"/>
            <a:chExt cx="1148199" cy="574099"/>
          </a:xfrm>
        </p:grpSpPr>
        <p:sp>
          <p:nvSpPr>
            <p:cNvPr id="25" name="Rectangle 24">
              <a:extLst>
                <a:ext uri="{FF2B5EF4-FFF2-40B4-BE49-F238E27FC236}">
                  <a16:creationId xmlns:a16="http://schemas.microsoft.com/office/drawing/2014/main" id="{45848D53-4949-40FF-AC72-75B4E706C9EB}"/>
                </a:ext>
              </a:extLst>
            </p:cNvPr>
            <p:cNvSpPr/>
            <p:nvPr/>
          </p:nvSpPr>
          <p:spPr>
            <a:xfrm>
              <a:off x="2566861" y="3169557"/>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6" name="TextBox 25">
              <a:extLst>
                <a:ext uri="{FF2B5EF4-FFF2-40B4-BE49-F238E27FC236}">
                  <a16:creationId xmlns:a16="http://schemas.microsoft.com/office/drawing/2014/main" id="{6DD069AD-6EF8-4CA1-8CA5-E767F3F2578E}"/>
                </a:ext>
              </a:extLst>
            </p:cNvPr>
            <p:cNvSpPr txBox="1"/>
            <p:nvPr/>
          </p:nvSpPr>
          <p:spPr>
            <a:xfrm>
              <a:off x="2566861" y="3169557"/>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Device drivers</a:t>
              </a:r>
            </a:p>
          </p:txBody>
        </p:sp>
      </p:grpSp>
      <p:grpSp>
        <p:nvGrpSpPr>
          <p:cNvPr id="16" name="Group 15">
            <a:extLst>
              <a:ext uri="{FF2B5EF4-FFF2-40B4-BE49-F238E27FC236}">
                <a16:creationId xmlns:a16="http://schemas.microsoft.com/office/drawing/2014/main" id="{49B5629F-4A14-4707-AAD2-8D11A3208972}"/>
              </a:ext>
            </a:extLst>
          </p:cNvPr>
          <p:cNvGrpSpPr/>
          <p:nvPr/>
        </p:nvGrpSpPr>
        <p:grpSpPr>
          <a:xfrm>
            <a:off x="9134044" y="2500789"/>
            <a:ext cx="1148199" cy="574099"/>
            <a:chOff x="5306167" y="840641"/>
            <a:chExt cx="1148199" cy="574099"/>
          </a:xfrm>
        </p:grpSpPr>
        <p:sp>
          <p:nvSpPr>
            <p:cNvPr id="23" name="Rectangle 22">
              <a:extLst>
                <a:ext uri="{FF2B5EF4-FFF2-40B4-BE49-F238E27FC236}">
                  <a16:creationId xmlns:a16="http://schemas.microsoft.com/office/drawing/2014/main" id="{F662D0C6-4151-449C-9220-FB4E3B3793CB}"/>
                </a:ext>
              </a:extLst>
            </p:cNvPr>
            <p:cNvSpPr/>
            <p:nvPr/>
          </p:nvSpPr>
          <p:spPr>
            <a:xfrm>
              <a:off x="5306167" y="840641"/>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4" name="TextBox 23">
              <a:extLst>
                <a:ext uri="{FF2B5EF4-FFF2-40B4-BE49-F238E27FC236}">
                  <a16:creationId xmlns:a16="http://schemas.microsoft.com/office/drawing/2014/main" id="{6F45790B-4AA8-47CE-962F-9983E7B99F70}"/>
                </a:ext>
              </a:extLst>
            </p:cNvPr>
            <p:cNvSpPr txBox="1"/>
            <p:nvPr/>
          </p:nvSpPr>
          <p:spPr>
            <a:xfrm>
              <a:off x="5306167" y="840641"/>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Application software</a:t>
              </a:r>
            </a:p>
          </p:txBody>
        </p:sp>
      </p:grpSp>
      <p:grpSp>
        <p:nvGrpSpPr>
          <p:cNvPr id="17" name="Group 16">
            <a:extLst>
              <a:ext uri="{FF2B5EF4-FFF2-40B4-BE49-F238E27FC236}">
                <a16:creationId xmlns:a16="http://schemas.microsoft.com/office/drawing/2014/main" id="{2FE267C0-E194-4473-987B-51EA29EBB277}"/>
              </a:ext>
            </a:extLst>
          </p:cNvPr>
          <p:cNvGrpSpPr/>
          <p:nvPr/>
        </p:nvGrpSpPr>
        <p:grpSpPr>
          <a:xfrm>
            <a:off x="9584792" y="3304500"/>
            <a:ext cx="1148199" cy="574099"/>
            <a:chOff x="5756915" y="1644352"/>
            <a:chExt cx="1148199" cy="574099"/>
          </a:xfrm>
        </p:grpSpPr>
        <p:sp>
          <p:nvSpPr>
            <p:cNvPr id="21" name="Rectangle 20">
              <a:extLst>
                <a:ext uri="{FF2B5EF4-FFF2-40B4-BE49-F238E27FC236}">
                  <a16:creationId xmlns:a16="http://schemas.microsoft.com/office/drawing/2014/main" id="{C58CA919-C7B2-4BA5-9427-DCA3F1E4AEC6}"/>
                </a:ext>
              </a:extLst>
            </p:cNvPr>
            <p:cNvSpPr/>
            <p:nvPr/>
          </p:nvSpPr>
          <p:spPr>
            <a:xfrm>
              <a:off x="5756915" y="1644352"/>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2" name="TextBox 21">
              <a:extLst>
                <a:ext uri="{FF2B5EF4-FFF2-40B4-BE49-F238E27FC236}">
                  <a16:creationId xmlns:a16="http://schemas.microsoft.com/office/drawing/2014/main" id="{155C53EE-1FFB-4251-B6A8-4C108E9C5BAD}"/>
                </a:ext>
              </a:extLst>
            </p:cNvPr>
            <p:cNvSpPr txBox="1"/>
            <p:nvPr/>
          </p:nvSpPr>
          <p:spPr>
            <a:xfrm>
              <a:off x="5756915" y="1644352"/>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Custom built</a:t>
              </a:r>
            </a:p>
          </p:txBody>
        </p:sp>
      </p:grpSp>
      <p:grpSp>
        <p:nvGrpSpPr>
          <p:cNvPr id="18" name="Group 17">
            <a:extLst>
              <a:ext uri="{FF2B5EF4-FFF2-40B4-BE49-F238E27FC236}">
                <a16:creationId xmlns:a16="http://schemas.microsoft.com/office/drawing/2014/main" id="{5EE81FD6-1820-40AA-A8EB-6D0B6545CE91}"/>
              </a:ext>
            </a:extLst>
          </p:cNvPr>
          <p:cNvGrpSpPr/>
          <p:nvPr/>
        </p:nvGrpSpPr>
        <p:grpSpPr>
          <a:xfrm>
            <a:off x="9619881" y="4271732"/>
            <a:ext cx="1148199" cy="574099"/>
            <a:chOff x="5792004" y="2611584"/>
            <a:chExt cx="1148199" cy="574099"/>
          </a:xfrm>
        </p:grpSpPr>
        <p:sp>
          <p:nvSpPr>
            <p:cNvPr id="19" name="Rectangle 18">
              <a:extLst>
                <a:ext uri="{FF2B5EF4-FFF2-40B4-BE49-F238E27FC236}">
                  <a16:creationId xmlns:a16="http://schemas.microsoft.com/office/drawing/2014/main" id="{EDFAE4C6-378E-4762-9A0B-ABDE15C69802}"/>
                </a:ext>
              </a:extLst>
            </p:cNvPr>
            <p:cNvSpPr/>
            <p:nvPr/>
          </p:nvSpPr>
          <p:spPr>
            <a:xfrm>
              <a:off x="5792004" y="2611584"/>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TextBox 19">
              <a:extLst>
                <a:ext uri="{FF2B5EF4-FFF2-40B4-BE49-F238E27FC236}">
                  <a16:creationId xmlns:a16="http://schemas.microsoft.com/office/drawing/2014/main" id="{FDF2560D-7B64-4481-9FB4-44DE4F7D7A46}"/>
                </a:ext>
              </a:extLst>
            </p:cNvPr>
            <p:cNvSpPr txBox="1"/>
            <p:nvPr/>
          </p:nvSpPr>
          <p:spPr>
            <a:xfrm>
              <a:off x="5792004" y="2611584"/>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Packaged software</a:t>
              </a:r>
            </a:p>
          </p:txBody>
        </p:sp>
      </p:grpSp>
    </p:spTree>
    <p:extLst>
      <p:ext uri="{BB962C8B-B14F-4D97-AF65-F5344CB8AC3E}">
        <p14:creationId xmlns:p14="http://schemas.microsoft.com/office/powerpoint/2010/main" val="2765127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E84F2-4DDF-4DD3-AECC-F21DBD1C7312}"/>
              </a:ext>
            </a:extLst>
          </p:cNvPr>
          <p:cNvSpPr>
            <a:spLocks noGrp="1"/>
          </p:cNvSpPr>
          <p:nvPr>
            <p:ph type="title"/>
          </p:nvPr>
        </p:nvSpPr>
        <p:spPr/>
        <p:txBody>
          <a:bodyPr>
            <a:normAutofit fontScale="90000"/>
          </a:bodyPr>
          <a:lstStyle/>
          <a:p>
            <a:r>
              <a:rPr lang="en-US" dirty="0"/>
              <a:t>Basic organization of computer system</a:t>
            </a:r>
            <a:endParaRPr lang="LID4096" dirty="0"/>
          </a:p>
        </p:txBody>
      </p:sp>
    </p:spTree>
    <p:extLst>
      <p:ext uri="{BB962C8B-B14F-4D97-AF65-F5344CB8AC3E}">
        <p14:creationId xmlns:p14="http://schemas.microsoft.com/office/powerpoint/2010/main" val="2685535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E5B3D-15EB-42D4-86DE-82DC816C119E}"/>
              </a:ext>
            </a:extLst>
          </p:cNvPr>
          <p:cNvSpPr>
            <a:spLocks noGrp="1"/>
          </p:cNvSpPr>
          <p:nvPr>
            <p:ph type="title"/>
          </p:nvPr>
        </p:nvSpPr>
        <p:spPr/>
        <p:txBody>
          <a:bodyPr>
            <a:normAutofit/>
          </a:bodyPr>
          <a:lstStyle/>
          <a:p>
            <a:r>
              <a:rPr lang="en-US" sz="3600" dirty="0"/>
              <a:t>Basic organization of computer system</a:t>
            </a:r>
            <a:endParaRPr lang="LID4096" sz="3600" dirty="0"/>
          </a:p>
        </p:txBody>
      </p:sp>
      <p:pic>
        <p:nvPicPr>
          <p:cNvPr id="4" name="Content Placeholder 3">
            <a:extLst>
              <a:ext uri="{FF2B5EF4-FFF2-40B4-BE49-F238E27FC236}">
                <a16:creationId xmlns:a16="http://schemas.microsoft.com/office/drawing/2014/main" id="{3CEF4267-EE9E-411E-B5DE-5E132C00C6F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19500" y="1442357"/>
            <a:ext cx="8759825" cy="4800600"/>
          </a:xfrm>
        </p:spPr>
      </p:pic>
    </p:spTree>
    <p:extLst>
      <p:ext uri="{BB962C8B-B14F-4D97-AF65-F5344CB8AC3E}">
        <p14:creationId xmlns:p14="http://schemas.microsoft.com/office/powerpoint/2010/main" val="1347945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3A7BCE7B-F9F9-405C-8AE7-D762BE116C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7" r="2910"/>
          <a:stretch/>
        </p:blipFill>
        <p:spPr>
          <a:xfrm>
            <a:off x="7081158" y="2525032"/>
            <a:ext cx="4564759" cy="2680608"/>
          </a:xfrm>
          <a:prstGeom prst="rect">
            <a:avLst/>
          </a:prstGeom>
        </p:spPr>
      </p:pic>
      <p:sp>
        <p:nvSpPr>
          <p:cNvPr id="2" name="Title 1">
            <a:extLst>
              <a:ext uri="{FF2B5EF4-FFF2-40B4-BE49-F238E27FC236}">
                <a16:creationId xmlns:a16="http://schemas.microsoft.com/office/drawing/2014/main" id="{6FE54709-FC9F-4436-AE8E-C5122EAA5766}"/>
              </a:ext>
            </a:extLst>
          </p:cNvPr>
          <p:cNvSpPr>
            <a:spLocks noGrp="1"/>
          </p:cNvSpPr>
          <p:nvPr>
            <p:ph type="title"/>
          </p:nvPr>
        </p:nvSpPr>
        <p:spPr/>
        <p:txBody>
          <a:bodyPr/>
          <a:lstStyle/>
          <a:p>
            <a:r>
              <a:rPr lang="en-US" dirty="0"/>
              <a:t>Von Neumann Basic Structure</a:t>
            </a:r>
            <a:endParaRPr lang="LID4096" dirty="0"/>
          </a:p>
        </p:txBody>
      </p:sp>
      <p:sp>
        <p:nvSpPr>
          <p:cNvPr id="3" name="Content Placeholder 2">
            <a:extLst>
              <a:ext uri="{FF2B5EF4-FFF2-40B4-BE49-F238E27FC236}">
                <a16:creationId xmlns:a16="http://schemas.microsoft.com/office/drawing/2014/main" id="{845C6B53-E88D-4C19-81D9-565E92B44447}"/>
              </a:ext>
            </a:extLst>
          </p:cNvPr>
          <p:cNvSpPr>
            <a:spLocks noGrp="1"/>
          </p:cNvSpPr>
          <p:nvPr>
            <p:ph idx="1"/>
          </p:nvPr>
        </p:nvSpPr>
        <p:spPr>
          <a:xfrm>
            <a:off x="1045029" y="1825625"/>
            <a:ext cx="6362700" cy="4667250"/>
          </a:xfrm>
        </p:spPr>
        <p:txBody>
          <a:bodyPr>
            <a:normAutofit/>
          </a:bodyPr>
          <a:lstStyle/>
          <a:p>
            <a:pPr fontAlgn="base"/>
            <a:r>
              <a:rPr lang="en-US" dirty="0"/>
              <a:t>Let’s consider them in detail.</a:t>
            </a:r>
          </a:p>
          <a:p>
            <a:pPr fontAlgn="base"/>
            <a:r>
              <a:rPr lang="en-US" b="1" dirty="0">
                <a:solidFill>
                  <a:srgbClr val="0070C0"/>
                </a:solidFill>
              </a:rPr>
              <a:t>Arithmetic and Logic Unit (ALU) </a:t>
            </a:r>
            <a:endParaRPr lang="en-US" b="1" dirty="0"/>
          </a:p>
          <a:p>
            <a:pPr lvl="1" fontAlgn="base"/>
            <a:r>
              <a:rPr lang="en-US" dirty="0"/>
              <a:t>The arithmetic logic unit is that part of the CPU that handles all the calculations the CPU may need, e.g. </a:t>
            </a:r>
            <a:r>
              <a:rPr lang="en-US" dirty="0">
                <a:solidFill>
                  <a:schemeClr val="accent4"/>
                </a:solidFill>
              </a:rPr>
              <a:t>Addition, Subtraction, Comparisons</a:t>
            </a:r>
            <a:r>
              <a:rPr lang="en-US" dirty="0"/>
              <a:t>.</a:t>
            </a:r>
          </a:p>
          <a:p>
            <a:pPr lvl="1" fontAlgn="base"/>
            <a:r>
              <a:rPr lang="en-US" dirty="0"/>
              <a:t> It performs Logical Operations, Bit Shifting Operations, and Arithmetic Operation.</a:t>
            </a:r>
            <a:endParaRPr lang="en-US" b="1" dirty="0">
              <a:solidFill>
                <a:srgbClr val="0070C0"/>
              </a:solidFill>
            </a:endParaRPr>
          </a:p>
          <a:p>
            <a:pPr fontAlgn="base"/>
            <a:r>
              <a:rPr lang="en-US" b="1" dirty="0">
                <a:solidFill>
                  <a:srgbClr val="0070C0"/>
                </a:solidFill>
              </a:rPr>
              <a:t>Control Unit </a:t>
            </a:r>
            <a:endParaRPr lang="en-US" b="1" dirty="0"/>
          </a:p>
          <a:p>
            <a:pPr lvl="1" fontAlgn="base"/>
            <a:r>
              <a:rPr lang="en-US" dirty="0"/>
              <a:t>A control unit (CU) handles all processor control signals. It directs all input and output flow, fetches code for instructions and controlling how data moves around the system.</a:t>
            </a:r>
          </a:p>
          <a:p>
            <a:endParaRPr lang="en-US" dirty="0"/>
          </a:p>
          <a:p>
            <a:endParaRPr lang="LID4096" dirty="0"/>
          </a:p>
        </p:txBody>
      </p:sp>
    </p:spTree>
    <p:extLst>
      <p:ext uri="{BB962C8B-B14F-4D97-AF65-F5344CB8AC3E}">
        <p14:creationId xmlns:p14="http://schemas.microsoft.com/office/powerpoint/2010/main" val="707758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F320E6-11EB-437F-8E14-89484E19D7B6}"/>
              </a:ext>
            </a:extLst>
          </p:cNvPr>
          <p:cNvPicPr>
            <a:picLocks noGrp="1" noChangeAspect="1"/>
          </p:cNvPicPr>
          <p:nvPr>
            <p:ph idx="1"/>
          </p:nvPr>
        </p:nvPicPr>
        <p:blipFill>
          <a:blip r:embed="rId3"/>
          <a:stretch>
            <a:fillRect/>
          </a:stretch>
        </p:blipFill>
        <p:spPr>
          <a:xfrm>
            <a:off x="1045028" y="902379"/>
            <a:ext cx="10167498" cy="5449435"/>
          </a:xfrm>
          <a:prstGeom prst="rect">
            <a:avLst/>
          </a:prstGeom>
        </p:spPr>
      </p:pic>
    </p:spTree>
    <p:extLst>
      <p:ext uri="{BB962C8B-B14F-4D97-AF65-F5344CB8AC3E}">
        <p14:creationId xmlns:p14="http://schemas.microsoft.com/office/powerpoint/2010/main" val="1825103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FB21-343B-47AE-BB15-5D2D2751635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PROCESSOR AND MEMORY</a:t>
            </a:r>
          </a:p>
        </p:txBody>
      </p:sp>
    </p:spTree>
    <p:extLst>
      <p:ext uri="{BB962C8B-B14F-4D97-AF65-F5344CB8AC3E}">
        <p14:creationId xmlns:p14="http://schemas.microsoft.com/office/powerpoint/2010/main" val="726991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9F8-1882-47FF-89E2-D3DB8BE0B0BA}"/>
              </a:ext>
            </a:extLst>
          </p:cNvPr>
          <p:cNvSpPr>
            <a:spLocks noGrp="1"/>
          </p:cNvSpPr>
          <p:nvPr>
            <p:ph type="title"/>
          </p:nvPr>
        </p:nvSpPr>
        <p:spPr>
          <a:xfrm>
            <a:off x="1030364" y="525371"/>
            <a:ext cx="10308771" cy="1325563"/>
          </a:xfrm>
        </p:spPr>
        <p:txBody>
          <a:bodyPr>
            <a:normAutofit fontScale="90000"/>
          </a:bodyPr>
          <a:lstStyle/>
          <a:p>
            <a:r>
              <a:rPr lang="en-US" spc="-4" dirty="0"/>
              <a:t>Basic Processor &amp; Memory Architecture  of </a:t>
            </a:r>
            <a:r>
              <a:rPr lang="en-US" dirty="0"/>
              <a:t>a </a:t>
            </a:r>
            <a:r>
              <a:rPr lang="en-US" spc="-4" dirty="0"/>
              <a:t>Computer</a:t>
            </a:r>
            <a:r>
              <a:rPr lang="en-US" dirty="0"/>
              <a:t> </a:t>
            </a:r>
            <a:r>
              <a:rPr lang="en-US" spc="-4" dirty="0"/>
              <a:t>System</a:t>
            </a:r>
            <a:endParaRPr lang="LID4096" dirty="0"/>
          </a:p>
        </p:txBody>
      </p:sp>
      <p:sp>
        <p:nvSpPr>
          <p:cNvPr id="96" name="object 4">
            <a:extLst>
              <a:ext uri="{FF2B5EF4-FFF2-40B4-BE49-F238E27FC236}">
                <a16:creationId xmlns:a16="http://schemas.microsoft.com/office/drawing/2014/main" id="{E54C3CD8-A5B6-496D-8F73-9671C6FCC343}"/>
              </a:ext>
            </a:extLst>
          </p:cNvPr>
          <p:cNvSpPr/>
          <p:nvPr/>
        </p:nvSpPr>
        <p:spPr>
          <a:xfrm>
            <a:off x="4377465" y="1669847"/>
            <a:ext cx="2929217" cy="4577603"/>
          </a:xfrm>
          <a:custGeom>
            <a:avLst/>
            <a:gdLst/>
            <a:ahLst/>
            <a:cxnLst/>
            <a:rect l="l" t="t" r="r" b="b"/>
            <a:pathLst>
              <a:path w="3319779" h="5187950">
                <a:moveTo>
                  <a:pt x="0" y="5187696"/>
                </a:moveTo>
                <a:lnTo>
                  <a:pt x="3319272" y="5187696"/>
                </a:lnTo>
                <a:lnTo>
                  <a:pt x="3319272" y="0"/>
                </a:lnTo>
                <a:lnTo>
                  <a:pt x="0" y="0"/>
                </a:lnTo>
                <a:lnTo>
                  <a:pt x="0" y="5187696"/>
                </a:lnTo>
                <a:close/>
              </a:path>
            </a:pathLst>
          </a:custGeom>
          <a:ln w="9144">
            <a:solidFill>
              <a:srgbClr val="000000"/>
            </a:solidFill>
          </a:ln>
        </p:spPr>
        <p:txBody>
          <a:bodyPr wrap="square" lIns="0" tIns="0" rIns="0" bIns="0" rtlCol="0"/>
          <a:lstStyle/>
          <a:p>
            <a:endParaRPr sz="1588" dirty="0"/>
          </a:p>
        </p:txBody>
      </p:sp>
      <p:sp>
        <p:nvSpPr>
          <p:cNvPr id="97" name="object 5">
            <a:extLst>
              <a:ext uri="{FF2B5EF4-FFF2-40B4-BE49-F238E27FC236}">
                <a16:creationId xmlns:a16="http://schemas.microsoft.com/office/drawing/2014/main" id="{34F2B460-1B01-49FC-AA24-284233AD01CD}"/>
              </a:ext>
            </a:extLst>
          </p:cNvPr>
          <p:cNvSpPr txBox="1"/>
          <p:nvPr/>
        </p:nvSpPr>
        <p:spPr>
          <a:xfrm>
            <a:off x="4493111" y="1954924"/>
            <a:ext cx="2716306" cy="238806"/>
          </a:xfrm>
          <a:prstGeom prst="rect">
            <a:avLst/>
          </a:prstGeom>
          <a:solidFill>
            <a:srgbClr val="DDDDDD"/>
          </a:solidFill>
          <a:ln w="9144">
            <a:solidFill>
              <a:srgbClr val="000000"/>
            </a:solidFill>
          </a:ln>
        </p:spPr>
        <p:txBody>
          <a:bodyPr vert="horz" wrap="square" lIns="0" tIns="75079" rIns="0" bIns="0" rtlCol="0">
            <a:spAutoFit/>
          </a:bodyPr>
          <a:lstStyle/>
          <a:p>
            <a:pPr marL="787816">
              <a:spcBef>
                <a:spcPts val="591"/>
              </a:spcBef>
            </a:pPr>
            <a:r>
              <a:rPr sz="1059" spc="-9" dirty="0">
                <a:solidFill>
                  <a:srgbClr val="333333"/>
                </a:solidFill>
                <a:latin typeface="Times New Roman"/>
                <a:cs typeface="Times New Roman"/>
              </a:rPr>
              <a:t>Main </a:t>
            </a:r>
            <a:r>
              <a:rPr sz="1059" spc="-4" dirty="0">
                <a:solidFill>
                  <a:srgbClr val="333333"/>
                </a:solidFill>
                <a:latin typeface="Times New Roman"/>
                <a:cs typeface="Times New Roman"/>
              </a:rPr>
              <a:t>Memory</a:t>
            </a:r>
            <a:r>
              <a:rPr sz="1059" spc="-22" dirty="0">
                <a:solidFill>
                  <a:srgbClr val="333333"/>
                </a:solidFill>
                <a:latin typeface="Times New Roman"/>
                <a:cs typeface="Times New Roman"/>
              </a:rPr>
              <a:t> </a:t>
            </a:r>
            <a:r>
              <a:rPr sz="1059" spc="-13" dirty="0">
                <a:solidFill>
                  <a:srgbClr val="333333"/>
                </a:solidFill>
                <a:latin typeface="Times New Roman"/>
                <a:cs typeface="Times New Roman"/>
              </a:rPr>
              <a:t>(RAM)</a:t>
            </a:r>
            <a:endParaRPr sz="1059" dirty="0">
              <a:latin typeface="Times New Roman"/>
              <a:cs typeface="Times New Roman"/>
            </a:endParaRPr>
          </a:p>
        </p:txBody>
      </p:sp>
      <p:sp>
        <p:nvSpPr>
          <p:cNvPr id="98" name="object 6">
            <a:extLst>
              <a:ext uri="{FF2B5EF4-FFF2-40B4-BE49-F238E27FC236}">
                <a16:creationId xmlns:a16="http://schemas.microsoft.com/office/drawing/2014/main" id="{C463C997-8E5B-45B5-8F30-4D0B91EFB2A9}"/>
              </a:ext>
            </a:extLst>
          </p:cNvPr>
          <p:cNvSpPr/>
          <p:nvPr/>
        </p:nvSpPr>
        <p:spPr>
          <a:xfrm>
            <a:off x="4493111" y="2439019"/>
            <a:ext cx="2711263" cy="177613"/>
          </a:xfrm>
          <a:custGeom>
            <a:avLst/>
            <a:gdLst/>
            <a:ahLst/>
            <a:cxnLst/>
            <a:rect l="l" t="t" r="r" b="b"/>
            <a:pathLst>
              <a:path w="3072765" h="201294">
                <a:moveTo>
                  <a:pt x="0" y="201167"/>
                </a:moveTo>
                <a:lnTo>
                  <a:pt x="3072384" y="201167"/>
                </a:lnTo>
                <a:lnTo>
                  <a:pt x="3072384" y="0"/>
                </a:lnTo>
                <a:lnTo>
                  <a:pt x="0" y="0"/>
                </a:lnTo>
                <a:lnTo>
                  <a:pt x="0" y="201167"/>
                </a:lnTo>
                <a:close/>
              </a:path>
            </a:pathLst>
          </a:custGeom>
          <a:ln w="9144">
            <a:solidFill>
              <a:srgbClr val="000000"/>
            </a:solidFill>
          </a:ln>
        </p:spPr>
        <p:txBody>
          <a:bodyPr wrap="square" lIns="0" tIns="0" rIns="0" bIns="0" rtlCol="0"/>
          <a:lstStyle/>
          <a:p>
            <a:endParaRPr sz="1588" dirty="0"/>
          </a:p>
        </p:txBody>
      </p:sp>
      <p:sp>
        <p:nvSpPr>
          <p:cNvPr id="99" name="object 7">
            <a:extLst>
              <a:ext uri="{FF2B5EF4-FFF2-40B4-BE49-F238E27FC236}">
                <a16:creationId xmlns:a16="http://schemas.microsoft.com/office/drawing/2014/main" id="{D58A48E9-3327-4C6C-BD5D-9BD023E8DA52}"/>
              </a:ext>
            </a:extLst>
          </p:cNvPr>
          <p:cNvSpPr/>
          <p:nvPr/>
        </p:nvSpPr>
        <p:spPr>
          <a:xfrm>
            <a:off x="5595769" y="2248071"/>
            <a:ext cx="67235" cy="182879"/>
          </a:xfrm>
          <a:prstGeom prst="rect">
            <a:avLst/>
          </a:prstGeom>
          <a:blipFill>
            <a:blip r:embed="rId2" cstate="print"/>
            <a:stretch>
              <a:fillRect/>
            </a:stretch>
          </a:blipFill>
        </p:spPr>
        <p:txBody>
          <a:bodyPr wrap="square" lIns="0" tIns="0" rIns="0" bIns="0" rtlCol="0"/>
          <a:lstStyle/>
          <a:p>
            <a:endParaRPr sz="1588" dirty="0"/>
          </a:p>
        </p:txBody>
      </p:sp>
      <p:sp>
        <p:nvSpPr>
          <p:cNvPr id="100" name="object 8">
            <a:extLst>
              <a:ext uri="{FF2B5EF4-FFF2-40B4-BE49-F238E27FC236}">
                <a16:creationId xmlns:a16="http://schemas.microsoft.com/office/drawing/2014/main" id="{069DE9DD-14C6-4342-B2E4-DBB0D642FA91}"/>
              </a:ext>
            </a:extLst>
          </p:cNvPr>
          <p:cNvSpPr txBox="1"/>
          <p:nvPr/>
        </p:nvSpPr>
        <p:spPr>
          <a:xfrm>
            <a:off x="5665695" y="2422434"/>
            <a:ext cx="480172" cy="337302"/>
          </a:xfrm>
          <a:prstGeom prst="rect">
            <a:avLst/>
          </a:prstGeom>
        </p:spPr>
        <p:txBody>
          <a:bodyPr vert="horz" wrap="square" lIns="0" tIns="11206" rIns="0" bIns="0" rtlCol="0">
            <a:spAutoFit/>
          </a:bodyPr>
          <a:lstStyle/>
          <a:p>
            <a:pPr marR="4483" indent="61636">
              <a:spcBef>
                <a:spcPts val="88"/>
              </a:spcBef>
            </a:pPr>
            <a:r>
              <a:rPr sz="1059" spc="-4" dirty="0">
                <a:solidFill>
                  <a:srgbClr val="333333"/>
                </a:solidFill>
                <a:latin typeface="Times New Roman"/>
                <a:cs typeface="Times New Roman"/>
              </a:rPr>
              <a:t>Cache  </a:t>
            </a:r>
            <a:r>
              <a:rPr sz="1059" spc="-18" dirty="0">
                <a:solidFill>
                  <a:srgbClr val="333333"/>
                </a:solidFill>
                <a:latin typeface="Times New Roman"/>
                <a:cs typeface="Times New Roman"/>
              </a:rPr>
              <a:t>M</a:t>
            </a:r>
            <a:r>
              <a:rPr sz="1059" spc="9" dirty="0">
                <a:solidFill>
                  <a:srgbClr val="333333"/>
                </a:solidFill>
                <a:latin typeface="Times New Roman"/>
                <a:cs typeface="Times New Roman"/>
              </a:rPr>
              <a:t>e</a:t>
            </a:r>
            <a:r>
              <a:rPr sz="1059" spc="-44" dirty="0">
                <a:solidFill>
                  <a:srgbClr val="333333"/>
                </a:solidFill>
                <a:latin typeface="Times New Roman"/>
                <a:cs typeface="Times New Roman"/>
              </a:rPr>
              <a:t>m</a:t>
            </a:r>
            <a:r>
              <a:rPr sz="1059" spc="13" dirty="0">
                <a:solidFill>
                  <a:srgbClr val="333333"/>
                </a:solidFill>
                <a:latin typeface="Times New Roman"/>
                <a:cs typeface="Times New Roman"/>
              </a:rPr>
              <a:t>o</a:t>
            </a:r>
            <a:r>
              <a:rPr sz="1059" spc="22" dirty="0">
                <a:solidFill>
                  <a:srgbClr val="333333"/>
                </a:solidFill>
                <a:latin typeface="Times New Roman"/>
                <a:cs typeface="Times New Roman"/>
              </a:rPr>
              <a:t>ry</a:t>
            </a:r>
            <a:endParaRPr sz="1059" dirty="0">
              <a:latin typeface="Times New Roman"/>
              <a:cs typeface="Times New Roman"/>
            </a:endParaRPr>
          </a:p>
        </p:txBody>
      </p:sp>
      <p:sp>
        <p:nvSpPr>
          <p:cNvPr id="101" name="object 9">
            <a:extLst>
              <a:ext uri="{FF2B5EF4-FFF2-40B4-BE49-F238E27FC236}">
                <a16:creationId xmlns:a16="http://schemas.microsoft.com/office/drawing/2014/main" id="{EDAC5666-9095-47E6-9004-BB0FBD7EA165}"/>
              </a:ext>
            </a:extLst>
          </p:cNvPr>
          <p:cNvSpPr/>
          <p:nvPr/>
        </p:nvSpPr>
        <p:spPr>
          <a:xfrm>
            <a:off x="4493110" y="2812847"/>
            <a:ext cx="2708462" cy="3157818"/>
          </a:xfrm>
          <a:custGeom>
            <a:avLst/>
            <a:gdLst/>
            <a:ahLst/>
            <a:cxnLst/>
            <a:rect l="l" t="t" r="r" b="b"/>
            <a:pathLst>
              <a:path w="3069590" h="3578860">
                <a:moveTo>
                  <a:pt x="0" y="3578352"/>
                </a:moveTo>
                <a:lnTo>
                  <a:pt x="3069335" y="3578352"/>
                </a:lnTo>
                <a:lnTo>
                  <a:pt x="3069335" y="0"/>
                </a:lnTo>
                <a:lnTo>
                  <a:pt x="0" y="0"/>
                </a:lnTo>
                <a:lnTo>
                  <a:pt x="0" y="3578352"/>
                </a:lnTo>
                <a:close/>
              </a:path>
            </a:pathLst>
          </a:custGeom>
          <a:solidFill>
            <a:srgbClr val="F3EFAB"/>
          </a:solidFill>
        </p:spPr>
        <p:txBody>
          <a:bodyPr wrap="square" lIns="0" tIns="0" rIns="0" bIns="0" rtlCol="0"/>
          <a:lstStyle/>
          <a:p>
            <a:endParaRPr sz="1588" dirty="0"/>
          </a:p>
        </p:txBody>
      </p:sp>
      <p:sp>
        <p:nvSpPr>
          <p:cNvPr id="102" name="object 10">
            <a:extLst>
              <a:ext uri="{FF2B5EF4-FFF2-40B4-BE49-F238E27FC236}">
                <a16:creationId xmlns:a16="http://schemas.microsoft.com/office/drawing/2014/main" id="{EFCCCFEB-3582-4A82-83B0-123D2762CCF0}"/>
              </a:ext>
            </a:extLst>
          </p:cNvPr>
          <p:cNvSpPr/>
          <p:nvPr/>
        </p:nvSpPr>
        <p:spPr>
          <a:xfrm>
            <a:off x="4493110" y="2812847"/>
            <a:ext cx="2708462" cy="3157818"/>
          </a:xfrm>
          <a:custGeom>
            <a:avLst/>
            <a:gdLst/>
            <a:ahLst/>
            <a:cxnLst/>
            <a:rect l="l" t="t" r="r" b="b"/>
            <a:pathLst>
              <a:path w="3069590" h="3578860">
                <a:moveTo>
                  <a:pt x="0" y="3578352"/>
                </a:moveTo>
                <a:lnTo>
                  <a:pt x="3069335" y="3578352"/>
                </a:lnTo>
                <a:lnTo>
                  <a:pt x="3069335" y="0"/>
                </a:lnTo>
                <a:lnTo>
                  <a:pt x="0" y="0"/>
                </a:lnTo>
                <a:lnTo>
                  <a:pt x="0" y="3578352"/>
                </a:lnTo>
                <a:close/>
              </a:path>
            </a:pathLst>
          </a:custGeom>
          <a:ln w="9144">
            <a:solidFill>
              <a:srgbClr val="000000"/>
            </a:solidFill>
          </a:ln>
        </p:spPr>
        <p:txBody>
          <a:bodyPr wrap="square" lIns="0" tIns="0" rIns="0" bIns="0" rtlCol="0"/>
          <a:lstStyle/>
          <a:p>
            <a:endParaRPr sz="1588" dirty="0"/>
          </a:p>
        </p:txBody>
      </p:sp>
      <p:sp>
        <p:nvSpPr>
          <p:cNvPr id="103" name="object 11">
            <a:extLst>
              <a:ext uri="{FF2B5EF4-FFF2-40B4-BE49-F238E27FC236}">
                <a16:creationId xmlns:a16="http://schemas.microsoft.com/office/drawing/2014/main" id="{1C33C4D3-6C04-4762-BF35-EBF6AD8D2C6B}"/>
              </a:ext>
            </a:extLst>
          </p:cNvPr>
          <p:cNvSpPr/>
          <p:nvPr/>
        </p:nvSpPr>
        <p:spPr>
          <a:xfrm>
            <a:off x="4635649" y="2936559"/>
            <a:ext cx="1051672" cy="2791946"/>
          </a:xfrm>
          <a:custGeom>
            <a:avLst/>
            <a:gdLst/>
            <a:ahLst/>
            <a:cxnLst/>
            <a:rect l="l" t="t" r="r" b="b"/>
            <a:pathLst>
              <a:path w="1191895" h="3164204">
                <a:moveTo>
                  <a:pt x="0" y="3163824"/>
                </a:moveTo>
                <a:lnTo>
                  <a:pt x="1191767" y="3163824"/>
                </a:lnTo>
                <a:lnTo>
                  <a:pt x="1191767" y="0"/>
                </a:lnTo>
                <a:lnTo>
                  <a:pt x="0" y="0"/>
                </a:lnTo>
                <a:lnTo>
                  <a:pt x="0" y="3163824"/>
                </a:lnTo>
                <a:close/>
              </a:path>
            </a:pathLst>
          </a:custGeom>
          <a:solidFill>
            <a:srgbClr val="FFFFFF"/>
          </a:solidFill>
        </p:spPr>
        <p:txBody>
          <a:bodyPr wrap="square" lIns="0" tIns="0" rIns="0" bIns="0" rtlCol="0"/>
          <a:lstStyle/>
          <a:p>
            <a:endParaRPr sz="1588" dirty="0"/>
          </a:p>
        </p:txBody>
      </p:sp>
      <p:sp>
        <p:nvSpPr>
          <p:cNvPr id="104" name="object 12">
            <a:extLst>
              <a:ext uri="{FF2B5EF4-FFF2-40B4-BE49-F238E27FC236}">
                <a16:creationId xmlns:a16="http://schemas.microsoft.com/office/drawing/2014/main" id="{1DDC383F-9F76-4FFD-B7A3-0CB40942C5B4}"/>
              </a:ext>
            </a:extLst>
          </p:cNvPr>
          <p:cNvSpPr/>
          <p:nvPr/>
        </p:nvSpPr>
        <p:spPr>
          <a:xfrm>
            <a:off x="4635649" y="2936559"/>
            <a:ext cx="1051672" cy="2791946"/>
          </a:xfrm>
          <a:custGeom>
            <a:avLst/>
            <a:gdLst/>
            <a:ahLst/>
            <a:cxnLst/>
            <a:rect l="l" t="t" r="r" b="b"/>
            <a:pathLst>
              <a:path w="1191895" h="3164204">
                <a:moveTo>
                  <a:pt x="0" y="3163824"/>
                </a:moveTo>
                <a:lnTo>
                  <a:pt x="1191767" y="3163824"/>
                </a:lnTo>
                <a:lnTo>
                  <a:pt x="1191767" y="0"/>
                </a:lnTo>
                <a:lnTo>
                  <a:pt x="0" y="0"/>
                </a:lnTo>
                <a:lnTo>
                  <a:pt x="0" y="3163824"/>
                </a:lnTo>
                <a:close/>
              </a:path>
            </a:pathLst>
          </a:custGeom>
          <a:ln w="18287">
            <a:solidFill>
              <a:srgbClr val="000000"/>
            </a:solidFill>
          </a:ln>
        </p:spPr>
        <p:txBody>
          <a:bodyPr wrap="square" lIns="0" tIns="0" rIns="0" bIns="0" rtlCol="0"/>
          <a:lstStyle/>
          <a:p>
            <a:endParaRPr sz="1588" dirty="0"/>
          </a:p>
        </p:txBody>
      </p:sp>
      <p:sp>
        <p:nvSpPr>
          <p:cNvPr id="105" name="object 13">
            <a:extLst>
              <a:ext uri="{FF2B5EF4-FFF2-40B4-BE49-F238E27FC236}">
                <a16:creationId xmlns:a16="http://schemas.microsoft.com/office/drawing/2014/main" id="{A88BFA16-2189-48D5-8229-7EE0F7C6BF01}"/>
              </a:ext>
            </a:extLst>
          </p:cNvPr>
          <p:cNvSpPr/>
          <p:nvPr/>
        </p:nvSpPr>
        <p:spPr>
          <a:xfrm>
            <a:off x="4710952" y="3030689"/>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solidFill>
            <a:srgbClr val="FFFFFF"/>
          </a:solidFill>
        </p:spPr>
        <p:txBody>
          <a:bodyPr wrap="square" lIns="0" tIns="0" rIns="0" bIns="0" rtlCol="0"/>
          <a:lstStyle/>
          <a:p>
            <a:endParaRPr sz="1588" dirty="0"/>
          </a:p>
        </p:txBody>
      </p:sp>
      <p:sp>
        <p:nvSpPr>
          <p:cNvPr id="106" name="object 14">
            <a:extLst>
              <a:ext uri="{FF2B5EF4-FFF2-40B4-BE49-F238E27FC236}">
                <a16:creationId xmlns:a16="http://schemas.microsoft.com/office/drawing/2014/main" id="{37CD321B-988F-496F-BE40-4C47E1D31D94}"/>
              </a:ext>
            </a:extLst>
          </p:cNvPr>
          <p:cNvSpPr/>
          <p:nvPr/>
        </p:nvSpPr>
        <p:spPr>
          <a:xfrm>
            <a:off x="4710952" y="3030689"/>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07" name="object 15">
            <a:extLst>
              <a:ext uri="{FF2B5EF4-FFF2-40B4-BE49-F238E27FC236}">
                <a16:creationId xmlns:a16="http://schemas.microsoft.com/office/drawing/2014/main" id="{31A36DB1-8972-4EB5-B225-33DE59EF5B08}"/>
              </a:ext>
            </a:extLst>
          </p:cNvPr>
          <p:cNvSpPr/>
          <p:nvPr/>
        </p:nvSpPr>
        <p:spPr>
          <a:xfrm>
            <a:off x="4710952" y="3434101"/>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08" name="object 16">
            <a:extLst>
              <a:ext uri="{FF2B5EF4-FFF2-40B4-BE49-F238E27FC236}">
                <a16:creationId xmlns:a16="http://schemas.microsoft.com/office/drawing/2014/main" id="{903C9EC8-21A0-4948-B729-476BAECAFA12}"/>
              </a:ext>
            </a:extLst>
          </p:cNvPr>
          <p:cNvSpPr/>
          <p:nvPr/>
        </p:nvSpPr>
        <p:spPr>
          <a:xfrm>
            <a:off x="4710952" y="4224788"/>
            <a:ext cx="906556" cy="307041"/>
          </a:xfrm>
          <a:custGeom>
            <a:avLst/>
            <a:gdLst/>
            <a:ahLst/>
            <a:cxnLst/>
            <a:rect l="l" t="t" r="r" b="b"/>
            <a:pathLst>
              <a:path w="1027429" h="347979">
                <a:moveTo>
                  <a:pt x="0" y="347471"/>
                </a:moveTo>
                <a:lnTo>
                  <a:pt x="1027176" y="347471"/>
                </a:lnTo>
                <a:lnTo>
                  <a:pt x="1027176" y="0"/>
                </a:lnTo>
                <a:lnTo>
                  <a:pt x="0" y="0"/>
                </a:lnTo>
                <a:lnTo>
                  <a:pt x="0" y="347471"/>
                </a:lnTo>
                <a:close/>
              </a:path>
            </a:pathLst>
          </a:custGeom>
          <a:ln w="9144">
            <a:solidFill>
              <a:srgbClr val="000000"/>
            </a:solidFill>
          </a:ln>
        </p:spPr>
        <p:txBody>
          <a:bodyPr wrap="square" lIns="0" tIns="0" rIns="0" bIns="0" rtlCol="0"/>
          <a:lstStyle/>
          <a:p>
            <a:endParaRPr sz="1588" dirty="0"/>
          </a:p>
        </p:txBody>
      </p:sp>
      <p:sp>
        <p:nvSpPr>
          <p:cNvPr id="109" name="object 17">
            <a:extLst>
              <a:ext uri="{FF2B5EF4-FFF2-40B4-BE49-F238E27FC236}">
                <a16:creationId xmlns:a16="http://schemas.microsoft.com/office/drawing/2014/main" id="{37D801B0-7143-4FF1-B3AD-C079F72272F4}"/>
              </a:ext>
            </a:extLst>
          </p:cNvPr>
          <p:cNvSpPr/>
          <p:nvPr/>
        </p:nvSpPr>
        <p:spPr>
          <a:xfrm>
            <a:off x="4710952" y="4617442"/>
            <a:ext cx="906556" cy="309282"/>
          </a:xfrm>
          <a:custGeom>
            <a:avLst/>
            <a:gdLst/>
            <a:ahLst/>
            <a:cxnLst/>
            <a:rect l="l" t="t" r="r" b="b"/>
            <a:pathLst>
              <a:path w="1027429" h="350520">
                <a:moveTo>
                  <a:pt x="0" y="350520"/>
                </a:moveTo>
                <a:lnTo>
                  <a:pt x="1027176" y="350520"/>
                </a:lnTo>
                <a:lnTo>
                  <a:pt x="1027176" y="0"/>
                </a:lnTo>
                <a:lnTo>
                  <a:pt x="0" y="0"/>
                </a:lnTo>
                <a:lnTo>
                  <a:pt x="0" y="350520"/>
                </a:lnTo>
                <a:close/>
              </a:path>
            </a:pathLst>
          </a:custGeom>
          <a:ln w="9144">
            <a:solidFill>
              <a:srgbClr val="000000"/>
            </a:solidFill>
          </a:ln>
        </p:spPr>
        <p:txBody>
          <a:bodyPr wrap="square" lIns="0" tIns="0" rIns="0" bIns="0" rtlCol="0"/>
          <a:lstStyle/>
          <a:p>
            <a:endParaRPr sz="1588" dirty="0"/>
          </a:p>
        </p:txBody>
      </p:sp>
      <p:sp>
        <p:nvSpPr>
          <p:cNvPr id="110" name="object 18">
            <a:extLst>
              <a:ext uri="{FF2B5EF4-FFF2-40B4-BE49-F238E27FC236}">
                <a16:creationId xmlns:a16="http://schemas.microsoft.com/office/drawing/2014/main" id="{75DD2F6E-CB56-4429-A0EF-4FE0AD7274A6}"/>
              </a:ext>
            </a:extLst>
          </p:cNvPr>
          <p:cNvSpPr txBox="1"/>
          <p:nvPr/>
        </p:nvSpPr>
        <p:spPr>
          <a:xfrm>
            <a:off x="4710952" y="5012786"/>
            <a:ext cx="906556" cy="307777"/>
          </a:xfrm>
          <a:prstGeom prst="rect">
            <a:avLst/>
          </a:prstGeom>
          <a:solidFill>
            <a:srgbClr val="FFFFFF"/>
          </a:solidFill>
          <a:ln w="9144">
            <a:solidFill>
              <a:srgbClr val="000000"/>
            </a:solidFill>
          </a:ln>
        </p:spPr>
        <p:txBody>
          <a:bodyPr vert="horz" wrap="square" lIns="0" tIns="0" rIns="0" bIns="0" rtlCol="0">
            <a:spAutoFit/>
          </a:bodyPr>
          <a:lstStyle/>
          <a:p>
            <a:pPr marL="15689" algn="ctr">
              <a:lnSpc>
                <a:spcPts val="1209"/>
              </a:lnSpc>
            </a:pPr>
            <a:r>
              <a:rPr sz="1059" spc="-4" dirty="0">
                <a:solidFill>
                  <a:srgbClr val="333333"/>
                </a:solidFill>
                <a:latin typeface="Times New Roman"/>
                <a:cs typeface="Times New Roman"/>
              </a:rPr>
              <a:t>Input/Output</a:t>
            </a:r>
            <a:endParaRPr sz="1059" dirty="0">
              <a:latin typeface="Times New Roman"/>
              <a:cs typeface="Times New Roman"/>
            </a:endParaRPr>
          </a:p>
          <a:p>
            <a:pPr marL="18491" algn="ctr">
              <a:lnSpc>
                <a:spcPts val="1227"/>
              </a:lnSpc>
            </a:pP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1" name="object 19">
            <a:extLst>
              <a:ext uri="{FF2B5EF4-FFF2-40B4-BE49-F238E27FC236}">
                <a16:creationId xmlns:a16="http://schemas.microsoft.com/office/drawing/2014/main" id="{0ADC600D-6216-4C94-A29A-72797BB5F5C5}"/>
              </a:ext>
            </a:extLst>
          </p:cNvPr>
          <p:cNvSpPr/>
          <p:nvPr/>
        </p:nvSpPr>
        <p:spPr>
          <a:xfrm>
            <a:off x="4710952" y="5408129"/>
            <a:ext cx="906556" cy="309282"/>
          </a:xfrm>
          <a:custGeom>
            <a:avLst/>
            <a:gdLst/>
            <a:ahLst/>
            <a:cxnLst/>
            <a:rect l="l" t="t" r="r" b="b"/>
            <a:pathLst>
              <a:path w="1027429" h="350520">
                <a:moveTo>
                  <a:pt x="0" y="350519"/>
                </a:moveTo>
                <a:lnTo>
                  <a:pt x="1027176" y="350519"/>
                </a:lnTo>
                <a:lnTo>
                  <a:pt x="1027176" y="0"/>
                </a:lnTo>
                <a:lnTo>
                  <a:pt x="0" y="0"/>
                </a:lnTo>
                <a:lnTo>
                  <a:pt x="0" y="350519"/>
                </a:lnTo>
                <a:close/>
              </a:path>
            </a:pathLst>
          </a:custGeom>
          <a:ln w="9144">
            <a:solidFill>
              <a:srgbClr val="000000"/>
            </a:solidFill>
          </a:ln>
        </p:spPr>
        <p:txBody>
          <a:bodyPr wrap="square" lIns="0" tIns="0" rIns="0" bIns="0" rtlCol="0"/>
          <a:lstStyle/>
          <a:p>
            <a:endParaRPr sz="1588" dirty="0"/>
          </a:p>
        </p:txBody>
      </p:sp>
      <p:sp>
        <p:nvSpPr>
          <p:cNvPr id="112" name="object 20">
            <a:extLst>
              <a:ext uri="{FF2B5EF4-FFF2-40B4-BE49-F238E27FC236}">
                <a16:creationId xmlns:a16="http://schemas.microsoft.com/office/drawing/2014/main" id="{AE903485-412F-4424-9A3C-26020457BD8A}"/>
              </a:ext>
            </a:extLst>
          </p:cNvPr>
          <p:cNvSpPr txBox="1"/>
          <p:nvPr/>
        </p:nvSpPr>
        <p:spPr>
          <a:xfrm>
            <a:off x="4751294" y="3110923"/>
            <a:ext cx="855009" cy="1832119"/>
          </a:xfrm>
          <a:prstGeom prst="rect">
            <a:avLst/>
          </a:prstGeom>
        </p:spPr>
        <p:txBody>
          <a:bodyPr vert="horz" wrap="square" lIns="0" tIns="24652" rIns="0" bIns="0" rtlCol="0">
            <a:spAutoFit/>
          </a:bodyPr>
          <a:lstStyle/>
          <a:p>
            <a:pPr marL="190510" marR="191631" indent="31938">
              <a:lnSpc>
                <a:spcPct val="91700"/>
              </a:lnSpc>
              <a:spcBef>
                <a:spcPts val="193"/>
              </a:spcBef>
            </a:pPr>
            <a:r>
              <a:rPr sz="1059" dirty="0">
                <a:solidFill>
                  <a:srgbClr val="333333"/>
                </a:solidFill>
                <a:latin typeface="Times New Roman"/>
                <a:cs typeface="Times New Roman"/>
              </a:rPr>
              <a:t>Decode  r  </a:t>
            </a:r>
            <a:r>
              <a:rPr sz="1059" spc="-4" dirty="0">
                <a:solidFill>
                  <a:srgbClr val="333333"/>
                </a:solidFill>
                <a:latin typeface="Times New Roman"/>
                <a:cs typeface="Times New Roman"/>
              </a:rPr>
              <a:t>P</a:t>
            </a:r>
            <a:r>
              <a:rPr sz="1059" spc="-22" dirty="0">
                <a:solidFill>
                  <a:srgbClr val="333333"/>
                </a:solidFill>
                <a:latin typeface="Times New Roman"/>
                <a:cs typeface="Times New Roman"/>
              </a:rPr>
              <a:t>r</a:t>
            </a:r>
            <a:r>
              <a:rPr sz="1059" spc="9" dirty="0">
                <a:solidFill>
                  <a:srgbClr val="333333"/>
                </a:solidFill>
                <a:latin typeface="Times New Roman"/>
                <a:cs typeface="Times New Roman"/>
              </a:rPr>
              <a:t>o</a:t>
            </a:r>
            <a:r>
              <a:rPr sz="1059" spc="-4" dirty="0">
                <a:solidFill>
                  <a:srgbClr val="333333"/>
                </a:solidFill>
                <a:latin typeface="Times New Roman"/>
                <a:cs typeface="Times New Roman"/>
              </a:rPr>
              <a:t>g</a:t>
            </a:r>
            <a:r>
              <a:rPr sz="1059" dirty="0">
                <a:solidFill>
                  <a:srgbClr val="333333"/>
                </a:solidFill>
                <a:latin typeface="Times New Roman"/>
                <a:cs typeface="Times New Roman"/>
              </a:rPr>
              <a:t>r</a:t>
            </a:r>
            <a:r>
              <a:rPr sz="1059" spc="-4" dirty="0">
                <a:solidFill>
                  <a:srgbClr val="333333"/>
                </a:solidFill>
                <a:latin typeface="Times New Roman"/>
                <a:cs typeface="Times New Roman"/>
              </a:rPr>
              <a:t>am</a:t>
            </a:r>
            <a:endParaRPr sz="1059" dirty="0">
              <a:latin typeface="Times New Roman"/>
              <a:cs typeface="Times New Roman"/>
            </a:endParaRPr>
          </a:p>
          <a:p>
            <a:pPr marL="10646">
              <a:lnSpc>
                <a:spcPts val="1249"/>
              </a:lnSpc>
            </a:pPr>
            <a:r>
              <a:rPr sz="1059" dirty="0">
                <a:solidFill>
                  <a:srgbClr val="333333"/>
                </a:solidFill>
                <a:latin typeface="Times New Roman"/>
                <a:cs typeface="Times New Roman"/>
              </a:rPr>
              <a:t>control</a:t>
            </a:r>
            <a:r>
              <a:rPr sz="1059" spc="-62" dirty="0">
                <a:solidFill>
                  <a:srgbClr val="333333"/>
                </a:solidFill>
                <a:latin typeface="Times New Roman"/>
                <a:cs typeface="Times New Roman"/>
              </a:rPr>
              <a:t> </a:t>
            </a:r>
            <a:r>
              <a:rPr sz="1059" dirty="0">
                <a:solidFill>
                  <a:srgbClr val="333333"/>
                </a:solidFill>
                <a:latin typeface="Times New Roman"/>
                <a:cs typeface="Times New Roman"/>
              </a:rPr>
              <a:t>register</a:t>
            </a:r>
            <a:endParaRPr sz="1059" dirty="0">
              <a:latin typeface="Times New Roman"/>
              <a:cs typeface="Times New Roman"/>
            </a:endParaRPr>
          </a:p>
          <a:p>
            <a:pPr marL="142322" marR="121030" algn="ctr">
              <a:lnSpc>
                <a:spcPts val="1253"/>
              </a:lnSpc>
              <a:spcBef>
                <a:spcPts val="710"/>
              </a:spcBef>
            </a:pPr>
            <a:r>
              <a:rPr sz="1059" dirty="0">
                <a:solidFill>
                  <a:srgbClr val="333333"/>
                </a:solidFill>
                <a:latin typeface="Times New Roman"/>
                <a:cs typeface="Times New Roman"/>
              </a:rPr>
              <a:t>I</a:t>
            </a:r>
            <a:r>
              <a:rPr sz="1059" spc="-26" dirty="0">
                <a:solidFill>
                  <a:srgbClr val="333333"/>
                </a:solidFill>
                <a:latin typeface="Times New Roman"/>
                <a:cs typeface="Times New Roman"/>
              </a:rPr>
              <a:t>n</a:t>
            </a:r>
            <a:r>
              <a:rPr sz="1059" spc="-18" dirty="0">
                <a:solidFill>
                  <a:srgbClr val="333333"/>
                </a:solidFill>
                <a:latin typeface="Times New Roman"/>
                <a:cs typeface="Times New Roman"/>
              </a:rPr>
              <a:t>s</a:t>
            </a:r>
            <a:r>
              <a:rPr sz="1059" spc="22" dirty="0">
                <a:solidFill>
                  <a:srgbClr val="333333"/>
                </a:solidFill>
                <a:latin typeface="Times New Roman"/>
                <a:cs typeface="Times New Roman"/>
              </a:rPr>
              <a:t>t</a:t>
            </a:r>
            <a:r>
              <a:rPr sz="1059" dirty="0">
                <a:solidFill>
                  <a:srgbClr val="333333"/>
                </a:solidFill>
                <a:latin typeface="Times New Roman"/>
                <a:cs typeface="Times New Roman"/>
              </a:rPr>
              <a:t>ruc</a:t>
            </a:r>
            <a:r>
              <a:rPr sz="1059" spc="22" dirty="0">
                <a:solidFill>
                  <a:srgbClr val="333333"/>
                </a:solidFill>
                <a:latin typeface="Times New Roman"/>
                <a:cs typeface="Times New Roman"/>
              </a:rPr>
              <a:t>t</a:t>
            </a:r>
            <a:r>
              <a:rPr sz="1059" spc="-44" dirty="0">
                <a:solidFill>
                  <a:srgbClr val="333333"/>
                </a:solidFill>
                <a:latin typeface="Times New Roman"/>
                <a:cs typeface="Times New Roman"/>
              </a:rPr>
              <a:t>i</a:t>
            </a:r>
            <a:r>
              <a:rPr sz="1059" spc="13" dirty="0">
                <a:solidFill>
                  <a:srgbClr val="333333"/>
                </a:solidFill>
                <a:latin typeface="Times New Roman"/>
                <a:cs typeface="Times New Roman"/>
              </a:rPr>
              <a:t>o</a:t>
            </a:r>
            <a:r>
              <a:rPr sz="1059" dirty="0">
                <a:solidFill>
                  <a:srgbClr val="333333"/>
                </a:solidFill>
                <a:latin typeface="Times New Roman"/>
                <a:cs typeface="Times New Roman"/>
              </a:rPr>
              <a:t>n  </a:t>
            </a:r>
            <a:r>
              <a:rPr sz="1059" spc="-4" dirty="0">
                <a:solidFill>
                  <a:srgbClr val="333333"/>
                </a:solidFill>
                <a:latin typeface="Times New Roman"/>
                <a:cs typeface="Times New Roman"/>
              </a:rPr>
              <a:t>register</a:t>
            </a:r>
            <a:endParaRPr sz="1059" dirty="0">
              <a:latin typeface="Times New Roman"/>
              <a:cs typeface="Times New Roman"/>
            </a:endParaRPr>
          </a:p>
          <a:p>
            <a:pPr marR="4483" indent="3362" algn="ctr">
              <a:spcBef>
                <a:spcPts val="529"/>
              </a:spcBef>
            </a:pPr>
            <a:r>
              <a:rPr sz="1059" spc="-4" dirty="0">
                <a:solidFill>
                  <a:srgbClr val="333333"/>
                </a:solidFill>
                <a:latin typeface="Times New Roman"/>
                <a:cs typeface="Times New Roman"/>
              </a:rPr>
              <a:t>Memory  address</a:t>
            </a:r>
            <a:r>
              <a:rPr sz="1059" spc="-53" dirty="0">
                <a:solidFill>
                  <a:srgbClr val="333333"/>
                </a:solidFill>
                <a:latin typeface="Times New Roman"/>
                <a:cs typeface="Times New Roman"/>
              </a:rPr>
              <a:t> </a:t>
            </a:r>
            <a:r>
              <a:rPr sz="1059" dirty="0">
                <a:solidFill>
                  <a:srgbClr val="333333"/>
                </a:solidFill>
                <a:latin typeface="Times New Roman"/>
                <a:cs typeface="Times New Roman"/>
              </a:rPr>
              <a:t>register</a:t>
            </a:r>
            <a:endParaRPr sz="1059" dirty="0">
              <a:latin typeface="Times New Roman"/>
              <a:cs typeface="Times New Roman"/>
            </a:endParaRPr>
          </a:p>
          <a:p>
            <a:pPr marL="2241" marR="22413" algn="ctr">
              <a:spcBef>
                <a:spcPts val="507"/>
              </a:spcBef>
            </a:pPr>
            <a:r>
              <a:rPr sz="1059" spc="-4" dirty="0">
                <a:solidFill>
                  <a:srgbClr val="333333"/>
                </a:solidFill>
                <a:latin typeface="Times New Roman"/>
                <a:cs typeface="Times New Roman"/>
              </a:rPr>
              <a:t>Memory</a:t>
            </a:r>
            <a:r>
              <a:rPr sz="1059" spc="-62" dirty="0">
                <a:solidFill>
                  <a:srgbClr val="333333"/>
                </a:solidFill>
                <a:latin typeface="Times New Roman"/>
                <a:cs typeface="Times New Roman"/>
              </a:rPr>
              <a:t> </a:t>
            </a:r>
            <a:r>
              <a:rPr sz="1059" spc="-9" dirty="0">
                <a:solidFill>
                  <a:srgbClr val="333333"/>
                </a:solidFill>
                <a:latin typeface="Times New Roman"/>
                <a:cs typeface="Times New Roman"/>
              </a:rPr>
              <a:t>buffer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3" name="object 21">
            <a:extLst>
              <a:ext uri="{FF2B5EF4-FFF2-40B4-BE49-F238E27FC236}">
                <a16:creationId xmlns:a16="http://schemas.microsoft.com/office/drawing/2014/main" id="{3085FD94-99DE-4D68-8A19-D3C1DFC51417}"/>
              </a:ext>
            </a:extLst>
          </p:cNvPr>
          <p:cNvSpPr/>
          <p:nvPr/>
        </p:nvSpPr>
        <p:spPr>
          <a:xfrm>
            <a:off x="4710952" y="3829445"/>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14" name="object 22">
            <a:extLst>
              <a:ext uri="{FF2B5EF4-FFF2-40B4-BE49-F238E27FC236}">
                <a16:creationId xmlns:a16="http://schemas.microsoft.com/office/drawing/2014/main" id="{3F2381EB-322D-42A8-A462-1F487985F045}"/>
              </a:ext>
            </a:extLst>
          </p:cNvPr>
          <p:cNvSpPr/>
          <p:nvPr/>
        </p:nvSpPr>
        <p:spPr>
          <a:xfrm>
            <a:off x="6090621" y="2936559"/>
            <a:ext cx="1051672" cy="2791946"/>
          </a:xfrm>
          <a:custGeom>
            <a:avLst/>
            <a:gdLst/>
            <a:ahLst/>
            <a:cxnLst/>
            <a:rect l="l" t="t" r="r" b="b"/>
            <a:pathLst>
              <a:path w="1191895" h="3164204">
                <a:moveTo>
                  <a:pt x="0" y="3163824"/>
                </a:moveTo>
                <a:lnTo>
                  <a:pt x="1191768" y="3163824"/>
                </a:lnTo>
                <a:lnTo>
                  <a:pt x="1191768" y="0"/>
                </a:lnTo>
                <a:lnTo>
                  <a:pt x="0" y="0"/>
                </a:lnTo>
                <a:lnTo>
                  <a:pt x="0" y="3163824"/>
                </a:lnTo>
                <a:close/>
              </a:path>
            </a:pathLst>
          </a:custGeom>
          <a:solidFill>
            <a:srgbClr val="FFFFFF"/>
          </a:solidFill>
        </p:spPr>
        <p:txBody>
          <a:bodyPr wrap="square" lIns="0" tIns="0" rIns="0" bIns="0" rtlCol="0"/>
          <a:lstStyle/>
          <a:p>
            <a:endParaRPr sz="1588" dirty="0"/>
          </a:p>
        </p:txBody>
      </p:sp>
      <p:sp>
        <p:nvSpPr>
          <p:cNvPr id="115" name="object 23">
            <a:extLst>
              <a:ext uri="{FF2B5EF4-FFF2-40B4-BE49-F238E27FC236}">
                <a16:creationId xmlns:a16="http://schemas.microsoft.com/office/drawing/2014/main" id="{E40F585D-FFDB-4442-8BF6-24DA2B721E41}"/>
              </a:ext>
            </a:extLst>
          </p:cNvPr>
          <p:cNvSpPr/>
          <p:nvPr/>
        </p:nvSpPr>
        <p:spPr>
          <a:xfrm>
            <a:off x="6090621" y="2936559"/>
            <a:ext cx="1051672" cy="2791946"/>
          </a:xfrm>
          <a:custGeom>
            <a:avLst/>
            <a:gdLst/>
            <a:ahLst/>
            <a:cxnLst/>
            <a:rect l="l" t="t" r="r" b="b"/>
            <a:pathLst>
              <a:path w="1191895" h="3164204">
                <a:moveTo>
                  <a:pt x="0" y="3163824"/>
                </a:moveTo>
                <a:lnTo>
                  <a:pt x="1191768" y="3163824"/>
                </a:lnTo>
                <a:lnTo>
                  <a:pt x="1191768" y="0"/>
                </a:lnTo>
                <a:lnTo>
                  <a:pt x="0" y="0"/>
                </a:lnTo>
                <a:lnTo>
                  <a:pt x="0" y="3163824"/>
                </a:lnTo>
                <a:close/>
              </a:path>
            </a:pathLst>
          </a:custGeom>
          <a:ln w="18288">
            <a:solidFill>
              <a:srgbClr val="000000"/>
            </a:solidFill>
          </a:ln>
        </p:spPr>
        <p:txBody>
          <a:bodyPr wrap="square" lIns="0" tIns="0" rIns="0" bIns="0" rtlCol="0"/>
          <a:lstStyle/>
          <a:p>
            <a:endParaRPr sz="1588" dirty="0"/>
          </a:p>
        </p:txBody>
      </p:sp>
      <p:sp>
        <p:nvSpPr>
          <p:cNvPr id="116" name="object 24">
            <a:extLst>
              <a:ext uri="{FF2B5EF4-FFF2-40B4-BE49-F238E27FC236}">
                <a16:creationId xmlns:a16="http://schemas.microsoft.com/office/drawing/2014/main" id="{F7733478-46AB-4032-8180-DC6E32CF900E}"/>
              </a:ext>
            </a:extLst>
          </p:cNvPr>
          <p:cNvSpPr txBox="1"/>
          <p:nvPr/>
        </p:nvSpPr>
        <p:spPr>
          <a:xfrm>
            <a:off x="6165924" y="3030689"/>
            <a:ext cx="903754" cy="297902"/>
          </a:xfrm>
          <a:prstGeom prst="rect">
            <a:avLst/>
          </a:prstGeom>
          <a:solidFill>
            <a:srgbClr val="FFFFFF"/>
          </a:solidFill>
          <a:ln w="9144">
            <a:solidFill>
              <a:srgbClr val="000000"/>
            </a:solidFill>
          </a:ln>
        </p:spPr>
        <p:txBody>
          <a:bodyPr vert="horz" wrap="square" lIns="0" tIns="0" rIns="0" bIns="0" rtlCol="0">
            <a:spAutoFit/>
          </a:bodyPr>
          <a:lstStyle/>
          <a:p>
            <a:pPr marL="22413" algn="ctr">
              <a:lnSpc>
                <a:spcPts val="1134"/>
              </a:lnSpc>
            </a:pPr>
            <a:r>
              <a:rPr sz="1059" dirty="0">
                <a:solidFill>
                  <a:srgbClr val="333333"/>
                </a:solidFill>
                <a:latin typeface="Times New Roman"/>
                <a:cs typeface="Times New Roman"/>
              </a:rPr>
              <a:t>Accumulato</a:t>
            </a:r>
            <a:endParaRPr sz="1059" dirty="0">
              <a:latin typeface="Times New Roman"/>
              <a:cs typeface="Times New Roman"/>
            </a:endParaRPr>
          </a:p>
          <a:p>
            <a:pPr marL="20732" algn="ctr">
              <a:lnSpc>
                <a:spcPts val="1262"/>
              </a:lnSpc>
            </a:pPr>
            <a:r>
              <a:rPr sz="1059" spc="-4" dirty="0">
                <a:solidFill>
                  <a:srgbClr val="333333"/>
                </a:solidFill>
                <a:latin typeface="Times New Roman"/>
                <a:cs typeface="Times New Roman"/>
              </a:rPr>
              <a:t>r</a:t>
            </a:r>
            <a:r>
              <a:rPr sz="1059"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7" name="object 25">
            <a:extLst>
              <a:ext uri="{FF2B5EF4-FFF2-40B4-BE49-F238E27FC236}">
                <a16:creationId xmlns:a16="http://schemas.microsoft.com/office/drawing/2014/main" id="{B08FA253-DE39-49B8-8367-1DFF55D03044}"/>
              </a:ext>
            </a:extLst>
          </p:cNvPr>
          <p:cNvSpPr txBox="1"/>
          <p:nvPr/>
        </p:nvSpPr>
        <p:spPr>
          <a:xfrm>
            <a:off x="6165924" y="3434101"/>
            <a:ext cx="903754" cy="297902"/>
          </a:xfrm>
          <a:prstGeom prst="rect">
            <a:avLst/>
          </a:prstGeom>
          <a:solidFill>
            <a:srgbClr val="FFFFFF"/>
          </a:solidFill>
          <a:ln w="9144">
            <a:solidFill>
              <a:srgbClr val="000000"/>
            </a:solidFill>
          </a:ln>
        </p:spPr>
        <p:txBody>
          <a:bodyPr vert="horz" wrap="square" lIns="0" tIns="0" rIns="0" bIns="0" rtlCol="0">
            <a:spAutoFit/>
          </a:bodyPr>
          <a:lstStyle/>
          <a:p>
            <a:pPr marL="11206" algn="ctr">
              <a:lnSpc>
                <a:spcPts val="1134"/>
              </a:lnSpc>
            </a:pPr>
            <a:r>
              <a:rPr sz="1059" spc="-9" dirty="0">
                <a:solidFill>
                  <a:srgbClr val="333333"/>
                </a:solidFill>
                <a:latin typeface="Times New Roman"/>
                <a:cs typeface="Times New Roman"/>
              </a:rPr>
              <a:t>General-</a:t>
            </a:r>
            <a:endParaRPr sz="1059" dirty="0">
              <a:latin typeface="Times New Roman"/>
              <a:cs typeface="Times New Roman"/>
            </a:endParaRPr>
          </a:p>
          <a:p>
            <a:pPr marL="14008" algn="ctr">
              <a:lnSpc>
                <a:spcPts val="1262"/>
              </a:lnSpc>
            </a:pPr>
            <a:r>
              <a:rPr sz="1059" spc="-4" dirty="0">
                <a:solidFill>
                  <a:srgbClr val="333333"/>
                </a:solidFill>
                <a:latin typeface="Times New Roman"/>
                <a:cs typeface="Times New Roman"/>
              </a:rPr>
              <a:t>purpose</a:t>
            </a:r>
            <a:r>
              <a:rPr sz="1059" spc="-22"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8" name="object 26">
            <a:extLst>
              <a:ext uri="{FF2B5EF4-FFF2-40B4-BE49-F238E27FC236}">
                <a16:creationId xmlns:a16="http://schemas.microsoft.com/office/drawing/2014/main" id="{710A8BFA-F4C2-4655-89E5-6325368C6E9E}"/>
              </a:ext>
            </a:extLst>
          </p:cNvPr>
          <p:cNvSpPr txBox="1"/>
          <p:nvPr/>
        </p:nvSpPr>
        <p:spPr>
          <a:xfrm>
            <a:off x="6383767" y="3799413"/>
            <a:ext cx="480172" cy="500295"/>
          </a:xfrm>
          <a:prstGeom prst="rect">
            <a:avLst/>
          </a:prstGeom>
        </p:spPr>
        <p:txBody>
          <a:bodyPr vert="horz" wrap="square" lIns="0" tIns="11206" rIns="0" bIns="0" rtlCol="0">
            <a:spAutoFit/>
          </a:bodyPr>
          <a:lstStyle/>
          <a:p>
            <a:pPr marL="24094" marR="4483" indent="-24654" algn="just">
              <a:spcBef>
                <a:spcPts val="88"/>
              </a:spcBef>
            </a:pPr>
            <a:r>
              <a:rPr sz="1059" spc="-4" dirty="0">
                <a:solidFill>
                  <a:srgbClr val="333333"/>
                </a:solidFill>
                <a:latin typeface="Times New Roman"/>
                <a:cs typeface="Times New Roman"/>
              </a:rPr>
              <a:t>Gene</a:t>
            </a:r>
            <a:r>
              <a:rPr sz="1059" dirty="0">
                <a:solidFill>
                  <a:srgbClr val="333333"/>
                </a:solidFill>
                <a:latin typeface="Times New Roman"/>
                <a:cs typeface="Times New Roman"/>
              </a:rPr>
              <a:t>r</a:t>
            </a:r>
            <a:r>
              <a:rPr sz="1059" spc="4" dirty="0">
                <a:solidFill>
                  <a:srgbClr val="333333"/>
                </a:solidFill>
                <a:latin typeface="Times New Roman"/>
                <a:cs typeface="Times New Roman"/>
              </a:rPr>
              <a:t>a</a:t>
            </a:r>
            <a:r>
              <a:rPr sz="1059" spc="-26" dirty="0">
                <a:solidFill>
                  <a:srgbClr val="333333"/>
                </a:solidFill>
                <a:latin typeface="Times New Roman"/>
                <a:cs typeface="Times New Roman"/>
              </a:rPr>
              <a:t>l-  </a:t>
            </a:r>
            <a:r>
              <a:rPr sz="1059" spc="-4" dirty="0">
                <a:solidFill>
                  <a:srgbClr val="333333"/>
                </a:solidFill>
                <a:latin typeface="Times New Roman"/>
                <a:cs typeface="Times New Roman"/>
              </a:rPr>
              <a:t>purpose  register</a:t>
            </a:r>
            <a:endParaRPr sz="1059" dirty="0">
              <a:latin typeface="Times New Roman"/>
              <a:cs typeface="Times New Roman"/>
            </a:endParaRPr>
          </a:p>
        </p:txBody>
      </p:sp>
      <p:sp>
        <p:nvSpPr>
          <p:cNvPr id="119" name="object 27">
            <a:extLst>
              <a:ext uri="{FF2B5EF4-FFF2-40B4-BE49-F238E27FC236}">
                <a16:creationId xmlns:a16="http://schemas.microsoft.com/office/drawing/2014/main" id="{ED913FF9-B074-41D4-822C-973038F88717}"/>
              </a:ext>
            </a:extLst>
          </p:cNvPr>
          <p:cNvSpPr/>
          <p:nvPr/>
        </p:nvSpPr>
        <p:spPr>
          <a:xfrm>
            <a:off x="6165924" y="5408129"/>
            <a:ext cx="903754" cy="309282"/>
          </a:xfrm>
          <a:custGeom>
            <a:avLst/>
            <a:gdLst/>
            <a:ahLst/>
            <a:cxnLst/>
            <a:rect l="l" t="t" r="r" b="b"/>
            <a:pathLst>
              <a:path w="1024254" h="350520">
                <a:moveTo>
                  <a:pt x="0" y="350519"/>
                </a:moveTo>
                <a:lnTo>
                  <a:pt x="1024127" y="350519"/>
                </a:lnTo>
                <a:lnTo>
                  <a:pt x="1024127" y="0"/>
                </a:lnTo>
                <a:lnTo>
                  <a:pt x="0" y="0"/>
                </a:lnTo>
                <a:lnTo>
                  <a:pt x="0" y="350519"/>
                </a:lnTo>
                <a:close/>
              </a:path>
            </a:pathLst>
          </a:custGeom>
          <a:ln w="9144">
            <a:solidFill>
              <a:srgbClr val="000000"/>
            </a:solidFill>
          </a:ln>
        </p:spPr>
        <p:txBody>
          <a:bodyPr wrap="square" lIns="0" tIns="0" rIns="0" bIns="0" rtlCol="0"/>
          <a:lstStyle/>
          <a:p>
            <a:endParaRPr sz="1588" dirty="0"/>
          </a:p>
        </p:txBody>
      </p:sp>
      <p:sp>
        <p:nvSpPr>
          <p:cNvPr id="120" name="object 28">
            <a:extLst>
              <a:ext uri="{FF2B5EF4-FFF2-40B4-BE49-F238E27FC236}">
                <a16:creationId xmlns:a16="http://schemas.microsoft.com/office/drawing/2014/main" id="{C5B3156E-D0C9-4D01-8692-959BFD6E512A}"/>
              </a:ext>
            </a:extLst>
          </p:cNvPr>
          <p:cNvSpPr txBox="1"/>
          <p:nvPr/>
        </p:nvSpPr>
        <p:spPr>
          <a:xfrm>
            <a:off x="6251986" y="5380787"/>
            <a:ext cx="760879" cy="283365"/>
          </a:xfrm>
          <a:prstGeom prst="rect">
            <a:avLst/>
          </a:prstGeom>
        </p:spPr>
        <p:txBody>
          <a:bodyPr vert="horz" wrap="square" lIns="0" tIns="11766" rIns="0" bIns="0" rtlCol="0">
            <a:spAutoFit/>
          </a:bodyPr>
          <a:lstStyle/>
          <a:p>
            <a:pPr marL="201717" marR="4483" indent="-201717">
              <a:spcBef>
                <a:spcPts val="93"/>
              </a:spcBef>
            </a:pPr>
            <a:r>
              <a:rPr sz="882" spc="-4" dirty="0">
                <a:solidFill>
                  <a:srgbClr val="333333"/>
                </a:solidFill>
                <a:latin typeface="Times New Roman"/>
                <a:cs typeface="Times New Roman"/>
              </a:rPr>
              <a:t>G</a:t>
            </a:r>
            <a:r>
              <a:rPr sz="882" spc="-18" dirty="0">
                <a:solidFill>
                  <a:srgbClr val="333333"/>
                </a:solidFill>
                <a:latin typeface="Times New Roman"/>
                <a:cs typeface="Times New Roman"/>
              </a:rPr>
              <a:t>e</a:t>
            </a:r>
            <a:r>
              <a:rPr sz="882" spc="13" dirty="0">
                <a:solidFill>
                  <a:srgbClr val="333333"/>
                </a:solidFill>
                <a:latin typeface="Times New Roman"/>
                <a:cs typeface="Times New Roman"/>
              </a:rPr>
              <a:t>n</a:t>
            </a:r>
            <a:r>
              <a:rPr sz="882" spc="-18" dirty="0">
                <a:solidFill>
                  <a:srgbClr val="333333"/>
                </a:solidFill>
                <a:latin typeface="Times New Roman"/>
                <a:cs typeface="Times New Roman"/>
              </a:rPr>
              <a:t>e</a:t>
            </a:r>
            <a:r>
              <a:rPr sz="882" spc="13" dirty="0">
                <a:solidFill>
                  <a:srgbClr val="333333"/>
                </a:solidFill>
                <a:latin typeface="Times New Roman"/>
                <a:cs typeface="Times New Roman"/>
              </a:rPr>
              <a:t>r</a:t>
            </a:r>
            <a:r>
              <a:rPr sz="882" dirty="0">
                <a:solidFill>
                  <a:srgbClr val="333333"/>
                </a:solidFill>
                <a:latin typeface="Times New Roman"/>
                <a:cs typeface="Times New Roman"/>
              </a:rPr>
              <a:t>al-p</a:t>
            </a:r>
            <a:r>
              <a:rPr sz="882" spc="-22" dirty="0">
                <a:solidFill>
                  <a:srgbClr val="333333"/>
                </a:solidFill>
                <a:latin typeface="Times New Roman"/>
                <a:cs typeface="Times New Roman"/>
              </a:rPr>
              <a:t>u</a:t>
            </a:r>
            <a:r>
              <a:rPr sz="882" dirty="0">
                <a:solidFill>
                  <a:srgbClr val="333333"/>
                </a:solidFill>
                <a:latin typeface="Times New Roman"/>
                <a:cs typeface="Times New Roman"/>
              </a:rPr>
              <a:t>rp</a:t>
            </a:r>
            <a:r>
              <a:rPr sz="882" spc="-22" dirty="0">
                <a:solidFill>
                  <a:srgbClr val="333333"/>
                </a:solidFill>
                <a:latin typeface="Times New Roman"/>
                <a:cs typeface="Times New Roman"/>
              </a:rPr>
              <a:t>o</a:t>
            </a:r>
            <a:r>
              <a:rPr sz="882" spc="-9" dirty="0">
                <a:solidFill>
                  <a:srgbClr val="333333"/>
                </a:solidFill>
                <a:latin typeface="Times New Roman"/>
                <a:cs typeface="Times New Roman"/>
              </a:rPr>
              <a:t>s</a:t>
            </a:r>
            <a:r>
              <a:rPr sz="882" dirty="0">
                <a:solidFill>
                  <a:srgbClr val="333333"/>
                </a:solidFill>
                <a:latin typeface="Times New Roman"/>
                <a:cs typeface="Times New Roman"/>
              </a:rPr>
              <a:t>e  </a:t>
            </a:r>
            <a:r>
              <a:rPr sz="882" spc="-4" dirty="0">
                <a:solidFill>
                  <a:srgbClr val="333333"/>
                </a:solidFill>
                <a:latin typeface="Times New Roman"/>
                <a:cs typeface="Times New Roman"/>
              </a:rPr>
              <a:t>register</a:t>
            </a:r>
            <a:endParaRPr sz="882" dirty="0">
              <a:latin typeface="Times New Roman"/>
              <a:cs typeface="Times New Roman"/>
            </a:endParaRPr>
          </a:p>
        </p:txBody>
      </p:sp>
      <p:sp>
        <p:nvSpPr>
          <p:cNvPr id="121" name="object 29">
            <a:extLst>
              <a:ext uri="{FF2B5EF4-FFF2-40B4-BE49-F238E27FC236}">
                <a16:creationId xmlns:a16="http://schemas.microsoft.com/office/drawing/2014/main" id="{5EA28580-D428-4EFD-84A1-A6A0CF9CCAB7}"/>
              </a:ext>
            </a:extLst>
          </p:cNvPr>
          <p:cNvSpPr/>
          <p:nvPr/>
        </p:nvSpPr>
        <p:spPr>
          <a:xfrm>
            <a:off x="6165924" y="3829445"/>
            <a:ext cx="903754" cy="307041"/>
          </a:xfrm>
          <a:custGeom>
            <a:avLst/>
            <a:gdLst/>
            <a:ahLst/>
            <a:cxnLst/>
            <a:rect l="l" t="t" r="r" b="b"/>
            <a:pathLst>
              <a:path w="1024254" h="347979">
                <a:moveTo>
                  <a:pt x="0" y="347472"/>
                </a:moveTo>
                <a:lnTo>
                  <a:pt x="1024127" y="347472"/>
                </a:lnTo>
                <a:lnTo>
                  <a:pt x="1024127"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22" name="object 30">
            <a:extLst>
              <a:ext uri="{FF2B5EF4-FFF2-40B4-BE49-F238E27FC236}">
                <a16:creationId xmlns:a16="http://schemas.microsoft.com/office/drawing/2014/main" id="{FD0D5E17-4BFA-4CB8-87E5-99A6D1CB3762}"/>
              </a:ext>
            </a:extLst>
          </p:cNvPr>
          <p:cNvSpPr txBox="1"/>
          <p:nvPr/>
        </p:nvSpPr>
        <p:spPr>
          <a:xfrm>
            <a:off x="4737846" y="5380787"/>
            <a:ext cx="875740" cy="590064"/>
          </a:xfrm>
          <a:prstGeom prst="rect">
            <a:avLst/>
          </a:prstGeom>
        </p:spPr>
        <p:txBody>
          <a:bodyPr vert="horz" wrap="square" lIns="0" tIns="11206" rIns="0" bIns="0" rtlCol="0">
            <a:spAutoFit/>
          </a:bodyPr>
          <a:lstStyle/>
          <a:p>
            <a:pPr marR="4483" indent="-3362" algn="ctr">
              <a:spcBef>
                <a:spcPts val="88"/>
              </a:spcBef>
            </a:pPr>
            <a:r>
              <a:rPr sz="1059" spc="-9" dirty="0">
                <a:solidFill>
                  <a:srgbClr val="333333"/>
                </a:solidFill>
                <a:latin typeface="Times New Roman"/>
                <a:cs typeface="Times New Roman"/>
              </a:rPr>
              <a:t>General-  </a:t>
            </a:r>
            <a:r>
              <a:rPr sz="1059" spc="-4" dirty="0">
                <a:solidFill>
                  <a:srgbClr val="333333"/>
                </a:solidFill>
                <a:latin typeface="Times New Roman"/>
                <a:cs typeface="Times New Roman"/>
              </a:rPr>
              <a:t>purpose</a:t>
            </a:r>
            <a:r>
              <a:rPr sz="1059" spc="-31"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a:p>
            <a:pPr marR="70041" algn="ctr">
              <a:spcBef>
                <a:spcPts val="697"/>
              </a:spcBef>
            </a:pPr>
            <a:r>
              <a:rPr sz="1059" dirty="0">
                <a:solidFill>
                  <a:srgbClr val="333333"/>
                </a:solidFill>
                <a:latin typeface="Times New Roman"/>
                <a:cs typeface="Times New Roman"/>
              </a:rPr>
              <a:t>Control</a:t>
            </a:r>
            <a:r>
              <a:rPr sz="1059" spc="-53" dirty="0">
                <a:solidFill>
                  <a:srgbClr val="333333"/>
                </a:solidFill>
                <a:latin typeface="Times New Roman"/>
                <a:cs typeface="Times New Roman"/>
              </a:rPr>
              <a:t> </a:t>
            </a:r>
            <a:r>
              <a:rPr sz="1059" spc="-22" dirty="0">
                <a:solidFill>
                  <a:srgbClr val="333333"/>
                </a:solidFill>
                <a:latin typeface="Times New Roman"/>
                <a:cs typeface="Times New Roman"/>
              </a:rPr>
              <a:t>Unit</a:t>
            </a:r>
            <a:endParaRPr sz="1059" dirty="0">
              <a:latin typeface="Times New Roman"/>
              <a:cs typeface="Times New Roman"/>
            </a:endParaRPr>
          </a:p>
        </p:txBody>
      </p:sp>
      <p:sp>
        <p:nvSpPr>
          <p:cNvPr id="123" name="object 33">
            <a:extLst>
              <a:ext uri="{FF2B5EF4-FFF2-40B4-BE49-F238E27FC236}">
                <a16:creationId xmlns:a16="http://schemas.microsoft.com/office/drawing/2014/main" id="{BC319EB3-77F8-4737-9200-8F8C41BE7539}"/>
              </a:ext>
            </a:extLst>
          </p:cNvPr>
          <p:cNvSpPr/>
          <p:nvPr/>
        </p:nvSpPr>
        <p:spPr>
          <a:xfrm>
            <a:off x="7448774" y="3799860"/>
            <a:ext cx="365872" cy="67235"/>
          </a:xfrm>
          <a:custGeom>
            <a:avLst/>
            <a:gdLst/>
            <a:ahLst/>
            <a:cxnLst/>
            <a:rect l="l" t="t" r="r" b="b"/>
            <a:pathLst>
              <a:path w="414654" h="76200">
                <a:moveTo>
                  <a:pt x="338327" y="0"/>
                </a:moveTo>
                <a:lnTo>
                  <a:pt x="338327" y="76200"/>
                </a:lnTo>
                <a:lnTo>
                  <a:pt x="408177" y="42672"/>
                </a:lnTo>
                <a:lnTo>
                  <a:pt x="350520" y="42672"/>
                </a:lnTo>
                <a:lnTo>
                  <a:pt x="356615" y="39624"/>
                </a:lnTo>
                <a:lnTo>
                  <a:pt x="350520" y="33527"/>
                </a:lnTo>
                <a:lnTo>
                  <a:pt x="402804" y="33527"/>
                </a:lnTo>
                <a:lnTo>
                  <a:pt x="338327" y="0"/>
                </a:lnTo>
                <a:close/>
              </a:path>
              <a:path w="414654" h="76200">
                <a:moveTo>
                  <a:pt x="338327" y="33527"/>
                </a:moveTo>
                <a:lnTo>
                  <a:pt x="6096" y="33527"/>
                </a:lnTo>
                <a:lnTo>
                  <a:pt x="0" y="39624"/>
                </a:lnTo>
                <a:lnTo>
                  <a:pt x="6096" y="42672"/>
                </a:lnTo>
                <a:lnTo>
                  <a:pt x="338327" y="42672"/>
                </a:lnTo>
                <a:lnTo>
                  <a:pt x="338327" y="33527"/>
                </a:lnTo>
                <a:close/>
              </a:path>
              <a:path w="414654" h="76200">
                <a:moveTo>
                  <a:pt x="402804" y="33527"/>
                </a:moveTo>
                <a:lnTo>
                  <a:pt x="350520" y="33527"/>
                </a:lnTo>
                <a:lnTo>
                  <a:pt x="356615" y="39624"/>
                </a:lnTo>
                <a:lnTo>
                  <a:pt x="350520" y="42672"/>
                </a:lnTo>
                <a:lnTo>
                  <a:pt x="408177" y="42672"/>
                </a:lnTo>
                <a:lnTo>
                  <a:pt x="414527" y="39624"/>
                </a:lnTo>
                <a:lnTo>
                  <a:pt x="402804" y="33527"/>
                </a:lnTo>
                <a:close/>
              </a:path>
            </a:pathLst>
          </a:custGeom>
          <a:solidFill>
            <a:srgbClr val="000000"/>
          </a:solidFill>
        </p:spPr>
        <p:txBody>
          <a:bodyPr wrap="square" lIns="0" tIns="0" rIns="0" bIns="0" rtlCol="0"/>
          <a:lstStyle/>
          <a:p>
            <a:endParaRPr sz="1588" dirty="0"/>
          </a:p>
        </p:txBody>
      </p:sp>
      <p:sp>
        <p:nvSpPr>
          <p:cNvPr id="124" name="object 34">
            <a:extLst>
              <a:ext uri="{FF2B5EF4-FFF2-40B4-BE49-F238E27FC236}">
                <a16:creationId xmlns:a16="http://schemas.microsoft.com/office/drawing/2014/main" id="{FFCDD225-40BB-479F-B07E-C11B445D1B7F}"/>
              </a:ext>
            </a:extLst>
          </p:cNvPr>
          <p:cNvSpPr/>
          <p:nvPr/>
        </p:nvSpPr>
        <p:spPr>
          <a:xfrm>
            <a:off x="7454153" y="4270507"/>
            <a:ext cx="365872" cy="67235"/>
          </a:xfrm>
          <a:custGeom>
            <a:avLst/>
            <a:gdLst/>
            <a:ahLst/>
            <a:cxnLst/>
            <a:rect l="l" t="t" r="r" b="b"/>
            <a:pathLst>
              <a:path w="414654" h="76200">
                <a:moveTo>
                  <a:pt x="76200" y="0"/>
                </a:moveTo>
                <a:lnTo>
                  <a:pt x="0" y="39624"/>
                </a:lnTo>
                <a:lnTo>
                  <a:pt x="76200" y="76200"/>
                </a:lnTo>
                <a:lnTo>
                  <a:pt x="76200" y="42672"/>
                </a:lnTo>
                <a:lnTo>
                  <a:pt x="64007" y="42672"/>
                </a:lnTo>
                <a:lnTo>
                  <a:pt x="57911" y="39624"/>
                </a:lnTo>
                <a:lnTo>
                  <a:pt x="64007" y="33527"/>
                </a:lnTo>
                <a:lnTo>
                  <a:pt x="76200" y="33527"/>
                </a:lnTo>
                <a:lnTo>
                  <a:pt x="76200" y="0"/>
                </a:lnTo>
                <a:close/>
              </a:path>
              <a:path w="414654" h="76200">
                <a:moveTo>
                  <a:pt x="76200" y="33527"/>
                </a:moveTo>
                <a:lnTo>
                  <a:pt x="64007" y="33527"/>
                </a:lnTo>
                <a:lnTo>
                  <a:pt x="57911" y="39624"/>
                </a:lnTo>
                <a:lnTo>
                  <a:pt x="64007" y="42672"/>
                </a:lnTo>
                <a:lnTo>
                  <a:pt x="76200" y="42672"/>
                </a:lnTo>
                <a:lnTo>
                  <a:pt x="76200" y="33527"/>
                </a:lnTo>
                <a:close/>
              </a:path>
              <a:path w="414654" h="76200">
                <a:moveTo>
                  <a:pt x="408431" y="33527"/>
                </a:moveTo>
                <a:lnTo>
                  <a:pt x="76200" y="33527"/>
                </a:lnTo>
                <a:lnTo>
                  <a:pt x="76200" y="42672"/>
                </a:lnTo>
                <a:lnTo>
                  <a:pt x="408431" y="42672"/>
                </a:lnTo>
                <a:lnTo>
                  <a:pt x="414527" y="39624"/>
                </a:lnTo>
                <a:lnTo>
                  <a:pt x="408431" y="33527"/>
                </a:lnTo>
                <a:close/>
              </a:path>
            </a:pathLst>
          </a:custGeom>
          <a:solidFill>
            <a:srgbClr val="000000"/>
          </a:solidFill>
        </p:spPr>
        <p:txBody>
          <a:bodyPr wrap="square" lIns="0" tIns="0" rIns="0" bIns="0" rtlCol="0"/>
          <a:lstStyle/>
          <a:p>
            <a:endParaRPr sz="1588" dirty="0"/>
          </a:p>
        </p:txBody>
      </p:sp>
      <p:sp>
        <p:nvSpPr>
          <p:cNvPr id="125" name="object 35">
            <a:extLst>
              <a:ext uri="{FF2B5EF4-FFF2-40B4-BE49-F238E27FC236}">
                <a16:creationId xmlns:a16="http://schemas.microsoft.com/office/drawing/2014/main" id="{496BC84B-067F-410A-A478-C0C3548D5D08}"/>
              </a:ext>
            </a:extLst>
          </p:cNvPr>
          <p:cNvSpPr txBox="1"/>
          <p:nvPr/>
        </p:nvSpPr>
        <p:spPr>
          <a:xfrm>
            <a:off x="7838739" y="2229244"/>
            <a:ext cx="452157" cy="2682273"/>
          </a:xfrm>
          <a:prstGeom prst="rect">
            <a:avLst/>
          </a:prstGeom>
          <a:ln w="9144">
            <a:solidFill>
              <a:srgbClr val="000000"/>
            </a:solidFill>
          </a:ln>
        </p:spPr>
        <p:txBody>
          <a:bodyPr vert="horz" wrap="square" lIns="0" tIns="0" rIns="0" bIns="0" rtlCol="0">
            <a:spAutoFit/>
          </a:bodyPr>
          <a:lstStyle/>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spcBef>
                <a:spcPts val="40"/>
              </a:spcBef>
            </a:pPr>
            <a:endParaRPr sz="1059" dirty="0">
              <a:latin typeface="Times New Roman"/>
              <a:cs typeface="Times New Roman"/>
            </a:endParaRPr>
          </a:p>
          <a:p>
            <a:pPr marL="182666" marR="164735" indent="2802" algn="ctr">
              <a:spcBef>
                <a:spcPts val="4"/>
              </a:spcBef>
            </a:pPr>
            <a:r>
              <a:rPr sz="1059" dirty="0">
                <a:solidFill>
                  <a:srgbClr val="333333"/>
                </a:solidFill>
                <a:latin typeface="Times New Roman"/>
                <a:cs typeface="Times New Roman"/>
              </a:rPr>
              <a:t>I/  </a:t>
            </a:r>
            <a:r>
              <a:rPr sz="1059" spc="-4" dirty="0">
                <a:solidFill>
                  <a:srgbClr val="333333"/>
                </a:solidFill>
                <a:latin typeface="Times New Roman"/>
                <a:cs typeface="Times New Roman"/>
              </a:rPr>
              <a:t>O</a:t>
            </a:r>
            <a:endParaRPr sz="1059" dirty="0">
              <a:latin typeface="Times New Roman"/>
              <a:cs typeface="Times New Roman"/>
            </a:endParaRPr>
          </a:p>
          <a:p>
            <a:pPr>
              <a:spcBef>
                <a:spcPts val="4"/>
              </a:spcBef>
            </a:pPr>
            <a:endParaRPr sz="1103" dirty="0">
              <a:latin typeface="Times New Roman"/>
              <a:cs typeface="Times New Roman"/>
            </a:endParaRPr>
          </a:p>
          <a:p>
            <a:pPr marL="182666" marR="164735" algn="just">
              <a:lnSpc>
                <a:spcPct val="99700"/>
              </a:lnSpc>
            </a:pPr>
            <a:r>
              <a:rPr sz="1059" spc="-4" dirty="0">
                <a:solidFill>
                  <a:srgbClr val="333333"/>
                </a:solidFill>
                <a:latin typeface="Times New Roman"/>
                <a:cs typeface="Times New Roman"/>
              </a:rPr>
              <a:t>D  E  V  I  C  E  S</a:t>
            </a:r>
            <a:endParaRPr sz="1059" dirty="0">
              <a:latin typeface="Times New Roman"/>
              <a:cs typeface="Times New Roman"/>
            </a:endParaRPr>
          </a:p>
        </p:txBody>
      </p:sp>
      <p:sp>
        <p:nvSpPr>
          <p:cNvPr id="126" name="object 36">
            <a:extLst>
              <a:ext uri="{FF2B5EF4-FFF2-40B4-BE49-F238E27FC236}">
                <a16:creationId xmlns:a16="http://schemas.microsoft.com/office/drawing/2014/main" id="{7729C0E6-117C-4205-BE10-23DDDB48919F}"/>
              </a:ext>
            </a:extLst>
          </p:cNvPr>
          <p:cNvSpPr/>
          <p:nvPr/>
        </p:nvSpPr>
        <p:spPr>
          <a:xfrm>
            <a:off x="6394525" y="1796249"/>
            <a:ext cx="2801" cy="153521"/>
          </a:xfrm>
          <a:custGeom>
            <a:avLst/>
            <a:gdLst/>
            <a:ahLst/>
            <a:cxnLst/>
            <a:rect l="l" t="t" r="r" b="b"/>
            <a:pathLst>
              <a:path w="3175" h="173989">
                <a:moveTo>
                  <a:pt x="0" y="0"/>
                </a:moveTo>
                <a:lnTo>
                  <a:pt x="3048" y="173736"/>
                </a:lnTo>
              </a:path>
            </a:pathLst>
          </a:custGeom>
          <a:ln w="9144">
            <a:solidFill>
              <a:srgbClr val="000000"/>
            </a:solidFill>
          </a:ln>
        </p:spPr>
        <p:txBody>
          <a:bodyPr wrap="square" lIns="0" tIns="0" rIns="0" bIns="0" rtlCol="0"/>
          <a:lstStyle/>
          <a:p>
            <a:endParaRPr sz="1588" dirty="0"/>
          </a:p>
        </p:txBody>
      </p:sp>
      <p:sp>
        <p:nvSpPr>
          <p:cNvPr id="127" name="object 37">
            <a:extLst>
              <a:ext uri="{FF2B5EF4-FFF2-40B4-BE49-F238E27FC236}">
                <a16:creationId xmlns:a16="http://schemas.microsoft.com/office/drawing/2014/main" id="{48ED83F4-37CD-4E5F-BFD9-862E79032B99}"/>
              </a:ext>
            </a:extLst>
          </p:cNvPr>
          <p:cNvSpPr txBox="1"/>
          <p:nvPr/>
        </p:nvSpPr>
        <p:spPr>
          <a:xfrm>
            <a:off x="4834666" y="1782354"/>
            <a:ext cx="2139763" cy="174309"/>
          </a:xfrm>
          <a:prstGeom prst="rect">
            <a:avLst/>
          </a:prstGeom>
        </p:spPr>
        <p:txBody>
          <a:bodyPr vert="horz" wrap="square" lIns="0" tIns="11206" rIns="0" bIns="0" rtlCol="0">
            <a:spAutoFit/>
          </a:bodyPr>
          <a:lstStyle/>
          <a:p>
            <a:pPr>
              <a:spcBef>
                <a:spcPts val="88"/>
              </a:spcBef>
              <a:tabLst>
                <a:tab pos="879148" algn="l"/>
                <a:tab pos="1836182" algn="l"/>
              </a:tabLst>
            </a:pPr>
            <a:r>
              <a:rPr sz="1588" spc="-13" baseline="2314" dirty="0">
                <a:solidFill>
                  <a:srgbClr val="333333"/>
                </a:solidFill>
                <a:latin typeface="Times New Roman"/>
                <a:cs typeface="Times New Roman"/>
              </a:rPr>
              <a:t>R</a:t>
            </a:r>
            <a:r>
              <a:rPr sz="1588" spc="-6" baseline="2314" dirty="0">
                <a:solidFill>
                  <a:srgbClr val="333333"/>
                </a:solidFill>
                <a:latin typeface="Times New Roman"/>
                <a:cs typeface="Times New Roman"/>
              </a:rPr>
              <a:t>OM</a:t>
            </a:r>
            <a:r>
              <a:rPr sz="1588" baseline="2314" dirty="0">
                <a:solidFill>
                  <a:srgbClr val="333333"/>
                </a:solidFill>
                <a:latin typeface="Times New Roman"/>
                <a:cs typeface="Times New Roman"/>
              </a:rPr>
              <a:t>	</a:t>
            </a:r>
            <a:r>
              <a:rPr sz="1059" spc="-4" dirty="0">
                <a:solidFill>
                  <a:srgbClr val="333333"/>
                </a:solidFill>
                <a:latin typeface="Times New Roman"/>
                <a:cs typeface="Times New Roman"/>
              </a:rPr>
              <a:t>P</a:t>
            </a:r>
            <a:r>
              <a:rPr sz="1059" spc="-9" dirty="0">
                <a:solidFill>
                  <a:srgbClr val="333333"/>
                </a:solidFill>
                <a:latin typeface="Times New Roman"/>
                <a:cs typeface="Times New Roman"/>
              </a:rPr>
              <a:t>R</a:t>
            </a:r>
            <a:r>
              <a:rPr sz="1059" spc="-4" dirty="0">
                <a:solidFill>
                  <a:srgbClr val="333333"/>
                </a:solidFill>
                <a:latin typeface="Times New Roman"/>
                <a:cs typeface="Times New Roman"/>
              </a:rPr>
              <a:t>OM</a:t>
            </a:r>
            <a:r>
              <a:rPr sz="1059" dirty="0">
                <a:solidFill>
                  <a:srgbClr val="333333"/>
                </a:solidFill>
                <a:latin typeface="Times New Roman"/>
                <a:cs typeface="Times New Roman"/>
              </a:rPr>
              <a:t>	</a:t>
            </a:r>
            <a:r>
              <a:rPr sz="1059" spc="-4" dirty="0">
                <a:solidFill>
                  <a:srgbClr val="333333"/>
                </a:solidFill>
                <a:latin typeface="Times New Roman"/>
                <a:cs typeface="Times New Roman"/>
              </a:rPr>
              <a:t>F</a:t>
            </a:r>
            <a:r>
              <a:rPr sz="1059" spc="-22" dirty="0">
                <a:solidFill>
                  <a:srgbClr val="333333"/>
                </a:solidFill>
                <a:latin typeface="Times New Roman"/>
                <a:cs typeface="Times New Roman"/>
              </a:rPr>
              <a:t>l</a:t>
            </a:r>
            <a:r>
              <a:rPr sz="1059" dirty="0">
                <a:solidFill>
                  <a:srgbClr val="333333"/>
                </a:solidFill>
                <a:latin typeface="Times New Roman"/>
                <a:cs typeface="Times New Roman"/>
              </a:rPr>
              <a:t>ash</a:t>
            </a:r>
            <a:endParaRPr sz="1059" dirty="0">
              <a:latin typeface="Times New Roman"/>
              <a:cs typeface="Times New Roman"/>
            </a:endParaRPr>
          </a:p>
        </p:txBody>
      </p:sp>
      <p:sp>
        <p:nvSpPr>
          <p:cNvPr id="128" name="object 38">
            <a:extLst>
              <a:ext uri="{FF2B5EF4-FFF2-40B4-BE49-F238E27FC236}">
                <a16:creationId xmlns:a16="http://schemas.microsoft.com/office/drawing/2014/main" id="{BAE0D9C1-6F7F-485A-B914-8A034B24DC75}"/>
              </a:ext>
            </a:extLst>
          </p:cNvPr>
          <p:cNvSpPr/>
          <p:nvPr/>
        </p:nvSpPr>
        <p:spPr>
          <a:xfrm>
            <a:off x="4498489" y="1793560"/>
            <a:ext cx="2714065" cy="2801"/>
          </a:xfrm>
          <a:custGeom>
            <a:avLst/>
            <a:gdLst/>
            <a:ahLst/>
            <a:cxnLst/>
            <a:rect l="l" t="t" r="r" b="b"/>
            <a:pathLst>
              <a:path w="3075940" h="3175">
                <a:moveTo>
                  <a:pt x="0" y="3048"/>
                </a:moveTo>
                <a:lnTo>
                  <a:pt x="3075432" y="0"/>
                </a:lnTo>
              </a:path>
            </a:pathLst>
          </a:custGeom>
          <a:ln w="9144">
            <a:solidFill>
              <a:srgbClr val="000000"/>
            </a:solidFill>
          </a:ln>
        </p:spPr>
        <p:txBody>
          <a:bodyPr wrap="square" lIns="0" tIns="0" rIns="0" bIns="0" rtlCol="0"/>
          <a:lstStyle/>
          <a:p>
            <a:endParaRPr sz="1588" dirty="0"/>
          </a:p>
        </p:txBody>
      </p:sp>
      <p:sp>
        <p:nvSpPr>
          <p:cNvPr id="129" name="object 39">
            <a:extLst>
              <a:ext uri="{FF2B5EF4-FFF2-40B4-BE49-F238E27FC236}">
                <a16:creationId xmlns:a16="http://schemas.microsoft.com/office/drawing/2014/main" id="{2801EC04-571D-44D7-B2DA-388F5C02F91D}"/>
              </a:ext>
            </a:extLst>
          </p:cNvPr>
          <p:cNvSpPr/>
          <p:nvPr/>
        </p:nvSpPr>
        <p:spPr>
          <a:xfrm>
            <a:off x="7343886" y="1796249"/>
            <a:ext cx="0" cy="207309"/>
          </a:xfrm>
          <a:custGeom>
            <a:avLst/>
            <a:gdLst/>
            <a:ahLst/>
            <a:cxnLst/>
            <a:rect l="l" t="t" r="r" b="b"/>
            <a:pathLst>
              <a:path h="234950">
                <a:moveTo>
                  <a:pt x="0" y="0"/>
                </a:moveTo>
                <a:lnTo>
                  <a:pt x="0" y="234696"/>
                </a:lnTo>
              </a:path>
            </a:pathLst>
          </a:custGeom>
          <a:ln w="9144">
            <a:solidFill>
              <a:srgbClr val="000000"/>
            </a:solidFill>
          </a:ln>
        </p:spPr>
        <p:txBody>
          <a:bodyPr wrap="square" lIns="0" tIns="0" rIns="0" bIns="0" rtlCol="0"/>
          <a:lstStyle/>
          <a:p>
            <a:endParaRPr sz="1588" dirty="0"/>
          </a:p>
        </p:txBody>
      </p:sp>
      <p:sp>
        <p:nvSpPr>
          <p:cNvPr id="130" name="object 40">
            <a:extLst>
              <a:ext uri="{FF2B5EF4-FFF2-40B4-BE49-F238E27FC236}">
                <a16:creationId xmlns:a16="http://schemas.microsoft.com/office/drawing/2014/main" id="{5F1C6A96-8EAD-4FDE-9655-AD65722761D5}"/>
              </a:ext>
            </a:extLst>
          </p:cNvPr>
          <p:cNvSpPr/>
          <p:nvPr/>
        </p:nvSpPr>
        <p:spPr>
          <a:xfrm>
            <a:off x="4493111" y="1793560"/>
            <a:ext cx="2801" cy="204507"/>
          </a:xfrm>
          <a:custGeom>
            <a:avLst/>
            <a:gdLst/>
            <a:ahLst/>
            <a:cxnLst/>
            <a:rect l="l" t="t" r="r" b="b"/>
            <a:pathLst>
              <a:path w="3175" h="231775">
                <a:moveTo>
                  <a:pt x="0" y="0"/>
                </a:moveTo>
                <a:lnTo>
                  <a:pt x="3047" y="231648"/>
                </a:lnTo>
              </a:path>
            </a:pathLst>
          </a:custGeom>
          <a:ln w="9144">
            <a:solidFill>
              <a:srgbClr val="000000"/>
            </a:solidFill>
          </a:ln>
        </p:spPr>
        <p:txBody>
          <a:bodyPr wrap="square" lIns="0" tIns="0" rIns="0" bIns="0" rtlCol="0"/>
          <a:lstStyle/>
          <a:p>
            <a:endParaRPr sz="1588" dirty="0"/>
          </a:p>
        </p:txBody>
      </p:sp>
      <p:sp>
        <p:nvSpPr>
          <p:cNvPr id="131" name="object 41">
            <a:extLst>
              <a:ext uri="{FF2B5EF4-FFF2-40B4-BE49-F238E27FC236}">
                <a16:creationId xmlns:a16="http://schemas.microsoft.com/office/drawing/2014/main" id="{C61B6ABB-E4D5-4835-A46D-463E1CF237F7}"/>
              </a:ext>
            </a:extLst>
          </p:cNvPr>
          <p:cNvSpPr/>
          <p:nvPr/>
        </p:nvSpPr>
        <p:spPr>
          <a:xfrm>
            <a:off x="5453231" y="1796249"/>
            <a:ext cx="2801" cy="153521"/>
          </a:xfrm>
          <a:custGeom>
            <a:avLst/>
            <a:gdLst/>
            <a:ahLst/>
            <a:cxnLst/>
            <a:rect l="l" t="t" r="r" b="b"/>
            <a:pathLst>
              <a:path w="3175" h="173989">
                <a:moveTo>
                  <a:pt x="0" y="0"/>
                </a:moveTo>
                <a:lnTo>
                  <a:pt x="3048" y="173736"/>
                </a:lnTo>
              </a:path>
            </a:pathLst>
          </a:custGeom>
          <a:ln w="9144">
            <a:solidFill>
              <a:srgbClr val="000000"/>
            </a:solidFill>
          </a:ln>
        </p:spPr>
        <p:txBody>
          <a:bodyPr wrap="square" lIns="0" tIns="0" rIns="0" bIns="0" rtlCol="0"/>
          <a:lstStyle/>
          <a:p>
            <a:endParaRPr sz="1588" dirty="0"/>
          </a:p>
        </p:txBody>
      </p:sp>
      <p:sp>
        <p:nvSpPr>
          <p:cNvPr id="132" name="object 42">
            <a:extLst>
              <a:ext uri="{FF2B5EF4-FFF2-40B4-BE49-F238E27FC236}">
                <a16:creationId xmlns:a16="http://schemas.microsoft.com/office/drawing/2014/main" id="{6E0F7A53-44E5-486F-8167-CF05703C51E8}"/>
              </a:ext>
            </a:extLst>
          </p:cNvPr>
          <p:cNvSpPr/>
          <p:nvPr/>
        </p:nvSpPr>
        <p:spPr>
          <a:xfrm>
            <a:off x="6623125" y="4458767"/>
            <a:ext cx="29696" cy="29696"/>
          </a:xfrm>
          <a:custGeom>
            <a:avLst/>
            <a:gdLst/>
            <a:ahLst/>
            <a:cxnLst/>
            <a:rect l="l" t="t" r="r" b="b"/>
            <a:pathLst>
              <a:path w="33654" h="33654">
                <a:moveTo>
                  <a:pt x="24383" y="0"/>
                </a:moveTo>
                <a:lnTo>
                  <a:pt x="6095" y="0"/>
                </a:lnTo>
                <a:lnTo>
                  <a:pt x="0" y="6095"/>
                </a:lnTo>
                <a:lnTo>
                  <a:pt x="0" y="24383"/>
                </a:lnTo>
                <a:lnTo>
                  <a:pt x="6095" y="33527"/>
                </a:lnTo>
                <a:lnTo>
                  <a:pt x="15239" y="33527"/>
                </a:lnTo>
                <a:lnTo>
                  <a:pt x="21955" y="31956"/>
                </a:lnTo>
                <a:lnTo>
                  <a:pt x="27812" y="27812"/>
                </a:lnTo>
                <a:lnTo>
                  <a:pt x="31956" y="21955"/>
                </a:lnTo>
                <a:lnTo>
                  <a:pt x="33527" y="15239"/>
                </a:lnTo>
                <a:lnTo>
                  <a:pt x="33527" y="6095"/>
                </a:lnTo>
                <a:lnTo>
                  <a:pt x="24383" y="0"/>
                </a:lnTo>
                <a:close/>
              </a:path>
            </a:pathLst>
          </a:custGeom>
          <a:solidFill>
            <a:srgbClr val="000000"/>
          </a:solidFill>
        </p:spPr>
        <p:txBody>
          <a:bodyPr wrap="square" lIns="0" tIns="0" rIns="0" bIns="0" rtlCol="0"/>
          <a:lstStyle/>
          <a:p>
            <a:endParaRPr sz="1588" dirty="0"/>
          </a:p>
        </p:txBody>
      </p:sp>
      <p:sp>
        <p:nvSpPr>
          <p:cNvPr id="133" name="object 43">
            <a:extLst>
              <a:ext uri="{FF2B5EF4-FFF2-40B4-BE49-F238E27FC236}">
                <a16:creationId xmlns:a16="http://schemas.microsoft.com/office/drawing/2014/main" id="{98BEB5A2-CE67-4638-A888-174B58B5B3AC}"/>
              </a:ext>
            </a:extLst>
          </p:cNvPr>
          <p:cNvSpPr/>
          <p:nvPr/>
        </p:nvSpPr>
        <p:spPr>
          <a:xfrm>
            <a:off x="6623125" y="4458767"/>
            <a:ext cx="29696" cy="29696"/>
          </a:xfrm>
          <a:custGeom>
            <a:avLst/>
            <a:gdLst/>
            <a:ahLst/>
            <a:cxnLst/>
            <a:rect l="l" t="t" r="r" b="b"/>
            <a:pathLst>
              <a:path w="33654" h="33654">
                <a:moveTo>
                  <a:pt x="15239" y="0"/>
                </a:moveTo>
                <a:lnTo>
                  <a:pt x="6095" y="0"/>
                </a:lnTo>
                <a:lnTo>
                  <a:pt x="0" y="6095"/>
                </a:lnTo>
                <a:lnTo>
                  <a:pt x="0" y="15239"/>
                </a:lnTo>
                <a:lnTo>
                  <a:pt x="0" y="24383"/>
                </a:lnTo>
                <a:lnTo>
                  <a:pt x="6095" y="33527"/>
                </a:lnTo>
                <a:lnTo>
                  <a:pt x="15239" y="33527"/>
                </a:lnTo>
                <a:lnTo>
                  <a:pt x="21955" y="31956"/>
                </a:lnTo>
                <a:lnTo>
                  <a:pt x="27812" y="27812"/>
                </a:lnTo>
                <a:lnTo>
                  <a:pt x="31956" y="21955"/>
                </a:lnTo>
                <a:lnTo>
                  <a:pt x="33527" y="15239"/>
                </a:lnTo>
                <a:lnTo>
                  <a:pt x="33527" y="6095"/>
                </a:lnTo>
                <a:lnTo>
                  <a:pt x="24383" y="0"/>
                </a:lnTo>
                <a:lnTo>
                  <a:pt x="15239" y="0"/>
                </a:lnTo>
              </a:path>
            </a:pathLst>
          </a:custGeom>
          <a:ln w="9143">
            <a:solidFill>
              <a:srgbClr val="000000"/>
            </a:solidFill>
          </a:ln>
        </p:spPr>
        <p:txBody>
          <a:bodyPr wrap="square" lIns="0" tIns="0" rIns="0" bIns="0" rtlCol="0"/>
          <a:lstStyle/>
          <a:p>
            <a:endParaRPr sz="1588" dirty="0"/>
          </a:p>
        </p:txBody>
      </p:sp>
      <p:sp>
        <p:nvSpPr>
          <p:cNvPr id="134" name="object 44">
            <a:extLst>
              <a:ext uri="{FF2B5EF4-FFF2-40B4-BE49-F238E27FC236}">
                <a16:creationId xmlns:a16="http://schemas.microsoft.com/office/drawing/2014/main" id="{F4A656D1-1561-4996-8CF5-576BF89B4E10}"/>
              </a:ext>
            </a:extLst>
          </p:cNvPr>
          <p:cNvSpPr/>
          <p:nvPr/>
        </p:nvSpPr>
        <p:spPr>
          <a:xfrm>
            <a:off x="6615057" y="4708882"/>
            <a:ext cx="29696" cy="32497"/>
          </a:xfrm>
          <a:custGeom>
            <a:avLst/>
            <a:gdLst/>
            <a:ahLst/>
            <a:cxnLst/>
            <a:rect l="l" t="t" r="r" b="b"/>
            <a:pathLst>
              <a:path w="33654" h="36829">
                <a:moveTo>
                  <a:pt x="15239" y="0"/>
                </a:moveTo>
                <a:lnTo>
                  <a:pt x="6096" y="0"/>
                </a:lnTo>
                <a:lnTo>
                  <a:pt x="0" y="9144"/>
                </a:lnTo>
                <a:lnTo>
                  <a:pt x="0" y="27432"/>
                </a:lnTo>
                <a:lnTo>
                  <a:pt x="6096" y="36576"/>
                </a:lnTo>
                <a:lnTo>
                  <a:pt x="15239" y="36576"/>
                </a:lnTo>
                <a:lnTo>
                  <a:pt x="21955" y="35004"/>
                </a:lnTo>
                <a:lnTo>
                  <a:pt x="27812" y="30861"/>
                </a:lnTo>
                <a:lnTo>
                  <a:pt x="31956" y="25003"/>
                </a:lnTo>
                <a:lnTo>
                  <a:pt x="33527" y="18288"/>
                </a:lnTo>
                <a:lnTo>
                  <a:pt x="31956" y="11572"/>
                </a:lnTo>
                <a:lnTo>
                  <a:pt x="27812" y="5715"/>
                </a:lnTo>
                <a:lnTo>
                  <a:pt x="21955" y="1571"/>
                </a:lnTo>
                <a:lnTo>
                  <a:pt x="15239" y="0"/>
                </a:lnTo>
                <a:close/>
              </a:path>
            </a:pathLst>
          </a:custGeom>
          <a:solidFill>
            <a:srgbClr val="000000"/>
          </a:solidFill>
        </p:spPr>
        <p:txBody>
          <a:bodyPr wrap="square" lIns="0" tIns="0" rIns="0" bIns="0" rtlCol="0"/>
          <a:lstStyle/>
          <a:p>
            <a:endParaRPr sz="1588" dirty="0"/>
          </a:p>
        </p:txBody>
      </p:sp>
      <p:sp>
        <p:nvSpPr>
          <p:cNvPr id="135" name="object 45">
            <a:extLst>
              <a:ext uri="{FF2B5EF4-FFF2-40B4-BE49-F238E27FC236}">
                <a16:creationId xmlns:a16="http://schemas.microsoft.com/office/drawing/2014/main" id="{1C75112F-2840-49F8-80D2-95AA925F0E5F}"/>
              </a:ext>
            </a:extLst>
          </p:cNvPr>
          <p:cNvSpPr/>
          <p:nvPr/>
        </p:nvSpPr>
        <p:spPr>
          <a:xfrm>
            <a:off x="6615057" y="4708882"/>
            <a:ext cx="29696" cy="32497"/>
          </a:xfrm>
          <a:custGeom>
            <a:avLst/>
            <a:gdLst/>
            <a:ahLst/>
            <a:cxnLst/>
            <a:rect l="l" t="t" r="r" b="b"/>
            <a:pathLst>
              <a:path w="33654" h="36829">
                <a:moveTo>
                  <a:pt x="15239" y="0"/>
                </a:moveTo>
                <a:lnTo>
                  <a:pt x="6096" y="0"/>
                </a:lnTo>
                <a:lnTo>
                  <a:pt x="0" y="9144"/>
                </a:lnTo>
                <a:lnTo>
                  <a:pt x="0" y="18288"/>
                </a:lnTo>
                <a:lnTo>
                  <a:pt x="0" y="27432"/>
                </a:lnTo>
                <a:lnTo>
                  <a:pt x="6096" y="36576"/>
                </a:lnTo>
                <a:lnTo>
                  <a:pt x="15239" y="36576"/>
                </a:lnTo>
                <a:lnTo>
                  <a:pt x="21955" y="35004"/>
                </a:lnTo>
                <a:lnTo>
                  <a:pt x="27812" y="30861"/>
                </a:lnTo>
                <a:lnTo>
                  <a:pt x="31956" y="25003"/>
                </a:lnTo>
                <a:lnTo>
                  <a:pt x="33527" y="18288"/>
                </a:lnTo>
                <a:lnTo>
                  <a:pt x="31956" y="11572"/>
                </a:lnTo>
                <a:lnTo>
                  <a:pt x="27812" y="5715"/>
                </a:lnTo>
                <a:lnTo>
                  <a:pt x="21955" y="1571"/>
                </a:lnTo>
                <a:lnTo>
                  <a:pt x="15239" y="0"/>
                </a:lnTo>
              </a:path>
            </a:pathLst>
          </a:custGeom>
          <a:ln w="9144">
            <a:solidFill>
              <a:srgbClr val="000000"/>
            </a:solidFill>
          </a:ln>
        </p:spPr>
        <p:txBody>
          <a:bodyPr wrap="square" lIns="0" tIns="0" rIns="0" bIns="0" rtlCol="0"/>
          <a:lstStyle/>
          <a:p>
            <a:endParaRPr sz="1588" dirty="0"/>
          </a:p>
        </p:txBody>
      </p:sp>
      <p:sp>
        <p:nvSpPr>
          <p:cNvPr id="136" name="object 46">
            <a:extLst>
              <a:ext uri="{FF2B5EF4-FFF2-40B4-BE49-F238E27FC236}">
                <a16:creationId xmlns:a16="http://schemas.microsoft.com/office/drawing/2014/main" id="{0809C160-4D34-4AFB-A585-8189D59C890F}"/>
              </a:ext>
            </a:extLst>
          </p:cNvPr>
          <p:cNvSpPr/>
          <p:nvPr/>
        </p:nvSpPr>
        <p:spPr>
          <a:xfrm>
            <a:off x="6615057" y="4993959"/>
            <a:ext cx="29696" cy="29696"/>
          </a:xfrm>
          <a:custGeom>
            <a:avLst/>
            <a:gdLst/>
            <a:ahLst/>
            <a:cxnLst/>
            <a:rect l="l" t="t" r="r" b="b"/>
            <a:pathLst>
              <a:path w="33654" h="33654">
                <a:moveTo>
                  <a:pt x="15239" y="0"/>
                </a:moveTo>
                <a:lnTo>
                  <a:pt x="6096" y="0"/>
                </a:lnTo>
                <a:lnTo>
                  <a:pt x="0" y="9143"/>
                </a:lnTo>
                <a:lnTo>
                  <a:pt x="0" y="27431"/>
                </a:lnTo>
                <a:lnTo>
                  <a:pt x="6096" y="33527"/>
                </a:lnTo>
                <a:lnTo>
                  <a:pt x="24384" y="33527"/>
                </a:lnTo>
                <a:lnTo>
                  <a:pt x="33527" y="27431"/>
                </a:lnTo>
                <a:lnTo>
                  <a:pt x="33527" y="18287"/>
                </a:lnTo>
                <a:lnTo>
                  <a:pt x="31956" y="11572"/>
                </a:lnTo>
                <a:lnTo>
                  <a:pt x="27812" y="5714"/>
                </a:lnTo>
                <a:lnTo>
                  <a:pt x="21955" y="1571"/>
                </a:lnTo>
                <a:lnTo>
                  <a:pt x="15239" y="0"/>
                </a:lnTo>
                <a:close/>
              </a:path>
            </a:pathLst>
          </a:custGeom>
          <a:solidFill>
            <a:srgbClr val="000000"/>
          </a:solidFill>
        </p:spPr>
        <p:txBody>
          <a:bodyPr wrap="square" lIns="0" tIns="0" rIns="0" bIns="0" rtlCol="0"/>
          <a:lstStyle/>
          <a:p>
            <a:endParaRPr sz="1588" dirty="0"/>
          </a:p>
        </p:txBody>
      </p:sp>
      <p:sp>
        <p:nvSpPr>
          <p:cNvPr id="137" name="object 47">
            <a:extLst>
              <a:ext uri="{FF2B5EF4-FFF2-40B4-BE49-F238E27FC236}">
                <a16:creationId xmlns:a16="http://schemas.microsoft.com/office/drawing/2014/main" id="{2305FE3C-49F4-4B35-A059-F738FF3F0113}"/>
              </a:ext>
            </a:extLst>
          </p:cNvPr>
          <p:cNvSpPr/>
          <p:nvPr/>
        </p:nvSpPr>
        <p:spPr>
          <a:xfrm>
            <a:off x="6615057" y="4993959"/>
            <a:ext cx="29696" cy="29696"/>
          </a:xfrm>
          <a:custGeom>
            <a:avLst/>
            <a:gdLst/>
            <a:ahLst/>
            <a:cxnLst/>
            <a:rect l="l" t="t" r="r" b="b"/>
            <a:pathLst>
              <a:path w="33654" h="33654">
                <a:moveTo>
                  <a:pt x="15239" y="0"/>
                </a:moveTo>
                <a:lnTo>
                  <a:pt x="6096" y="0"/>
                </a:lnTo>
                <a:lnTo>
                  <a:pt x="0" y="9143"/>
                </a:lnTo>
                <a:lnTo>
                  <a:pt x="0" y="18287"/>
                </a:lnTo>
                <a:lnTo>
                  <a:pt x="0" y="27431"/>
                </a:lnTo>
                <a:lnTo>
                  <a:pt x="6096" y="33527"/>
                </a:lnTo>
                <a:lnTo>
                  <a:pt x="15239" y="33527"/>
                </a:lnTo>
                <a:lnTo>
                  <a:pt x="24384" y="33527"/>
                </a:lnTo>
                <a:lnTo>
                  <a:pt x="33527" y="27431"/>
                </a:lnTo>
                <a:lnTo>
                  <a:pt x="33527" y="18287"/>
                </a:lnTo>
                <a:lnTo>
                  <a:pt x="31956" y="11572"/>
                </a:lnTo>
                <a:lnTo>
                  <a:pt x="27812" y="5714"/>
                </a:lnTo>
                <a:lnTo>
                  <a:pt x="21955" y="1571"/>
                </a:lnTo>
                <a:lnTo>
                  <a:pt x="15239" y="0"/>
                </a:lnTo>
              </a:path>
            </a:pathLst>
          </a:custGeom>
          <a:ln w="9144">
            <a:solidFill>
              <a:srgbClr val="000000"/>
            </a:solidFill>
          </a:ln>
        </p:spPr>
        <p:txBody>
          <a:bodyPr wrap="square" lIns="0" tIns="0" rIns="0" bIns="0" rtlCol="0"/>
          <a:lstStyle/>
          <a:p>
            <a:endParaRPr sz="1588" dirty="0"/>
          </a:p>
        </p:txBody>
      </p:sp>
      <p:sp>
        <p:nvSpPr>
          <p:cNvPr id="138" name="object 48">
            <a:extLst>
              <a:ext uri="{FF2B5EF4-FFF2-40B4-BE49-F238E27FC236}">
                <a16:creationId xmlns:a16="http://schemas.microsoft.com/office/drawing/2014/main" id="{74F7BAA0-AB5D-409C-BA9A-EAEC40DD5214}"/>
              </a:ext>
            </a:extLst>
          </p:cNvPr>
          <p:cNvSpPr/>
          <p:nvPr/>
        </p:nvSpPr>
        <p:spPr>
          <a:xfrm>
            <a:off x="5732930" y="4071492"/>
            <a:ext cx="333935" cy="67235"/>
          </a:xfrm>
          <a:custGeom>
            <a:avLst/>
            <a:gdLst/>
            <a:ahLst/>
            <a:cxnLst/>
            <a:rect l="l" t="t" r="r" b="b"/>
            <a:pathLst>
              <a:path w="378460" h="76200">
                <a:moveTo>
                  <a:pt x="301751" y="0"/>
                </a:moveTo>
                <a:lnTo>
                  <a:pt x="301751" y="76200"/>
                </a:lnTo>
                <a:lnTo>
                  <a:pt x="371602" y="42671"/>
                </a:lnTo>
                <a:lnTo>
                  <a:pt x="313943" y="42671"/>
                </a:lnTo>
                <a:lnTo>
                  <a:pt x="320039" y="39624"/>
                </a:lnTo>
                <a:lnTo>
                  <a:pt x="313943" y="33527"/>
                </a:lnTo>
                <a:lnTo>
                  <a:pt x="366228" y="33527"/>
                </a:lnTo>
                <a:lnTo>
                  <a:pt x="301751" y="0"/>
                </a:lnTo>
                <a:close/>
              </a:path>
              <a:path w="378460" h="76200">
                <a:moveTo>
                  <a:pt x="301751" y="33527"/>
                </a:moveTo>
                <a:lnTo>
                  <a:pt x="3047" y="33527"/>
                </a:lnTo>
                <a:lnTo>
                  <a:pt x="0" y="36575"/>
                </a:lnTo>
                <a:lnTo>
                  <a:pt x="3047" y="42671"/>
                </a:lnTo>
                <a:lnTo>
                  <a:pt x="301751" y="42671"/>
                </a:lnTo>
                <a:lnTo>
                  <a:pt x="301751" y="33527"/>
                </a:lnTo>
                <a:close/>
              </a:path>
              <a:path w="378460" h="76200">
                <a:moveTo>
                  <a:pt x="366228" y="33527"/>
                </a:moveTo>
                <a:lnTo>
                  <a:pt x="313943" y="33527"/>
                </a:lnTo>
                <a:lnTo>
                  <a:pt x="320039" y="39624"/>
                </a:lnTo>
                <a:lnTo>
                  <a:pt x="313943" y="42671"/>
                </a:lnTo>
                <a:lnTo>
                  <a:pt x="371602" y="42671"/>
                </a:lnTo>
                <a:lnTo>
                  <a:pt x="377951" y="39624"/>
                </a:lnTo>
                <a:lnTo>
                  <a:pt x="366228" y="33527"/>
                </a:lnTo>
                <a:close/>
              </a:path>
            </a:pathLst>
          </a:custGeom>
          <a:solidFill>
            <a:srgbClr val="000000"/>
          </a:solidFill>
        </p:spPr>
        <p:txBody>
          <a:bodyPr wrap="square" lIns="0" tIns="0" rIns="0" bIns="0" rtlCol="0"/>
          <a:lstStyle/>
          <a:p>
            <a:endParaRPr sz="1588" dirty="0"/>
          </a:p>
        </p:txBody>
      </p:sp>
      <p:sp>
        <p:nvSpPr>
          <p:cNvPr id="139" name="object 49">
            <a:extLst>
              <a:ext uri="{FF2B5EF4-FFF2-40B4-BE49-F238E27FC236}">
                <a16:creationId xmlns:a16="http://schemas.microsoft.com/office/drawing/2014/main" id="{B1B603E0-4CA2-43BF-91D9-A805C28653D6}"/>
              </a:ext>
            </a:extLst>
          </p:cNvPr>
          <p:cNvSpPr/>
          <p:nvPr/>
        </p:nvSpPr>
        <p:spPr>
          <a:xfrm>
            <a:off x="5727550" y="4394220"/>
            <a:ext cx="347382" cy="67235"/>
          </a:xfrm>
          <a:custGeom>
            <a:avLst/>
            <a:gdLst/>
            <a:ahLst/>
            <a:cxnLst/>
            <a:rect l="l" t="t" r="r" b="b"/>
            <a:pathLst>
              <a:path w="393700" h="76200">
                <a:moveTo>
                  <a:pt x="76200" y="0"/>
                </a:moveTo>
                <a:lnTo>
                  <a:pt x="0" y="39623"/>
                </a:lnTo>
                <a:lnTo>
                  <a:pt x="76200" y="76199"/>
                </a:lnTo>
                <a:lnTo>
                  <a:pt x="76200" y="42787"/>
                </a:lnTo>
                <a:lnTo>
                  <a:pt x="64008" y="42671"/>
                </a:lnTo>
                <a:lnTo>
                  <a:pt x="57912" y="39623"/>
                </a:lnTo>
                <a:lnTo>
                  <a:pt x="64008" y="33527"/>
                </a:lnTo>
                <a:lnTo>
                  <a:pt x="76200" y="33527"/>
                </a:lnTo>
                <a:lnTo>
                  <a:pt x="76200" y="0"/>
                </a:lnTo>
                <a:close/>
              </a:path>
              <a:path w="393700" h="76200">
                <a:moveTo>
                  <a:pt x="76200" y="33643"/>
                </a:moveTo>
                <a:lnTo>
                  <a:pt x="76200" y="42787"/>
                </a:lnTo>
                <a:lnTo>
                  <a:pt x="387096" y="45719"/>
                </a:lnTo>
                <a:lnTo>
                  <a:pt x="393191" y="39623"/>
                </a:lnTo>
                <a:lnTo>
                  <a:pt x="387096" y="36575"/>
                </a:lnTo>
                <a:lnTo>
                  <a:pt x="76200" y="33643"/>
                </a:lnTo>
                <a:close/>
              </a:path>
              <a:path w="393700" h="76200">
                <a:moveTo>
                  <a:pt x="64008" y="33527"/>
                </a:moveTo>
                <a:lnTo>
                  <a:pt x="57912" y="39623"/>
                </a:lnTo>
                <a:lnTo>
                  <a:pt x="64008" y="42671"/>
                </a:lnTo>
                <a:lnTo>
                  <a:pt x="76200" y="42787"/>
                </a:lnTo>
                <a:lnTo>
                  <a:pt x="76200" y="33643"/>
                </a:lnTo>
                <a:lnTo>
                  <a:pt x="64008" y="33527"/>
                </a:lnTo>
                <a:close/>
              </a:path>
              <a:path w="393700" h="76200">
                <a:moveTo>
                  <a:pt x="76200" y="33527"/>
                </a:moveTo>
                <a:lnTo>
                  <a:pt x="64008" y="33527"/>
                </a:lnTo>
                <a:lnTo>
                  <a:pt x="76200" y="33643"/>
                </a:lnTo>
                <a:close/>
              </a:path>
            </a:pathLst>
          </a:custGeom>
          <a:solidFill>
            <a:srgbClr val="000000"/>
          </a:solidFill>
        </p:spPr>
        <p:txBody>
          <a:bodyPr wrap="square" lIns="0" tIns="0" rIns="0" bIns="0" rtlCol="0"/>
          <a:lstStyle/>
          <a:p>
            <a:endParaRPr sz="1588" dirty="0"/>
          </a:p>
        </p:txBody>
      </p:sp>
      <p:sp>
        <p:nvSpPr>
          <p:cNvPr id="140" name="object 50">
            <a:extLst>
              <a:ext uri="{FF2B5EF4-FFF2-40B4-BE49-F238E27FC236}">
                <a16:creationId xmlns:a16="http://schemas.microsoft.com/office/drawing/2014/main" id="{9AFC55EE-A6BB-4278-9D66-4FF2A18D923D}"/>
              </a:ext>
            </a:extLst>
          </p:cNvPr>
          <p:cNvSpPr/>
          <p:nvPr/>
        </p:nvSpPr>
        <p:spPr>
          <a:xfrm>
            <a:off x="5595769" y="2619210"/>
            <a:ext cx="67235" cy="182879"/>
          </a:xfrm>
          <a:prstGeom prst="rect">
            <a:avLst/>
          </a:prstGeom>
          <a:blipFill>
            <a:blip r:embed="rId3" cstate="print"/>
            <a:stretch>
              <a:fillRect/>
            </a:stretch>
          </a:blipFill>
        </p:spPr>
        <p:txBody>
          <a:bodyPr wrap="square" lIns="0" tIns="0" rIns="0" bIns="0" rtlCol="0"/>
          <a:lstStyle/>
          <a:p>
            <a:endParaRPr sz="1588" dirty="0"/>
          </a:p>
        </p:txBody>
      </p:sp>
      <p:sp>
        <p:nvSpPr>
          <p:cNvPr id="141" name="object 51">
            <a:extLst>
              <a:ext uri="{FF2B5EF4-FFF2-40B4-BE49-F238E27FC236}">
                <a16:creationId xmlns:a16="http://schemas.microsoft.com/office/drawing/2014/main" id="{A9385F2C-DF88-4A27-A0A5-CA97A190DFA6}"/>
              </a:ext>
            </a:extLst>
          </p:cNvPr>
          <p:cNvSpPr/>
          <p:nvPr/>
        </p:nvSpPr>
        <p:spPr>
          <a:xfrm>
            <a:off x="6117515" y="2250759"/>
            <a:ext cx="67235" cy="182879"/>
          </a:xfrm>
          <a:prstGeom prst="rect">
            <a:avLst/>
          </a:prstGeom>
          <a:blipFill>
            <a:blip r:embed="rId4" cstate="print"/>
            <a:stretch>
              <a:fillRect/>
            </a:stretch>
          </a:blipFill>
        </p:spPr>
        <p:txBody>
          <a:bodyPr wrap="square" lIns="0" tIns="0" rIns="0" bIns="0" rtlCol="0"/>
          <a:lstStyle/>
          <a:p>
            <a:endParaRPr sz="1588" dirty="0"/>
          </a:p>
        </p:txBody>
      </p:sp>
      <p:sp>
        <p:nvSpPr>
          <p:cNvPr id="142" name="object 52">
            <a:extLst>
              <a:ext uri="{FF2B5EF4-FFF2-40B4-BE49-F238E27FC236}">
                <a16:creationId xmlns:a16="http://schemas.microsoft.com/office/drawing/2014/main" id="{ECD3B801-244F-4231-BFC9-8C3507F9403F}"/>
              </a:ext>
            </a:extLst>
          </p:cNvPr>
          <p:cNvSpPr/>
          <p:nvPr/>
        </p:nvSpPr>
        <p:spPr>
          <a:xfrm>
            <a:off x="6117515" y="2627278"/>
            <a:ext cx="67235" cy="182879"/>
          </a:xfrm>
          <a:prstGeom prst="rect">
            <a:avLst/>
          </a:prstGeom>
          <a:blipFill>
            <a:blip r:embed="rId5" cstate="print"/>
            <a:stretch>
              <a:fillRect/>
            </a:stretch>
          </a:blipFill>
        </p:spPr>
        <p:txBody>
          <a:bodyPr wrap="square" lIns="0" tIns="0" rIns="0" bIns="0" rtlCol="0"/>
          <a:lstStyle/>
          <a:p>
            <a:endParaRPr sz="1588" dirty="0"/>
          </a:p>
        </p:txBody>
      </p:sp>
      <p:sp>
        <p:nvSpPr>
          <p:cNvPr id="144" name="object 54">
            <a:extLst>
              <a:ext uri="{FF2B5EF4-FFF2-40B4-BE49-F238E27FC236}">
                <a16:creationId xmlns:a16="http://schemas.microsoft.com/office/drawing/2014/main" id="{7E518291-70BD-4A12-A959-AB1403D2EF1E}"/>
              </a:ext>
            </a:extLst>
          </p:cNvPr>
          <p:cNvSpPr txBox="1">
            <a:spLocks/>
          </p:cNvSpPr>
          <p:nvPr/>
        </p:nvSpPr>
        <p:spPr>
          <a:xfrm>
            <a:off x="776731" y="7051614"/>
            <a:ext cx="807719" cy="2406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FFFF00"/>
                </a:solidFill>
                <a:latin typeface="Verdana"/>
                <a:ea typeface="+mn-ea"/>
                <a:cs typeface="Verdan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spcBef>
                <a:spcPts val="88"/>
              </a:spcBef>
            </a:pPr>
            <a:r>
              <a:rPr lang="en-US" spc="-10"/>
              <a:t>Ref</a:t>
            </a:r>
            <a:r>
              <a:rPr lang="en-US" spc="-70"/>
              <a:t> </a:t>
            </a:r>
            <a:r>
              <a:rPr lang="en-US" spc="-5"/>
              <a:t>Page</a:t>
            </a:r>
            <a:endParaRPr lang="en-US" spc="-4" dirty="0"/>
          </a:p>
        </p:txBody>
      </p:sp>
    </p:spTree>
    <p:extLst>
      <p:ext uri="{BB962C8B-B14F-4D97-AF65-F5344CB8AC3E}">
        <p14:creationId xmlns:p14="http://schemas.microsoft.com/office/powerpoint/2010/main" val="1189922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7BC3-4737-43CE-9684-09C015F58094}"/>
              </a:ext>
            </a:extLst>
          </p:cNvPr>
          <p:cNvSpPr>
            <a:spLocks noGrp="1"/>
          </p:cNvSpPr>
          <p:nvPr>
            <p:ph type="title"/>
          </p:nvPr>
        </p:nvSpPr>
        <p:spPr/>
        <p:txBody>
          <a:bodyPr/>
          <a:lstStyle/>
          <a:p>
            <a:r>
              <a:rPr lang="en-US" spc="-4" dirty="0"/>
              <a:t>Computer BUS</a:t>
            </a:r>
            <a:endParaRPr lang="LID4096" dirty="0"/>
          </a:p>
        </p:txBody>
      </p:sp>
      <p:sp>
        <p:nvSpPr>
          <p:cNvPr id="3" name="Content Placeholder 2">
            <a:extLst>
              <a:ext uri="{FF2B5EF4-FFF2-40B4-BE49-F238E27FC236}">
                <a16:creationId xmlns:a16="http://schemas.microsoft.com/office/drawing/2014/main" id="{368A162B-D170-46D9-9012-A7379135844A}"/>
              </a:ext>
            </a:extLst>
          </p:cNvPr>
          <p:cNvSpPr>
            <a:spLocks noGrp="1"/>
          </p:cNvSpPr>
          <p:nvPr>
            <p:ph idx="1"/>
          </p:nvPr>
        </p:nvSpPr>
        <p:spPr>
          <a:xfrm>
            <a:off x="1045028" y="1690688"/>
            <a:ext cx="10308771" cy="4976812"/>
          </a:xfrm>
        </p:spPr>
        <p:txBody>
          <a:bodyPr>
            <a:normAutofit fontScale="62500" lnSpcReduction="20000"/>
          </a:bodyPr>
          <a:lstStyle/>
          <a:p>
            <a:pPr marL="0" indent="0">
              <a:spcBef>
                <a:spcPts val="1019"/>
              </a:spcBef>
              <a:buClr>
                <a:srgbClr val="FF3300"/>
              </a:buClr>
              <a:buNone/>
              <a:tabLst>
                <a:tab pos="317704" algn="l"/>
                <a:tab pos="318264" algn="l"/>
              </a:tabLst>
            </a:pPr>
            <a:r>
              <a:rPr lang="en-US" sz="4000" b="1" u="sng" spc="-9" dirty="0"/>
              <a:t>Bus:</a:t>
            </a:r>
          </a:p>
          <a:p>
            <a:pPr marL="302575" indent="-302575"/>
            <a:r>
              <a:rPr lang="en-US" sz="3400" spc="-9" dirty="0"/>
              <a:t>Inside computers, there are many internal components. For these components to communicate with each other they make use of wires that are known as a ‘bus’ .</a:t>
            </a:r>
          </a:p>
          <a:p>
            <a:pPr marL="302575" indent="-302575"/>
            <a:r>
              <a:rPr lang="en-US" sz="3400" spc="-9" dirty="0"/>
              <a:t>A bus is a common pathway through which information flows from one computer component to another. This pathway is used for communication purpose and it is established between two or more computer components.</a:t>
            </a:r>
          </a:p>
          <a:p>
            <a:r>
              <a:rPr lang="en-US" sz="4000" b="1" u="sng" spc="-9" dirty="0"/>
              <a:t>Types of Bus:</a:t>
            </a:r>
          </a:p>
          <a:p>
            <a:pPr marL="302575" indent="-302575"/>
            <a:r>
              <a:rPr lang="en-US" sz="3400" b="1" spc="-9" dirty="0"/>
              <a:t>Data bus </a:t>
            </a:r>
            <a:r>
              <a:rPr lang="en-US" sz="3400" spc="-9" dirty="0"/>
              <a:t>is used for transfer of data between subunits </a:t>
            </a:r>
          </a:p>
          <a:p>
            <a:pPr marL="302575" indent="-302575"/>
            <a:r>
              <a:rPr lang="en-US" sz="3400" b="1" spc="-9" dirty="0"/>
              <a:t>Address bus </a:t>
            </a:r>
            <a:r>
              <a:rPr lang="en-US" sz="3400" spc="-9" dirty="0"/>
              <a:t>is used to transmit location information between units such as where the data is going or coming from.</a:t>
            </a:r>
          </a:p>
          <a:p>
            <a:pPr marL="302575" indent="-302575"/>
            <a:r>
              <a:rPr lang="en-US" sz="3400" b="1" spc="-9" dirty="0"/>
              <a:t>Control bus </a:t>
            </a:r>
            <a:r>
              <a:rPr lang="en-US" sz="3400" spc="-9" dirty="0"/>
              <a:t>control working of other components</a:t>
            </a:r>
            <a:r>
              <a:rPr lang="en-US" sz="3400" spc="-9" dirty="0">
                <a:solidFill>
                  <a:srgbClr val="333333"/>
                </a:solidFill>
              </a:rPr>
              <a:t>. It is used to provide information as to how data is being sent.</a:t>
            </a:r>
            <a:r>
              <a:rPr lang="en-US" dirty="0">
                <a:latin typeface="Verdana" panose="020B0604030504040204" pitchFamily="34" charset="0"/>
                <a:ea typeface="Verdana" panose="020B0604030504040204" pitchFamily="34" charset="0"/>
              </a:rPr>
              <a:t/>
            </a:r>
            <a:br>
              <a:rPr lang="en-US" dirty="0">
                <a:latin typeface="Verdana" panose="020B0604030504040204" pitchFamily="34" charset="0"/>
                <a:ea typeface="Verdana" panose="020B0604030504040204" pitchFamily="34" charset="0"/>
              </a:rPr>
            </a:br>
            <a:endParaRPr lang="en-US" dirty="0">
              <a:latin typeface="Verdana" panose="020B0604030504040204" pitchFamily="34" charset="0"/>
              <a:ea typeface="Verdana" panose="020B0604030504040204" pitchFamily="34" charset="0"/>
              <a:cs typeface="Verdana"/>
            </a:endParaRPr>
          </a:p>
          <a:p>
            <a:endParaRPr lang="LID4096" dirty="0"/>
          </a:p>
        </p:txBody>
      </p:sp>
    </p:spTree>
    <p:extLst>
      <p:ext uri="{BB962C8B-B14F-4D97-AF65-F5344CB8AC3E}">
        <p14:creationId xmlns:p14="http://schemas.microsoft.com/office/powerpoint/2010/main" val="2144357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0F263C-CE7A-4050-81F1-32E2C1E0CCCD}"/>
              </a:ext>
            </a:extLst>
          </p:cNvPr>
          <p:cNvPicPr>
            <a:picLocks noGrp="1" noChangeAspect="1"/>
          </p:cNvPicPr>
          <p:nvPr>
            <p:ph idx="1"/>
          </p:nvPr>
        </p:nvPicPr>
        <p:blipFill>
          <a:blip r:embed="rId3"/>
          <a:stretch>
            <a:fillRect/>
          </a:stretch>
        </p:blipFill>
        <p:spPr>
          <a:xfrm>
            <a:off x="1392846" y="157241"/>
            <a:ext cx="9269711" cy="6448494"/>
          </a:xfrm>
          <a:prstGeom prst="rect">
            <a:avLst/>
          </a:prstGeom>
        </p:spPr>
      </p:pic>
    </p:spTree>
    <p:extLst>
      <p:ext uri="{BB962C8B-B14F-4D97-AF65-F5344CB8AC3E}">
        <p14:creationId xmlns:p14="http://schemas.microsoft.com/office/powerpoint/2010/main" val="794950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DE5A23-696E-42A7-B01A-D1E859F343D9}"/>
              </a:ext>
            </a:extLst>
          </p:cNvPr>
          <p:cNvPicPr>
            <a:picLocks noChangeAspect="1"/>
          </p:cNvPicPr>
          <p:nvPr/>
        </p:nvPicPr>
        <p:blipFill>
          <a:blip r:embed="rId3"/>
          <a:stretch>
            <a:fillRect/>
          </a:stretch>
        </p:blipFill>
        <p:spPr>
          <a:xfrm>
            <a:off x="1665595" y="228600"/>
            <a:ext cx="8860809" cy="6400800"/>
          </a:xfrm>
          <a:prstGeom prst="rect">
            <a:avLst/>
          </a:prstGeom>
        </p:spPr>
      </p:pic>
    </p:spTree>
    <p:extLst>
      <p:ext uri="{BB962C8B-B14F-4D97-AF65-F5344CB8AC3E}">
        <p14:creationId xmlns:p14="http://schemas.microsoft.com/office/powerpoint/2010/main" val="379091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68BA7E-96FF-4865-96EF-AE4B6D077FF7}"/>
              </a:ext>
            </a:extLst>
          </p:cNvPr>
          <p:cNvPicPr>
            <a:picLocks noChangeAspect="1"/>
          </p:cNvPicPr>
          <p:nvPr/>
        </p:nvPicPr>
        <p:blipFill rotWithShape="1">
          <a:blip r:embed="rId3"/>
          <a:srcRect b="-126"/>
          <a:stretch/>
        </p:blipFill>
        <p:spPr>
          <a:xfrm>
            <a:off x="2352675" y="0"/>
            <a:ext cx="7458075" cy="6592731"/>
          </a:xfrm>
          <a:prstGeom prst="rect">
            <a:avLst/>
          </a:prstGeom>
        </p:spPr>
      </p:pic>
    </p:spTree>
    <p:extLst>
      <p:ext uri="{BB962C8B-B14F-4D97-AF65-F5344CB8AC3E}">
        <p14:creationId xmlns:p14="http://schemas.microsoft.com/office/powerpoint/2010/main" val="2341309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1D735-6675-411D-9C18-9B30D0EF4783}"/>
              </a:ext>
            </a:extLst>
          </p:cNvPr>
          <p:cNvSpPr>
            <a:spLocks noGrp="1"/>
          </p:cNvSpPr>
          <p:nvPr>
            <p:ph type="title"/>
          </p:nvPr>
        </p:nvSpPr>
        <p:spPr/>
        <p:txBody>
          <a:bodyPr/>
          <a:lstStyle/>
          <a:p>
            <a:r>
              <a:rPr lang="en-US" spc="-9"/>
              <a:t>Instruction</a:t>
            </a:r>
            <a:r>
              <a:rPr lang="en-US"/>
              <a:t> </a:t>
            </a:r>
            <a:r>
              <a:rPr lang="en-US" spc="-13"/>
              <a:t>Set</a:t>
            </a:r>
            <a:endParaRPr lang="LID4096"/>
          </a:p>
        </p:txBody>
      </p:sp>
      <p:sp>
        <p:nvSpPr>
          <p:cNvPr id="3" name="Content Placeholder 2">
            <a:extLst>
              <a:ext uri="{FF2B5EF4-FFF2-40B4-BE49-F238E27FC236}">
                <a16:creationId xmlns:a16="http://schemas.microsoft.com/office/drawing/2014/main" id="{8E29F946-CD4B-4122-84B6-973A961F5D51}"/>
              </a:ext>
            </a:extLst>
          </p:cNvPr>
          <p:cNvSpPr>
            <a:spLocks noGrp="1"/>
          </p:cNvSpPr>
          <p:nvPr>
            <p:ph idx="1"/>
          </p:nvPr>
        </p:nvSpPr>
        <p:spPr>
          <a:xfrm>
            <a:off x="1045028" y="1690687"/>
            <a:ext cx="10308771" cy="4802187"/>
          </a:xfrm>
        </p:spPr>
        <p:txBody>
          <a:bodyPr>
            <a:normAutofit/>
          </a:bodyPr>
          <a:lstStyle/>
          <a:p>
            <a:r>
              <a:rPr lang="en-US" dirty="0"/>
              <a:t>The complete set of all the instructions in machine code that can be recognized and executed by a central processing unit.</a:t>
            </a:r>
          </a:p>
          <a:p>
            <a:r>
              <a:rPr lang="en-US" spc="-9" dirty="0">
                <a:solidFill>
                  <a:srgbClr val="333333"/>
                </a:solidFill>
              </a:rPr>
              <a:t>CPU </a:t>
            </a:r>
            <a:r>
              <a:rPr lang="en-US" spc="-4" dirty="0">
                <a:solidFill>
                  <a:srgbClr val="333333"/>
                </a:solidFill>
              </a:rPr>
              <a:t>has </a:t>
            </a:r>
            <a:r>
              <a:rPr lang="en-US" dirty="0">
                <a:solidFill>
                  <a:srgbClr val="333333"/>
                </a:solidFill>
              </a:rPr>
              <a:t>built-in </a:t>
            </a:r>
            <a:r>
              <a:rPr lang="en-US" spc="-4" dirty="0">
                <a:solidFill>
                  <a:srgbClr val="333333"/>
                </a:solidFill>
              </a:rPr>
              <a:t>ability </a:t>
            </a:r>
            <a:r>
              <a:rPr lang="en-US" dirty="0">
                <a:solidFill>
                  <a:srgbClr val="333333"/>
                </a:solidFill>
              </a:rPr>
              <a:t>to </a:t>
            </a:r>
            <a:r>
              <a:rPr lang="en-US" spc="-4" dirty="0">
                <a:solidFill>
                  <a:srgbClr val="333333"/>
                </a:solidFill>
              </a:rPr>
              <a:t>execute </a:t>
            </a:r>
            <a:r>
              <a:rPr lang="en-US" dirty="0">
                <a:solidFill>
                  <a:srgbClr val="333333"/>
                </a:solidFill>
              </a:rPr>
              <a:t>a </a:t>
            </a:r>
            <a:r>
              <a:rPr lang="en-US" spc="-4" dirty="0">
                <a:solidFill>
                  <a:srgbClr val="333333"/>
                </a:solidFill>
              </a:rPr>
              <a:t>set</a:t>
            </a:r>
            <a:r>
              <a:rPr lang="en-US" dirty="0">
                <a:solidFill>
                  <a:srgbClr val="333333"/>
                </a:solidFill>
              </a:rPr>
              <a:t> of </a:t>
            </a:r>
            <a:r>
              <a:rPr lang="en-US" spc="-4" dirty="0">
                <a:solidFill>
                  <a:srgbClr val="333333"/>
                </a:solidFill>
              </a:rPr>
              <a:t>machine  instructions, </a:t>
            </a:r>
            <a:r>
              <a:rPr lang="en-US" dirty="0">
                <a:solidFill>
                  <a:srgbClr val="333333"/>
                </a:solidFill>
              </a:rPr>
              <a:t>called its </a:t>
            </a:r>
            <a:r>
              <a:rPr lang="en-US" i="1" spc="-4" dirty="0">
                <a:solidFill>
                  <a:srgbClr val="333333"/>
                </a:solidFill>
              </a:rPr>
              <a:t>instruction</a:t>
            </a:r>
            <a:r>
              <a:rPr lang="en-US" i="1" spc="-53" dirty="0">
                <a:solidFill>
                  <a:srgbClr val="333333"/>
                </a:solidFill>
              </a:rPr>
              <a:t> </a:t>
            </a:r>
            <a:r>
              <a:rPr lang="en-US" i="1" dirty="0">
                <a:solidFill>
                  <a:srgbClr val="333333"/>
                </a:solidFill>
              </a:rPr>
              <a:t>set</a:t>
            </a:r>
            <a:endParaRPr lang="en-US" dirty="0"/>
          </a:p>
          <a:p>
            <a:r>
              <a:rPr lang="en-US" spc="-9" dirty="0">
                <a:solidFill>
                  <a:srgbClr val="333333"/>
                </a:solidFill>
              </a:rPr>
              <a:t>M</a:t>
            </a:r>
            <a:r>
              <a:rPr lang="en-US" spc="4" dirty="0">
                <a:solidFill>
                  <a:srgbClr val="333333"/>
                </a:solidFill>
              </a:rPr>
              <a:t>o</a:t>
            </a:r>
            <a:r>
              <a:rPr lang="en-US" dirty="0">
                <a:solidFill>
                  <a:srgbClr val="333333"/>
                </a:solidFill>
              </a:rPr>
              <a:t>s</a:t>
            </a:r>
            <a:r>
              <a:rPr lang="en-US" spc="-4" dirty="0">
                <a:solidFill>
                  <a:srgbClr val="333333"/>
                </a:solidFill>
              </a:rPr>
              <a:t>t </a:t>
            </a:r>
            <a:r>
              <a:rPr lang="en-US" spc="-13" dirty="0">
                <a:solidFill>
                  <a:srgbClr val="333333"/>
                </a:solidFill>
              </a:rPr>
              <a:t>CP</a:t>
            </a:r>
            <a:r>
              <a:rPr lang="en-US" dirty="0">
                <a:solidFill>
                  <a:srgbClr val="333333"/>
                </a:solidFill>
              </a:rPr>
              <a:t>Us </a:t>
            </a:r>
            <a:r>
              <a:rPr lang="en-US" spc="-13" dirty="0">
                <a:solidFill>
                  <a:srgbClr val="333333"/>
                </a:solidFill>
              </a:rPr>
              <a:t>h</a:t>
            </a:r>
            <a:r>
              <a:rPr lang="en-US" dirty="0">
                <a:solidFill>
                  <a:srgbClr val="333333"/>
                </a:solidFill>
              </a:rPr>
              <a:t>a</a:t>
            </a:r>
            <a:r>
              <a:rPr lang="en-US" spc="-9" dirty="0">
                <a:solidFill>
                  <a:srgbClr val="333333"/>
                </a:solidFill>
              </a:rPr>
              <a:t>v</a:t>
            </a:r>
            <a:r>
              <a:rPr lang="en-US" dirty="0">
                <a:solidFill>
                  <a:srgbClr val="333333"/>
                </a:solidFill>
              </a:rPr>
              <a:t>e 200 </a:t>
            </a:r>
            <a:r>
              <a:rPr lang="en-US" spc="4" dirty="0">
                <a:solidFill>
                  <a:srgbClr val="333333"/>
                </a:solidFill>
              </a:rPr>
              <a:t>o</a:t>
            </a:r>
            <a:r>
              <a:rPr lang="en-US" dirty="0">
                <a:solidFill>
                  <a:srgbClr val="333333"/>
                </a:solidFill>
              </a:rPr>
              <a:t>r m</a:t>
            </a:r>
            <a:r>
              <a:rPr lang="en-US" spc="4" dirty="0">
                <a:solidFill>
                  <a:srgbClr val="333333"/>
                </a:solidFill>
              </a:rPr>
              <a:t>o</a:t>
            </a:r>
            <a:r>
              <a:rPr lang="en-US" dirty="0">
                <a:solidFill>
                  <a:srgbClr val="333333"/>
                </a:solidFill>
              </a:rPr>
              <a:t>re i</a:t>
            </a:r>
            <a:r>
              <a:rPr lang="en-US" spc="-13" dirty="0">
                <a:solidFill>
                  <a:srgbClr val="333333"/>
                </a:solidFill>
              </a:rPr>
              <a:t>n</a:t>
            </a:r>
            <a:r>
              <a:rPr lang="en-US" dirty="0">
                <a:solidFill>
                  <a:srgbClr val="333333"/>
                </a:solidFill>
              </a:rPr>
              <a:t>str</a:t>
            </a:r>
            <a:r>
              <a:rPr lang="en-US" spc="-13" dirty="0">
                <a:solidFill>
                  <a:srgbClr val="333333"/>
                </a:solidFill>
              </a:rPr>
              <a:t>u</a:t>
            </a:r>
            <a:r>
              <a:rPr lang="en-US" dirty="0">
                <a:solidFill>
                  <a:srgbClr val="333333"/>
                </a:solidFill>
              </a:rPr>
              <a:t>ctio</a:t>
            </a:r>
            <a:r>
              <a:rPr lang="en-US" spc="-13" dirty="0">
                <a:solidFill>
                  <a:srgbClr val="333333"/>
                </a:solidFill>
              </a:rPr>
              <a:t>n</a:t>
            </a:r>
            <a:r>
              <a:rPr lang="en-US" dirty="0">
                <a:solidFill>
                  <a:srgbClr val="333333"/>
                </a:solidFill>
              </a:rPr>
              <a:t>s </a:t>
            </a:r>
            <a:r>
              <a:rPr lang="en-US" spc="-4" dirty="0">
                <a:solidFill>
                  <a:srgbClr val="333333"/>
                </a:solidFill>
              </a:rPr>
              <a:t>(s</a:t>
            </a:r>
            <a:r>
              <a:rPr lang="en-US" spc="-13" dirty="0">
                <a:solidFill>
                  <a:srgbClr val="333333"/>
                </a:solidFill>
              </a:rPr>
              <a:t>u</a:t>
            </a:r>
            <a:r>
              <a:rPr lang="en-US" dirty="0">
                <a:solidFill>
                  <a:srgbClr val="333333"/>
                </a:solidFill>
              </a:rPr>
              <a:t>ch as add,</a:t>
            </a:r>
            <a:r>
              <a:rPr lang="en-US" spc="-4" dirty="0">
                <a:solidFill>
                  <a:srgbClr val="333333"/>
                </a:solidFill>
              </a:rPr>
              <a:t> subtract, </a:t>
            </a:r>
            <a:r>
              <a:rPr lang="en-US" dirty="0">
                <a:solidFill>
                  <a:srgbClr val="333333"/>
                </a:solidFill>
              </a:rPr>
              <a:t>compare, </a:t>
            </a:r>
            <a:r>
              <a:rPr lang="en-US" spc="-4" dirty="0">
                <a:solidFill>
                  <a:srgbClr val="333333"/>
                </a:solidFill>
              </a:rPr>
              <a:t>etc.) </a:t>
            </a:r>
            <a:r>
              <a:rPr lang="en-US" dirty="0">
                <a:solidFill>
                  <a:srgbClr val="333333"/>
                </a:solidFill>
              </a:rPr>
              <a:t>in </a:t>
            </a:r>
            <a:r>
              <a:rPr lang="en-US" spc="-4" dirty="0">
                <a:solidFill>
                  <a:srgbClr val="333333"/>
                </a:solidFill>
              </a:rPr>
              <a:t>their instruction</a:t>
            </a:r>
            <a:r>
              <a:rPr lang="en-US" dirty="0">
                <a:solidFill>
                  <a:srgbClr val="333333"/>
                </a:solidFill>
              </a:rPr>
              <a:t> set</a:t>
            </a:r>
          </a:p>
          <a:p>
            <a:r>
              <a:rPr lang="en-US" spc="-13" dirty="0">
                <a:solidFill>
                  <a:srgbClr val="333333"/>
                </a:solidFill>
              </a:rPr>
              <a:t>CP</a:t>
            </a:r>
            <a:r>
              <a:rPr lang="en-US" dirty="0">
                <a:solidFill>
                  <a:srgbClr val="333333"/>
                </a:solidFill>
              </a:rPr>
              <a:t>Us made </a:t>
            </a:r>
            <a:r>
              <a:rPr lang="en-US" spc="4" dirty="0">
                <a:solidFill>
                  <a:srgbClr val="333333"/>
                </a:solidFill>
              </a:rPr>
              <a:t>by </a:t>
            </a:r>
            <a:r>
              <a:rPr lang="en-US" dirty="0">
                <a:solidFill>
                  <a:srgbClr val="333333"/>
                </a:solidFill>
              </a:rPr>
              <a:t>different </a:t>
            </a:r>
            <a:r>
              <a:rPr lang="en-US" spc="-4" dirty="0">
                <a:solidFill>
                  <a:srgbClr val="333333"/>
                </a:solidFill>
              </a:rPr>
              <a:t>manufacturers </a:t>
            </a:r>
            <a:r>
              <a:rPr lang="en-US" spc="-9" dirty="0">
                <a:solidFill>
                  <a:srgbClr val="333333"/>
                </a:solidFill>
              </a:rPr>
              <a:t>have </a:t>
            </a:r>
            <a:r>
              <a:rPr lang="en-US" spc="-4" dirty="0">
                <a:solidFill>
                  <a:srgbClr val="333333"/>
                </a:solidFill>
              </a:rPr>
              <a:t>different instruction</a:t>
            </a:r>
            <a:r>
              <a:rPr lang="en-US" spc="-26" dirty="0">
                <a:solidFill>
                  <a:srgbClr val="333333"/>
                </a:solidFill>
              </a:rPr>
              <a:t> </a:t>
            </a:r>
            <a:r>
              <a:rPr lang="en-US" dirty="0">
                <a:solidFill>
                  <a:srgbClr val="333333"/>
                </a:solidFill>
              </a:rPr>
              <a:t>sets</a:t>
            </a:r>
          </a:p>
          <a:p>
            <a:r>
              <a:rPr lang="en-US" spc="-4" dirty="0">
                <a:solidFill>
                  <a:srgbClr val="333333"/>
                </a:solidFill>
              </a:rPr>
              <a:t>Manufacturers tend </a:t>
            </a:r>
            <a:r>
              <a:rPr lang="en-US" dirty="0">
                <a:solidFill>
                  <a:srgbClr val="333333"/>
                </a:solidFill>
              </a:rPr>
              <a:t>to </a:t>
            </a:r>
            <a:r>
              <a:rPr lang="en-US" spc="-9" dirty="0">
                <a:solidFill>
                  <a:srgbClr val="333333"/>
                </a:solidFill>
              </a:rPr>
              <a:t>group </a:t>
            </a:r>
            <a:r>
              <a:rPr lang="en-US" spc="-4" dirty="0">
                <a:solidFill>
                  <a:srgbClr val="333333"/>
                </a:solidFill>
              </a:rPr>
              <a:t>their </a:t>
            </a:r>
            <a:r>
              <a:rPr lang="en-US" spc="-9" dirty="0">
                <a:solidFill>
                  <a:srgbClr val="333333"/>
                </a:solidFill>
              </a:rPr>
              <a:t>CPUs </a:t>
            </a:r>
            <a:r>
              <a:rPr lang="en-US" spc="-4" dirty="0">
                <a:solidFill>
                  <a:srgbClr val="333333"/>
                </a:solidFill>
              </a:rPr>
              <a:t>into </a:t>
            </a:r>
            <a:r>
              <a:rPr lang="en-US" dirty="0">
                <a:solidFill>
                  <a:srgbClr val="333333"/>
                </a:solidFill>
              </a:rPr>
              <a:t>“families” </a:t>
            </a:r>
            <a:r>
              <a:rPr lang="en-US" spc="-9" dirty="0">
                <a:solidFill>
                  <a:srgbClr val="333333"/>
                </a:solidFill>
              </a:rPr>
              <a:t>having  </a:t>
            </a:r>
            <a:r>
              <a:rPr lang="en-US" dirty="0">
                <a:solidFill>
                  <a:srgbClr val="333333"/>
                </a:solidFill>
              </a:rPr>
              <a:t>similar </a:t>
            </a:r>
            <a:r>
              <a:rPr lang="en-US" spc="-4" dirty="0">
                <a:solidFill>
                  <a:srgbClr val="333333"/>
                </a:solidFill>
              </a:rPr>
              <a:t>instruction</a:t>
            </a:r>
            <a:r>
              <a:rPr lang="en-US" spc="-31" dirty="0">
                <a:solidFill>
                  <a:srgbClr val="333333"/>
                </a:solidFill>
              </a:rPr>
              <a:t> </a:t>
            </a:r>
            <a:r>
              <a:rPr lang="en-US" dirty="0">
                <a:solidFill>
                  <a:srgbClr val="333333"/>
                </a:solidFill>
              </a:rPr>
              <a:t>sets</a:t>
            </a:r>
          </a:p>
          <a:p>
            <a:r>
              <a:rPr lang="en-US" spc="-4" dirty="0">
                <a:solidFill>
                  <a:srgbClr val="333333"/>
                </a:solidFill>
              </a:rPr>
              <a:t>New </a:t>
            </a:r>
            <a:r>
              <a:rPr lang="en-US" spc="-9" dirty="0">
                <a:solidFill>
                  <a:srgbClr val="333333"/>
                </a:solidFill>
              </a:rPr>
              <a:t>CPU </a:t>
            </a:r>
            <a:r>
              <a:rPr lang="en-US" spc="-4" dirty="0">
                <a:solidFill>
                  <a:srgbClr val="333333"/>
                </a:solidFill>
              </a:rPr>
              <a:t>whose instruction set includes instruction </a:t>
            </a:r>
            <a:r>
              <a:rPr lang="en-US" dirty="0">
                <a:solidFill>
                  <a:srgbClr val="333333"/>
                </a:solidFill>
              </a:rPr>
              <a:t>set of its  </a:t>
            </a:r>
            <a:r>
              <a:rPr lang="en-US" spc="-4" dirty="0">
                <a:solidFill>
                  <a:srgbClr val="333333"/>
                </a:solidFill>
              </a:rPr>
              <a:t>predecessor </a:t>
            </a:r>
            <a:r>
              <a:rPr lang="en-US" spc="-9" dirty="0">
                <a:solidFill>
                  <a:srgbClr val="333333"/>
                </a:solidFill>
              </a:rPr>
              <a:t>CPU </a:t>
            </a:r>
            <a:r>
              <a:rPr lang="en-US" dirty="0">
                <a:solidFill>
                  <a:srgbClr val="333333"/>
                </a:solidFill>
              </a:rPr>
              <a:t>is said to be </a:t>
            </a:r>
            <a:r>
              <a:rPr lang="en-US" i="1" spc="-4" dirty="0">
                <a:solidFill>
                  <a:srgbClr val="333333"/>
                </a:solidFill>
              </a:rPr>
              <a:t>backward compatible </a:t>
            </a:r>
            <a:r>
              <a:rPr lang="en-US" spc="-4" dirty="0">
                <a:solidFill>
                  <a:srgbClr val="333333"/>
                </a:solidFill>
              </a:rPr>
              <a:t>with </a:t>
            </a:r>
            <a:r>
              <a:rPr lang="en-US" dirty="0">
                <a:solidFill>
                  <a:srgbClr val="333333"/>
                </a:solidFill>
              </a:rPr>
              <a:t>its  </a:t>
            </a:r>
            <a:r>
              <a:rPr lang="en-US" spc="-4" dirty="0">
                <a:solidFill>
                  <a:srgbClr val="333333"/>
                </a:solidFill>
              </a:rPr>
              <a:t>predecessor</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LID4096" dirty="0"/>
          </a:p>
        </p:txBody>
      </p:sp>
    </p:spTree>
    <p:extLst>
      <p:ext uri="{BB962C8B-B14F-4D97-AF65-F5344CB8AC3E}">
        <p14:creationId xmlns:p14="http://schemas.microsoft.com/office/powerpoint/2010/main" val="31400930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8E21-D73F-453A-8E20-21EAF16E129D}"/>
              </a:ext>
            </a:extLst>
          </p:cNvPr>
          <p:cNvSpPr>
            <a:spLocks noGrp="1"/>
          </p:cNvSpPr>
          <p:nvPr>
            <p:ph type="title"/>
          </p:nvPr>
        </p:nvSpPr>
        <p:spPr/>
        <p:txBody>
          <a:bodyPr/>
          <a:lstStyle/>
          <a:p>
            <a:r>
              <a:rPr lang="en-US" spc="-9" dirty="0"/>
              <a:t>Registers</a:t>
            </a:r>
            <a:endParaRPr lang="LID4096" dirty="0"/>
          </a:p>
        </p:txBody>
      </p:sp>
      <p:sp>
        <p:nvSpPr>
          <p:cNvPr id="3" name="Content Placeholder 2">
            <a:extLst>
              <a:ext uri="{FF2B5EF4-FFF2-40B4-BE49-F238E27FC236}">
                <a16:creationId xmlns:a16="http://schemas.microsoft.com/office/drawing/2014/main" id="{B2EB23AB-7A5F-4944-BEC7-0944076D5ECE}"/>
              </a:ext>
            </a:extLst>
          </p:cNvPr>
          <p:cNvSpPr>
            <a:spLocks noGrp="1"/>
          </p:cNvSpPr>
          <p:nvPr>
            <p:ph idx="1"/>
          </p:nvPr>
        </p:nvSpPr>
        <p:spPr/>
        <p:txBody>
          <a:bodyPr>
            <a:normAutofit/>
          </a:bodyPr>
          <a:lstStyle/>
          <a:p>
            <a:pPr marL="468406" marR="4483" indent="-457200" algn="just">
              <a:spcBef>
                <a:spcPts val="79"/>
              </a:spcBef>
              <a:buClr>
                <a:schemeClr val="tx1"/>
              </a:buClr>
              <a:tabLst>
                <a:tab pos="315462" algn="l"/>
              </a:tabLst>
            </a:pPr>
            <a:r>
              <a:rPr lang="en-US" spc="-9" dirty="0">
                <a:solidFill>
                  <a:srgbClr val="333333"/>
                </a:solidFill>
              </a:rPr>
              <a:t>Special </a:t>
            </a:r>
            <a:r>
              <a:rPr lang="en-US" b="1" spc="-9" dirty="0">
                <a:solidFill>
                  <a:srgbClr val="333333"/>
                </a:solidFill>
              </a:rPr>
              <a:t>memory </a:t>
            </a:r>
            <a:r>
              <a:rPr lang="en-US" b="1" dirty="0">
                <a:solidFill>
                  <a:srgbClr val="333333"/>
                </a:solidFill>
              </a:rPr>
              <a:t>units</a:t>
            </a:r>
            <a:r>
              <a:rPr lang="en-US" dirty="0">
                <a:solidFill>
                  <a:srgbClr val="333333"/>
                </a:solidFill>
              </a:rPr>
              <a:t>, </a:t>
            </a:r>
            <a:r>
              <a:rPr lang="en-US" spc="-4" dirty="0">
                <a:solidFill>
                  <a:srgbClr val="333333"/>
                </a:solidFill>
              </a:rPr>
              <a:t>called </a:t>
            </a:r>
            <a:r>
              <a:rPr lang="en-US" spc="-9" dirty="0">
                <a:solidFill>
                  <a:srgbClr val="333333"/>
                </a:solidFill>
              </a:rPr>
              <a:t>registers, </a:t>
            </a:r>
            <a:r>
              <a:rPr lang="en-US" spc="-4" dirty="0">
                <a:solidFill>
                  <a:srgbClr val="333333"/>
                </a:solidFill>
              </a:rPr>
              <a:t>are </a:t>
            </a:r>
            <a:r>
              <a:rPr lang="en-US" spc="-9" dirty="0">
                <a:solidFill>
                  <a:srgbClr val="333333"/>
                </a:solidFill>
              </a:rPr>
              <a:t>used </a:t>
            </a:r>
            <a:r>
              <a:rPr lang="en-US" spc="-4" dirty="0">
                <a:solidFill>
                  <a:srgbClr val="333333"/>
                </a:solidFill>
              </a:rPr>
              <a:t>to  </a:t>
            </a:r>
            <a:r>
              <a:rPr lang="en-US" dirty="0">
                <a:solidFill>
                  <a:srgbClr val="333333"/>
                </a:solidFill>
              </a:rPr>
              <a:t>hold </a:t>
            </a:r>
            <a:r>
              <a:rPr lang="en-US" spc="-9" dirty="0">
                <a:solidFill>
                  <a:srgbClr val="333333"/>
                </a:solidFill>
              </a:rPr>
              <a:t>information on </a:t>
            </a:r>
            <a:r>
              <a:rPr lang="en-US" spc="-4" dirty="0">
                <a:solidFill>
                  <a:srgbClr val="333333"/>
                </a:solidFill>
              </a:rPr>
              <a:t>a </a:t>
            </a:r>
            <a:r>
              <a:rPr lang="en-US" spc="-9" dirty="0">
                <a:solidFill>
                  <a:srgbClr val="333333"/>
                </a:solidFill>
              </a:rPr>
              <a:t>temporary </a:t>
            </a:r>
            <a:r>
              <a:rPr lang="en-US" dirty="0">
                <a:solidFill>
                  <a:srgbClr val="333333"/>
                </a:solidFill>
              </a:rPr>
              <a:t>basis </a:t>
            </a:r>
            <a:r>
              <a:rPr lang="en-US" spc="-4" dirty="0">
                <a:solidFill>
                  <a:srgbClr val="333333"/>
                </a:solidFill>
              </a:rPr>
              <a:t>as</a:t>
            </a:r>
            <a:r>
              <a:rPr lang="en-US" spc="521" dirty="0">
                <a:solidFill>
                  <a:srgbClr val="333333"/>
                </a:solidFill>
              </a:rPr>
              <a:t> </a:t>
            </a:r>
            <a:r>
              <a:rPr lang="en-US" spc="-4" dirty="0">
                <a:solidFill>
                  <a:srgbClr val="333333"/>
                </a:solidFill>
              </a:rPr>
              <a:t>the  instructions </a:t>
            </a:r>
            <a:r>
              <a:rPr lang="en-US" spc="-9" dirty="0">
                <a:solidFill>
                  <a:srgbClr val="333333"/>
                </a:solidFill>
              </a:rPr>
              <a:t>are interpreted </a:t>
            </a:r>
            <a:r>
              <a:rPr lang="en-US" spc="-4" dirty="0">
                <a:solidFill>
                  <a:srgbClr val="333333"/>
                </a:solidFill>
              </a:rPr>
              <a:t>and </a:t>
            </a:r>
            <a:r>
              <a:rPr lang="en-US" spc="-9" dirty="0">
                <a:solidFill>
                  <a:srgbClr val="333333"/>
                </a:solidFill>
              </a:rPr>
              <a:t>executed </a:t>
            </a:r>
            <a:r>
              <a:rPr lang="en-US" dirty="0">
                <a:solidFill>
                  <a:srgbClr val="333333"/>
                </a:solidFill>
              </a:rPr>
              <a:t>by </a:t>
            </a:r>
            <a:r>
              <a:rPr lang="en-US" spc="-4" dirty="0">
                <a:solidFill>
                  <a:srgbClr val="333333"/>
                </a:solidFill>
              </a:rPr>
              <a:t>the</a:t>
            </a:r>
            <a:r>
              <a:rPr lang="en-US" spc="22" dirty="0">
                <a:solidFill>
                  <a:srgbClr val="333333"/>
                </a:solidFill>
              </a:rPr>
              <a:t> </a:t>
            </a:r>
            <a:r>
              <a:rPr lang="en-US" spc="-9" dirty="0">
                <a:solidFill>
                  <a:srgbClr val="333333"/>
                </a:solidFill>
              </a:rPr>
              <a:t>CPU</a:t>
            </a:r>
            <a:endParaRPr lang="en-US" dirty="0"/>
          </a:p>
          <a:p>
            <a:pPr marL="468406" marR="10086" indent="-457200" algn="just">
              <a:spcBef>
                <a:spcPts val="953"/>
              </a:spcBef>
              <a:buClr>
                <a:schemeClr val="tx1"/>
              </a:buClr>
              <a:tabLst>
                <a:tab pos="315462" algn="l"/>
              </a:tabLst>
            </a:pPr>
            <a:r>
              <a:rPr lang="en-US" spc="-9" dirty="0">
                <a:solidFill>
                  <a:srgbClr val="333333"/>
                </a:solidFill>
              </a:rPr>
              <a:t>Registers are part of </a:t>
            </a:r>
            <a:r>
              <a:rPr lang="en-US" spc="-4" dirty="0">
                <a:solidFill>
                  <a:srgbClr val="333333"/>
                </a:solidFill>
              </a:rPr>
              <a:t>the </a:t>
            </a:r>
            <a:r>
              <a:rPr lang="en-US" spc="-9" dirty="0">
                <a:solidFill>
                  <a:srgbClr val="333333"/>
                </a:solidFill>
              </a:rPr>
              <a:t>CPU (not </a:t>
            </a:r>
            <a:r>
              <a:rPr lang="en-US" dirty="0">
                <a:solidFill>
                  <a:srgbClr val="333333"/>
                </a:solidFill>
              </a:rPr>
              <a:t>main </a:t>
            </a:r>
            <a:r>
              <a:rPr lang="en-US" spc="-9" dirty="0">
                <a:solidFill>
                  <a:srgbClr val="333333"/>
                </a:solidFill>
              </a:rPr>
              <a:t>memory) of </a:t>
            </a:r>
            <a:r>
              <a:rPr lang="en-US" spc="-4" dirty="0">
                <a:solidFill>
                  <a:srgbClr val="333333"/>
                </a:solidFill>
              </a:rPr>
              <a:t>a  </a:t>
            </a:r>
            <a:r>
              <a:rPr lang="en-US" spc="-9" dirty="0">
                <a:solidFill>
                  <a:srgbClr val="333333"/>
                </a:solidFill>
              </a:rPr>
              <a:t>computer and is super fast memory.</a:t>
            </a:r>
            <a:endParaRPr lang="en-US" dirty="0"/>
          </a:p>
          <a:p>
            <a:pPr marL="468406" marR="7284" indent="-457200" algn="just">
              <a:spcBef>
                <a:spcPts val="931"/>
              </a:spcBef>
              <a:buClr>
                <a:schemeClr val="tx1"/>
              </a:buClr>
              <a:tabLst>
                <a:tab pos="315462" algn="l"/>
              </a:tabLst>
            </a:pPr>
            <a:r>
              <a:rPr lang="en-US" spc="-4" dirty="0">
                <a:solidFill>
                  <a:srgbClr val="333333"/>
                </a:solidFill>
              </a:rPr>
              <a:t>The length </a:t>
            </a:r>
            <a:r>
              <a:rPr lang="en-US" spc="-9" dirty="0">
                <a:solidFill>
                  <a:srgbClr val="333333"/>
                </a:solidFill>
              </a:rPr>
              <a:t>of </a:t>
            </a:r>
            <a:r>
              <a:rPr lang="en-US" spc="-4" dirty="0">
                <a:solidFill>
                  <a:srgbClr val="333333"/>
                </a:solidFill>
              </a:rPr>
              <a:t>a </a:t>
            </a:r>
            <a:r>
              <a:rPr lang="en-US" spc="-9" dirty="0">
                <a:solidFill>
                  <a:srgbClr val="333333"/>
                </a:solidFill>
              </a:rPr>
              <a:t>register, sometimes </a:t>
            </a:r>
            <a:r>
              <a:rPr lang="en-US" dirty="0">
                <a:solidFill>
                  <a:srgbClr val="333333"/>
                </a:solidFill>
              </a:rPr>
              <a:t>called </a:t>
            </a:r>
            <a:r>
              <a:rPr lang="en-US" spc="-4" dirty="0">
                <a:solidFill>
                  <a:srgbClr val="333333"/>
                </a:solidFill>
              </a:rPr>
              <a:t>its </a:t>
            </a:r>
            <a:r>
              <a:rPr lang="en-US" i="1" spc="-13" dirty="0">
                <a:solidFill>
                  <a:srgbClr val="333333"/>
                </a:solidFill>
              </a:rPr>
              <a:t>word </a:t>
            </a:r>
            <a:r>
              <a:rPr lang="en-US" i="1" spc="-9" dirty="0">
                <a:solidFill>
                  <a:srgbClr val="333333"/>
                </a:solidFill>
              </a:rPr>
              <a:t>size</a:t>
            </a:r>
            <a:r>
              <a:rPr lang="en-US" spc="-9" dirty="0">
                <a:solidFill>
                  <a:srgbClr val="333333"/>
                </a:solidFill>
              </a:rPr>
              <a:t>, </a:t>
            </a:r>
            <a:r>
              <a:rPr lang="en-US" spc="-4" dirty="0">
                <a:solidFill>
                  <a:srgbClr val="333333"/>
                </a:solidFill>
              </a:rPr>
              <a:t>equals the </a:t>
            </a:r>
            <a:r>
              <a:rPr lang="en-US" spc="-9" dirty="0">
                <a:solidFill>
                  <a:srgbClr val="333333"/>
                </a:solidFill>
              </a:rPr>
              <a:t>number of </a:t>
            </a:r>
            <a:r>
              <a:rPr lang="en-US" dirty="0">
                <a:solidFill>
                  <a:srgbClr val="333333"/>
                </a:solidFill>
              </a:rPr>
              <a:t>bits it </a:t>
            </a:r>
            <a:r>
              <a:rPr lang="en-US" spc="-9" dirty="0">
                <a:solidFill>
                  <a:srgbClr val="333333"/>
                </a:solidFill>
              </a:rPr>
              <a:t>can</a:t>
            </a:r>
            <a:r>
              <a:rPr lang="en-US" spc="-18" dirty="0">
                <a:solidFill>
                  <a:srgbClr val="333333"/>
                </a:solidFill>
              </a:rPr>
              <a:t> </a:t>
            </a:r>
            <a:r>
              <a:rPr lang="en-US" spc="-13" dirty="0">
                <a:solidFill>
                  <a:srgbClr val="333333"/>
                </a:solidFill>
              </a:rPr>
              <a:t>store</a:t>
            </a:r>
            <a:endParaRPr lang="en-US" dirty="0"/>
          </a:p>
          <a:p>
            <a:pPr marL="468406" marR="7845" indent="-457200" algn="just">
              <a:spcBef>
                <a:spcPts val="953"/>
              </a:spcBef>
              <a:buClr>
                <a:schemeClr val="tx1"/>
              </a:buClr>
              <a:tabLst>
                <a:tab pos="315462" algn="l"/>
              </a:tabLst>
            </a:pPr>
            <a:r>
              <a:rPr lang="en-US" dirty="0">
                <a:solidFill>
                  <a:srgbClr val="333333"/>
                </a:solidFill>
              </a:rPr>
              <a:t>With </a:t>
            </a:r>
            <a:r>
              <a:rPr lang="en-US" spc="-13" dirty="0">
                <a:solidFill>
                  <a:srgbClr val="333333"/>
                </a:solidFill>
              </a:rPr>
              <a:t>all </a:t>
            </a:r>
            <a:r>
              <a:rPr lang="en-US" spc="-9" dirty="0">
                <a:solidFill>
                  <a:srgbClr val="333333"/>
                </a:solidFill>
              </a:rPr>
              <a:t>other parameters </a:t>
            </a:r>
            <a:r>
              <a:rPr lang="en-US" dirty="0">
                <a:solidFill>
                  <a:srgbClr val="333333"/>
                </a:solidFill>
              </a:rPr>
              <a:t>being </a:t>
            </a:r>
            <a:r>
              <a:rPr lang="en-US" spc="-4" dirty="0">
                <a:solidFill>
                  <a:srgbClr val="333333"/>
                </a:solidFill>
              </a:rPr>
              <a:t>the </a:t>
            </a:r>
            <a:r>
              <a:rPr lang="en-US" spc="-9" dirty="0">
                <a:solidFill>
                  <a:srgbClr val="333333"/>
                </a:solidFill>
              </a:rPr>
              <a:t>same, </a:t>
            </a:r>
            <a:r>
              <a:rPr lang="en-US" spc="-4" dirty="0">
                <a:solidFill>
                  <a:srgbClr val="333333"/>
                </a:solidFill>
              </a:rPr>
              <a:t>a CPU </a:t>
            </a:r>
            <a:r>
              <a:rPr lang="en-US" spc="-9" dirty="0">
                <a:solidFill>
                  <a:srgbClr val="333333"/>
                </a:solidFill>
              </a:rPr>
              <a:t>with  </a:t>
            </a:r>
            <a:r>
              <a:rPr lang="en-US" spc="-4" dirty="0">
                <a:solidFill>
                  <a:srgbClr val="333333"/>
                </a:solidFill>
              </a:rPr>
              <a:t>32-bit </a:t>
            </a:r>
            <a:r>
              <a:rPr lang="en-US" spc="-9" dirty="0">
                <a:solidFill>
                  <a:srgbClr val="333333"/>
                </a:solidFill>
              </a:rPr>
              <a:t>registers can process </a:t>
            </a:r>
            <a:r>
              <a:rPr lang="en-US" spc="-4" dirty="0">
                <a:solidFill>
                  <a:srgbClr val="333333"/>
                </a:solidFill>
              </a:rPr>
              <a:t>data twice larger than  </a:t>
            </a:r>
            <a:r>
              <a:rPr lang="en-US" spc="-9" dirty="0">
                <a:solidFill>
                  <a:srgbClr val="333333"/>
                </a:solidFill>
              </a:rPr>
              <a:t>one </a:t>
            </a:r>
            <a:r>
              <a:rPr lang="en-US" dirty="0">
                <a:solidFill>
                  <a:srgbClr val="333333"/>
                </a:solidFill>
              </a:rPr>
              <a:t>with </a:t>
            </a:r>
            <a:r>
              <a:rPr lang="en-US" spc="-4" dirty="0">
                <a:solidFill>
                  <a:srgbClr val="333333"/>
                </a:solidFill>
              </a:rPr>
              <a:t>16-bit</a:t>
            </a:r>
            <a:r>
              <a:rPr lang="en-US" spc="-9" dirty="0">
                <a:solidFill>
                  <a:srgbClr val="333333"/>
                </a:solidFill>
              </a:rPr>
              <a:t> </a:t>
            </a:r>
            <a:r>
              <a:rPr lang="en-US" spc="-13" dirty="0">
                <a:solidFill>
                  <a:srgbClr val="333333"/>
                </a:solidFill>
              </a:rPr>
              <a:t>registers</a:t>
            </a:r>
            <a:endParaRPr lang="en-US" dirty="0"/>
          </a:p>
        </p:txBody>
      </p:sp>
    </p:spTree>
    <p:extLst>
      <p:ext uri="{BB962C8B-B14F-4D97-AF65-F5344CB8AC3E}">
        <p14:creationId xmlns:p14="http://schemas.microsoft.com/office/powerpoint/2010/main" val="4246333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021D6-B171-4549-A09D-F50B9F48992E}"/>
              </a:ext>
            </a:extLst>
          </p:cNvPr>
          <p:cNvSpPr>
            <a:spLocks noGrp="1"/>
          </p:cNvSpPr>
          <p:nvPr>
            <p:ph type="title"/>
          </p:nvPr>
        </p:nvSpPr>
        <p:spPr/>
        <p:txBody>
          <a:bodyPr>
            <a:normAutofit fontScale="90000"/>
          </a:bodyPr>
          <a:lstStyle/>
          <a:p>
            <a:pPr algn="ctr"/>
            <a:r>
              <a:rPr lang="en-US" spc="-4" dirty="0"/>
              <a:t>Functions of Commonly Used</a:t>
            </a:r>
            <a:r>
              <a:rPr lang="en-US" spc="66" dirty="0"/>
              <a:t> </a:t>
            </a:r>
            <a:r>
              <a:rPr lang="en-US" dirty="0"/>
              <a:t>Registers</a:t>
            </a:r>
            <a:endParaRPr lang="LID4096" dirty="0"/>
          </a:p>
        </p:txBody>
      </p:sp>
      <p:graphicFrame>
        <p:nvGraphicFramePr>
          <p:cNvPr id="4" name="object 4">
            <a:extLst>
              <a:ext uri="{FF2B5EF4-FFF2-40B4-BE49-F238E27FC236}">
                <a16:creationId xmlns:a16="http://schemas.microsoft.com/office/drawing/2014/main" id="{F9BE3DBD-60CF-4004-8D77-5CFE8E38D43D}"/>
              </a:ext>
            </a:extLst>
          </p:cNvPr>
          <p:cNvGraphicFramePr>
            <a:graphicFrameLocks noGrp="1"/>
          </p:cNvGraphicFramePr>
          <p:nvPr>
            <p:extLst/>
          </p:nvPr>
        </p:nvGraphicFramePr>
        <p:xfrm>
          <a:off x="534403" y="1690688"/>
          <a:ext cx="11330019" cy="5109804"/>
        </p:xfrm>
        <a:graphic>
          <a:graphicData uri="http://schemas.openxmlformats.org/drawingml/2006/table">
            <a:tbl>
              <a:tblPr firstRow="1" bandRow="1">
                <a:tableStyleId>{D27102A9-8310-4765-A935-A1911B00CA55}</a:tableStyleId>
              </a:tblPr>
              <a:tblGrid>
                <a:gridCol w="925345">
                  <a:extLst>
                    <a:ext uri="{9D8B030D-6E8A-4147-A177-3AD203B41FA5}">
                      <a16:colId xmlns:a16="http://schemas.microsoft.com/office/drawing/2014/main" val="20000"/>
                    </a:ext>
                  </a:extLst>
                </a:gridCol>
                <a:gridCol w="3606822">
                  <a:extLst>
                    <a:ext uri="{9D8B030D-6E8A-4147-A177-3AD203B41FA5}">
                      <a16:colId xmlns:a16="http://schemas.microsoft.com/office/drawing/2014/main" val="20001"/>
                    </a:ext>
                  </a:extLst>
                </a:gridCol>
                <a:gridCol w="6797852">
                  <a:extLst>
                    <a:ext uri="{9D8B030D-6E8A-4147-A177-3AD203B41FA5}">
                      <a16:colId xmlns:a16="http://schemas.microsoft.com/office/drawing/2014/main" val="20002"/>
                    </a:ext>
                  </a:extLst>
                </a:gridCol>
              </a:tblGrid>
              <a:tr h="681858">
                <a:tc>
                  <a:txBody>
                    <a:bodyPr/>
                    <a:lstStyle/>
                    <a:p>
                      <a:pPr marL="184150">
                        <a:lnSpc>
                          <a:spcPct val="100000"/>
                        </a:lnSpc>
                        <a:spcBef>
                          <a:spcPts val="345"/>
                        </a:spcBef>
                      </a:pPr>
                      <a:r>
                        <a:rPr sz="2400" dirty="0"/>
                        <a:t>Sr.</a:t>
                      </a:r>
                    </a:p>
                    <a:p>
                      <a:pPr marL="150495">
                        <a:lnSpc>
                          <a:spcPct val="100000"/>
                        </a:lnSpc>
                      </a:pPr>
                      <a:r>
                        <a:rPr sz="2400" dirty="0"/>
                        <a:t>No.</a:t>
                      </a:r>
                      <a:endParaRPr sz="2400" dirty="0">
                        <a:latin typeface="Times New Roman" panose="02020603050405020304" pitchFamily="18" charset="0"/>
                        <a:cs typeface="Times New Roman" panose="02020603050405020304" pitchFamily="18" charset="0"/>
                      </a:endParaRPr>
                    </a:p>
                  </a:txBody>
                  <a:tcPr marL="0" marR="0" marT="38660" marB="0"/>
                </a:tc>
                <a:tc>
                  <a:txBody>
                    <a:bodyPr/>
                    <a:lstStyle/>
                    <a:p>
                      <a:pPr marL="376555">
                        <a:lnSpc>
                          <a:spcPct val="100000"/>
                        </a:lnSpc>
                        <a:spcBef>
                          <a:spcPts val="1305"/>
                        </a:spcBef>
                      </a:pPr>
                      <a:r>
                        <a:rPr sz="2400" dirty="0"/>
                        <a:t>Name of</a:t>
                      </a:r>
                      <a:r>
                        <a:rPr sz="2400" spc="-35" dirty="0"/>
                        <a:t> </a:t>
                      </a:r>
                      <a:r>
                        <a:rPr sz="2400" spc="-5" dirty="0"/>
                        <a:t>Register</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24130" algn="ctr">
                        <a:lnSpc>
                          <a:spcPct val="100000"/>
                        </a:lnSpc>
                        <a:spcBef>
                          <a:spcPts val="1305"/>
                        </a:spcBef>
                      </a:pPr>
                      <a:r>
                        <a:rPr sz="2400" spc="-10" dirty="0"/>
                        <a:t>Function</a:t>
                      </a:r>
                      <a:endParaRPr sz="2400" dirty="0">
                        <a:latin typeface="Times New Roman" panose="02020603050405020304" pitchFamily="18" charset="0"/>
                        <a:cs typeface="Times New Roman" panose="02020603050405020304" pitchFamily="18" charset="0"/>
                      </a:endParaRPr>
                    </a:p>
                  </a:txBody>
                  <a:tcPr marL="0" marR="0" marT="146237" marB="0"/>
                </a:tc>
                <a:extLst>
                  <a:ext uri="{0D108BD9-81ED-4DB2-BD59-A6C34878D82A}">
                    <a16:rowId xmlns:a16="http://schemas.microsoft.com/office/drawing/2014/main" val="10000"/>
                  </a:ext>
                </a:extLst>
              </a:tr>
              <a:tr h="776601">
                <a:tc>
                  <a:txBody>
                    <a:bodyPr/>
                    <a:lstStyle/>
                    <a:p>
                      <a:pPr marL="22860" algn="ctr">
                        <a:lnSpc>
                          <a:spcPct val="100000"/>
                        </a:lnSpc>
                        <a:spcBef>
                          <a:spcPts val="1300"/>
                        </a:spcBef>
                      </a:pPr>
                      <a:r>
                        <a:rPr sz="2400" dirty="0"/>
                        <a:t>1</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4775">
                        <a:lnSpc>
                          <a:spcPct val="100000"/>
                        </a:lnSpc>
                        <a:spcBef>
                          <a:spcPts val="1300"/>
                        </a:spcBef>
                      </a:pPr>
                      <a:r>
                        <a:rPr sz="2400" dirty="0"/>
                        <a:t>Memory </a:t>
                      </a:r>
                      <a:r>
                        <a:rPr sz="2400" spc="-5" dirty="0"/>
                        <a:t>Address</a:t>
                      </a:r>
                      <a:r>
                        <a:rPr sz="2400" spc="-10" dirty="0"/>
                        <a:t> </a:t>
                      </a:r>
                      <a:r>
                        <a:rPr sz="2400" dirty="0"/>
                        <a:t>(MAR)</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5410" marR="69215" algn="l">
                        <a:lnSpc>
                          <a:spcPct val="100000"/>
                        </a:lnSpc>
                        <a:spcBef>
                          <a:spcPts val="345"/>
                        </a:spcBef>
                        <a:tabLst>
                          <a:tab pos="830580" algn="l"/>
                          <a:tab pos="1783714" algn="l"/>
                          <a:tab pos="2133600" algn="l"/>
                          <a:tab pos="2618105" algn="l"/>
                          <a:tab pos="3376929" algn="l"/>
                        </a:tabLst>
                      </a:pPr>
                      <a:r>
                        <a:rPr sz="2400" spc="-10" dirty="0"/>
                        <a:t>H</a:t>
                      </a:r>
                      <a:r>
                        <a:rPr sz="2400" spc="0" dirty="0"/>
                        <a:t>o</a:t>
                      </a:r>
                      <a:r>
                        <a:rPr sz="2400" spc="-10" dirty="0"/>
                        <a:t>l</a:t>
                      </a:r>
                      <a:r>
                        <a:rPr sz="2400" spc="0" dirty="0"/>
                        <a:t>d</a:t>
                      </a:r>
                      <a:r>
                        <a:rPr sz="2400" dirty="0"/>
                        <a:t>s</a:t>
                      </a:r>
                      <a:r>
                        <a:rPr lang="en-US" sz="2400" dirty="0"/>
                        <a:t> </a:t>
                      </a:r>
                      <a:r>
                        <a:rPr sz="2400" spc="-10" dirty="0"/>
                        <a:t>a</a:t>
                      </a:r>
                      <a:r>
                        <a:rPr sz="2400" spc="-20" dirty="0"/>
                        <a:t>d</a:t>
                      </a:r>
                      <a:r>
                        <a:rPr sz="2400" spc="0" dirty="0"/>
                        <a:t>dr</a:t>
                      </a:r>
                      <a:r>
                        <a:rPr sz="2400" dirty="0"/>
                        <a:t>e</a:t>
                      </a:r>
                      <a:r>
                        <a:rPr sz="2400" spc="-25" dirty="0"/>
                        <a:t>s</a:t>
                      </a:r>
                      <a:r>
                        <a:rPr sz="2400" dirty="0"/>
                        <a:t>s</a:t>
                      </a:r>
                      <a:r>
                        <a:rPr lang="en-US" sz="2400" dirty="0"/>
                        <a:t> </a:t>
                      </a:r>
                      <a:r>
                        <a:rPr sz="2400" spc="-20" dirty="0"/>
                        <a:t>o</a:t>
                      </a:r>
                      <a:r>
                        <a:rPr sz="2400" dirty="0"/>
                        <a:t>f</a:t>
                      </a:r>
                      <a:r>
                        <a:rPr lang="en-US" sz="2400" dirty="0"/>
                        <a:t> </a:t>
                      </a:r>
                      <a:r>
                        <a:rPr sz="2400" spc="-10" dirty="0"/>
                        <a:t>th</a:t>
                      </a:r>
                      <a:r>
                        <a:rPr sz="2400" dirty="0"/>
                        <a:t>e</a:t>
                      </a:r>
                      <a:r>
                        <a:rPr lang="en-US" sz="2400" dirty="0"/>
                        <a:t> </a:t>
                      </a:r>
                      <a:r>
                        <a:rPr sz="2400" spc="-10" dirty="0"/>
                        <a:t>a</a:t>
                      </a:r>
                      <a:r>
                        <a:rPr sz="2400" dirty="0"/>
                        <a:t>c</a:t>
                      </a:r>
                      <a:r>
                        <a:rPr sz="2400" spc="-10" dirty="0"/>
                        <a:t>ti</a:t>
                      </a:r>
                      <a:r>
                        <a:rPr sz="2400" spc="-20" dirty="0"/>
                        <a:t>v</a:t>
                      </a:r>
                      <a:r>
                        <a:rPr sz="2400" dirty="0"/>
                        <a:t>e</a:t>
                      </a:r>
                      <a:r>
                        <a:rPr lang="en-US" sz="2400" dirty="0"/>
                        <a:t> </a:t>
                      </a:r>
                      <a:r>
                        <a:rPr sz="2400" dirty="0"/>
                        <a:t>me</a:t>
                      </a:r>
                      <a:r>
                        <a:rPr sz="2400" spc="-30" dirty="0"/>
                        <a:t>m</a:t>
                      </a:r>
                      <a:r>
                        <a:rPr sz="2400" spc="0" dirty="0"/>
                        <a:t>or</a:t>
                      </a:r>
                      <a:r>
                        <a:rPr sz="2400" dirty="0"/>
                        <a:t>y</a:t>
                      </a:r>
                      <a:r>
                        <a:rPr lang="en-US" sz="2400" dirty="0"/>
                        <a:t> </a:t>
                      </a:r>
                      <a:r>
                        <a:rPr sz="2400" spc="-5" dirty="0"/>
                        <a:t>location</a:t>
                      </a:r>
                      <a:endParaRPr sz="2400" dirty="0">
                        <a:latin typeface="Times New Roman" panose="02020603050405020304" pitchFamily="18" charset="0"/>
                        <a:cs typeface="Times New Roman" panose="02020603050405020304" pitchFamily="18" charset="0"/>
                      </a:endParaRPr>
                    </a:p>
                  </a:txBody>
                  <a:tcPr marL="0" marR="0" marT="38660" marB="0"/>
                </a:tc>
                <a:extLst>
                  <a:ext uri="{0D108BD9-81ED-4DB2-BD59-A6C34878D82A}">
                    <a16:rowId xmlns:a16="http://schemas.microsoft.com/office/drawing/2014/main" val="10001"/>
                  </a:ext>
                </a:extLst>
              </a:tr>
              <a:tr h="667404">
                <a:tc>
                  <a:txBody>
                    <a:bodyPr/>
                    <a:lstStyle/>
                    <a:p>
                      <a:pPr marL="22860" algn="ctr">
                        <a:lnSpc>
                          <a:spcPct val="100000"/>
                        </a:lnSpc>
                        <a:spcBef>
                          <a:spcPts val="1300"/>
                        </a:spcBef>
                      </a:pPr>
                      <a:r>
                        <a:rPr sz="2400" dirty="0"/>
                        <a:t>2</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4775">
                        <a:lnSpc>
                          <a:spcPct val="100000"/>
                        </a:lnSpc>
                        <a:spcBef>
                          <a:spcPts val="1300"/>
                        </a:spcBef>
                      </a:pPr>
                      <a:r>
                        <a:rPr sz="2400" dirty="0"/>
                        <a:t>Memory </a:t>
                      </a:r>
                      <a:r>
                        <a:rPr sz="2400" spc="-5" dirty="0"/>
                        <a:t>Buffer</a:t>
                      </a:r>
                      <a:r>
                        <a:rPr sz="2400" dirty="0"/>
                        <a:t> </a:t>
                      </a:r>
                      <a:r>
                        <a:rPr sz="2400" spc="-5" dirty="0"/>
                        <a:t>(MBR)</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5410" marR="69215" algn="l">
                        <a:lnSpc>
                          <a:spcPct val="101299"/>
                        </a:lnSpc>
                        <a:spcBef>
                          <a:spcPts val="320"/>
                        </a:spcBef>
                        <a:tabLst>
                          <a:tab pos="982980" algn="l"/>
                          <a:tab pos="2167890" algn="l"/>
                          <a:tab pos="2673350" algn="l"/>
                          <a:tab pos="3310254" algn="l"/>
                        </a:tabLst>
                      </a:pPr>
                      <a:r>
                        <a:rPr sz="2400" spc="-10" dirty="0"/>
                        <a:t>H</a:t>
                      </a:r>
                      <a:r>
                        <a:rPr sz="2400" spc="0" dirty="0"/>
                        <a:t>o</a:t>
                      </a:r>
                      <a:r>
                        <a:rPr sz="2400" spc="-10" dirty="0"/>
                        <a:t>l</a:t>
                      </a:r>
                      <a:r>
                        <a:rPr sz="2400" spc="0" dirty="0"/>
                        <a:t>d</a:t>
                      </a:r>
                      <a:r>
                        <a:rPr sz="2400" dirty="0"/>
                        <a:t>s</a:t>
                      </a:r>
                      <a:r>
                        <a:rPr lang="en-US" sz="2400" dirty="0"/>
                        <a:t> </a:t>
                      </a:r>
                      <a:r>
                        <a:rPr sz="2400" dirty="0"/>
                        <a:t>c</a:t>
                      </a:r>
                      <a:r>
                        <a:rPr sz="2400" spc="0" dirty="0"/>
                        <a:t>o</a:t>
                      </a:r>
                      <a:r>
                        <a:rPr sz="2400" spc="-10" dirty="0"/>
                        <a:t>nt</a:t>
                      </a:r>
                      <a:r>
                        <a:rPr sz="2400" dirty="0"/>
                        <a:t>e</a:t>
                      </a:r>
                      <a:r>
                        <a:rPr sz="2400" spc="-10" dirty="0"/>
                        <a:t>nt</a:t>
                      </a:r>
                      <a:r>
                        <a:rPr sz="2400" dirty="0"/>
                        <a:t>s</a:t>
                      </a:r>
                      <a:r>
                        <a:rPr lang="en-US" sz="2400" dirty="0"/>
                        <a:t> </a:t>
                      </a:r>
                      <a:r>
                        <a:rPr sz="2400" spc="-20" dirty="0"/>
                        <a:t>o</a:t>
                      </a:r>
                      <a:r>
                        <a:rPr sz="2400" dirty="0"/>
                        <a:t>f</a:t>
                      </a:r>
                      <a:r>
                        <a:rPr lang="en-US" sz="2400" dirty="0"/>
                        <a:t> </a:t>
                      </a:r>
                      <a:r>
                        <a:rPr sz="2400" spc="-10" dirty="0"/>
                        <a:t>th</a:t>
                      </a:r>
                      <a:r>
                        <a:rPr sz="2400" dirty="0"/>
                        <a:t>e</a:t>
                      </a:r>
                      <a:r>
                        <a:rPr lang="en-US" sz="2400" dirty="0"/>
                        <a:t> </a:t>
                      </a:r>
                      <a:r>
                        <a:rPr sz="2400" spc="-10" dirty="0"/>
                        <a:t>a</a:t>
                      </a:r>
                      <a:r>
                        <a:rPr sz="2400" dirty="0"/>
                        <a:t>cces</a:t>
                      </a:r>
                      <a:r>
                        <a:rPr sz="2400" spc="-25" dirty="0"/>
                        <a:t>s</a:t>
                      </a:r>
                      <a:r>
                        <a:rPr sz="2400" dirty="0"/>
                        <a:t>ed </a:t>
                      </a:r>
                      <a:r>
                        <a:rPr sz="2400" spc="-5" dirty="0"/>
                        <a:t>(read/written)</a:t>
                      </a:r>
                      <a:r>
                        <a:rPr lang="en-US" sz="2400" spc="-5" dirty="0"/>
                        <a:t> </a:t>
                      </a:r>
                      <a:r>
                        <a:rPr sz="2400" dirty="0"/>
                        <a:t>memory</a:t>
                      </a:r>
                      <a:r>
                        <a:rPr sz="2400" spc="-30" dirty="0"/>
                        <a:t> </a:t>
                      </a:r>
                      <a:r>
                        <a:rPr sz="2400" spc="-5" dirty="0"/>
                        <a:t>word</a:t>
                      </a:r>
                      <a:endParaRPr sz="2400" dirty="0">
                        <a:latin typeface="Times New Roman" panose="02020603050405020304" pitchFamily="18" charset="0"/>
                        <a:cs typeface="Times New Roman" panose="02020603050405020304" pitchFamily="18" charset="0"/>
                      </a:endParaRPr>
                    </a:p>
                  </a:txBody>
                  <a:tcPr marL="0" marR="0" marT="35859" marB="0"/>
                </a:tc>
                <a:extLst>
                  <a:ext uri="{0D108BD9-81ED-4DB2-BD59-A6C34878D82A}">
                    <a16:rowId xmlns:a16="http://schemas.microsoft.com/office/drawing/2014/main" val="10002"/>
                  </a:ext>
                </a:extLst>
              </a:tr>
              <a:tr h="667404">
                <a:tc>
                  <a:txBody>
                    <a:bodyPr/>
                    <a:lstStyle/>
                    <a:p>
                      <a:pPr marL="22860" algn="ctr">
                        <a:lnSpc>
                          <a:spcPct val="100000"/>
                        </a:lnSpc>
                        <a:spcBef>
                          <a:spcPts val="1305"/>
                        </a:spcBef>
                      </a:pPr>
                      <a:r>
                        <a:rPr sz="2400" dirty="0"/>
                        <a:t>3</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4775">
                        <a:lnSpc>
                          <a:spcPct val="100000"/>
                        </a:lnSpc>
                        <a:spcBef>
                          <a:spcPts val="1305"/>
                        </a:spcBef>
                      </a:pPr>
                      <a:r>
                        <a:rPr sz="2400" dirty="0"/>
                        <a:t>Program </a:t>
                      </a:r>
                      <a:r>
                        <a:rPr sz="2400" spc="-5" dirty="0"/>
                        <a:t>Control</a:t>
                      </a:r>
                      <a:r>
                        <a:rPr sz="2400" spc="-40" dirty="0"/>
                        <a:t> </a:t>
                      </a:r>
                      <a:r>
                        <a:rPr sz="2400" spc="-5" dirty="0"/>
                        <a:t>(PC)</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5410" marR="68580" algn="l">
                        <a:lnSpc>
                          <a:spcPct val="101299"/>
                        </a:lnSpc>
                        <a:spcBef>
                          <a:spcPts val="320"/>
                        </a:spcBef>
                      </a:pPr>
                      <a:r>
                        <a:rPr sz="2400" dirty="0"/>
                        <a:t>Holds </a:t>
                      </a:r>
                      <a:r>
                        <a:rPr sz="2400" spc="-5" dirty="0"/>
                        <a:t>address </a:t>
                      </a:r>
                      <a:r>
                        <a:rPr sz="2400" dirty="0"/>
                        <a:t>of </a:t>
                      </a:r>
                      <a:r>
                        <a:rPr sz="2400" spc="-5" dirty="0"/>
                        <a:t>the next instruction to  </a:t>
                      </a:r>
                      <a:r>
                        <a:rPr sz="2400" dirty="0"/>
                        <a:t>be</a:t>
                      </a:r>
                      <a:r>
                        <a:rPr sz="2400" spc="-20" dirty="0"/>
                        <a:t> </a:t>
                      </a:r>
                      <a:r>
                        <a:rPr sz="2400" spc="-5" dirty="0"/>
                        <a:t>executed</a:t>
                      </a:r>
                      <a:endParaRPr sz="2400" dirty="0">
                        <a:latin typeface="Times New Roman" panose="02020603050405020304" pitchFamily="18" charset="0"/>
                        <a:cs typeface="Times New Roman" panose="02020603050405020304" pitchFamily="18" charset="0"/>
                      </a:endParaRPr>
                    </a:p>
                  </a:txBody>
                  <a:tcPr marL="0" marR="0" marT="35859" marB="0"/>
                </a:tc>
                <a:extLst>
                  <a:ext uri="{0D108BD9-81ED-4DB2-BD59-A6C34878D82A}">
                    <a16:rowId xmlns:a16="http://schemas.microsoft.com/office/drawing/2014/main" val="10003"/>
                  </a:ext>
                </a:extLst>
              </a:tr>
              <a:tr h="683842">
                <a:tc>
                  <a:txBody>
                    <a:bodyPr/>
                    <a:lstStyle/>
                    <a:p>
                      <a:pPr marL="22860" algn="ctr">
                        <a:lnSpc>
                          <a:spcPct val="100000"/>
                        </a:lnSpc>
                        <a:spcBef>
                          <a:spcPts val="1305"/>
                        </a:spcBef>
                      </a:pPr>
                      <a:r>
                        <a:rPr sz="2400" dirty="0"/>
                        <a:t>4</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4775">
                        <a:lnSpc>
                          <a:spcPct val="100000"/>
                        </a:lnSpc>
                        <a:spcBef>
                          <a:spcPts val="1305"/>
                        </a:spcBef>
                      </a:pPr>
                      <a:r>
                        <a:rPr sz="2400" spc="-5" dirty="0"/>
                        <a:t>Accumulator</a:t>
                      </a:r>
                      <a:r>
                        <a:rPr sz="2400" spc="5" dirty="0"/>
                        <a:t> </a:t>
                      </a:r>
                      <a:r>
                        <a:rPr sz="2400" spc="-5" dirty="0"/>
                        <a:t>(A</a:t>
                      </a:r>
                      <a:r>
                        <a:rPr lang="en-US" sz="2400" spc="-5" dirty="0"/>
                        <a:t>C</a:t>
                      </a:r>
                      <a:r>
                        <a:rPr sz="2400" spc="-5" dirty="0"/>
                        <a:t>)</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5410" marR="65405" algn="l">
                        <a:lnSpc>
                          <a:spcPct val="100000"/>
                        </a:lnSpc>
                        <a:spcBef>
                          <a:spcPts val="365"/>
                        </a:spcBef>
                        <a:tabLst>
                          <a:tab pos="906780" algn="l"/>
                          <a:tab pos="1590040" algn="l"/>
                          <a:tab pos="2025650" algn="l"/>
                          <a:tab pos="2506980" algn="l"/>
                          <a:tab pos="3646804" algn="l"/>
                        </a:tabLst>
                      </a:pPr>
                      <a:r>
                        <a:rPr sz="2400" spc="-10" dirty="0"/>
                        <a:t>H</a:t>
                      </a:r>
                      <a:r>
                        <a:rPr sz="2400" spc="0" dirty="0"/>
                        <a:t>o</a:t>
                      </a:r>
                      <a:r>
                        <a:rPr sz="2400" spc="-10" dirty="0"/>
                        <a:t>l</a:t>
                      </a:r>
                      <a:r>
                        <a:rPr sz="2400" spc="0" dirty="0"/>
                        <a:t>d</a:t>
                      </a:r>
                      <a:r>
                        <a:rPr sz="2400" dirty="0"/>
                        <a:t>s</a:t>
                      </a:r>
                      <a:r>
                        <a:rPr lang="en-US" sz="2400" dirty="0"/>
                        <a:t> </a:t>
                      </a:r>
                      <a:r>
                        <a:rPr sz="2400" spc="0" dirty="0"/>
                        <a:t>d</a:t>
                      </a:r>
                      <a:r>
                        <a:rPr sz="2400" spc="-10" dirty="0"/>
                        <a:t>at</a:t>
                      </a:r>
                      <a:r>
                        <a:rPr sz="2400" dirty="0"/>
                        <a:t>a</a:t>
                      </a:r>
                      <a:r>
                        <a:rPr lang="en-US" sz="2400" dirty="0"/>
                        <a:t> </a:t>
                      </a:r>
                      <a:r>
                        <a:rPr sz="2400" spc="-5" dirty="0"/>
                        <a:t>intermediate</a:t>
                      </a:r>
                      <a:r>
                        <a:rPr lang="en-US" sz="2400" spc="-5" dirty="0"/>
                        <a:t> </a:t>
                      </a:r>
                      <a:r>
                        <a:rPr sz="2400" dirty="0"/>
                        <a:t>results, </a:t>
                      </a:r>
                      <a:r>
                        <a:rPr sz="2400" spc="-5" dirty="0"/>
                        <a:t>and the</a:t>
                      </a:r>
                      <a:r>
                        <a:rPr sz="2400" spc="-35" dirty="0"/>
                        <a:t> </a:t>
                      </a:r>
                      <a:r>
                        <a:rPr sz="2400" spc="-5" dirty="0"/>
                        <a:t>results</a:t>
                      </a:r>
                      <a:endParaRPr sz="2400" dirty="0">
                        <a:latin typeface="Times New Roman" panose="02020603050405020304" pitchFamily="18" charset="0"/>
                        <a:cs typeface="Times New Roman" panose="02020603050405020304" pitchFamily="18" charset="0"/>
                      </a:endParaRPr>
                    </a:p>
                  </a:txBody>
                  <a:tcPr marL="0" marR="0" marT="40901" marB="0"/>
                </a:tc>
                <a:extLst>
                  <a:ext uri="{0D108BD9-81ED-4DB2-BD59-A6C34878D82A}">
                    <a16:rowId xmlns:a16="http://schemas.microsoft.com/office/drawing/2014/main" val="10004"/>
                  </a:ext>
                </a:extLst>
              </a:tr>
              <a:tr h="508963">
                <a:tc>
                  <a:txBody>
                    <a:bodyPr/>
                    <a:lstStyle/>
                    <a:p>
                      <a:pPr marL="22860" algn="ctr">
                        <a:lnSpc>
                          <a:spcPct val="100000"/>
                        </a:lnSpc>
                        <a:spcBef>
                          <a:spcPts val="1300"/>
                        </a:spcBef>
                      </a:pPr>
                      <a:r>
                        <a:rPr sz="2400" dirty="0"/>
                        <a:t>5</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4775">
                        <a:lnSpc>
                          <a:spcPct val="100000"/>
                        </a:lnSpc>
                        <a:spcBef>
                          <a:spcPts val="1300"/>
                        </a:spcBef>
                      </a:pPr>
                      <a:r>
                        <a:rPr sz="2400" dirty="0"/>
                        <a:t>Instruction</a:t>
                      </a:r>
                      <a:r>
                        <a:rPr sz="2400" spc="-5" dirty="0"/>
                        <a:t> (I)</a:t>
                      </a:r>
                      <a:endParaRPr sz="2400" dirty="0">
                        <a:latin typeface="Times New Roman" panose="02020603050405020304" pitchFamily="18" charset="0"/>
                        <a:cs typeface="Times New Roman" panose="02020603050405020304" pitchFamily="18" charset="0"/>
                      </a:endParaRPr>
                    </a:p>
                  </a:txBody>
                  <a:tcPr marL="0" marR="0" marT="145676" marB="0"/>
                </a:tc>
                <a:tc>
                  <a:txBody>
                    <a:bodyPr/>
                    <a:lstStyle/>
                    <a:p>
                      <a:pPr marL="105410" marR="69215" algn="l">
                        <a:lnSpc>
                          <a:spcPct val="100000"/>
                        </a:lnSpc>
                        <a:spcBef>
                          <a:spcPts val="365"/>
                        </a:spcBef>
                        <a:tabLst>
                          <a:tab pos="815340" algn="l"/>
                          <a:tab pos="1205230" algn="l"/>
                          <a:tab pos="2426970" algn="l"/>
                          <a:tab pos="3093085" algn="l"/>
                          <a:tab pos="3364229" algn="l"/>
                          <a:tab pos="3665854" algn="l"/>
                        </a:tabLst>
                      </a:pPr>
                      <a:r>
                        <a:rPr sz="2400" spc="-10" dirty="0"/>
                        <a:t>H</a:t>
                      </a:r>
                      <a:r>
                        <a:rPr sz="2400" spc="0" dirty="0"/>
                        <a:t>o</a:t>
                      </a:r>
                      <a:r>
                        <a:rPr sz="2400" spc="-10" dirty="0"/>
                        <a:t>l</a:t>
                      </a:r>
                      <a:r>
                        <a:rPr sz="2400" spc="0" dirty="0"/>
                        <a:t>d</a:t>
                      </a:r>
                      <a:r>
                        <a:rPr sz="2400" dirty="0"/>
                        <a:t>s</a:t>
                      </a:r>
                      <a:r>
                        <a:rPr lang="en-US" sz="2400" dirty="0"/>
                        <a:t> </a:t>
                      </a:r>
                      <a:r>
                        <a:rPr sz="2400" spc="-10" dirty="0"/>
                        <a:t>a</a:t>
                      </a:r>
                      <a:r>
                        <a:rPr sz="2400" dirty="0"/>
                        <a:t>n</a:t>
                      </a:r>
                      <a:r>
                        <a:rPr lang="en-US" sz="2400" dirty="0"/>
                        <a:t> </a:t>
                      </a:r>
                      <a:r>
                        <a:rPr sz="2400" spc="-10" dirty="0"/>
                        <a:t>in</a:t>
                      </a:r>
                      <a:r>
                        <a:rPr sz="2400" dirty="0"/>
                        <a:t>s</a:t>
                      </a:r>
                      <a:r>
                        <a:rPr sz="2400" spc="-10" dirty="0"/>
                        <a:t>t</a:t>
                      </a:r>
                      <a:r>
                        <a:rPr sz="2400" spc="0" dirty="0"/>
                        <a:t>r</a:t>
                      </a:r>
                      <a:r>
                        <a:rPr sz="2400" spc="-10" dirty="0"/>
                        <a:t>u</a:t>
                      </a:r>
                      <a:r>
                        <a:rPr sz="2400" dirty="0"/>
                        <a:t>c</a:t>
                      </a:r>
                      <a:r>
                        <a:rPr sz="2400" spc="-10" dirty="0"/>
                        <a:t>ti</a:t>
                      </a:r>
                      <a:r>
                        <a:rPr sz="2400" spc="0" dirty="0"/>
                        <a:t>o</a:t>
                      </a:r>
                      <a:r>
                        <a:rPr sz="2400" dirty="0"/>
                        <a:t>n</a:t>
                      </a:r>
                      <a:r>
                        <a:rPr lang="en-US" sz="2400" dirty="0"/>
                        <a:t> </a:t>
                      </a:r>
                      <a:r>
                        <a:rPr sz="2400" dirty="0"/>
                        <a:t>w</a:t>
                      </a:r>
                      <a:r>
                        <a:rPr sz="2400" spc="-10" dirty="0"/>
                        <a:t>hil</a:t>
                      </a:r>
                      <a:r>
                        <a:rPr sz="2400" dirty="0"/>
                        <a:t>e	</a:t>
                      </a:r>
                      <a:r>
                        <a:rPr sz="2400" spc="-35" dirty="0"/>
                        <a:t>i</a:t>
                      </a:r>
                      <a:r>
                        <a:rPr sz="2400" dirty="0"/>
                        <a:t>t	</a:t>
                      </a:r>
                      <a:r>
                        <a:rPr sz="2400" spc="-10" dirty="0"/>
                        <a:t>i</a:t>
                      </a:r>
                      <a:r>
                        <a:rPr sz="2400" dirty="0"/>
                        <a:t>s</a:t>
                      </a:r>
                      <a:r>
                        <a:rPr lang="en-US" sz="2400" dirty="0"/>
                        <a:t> </a:t>
                      </a:r>
                      <a:r>
                        <a:rPr sz="2400" spc="0" dirty="0"/>
                        <a:t>b</a:t>
                      </a:r>
                      <a:r>
                        <a:rPr sz="2400" dirty="0"/>
                        <a:t>e</a:t>
                      </a:r>
                      <a:r>
                        <a:rPr sz="2400" spc="-10" dirty="0"/>
                        <a:t>in</a:t>
                      </a:r>
                      <a:r>
                        <a:rPr sz="2400" dirty="0"/>
                        <a:t>g  </a:t>
                      </a:r>
                      <a:r>
                        <a:rPr sz="2400" spc="-5" dirty="0"/>
                        <a:t>executed</a:t>
                      </a:r>
                      <a:endParaRPr sz="2400" dirty="0">
                        <a:latin typeface="Times New Roman" panose="02020603050405020304" pitchFamily="18" charset="0"/>
                        <a:cs typeface="Times New Roman" panose="02020603050405020304" pitchFamily="18" charset="0"/>
                      </a:endParaRPr>
                    </a:p>
                  </a:txBody>
                  <a:tcPr marL="0" marR="0" marT="40901" marB="0"/>
                </a:tc>
                <a:extLst>
                  <a:ext uri="{0D108BD9-81ED-4DB2-BD59-A6C34878D82A}">
                    <a16:rowId xmlns:a16="http://schemas.microsoft.com/office/drawing/2014/main" val="10005"/>
                  </a:ext>
                </a:extLst>
              </a:tr>
              <a:tr h="511756">
                <a:tc>
                  <a:txBody>
                    <a:bodyPr/>
                    <a:lstStyle/>
                    <a:p>
                      <a:pPr marL="22860" algn="ctr">
                        <a:lnSpc>
                          <a:spcPct val="100000"/>
                        </a:lnSpc>
                        <a:spcBef>
                          <a:spcPts val="1305"/>
                        </a:spcBef>
                      </a:pPr>
                      <a:r>
                        <a:rPr sz="2400" dirty="0"/>
                        <a:t>6</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4775">
                        <a:lnSpc>
                          <a:spcPct val="100000"/>
                        </a:lnSpc>
                        <a:spcBef>
                          <a:spcPts val="1305"/>
                        </a:spcBef>
                      </a:pPr>
                      <a:r>
                        <a:rPr sz="2400" spc="-5" dirty="0"/>
                        <a:t>Input/Output (I/O)</a:t>
                      </a:r>
                      <a:endParaRPr sz="2400" dirty="0">
                        <a:latin typeface="Times New Roman" panose="02020603050405020304" pitchFamily="18" charset="0"/>
                        <a:cs typeface="Times New Roman" panose="02020603050405020304" pitchFamily="18" charset="0"/>
                      </a:endParaRPr>
                    </a:p>
                  </a:txBody>
                  <a:tcPr marL="0" marR="0" marT="146237" marB="0"/>
                </a:tc>
                <a:tc>
                  <a:txBody>
                    <a:bodyPr/>
                    <a:lstStyle/>
                    <a:p>
                      <a:pPr marL="105410" marR="66675" algn="l">
                        <a:lnSpc>
                          <a:spcPct val="100000"/>
                        </a:lnSpc>
                        <a:spcBef>
                          <a:spcPts val="365"/>
                        </a:spcBef>
                        <a:tabLst>
                          <a:tab pos="802640" algn="l"/>
                          <a:tab pos="1196340" algn="l"/>
                          <a:tab pos="2754630" algn="l"/>
                          <a:tab pos="3372485" algn="l"/>
                          <a:tab pos="3887470" algn="l"/>
                        </a:tabLst>
                      </a:pPr>
                      <a:r>
                        <a:rPr sz="2400" dirty="0"/>
                        <a:t>Used</a:t>
                      </a:r>
                      <a:r>
                        <a:rPr lang="en-US" sz="2400" dirty="0"/>
                        <a:t> </a:t>
                      </a:r>
                      <a:r>
                        <a:rPr sz="2400" spc="-35" dirty="0"/>
                        <a:t>t</a:t>
                      </a:r>
                      <a:r>
                        <a:rPr sz="2400" dirty="0"/>
                        <a:t>o</a:t>
                      </a:r>
                      <a:r>
                        <a:rPr lang="en-US" sz="2400" dirty="0"/>
                        <a:t> </a:t>
                      </a:r>
                      <a:r>
                        <a:rPr sz="2400" spc="-25" dirty="0"/>
                        <a:t>c</a:t>
                      </a:r>
                      <a:r>
                        <a:rPr sz="2400" spc="0" dirty="0"/>
                        <a:t>o</a:t>
                      </a:r>
                      <a:r>
                        <a:rPr sz="2400" dirty="0"/>
                        <a:t>mm</a:t>
                      </a:r>
                      <a:r>
                        <a:rPr sz="2400" spc="-10" dirty="0"/>
                        <a:t>uni</a:t>
                      </a:r>
                      <a:r>
                        <a:rPr sz="2400" dirty="0"/>
                        <a:t>c</a:t>
                      </a:r>
                      <a:r>
                        <a:rPr sz="2400" spc="-10" dirty="0"/>
                        <a:t>at</a:t>
                      </a:r>
                      <a:r>
                        <a:rPr sz="2400" dirty="0"/>
                        <a:t>e</a:t>
                      </a:r>
                      <a:r>
                        <a:rPr lang="en-US" sz="2400" dirty="0"/>
                        <a:t> </a:t>
                      </a:r>
                      <a:r>
                        <a:rPr sz="2400" dirty="0"/>
                        <a:t>w</a:t>
                      </a:r>
                      <a:r>
                        <a:rPr sz="2400" spc="-10" dirty="0"/>
                        <a:t>it</a:t>
                      </a:r>
                      <a:r>
                        <a:rPr sz="2400" dirty="0"/>
                        <a:t>h</a:t>
                      </a:r>
                      <a:r>
                        <a:rPr lang="en-US" sz="2400" dirty="0"/>
                        <a:t>  </a:t>
                      </a:r>
                      <a:r>
                        <a:rPr sz="2400" spc="-10" dirty="0"/>
                        <a:t>th</a:t>
                      </a:r>
                      <a:r>
                        <a:rPr sz="2400" dirty="0"/>
                        <a:t>e</a:t>
                      </a:r>
                      <a:r>
                        <a:rPr lang="en-US" sz="2400" dirty="0"/>
                        <a:t> </a:t>
                      </a:r>
                      <a:r>
                        <a:rPr sz="2400" spc="10" dirty="0"/>
                        <a:t>I</a:t>
                      </a:r>
                      <a:r>
                        <a:rPr sz="2400" spc="-15" dirty="0"/>
                        <a:t>/</a:t>
                      </a:r>
                      <a:r>
                        <a:rPr sz="2400" dirty="0"/>
                        <a:t>O  </a:t>
                      </a:r>
                      <a:r>
                        <a:rPr sz="2400" spc="-5" dirty="0"/>
                        <a:t>devices</a:t>
                      </a:r>
                      <a:endParaRPr sz="2400" dirty="0">
                        <a:latin typeface="Times New Roman" panose="02020603050405020304" pitchFamily="18" charset="0"/>
                        <a:cs typeface="Times New Roman" panose="02020603050405020304" pitchFamily="18" charset="0"/>
                      </a:endParaRPr>
                    </a:p>
                  </a:txBody>
                  <a:tcPr marL="0" marR="0" marT="40901"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23664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6E9C8-1BBB-43FE-8C63-289C6B99B3DA}"/>
              </a:ext>
            </a:extLst>
          </p:cNvPr>
          <p:cNvSpPr>
            <a:spLocks noGrp="1"/>
          </p:cNvSpPr>
          <p:nvPr>
            <p:ph type="title"/>
          </p:nvPr>
        </p:nvSpPr>
        <p:spPr/>
        <p:txBody>
          <a:bodyPr/>
          <a:lstStyle/>
          <a:p>
            <a:r>
              <a:rPr lang="en-US" dirty="0"/>
              <a:t>CPU Registers</a:t>
            </a:r>
            <a:endParaRPr lang="LID4096" dirty="0"/>
          </a:p>
        </p:txBody>
      </p:sp>
      <p:sp>
        <p:nvSpPr>
          <p:cNvPr id="3" name="Content Placeholder 2">
            <a:extLst>
              <a:ext uri="{FF2B5EF4-FFF2-40B4-BE49-F238E27FC236}">
                <a16:creationId xmlns:a16="http://schemas.microsoft.com/office/drawing/2014/main" id="{8D47104E-B71F-47B3-8C92-13321A370FFE}"/>
              </a:ext>
            </a:extLst>
          </p:cNvPr>
          <p:cNvSpPr>
            <a:spLocks noGrp="1"/>
          </p:cNvSpPr>
          <p:nvPr>
            <p:ph idx="1"/>
          </p:nvPr>
        </p:nvSpPr>
        <p:spPr>
          <a:xfrm>
            <a:off x="1045028" y="1825625"/>
            <a:ext cx="10940143" cy="4667250"/>
          </a:xfrm>
        </p:spPr>
        <p:txBody>
          <a:bodyPr>
            <a:normAutofit/>
          </a:bodyPr>
          <a:lstStyle/>
          <a:p>
            <a:pPr fontAlgn="base"/>
            <a:r>
              <a:rPr lang="en-US" b="1" dirty="0">
                <a:solidFill>
                  <a:srgbClr val="0070C0"/>
                </a:solidFill>
              </a:rPr>
              <a:t>Accumulator:</a:t>
            </a:r>
            <a:r>
              <a:rPr lang="en-US" dirty="0"/>
              <a:t> Stores the results of calculations made by ALU.</a:t>
            </a:r>
          </a:p>
          <a:p>
            <a:pPr fontAlgn="base"/>
            <a:r>
              <a:rPr lang="en-US" b="1" dirty="0">
                <a:solidFill>
                  <a:srgbClr val="0070C0"/>
                </a:solidFill>
              </a:rPr>
              <a:t>Program Counter (PC):</a:t>
            </a:r>
            <a:r>
              <a:rPr lang="en-US" dirty="0"/>
              <a:t> Keeps track of the memory location of the next instructions to be dealt with. The PC then passes this next address to Memory Address Register (MAR).</a:t>
            </a:r>
          </a:p>
          <a:p>
            <a:pPr fontAlgn="base"/>
            <a:r>
              <a:rPr lang="en-US" b="1" dirty="0">
                <a:solidFill>
                  <a:srgbClr val="0070C0"/>
                </a:solidFill>
              </a:rPr>
              <a:t>Memory Address Register (MAR):</a:t>
            </a:r>
            <a:r>
              <a:rPr lang="en-US" dirty="0"/>
              <a:t> Holds the address of the location in memory, which contains data, that is required by the current instruction being executed. simply MAR points to the memory location that contains data required.</a:t>
            </a:r>
          </a:p>
          <a:p>
            <a:pPr fontAlgn="base"/>
            <a:r>
              <a:rPr lang="en-US" b="1" dirty="0">
                <a:solidFill>
                  <a:srgbClr val="0070C0"/>
                </a:solidFill>
              </a:rPr>
              <a:t>Memory Data Register (MDR):</a:t>
            </a:r>
            <a:r>
              <a:rPr lang="en-US" dirty="0"/>
              <a:t> It stores instructions fetched from memory or any data that is to be transferred to, and stored in, memory.</a:t>
            </a:r>
          </a:p>
          <a:p>
            <a:pPr fontAlgn="base"/>
            <a:r>
              <a:rPr lang="en-US" b="1" dirty="0">
                <a:solidFill>
                  <a:srgbClr val="0070C0"/>
                </a:solidFill>
              </a:rPr>
              <a:t>Current Instruction Register (CIR):</a:t>
            </a:r>
            <a:r>
              <a:rPr lang="en-US" dirty="0"/>
              <a:t> Holds the </a:t>
            </a:r>
            <a:r>
              <a:rPr lang="en-US" b="1" dirty="0"/>
              <a:t>instruction</a:t>
            </a:r>
            <a:r>
              <a:rPr lang="en-US" dirty="0"/>
              <a:t> currently being executed or decoded.</a:t>
            </a:r>
          </a:p>
          <a:p>
            <a:pPr fontAlgn="base"/>
            <a:r>
              <a:rPr lang="en-US" b="1" dirty="0">
                <a:solidFill>
                  <a:srgbClr val="0070C0"/>
                </a:solidFill>
              </a:rPr>
              <a:t>Instruction Buffer Register (IBR):</a:t>
            </a:r>
            <a:r>
              <a:rPr lang="en-US" dirty="0"/>
              <a:t> The instruction that is not to be executed immediately is placed in the instruction buffer register IBR.</a:t>
            </a:r>
          </a:p>
          <a:p>
            <a:endParaRPr lang="en-US" dirty="0"/>
          </a:p>
          <a:p>
            <a:endParaRPr lang="LID4096" dirty="0"/>
          </a:p>
        </p:txBody>
      </p:sp>
    </p:spTree>
    <p:extLst>
      <p:ext uri="{BB962C8B-B14F-4D97-AF65-F5344CB8AC3E}">
        <p14:creationId xmlns:p14="http://schemas.microsoft.com/office/powerpoint/2010/main" val="396780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95380-33E5-45FB-BDE6-C186E9D99A34}"/>
              </a:ext>
            </a:extLst>
          </p:cNvPr>
          <p:cNvSpPr>
            <a:spLocks noGrp="1"/>
          </p:cNvSpPr>
          <p:nvPr>
            <p:ph type="title"/>
          </p:nvPr>
        </p:nvSpPr>
        <p:spPr>
          <a:xfrm>
            <a:off x="862148" y="0"/>
            <a:ext cx="10158549" cy="1371600"/>
          </a:xfrm>
        </p:spPr>
        <p:txBody>
          <a:bodyPr/>
          <a:lstStyle/>
          <a:p>
            <a:r>
              <a:rPr lang="en-US" dirty="0"/>
              <a:t>CPU Registers</a:t>
            </a:r>
            <a:endParaRPr lang="LID4096" dirty="0"/>
          </a:p>
        </p:txBody>
      </p:sp>
      <p:pic>
        <p:nvPicPr>
          <p:cNvPr id="4" name="Picture 2" descr="https://cdncontribute.geeksforgeeks.org/wp-content/uploads/vn_cpu.png">
            <a:extLst>
              <a:ext uri="{FF2B5EF4-FFF2-40B4-BE49-F238E27FC236}">
                <a16:creationId xmlns:a16="http://schemas.microsoft.com/office/drawing/2014/main" id="{25F85E5B-F6FF-48DC-BF24-66F75F11AD3C}"/>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59472" y="1077203"/>
            <a:ext cx="9073056" cy="541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951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C7797-1242-4C38-A4DC-8BD44DA640D9}"/>
              </a:ext>
            </a:extLst>
          </p:cNvPr>
          <p:cNvSpPr>
            <a:spLocks noGrp="1"/>
          </p:cNvSpPr>
          <p:nvPr>
            <p:ph type="title"/>
          </p:nvPr>
        </p:nvSpPr>
        <p:spPr/>
        <p:txBody>
          <a:bodyPr/>
          <a:lstStyle/>
          <a:p>
            <a:r>
              <a:rPr lang="en-US" spc="-9" dirty="0"/>
              <a:t>Fetch decode execute cycle</a:t>
            </a:r>
            <a:endParaRPr lang="LID4096" dirty="0"/>
          </a:p>
        </p:txBody>
      </p:sp>
      <p:sp>
        <p:nvSpPr>
          <p:cNvPr id="3" name="Content Placeholder 2">
            <a:extLst>
              <a:ext uri="{FF2B5EF4-FFF2-40B4-BE49-F238E27FC236}">
                <a16:creationId xmlns:a16="http://schemas.microsoft.com/office/drawing/2014/main" id="{0EABD3B9-28AD-4ADC-A7DA-4FE8CC5FC522}"/>
              </a:ext>
            </a:extLst>
          </p:cNvPr>
          <p:cNvSpPr>
            <a:spLocks noGrp="1"/>
          </p:cNvSpPr>
          <p:nvPr>
            <p:ph idx="1"/>
          </p:nvPr>
        </p:nvSpPr>
        <p:spPr/>
        <p:txBody>
          <a:bodyPr>
            <a:normAutofit/>
          </a:bodyPr>
          <a:lstStyle/>
          <a:p>
            <a:r>
              <a:rPr lang="en-US" b="1" u="sng" dirty="0"/>
              <a:t>Fetch :</a:t>
            </a:r>
          </a:p>
          <a:p>
            <a:pPr algn="ctr"/>
            <a:r>
              <a:rPr lang="en-US" dirty="0"/>
              <a:t>Get an instruction from main memory</a:t>
            </a:r>
          </a:p>
          <a:p>
            <a:r>
              <a:rPr lang="en-US" b="1" u="sng" dirty="0"/>
              <a:t>Decode:</a:t>
            </a:r>
          </a:p>
          <a:p>
            <a:pPr algn="ctr"/>
            <a:r>
              <a:rPr lang="en-US" dirty="0"/>
              <a:t>Translate it into computer command</a:t>
            </a:r>
          </a:p>
          <a:p>
            <a:r>
              <a:rPr lang="en-US" b="1" u="sng" dirty="0"/>
              <a:t>Execute:</a:t>
            </a:r>
          </a:p>
          <a:p>
            <a:pPr algn="ctr"/>
            <a:r>
              <a:rPr lang="en-US" dirty="0"/>
              <a:t>Actual processing of command</a:t>
            </a:r>
          </a:p>
          <a:p>
            <a:r>
              <a:rPr lang="en-US" b="1" u="sng" dirty="0"/>
              <a:t>Store/Write back:</a:t>
            </a:r>
          </a:p>
          <a:p>
            <a:pPr algn="ctr"/>
            <a:r>
              <a:rPr lang="en-US" dirty="0"/>
              <a:t>Write result to memory.</a:t>
            </a:r>
          </a:p>
          <a:p>
            <a:pPr algn="ctr"/>
            <a:endParaRPr lang="en-US" dirty="0"/>
          </a:p>
          <a:p>
            <a:endParaRPr lang="LID4096" dirty="0"/>
          </a:p>
        </p:txBody>
      </p:sp>
    </p:spTree>
    <p:extLst>
      <p:ext uri="{BB962C8B-B14F-4D97-AF65-F5344CB8AC3E}">
        <p14:creationId xmlns:p14="http://schemas.microsoft.com/office/powerpoint/2010/main" val="2599107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3168-A6E8-4B5A-8C56-D24B32CED74A}"/>
              </a:ext>
            </a:extLst>
          </p:cNvPr>
          <p:cNvSpPr>
            <a:spLocks noGrp="1"/>
          </p:cNvSpPr>
          <p:nvPr>
            <p:ph type="title"/>
          </p:nvPr>
        </p:nvSpPr>
        <p:spPr/>
        <p:txBody>
          <a:bodyPr/>
          <a:lstStyle/>
          <a:p>
            <a:r>
              <a:rPr lang="en-US" spc="-9" dirty="0"/>
              <a:t>Fetch decode execute cycle</a:t>
            </a:r>
            <a:endParaRPr lang="LID4096" dirty="0"/>
          </a:p>
        </p:txBody>
      </p:sp>
      <p:pic>
        <p:nvPicPr>
          <p:cNvPr id="4" name="Picture 2" descr="Image result for fetch decode execute cycle animation">
            <a:extLst>
              <a:ext uri="{FF2B5EF4-FFF2-40B4-BE49-F238E27FC236}">
                <a16:creationId xmlns:a16="http://schemas.microsoft.com/office/drawing/2014/main" id="{6053695F-2F31-4F7B-9F5F-5022ED77C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377" y="1690688"/>
            <a:ext cx="5379246" cy="432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457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7010-DC8B-431D-BB54-FA4D0A624D21}"/>
              </a:ext>
            </a:extLst>
          </p:cNvPr>
          <p:cNvSpPr>
            <a:spLocks noGrp="1"/>
          </p:cNvSpPr>
          <p:nvPr>
            <p:ph type="title"/>
          </p:nvPr>
        </p:nvSpPr>
        <p:spPr/>
        <p:txBody>
          <a:bodyPr/>
          <a:lstStyle/>
          <a:p>
            <a:r>
              <a:rPr lang="en-US" dirty="0">
                <a:solidFill>
                  <a:srgbClr val="000000"/>
                </a:solidFill>
              </a:rPr>
              <a:t>The Fetch/Execute Cycle</a:t>
            </a:r>
            <a:endParaRPr lang="LID4096" dirty="0"/>
          </a:p>
        </p:txBody>
      </p:sp>
      <p:sp>
        <p:nvSpPr>
          <p:cNvPr id="3" name="Content Placeholder 2">
            <a:extLst>
              <a:ext uri="{FF2B5EF4-FFF2-40B4-BE49-F238E27FC236}">
                <a16:creationId xmlns:a16="http://schemas.microsoft.com/office/drawing/2014/main" id="{7CEE870C-69B1-40BE-AD91-FA952E8001FA}"/>
              </a:ext>
            </a:extLst>
          </p:cNvPr>
          <p:cNvSpPr>
            <a:spLocks noGrp="1"/>
          </p:cNvSpPr>
          <p:nvPr>
            <p:ph idx="1"/>
          </p:nvPr>
        </p:nvSpPr>
        <p:spPr/>
        <p:txBody>
          <a:bodyPr>
            <a:normAutofit fontScale="92500" lnSpcReduction="20000"/>
          </a:bodyPr>
          <a:lstStyle/>
          <a:p>
            <a:pPr>
              <a:spcBef>
                <a:spcPts val="800"/>
              </a:spcBef>
              <a:buFont typeface="Arial" charset="0"/>
              <a:buChar char="•"/>
            </a:pPr>
            <a:r>
              <a:rPr lang="en-US" sz="3200" b="1" dirty="0">
                <a:solidFill>
                  <a:srgbClr val="000000"/>
                </a:solidFill>
              </a:rPr>
              <a:t>“Instruction Execution Engine”…a machine that cycles through a series of operations</a:t>
            </a:r>
          </a:p>
          <a:p>
            <a:pPr>
              <a:spcBef>
                <a:spcPts val="800"/>
              </a:spcBef>
              <a:buFont typeface="Arial" charset="0"/>
              <a:buChar char="•"/>
            </a:pPr>
            <a:r>
              <a:rPr lang="en-US" sz="3200" b="1" dirty="0">
                <a:solidFill>
                  <a:srgbClr val="000000"/>
                </a:solidFill>
              </a:rPr>
              <a:t>Series is called: Fetch/Execute Cycle</a:t>
            </a:r>
          </a:p>
          <a:p>
            <a:pPr lvl="1">
              <a:spcBef>
                <a:spcPts val="700"/>
              </a:spcBef>
              <a:buFont typeface="Arial" charset="0"/>
              <a:buChar char="–"/>
            </a:pPr>
            <a:r>
              <a:rPr lang="en-US" sz="2800" dirty="0">
                <a:solidFill>
                  <a:srgbClr val="000000"/>
                </a:solidFill>
              </a:rPr>
              <a:t>Get the next instruction</a:t>
            </a:r>
          </a:p>
          <a:p>
            <a:pPr lvl="1">
              <a:spcBef>
                <a:spcPts val="700"/>
              </a:spcBef>
              <a:buFont typeface="Arial" charset="0"/>
              <a:buChar char="–"/>
            </a:pPr>
            <a:r>
              <a:rPr lang="en-US" sz="2800" dirty="0">
                <a:solidFill>
                  <a:srgbClr val="000000"/>
                </a:solidFill>
              </a:rPr>
              <a:t>Figure out what to do</a:t>
            </a:r>
          </a:p>
          <a:p>
            <a:pPr lvl="1">
              <a:spcBef>
                <a:spcPts val="700"/>
              </a:spcBef>
              <a:buFont typeface="Arial" charset="0"/>
              <a:buChar char="–"/>
            </a:pPr>
            <a:r>
              <a:rPr lang="en-US" sz="2800" dirty="0">
                <a:solidFill>
                  <a:srgbClr val="000000"/>
                </a:solidFill>
              </a:rPr>
              <a:t>Gathering the data needed to do it</a:t>
            </a:r>
          </a:p>
          <a:p>
            <a:pPr lvl="1">
              <a:spcBef>
                <a:spcPts val="700"/>
              </a:spcBef>
              <a:buFont typeface="Arial" charset="0"/>
              <a:buChar char="–"/>
            </a:pPr>
            <a:r>
              <a:rPr lang="en-US" sz="2800" dirty="0">
                <a:solidFill>
                  <a:srgbClr val="000000"/>
                </a:solidFill>
              </a:rPr>
              <a:t>Do it</a:t>
            </a:r>
          </a:p>
          <a:p>
            <a:pPr lvl="1">
              <a:spcBef>
                <a:spcPts val="700"/>
              </a:spcBef>
              <a:buFont typeface="Arial" charset="0"/>
              <a:buChar char="–"/>
            </a:pPr>
            <a:r>
              <a:rPr lang="en-US" sz="2800" dirty="0">
                <a:solidFill>
                  <a:srgbClr val="000000"/>
                </a:solidFill>
              </a:rPr>
              <a:t>Save the result, and </a:t>
            </a:r>
          </a:p>
          <a:p>
            <a:pPr lvl="1">
              <a:spcBef>
                <a:spcPts val="700"/>
              </a:spcBef>
              <a:buFont typeface="Arial" charset="0"/>
              <a:buChar char="–"/>
            </a:pPr>
            <a:r>
              <a:rPr lang="en-US" sz="2800" dirty="0">
                <a:solidFill>
                  <a:srgbClr val="000000"/>
                </a:solidFill>
              </a:rPr>
              <a:t>Repeat (billions of times/second)!</a:t>
            </a:r>
          </a:p>
          <a:p>
            <a:endParaRPr lang="LID4096" dirty="0"/>
          </a:p>
        </p:txBody>
      </p:sp>
    </p:spTree>
    <p:extLst>
      <p:ext uri="{BB962C8B-B14F-4D97-AF65-F5344CB8AC3E}">
        <p14:creationId xmlns:p14="http://schemas.microsoft.com/office/powerpoint/2010/main" val="18020779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A6401-0BD3-45A1-9CCC-57C3FD7158AA}"/>
              </a:ext>
            </a:extLst>
          </p:cNvPr>
          <p:cNvSpPr>
            <a:spLocks noGrp="1"/>
          </p:cNvSpPr>
          <p:nvPr>
            <p:ph type="title"/>
          </p:nvPr>
        </p:nvSpPr>
        <p:spPr/>
        <p:txBody>
          <a:bodyPr/>
          <a:lstStyle/>
          <a:p>
            <a:r>
              <a:rPr lang="en-US" dirty="0">
                <a:solidFill>
                  <a:srgbClr val="000000"/>
                </a:solidFill>
              </a:rPr>
              <a:t>A Five-Step Cycle</a:t>
            </a:r>
            <a:endParaRPr lang="LID4096" dirty="0"/>
          </a:p>
        </p:txBody>
      </p:sp>
      <p:sp>
        <p:nvSpPr>
          <p:cNvPr id="3" name="Content Placeholder 2">
            <a:extLst>
              <a:ext uri="{FF2B5EF4-FFF2-40B4-BE49-F238E27FC236}">
                <a16:creationId xmlns:a16="http://schemas.microsoft.com/office/drawing/2014/main" id="{FC798408-0D7B-4C4B-B63A-1717ACA87635}"/>
              </a:ext>
            </a:extLst>
          </p:cNvPr>
          <p:cNvSpPr>
            <a:spLocks noGrp="1"/>
          </p:cNvSpPr>
          <p:nvPr>
            <p:ph idx="1"/>
          </p:nvPr>
        </p:nvSpPr>
        <p:spPr>
          <a:xfrm>
            <a:off x="1045028" y="1825624"/>
            <a:ext cx="6123215" cy="4869089"/>
          </a:xfrm>
        </p:spPr>
        <p:txBody>
          <a:bodyPr>
            <a:normAutofit lnSpcReduction="10000"/>
          </a:bodyPr>
          <a:lstStyle/>
          <a:p>
            <a:pPr>
              <a:spcBef>
                <a:spcPts val="800"/>
              </a:spcBef>
              <a:buFont typeface="Arial" charset="0"/>
              <a:buChar char="•"/>
            </a:pPr>
            <a:r>
              <a:rPr lang="en-US" b="1" dirty="0">
                <a:solidFill>
                  <a:srgbClr val="000000"/>
                </a:solidFill>
              </a:rPr>
              <a:t>These operations are repeated in a never-ending sequence</a:t>
            </a:r>
          </a:p>
          <a:p>
            <a:pPr>
              <a:spcBef>
                <a:spcPts val="2000"/>
              </a:spcBef>
              <a:buFont typeface="Arial" charset="0"/>
              <a:buChar char="•"/>
            </a:pPr>
            <a:r>
              <a:rPr lang="en-US" sz="3200" b="1" dirty="0">
                <a:solidFill>
                  <a:srgbClr val="000000"/>
                </a:solidFill>
              </a:rPr>
              <a:t>A five-step cycle:</a:t>
            </a:r>
          </a:p>
          <a:p>
            <a:pPr lvl="1">
              <a:spcBef>
                <a:spcPts val="1750"/>
              </a:spcBef>
              <a:buFont typeface="Arial" charset="0"/>
              <a:buAutoNum type="arabicPeriod"/>
            </a:pPr>
            <a:r>
              <a:rPr lang="en-US" sz="2800" dirty="0">
                <a:solidFill>
                  <a:srgbClr val="000000"/>
                </a:solidFill>
              </a:rPr>
              <a:t>Instruction Fetch (IF)</a:t>
            </a:r>
          </a:p>
          <a:p>
            <a:pPr lvl="1">
              <a:spcBef>
                <a:spcPts val="1750"/>
              </a:spcBef>
              <a:buFont typeface="Arial" charset="0"/>
              <a:buAutoNum type="arabicPeriod"/>
            </a:pPr>
            <a:r>
              <a:rPr lang="en-US" sz="2800" dirty="0">
                <a:solidFill>
                  <a:srgbClr val="000000"/>
                </a:solidFill>
              </a:rPr>
              <a:t>Instruction Decode (ID)</a:t>
            </a:r>
          </a:p>
          <a:p>
            <a:pPr lvl="1">
              <a:spcBef>
                <a:spcPts val="1750"/>
              </a:spcBef>
              <a:buFont typeface="Arial" charset="0"/>
              <a:buAutoNum type="arabicPeriod"/>
            </a:pPr>
            <a:r>
              <a:rPr lang="en-US" sz="2800" dirty="0">
                <a:solidFill>
                  <a:srgbClr val="000000"/>
                </a:solidFill>
              </a:rPr>
              <a:t>Data Fetch (DF) / Operand Fetch (OF)</a:t>
            </a:r>
          </a:p>
          <a:p>
            <a:pPr lvl="1">
              <a:spcBef>
                <a:spcPts val="1750"/>
              </a:spcBef>
              <a:buFont typeface="Arial" charset="0"/>
              <a:buAutoNum type="arabicPeriod"/>
            </a:pPr>
            <a:r>
              <a:rPr lang="en-US" sz="2800" dirty="0">
                <a:solidFill>
                  <a:srgbClr val="000000"/>
                </a:solidFill>
              </a:rPr>
              <a:t>Instruction Execution (EX)</a:t>
            </a:r>
          </a:p>
          <a:p>
            <a:pPr lvl="1">
              <a:spcBef>
                <a:spcPts val="1750"/>
              </a:spcBef>
              <a:buFont typeface="Arial" charset="0"/>
              <a:buAutoNum type="arabicPeriod"/>
            </a:pPr>
            <a:r>
              <a:rPr lang="en-US" sz="2800" dirty="0">
                <a:solidFill>
                  <a:srgbClr val="000000"/>
                </a:solidFill>
              </a:rPr>
              <a:t>Result Return (RR) / Store (ST)</a:t>
            </a:r>
          </a:p>
          <a:p>
            <a:pPr>
              <a:spcBef>
                <a:spcPts val="800"/>
              </a:spcBef>
              <a:buFont typeface="Arial" charset="0"/>
              <a:buChar char="•"/>
            </a:pPr>
            <a:endParaRPr lang="en-US" b="1" dirty="0">
              <a:solidFill>
                <a:srgbClr val="000000"/>
              </a:solidFill>
            </a:endParaRPr>
          </a:p>
          <a:p>
            <a:endParaRPr lang="LID4096" dirty="0"/>
          </a:p>
        </p:txBody>
      </p:sp>
      <p:pic>
        <p:nvPicPr>
          <p:cNvPr id="4" name="Picture 3">
            <a:extLst>
              <a:ext uri="{FF2B5EF4-FFF2-40B4-BE49-F238E27FC236}">
                <a16:creationId xmlns:a16="http://schemas.microsoft.com/office/drawing/2014/main" id="{D7F60804-873C-472F-A404-A2A2D0C82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8243" y="2730249"/>
            <a:ext cx="4890911" cy="3054755"/>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40915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94A99-796E-4AC5-A76A-09BB24CF16CD}"/>
              </a:ext>
            </a:extLst>
          </p:cNvPr>
          <p:cNvSpPr>
            <a:spLocks noGrp="1"/>
          </p:cNvSpPr>
          <p:nvPr>
            <p:ph type="title"/>
          </p:nvPr>
        </p:nvSpPr>
        <p:spPr/>
        <p:txBody>
          <a:bodyPr/>
          <a:lstStyle/>
          <a:p>
            <a:r>
              <a:rPr lang="en-US" dirty="0">
                <a:solidFill>
                  <a:srgbClr val="000000"/>
                </a:solidFill>
              </a:rPr>
              <a:t>A Five-Step Cycle</a:t>
            </a:r>
            <a:endParaRPr lang="LID4096" dirty="0"/>
          </a:p>
        </p:txBody>
      </p:sp>
      <p:pic>
        <p:nvPicPr>
          <p:cNvPr id="4" name="Content Placeholder 3">
            <a:extLst>
              <a:ext uri="{FF2B5EF4-FFF2-40B4-BE49-F238E27FC236}">
                <a16:creationId xmlns:a16="http://schemas.microsoft.com/office/drawing/2014/main" id="{820C083C-77E8-45FB-AB48-73FD0D1703A5}"/>
              </a:ext>
            </a:extLst>
          </p:cNvPr>
          <p:cNvPicPr>
            <a:picLocks noGrp="1" noChangeAspect="1"/>
          </p:cNvPicPr>
          <p:nvPr>
            <p:ph idx="1"/>
          </p:nvPr>
        </p:nvPicPr>
        <p:blipFill>
          <a:blip r:embed="rId2"/>
          <a:stretch>
            <a:fillRect/>
          </a:stretch>
        </p:blipFill>
        <p:spPr>
          <a:xfrm>
            <a:off x="2082119" y="1527402"/>
            <a:ext cx="8027761" cy="4521702"/>
          </a:xfrm>
          <a:prstGeom prst="rect">
            <a:avLst/>
          </a:prstGeom>
        </p:spPr>
      </p:pic>
    </p:spTree>
    <p:extLst>
      <p:ext uri="{BB962C8B-B14F-4D97-AF65-F5344CB8AC3E}">
        <p14:creationId xmlns:p14="http://schemas.microsoft.com/office/powerpoint/2010/main" val="2609020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EE68-34EE-4CFA-A88F-591177D1F6AA}"/>
              </a:ext>
            </a:extLst>
          </p:cNvPr>
          <p:cNvSpPr>
            <a:spLocks noGrp="1"/>
          </p:cNvSpPr>
          <p:nvPr>
            <p:ph type="title"/>
          </p:nvPr>
        </p:nvSpPr>
        <p:spPr/>
        <p:txBody>
          <a:bodyPr/>
          <a:lstStyle/>
          <a:p>
            <a:r>
              <a:rPr lang="en-US" dirty="0">
                <a:solidFill>
                  <a:srgbClr val="000000"/>
                </a:solidFill>
              </a:rPr>
              <a:t>ADD 800, 428, 884</a:t>
            </a:r>
            <a:endParaRPr lang="LID4096" dirty="0"/>
          </a:p>
        </p:txBody>
      </p:sp>
      <p:pic>
        <p:nvPicPr>
          <p:cNvPr id="4" name="Picture 2">
            <a:extLst>
              <a:ext uri="{FF2B5EF4-FFF2-40B4-BE49-F238E27FC236}">
                <a16:creationId xmlns:a16="http://schemas.microsoft.com/office/drawing/2014/main" id="{2C9633E6-ADD1-4446-B2D0-55CCC9A224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4719" y="1690688"/>
            <a:ext cx="8389387" cy="4288745"/>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24682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AF3B0-F988-432B-B33D-3F795200CBDB}"/>
              </a:ext>
            </a:extLst>
          </p:cNvPr>
          <p:cNvSpPr>
            <a:spLocks noGrp="1"/>
          </p:cNvSpPr>
          <p:nvPr>
            <p:ph type="title"/>
          </p:nvPr>
        </p:nvSpPr>
        <p:spPr/>
        <p:txBody>
          <a:bodyPr/>
          <a:lstStyle/>
          <a:p>
            <a:r>
              <a:rPr lang="en-US" dirty="0">
                <a:solidFill>
                  <a:srgbClr val="000000"/>
                </a:solidFill>
              </a:rPr>
              <a:t>Instruction Fetch (IF)</a:t>
            </a:r>
            <a:endParaRPr lang="LID4096" dirty="0"/>
          </a:p>
        </p:txBody>
      </p:sp>
      <p:sp>
        <p:nvSpPr>
          <p:cNvPr id="3" name="Content Placeholder 2">
            <a:extLst>
              <a:ext uri="{FF2B5EF4-FFF2-40B4-BE49-F238E27FC236}">
                <a16:creationId xmlns:a16="http://schemas.microsoft.com/office/drawing/2014/main" id="{BC8809D1-26DE-4AD5-BFA5-6B0B416B3F3E}"/>
              </a:ext>
            </a:extLst>
          </p:cNvPr>
          <p:cNvSpPr>
            <a:spLocks noGrp="1"/>
          </p:cNvSpPr>
          <p:nvPr>
            <p:ph idx="1"/>
          </p:nvPr>
        </p:nvSpPr>
        <p:spPr/>
        <p:txBody>
          <a:bodyPr/>
          <a:lstStyle/>
          <a:p>
            <a:pPr>
              <a:spcBef>
                <a:spcPts val="800"/>
              </a:spcBef>
              <a:buFont typeface="Arial" charset="0"/>
              <a:buChar char="•"/>
            </a:pPr>
            <a:r>
              <a:rPr lang="en-US" dirty="0">
                <a:solidFill>
                  <a:srgbClr val="000000"/>
                </a:solidFill>
              </a:rPr>
              <a:t>Execution begins by moving the instruction at the address given by the (</a:t>
            </a:r>
            <a:r>
              <a:rPr lang="en-US" i="1" dirty="0">
                <a:solidFill>
                  <a:srgbClr val="000000"/>
                </a:solidFill>
              </a:rPr>
              <a:t>PC 2200</a:t>
            </a:r>
            <a:r>
              <a:rPr lang="en-US" dirty="0">
                <a:solidFill>
                  <a:srgbClr val="000000"/>
                </a:solidFill>
              </a:rPr>
              <a:t>) from memory to the control unit</a:t>
            </a:r>
          </a:p>
          <a:p>
            <a:pPr>
              <a:spcBef>
                <a:spcPts val="800"/>
              </a:spcBef>
              <a:buFont typeface="Arial" charset="0"/>
              <a:buChar char="•"/>
            </a:pPr>
            <a:r>
              <a:rPr lang="en-US" dirty="0">
                <a:solidFill>
                  <a:srgbClr val="000000"/>
                </a:solidFill>
              </a:rPr>
              <a:t>Once instruction is fetched, the PC can be changed for fetching the next instruction</a:t>
            </a:r>
          </a:p>
          <a:p>
            <a:endParaRPr lang="LID4096" dirty="0"/>
          </a:p>
        </p:txBody>
      </p:sp>
    </p:spTree>
    <p:extLst>
      <p:ext uri="{BB962C8B-B14F-4D97-AF65-F5344CB8AC3E}">
        <p14:creationId xmlns:p14="http://schemas.microsoft.com/office/powerpoint/2010/main" val="273998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3572-4701-4222-9686-F37CCD61E147}"/>
              </a:ext>
            </a:extLst>
          </p:cNvPr>
          <p:cNvSpPr>
            <a:spLocks noGrp="1"/>
          </p:cNvSpPr>
          <p:nvPr>
            <p:ph type="title"/>
          </p:nvPr>
        </p:nvSpPr>
        <p:spPr/>
        <p:txBody>
          <a:bodyPr/>
          <a:lstStyle/>
          <a:p>
            <a:r>
              <a:rPr lang="en-US" dirty="0">
                <a:solidFill>
                  <a:srgbClr val="000000"/>
                </a:solidFill>
              </a:rPr>
              <a:t>IF</a:t>
            </a:r>
            <a:endParaRPr lang="LID4096" dirty="0"/>
          </a:p>
        </p:txBody>
      </p:sp>
      <p:pic>
        <p:nvPicPr>
          <p:cNvPr id="4" name="Picture 2">
            <a:extLst>
              <a:ext uri="{FF2B5EF4-FFF2-40B4-BE49-F238E27FC236}">
                <a16:creationId xmlns:a16="http://schemas.microsoft.com/office/drawing/2014/main" id="{B4A64D2F-122A-47EB-B290-C6F1375A6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5831" y="527091"/>
            <a:ext cx="7040337" cy="580381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39225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5D55E-87E3-4712-8A3F-B3E78E404B0A}"/>
              </a:ext>
            </a:extLst>
          </p:cNvPr>
          <p:cNvSpPr>
            <a:spLocks noGrp="1"/>
          </p:cNvSpPr>
          <p:nvPr>
            <p:ph type="title"/>
          </p:nvPr>
        </p:nvSpPr>
        <p:spPr/>
        <p:txBody>
          <a:bodyPr/>
          <a:lstStyle/>
          <a:p>
            <a:r>
              <a:rPr lang="en-US" dirty="0">
                <a:solidFill>
                  <a:srgbClr val="000000"/>
                </a:solidFill>
              </a:rPr>
              <a:t>Instruction Decode (ID)</a:t>
            </a:r>
            <a:endParaRPr lang="LID4096" dirty="0"/>
          </a:p>
        </p:txBody>
      </p:sp>
      <p:sp>
        <p:nvSpPr>
          <p:cNvPr id="3" name="Content Placeholder 2">
            <a:extLst>
              <a:ext uri="{FF2B5EF4-FFF2-40B4-BE49-F238E27FC236}">
                <a16:creationId xmlns:a16="http://schemas.microsoft.com/office/drawing/2014/main" id="{C2307A3B-B73A-43D7-90DB-E766BE9B0D70}"/>
              </a:ext>
            </a:extLst>
          </p:cNvPr>
          <p:cNvSpPr>
            <a:spLocks noGrp="1"/>
          </p:cNvSpPr>
          <p:nvPr>
            <p:ph idx="1"/>
          </p:nvPr>
        </p:nvSpPr>
        <p:spPr/>
        <p:txBody>
          <a:bodyPr>
            <a:normAutofit fontScale="85000" lnSpcReduction="10000"/>
          </a:bodyPr>
          <a:lstStyle/>
          <a:p>
            <a:pPr>
              <a:spcBef>
                <a:spcPts val="800"/>
              </a:spcBef>
              <a:buFont typeface="Arial" charset="0"/>
              <a:buChar char="•"/>
            </a:pPr>
            <a:r>
              <a:rPr lang="en-US" sz="2600" b="1" dirty="0">
                <a:solidFill>
                  <a:srgbClr val="000000"/>
                </a:solidFill>
              </a:rPr>
              <a:t>ALU is set up for the operation</a:t>
            </a:r>
          </a:p>
          <a:p>
            <a:pPr>
              <a:spcBef>
                <a:spcPts val="800"/>
              </a:spcBef>
              <a:buFont typeface="Arial" charset="0"/>
              <a:buChar char="•"/>
            </a:pPr>
            <a:r>
              <a:rPr lang="en-US" sz="2600" b="1" dirty="0">
                <a:solidFill>
                  <a:srgbClr val="000000"/>
                </a:solidFill>
              </a:rPr>
              <a:t>Decoder finds the memory address of the instruction's data (</a:t>
            </a:r>
            <a:r>
              <a:rPr lang="en-US" sz="2600" b="1" i="1" dirty="0">
                <a:solidFill>
                  <a:srgbClr val="000000"/>
                </a:solidFill>
              </a:rPr>
              <a:t>source operands</a:t>
            </a:r>
            <a:r>
              <a:rPr lang="en-US" sz="2600" b="1" dirty="0">
                <a:solidFill>
                  <a:srgbClr val="000000"/>
                </a:solidFill>
              </a:rPr>
              <a:t>)</a:t>
            </a:r>
          </a:p>
          <a:p>
            <a:pPr lvl="1">
              <a:spcBef>
                <a:spcPts val="700"/>
              </a:spcBef>
              <a:buFont typeface="Wingdings" panose="05000000000000000000" pitchFamily="2" charset="2"/>
              <a:buChar char="Ø"/>
            </a:pPr>
            <a:r>
              <a:rPr lang="en-US" sz="2600" dirty="0">
                <a:solidFill>
                  <a:srgbClr val="000000"/>
                </a:solidFill>
              </a:rPr>
              <a:t>Most instructions operate on two data values stored in memory (like ADD), so most instructions have addresses for two source operands</a:t>
            </a:r>
          </a:p>
          <a:p>
            <a:pPr lvl="1">
              <a:spcBef>
                <a:spcPts val="700"/>
              </a:spcBef>
              <a:buFont typeface="Wingdings" panose="05000000000000000000" pitchFamily="2" charset="2"/>
              <a:buChar char="Ø"/>
            </a:pPr>
            <a:r>
              <a:rPr lang="en-US" sz="2600" dirty="0">
                <a:solidFill>
                  <a:srgbClr val="000000"/>
                </a:solidFill>
              </a:rPr>
              <a:t>These addresses are passed to the circuit that fetches them from memory during the next step</a:t>
            </a:r>
          </a:p>
          <a:p>
            <a:pPr lvl="1">
              <a:spcBef>
                <a:spcPts val="800"/>
              </a:spcBef>
              <a:buFont typeface="Wingdings" panose="05000000000000000000" pitchFamily="2" charset="2"/>
              <a:buChar char="Ø"/>
            </a:pPr>
            <a:r>
              <a:rPr lang="en-US" sz="2600" dirty="0">
                <a:solidFill>
                  <a:srgbClr val="000000"/>
                </a:solidFill>
              </a:rPr>
              <a:t>Decoder finds the </a:t>
            </a:r>
            <a:r>
              <a:rPr lang="en-US" sz="2600" i="1" dirty="0">
                <a:solidFill>
                  <a:srgbClr val="000000"/>
                </a:solidFill>
              </a:rPr>
              <a:t>destination address </a:t>
            </a:r>
            <a:r>
              <a:rPr lang="en-US" sz="2600" dirty="0">
                <a:solidFill>
                  <a:srgbClr val="000000"/>
                </a:solidFill>
              </a:rPr>
              <a:t>for the Result Return step and places the address in the RR circuit</a:t>
            </a:r>
          </a:p>
          <a:p>
            <a:pPr lvl="1">
              <a:spcBef>
                <a:spcPts val="800"/>
              </a:spcBef>
              <a:buFont typeface="Wingdings" panose="05000000000000000000" pitchFamily="2" charset="2"/>
              <a:buChar char="Ø"/>
            </a:pPr>
            <a:r>
              <a:rPr lang="en-US" sz="2600" dirty="0">
                <a:solidFill>
                  <a:srgbClr val="000000"/>
                </a:solidFill>
              </a:rPr>
              <a:t>Decoder determines what operation the ALU will perform (ADD), and sets up the ALU</a:t>
            </a:r>
          </a:p>
          <a:p>
            <a:pPr lvl="1">
              <a:spcBef>
                <a:spcPts val="700"/>
              </a:spcBef>
              <a:buFont typeface="Arial" charset="0"/>
              <a:buChar char="–"/>
            </a:pPr>
            <a:endParaRPr lang="en-US" sz="2800" dirty="0">
              <a:solidFill>
                <a:srgbClr val="000000"/>
              </a:solidFill>
            </a:endParaRPr>
          </a:p>
          <a:p>
            <a:endParaRPr lang="LID4096" dirty="0"/>
          </a:p>
        </p:txBody>
      </p:sp>
    </p:spTree>
    <p:extLst>
      <p:ext uri="{BB962C8B-B14F-4D97-AF65-F5344CB8AC3E}">
        <p14:creationId xmlns:p14="http://schemas.microsoft.com/office/powerpoint/2010/main" val="4147933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B1447-CD24-4A94-B77A-019C7C1A0C76}"/>
              </a:ext>
            </a:extLst>
          </p:cNvPr>
          <p:cNvSpPr>
            <a:spLocks noGrp="1"/>
          </p:cNvSpPr>
          <p:nvPr>
            <p:ph type="title"/>
          </p:nvPr>
        </p:nvSpPr>
        <p:spPr/>
        <p:txBody>
          <a:bodyPr/>
          <a:lstStyle/>
          <a:p>
            <a:r>
              <a:rPr lang="en-US" dirty="0">
                <a:solidFill>
                  <a:srgbClr val="000000"/>
                </a:solidFill>
              </a:rPr>
              <a:t>ID</a:t>
            </a:r>
            <a:endParaRPr lang="LID4096" dirty="0"/>
          </a:p>
        </p:txBody>
      </p:sp>
      <p:pic>
        <p:nvPicPr>
          <p:cNvPr id="4" name="Picture 2">
            <a:extLst>
              <a:ext uri="{FF2B5EF4-FFF2-40B4-BE49-F238E27FC236}">
                <a16:creationId xmlns:a16="http://schemas.microsoft.com/office/drawing/2014/main" id="{92418C35-1F44-4A64-8FC0-887147C257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1398" y="683534"/>
            <a:ext cx="6700084" cy="565195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68913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AB16-F88B-451E-96F4-C963F213D08E}"/>
              </a:ext>
            </a:extLst>
          </p:cNvPr>
          <p:cNvSpPr>
            <a:spLocks noGrp="1"/>
          </p:cNvSpPr>
          <p:nvPr>
            <p:ph type="title"/>
          </p:nvPr>
        </p:nvSpPr>
        <p:spPr/>
        <p:txBody>
          <a:bodyPr/>
          <a:lstStyle/>
          <a:p>
            <a:r>
              <a:rPr lang="en-US" dirty="0">
                <a:solidFill>
                  <a:srgbClr val="000000"/>
                </a:solidFill>
              </a:rPr>
              <a:t>Data Fetch (DF)</a:t>
            </a:r>
            <a:endParaRPr lang="LID4096" dirty="0"/>
          </a:p>
        </p:txBody>
      </p:sp>
      <p:sp>
        <p:nvSpPr>
          <p:cNvPr id="3" name="Content Placeholder 2">
            <a:extLst>
              <a:ext uri="{FF2B5EF4-FFF2-40B4-BE49-F238E27FC236}">
                <a16:creationId xmlns:a16="http://schemas.microsoft.com/office/drawing/2014/main" id="{C48BFBAB-A855-4A75-B8A6-7E068178E4D4}"/>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data values to be operated on are retrieved from memory</a:t>
            </a:r>
          </a:p>
          <a:p>
            <a:pPr>
              <a:spcBef>
                <a:spcPts val="800"/>
              </a:spcBef>
              <a:buFont typeface="Arial" charset="0"/>
              <a:buChar char="•"/>
            </a:pPr>
            <a:r>
              <a:rPr lang="en-US" dirty="0">
                <a:solidFill>
                  <a:srgbClr val="000000"/>
                </a:solidFill>
              </a:rPr>
              <a:t>Bits at specified memory locations are copied into locations in the ALU circuitry</a:t>
            </a:r>
          </a:p>
          <a:p>
            <a:pPr>
              <a:spcBef>
                <a:spcPts val="800"/>
              </a:spcBef>
              <a:buFont typeface="Arial" charset="0"/>
              <a:buChar char="•"/>
            </a:pPr>
            <a:r>
              <a:rPr lang="en-US" dirty="0">
                <a:solidFill>
                  <a:srgbClr val="000000"/>
                </a:solidFill>
              </a:rPr>
              <a:t>Data values remain in memory (they are not destroyed)</a:t>
            </a:r>
          </a:p>
          <a:p>
            <a:endParaRPr lang="LID4096" dirty="0"/>
          </a:p>
        </p:txBody>
      </p:sp>
    </p:spTree>
    <p:extLst>
      <p:ext uri="{BB962C8B-B14F-4D97-AF65-F5344CB8AC3E}">
        <p14:creationId xmlns:p14="http://schemas.microsoft.com/office/powerpoint/2010/main" val="174633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03611-65ED-4CBA-B74C-6F467C2D0288}"/>
              </a:ext>
            </a:extLst>
          </p:cNvPr>
          <p:cNvSpPr>
            <a:spLocks noGrp="1"/>
          </p:cNvSpPr>
          <p:nvPr>
            <p:ph type="title"/>
          </p:nvPr>
        </p:nvSpPr>
        <p:spPr/>
        <p:txBody>
          <a:bodyPr/>
          <a:lstStyle/>
          <a:p>
            <a:r>
              <a:rPr lang="en-US" dirty="0">
                <a:solidFill>
                  <a:srgbClr val="000000"/>
                </a:solidFill>
              </a:rPr>
              <a:t>DF</a:t>
            </a:r>
            <a:endParaRPr lang="LID4096" dirty="0"/>
          </a:p>
        </p:txBody>
      </p:sp>
      <p:pic>
        <p:nvPicPr>
          <p:cNvPr id="4" name="Picture 2">
            <a:extLst>
              <a:ext uri="{FF2B5EF4-FFF2-40B4-BE49-F238E27FC236}">
                <a16:creationId xmlns:a16="http://schemas.microsoft.com/office/drawing/2014/main" id="{9F0593D4-BD4F-4C4C-8E9F-BF7F78DCED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1254" y="840524"/>
            <a:ext cx="7109491" cy="517695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43598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418C2-99AB-4516-97EA-323C4EE2CB2A}"/>
              </a:ext>
            </a:extLst>
          </p:cNvPr>
          <p:cNvSpPr>
            <a:spLocks noGrp="1"/>
          </p:cNvSpPr>
          <p:nvPr>
            <p:ph type="title"/>
          </p:nvPr>
        </p:nvSpPr>
        <p:spPr/>
        <p:txBody>
          <a:bodyPr/>
          <a:lstStyle/>
          <a:p>
            <a:r>
              <a:rPr lang="en-US" dirty="0">
                <a:solidFill>
                  <a:srgbClr val="000000"/>
                </a:solidFill>
              </a:rPr>
              <a:t>Instruction Execution (EX)</a:t>
            </a:r>
            <a:endParaRPr lang="LID4096" dirty="0"/>
          </a:p>
        </p:txBody>
      </p:sp>
      <p:sp>
        <p:nvSpPr>
          <p:cNvPr id="3" name="Content Placeholder 2">
            <a:extLst>
              <a:ext uri="{FF2B5EF4-FFF2-40B4-BE49-F238E27FC236}">
                <a16:creationId xmlns:a16="http://schemas.microsoft.com/office/drawing/2014/main" id="{3994BF44-ECF5-4952-8606-34FA378E54A3}"/>
              </a:ext>
            </a:extLst>
          </p:cNvPr>
          <p:cNvSpPr>
            <a:spLocks noGrp="1"/>
          </p:cNvSpPr>
          <p:nvPr>
            <p:ph idx="1"/>
          </p:nvPr>
        </p:nvSpPr>
        <p:spPr/>
        <p:txBody>
          <a:bodyPr/>
          <a:lstStyle/>
          <a:p>
            <a:pPr>
              <a:spcBef>
                <a:spcPts val="800"/>
              </a:spcBef>
              <a:buFont typeface="Arial" charset="0"/>
              <a:buChar char="•"/>
            </a:pPr>
            <a:r>
              <a:rPr lang="en-US" dirty="0">
                <a:solidFill>
                  <a:srgbClr val="000000"/>
                </a:solidFill>
              </a:rPr>
              <a:t>For this ADD instruction, the addition circuit adds the two source operands together to produce their sum</a:t>
            </a:r>
          </a:p>
          <a:p>
            <a:pPr>
              <a:spcBef>
                <a:spcPts val="800"/>
              </a:spcBef>
              <a:buFont typeface="Arial" charset="0"/>
              <a:buChar char="•"/>
            </a:pPr>
            <a:r>
              <a:rPr lang="en-US" dirty="0">
                <a:solidFill>
                  <a:srgbClr val="000000"/>
                </a:solidFill>
              </a:rPr>
              <a:t>Sum is held in the ALU circuitry</a:t>
            </a:r>
          </a:p>
          <a:p>
            <a:pPr>
              <a:spcBef>
                <a:spcPts val="800"/>
              </a:spcBef>
              <a:buFont typeface="Arial" charset="0"/>
              <a:buChar char="•"/>
            </a:pPr>
            <a:r>
              <a:rPr lang="en-US" dirty="0">
                <a:solidFill>
                  <a:srgbClr val="000000"/>
                </a:solidFill>
              </a:rPr>
              <a:t>This is the actual computation</a:t>
            </a:r>
          </a:p>
          <a:p>
            <a:endParaRPr lang="LID4096" dirty="0"/>
          </a:p>
        </p:txBody>
      </p:sp>
    </p:spTree>
    <p:extLst>
      <p:ext uri="{BB962C8B-B14F-4D97-AF65-F5344CB8AC3E}">
        <p14:creationId xmlns:p14="http://schemas.microsoft.com/office/powerpoint/2010/main" val="12612840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E395-73E6-4D11-9ED8-E12DC2808E44}"/>
              </a:ext>
            </a:extLst>
          </p:cNvPr>
          <p:cNvSpPr>
            <a:spLocks noGrp="1"/>
          </p:cNvSpPr>
          <p:nvPr>
            <p:ph type="title"/>
          </p:nvPr>
        </p:nvSpPr>
        <p:spPr/>
        <p:txBody>
          <a:bodyPr/>
          <a:lstStyle/>
          <a:p>
            <a:r>
              <a:rPr lang="en-US" dirty="0">
                <a:solidFill>
                  <a:srgbClr val="000000"/>
                </a:solidFill>
              </a:rPr>
              <a:t>EX</a:t>
            </a:r>
            <a:endParaRPr lang="LID4096" dirty="0"/>
          </a:p>
        </p:txBody>
      </p:sp>
      <p:pic>
        <p:nvPicPr>
          <p:cNvPr id="4" name="Picture 2">
            <a:extLst>
              <a:ext uri="{FF2B5EF4-FFF2-40B4-BE49-F238E27FC236}">
                <a16:creationId xmlns:a16="http://schemas.microsoft.com/office/drawing/2014/main" id="{7EBD9F72-C2C9-4DEB-B7EC-12DDFB2881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8902" y="930331"/>
            <a:ext cx="6834196" cy="49973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70901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585B3-C2B6-46A7-922C-5ECD6EB8C96F}"/>
              </a:ext>
            </a:extLst>
          </p:cNvPr>
          <p:cNvSpPr>
            <a:spLocks noGrp="1"/>
          </p:cNvSpPr>
          <p:nvPr>
            <p:ph type="title"/>
          </p:nvPr>
        </p:nvSpPr>
        <p:spPr/>
        <p:txBody>
          <a:bodyPr/>
          <a:lstStyle/>
          <a:p>
            <a:r>
              <a:rPr lang="en-US" dirty="0">
                <a:solidFill>
                  <a:srgbClr val="000000"/>
                </a:solidFill>
              </a:rPr>
              <a:t>Return Result (RR)</a:t>
            </a:r>
            <a:endParaRPr lang="LID4096" dirty="0"/>
          </a:p>
        </p:txBody>
      </p:sp>
      <p:sp>
        <p:nvSpPr>
          <p:cNvPr id="3" name="Content Placeholder 2">
            <a:extLst>
              <a:ext uri="{FF2B5EF4-FFF2-40B4-BE49-F238E27FC236}">
                <a16:creationId xmlns:a16="http://schemas.microsoft.com/office/drawing/2014/main" id="{1F3E673A-9605-4A2D-9D6D-61254568392C}"/>
              </a:ext>
            </a:extLst>
          </p:cNvPr>
          <p:cNvSpPr>
            <a:spLocks noGrp="1"/>
          </p:cNvSpPr>
          <p:nvPr>
            <p:ph idx="1"/>
          </p:nvPr>
        </p:nvSpPr>
        <p:spPr/>
        <p:txBody>
          <a:bodyPr/>
          <a:lstStyle/>
          <a:p>
            <a:pPr>
              <a:spcBef>
                <a:spcPts val="800"/>
              </a:spcBef>
              <a:buFont typeface="Arial" charset="0"/>
              <a:buChar char="•"/>
            </a:pPr>
            <a:r>
              <a:rPr lang="en-US" dirty="0">
                <a:solidFill>
                  <a:srgbClr val="000000"/>
                </a:solidFill>
              </a:rPr>
              <a:t>RR returns the result of EX to the memory location specified by the destination address. </a:t>
            </a:r>
          </a:p>
          <a:p>
            <a:pPr>
              <a:spcBef>
                <a:spcPts val="800"/>
              </a:spcBef>
              <a:buFont typeface="Arial" charset="0"/>
              <a:buChar char="•"/>
            </a:pPr>
            <a:r>
              <a:rPr lang="en-US" dirty="0">
                <a:solidFill>
                  <a:srgbClr val="000000"/>
                </a:solidFill>
              </a:rPr>
              <a:t>Once the result is stored, the cycle begins again</a:t>
            </a:r>
          </a:p>
          <a:p>
            <a:endParaRPr lang="LID4096" dirty="0"/>
          </a:p>
        </p:txBody>
      </p:sp>
    </p:spTree>
    <p:extLst>
      <p:ext uri="{BB962C8B-B14F-4D97-AF65-F5344CB8AC3E}">
        <p14:creationId xmlns:p14="http://schemas.microsoft.com/office/powerpoint/2010/main" val="13781485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DA59-863B-4E3D-BD77-96D6D6E423FA}"/>
              </a:ext>
            </a:extLst>
          </p:cNvPr>
          <p:cNvSpPr>
            <a:spLocks noGrp="1"/>
          </p:cNvSpPr>
          <p:nvPr>
            <p:ph type="title"/>
          </p:nvPr>
        </p:nvSpPr>
        <p:spPr/>
        <p:txBody>
          <a:bodyPr/>
          <a:lstStyle/>
          <a:p>
            <a:r>
              <a:rPr lang="en-US" dirty="0">
                <a:solidFill>
                  <a:srgbClr val="000000"/>
                </a:solidFill>
              </a:rPr>
              <a:t>RR</a:t>
            </a:r>
            <a:endParaRPr lang="LID4096" dirty="0"/>
          </a:p>
        </p:txBody>
      </p:sp>
      <p:pic>
        <p:nvPicPr>
          <p:cNvPr id="4" name="Picture 2">
            <a:extLst>
              <a:ext uri="{FF2B5EF4-FFF2-40B4-BE49-F238E27FC236}">
                <a16:creationId xmlns:a16="http://schemas.microsoft.com/office/drawing/2014/main" id="{E5CC9C87-849A-447C-8F5E-6800D9F7A8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19991" y="1039272"/>
            <a:ext cx="6152017" cy="477945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698375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52607-15B9-4F71-B321-431FA760788E}"/>
              </a:ext>
            </a:extLst>
          </p:cNvPr>
          <p:cNvSpPr>
            <a:spLocks noGrp="1"/>
          </p:cNvSpPr>
          <p:nvPr>
            <p:ph type="title"/>
          </p:nvPr>
        </p:nvSpPr>
        <p:spPr/>
        <p:txBody>
          <a:bodyPr/>
          <a:lstStyle/>
          <a:p>
            <a:r>
              <a:rPr lang="en-US" dirty="0">
                <a:solidFill>
                  <a:srgbClr val="000000"/>
                </a:solidFill>
              </a:rPr>
              <a:t>Cycling the Fetch/Execute Cycle</a:t>
            </a:r>
            <a:endParaRPr lang="LID4096" dirty="0"/>
          </a:p>
        </p:txBody>
      </p:sp>
      <p:sp>
        <p:nvSpPr>
          <p:cNvPr id="3" name="Content Placeholder 2">
            <a:extLst>
              <a:ext uri="{FF2B5EF4-FFF2-40B4-BE49-F238E27FC236}">
                <a16:creationId xmlns:a16="http://schemas.microsoft.com/office/drawing/2014/main" id="{D9B29CC3-AD82-4ED8-98CD-0C9B8F66D5C6}"/>
              </a:ext>
            </a:extLst>
          </p:cNvPr>
          <p:cNvSpPr>
            <a:spLocks noGrp="1"/>
          </p:cNvSpPr>
          <p:nvPr>
            <p:ph idx="1"/>
          </p:nvPr>
        </p:nvSpPr>
        <p:spPr/>
        <p:txBody>
          <a:bodyPr/>
          <a:lstStyle/>
          <a:p>
            <a:pPr>
              <a:spcBef>
                <a:spcPts val="800"/>
              </a:spcBef>
              <a:buFont typeface="Arial" charset="0"/>
              <a:buChar char="•"/>
            </a:pPr>
            <a:r>
              <a:rPr lang="en-US" dirty="0">
                <a:solidFill>
                  <a:srgbClr val="000000"/>
                </a:solidFill>
              </a:rPr>
              <a:t>ADD is representative of the complexity of computer instructions…some are slightly simpler, some slightly more complex</a:t>
            </a:r>
          </a:p>
          <a:p>
            <a:pPr>
              <a:spcBef>
                <a:spcPts val="800"/>
              </a:spcBef>
              <a:buFont typeface="Arial" charset="0"/>
              <a:buChar char="•"/>
            </a:pPr>
            <a:r>
              <a:rPr lang="en-US" dirty="0">
                <a:solidFill>
                  <a:srgbClr val="000000"/>
                </a:solidFill>
              </a:rPr>
              <a:t>Computers achieve success at what they can do with speed. </a:t>
            </a:r>
          </a:p>
          <a:p>
            <a:pPr>
              <a:spcBef>
                <a:spcPts val="800"/>
              </a:spcBef>
              <a:buFont typeface="Arial" charset="0"/>
              <a:buChar char="•"/>
            </a:pPr>
            <a:r>
              <a:rPr lang="en-US" dirty="0">
                <a:solidFill>
                  <a:srgbClr val="000000"/>
                </a:solidFill>
              </a:rPr>
              <a:t>They show their impressive capabilities by executing many simple instructions per second</a:t>
            </a:r>
          </a:p>
          <a:p>
            <a:endParaRPr lang="LID4096" dirty="0"/>
          </a:p>
        </p:txBody>
      </p:sp>
    </p:spTree>
    <p:extLst>
      <p:ext uri="{BB962C8B-B14F-4D97-AF65-F5344CB8AC3E}">
        <p14:creationId xmlns:p14="http://schemas.microsoft.com/office/powerpoint/2010/main" val="20865351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9F43-5C1A-4F5D-95CC-95692619D7AB}"/>
              </a:ext>
            </a:extLst>
          </p:cNvPr>
          <p:cNvSpPr>
            <a:spLocks noGrp="1"/>
          </p:cNvSpPr>
          <p:nvPr>
            <p:ph type="title"/>
          </p:nvPr>
        </p:nvSpPr>
        <p:spPr/>
        <p:txBody>
          <a:bodyPr/>
          <a:lstStyle/>
          <a:p>
            <a:r>
              <a:rPr lang="en-US" dirty="0">
                <a:solidFill>
                  <a:srgbClr val="000000"/>
                </a:solidFill>
              </a:rPr>
              <a:t>Many, Many Simple Operations</a:t>
            </a:r>
            <a:endParaRPr lang="LID4096" dirty="0"/>
          </a:p>
        </p:txBody>
      </p:sp>
      <p:sp>
        <p:nvSpPr>
          <p:cNvPr id="3" name="Content Placeholder 2">
            <a:extLst>
              <a:ext uri="{FF2B5EF4-FFF2-40B4-BE49-F238E27FC236}">
                <a16:creationId xmlns:a16="http://schemas.microsoft.com/office/drawing/2014/main" id="{9142FE0D-4606-4966-B649-759A1AEE7C88}"/>
              </a:ext>
            </a:extLst>
          </p:cNvPr>
          <p:cNvSpPr>
            <a:spLocks noGrp="1"/>
          </p:cNvSpPr>
          <p:nvPr>
            <p:ph idx="1"/>
          </p:nvPr>
        </p:nvSpPr>
        <p:spPr/>
        <p:txBody>
          <a:bodyPr/>
          <a:lstStyle/>
          <a:p>
            <a:pPr>
              <a:spcBef>
                <a:spcPts val="700"/>
              </a:spcBef>
              <a:buFont typeface="Arial" charset="0"/>
              <a:buChar char="•"/>
            </a:pPr>
            <a:r>
              <a:rPr lang="en-US" dirty="0">
                <a:solidFill>
                  <a:srgbClr val="000000"/>
                </a:solidFill>
              </a:rPr>
              <a:t>Computers “know” very few instructions</a:t>
            </a:r>
          </a:p>
          <a:p>
            <a:pPr>
              <a:spcBef>
                <a:spcPts val="700"/>
              </a:spcBef>
              <a:buFont typeface="Arial" charset="0"/>
              <a:buChar char="•"/>
            </a:pPr>
            <a:r>
              <a:rPr lang="en-US" dirty="0">
                <a:solidFill>
                  <a:srgbClr val="000000"/>
                </a:solidFill>
              </a:rPr>
              <a:t>The decoder hardware in the controller recognizes, and the ALU performs, only about 100 different instructions (with a lot of duplication)</a:t>
            </a:r>
          </a:p>
          <a:p>
            <a:pPr>
              <a:spcBef>
                <a:spcPts val="700"/>
              </a:spcBef>
              <a:buFont typeface="Arial" charset="0"/>
              <a:buChar char="•"/>
            </a:pPr>
            <a:r>
              <a:rPr lang="en-US" dirty="0">
                <a:solidFill>
                  <a:srgbClr val="000000"/>
                </a:solidFill>
              </a:rPr>
              <a:t>There are only about 20 different kinds of operations. </a:t>
            </a:r>
          </a:p>
          <a:p>
            <a:pPr>
              <a:spcBef>
                <a:spcPts val="700"/>
              </a:spcBef>
              <a:buFont typeface="Arial" charset="0"/>
              <a:buChar char="•"/>
            </a:pPr>
            <a:r>
              <a:rPr lang="en-US" dirty="0">
                <a:solidFill>
                  <a:srgbClr val="000000"/>
                </a:solidFill>
              </a:rPr>
              <a:t>Everything that computers do must be reduced to some combination of these primitive, hardwired instructions</a:t>
            </a:r>
          </a:p>
          <a:p>
            <a:endParaRPr lang="LID4096" dirty="0"/>
          </a:p>
        </p:txBody>
      </p:sp>
    </p:spTree>
    <p:extLst>
      <p:ext uri="{BB962C8B-B14F-4D97-AF65-F5344CB8AC3E}">
        <p14:creationId xmlns:p14="http://schemas.microsoft.com/office/powerpoint/2010/main" val="3640967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57CD0-9BC4-4040-A765-F7DADC02C2B8}"/>
              </a:ext>
            </a:extLst>
          </p:cNvPr>
          <p:cNvSpPr>
            <a:spLocks noGrp="1"/>
          </p:cNvSpPr>
          <p:nvPr>
            <p:ph type="title"/>
          </p:nvPr>
        </p:nvSpPr>
        <p:spPr/>
        <p:txBody>
          <a:bodyPr/>
          <a:lstStyle/>
          <a:p>
            <a:r>
              <a:rPr lang="en-US" dirty="0"/>
              <a:t>Processor and Memory</a:t>
            </a:r>
            <a:endParaRPr lang="LID4096" dirty="0"/>
          </a:p>
        </p:txBody>
      </p:sp>
    </p:spTree>
    <p:extLst>
      <p:ext uri="{BB962C8B-B14F-4D97-AF65-F5344CB8AC3E}">
        <p14:creationId xmlns:p14="http://schemas.microsoft.com/office/powerpoint/2010/main" val="15012291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56CC6-3181-44AB-A7C2-D6211D776190}"/>
              </a:ext>
            </a:extLst>
          </p:cNvPr>
          <p:cNvSpPr>
            <a:spLocks noGrp="1"/>
          </p:cNvSpPr>
          <p:nvPr>
            <p:ph type="title"/>
          </p:nvPr>
        </p:nvSpPr>
        <p:spPr/>
        <p:txBody>
          <a:bodyPr/>
          <a:lstStyle/>
          <a:p>
            <a:r>
              <a:rPr lang="en-US" dirty="0">
                <a:solidFill>
                  <a:srgbClr val="000000"/>
                </a:solidFill>
              </a:rPr>
              <a:t>Memory</a:t>
            </a:r>
            <a:endParaRPr lang="LID4096" dirty="0"/>
          </a:p>
        </p:txBody>
      </p:sp>
      <p:sp>
        <p:nvSpPr>
          <p:cNvPr id="3" name="Content Placeholder 2">
            <a:extLst>
              <a:ext uri="{FF2B5EF4-FFF2-40B4-BE49-F238E27FC236}">
                <a16:creationId xmlns:a16="http://schemas.microsoft.com/office/drawing/2014/main" id="{F1739944-6EC4-4EEB-B830-368E2B682D2B}"/>
              </a:ext>
            </a:extLst>
          </p:cNvPr>
          <p:cNvSpPr>
            <a:spLocks noGrp="1"/>
          </p:cNvSpPr>
          <p:nvPr>
            <p:ph idx="1"/>
          </p:nvPr>
        </p:nvSpPr>
        <p:spPr/>
        <p:txBody>
          <a:bodyPr>
            <a:normAutofit lnSpcReduction="10000"/>
          </a:bodyPr>
          <a:lstStyle/>
          <a:p>
            <a:pPr>
              <a:spcBef>
                <a:spcPts val="800"/>
              </a:spcBef>
              <a:buFont typeface="Arial" charset="0"/>
              <a:buChar char="•"/>
            </a:pPr>
            <a:r>
              <a:rPr lang="en-US" sz="3200" b="1" dirty="0">
                <a:solidFill>
                  <a:srgbClr val="000000"/>
                </a:solidFill>
              </a:rPr>
              <a:t>Memory stores both the program while it is running and the data on which the program operates</a:t>
            </a:r>
          </a:p>
          <a:p>
            <a:pPr>
              <a:spcBef>
                <a:spcPts val="800"/>
              </a:spcBef>
              <a:buFont typeface="Arial" charset="0"/>
              <a:buChar char="•"/>
            </a:pPr>
            <a:r>
              <a:rPr lang="en-US" sz="3200" b="1" dirty="0">
                <a:solidFill>
                  <a:srgbClr val="000000"/>
                </a:solidFill>
              </a:rPr>
              <a:t>Properties of memory:</a:t>
            </a:r>
          </a:p>
          <a:p>
            <a:pPr lvl="1">
              <a:spcBef>
                <a:spcPts val="700"/>
              </a:spcBef>
              <a:buFont typeface="Arial" charset="0"/>
              <a:buChar char="–"/>
            </a:pPr>
            <a:r>
              <a:rPr lang="en-US" sz="2800" b="1" dirty="0">
                <a:solidFill>
                  <a:srgbClr val="000000"/>
                </a:solidFill>
              </a:rPr>
              <a:t>Discrete locations</a:t>
            </a:r>
          </a:p>
          <a:p>
            <a:pPr lvl="2">
              <a:spcBef>
                <a:spcPts val="700"/>
              </a:spcBef>
              <a:buFont typeface="Arial" charset="0"/>
              <a:buChar char="–"/>
            </a:pPr>
            <a:r>
              <a:rPr lang="en-US" sz="2400" dirty="0">
                <a:solidFill>
                  <a:srgbClr val="000000"/>
                </a:solidFill>
              </a:rPr>
              <a:t>Memory is organized as a sequence of discrete locations</a:t>
            </a:r>
          </a:p>
          <a:p>
            <a:pPr lvl="2">
              <a:spcBef>
                <a:spcPts val="700"/>
              </a:spcBef>
              <a:buFont typeface="Arial" charset="0"/>
              <a:buChar char="–"/>
            </a:pPr>
            <a:r>
              <a:rPr lang="en-US" sz="2400" dirty="0">
                <a:solidFill>
                  <a:srgbClr val="000000"/>
                </a:solidFill>
              </a:rPr>
              <a:t>In modern memory, each location is composed of 1 byte (8 bits)</a:t>
            </a:r>
          </a:p>
          <a:p>
            <a:endParaRPr lang="LID4096" dirty="0"/>
          </a:p>
        </p:txBody>
      </p:sp>
    </p:spTree>
    <p:extLst>
      <p:ext uri="{BB962C8B-B14F-4D97-AF65-F5344CB8AC3E}">
        <p14:creationId xmlns:p14="http://schemas.microsoft.com/office/powerpoint/2010/main" val="37670447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93D5-764F-48F7-A865-8AD570F264DB}"/>
              </a:ext>
            </a:extLst>
          </p:cNvPr>
          <p:cNvSpPr>
            <a:spLocks noGrp="1"/>
          </p:cNvSpPr>
          <p:nvPr>
            <p:ph type="title"/>
          </p:nvPr>
        </p:nvSpPr>
        <p:spPr/>
        <p:txBody>
          <a:bodyPr/>
          <a:lstStyle/>
          <a:p>
            <a:r>
              <a:rPr lang="en-US" dirty="0">
                <a:solidFill>
                  <a:srgbClr val="000000"/>
                </a:solidFill>
              </a:rPr>
              <a:t>Memory</a:t>
            </a:r>
            <a:endParaRPr lang="LID4096" dirty="0"/>
          </a:p>
        </p:txBody>
      </p:sp>
      <p:sp>
        <p:nvSpPr>
          <p:cNvPr id="3" name="Content Placeholder 2">
            <a:extLst>
              <a:ext uri="{FF2B5EF4-FFF2-40B4-BE49-F238E27FC236}">
                <a16:creationId xmlns:a16="http://schemas.microsoft.com/office/drawing/2014/main" id="{DA8A1A0D-28C7-42D0-BE24-70D670B9D335}"/>
              </a:ext>
            </a:extLst>
          </p:cNvPr>
          <p:cNvSpPr>
            <a:spLocks noGrp="1"/>
          </p:cNvSpPr>
          <p:nvPr>
            <p:ph idx="1"/>
          </p:nvPr>
        </p:nvSpPr>
        <p:spPr/>
        <p:txBody>
          <a:bodyPr>
            <a:normAutofit fontScale="92500" lnSpcReduction="10000"/>
          </a:bodyPr>
          <a:lstStyle/>
          <a:p>
            <a:pPr>
              <a:spcBef>
                <a:spcPts val="800"/>
              </a:spcBef>
              <a:buFont typeface="Arial" charset="0"/>
              <a:buChar char="•"/>
            </a:pPr>
            <a:r>
              <a:rPr lang="en-US" sz="3200" b="1" dirty="0">
                <a:solidFill>
                  <a:srgbClr val="000000"/>
                </a:solidFill>
              </a:rPr>
              <a:t>Addresses</a:t>
            </a:r>
          </a:p>
          <a:p>
            <a:pPr lvl="1">
              <a:spcBef>
                <a:spcPts val="700"/>
              </a:spcBef>
              <a:buFont typeface="Arial" charset="0"/>
              <a:buChar char="–"/>
            </a:pPr>
            <a:r>
              <a:rPr lang="en-US" sz="2800" dirty="0">
                <a:solidFill>
                  <a:srgbClr val="000000"/>
                </a:solidFill>
              </a:rPr>
              <a:t>Every memory location has an address, whole numbers starting at 0</a:t>
            </a:r>
          </a:p>
          <a:p>
            <a:pPr>
              <a:spcBef>
                <a:spcPts val="800"/>
              </a:spcBef>
              <a:buFont typeface="Arial" charset="0"/>
              <a:buChar char="•"/>
            </a:pPr>
            <a:r>
              <a:rPr lang="en-US" sz="3200" b="1" dirty="0">
                <a:solidFill>
                  <a:srgbClr val="000000"/>
                </a:solidFill>
              </a:rPr>
              <a:t>Values</a:t>
            </a:r>
          </a:p>
          <a:p>
            <a:pPr lvl="1">
              <a:spcBef>
                <a:spcPts val="700"/>
              </a:spcBef>
              <a:buFont typeface="Arial" charset="0"/>
              <a:buChar char="–"/>
            </a:pPr>
            <a:r>
              <a:rPr lang="en-US" sz="2800" dirty="0">
                <a:solidFill>
                  <a:srgbClr val="000000"/>
                </a:solidFill>
              </a:rPr>
              <a:t>Memory locations record or store values</a:t>
            </a:r>
          </a:p>
          <a:p>
            <a:pPr>
              <a:spcBef>
                <a:spcPts val="800"/>
              </a:spcBef>
              <a:buFont typeface="Arial" charset="0"/>
              <a:buChar char="•"/>
            </a:pPr>
            <a:r>
              <a:rPr lang="en-US" sz="3200" b="1" dirty="0">
                <a:solidFill>
                  <a:srgbClr val="000000"/>
                </a:solidFill>
              </a:rPr>
              <a:t>Finite capacity</a:t>
            </a:r>
          </a:p>
          <a:p>
            <a:pPr lvl="1">
              <a:spcBef>
                <a:spcPts val="700"/>
              </a:spcBef>
              <a:buFont typeface="Arial" charset="0"/>
              <a:buChar char="–"/>
            </a:pPr>
            <a:r>
              <a:rPr lang="en-US" sz="2800" dirty="0">
                <a:solidFill>
                  <a:srgbClr val="000000"/>
                </a:solidFill>
              </a:rPr>
              <a:t>Memory locations have a finite capacity (limited size),</a:t>
            </a:r>
          </a:p>
          <a:p>
            <a:pPr lvl="1">
              <a:spcBef>
                <a:spcPts val="700"/>
              </a:spcBef>
              <a:buFont typeface="Arial" charset="0"/>
              <a:buChar char="–"/>
            </a:pPr>
            <a:r>
              <a:rPr lang="en-US" sz="2800" dirty="0">
                <a:solidFill>
                  <a:srgbClr val="000000"/>
                </a:solidFill>
              </a:rPr>
              <a:t>Data may not “fit” in the memory location</a:t>
            </a:r>
          </a:p>
          <a:p>
            <a:pPr marL="0" indent="0">
              <a:buNone/>
            </a:pPr>
            <a:endParaRPr lang="LID4096" dirty="0"/>
          </a:p>
        </p:txBody>
      </p:sp>
    </p:spTree>
    <p:extLst>
      <p:ext uri="{BB962C8B-B14F-4D97-AF65-F5344CB8AC3E}">
        <p14:creationId xmlns:p14="http://schemas.microsoft.com/office/powerpoint/2010/main" val="1719781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6F408-D70B-4896-A767-9F82461FB7D3}"/>
              </a:ext>
            </a:extLst>
          </p:cNvPr>
          <p:cNvSpPr>
            <a:spLocks noGrp="1"/>
          </p:cNvSpPr>
          <p:nvPr>
            <p:ph type="title"/>
          </p:nvPr>
        </p:nvSpPr>
        <p:spPr/>
        <p:txBody>
          <a:bodyPr/>
          <a:lstStyle/>
          <a:p>
            <a:r>
              <a:rPr lang="en-US" dirty="0">
                <a:solidFill>
                  <a:srgbClr val="000000"/>
                </a:solidFill>
              </a:rPr>
              <a:t>Byte-Size Memory Location</a:t>
            </a:r>
            <a:endParaRPr lang="LID4096" dirty="0"/>
          </a:p>
        </p:txBody>
      </p:sp>
      <p:sp>
        <p:nvSpPr>
          <p:cNvPr id="3" name="Content Placeholder 2">
            <a:extLst>
              <a:ext uri="{FF2B5EF4-FFF2-40B4-BE49-F238E27FC236}">
                <a16:creationId xmlns:a16="http://schemas.microsoft.com/office/drawing/2014/main" id="{55F5DFFC-122D-4F20-B37E-E0A9DC4044FD}"/>
              </a:ext>
            </a:extLst>
          </p:cNvPr>
          <p:cNvSpPr>
            <a:spLocks noGrp="1"/>
          </p:cNvSpPr>
          <p:nvPr>
            <p:ph idx="1"/>
          </p:nvPr>
        </p:nvSpPr>
        <p:spPr/>
        <p:txBody>
          <a:bodyPr>
            <a:normAutofit/>
          </a:bodyPr>
          <a:lstStyle/>
          <a:p>
            <a:pPr>
              <a:spcBef>
                <a:spcPts val="800"/>
              </a:spcBef>
              <a:buFont typeface="Arial" charset="0"/>
              <a:buChar char="•"/>
            </a:pPr>
            <a:r>
              <a:rPr lang="en-US" dirty="0">
                <a:solidFill>
                  <a:srgbClr val="000000"/>
                </a:solidFill>
              </a:rPr>
              <a:t>Common visualization of computer memory</a:t>
            </a:r>
          </a:p>
          <a:p>
            <a:pPr>
              <a:spcBef>
                <a:spcPts val="800"/>
              </a:spcBef>
              <a:buFont typeface="Arial" charset="0"/>
              <a:buChar char="•"/>
            </a:pPr>
            <a:r>
              <a:rPr lang="en-US" dirty="0">
                <a:solidFill>
                  <a:srgbClr val="000000"/>
                </a:solidFill>
              </a:rPr>
              <a:t>Discrete locations are shown as boxes holding 1-byte each</a:t>
            </a:r>
          </a:p>
          <a:p>
            <a:pPr>
              <a:spcBef>
                <a:spcPts val="800"/>
              </a:spcBef>
              <a:buFont typeface="Arial" charset="0"/>
              <a:buChar char="•"/>
            </a:pPr>
            <a:endParaRPr lang="en-US" dirty="0">
              <a:solidFill>
                <a:srgbClr val="000000"/>
              </a:solidFill>
            </a:endParaRPr>
          </a:p>
          <a:p>
            <a:pPr>
              <a:spcBef>
                <a:spcPts val="800"/>
              </a:spcBef>
              <a:buFont typeface="Arial" charset="0"/>
              <a:buChar char="•"/>
            </a:pPr>
            <a:endParaRPr lang="en-US" dirty="0">
              <a:solidFill>
                <a:srgbClr val="000000"/>
              </a:solidFill>
            </a:endParaRPr>
          </a:p>
          <a:p>
            <a:pPr>
              <a:spcBef>
                <a:spcPts val="800"/>
              </a:spcBef>
              <a:buFont typeface="Arial" charset="0"/>
              <a:buChar char="•"/>
            </a:pPr>
            <a:endParaRPr lang="en-US" dirty="0">
              <a:solidFill>
                <a:srgbClr val="000000"/>
              </a:solidFill>
            </a:endParaRPr>
          </a:p>
          <a:p>
            <a:pPr>
              <a:spcBef>
                <a:spcPts val="800"/>
              </a:spcBef>
              <a:buFont typeface="Arial" charset="0"/>
              <a:buChar char="•"/>
            </a:pPr>
            <a:r>
              <a:rPr lang="en-US" dirty="0">
                <a:solidFill>
                  <a:srgbClr val="000000"/>
                </a:solidFill>
              </a:rPr>
              <a:t>Address of location is displayed above the box and the contents of location is shown in the box</a:t>
            </a:r>
          </a:p>
          <a:p>
            <a:pPr>
              <a:spcBef>
                <a:spcPts val="800"/>
              </a:spcBef>
              <a:buFont typeface="Arial" charset="0"/>
              <a:buChar char="•"/>
            </a:pPr>
            <a:endParaRPr lang="en-US" dirty="0">
              <a:solidFill>
                <a:srgbClr val="000000"/>
              </a:solidFill>
            </a:endParaRPr>
          </a:p>
          <a:p>
            <a:endParaRPr lang="LID4096" dirty="0"/>
          </a:p>
        </p:txBody>
      </p:sp>
      <p:pic>
        <p:nvPicPr>
          <p:cNvPr id="4" name="Picture 2">
            <a:extLst>
              <a:ext uri="{FF2B5EF4-FFF2-40B4-BE49-F238E27FC236}">
                <a16:creationId xmlns:a16="http://schemas.microsoft.com/office/drawing/2014/main" id="{EFCBC461-DB1D-4190-96DF-890580DD0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733" y="2905989"/>
            <a:ext cx="10177359" cy="109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1411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730A-F472-4E95-91DF-443B0C626E65}"/>
              </a:ext>
            </a:extLst>
          </p:cNvPr>
          <p:cNvSpPr>
            <a:spLocks noGrp="1"/>
          </p:cNvSpPr>
          <p:nvPr>
            <p:ph type="title"/>
          </p:nvPr>
        </p:nvSpPr>
        <p:spPr/>
        <p:txBody>
          <a:bodyPr/>
          <a:lstStyle/>
          <a:p>
            <a:r>
              <a:rPr lang="en-US" dirty="0">
                <a:solidFill>
                  <a:srgbClr val="000000"/>
                </a:solidFill>
              </a:rPr>
              <a:t>Byte-Size Memory Location</a:t>
            </a:r>
            <a:endParaRPr lang="LID4096" dirty="0"/>
          </a:p>
        </p:txBody>
      </p:sp>
      <p:sp>
        <p:nvSpPr>
          <p:cNvPr id="3" name="Content Placeholder 2">
            <a:extLst>
              <a:ext uri="{FF2B5EF4-FFF2-40B4-BE49-F238E27FC236}">
                <a16:creationId xmlns:a16="http://schemas.microsoft.com/office/drawing/2014/main" id="{63DE98A6-2C39-47B2-A6EB-3004FE8740B2}"/>
              </a:ext>
            </a:extLst>
          </p:cNvPr>
          <p:cNvSpPr>
            <a:spLocks noGrp="1"/>
          </p:cNvSpPr>
          <p:nvPr>
            <p:ph idx="1"/>
          </p:nvPr>
        </p:nvSpPr>
        <p:spPr/>
        <p:txBody>
          <a:bodyPr/>
          <a:lstStyle/>
          <a:p>
            <a:pPr>
              <a:spcBef>
                <a:spcPts val="800"/>
              </a:spcBef>
              <a:buFont typeface="Arial" charset="0"/>
              <a:buChar char="•"/>
            </a:pPr>
            <a:r>
              <a:rPr lang="en-US" dirty="0">
                <a:solidFill>
                  <a:srgbClr val="000000"/>
                </a:solidFill>
              </a:rPr>
              <a:t>That </a:t>
            </a:r>
            <a:r>
              <a:rPr lang="en-US" b="1" dirty="0">
                <a:solidFill>
                  <a:srgbClr val="000000"/>
                </a:solidFill>
              </a:rPr>
              <a:t>1-byte memory </a:t>
            </a:r>
            <a:r>
              <a:rPr lang="en-US" dirty="0">
                <a:solidFill>
                  <a:srgbClr val="000000"/>
                </a:solidFill>
              </a:rPr>
              <a:t>location can store one ASCII character or a number less than 256</a:t>
            </a:r>
          </a:p>
          <a:p>
            <a:pPr>
              <a:spcBef>
                <a:spcPts val="800"/>
              </a:spcBef>
              <a:buFont typeface="Arial" charset="0"/>
              <a:buChar char="•"/>
            </a:pPr>
            <a:r>
              <a:rPr lang="en-US" dirty="0">
                <a:solidFill>
                  <a:srgbClr val="000000"/>
                </a:solidFill>
              </a:rPr>
              <a:t>Blocks of </a:t>
            </a:r>
            <a:r>
              <a:rPr lang="en-US" b="1" dirty="0">
                <a:solidFill>
                  <a:srgbClr val="000000"/>
                </a:solidFill>
              </a:rPr>
              <a:t>four bytes are </a:t>
            </a:r>
            <a:r>
              <a:rPr lang="en-US" dirty="0">
                <a:solidFill>
                  <a:srgbClr val="000000"/>
                </a:solidFill>
              </a:rPr>
              <a:t>used as a unit so often that they are called memory words.</a:t>
            </a:r>
          </a:p>
          <a:p>
            <a:pPr>
              <a:spcBef>
                <a:spcPts val="800"/>
              </a:spcBef>
              <a:buNone/>
            </a:pPr>
            <a:endParaRPr lang="en-US" b="1" dirty="0">
              <a:solidFill>
                <a:srgbClr val="000000"/>
              </a:solidFill>
            </a:endParaRPr>
          </a:p>
          <a:p>
            <a:endParaRPr lang="LID4096" dirty="0"/>
          </a:p>
        </p:txBody>
      </p:sp>
    </p:spTree>
    <p:extLst>
      <p:ext uri="{BB962C8B-B14F-4D97-AF65-F5344CB8AC3E}">
        <p14:creationId xmlns:p14="http://schemas.microsoft.com/office/powerpoint/2010/main" val="38937953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EA5E-6142-4260-AC66-83B0587182E6}"/>
              </a:ext>
            </a:extLst>
          </p:cNvPr>
          <p:cNvSpPr>
            <a:spLocks noGrp="1"/>
          </p:cNvSpPr>
          <p:nvPr>
            <p:ph type="title"/>
          </p:nvPr>
        </p:nvSpPr>
        <p:spPr/>
        <p:txBody>
          <a:bodyPr/>
          <a:lstStyle/>
          <a:p>
            <a:r>
              <a:rPr lang="en-US" dirty="0"/>
              <a:t>RAM</a:t>
            </a:r>
            <a:endParaRPr lang="LID4096" dirty="0"/>
          </a:p>
        </p:txBody>
      </p:sp>
      <p:sp>
        <p:nvSpPr>
          <p:cNvPr id="3" name="Content Placeholder 2">
            <a:extLst>
              <a:ext uri="{FF2B5EF4-FFF2-40B4-BE49-F238E27FC236}">
                <a16:creationId xmlns:a16="http://schemas.microsoft.com/office/drawing/2014/main" id="{70DDBED7-4414-4892-92FA-5101675586FC}"/>
              </a:ext>
            </a:extLst>
          </p:cNvPr>
          <p:cNvSpPr>
            <a:spLocks noGrp="1"/>
          </p:cNvSpPr>
          <p:nvPr>
            <p:ph idx="1"/>
          </p:nvPr>
        </p:nvSpPr>
        <p:spPr/>
        <p:txBody>
          <a:bodyPr>
            <a:normAutofit fontScale="92500" lnSpcReduction="10000"/>
          </a:bodyPr>
          <a:lstStyle/>
          <a:p>
            <a:pPr>
              <a:spcBef>
                <a:spcPts val="800"/>
              </a:spcBef>
              <a:buFont typeface="Arial" charset="0"/>
              <a:buChar char="•"/>
            </a:pPr>
            <a:r>
              <a:rPr lang="en-US" sz="3200" b="1" dirty="0">
                <a:solidFill>
                  <a:srgbClr val="000000"/>
                </a:solidFill>
              </a:rPr>
              <a:t>Computer memory is called random access memory (RAM)</a:t>
            </a:r>
          </a:p>
          <a:p>
            <a:pPr lvl="1">
              <a:spcBef>
                <a:spcPts val="700"/>
              </a:spcBef>
              <a:buFont typeface="Arial" charset="0"/>
              <a:buChar char="–"/>
            </a:pPr>
            <a:r>
              <a:rPr lang="en-US" sz="2800" dirty="0">
                <a:solidFill>
                  <a:srgbClr val="000000"/>
                </a:solidFill>
              </a:rPr>
              <a:t>“Random access” is out-of-date and simply means that the computer can refer to the memory locations in any order</a:t>
            </a:r>
          </a:p>
          <a:p>
            <a:pPr>
              <a:spcBef>
                <a:spcPts val="800"/>
              </a:spcBef>
              <a:buFont typeface="Arial" charset="0"/>
              <a:buChar char="•"/>
            </a:pPr>
            <a:r>
              <a:rPr lang="en-US" sz="3200" b="1" dirty="0">
                <a:solidFill>
                  <a:srgbClr val="000000"/>
                </a:solidFill>
              </a:rPr>
              <a:t>RAM is measured in megabytes (MB) or gigabytes (GB)</a:t>
            </a:r>
          </a:p>
          <a:p>
            <a:pPr>
              <a:spcBef>
                <a:spcPts val="800"/>
              </a:spcBef>
              <a:buFont typeface="Arial" charset="0"/>
              <a:buChar char="•"/>
            </a:pPr>
            <a:r>
              <a:rPr lang="en-US" sz="3200" b="1" dirty="0">
                <a:solidFill>
                  <a:srgbClr val="000000"/>
                </a:solidFill>
              </a:rPr>
              <a:t>Lots of memory is need to handle the space required of programs and data</a:t>
            </a:r>
          </a:p>
          <a:p>
            <a:endParaRPr lang="LID4096" dirty="0"/>
          </a:p>
        </p:txBody>
      </p:sp>
    </p:spTree>
    <p:extLst>
      <p:ext uri="{BB962C8B-B14F-4D97-AF65-F5344CB8AC3E}">
        <p14:creationId xmlns:p14="http://schemas.microsoft.com/office/powerpoint/2010/main" val="19495340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4D524-E344-4995-8979-C2DA6ACE4598}"/>
              </a:ext>
            </a:extLst>
          </p:cNvPr>
          <p:cNvSpPr>
            <a:spLocks noGrp="1"/>
          </p:cNvSpPr>
          <p:nvPr>
            <p:ph type="title"/>
          </p:nvPr>
        </p:nvSpPr>
        <p:spPr/>
        <p:txBody>
          <a:bodyPr/>
          <a:lstStyle/>
          <a:p>
            <a:r>
              <a:rPr lang="en-US" spc="-9" dirty="0"/>
              <a:t>Storage </a:t>
            </a:r>
            <a:r>
              <a:rPr lang="en-US" spc="-4" dirty="0"/>
              <a:t>Evaluation</a:t>
            </a:r>
            <a:r>
              <a:rPr lang="en-US" spc="31" dirty="0"/>
              <a:t> </a:t>
            </a:r>
            <a:r>
              <a:rPr lang="en-US" spc="-4" dirty="0"/>
              <a:t>Criteria</a:t>
            </a:r>
            <a:endParaRPr lang="LID4096" dirty="0"/>
          </a:p>
        </p:txBody>
      </p:sp>
      <p:graphicFrame>
        <p:nvGraphicFramePr>
          <p:cNvPr id="4" name="object 4">
            <a:extLst>
              <a:ext uri="{FF2B5EF4-FFF2-40B4-BE49-F238E27FC236}">
                <a16:creationId xmlns:a16="http://schemas.microsoft.com/office/drawing/2014/main" id="{5BF8DD95-8D6C-4715-8BBC-66279AB0272E}"/>
              </a:ext>
            </a:extLst>
          </p:cNvPr>
          <p:cNvGraphicFramePr>
            <a:graphicFrameLocks noGrp="1"/>
          </p:cNvGraphicFramePr>
          <p:nvPr>
            <p:extLst/>
          </p:nvPr>
        </p:nvGraphicFramePr>
        <p:xfrm>
          <a:off x="1300370" y="1658030"/>
          <a:ext cx="9591260" cy="4580260"/>
        </p:xfrm>
        <a:graphic>
          <a:graphicData uri="http://schemas.openxmlformats.org/drawingml/2006/table">
            <a:tbl>
              <a:tblPr firstRow="1" bandRow="1">
                <a:tableStyleId>{2D5ABB26-0587-4C30-8999-92F81FD0307C}</a:tableStyleId>
              </a:tblPr>
              <a:tblGrid>
                <a:gridCol w="2519804">
                  <a:extLst>
                    <a:ext uri="{9D8B030D-6E8A-4147-A177-3AD203B41FA5}">
                      <a16:colId xmlns:a16="http://schemas.microsoft.com/office/drawing/2014/main" val="20000"/>
                    </a:ext>
                  </a:extLst>
                </a:gridCol>
                <a:gridCol w="2543031">
                  <a:extLst>
                    <a:ext uri="{9D8B030D-6E8A-4147-A177-3AD203B41FA5}">
                      <a16:colId xmlns:a16="http://schemas.microsoft.com/office/drawing/2014/main" val="20001"/>
                    </a:ext>
                  </a:extLst>
                </a:gridCol>
                <a:gridCol w="1476660">
                  <a:extLst>
                    <a:ext uri="{9D8B030D-6E8A-4147-A177-3AD203B41FA5}">
                      <a16:colId xmlns:a16="http://schemas.microsoft.com/office/drawing/2014/main" val="20002"/>
                    </a:ext>
                  </a:extLst>
                </a:gridCol>
                <a:gridCol w="3051765">
                  <a:extLst>
                    <a:ext uri="{9D8B030D-6E8A-4147-A177-3AD203B41FA5}">
                      <a16:colId xmlns:a16="http://schemas.microsoft.com/office/drawing/2014/main" val="20003"/>
                    </a:ext>
                  </a:extLst>
                </a:gridCol>
              </a:tblGrid>
              <a:tr h="649199">
                <a:tc>
                  <a:txBody>
                    <a:bodyPr/>
                    <a:lstStyle/>
                    <a:p>
                      <a:pPr marL="26034" algn="ctr">
                        <a:lnSpc>
                          <a:spcPct val="100000"/>
                        </a:lnSpc>
                        <a:spcBef>
                          <a:spcPts val="1415"/>
                        </a:spcBef>
                      </a:pPr>
                      <a:r>
                        <a:rPr sz="1600" b="1" spc="-5" dirty="0">
                          <a:solidFill>
                            <a:srgbClr val="333333"/>
                          </a:solidFill>
                          <a:latin typeface="Verdana"/>
                          <a:cs typeface="Verdana"/>
                        </a:rPr>
                        <a:t>Property</a:t>
                      </a:r>
                      <a:endParaRPr sz="1600" dirty="0">
                        <a:latin typeface="Verdana"/>
                        <a:cs typeface="Verdana"/>
                      </a:endParaRPr>
                    </a:p>
                  </a:txBody>
                  <a:tcPr marL="0" marR="0" marT="158563"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22860" algn="ctr">
                        <a:lnSpc>
                          <a:spcPct val="100000"/>
                        </a:lnSpc>
                        <a:spcBef>
                          <a:spcPts val="1415"/>
                        </a:spcBef>
                      </a:pPr>
                      <a:r>
                        <a:rPr sz="1600" b="1" spc="-10" dirty="0">
                          <a:solidFill>
                            <a:srgbClr val="333333"/>
                          </a:solidFill>
                          <a:latin typeface="Verdana"/>
                          <a:cs typeface="Verdana"/>
                        </a:rPr>
                        <a:t>Desirable</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235585" marR="186690" indent="-21590" algn="ctr">
                        <a:lnSpc>
                          <a:spcPct val="100000"/>
                        </a:lnSpc>
                        <a:spcBef>
                          <a:spcPts val="360"/>
                        </a:spcBef>
                      </a:pPr>
                      <a:r>
                        <a:rPr sz="1600" b="1" dirty="0">
                          <a:solidFill>
                            <a:srgbClr val="333333"/>
                          </a:solidFill>
                          <a:latin typeface="Verdana"/>
                          <a:cs typeface="Verdana"/>
                        </a:rPr>
                        <a:t>P</a:t>
                      </a:r>
                      <a:r>
                        <a:rPr sz="1600" b="1" spc="-10" dirty="0">
                          <a:solidFill>
                            <a:srgbClr val="333333"/>
                          </a:solidFill>
                          <a:latin typeface="Verdana"/>
                          <a:cs typeface="Verdana"/>
                        </a:rPr>
                        <a:t>r</a:t>
                      </a:r>
                      <a:r>
                        <a:rPr sz="1600" b="1" spc="0" dirty="0">
                          <a:solidFill>
                            <a:srgbClr val="333333"/>
                          </a:solidFill>
                          <a:latin typeface="Verdana"/>
                          <a:cs typeface="Verdana"/>
                        </a:rPr>
                        <a:t>i</a:t>
                      </a:r>
                      <a:r>
                        <a:rPr sz="1600" b="1" spc="-10" dirty="0">
                          <a:solidFill>
                            <a:srgbClr val="333333"/>
                          </a:solidFill>
                          <a:latin typeface="Verdana"/>
                          <a:cs typeface="Verdana"/>
                        </a:rPr>
                        <a:t>m</a:t>
                      </a:r>
                      <a:r>
                        <a:rPr sz="1600" b="1" dirty="0">
                          <a:solidFill>
                            <a:srgbClr val="333333"/>
                          </a:solidFill>
                          <a:latin typeface="Verdana"/>
                          <a:cs typeface="Verdana"/>
                        </a:rPr>
                        <a:t>a</a:t>
                      </a:r>
                      <a:r>
                        <a:rPr sz="1600" b="1" spc="-10" dirty="0">
                          <a:solidFill>
                            <a:srgbClr val="333333"/>
                          </a:solidFill>
                          <a:latin typeface="Verdana"/>
                          <a:cs typeface="Verdana"/>
                        </a:rPr>
                        <a:t>r</a:t>
                      </a:r>
                      <a:r>
                        <a:rPr sz="1600" b="1" dirty="0">
                          <a:solidFill>
                            <a:srgbClr val="333333"/>
                          </a:solidFill>
                          <a:latin typeface="Verdana"/>
                          <a:cs typeface="Verdana"/>
                        </a:rPr>
                        <a:t>y  </a:t>
                      </a:r>
                      <a:r>
                        <a:rPr sz="1600" b="1" spc="-10" dirty="0">
                          <a:solidFill>
                            <a:srgbClr val="333333"/>
                          </a:solidFill>
                          <a:latin typeface="Verdana"/>
                          <a:cs typeface="Verdana"/>
                        </a:rPr>
                        <a:t>storage</a:t>
                      </a:r>
                      <a:endParaRPr sz="1600" dirty="0">
                        <a:latin typeface="Verdana"/>
                        <a:cs typeface="Verdana"/>
                      </a:endParaRPr>
                    </a:p>
                  </a:txBody>
                  <a:tcPr marL="0" marR="0" marT="4034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445770" marR="231140" indent="-186055" algn="ctr">
                        <a:lnSpc>
                          <a:spcPct val="100000"/>
                        </a:lnSpc>
                        <a:spcBef>
                          <a:spcPts val="360"/>
                        </a:spcBef>
                      </a:pPr>
                      <a:r>
                        <a:rPr sz="1600" b="1" spc="-10" dirty="0">
                          <a:solidFill>
                            <a:srgbClr val="333333"/>
                          </a:solidFill>
                          <a:latin typeface="Verdana"/>
                          <a:cs typeface="Verdana"/>
                        </a:rPr>
                        <a:t>S</a:t>
                      </a:r>
                      <a:r>
                        <a:rPr sz="1600" b="1" dirty="0">
                          <a:solidFill>
                            <a:srgbClr val="333333"/>
                          </a:solidFill>
                          <a:latin typeface="Verdana"/>
                          <a:cs typeface="Verdana"/>
                        </a:rPr>
                        <a:t>ec</a:t>
                      </a:r>
                      <a:r>
                        <a:rPr sz="1600" b="1" spc="5" dirty="0">
                          <a:solidFill>
                            <a:srgbClr val="333333"/>
                          </a:solidFill>
                          <a:latin typeface="Verdana"/>
                          <a:cs typeface="Verdana"/>
                        </a:rPr>
                        <a:t>o</a:t>
                      </a:r>
                      <a:r>
                        <a:rPr sz="1600" b="1" spc="-10" dirty="0">
                          <a:solidFill>
                            <a:srgbClr val="333333"/>
                          </a:solidFill>
                          <a:latin typeface="Verdana"/>
                          <a:cs typeface="Verdana"/>
                        </a:rPr>
                        <a:t>nd</a:t>
                      </a:r>
                      <a:r>
                        <a:rPr sz="1600" b="1" spc="15" dirty="0">
                          <a:solidFill>
                            <a:srgbClr val="333333"/>
                          </a:solidFill>
                          <a:latin typeface="Verdana"/>
                          <a:cs typeface="Verdana"/>
                        </a:rPr>
                        <a:t>a</a:t>
                      </a:r>
                      <a:r>
                        <a:rPr sz="1600" b="1" spc="-10" dirty="0">
                          <a:solidFill>
                            <a:srgbClr val="333333"/>
                          </a:solidFill>
                          <a:latin typeface="Verdana"/>
                          <a:cs typeface="Verdana"/>
                        </a:rPr>
                        <a:t>r</a:t>
                      </a:r>
                      <a:r>
                        <a:rPr sz="1600" b="1" dirty="0">
                          <a:solidFill>
                            <a:srgbClr val="333333"/>
                          </a:solidFill>
                          <a:latin typeface="Verdana"/>
                          <a:cs typeface="Verdana"/>
                        </a:rPr>
                        <a:t>y  </a:t>
                      </a:r>
                      <a:r>
                        <a:rPr sz="1600" b="1" spc="-10" dirty="0">
                          <a:solidFill>
                            <a:srgbClr val="333333"/>
                          </a:solidFill>
                          <a:latin typeface="Verdana"/>
                          <a:cs typeface="Verdana"/>
                        </a:rPr>
                        <a:t>storage</a:t>
                      </a:r>
                      <a:endParaRPr sz="1600" dirty="0">
                        <a:latin typeface="Verdana"/>
                        <a:cs typeface="Verdana"/>
                      </a:endParaRPr>
                    </a:p>
                  </a:txBody>
                  <a:tcPr marL="0" marR="0" marT="40341"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B8CAE6"/>
                    </a:solidFill>
                  </a:tcPr>
                </a:tc>
                <a:extLst>
                  <a:ext uri="{0D108BD9-81ED-4DB2-BD59-A6C34878D82A}">
                    <a16:rowId xmlns:a16="http://schemas.microsoft.com/office/drawing/2014/main" val="10000"/>
                  </a:ext>
                </a:extLst>
              </a:tr>
              <a:tr h="840481">
                <a:tc>
                  <a:txBody>
                    <a:bodyPr/>
                    <a:lstStyle/>
                    <a:p>
                      <a:pPr marL="509905" marR="476250" indent="24130" algn="ctr">
                        <a:lnSpc>
                          <a:spcPct val="100000"/>
                        </a:lnSpc>
                        <a:spcBef>
                          <a:spcPts val="1080"/>
                        </a:spcBef>
                      </a:pPr>
                      <a:r>
                        <a:rPr sz="1600" spc="-5" dirty="0">
                          <a:solidFill>
                            <a:srgbClr val="333333"/>
                          </a:solidFill>
                          <a:latin typeface="Verdana"/>
                          <a:cs typeface="Verdana"/>
                        </a:rPr>
                        <a:t>Storage  </a:t>
                      </a:r>
                      <a:r>
                        <a:rPr sz="1600" dirty="0">
                          <a:solidFill>
                            <a:srgbClr val="333333"/>
                          </a:solidFill>
                          <a:latin typeface="Verdana"/>
                          <a:cs typeface="Verdana"/>
                        </a:rPr>
                        <a:t>ca</a:t>
                      </a:r>
                      <a:r>
                        <a:rPr sz="1600" spc="0" dirty="0">
                          <a:solidFill>
                            <a:srgbClr val="333333"/>
                          </a:solidFill>
                          <a:latin typeface="Verdana"/>
                          <a:cs typeface="Verdana"/>
                        </a:rPr>
                        <a:t>p</a:t>
                      </a:r>
                      <a:r>
                        <a:rPr sz="1600" dirty="0">
                          <a:solidFill>
                            <a:srgbClr val="333333"/>
                          </a:solidFill>
                          <a:latin typeface="Verdana"/>
                          <a:cs typeface="Verdana"/>
                        </a:rPr>
                        <a:t>ac</a:t>
                      </a:r>
                      <a:r>
                        <a:rPr sz="1600" spc="5" dirty="0">
                          <a:solidFill>
                            <a:srgbClr val="333333"/>
                          </a:solidFill>
                          <a:latin typeface="Verdana"/>
                          <a:cs typeface="Verdana"/>
                        </a:rPr>
                        <a:t>it</a:t>
                      </a:r>
                      <a:r>
                        <a:rPr sz="1600" dirty="0">
                          <a:solidFill>
                            <a:srgbClr val="333333"/>
                          </a:solidFill>
                          <a:latin typeface="Verdana"/>
                          <a:cs typeface="Verdana"/>
                        </a:rPr>
                        <a:t>y</a:t>
                      </a:r>
                      <a:endParaRPr sz="1600" dirty="0">
                        <a:latin typeface="Verdana"/>
                        <a:cs typeface="Verdana"/>
                      </a:endParaRPr>
                    </a:p>
                  </a:txBody>
                  <a:tcPr marL="0" marR="0" marT="121024"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27305" algn="ctr">
                        <a:lnSpc>
                          <a:spcPct val="100000"/>
                        </a:lnSpc>
                      </a:pPr>
                      <a:r>
                        <a:rPr sz="1600" dirty="0">
                          <a:solidFill>
                            <a:srgbClr val="333333"/>
                          </a:solidFill>
                          <a:latin typeface="Verdana"/>
                          <a:cs typeface="Verdana"/>
                        </a:rPr>
                        <a:t>Large </a:t>
                      </a:r>
                      <a:r>
                        <a:rPr sz="1600" spc="-5" dirty="0">
                          <a:solidFill>
                            <a:srgbClr val="333333"/>
                          </a:solidFill>
                          <a:latin typeface="Verdana"/>
                          <a:cs typeface="Verdana"/>
                        </a:rPr>
                        <a:t>storage</a:t>
                      </a:r>
                      <a:r>
                        <a:rPr sz="1600" spc="-15" dirty="0">
                          <a:solidFill>
                            <a:srgbClr val="333333"/>
                          </a:solidFill>
                          <a:latin typeface="Verdana"/>
                          <a:cs typeface="Verdana"/>
                        </a:rPr>
                        <a:t> </a:t>
                      </a:r>
                      <a:r>
                        <a:rPr sz="1600" spc="-5" dirty="0">
                          <a:solidFill>
                            <a:srgbClr val="333333"/>
                          </a:solidFill>
                          <a:latin typeface="Verdana"/>
                          <a:cs typeface="Verdana"/>
                        </a:rPr>
                        <a:t>capacity</a:t>
                      </a:r>
                      <a:endParaRPr sz="1600" dirty="0">
                        <a:latin typeface="Verdana"/>
                        <a:cs typeface="Verdana"/>
                      </a:endParaRPr>
                    </a:p>
                  </a:txBody>
                  <a:tcPr marL="0" marR="0" marT="336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19685" algn="ctr">
                        <a:lnSpc>
                          <a:spcPct val="100000"/>
                        </a:lnSpc>
                      </a:pPr>
                      <a:r>
                        <a:rPr sz="1600" spc="-5" dirty="0">
                          <a:solidFill>
                            <a:srgbClr val="333333"/>
                          </a:solidFill>
                          <a:latin typeface="Verdana"/>
                          <a:cs typeface="Verdana"/>
                        </a:rPr>
                        <a:t>Small</a:t>
                      </a:r>
                      <a:endParaRPr sz="1600" dirty="0">
                        <a:latin typeface="Verdana"/>
                        <a:cs typeface="Verdana"/>
                      </a:endParaRPr>
                    </a:p>
                  </a:txBody>
                  <a:tcPr marL="0" marR="0" marT="336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22225" algn="ctr">
                        <a:lnSpc>
                          <a:spcPct val="100000"/>
                        </a:lnSpc>
                      </a:pPr>
                      <a:r>
                        <a:rPr sz="1600" dirty="0">
                          <a:solidFill>
                            <a:srgbClr val="333333"/>
                          </a:solidFill>
                          <a:latin typeface="Verdana"/>
                          <a:cs typeface="Verdana"/>
                        </a:rPr>
                        <a:t>Large</a:t>
                      </a:r>
                      <a:endParaRPr sz="1600" dirty="0">
                        <a:latin typeface="Verdana"/>
                        <a:cs typeface="Verdana"/>
                      </a:endParaRPr>
                    </a:p>
                  </a:txBody>
                  <a:tcPr marL="0" marR="0" marT="336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04462">
                <a:tc>
                  <a:txBody>
                    <a:bodyPr/>
                    <a:lstStyle/>
                    <a:p>
                      <a:pPr marL="27305" algn="ctr">
                        <a:lnSpc>
                          <a:spcPct val="100000"/>
                        </a:lnSpc>
                        <a:spcBef>
                          <a:spcPts val="455"/>
                        </a:spcBef>
                      </a:pPr>
                      <a:r>
                        <a:rPr sz="1600" spc="-5" dirty="0">
                          <a:solidFill>
                            <a:srgbClr val="333333"/>
                          </a:solidFill>
                          <a:latin typeface="Verdana"/>
                          <a:cs typeface="Verdana"/>
                        </a:rPr>
                        <a:t>Access</a:t>
                      </a:r>
                      <a:r>
                        <a:rPr sz="1600" spc="-30" dirty="0">
                          <a:solidFill>
                            <a:srgbClr val="333333"/>
                          </a:solidFill>
                          <a:latin typeface="Verdana"/>
                          <a:cs typeface="Verdana"/>
                        </a:rPr>
                        <a:t> </a:t>
                      </a:r>
                      <a:r>
                        <a:rPr sz="1600" dirty="0">
                          <a:solidFill>
                            <a:srgbClr val="333333"/>
                          </a:solidFill>
                          <a:latin typeface="Verdana"/>
                          <a:cs typeface="Verdana"/>
                        </a:rPr>
                        <a:t>Time</a:t>
                      </a:r>
                      <a:endParaRPr sz="1600" dirty="0">
                        <a:latin typeface="Verdana"/>
                        <a:cs typeface="Verdana"/>
                      </a:endParaRPr>
                    </a:p>
                  </a:txBody>
                  <a:tcPr marL="0" marR="0" marT="5098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7305" algn="ctr">
                        <a:lnSpc>
                          <a:spcPct val="100000"/>
                        </a:lnSpc>
                        <a:spcBef>
                          <a:spcPts val="455"/>
                        </a:spcBef>
                      </a:pPr>
                      <a:r>
                        <a:rPr sz="1600" spc="-5" dirty="0">
                          <a:solidFill>
                            <a:srgbClr val="333333"/>
                          </a:solidFill>
                          <a:latin typeface="Verdana"/>
                          <a:cs typeface="Verdana"/>
                        </a:rPr>
                        <a:t>Fast </a:t>
                      </a:r>
                      <a:r>
                        <a:rPr sz="1600" dirty="0">
                          <a:solidFill>
                            <a:srgbClr val="333333"/>
                          </a:solidFill>
                          <a:latin typeface="Verdana"/>
                          <a:cs typeface="Verdana"/>
                        </a:rPr>
                        <a:t>access</a:t>
                      </a:r>
                      <a:r>
                        <a:rPr sz="1600" spc="-20" dirty="0">
                          <a:solidFill>
                            <a:srgbClr val="333333"/>
                          </a:solidFill>
                          <a:latin typeface="Verdana"/>
                          <a:cs typeface="Verdana"/>
                        </a:rPr>
                        <a:t> </a:t>
                      </a:r>
                      <a:r>
                        <a:rPr sz="1600" dirty="0">
                          <a:solidFill>
                            <a:srgbClr val="333333"/>
                          </a:solidFill>
                          <a:latin typeface="Verdana"/>
                          <a:cs typeface="Verdana"/>
                        </a:rPr>
                        <a:t>time</a:t>
                      </a:r>
                      <a:endParaRPr sz="1600" dirty="0">
                        <a:latin typeface="Verdana"/>
                        <a:cs typeface="Verdana"/>
                      </a:endParaRPr>
                    </a:p>
                  </a:txBody>
                  <a:tcPr marL="0" marR="0" marT="509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0" algn="ctr">
                        <a:lnSpc>
                          <a:spcPct val="100000"/>
                        </a:lnSpc>
                        <a:spcBef>
                          <a:spcPts val="455"/>
                        </a:spcBef>
                      </a:pPr>
                      <a:r>
                        <a:rPr sz="1600" spc="-5" dirty="0">
                          <a:solidFill>
                            <a:srgbClr val="333333"/>
                          </a:solidFill>
                          <a:latin typeface="Verdana"/>
                          <a:cs typeface="Verdana"/>
                        </a:rPr>
                        <a:t>Fast</a:t>
                      </a:r>
                      <a:endParaRPr sz="1600" dirty="0">
                        <a:latin typeface="Verdana"/>
                        <a:cs typeface="Verdana"/>
                      </a:endParaRPr>
                    </a:p>
                  </a:txBody>
                  <a:tcPr marL="0" marR="0" marT="509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algn="ctr">
                        <a:lnSpc>
                          <a:spcPct val="100000"/>
                        </a:lnSpc>
                        <a:spcBef>
                          <a:spcPts val="455"/>
                        </a:spcBef>
                      </a:pPr>
                      <a:r>
                        <a:rPr sz="1600" dirty="0">
                          <a:solidFill>
                            <a:srgbClr val="333333"/>
                          </a:solidFill>
                          <a:latin typeface="Verdana"/>
                          <a:cs typeface="Verdana"/>
                        </a:rPr>
                        <a:t>Slow</a:t>
                      </a:r>
                      <a:endParaRPr sz="1600" dirty="0">
                        <a:latin typeface="Verdana"/>
                        <a:cs typeface="Verdana"/>
                      </a:endParaRPr>
                    </a:p>
                  </a:txBody>
                  <a:tcPr marL="0" marR="0" marT="5098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49199">
                <a:tc>
                  <a:txBody>
                    <a:bodyPr/>
                    <a:lstStyle/>
                    <a:p>
                      <a:pPr marL="553085" marR="127635" indent="-390525" algn="ctr">
                        <a:lnSpc>
                          <a:spcPct val="100000"/>
                        </a:lnSpc>
                        <a:spcBef>
                          <a:spcPts val="335"/>
                        </a:spcBef>
                      </a:pPr>
                      <a:r>
                        <a:rPr sz="1600" spc="-5" dirty="0">
                          <a:solidFill>
                            <a:srgbClr val="333333"/>
                          </a:solidFill>
                          <a:latin typeface="Verdana"/>
                          <a:cs typeface="Verdana"/>
                        </a:rPr>
                        <a:t>Cost </a:t>
                      </a:r>
                      <a:r>
                        <a:rPr sz="1600" dirty="0">
                          <a:solidFill>
                            <a:srgbClr val="333333"/>
                          </a:solidFill>
                          <a:latin typeface="Verdana"/>
                          <a:cs typeface="Verdana"/>
                        </a:rPr>
                        <a:t>per </a:t>
                      </a:r>
                      <a:r>
                        <a:rPr sz="1600" spc="-5" dirty="0">
                          <a:solidFill>
                            <a:srgbClr val="333333"/>
                          </a:solidFill>
                          <a:latin typeface="Verdana"/>
                          <a:cs typeface="Verdana"/>
                        </a:rPr>
                        <a:t>bit</a:t>
                      </a:r>
                      <a:r>
                        <a:rPr sz="1600" spc="-50" dirty="0">
                          <a:solidFill>
                            <a:srgbClr val="333333"/>
                          </a:solidFill>
                          <a:latin typeface="Verdana"/>
                          <a:cs typeface="Verdana"/>
                        </a:rPr>
                        <a:t> </a:t>
                      </a:r>
                      <a:r>
                        <a:rPr sz="1600" dirty="0">
                          <a:solidFill>
                            <a:srgbClr val="333333"/>
                          </a:solidFill>
                          <a:latin typeface="Verdana"/>
                          <a:cs typeface="Verdana"/>
                        </a:rPr>
                        <a:t>of  </a:t>
                      </a:r>
                      <a:r>
                        <a:rPr sz="1600" spc="-5" dirty="0">
                          <a:solidFill>
                            <a:srgbClr val="333333"/>
                          </a:solidFill>
                          <a:latin typeface="Verdana"/>
                          <a:cs typeface="Verdana"/>
                        </a:rPr>
                        <a:t>storage</a:t>
                      </a:r>
                      <a:endParaRPr sz="1600" dirty="0">
                        <a:latin typeface="Verdana"/>
                        <a:cs typeface="Verdana"/>
                      </a:endParaRPr>
                    </a:p>
                  </a:txBody>
                  <a:tcPr marL="0" marR="0" marT="3754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0" algn="ctr">
                        <a:lnSpc>
                          <a:spcPct val="100000"/>
                        </a:lnSpc>
                        <a:spcBef>
                          <a:spcPts val="1415"/>
                        </a:spcBef>
                      </a:pPr>
                      <a:r>
                        <a:rPr sz="1600" spc="-5" dirty="0">
                          <a:solidFill>
                            <a:srgbClr val="333333"/>
                          </a:solidFill>
                          <a:latin typeface="Verdana"/>
                          <a:cs typeface="Verdana"/>
                        </a:rPr>
                        <a:t>Lower </a:t>
                      </a:r>
                      <a:r>
                        <a:rPr sz="1600" dirty="0">
                          <a:solidFill>
                            <a:srgbClr val="333333"/>
                          </a:solidFill>
                          <a:latin typeface="Verdana"/>
                          <a:cs typeface="Verdana"/>
                        </a:rPr>
                        <a:t>cost per</a:t>
                      </a:r>
                      <a:r>
                        <a:rPr sz="1600" spc="-25" dirty="0">
                          <a:solidFill>
                            <a:srgbClr val="333333"/>
                          </a:solidFill>
                          <a:latin typeface="Verdana"/>
                          <a:cs typeface="Verdana"/>
                        </a:rPr>
                        <a:t> </a:t>
                      </a:r>
                      <a:r>
                        <a:rPr sz="1600" spc="-5" dirty="0">
                          <a:solidFill>
                            <a:srgbClr val="333333"/>
                          </a:solidFill>
                          <a:latin typeface="Verdana"/>
                          <a:cs typeface="Verdana"/>
                        </a:rPr>
                        <a:t>bit</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gn="ctr">
                        <a:lnSpc>
                          <a:spcPct val="100000"/>
                        </a:lnSpc>
                        <a:spcBef>
                          <a:spcPts val="1415"/>
                        </a:spcBef>
                      </a:pPr>
                      <a:r>
                        <a:rPr sz="1600" dirty="0">
                          <a:solidFill>
                            <a:srgbClr val="333333"/>
                          </a:solidFill>
                          <a:latin typeface="Verdana"/>
                          <a:cs typeface="Verdana"/>
                        </a:rPr>
                        <a:t>High</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765" algn="ctr">
                        <a:lnSpc>
                          <a:spcPct val="100000"/>
                        </a:lnSpc>
                        <a:spcBef>
                          <a:spcPts val="1415"/>
                        </a:spcBef>
                      </a:pPr>
                      <a:r>
                        <a:rPr sz="1600" dirty="0">
                          <a:solidFill>
                            <a:srgbClr val="333333"/>
                          </a:solidFill>
                          <a:latin typeface="Verdana"/>
                          <a:cs typeface="Verdana"/>
                        </a:rPr>
                        <a:t>Low</a:t>
                      </a:r>
                      <a:endParaRPr sz="1600" dirty="0">
                        <a:latin typeface="Verdana"/>
                        <a:cs typeface="Verdana"/>
                      </a:endParaRPr>
                    </a:p>
                  </a:txBody>
                  <a:tcPr marL="0" marR="0" marT="158563"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53034">
                <a:tc>
                  <a:txBody>
                    <a:bodyPr/>
                    <a:lstStyle/>
                    <a:p>
                      <a:pPr marL="29845" algn="ctr">
                        <a:lnSpc>
                          <a:spcPct val="100000"/>
                        </a:lnSpc>
                        <a:spcBef>
                          <a:spcPts val="645"/>
                        </a:spcBef>
                      </a:pPr>
                      <a:r>
                        <a:rPr sz="1600" dirty="0">
                          <a:solidFill>
                            <a:srgbClr val="333333"/>
                          </a:solidFill>
                          <a:latin typeface="Verdana"/>
                          <a:cs typeface="Verdana"/>
                        </a:rPr>
                        <a:t>Volatility</a:t>
                      </a:r>
                      <a:endParaRPr sz="1600" dirty="0">
                        <a:latin typeface="Verdana"/>
                        <a:cs typeface="Verdana"/>
                      </a:endParaRPr>
                    </a:p>
                  </a:txBody>
                  <a:tcPr marL="0" marR="0" marT="72278"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algn="ctr">
                        <a:lnSpc>
                          <a:spcPct val="100000"/>
                        </a:lnSpc>
                        <a:spcBef>
                          <a:spcPts val="645"/>
                        </a:spcBef>
                      </a:pPr>
                      <a:r>
                        <a:rPr sz="1600" spc="-5" dirty="0">
                          <a:solidFill>
                            <a:srgbClr val="333333"/>
                          </a:solidFill>
                          <a:latin typeface="Verdana"/>
                          <a:cs typeface="Verdana"/>
                        </a:rPr>
                        <a:t>Non-volatile</a:t>
                      </a:r>
                      <a:endParaRPr sz="1600" dirty="0">
                        <a:latin typeface="Verdana"/>
                        <a:cs typeface="Verdana"/>
                      </a:endParaRPr>
                    </a:p>
                  </a:txBody>
                  <a:tcPr marL="0" marR="0" marT="722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320" algn="ctr">
                        <a:lnSpc>
                          <a:spcPct val="100000"/>
                        </a:lnSpc>
                        <a:spcBef>
                          <a:spcPts val="645"/>
                        </a:spcBef>
                      </a:pPr>
                      <a:r>
                        <a:rPr sz="1600" spc="-5" dirty="0">
                          <a:solidFill>
                            <a:srgbClr val="333333"/>
                          </a:solidFill>
                          <a:latin typeface="Verdana"/>
                          <a:cs typeface="Verdana"/>
                        </a:rPr>
                        <a:t>Volatile</a:t>
                      </a:r>
                      <a:endParaRPr sz="1600" dirty="0">
                        <a:latin typeface="Verdana"/>
                        <a:cs typeface="Verdana"/>
                      </a:endParaRPr>
                    </a:p>
                  </a:txBody>
                  <a:tcPr marL="0" marR="0" marT="722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gn="ctr">
                        <a:lnSpc>
                          <a:spcPct val="100000"/>
                        </a:lnSpc>
                        <a:spcBef>
                          <a:spcPts val="645"/>
                        </a:spcBef>
                      </a:pPr>
                      <a:r>
                        <a:rPr sz="1600" spc="-5" dirty="0">
                          <a:solidFill>
                            <a:srgbClr val="333333"/>
                          </a:solidFill>
                          <a:latin typeface="Verdana"/>
                          <a:cs typeface="Verdana"/>
                        </a:rPr>
                        <a:t>Non-volatile</a:t>
                      </a:r>
                      <a:endParaRPr sz="1600" dirty="0">
                        <a:latin typeface="Verdana"/>
                        <a:cs typeface="Verdana"/>
                      </a:endParaRPr>
                    </a:p>
                  </a:txBody>
                  <a:tcPr marL="0" marR="0" marT="72278"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1483885">
                <a:tc>
                  <a:txBody>
                    <a:bodyPr/>
                    <a:lstStyle/>
                    <a:p>
                      <a:pPr algn="ctr">
                        <a:lnSpc>
                          <a:spcPct val="100000"/>
                        </a:lnSpc>
                      </a:pPr>
                      <a:endParaRPr sz="1900" dirty="0">
                        <a:latin typeface="Times New Roman"/>
                        <a:cs typeface="Times New Roman"/>
                      </a:endParaRPr>
                    </a:p>
                    <a:p>
                      <a:pPr algn="ctr">
                        <a:lnSpc>
                          <a:spcPct val="100000"/>
                        </a:lnSpc>
                        <a:spcBef>
                          <a:spcPts val="55"/>
                        </a:spcBef>
                      </a:pPr>
                      <a:endParaRPr sz="1600" dirty="0">
                        <a:latin typeface="Times New Roman"/>
                        <a:cs typeface="Times New Roman"/>
                      </a:endParaRPr>
                    </a:p>
                    <a:p>
                      <a:pPr marL="24765" algn="ctr">
                        <a:lnSpc>
                          <a:spcPct val="100000"/>
                        </a:lnSpc>
                      </a:pPr>
                      <a:r>
                        <a:rPr sz="1600" spc="-5" dirty="0">
                          <a:solidFill>
                            <a:srgbClr val="333333"/>
                          </a:solidFill>
                          <a:latin typeface="Verdana"/>
                          <a:cs typeface="Verdana"/>
                        </a:rPr>
                        <a:t>Access</a:t>
                      </a:r>
                      <a:endParaRPr sz="1600" dirty="0">
                        <a:latin typeface="Verdana"/>
                        <a:cs typeface="Verdana"/>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pPr>
                      <a:endParaRPr sz="1900" dirty="0">
                        <a:latin typeface="Times New Roman"/>
                        <a:cs typeface="Times New Roman"/>
                      </a:endParaRPr>
                    </a:p>
                    <a:p>
                      <a:pPr algn="ctr">
                        <a:lnSpc>
                          <a:spcPct val="100000"/>
                        </a:lnSpc>
                        <a:spcBef>
                          <a:spcPts val="55"/>
                        </a:spcBef>
                      </a:pPr>
                      <a:endParaRPr sz="1600" dirty="0">
                        <a:latin typeface="Times New Roman"/>
                        <a:cs typeface="Times New Roman"/>
                      </a:endParaRPr>
                    </a:p>
                    <a:p>
                      <a:pPr marL="27305" algn="ctr">
                        <a:lnSpc>
                          <a:spcPct val="100000"/>
                        </a:lnSpc>
                      </a:pPr>
                      <a:r>
                        <a:rPr sz="1600" spc="-5" dirty="0">
                          <a:solidFill>
                            <a:srgbClr val="333333"/>
                          </a:solidFill>
                          <a:latin typeface="Verdana"/>
                          <a:cs typeface="Verdana"/>
                        </a:rPr>
                        <a:t>Random</a:t>
                      </a:r>
                      <a:r>
                        <a:rPr sz="1600" spc="-20" dirty="0">
                          <a:solidFill>
                            <a:srgbClr val="333333"/>
                          </a:solidFill>
                          <a:latin typeface="Verdana"/>
                          <a:cs typeface="Verdana"/>
                        </a:rPr>
                        <a:t> </a:t>
                      </a:r>
                      <a:r>
                        <a:rPr lang="en-US" sz="1600" dirty="0">
                          <a:solidFill>
                            <a:srgbClr val="333333"/>
                          </a:solidFill>
                          <a:latin typeface="Verdana"/>
                          <a:cs typeface="Verdana"/>
                        </a:rPr>
                        <a:t>access</a:t>
                      </a:r>
                      <a:endParaRPr sz="1600" dirty="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0"/>
                        </a:spcBef>
                      </a:pPr>
                      <a:endParaRPr sz="2700" dirty="0">
                        <a:latin typeface="Times New Roman"/>
                        <a:cs typeface="Times New Roman"/>
                      </a:endParaRPr>
                    </a:p>
                    <a:p>
                      <a:pPr marL="347980" marR="220345" indent="-97790" algn="ctr">
                        <a:lnSpc>
                          <a:spcPct val="100000"/>
                        </a:lnSpc>
                      </a:pPr>
                      <a:r>
                        <a:rPr sz="1600" dirty="0">
                          <a:solidFill>
                            <a:srgbClr val="333333"/>
                          </a:solidFill>
                          <a:latin typeface="Verdana"/>
                          <a:cs typeface="Verdana"/>
                        </a:rPr>
                        <a:t>Ra</a:t>
                      </a:r>
                      <a:r>
                        <a:rPr sz="1600" spc="-15" dirty="0">
                          <a:solidFill>
                            <a:srgbClr val="333333"/>
                          </a:solidFill>
                          <a:latin typeface="Verdana"/>
                          <a:cs typeface="Verdana"/>
                        </a:rPr>
                        <a:t>n</a:t>
                      </a:r>
                      <a:r>
                        <a:rPr sz="1600" spc="0" dirty="0">
                          <a:solidFill>
                            <a:srgbClr val="333333"/>
                          </a:solidFill>
                          <a:latin typeface="Verdana"/>
                          <a:cs typeface="Verdana"/>
                        </a:rPr>
                        <a:t>do</a:t>
                      </a:r>
                      <a:r>
                        <a:rPr sz="1600" dirty="0">
                          <a:solidFill>
                            <a:srgbClr val="333333"/>
                          </a:solidFill>
                          <a:latin typeface="Verdana"/>
                          <a:cs typeface="Verdana"/>
                        </a:rPr>
                        <a:t>m  access</a:t>
                      </a:r>
                      <a:endParaRPr sz="1600" dirty="0">
                        <a:latin typeface="Verdana"/>
                        <a:cs typeface="Verdana"/>
                      </a:endParaRPr>
                    </a:p>
                  </a:txBody>
                  <a:tcPr marL="0" marR="0" marT="1121"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341630" marR="313055" indent="1270" algn="ctr">
                        <a:lnSpc>
                          <a:spcPct val="100299"/>
                        </a:lnSpc>
                        <a:spcBef>
                          <a:spcPts val="330"/>
                        </a:spcBef>
                      </a:pPr>
                      <a:endParaRPr lang="en-US" sz="1600" spc="-5" dirty="0">
                        <a:solidFill>
                          <a:srgbClr val="333333"/>
                        </a:solidFill>
                        <a:latin typeface="Verdana"/>
                        <a:cs typeface="Verdana"/>
                      </a:endParaRPr>
                    </a:p>
                    <a:p>
                      <a:pPr marL="341630" marR="313055" indent="1270" algn="ctr">
                        <a:lnSpc>
                          <a:spcPct val="100299"/>
                        </a:lnSpc>
                        <a:spcBef>
                          <a:spcPts val="330"/>
                        </a:spcBef>
                      </a:pPr>
                      <a:r>
                        <a:rPr sz="1600" spc="-5" dirty="0">
                          <a:solidFill>
                            <a:srgbClr val="333333"/>
                          </a:solidFill>
                          <a:latin typeface="Verdana"/>
                          <a:cs typeface="Verdana"/>
                        </a:rPr>
                        <a:t>Pseudo-random</a:t>
                      </a:r>
                      <a:r>
                        <a:rPr lang="en-US" sz="1600" spc="-5" dirty="0">
                          <a:solidFill>
                            <a:srgbClr val="333333"/>
                          </a:solidFill>
                          <a:latin typeface="Verdana"/>
                          <a:cs typeface="Verdana"/>
                        </a:rPr>
                        <a:t> </a:t>
                      </a:r>
                      <a:r>
                        <a:rPr sz="1600" spc="-5" dirty="0">
                          <a:solidFill>
                            <a:srgbClr val="333333"/>
                          </a:solidFill>
                          <a:latin typeface="Verdana"/>
                          <a:cs typeface="Verdana"/>
                        </a:rPr>
                        <a:t>access </a:t>
                      </a:r>
                      <a:r>
                        <a:rPr sz="1600" dirty="0">
                          <a:solidFill>
                            <a:srgbClr val="333333"/>
                          </a:solidFill>
                          <a:latin typeface="Verdana"/>
                          <a:cs typeface="Verdana"/>
                        </a:rPr>
                        <a:t>or  s</a:t>
                      </a:r>
                      <a:r>
                        <a:rPr sz="1600" spc="0" dirty="0">
                          <a:solidFill>
                            <a:srgbClr val="333333"/>
                          </a:solidFill>
                          <a:latin typeface="Verdana"/>
                          <a:cs typeface="Verdana"/>
                        </a:rPr>
                        <a:t>eq</a:t>
                      </a:r>
                      <a:r>
                        <a:rPr sz="1600" spc="-15" dirty="0">
                          <a:solidFill>
                            <a:srgbClr val="333333"/>
                          </a:solidFill>
                          <a:latin typeface="Verdana"/>
                          <a:cs typeface="Verdana"/>
                        </a:rPr>
                        <a:t>u</a:t>
                      </a:r>
                      <a:r>
                        <a:rPr sz="1600" spc="0" dirty="0">
                          <a:solidFill>
                            <a:srgbClr val="333333"/>
                          </a:solidFill>
                          <a:latin typeface="Verdana"/>
                          <a:cs typeface="Verdana"/>
                        </a:rPr>
                        <a:t>e</a:t>
                      </a:r>
                      <a:r>
                        <a:rPr sz="1600" spc="-15" dirty="0">
                          <a:solidFill>
                            <a:srgbClr val="333333"/>
                          </a:solidFill>
                          <a:latin typeface="Verdana"/>
                          <a:cs typeface="Verdana"/>
                        </a:rPr>
                        <a:t>n</a:t>
                      </a:r>
                      <a:r>
                        <a:rPr sz="1600" spc="5" dirty="0">
                          <a:solidFill>
                            <a:srgbClr val="333333"/>
                          </a:solidFill>
                          <a:latin typeface="Verdana"/>
                          <a:cs typeface="Verdana"/>
                        </a:rPr>
                        <a:t>ti</a:t>
                      </a:r>
                      <a:r>
                        <a:rPr sz="1600" dirty="0">
                          <a:solidFill>
                            <a:srgbClr val="333333"/>
                          </a:solidFill>
                          <a:latin typeface="Verdana"/>
                          <a:cs typeface="Verdana"/>
                        </a:rPr>
                        <a:t>al</a:t>
                      </a:r>
                      <a:r>
                        <a:rPr lang="en-US" sz="1600" dirty="0">
                          <a:solidFill>
                            <a:srgbClr val="333333"/>
                          </a:solidFill>
                          <a:latin typeface="Verdana"/>
                          <a:cs typeface="Verdana"/>
                        </a:rPr>
                        <a:t> </a:t>
                      </a:r>
                      <a:r>
                        <a:rPr sz="1600" dirty="0">
                          <a:solidFill>
                            <a:srgbClr val="333333"/>
                          </a:solidFill>
                          <a:latin typeface="Verdana"/>
                          <a:cs typeface="Verdana"/>
                        </a:rPr>
                        <a:t>access</a:t>
                      </a:r>
                      <a:endParaRPr sz="1600" dirty="0">
                        <a:latin typeface="Verdana"/>
                        <a:cs typeface="Verdana"/>
                      </a:endParaRPr>
                    </a:p>
                  </a:txBody>
                  <a:tcPr marL="0" marR="0" marT="36979"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26081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92D20-3E53-4C3A-955F-E5AE22571EFD}"/>
              </a:ext>
            </a:extLst>
          </p:cNvPr>
          <p:cNvSpPr>
            <a:spLocks noGrp="1"/>
          </p:cNvSpPr>
          <p:nvPr>
            <p:ph type="title"/>
          </p:nvPr>
        </p:nvSpPr>
        <p:spPr>
          <a:xfrm>
            <a:off x="962041" y="624648"/>
            <a:ext cx="10308771" cy="1325563"/>
          </a:xfrm>
        </p:spPr>
        <p:txBody>
          <a:bodyPr>
            <a:normAutofit fontScale="90000"/>
          </a:bodyPr>
          <a:lstStyle/>
          <a:p>
            <a:r>
              <a:rPr lang="en-US" spc="-9" dirty="0"/>
              <a:t>Main Memory</a:t>
            </a:r>
            <a:r>
              <a:rPr lang="en-US" spc="44" dirty="0"/>
              <a:t> </a:t>
            </a:r>
            <a:r>
              <a:rPr lang="en-US" spc="-4" dirty="0"/>
              <a:t>Organization</a:t>
            </a:r>
            <a:br>
              <a:rPr lang="en-US" spc="-4" dirty="0"/>
            </a:br>
            <a:endParaRPr lang="LID4096" dirty="0"/>
          </a:p>
        </p:txBody>
      </p:sp>
      <p:sp>
        <p:nvSpPr>
          <p:cNvPr id="4" name="object 4">
            <a:extLst>
              <a:ext uri="{FF2B5EF4-FFF2-40B4-BE49-F238E27FC236}">
                <a16:creationId xmlns:a16="http://schemas.microsoft.com/office/drawing/2014/main" id="{17EBD95A-4CA4-4DF4-A8C4-C3E3C96A1009}"/>
              </a:ext>
            </a:extLst>
          </p:cNvPr>
          <p:cNvSpPr txBox="1"/>
          <p:nvPr/>
        </p:nvSpPr>
        <p:spPr>
          <a:xfrm>
            <a:off x="2674877" y="3399738"/>
            <a:ext cx="1320613" cy="500039"/>
          </a:xfrm>
          <a:prstGeom prst="rect">
            <a:avLst/>
          </a:prstGeom>
        </p:spPr>
        <p:txBody>
          <a:bodyPr vert="horz" wrap="square" lIns="0" tIns="11206" rIns="0" bIns="0" rtlCol="0">
            <a:spAutoFit/>
          </a:bodyPr>
          <a:lstStyle/>
          <a:p>
            <a:pPr marL="11206" marR="4483">
              <a:spcBef>
                <a:spcPts val="88"/>
              </a:spcBef>
            </a:pPr>
            <a:r>
              <a:rPr sz="1588" spc="-4" dirty="0">
                <a:solidFill>
                  <a:srgbClr val="333333"/>
                </a:solidFill>
                <a:latin typeface="Verdana"/>
                <a:cs typeface="Verdana"/>
              </a:rPr>
              <a:t>Addresses</a:t>
            </a:r>
            <a:r>
              <a:rPr sz="1588" spc="-40" dirty="0">
                <a:solidFill>
                  <a:srgbClr val="333333"/>
                </a:solidFill>
                <a:latin typeface="Verdana"/>
                <a:cs typeface="Verdana"/>
              </a:rPr>
              <a:t> </a:t>
            </a:r>
            <a:r>
              <a:rPr sz="1588" dirty="0">
                <a:solidFill>
                  <a:srgbClr val="333333"/>
                </a:solidFill>
                <a:latin typeface="Verdana"/>
                <a:cs typeface="Verdana"/>
              </a:rPr>
              <a:t>of  a</a:t>
            </a:r>
            <a:r>
              <a:rPr sz="1588" spc="-26" dirty="0">
                <a:solidFill>
                  <a:srgbClr val="333333"/>
                </a:solidFill>
                <a:latin typeface="Verdana"/>
                <a:cs typeface="Verdana"/>
              </a:rPr>
              <a:t> </a:t>
            </a:r>
            <a:r>
              <a:rPr sz="1588" dirty="0">
                <a:solidFill>
                  <a:srgbClr val="333333"/>
                </a:solidFill>
                <a:latin typeface="Verdana"/>
                <a:cs typeface="Verdana"/>
              </a:rPr>
              <a:t>memory</a:t>
            </a:r>
            <a:endParaRPr sz="1588" dirty="0">
              <a:latin typeface="Verdana"/>
              <a:cs typeface="Verdana"/>
            </a:endParaRPr>
          </a:p>
        </p:txBody>
      </p:sp>
      <p:sp>
        <p:nvSpPr>
          <p:cNvPr id="5" name="object 5">
            <a:extLst>
              <a:ext uri="{FF2B5EF4-FFF2-40B4-BE49-F238E27FC236}">
                <a16:creationId xmlns:a16="http://schemas.microsoft.com/office/drawing/2014/main" id="{79E703FA-B592-4EFB-B8FF-F247FACB9117}"/>
              </a:ext>
            </a:extLst>
          </p:cNvPr>
          <p:cNvSpPr txBox="1"/>
          <p:nvPr/>
        </p:nvSpPr>
        <p:spPr>
          <a:xfrm>
            <a:off x="7712145" y="3477730"/>
            <a:ext cx="1561540" cy="744401"/>
          </a:xfrm>
          <a:prstGeom prst="rect">
            <a:avLst/>
          </a:prstGeom>
        </p:spPr>
        <p:txBody>
          <a:bodyPr vert="horz" wrap="square" lIns="0" tIns="11206" rIns="0" bIns="0" rtlCol="0">
            <a:spAutoFit/>
          </a:bodyPr>
          <a:lstStyle/>
          <a:p>
            <a:pPr marL="11206" marR="245422">
              <a:spcBef>
                <a:spcPts val="88"/>
              </a:spcBef>
            </a:pPr>
            <a:r>
              <a:rPr sz="1588" spc="-9" dirty="0">
                <a:solidFill>
                  <a:srgbClr val="333333"/>
                </a:solidFill>
                <a:latin typeface="Verdana"/>
                <a:cs typeface="Verdana"/>
              </a:rPr>
              <a:t>The </a:t>
            </a:r>
            <a:r>
              <a:rPr sz="1588" spc="-4" dirty="0">
                <a:solidFill>
                  <a:srgbClr val="333333"/>
                </a:solidFill>
                <a:latin typeface="Verdana"/>
                <a:cs typeface="Verdana"/>
              </a:rPr>
              <a:t>words  </a:t>
            </a:r>
            <a:r>
              <a:rPr sz="1588" dirty="0">
                <a:solidFill>
                  <a:srgbClr val="333333"/>
                </a:solidFill>
                <a:latin typeface="Verdana"/>
                <a:cs typeface="Verdana"/>
              </a:rPr>
              <a:t>of a</a:t>
            </a:r>
            <a:r>
              <a:rPr sz="1588" spc="-93" dirty="0">
                <a:solidFill>
                  <a:srgbClr val="333333"/>
                </a:solidFill>
                <a:latin typeface="Verdana"/>
                <a:cs typeface="Verdana"/>
              </a:rPr>
              <a:t> </a:t>
            </a:r>
            <a:r>
              <a:rPr sz="1588" dirty="0">
                <a:solidFill>
                  <a:srgbClr val="333333"/>
                </a:solidFill>
                <a:latin typeface="Verdana"/>
                <a:cs typeface="Verdana"/>
              </a:rPr>
              <a:t>memory</a:t>
            </a:r>
            <a:endParaRPr sz="1588" dirty="0">
              <a:latin typeface="Verdana"/>
              <a:cs typeface="Verdana"/>
            </a:endParaRPr>
          </a:p>
          <a:p>
            <a:pPr marL="11206"/>
            <a:r>
              <a:rPr sz="1588" spc="-4" dirty="0">
                <a:solidFill>
                  <a:srgbClr val="333333"/>
                </a:solidFill>
                <a:latin typeface="Verdana"/>
                <a:cs typeface="Verdana"/>
              </a:rPr>
              <a:t>(total </a:t>
            </a:r>
            <a:r>
              <a:rPr sz="1588" i="1" dirty="0">
                <a:solidFill>
                  <a:srgbClr val="333333"/>
                </a:solidFill>
                <a:latin typeface="Verdana"/>
                <a:cs typeface="Verdana"/>
              </a:rPr>
              <a:t>N</a:t>
            </a:r>
            <a:r>
              <a:rPr sz="1588" i="1" spc="-35" dirty="0">
                <a:solidFill>
                  <a:srgbClr val="333333"/>
                </a:solidFill>
                <a:latin typeface="Verdana"/>
                <a:cs typeface="Verdana"/>
              </a:rPr>
              <a:t> </a:t>
            </a:r>
            <a:r>
              <a:rPr sz="1588" spc="-4" dirty="0">
                <a:solidFill>
                  <a:srgbClr val="333333"/>
                </a:solidFill>
                <a:latin typeface="Verdana"/>
                <a:cs typeface="Verdana"/>
              </a:rPr>
              <a:t>words)</a:t>
            </a:r>
            <a:endParaRPr sz="1588" dirty="0">
              <a:latin typeface="Verdana"/>
              <a:cs typeface="Verdana"/>
            </a:endParaRPr>
          </a:p>
        </p:txBody>
      </p:sp>
      <p:sp>
        <p:nvSpPr>
          <p:cNvPr id="6" name="object 6">
            <a:extLst>
              <a:ext uri="{FF2B5EF4-FFF2-40B4-BE49-F238E27FC236}">
                <a16:creationId xmlns:a16="http://schemas.microsoft.com/office/drawing/2014/main" id="{6139531A-9E92-4E17-B9D2-70C19FAFF17C}"/>
              </a:ext>
            </a:extLst>
          </p:cNvPr>
          <p:cNvSpPr txBox="1"/>
          <p:nvPr/>
        </p:nvSpPr>
        <p:spPr>
          <a:xfrm>
            <a:off x="4339623" y="1934008"/>
            <a:ext cx="164166" cy="1279755"/>
          </a:xfrm>
          <a:prstGeom prst="rect">
            <a:avLst/>
          </a:prstGeom>
        </p:spPr>
        <p:txBody>
          <a:bodyPr vert="horz" wrap="square" lIns="0" tIns="83484" rIns="0" bIns="0" rtlCol="0">
            <a:spAutoFit/>
          </a:bodyPr>
          <a:lstStyle/>
          <a:p>
            <a:pPr marL="24094">
              <a:spcBef>
                <a:spcPts val="657"/>
              </a:spcBef>
            </a:pPr>
            <a:r>
              <a:rPr sz="1588" dirty="0">
                <a:solidFill>
                  <a:srgbClr val="333333"/>
                </a:solidFill>
                <a:latin typeface="Verdana"/>
                <a:cs typeface="Verdana"/>
              </a:rPr>
              <a:t>0</a:t>
            </a:r>
            <a:endParaRPr sz="1588" dirty="0">
              <a:latin typeface="Verdana"/>
              <a:cs typeface="Verdana"/>
            </a:endParaRPr>
          </a:p>
          <a:p>
            <a:pPr marL="11206">
              <a:spcBef>
                <a:spcPts val="574"/>
              </a:spcBef>
            </a:pPr>
            <a:r>
              <a:rPr sz="1588" dirty="0">
                <a:solidFill>
                  <a:srgbClr val="333333"/>
                </a:solidFill>
                <a:latin typeface="Verdana"/>
                <a:cs typeface="Verdana"/>
              </a:rPr>
              <a:t>1</a:t>
            </a:r>
            <a:endParaRPr sz="1588" dirty="0">
              <a:latin typeface="Verdana"/>
              <a:cs typeface="Verdana"/>
            </a:endParaRPr>
          </a:p>
          <a:p>
            <a:pPr marL="11206">
              <a:spcBef>
                <a:spcPts val="552"/>
              </a:spcBef>
            </a:pPr>
            <a:r>
              <a:rPr sz="1588" dirty="0">
                <a:solidFill>
                  <a:srgbClr val="333333"/>
                </a:solidFill>
                <a:latin typeface="Verdana"/>
                <a:cs typeface="Verdana"/>
              </a:rPr>
              <a:t>2</a:t>
            </a:r>
            <a:endParaRPr sz="1588" dirty="0">
              <a:latin typeface="Verdana"/>
              <a:cs typeface="Verdana"/>
            </a:endParaRPr>
          </a:p>
          <a:p>
            <a:pPr marL="11206">
              <a:spcBef>
                <a:spcPts val="547"/>
              </a:spcBef>
            </a:pPr>
            <a:r>
              <a:rPr sz="1588" dirty="0">
                <a:solidFill>
                  <a:srgbClr val="333333"/>
                </a:solidFill>
                <a:latin typeface="Verdana"/>
                <a:cs typeface="Verdana"/>
              </a:rPr>
              <a:t>3</a:t>
            </a:r>
            <a:endParaRPr sz="1588" dirty="0">
              <a:latin typeface="Verdana"/>
              <a:cs typeface="Verdana"/>
            </a:endParaRPr>
          </a:p>
        </p:txBody>
      </p:sp>
      <p:sp>
        <p:nvSpPr>
          <p:cNvPr id="7" name="object 7">
            <a:extLst>
              <a:ext uri="{FF2B5EF4-FFF2-40B4-BE49-F238E27FC236}">
                <a16:creationId xmlns:a16="http://schemas.microsoft.com/office/drawing/2014/main" id="{37B9A505-00C1-424C-BC81-74C70260FB84}"/>
              </a:ext>
            </a:extLst>
          </p:cNvPr>
          <p:cNvSpPr txBox="1"/>
          <p:nvPr/>
        </p:nvSpPr>
        <p:spPr>
          <a:xfrm>
            <a:off x="4339623" y="3187274"/>
            <a:ext cx="150719" cy="647138"/>
          </a:xfrm>
          <a:prstGeom prst="rect">
            <a:avLst/>
          </a:prstGeom>
        </p:spPr>
        <p:txBody>
          <a:bodyPr vert="horz" wrap="square" lIns="0" tIns="80682" rIns="0" bIns="0" rtlCol="0">
            <a:spAutoFit/>
          </a:bodyPr>
          <a:lstStyle/>
          <a:p>
            <a:pPr marL="11206">
              <a:spcBef>
                <a:spcPts val="635"/>
              </a:spcBef>
            </a:pPr>
            <a:r>
              <a:rPr sz="1588" dirty="0">
                <a:solidFill>
                  <a:srgbClr val="333333"/>
                </a:solidFill>
                <a:latin typeface="Verdana"/>
                <a:cs typeface="Verdana"/>
              </a:rPr>
              <a:t>4</a:t>
            </a:r>
            <a:endParaRPr sz="1588" dirty="0">
              <a:latin typeface="Verdana"/>
              <a:cs typeface="Verdana"/>
            </a:endParaRPr>
          </a:p>
          <a:p>
            <a:pPr marL="11206">
              <a:spcBef>
                <a:spcPts val="552"/>
              </a:spcBef>
            </a:pPr>
            <a:r>
              <a:rPr sz="1588" dirty="0">
                <a:solidFill>
                  <a:srgbClr val="333333"/>
                </a:solidFill>
                <a:latin typeface="Verdana"/>
                <a:cs typeface="Verdana"/>
              </a:rPr>
              <a:t>5</a:t>
            </a:r>
            <a:endParaRPr sz="1588" dirty="0">
              <a:latin typeface="Verdana"/>
              <a:cs typeface="Verdana"/>
            </a:endParaRPr>
          </a:p>
        </p:txBody>
      </p:sp>
      <p:sp>
        <p:nvSpPr>
          <p:cNvPr id="8" name="object 8">
            <a:extLst>
              <a:ext uri="{FF2B5EF4-FFF2-40B4-BE49-F238E27FC236}">
                <a16:creationId xmlns:a16="http://schemas.microsoft.com/office/drawing/2014/main" id="{2016B22F-6D17-44D4-8A4F-F573031870E5}"/>
              </a:ext>
            </a:extLst>
          </p:cNvPr>
          <p:cNvSpPr/>
          <p:nvPr/>
        </p:nvSpPr>
        <p:spPr>
          <a:xfrm>
            <a:off x="4579429" y="2415861"/>
            <a:ext cx="304240" cy="67235"/>
          </a:xfrm>
          <a:custGeom>
            <a:avLst/>
            <a:gdLst/>
            <a:ahLst/>
            <a:cxnLst/>
            <a:rect l="l" t="t" r="r" b="b"/>
            <a:pathLst>
              <a:path w="344804" h="76200">
                <a:moveTo>
                  <a:pt x="268223" y="0"/>
                </a:moveTo>
                <a:lnTo>
                  <a:pt x="268223" y="76200"/>
                </a:lnTo>
                <a:lnTo>
                  <a:pt x="332700" y="42672"/>
                </a:lnTo>
                <a:lnTo>
                  <a:pt x="280415" y="42672"/>
                </a:lnTo>
                <a:lnTo>
                  <a:pt x="283463" y="36575"/>
                </a:lnTo>
                <a:lnTo>
                  <a:pt x="280415" y="33528"/>
                </a:lnTo>
                <a:lnTo>
                  <a:pt x="338074" y="33528"/>
                </a:lnTo>
                <a:lnTo>
                  <a:pt x="268223" y="0"/>
                </a:lnTo>
                <a:close/>
              </a:path>
              <a:path w="344804" h="76200">
                <a:moveTo>
                  <a:pt x="268223" y="33528"/>
                </a:moveTo>
                <a:lnTo>
                  <a:pt x="3047" y="33528"/>
                </a:lnTo>
                <a:lnTo>
                  <a:pt x="0" y="36575"/>
                </a:lnTo>
                <a:lnTo>
                  <a:pt x="3047" y="42672"/>
                </a:lnTo>
                <a:lnTo>
                  <a:pt x="268223" y="42672"/>
                </a:lnTo>
                <a:lnTo>
                  <a:pt x="268223" y="33528"/>
                </a:lnTo>
                <a:close/>
              </a:path>
              <a:path w="344804" h="76200">
                <a:moveTo>
                  <a:pt x="338074" y="33528"/>
                </a:moveTo>
                <a:lnTo>
                  <a:pt x="280415" y="33528"/>
                </a:lnTo>
                <a:lnTo>
                  <a:pt x="283463" y="36575"/>
                </a:lnTo>
                <a:lnTo>
                  <a:pt x="280415" y="42672"/>
                </a:lnTo>
                <a:lnTo>
                  <a:pt x="332700" y="42672"/>
                </a:lnTo>
                <a:lnTo>
                  <a:pt x="344423" y="36575"/>
                </a:lnTo>
                <a:lnTo>
                  <a:pt x="338074" y="33528"/>
                </a:lnTo>
                <a:close/>
              </a:path>
            </a:pathLst>
          </a:custGeom>
          <a:solidFill>
            <a:srgbClr val="000000"/>
          </a:solidFill>
        </p:spPr>
        <p:txBody>
          <a:bodyPr wrap="square" lIns="0" tIns="0" rIns="0" bIns="0" rtlCol="0"/>
          <a:lstStyle/>
          <a:p>
            <a:endParaRPr sz="1588" dirty="0"/>
          </a:p>
        </p:txBody>
      </p:sp>
      <p:sp>
        <p:nvSpPr>
          <p:cNvPr id="9" name="object 9">
            <a:extLst>
              <a:ext uri="{FF2B5EF4-FFF2-40B4-BE49-F238E27FC236}">
                <a16:creationId xmlns:a16="http://schemas.microsoft.com/office/drawing/2014/main" id="{1BB7F139-737A-49F9-87D6-D2B0CAD79FA4}"/>
              </a:ext>
            </a:extLst>
          </p:cNvPr>
          <p:cNvSpPr/>
          <p:nvPr/>
        </p:nvSpPr>
        <p:spPr>
          <a:xfrm>
            <a:off x="4579429" y="2727833"/>
            <a:ext cx="304240" cy="67235"/>
          </a:xfrm>
          <a:custGeom>
            <a:avLst/>
            <a:gdLst/>
            <a:ahLst/>
            <a:cxnLst/>
            <a:rect l="l" t="t" r="r" b="b"/>
            <a:pathLst>
              <a:path w="344804" h="76200">
                <a:moveTo>
                  <a:pt x="268223" y="0"/>
                </a:moveTo>
                <a:lnTo>
                  <a:pt x="268223" y="76200"/>
                </a:lnTo>
                <a:lnTo>
                  <a:pt x="332700" y="42672"/>
                </a:lnTo>
                <a:lnTo>
                  <a:pt x="280415" y="42672"/>
                </a:lnTo>
                <a:lnTo>
                  <a:pt x="283463" y="36575"/>
                </a:lnTo>
                <a:lnTo>
                  <a:pt x="280415" y="33527"/>
                </a:lnTo>
                <a:lnTo>
                  <a:pt x="338073" y="33527"/>
                </a:lnTo>
                <a:lnTo>
                  <a:pt x="268223" y="0"/>
                </a:lnTo>
                <a:close/>
              </a:path>
              <a:path w="344804" h="76200">
                <a:moveTo>
                  <a:pt x="268223" y="33527"/>
                </a:moveTo>
                <a:lnTo>
                  <a:pt x="3047" y="33527"/>
                </a:lnTo>
                <a:lnTo>
                  <a:pt x="0" y="36575"/>
                </a:lnTo>
                <a:lnTo>
                  <a:pt x="3047" y="42672"/>
                </a:lnTo>
                <a:lnTo>
                  <a:pt x="268223" y="42672"/>
                </a:lnTo>
                <a:lnTo>
                  <a:pt x="268223" y="33527"/>
                </a:lnTo>
                <a:close/>
              </a:path>
              <a:path w="344804" h="76200">
                <a:moveTo>
                  <a:pt x="338073" y="33527"/>
                </a:moveTo>
                <a:lnTo>
                  <a:pt x="280415" y="33527"/>
                </a:lnTo>
                <a:lnTo>
                  <a:pt x="283463" y="36575"/>
                </a:lnTo>
                <a:lnTo>
                  <a:pt x="280415" y="42672"/>
                </a:lnTo>
                <a:lnTo>
                  <a:pt x="332700" y="42672"/>
                </a:lnTo>
                <a:lnTo>
                  <a:pt x="344423" y="36575"/>
                </a:lnTo>
                <a:lnTo>
                  <a:pt x="338073" y="33527"/>
                </a:lnTo>
                <a:close/>
              </a:path>
            </a:pathLst>
          </a:custGeom>
          <a:solidFill>
            <a:srgbClr val="000000"/>
          </a:solidFill>
        </p:spPr>
        <p:txBody>
          <a:bodyPr wrap="square" lIns="0" tIns="0" rIns="0" bIns="0" rtlCol="0"/>
          <a:lstStyle/>
          <a:p>
            <a:endParaRPr sz="1588" dirty="0"/>
          </a:p>
        </p:txBody>
      </p:sp>
      <p:sp>
        <p:nvSpPr>
          <p:cNvPr id="10" name="object 10">
            <a:extLst>
              <a:ext uri="{FF2B5EF4-FFF2-40B4-BE49-F238E27FC236}">
                <a16:creationId xmlns:a16="http://schemas.microsoft.com/office/drawing/2014/main" id="{54F075C9-4941-4D6B-B640-F7E900FBEAF5}"/>
              </a:ext>
            </a:extLst>
          </p:cNvPr>
          <p:cNvSpPr/>
          <p:nvPr/>
        </p:nvSpPr>
        <p:spPr>
          <a:xfrm>
            <a:off x="4579429" y="3039804"/>
            <a:ext cx="304240" cy="67235"/>
          </a:xfrm>
          <a:custGeom>
            <a:avLst/>
            <a:gdLst/>
            <a:ahLst/>
            <a:cxnLst/>
            <a:rect l="l" t="t" r="r" b="b"/>
            <a:pathLst>
              <a:path w="344804" h="76200">
                <a:moveTo>
                  <a:pt x="268223" y="0"/>
                </a:moveTo>
                <a:lnTo>
                  <a:pt x="268223" y="76200"/>
                </a:lnTo>
                <a:lnTo>
                  <a:pt x="331723" y="45720"/>
                </a:lnTo>
                <a:lnTo>
                  <a:pt x="280415" y="45720"/>
                </a:lnTo>
                <a:lnTo>
                  <a:pt x="283463" y="39624"/>
                </a:lnTo>
                <a:lnTo>
                  <a:pt x="280415" y="33527"/>
                </a:lnTo>
                <a:lnTo>
                  <a:pt x="332700" y="33527"/>
                </a:lnTo>
                <a:lnTo>
                  <a:pt x="268223" y="0"/>
                </a:lnTo>
                <a:close/>
              </a:path>
              <a:path w="344804" h="76200">
                <a:moveTo>
                  <a:pt x="268223" y="33527"/>
                </a:moveTo>
                <a:lnTo>
                  <a:pt x="3047" y="33527"/>
                </a:lnTo>
                <a:lnTo>
                  <a:pt x="0" y="39624"/>
                </a:lnTo>
                <a:lnTo>
                  <a:pt x="3047" y="45720"/>
                </a:lnTo>
                <a:lnTo>
                  <a:pt x="268223" y="45720"/>
                </a:lnTo>
                <a:lnTo>
                  <a:pt x="268223" y="33527"/>
                </a:lnTo>
                <a:close/>
              </a:path>
              <a:path w="344804" h="76200">
                <a:moveTo>
                  <a:pt x="332700" y="33527"/>
                </a:moveTo>
                <a:lnTo>
                  <a:pt x="280415" y="33527"/>
                </a:lnTo>
                <a:lnTo>
                  <a:pt x="283463" y="39624"/>
                </a:lnTo>
                <a:lnTo>
                  <a:pt x="280415" y="45720"/>
                </a:lnTo>
                <a:lnTo>
                  <a:pt x="331723" y="45720"/>
                </a:lnTo>
                <a:lnTo>
                  <a:pt x="344423" y="39624"/>
                </a:lnTo>
                <a:lnTo>
                  <a:pt x="332700" y="33527"/>
                </a:lnTo>
                <a:close/>
              </a:path>
            </a:pathLst>
          </a:custGeom>
          <a:solidFill>
            <a:srgbClr val="000000"/>
          </a:solidFill>
        </p:spPr>
        <p:txBody>
          <a:bodyPr wrap="square" lIns="0" tIns="0" rIns="0" bIns="0" rtlCol="0"/>
          <a:lstStyle/>
          <a:p>
            <a:endParaRPr sz="1588" dirty="0"/>
          </a:p>
        </p:txBody>
      </p:sp>
      <p:sp>
        <p:nvSpPr>
          <p:cNvPr id="11" name="object 11">
            <a:extLst>
              <a:ext uri="{FF2B5EF4-FFF2-40B4-BE49-F238E27FC236}">
                <a16:creationId xmlns:a16="http://schemas.microsoft.com/office/drawing/2014/main" id="{75018001-906E-418D-A686-11ACF0AE1B3E}"/>
              </a:ext>
            </a:extLst>
          </p:cNvPr>
          <p:cNvSpPr/>
          <p:nvPr/>
        </p:nvSpPr>
        <p:spPr>
          <a:xfrm>
            <a:off x="4579429" y="3354466"/>
            <a:ext cx="304240" cy="67235"/>
          </a:xfrm>
          <a:custGeom>
            <a:avLst/>
            <a:gdLst/>
            <a:ahLst/>
            <a:cxnLst/>
            <a:rect l="l" t="t" r="r" b="b"/>
            <a:pathLst>
              <a:path w="344804" h="76200">
                <a:moveTo>
                  <a:pt x="268223" y="0"/>
                </a:moveTo>
                <a:lnTo>
                  <a:pt x="268223" y="76200"/>
                </a:lnTo>
                <a:lnTo>
                  <a:pt x="332700" y="42671"/>
                </a:lnTo>
                <a:lnTo>
                  <a:pt x="280415" y="42671"/>
                </a:lnTo>
                <a:lnTo>
                  <a:pt x="283463" y="36575"/>
                </a:lnTo>
                <a:lnTo>
                  <a:pt x="280415" y="33527"/>
                </a:lnTo>
                <a:lnTo>
                  <a:pt x="338073" y="33527"/>
                </a:lnTo>
                <a:lnTo>
                  <a:pt x="268223" y="0"/>
                </a:lnTo>
                <a:close/>
              </a:path>
              <a:path w="344804" h="76200">
                <a:moveTo>
                  <a:pt x="268223" y="33527"/>
                </a:moveTo>
                <a:lnTo>
                  <a:pt x="3047" y="33527"/>
                </a:lnTo>
                <a:lnTo>
                  <a:pt x="0" y="36575"/>
                </a:lnTo>
                <a:lnTo>
                  <a:pt x="3047" y="42671"/>
                </a:lnTo>
                <a:lnTo>
                  <a:pt x="268223" y="42671"/>
                </a:lnTo>
                <a:lnTo>
                  <a:pt x="268223" y="33527"/>
                </a:lnTo>
                <a:close/>
              </a:path>
              <a:path w="344804" h="76200">
                <a:moveTo>
                  <a:pt x="338073" y="33527"/>
                </a:moveTo>
                <a:lnTo>
                  <a:pt x="280415" y="33527"/>
                </a:lnTo>
                <a:lnTo>
                  <a:pt x="283463" y="36575"/>
                </a:lnTo>
                <a:lnTo>
                  <a:pt x="280415" y="42671"/>
                </a:lnTo>
                <a:lnTo>
                  <a:pt x="332700" y="42671"/>
                </a:lnTo>
                <a:lnTo>
                  <a:pt x="344423" y="36575"/>
                </a:lnTo>
                <a:lnTo>
                  <a:pt x="338073" y="33527"/>
                </a:lnTo>
                <a:close/>
              </a:path>
            </a:pathLst>
          </a:custGeom>
          <a:solidFill>
            <a:srgbClr val="000000"/>
          </a:solidFill>
        </p:spPr>
        <p:txBody>
          <a:bodyPr wrap="square" lIns="0" tIns="0" rIns="0" bIns="0" rtlCol="0"/>
          <a:lstStyle/>
          <a:p>
            <a:endParaRPr sz="1588" dirty="0"/>
          </a:p>
        </p:txBody>
      </p:sp>
      <p:sp>
        <p:nvSpPr>
          <p:cNvPr id="12" name="object 12">
            <a:extLst>
              <a:ext uri="{FF2B5EF4-FFF2-40B4-BE49-F238E27FC236}">
                <a16:creationId xmlns:a16="http://schemas.microsoft.com/office/drawing/2014/main" id="{004591FA-31FA-4BB5-8E3C-C43AC7511586}"/>
              </a:ext>
            </a:extLst>
          </p:cNvPr>
          <p:cNvSpPr/>
          <p:nvPr/>
        </p:nvSpPr>
        <p:spPr>
          <a:xfrm>
            <a:off x="4579429" y="3666437"/>
            <a:ext cx="304240" cy="67235"/>
          </a:xfrm>
          <a:custGeom>
            <a:avLst/>
            <a:gdLst/>
            <a:ahLst/>
            <a:cxnLst/>
            <a:rect l="l" t="t" r="r" b="b"/>
            <a:pathLst>
              <a:path w="344804" h="76200">
                <a:moveTo>
                  <a:pt x="268223" y="0"/>
                </a:moveTo>
                <a:lnTo>
                  <a:pt x="268223" y="76200"/>
                </a:lnTo>
                <a:lnTo>
                  <a:pt x="332700" y="42672"/>
                </a:lnTo>
                <a:lnTo>
                  <a:pt x="280415" y="42672"/>
                </a:lnTo>
                <a:lnTo>
                  <a:pt x="283463" y="36575"/>
                </a:lnTo>
                <a:lnTo>
                  <a:pt x="280415" y="33527"/>
                </a:lnTo>
                <a:lnTo>
                  <a:pt x="338073" y="33527"/>
                </a:lnTo>
                <a:lnTo>
                  <a:pt x="268223" y="0"/>
                </a:lnTo>
                <a:close/>
              </a:path>
              <a:path w="344804" h="76200">
                <a:moveTo>
                  <a:pt x="268223" y="33527"/>
                </a:moveTo>
                <a:lnTo>
                  <a:pt x="3047" y="33527"/>
                </a:lnTo>
                <a:lnTo>
                  <a:pt x="0" y="36575"/>
                </a:lnTo>
                <a:lnTo>
                  <a:pt x="3047" y="42672"/>
                </a:lnTo>
                <a:lnTo>
                  <a:pt x="268223" y="42672"/>
                </a:lnTo>
                <a:lnTo>
                  <a:pt x="268223" y="33527"/>
                </a:lnTo>
                <a:close/>
              </a:path>
              <a:path w="344804" h="76200">
                <a:moveTo>
                  <a:pt x="338073" y="33527"/>
                </a:moveTo>
                <a:lnTo>
                  <a:pt x="280415" y="33527"/>
                </a:lnTo>
                <a:lnTo>
                  <a:pt x="283463" y="36575"/>
                </a:lnTo>
                <a:lnTo>
                  <a:pt x="280415" y="42672"/>
                </a:lnTo>
                <a:lnTo>
                  <a:pt x="332700" y="42672"/>
                </a:lnTo>
                <a:lnTo>
                  <a:pt x="344423" y="36575"/>
                </a:lnTo>
                <a:lnTo>
                  <a:pt x="338073" y="33527"/>
                </a:lnTo>
                <a:close/>
              </a:path>
            </a:pathLst>
          </a:custGeom>
          <a:solidFill>
            <a:srgbClr val="000000"/>
          </a:solidFill>
        </p:spPr>
        <p:txBody>
          <a:bodyPr wrap="square" lIns="0" tIns="0" rIns="0" bIns="0" rtlCol="0"/>
          <a:lstStyle/>
          <a:p>
            <a:endParaRPr sz="1588" dirty="0"/>
          </a:p>
        </p:txBody>
      </p:sp>
      <p:sp>
        <p:nvSpPr>
          <p:cNvPr id="13" name="object 13">
            <a:extLst>
              <a:ext uri="{FF2B5EF4-FFF2-40B4-BE49-F238E27FC236}">
                <a16:creationId xmlns:a16="http://schemas.microsoft.com/office/drawing/2014/main" id="{04BB2EBA-8A34-444E-B049-9F0D82D2861D}"/>
              </a:ext>
            </a:extLst>
          </p:cNvPr>
          <p:cNvSpPr/>
          <p:nvPr/>
        </p:nvSpPr>
        <p:spPr>
          <a:xfrm>
            <a:off x="4579429" y="2101200"/>
            <a:ext cx="304240" cy="67235"/>
          </a:xfrm>
          <a:custGeom>
            <a:avLst/>
            <a:gdLst/>
            <a:ahLst/>
            <a:cxnLst/>
            <a:rect l="l" t="t" r="r" b="b"/>
            <a:pathLst>
              <a:path w="344804" h="76200">
                <a:moveTo>
                  <a:pt x="268223" y="0"/>
                </a:moveTo>
                <a:lnTo>
                  <a:pt x="268223" y="76200"/>
                </a:lnTo>
                <a:lnTo>
                  <a:pt x="331723" y="45720"/>
                </a:lnTo>
                <a:lnTo>
                  <a:pt x="280415" y="45720"/>
                </a:lnTo>
                <a:lnTo>
                  <a:pt x="283463" y="39624"/>
                </a:lnTo>
                <a:lnTo>
                  <a:pt x="280415" y="33527"/>
                </a:lnTo>
                <a:lnTo>
                  <a:pt x="332700" y="33527"/>
                </a:lnTo>
                <a:lnTo>
                  <a:pt x="268223" y="0"/>
                </a:lnTo>
                <a:close/>
              </a:path>
              <a:path w="344804" h="76200">
                <a:moveTo>
                  <a:pt x="268223" y="33527"/>
                </a:moveTo>
                <a:lnTo>
                  <a:pt x="3047" y="33527"/>
                </a:lnTo>
                <a:lnTo>
                  <a:pt x="0" y="39624"/>
                </a:lnTo>
                <a:lnTo>
                  <a:pt x="3047" y="45720"/>
                </a:lnTo>
                <a:lnTo>
                  <a:pt x="268223" y="45720"/>
                </a:lnTo>
                <a:lnTo>
                  <a:pt x="268223" y="33527"/>
                </a:lnTo>
                <a:close/>
              </a:path>
              <a:path w="344804" h="76200">
                <a:moveTo>
                  <a:pt x="332700" y="33527"/>
                </a:moveTo>
                <a:lnTo>
                  <a:pt x="280415" y="33527"/>
                </a:lnTo>
                <a:lnTo>
                  <a:pt x="283463" y="39624"/>
                </a:lnTo>
                <a:lnTo>
                  <a:pt x="280415" y="45720"/>
                </a:lnTo>
                <a:lnTo>
                  <a:pt x="331723" y="45720"/>
                </a:lnTo>
                <a:lnTo>
                  <a:pt x="344423" y="39624"/>
                </a:lnTo>
                <a:lnTo>
                  <a:pt x="332700" y="33527"/>
                </a:lnTo>
                <a:close/>
              </a:path>
            </a:pathLst>
          </a:custGeom>
          <a:solidFill>
            <a:srgbClr val="000000"/>
          </a:solidFill>
        </p:spPr>
        <p:txBody>
          <a:bodyPr wrap="square" lIns="0" tIns="0" rIns="0" bIns="0" rtlCol="0"/>
          <a:lstStyle/>
          <a:p>
            <a:endParaRPr sz="1588" dirty="0"/>
          </a:p>
        </p:txBody>
      </p:sp>
      <p:sp>
        <p:nvSpPr>
          <p:cNvPr id="14" name="object 14">
            <a:extLst>
              <a:ext uri="{FF2B5EF4-FFF2-40B4-BE49-F238E27FC236}">
                <a16:creationId xmlns:a16="http://schemas.microsoft.com/office/drawing/2014/main" id="{2BA46BAD-88BB-43B9-83E7-46FF117606BF}"/>
              </a:ext>
            </a:extLst>
          </p:cNvPr>
          <p:cNvSpPr/>
          <p:nvPr/>
        </p:nvSpPr>
        <p:spPr>
          <a:xfrm>
            <a:off x="4579429" y="4914325"/>
            <a:ext cx="304240" cy="67235"/>
          </a:xfrm>
          <a:custGeom>
            <a:avLst/>
            <a:gdLst/>
            <a:ahLst/>
            <a:cxnLst/>
            <a:rect l="l" t="t" r="r" b="b"/>
            <a:pathLst>
              <a:path w="344804" h="76200">
                <a:moveTo>
                  <a:pt x="268223" y="0"/>
                </a:moveTo>
                <a:lnTo>
                  <a:pt x="268223" y="76200"/>
                </a:lnTo>
                <a:lnTo>
                  <a:pt x="332700" y="42672"/>
                </a:lnTo>
                <a:lnTo>
                  <a:pt x="280415" y="42672"/>
                </a:lnTo>
                <a:lnTo>
                  <a:pt x="283463" y="36576"/>
                </a:lnTo>
                <a:lnTo>
                  <a:pt x="280415" y="33528"/>
                </a:lnTo>
                <a:lnTo>
                  <a:pt x="338073" y="33528"/>
                </a:lnTo>
                <a:lnTo>
                  <a:pt x="268223" y="0"/>
                </a:lnTo>
                <a:close/>
              </a:path>
              <a:path w="344804" h="76200">
                <a:moveTo>
                  <a:pt x="268223" y="33528"/>
                </a:moveTo>
                <a:lnTo>
                  <a:pt x="3047" y="33528"/>
                </a:lnTo>
                <a:lnTo>
                  <a:pt x="0" y="36576"/>
                </a:lnTo>
                <a:lnTo>
                  <a:pt x="3047" y="42672"/>
                </a:lnTo>
                <a:lnTo>
                  <a:pt x="268223" y="42672"/>
                </a:lnTo>
                <a:lnTo>
                  <a:pt x="268223" y="33528"/>
                </a:lnTo>
                <a:close/>
              </a:path>
              <a:path w="344804" h="76200">
                <a:moveTo>
                  <a:pt x="338073" y="33528"/>
                </a:moveTo>
                <a:lnTo>
                  <a:pt x="280415" y="33528"/>
                </a:lnTo>
                <a:lnTo>
                  <a:pt x="283463" y="36576"/>
                </a:lnTo>
                <a:lnTo>
                  <a:pt x="280415" y="42672"/>
                </a:lnTo>
                <a:lnTo>
                  <a:pt x="332700" y="42672"/>
                </a:lnTo>
                <a:lnTo>
                  <a:pt x="344423" y="36576"/>
                </a:lnTo>
                <a:lnTo>
                  <a:pt x="338073" y="33528"/>
                </a:lnTo>
                <a:close/>
              </a:path>
            </a:pathLst>
          </a:custGeom>
          <a:solidFill>
            <a:srgbClr val="000000"/>
          </a:solidFill>
        </p:spPr>
        <p:txBody>
          <a:bodyPr wrap="square" lIns="0" tIns="0" rIns="0" bIns="0" rtlCol="0"/>
          <a:lstStyle/>
          <a:p>
            <a:endParaRPr sz="1588" dirty="0"/>
          </a:p>
        </p:txBody>
      </p:sp>
      <p:sp>
        <p:nvSpPr>
          <p:cNvPr id="15" name="object 15">
            <a:extLst>
              <a:ext uri="{FF2B5EF4-FFF2-40B4-BE49-F238E27FC236}">
                <a16:creationId xmlns:a16="http://schemas.microsoft.com/office/drawing/2014/main" id="{97174B55-AF82-4A23-AED5-AE59DC50DE83}"/>
              </a:ext>
            </a:extLst>
          </p:cNvPr>
          <p:cNvSpPr txBox="1"/>
          <p:nvPr/>
        </p:nvSpPr>
        <p:spPr>
          <a:xfrm>
            <a:off x="4186326" y="4714859"/>
            <a:ext cx="406773" cy="647138"/>
          </a:xfrm>
          <a:prstGeom prst="rect">
            <a:avLst/>
          </a:prstGeom>
        </p:spPr>
        <p:txBody>
          <a:bodyPr vert="horz" wrap="square" lIns="0" tIns="80682" rIns="0" bIns="0" rtlCol="0">
            <a:spAutoFit/>
          </a:bodyPr>
          <a:lstStyle/>
          <a:p>
            <a:pPr marL="11206">
              <a:spcBef>
                <a:spcPts val="635"/>
              </a:spcBef>
            </a:pPr>
            <a:r>
              <a:rPr sz="1588" spc="-4" dirty="0">
                <a:solidFill>
                  <a:srgbClr val="333333"/>
                </a:solidFill>
                <a:latin typeface="Verdana"/>
                <a:cs typeface="Verdana"/>
              </a:rPr>
              <a:t>N-2</a:t>
            </a:r>
            <a:endParaRPr sz="1588" dirty="0">
              <a:latin typeface="Verdana"/>
              <a:cs typeface="Verdana"/>
            </a:endParaRPr>
          </a:p>
          <a:p>
            <a:pPr marL="24654">
              <a:spcBef>
                <a:spcPts val="552"/>
              </a:spcBef>
            </a:pPr>
            <a:r>
              <a:rPr sz="1588" spc="-4" dirty="0">
                <a:solidFill>
                  <a:srgbClr val="333333"/>
                </a:solidFill>
                <a:latin typeface="Verdana"/>
                <a:cs typeface="Verdana"/>
              </a:rPr>
              <a:t>N-1</a:t>
            </a:r>
            <a:endParaRPr sz="1588" dirty="0">
              <a:latin typeface="Verdana"/>
              <a:cs typeface="Verdana"/>
            </a:endParaRPr>
          </a:p>
        </p:txBody>
      </p:sp>
      <p:sp>
        <p:nvSpPr>
          <p:cNvPr id="16" name="object 16">
            <a:extLst>
              <a:ext uri="{FF2B5EF4-FFF2-40B4-BE49-F238E27FC236}">
                <a16:creationId xmlns:a16="http://schemas.microsoft.com/office/drawing/2014/main" id="{CECA6DA8-FBA4-4B15-AC0D-D6A314296963}"/>
              </a:ext>
            </a:extLst>
          </p:cNvPr>
          <p:cNvSpPr/>
          <p:nvPr/>
        </p:nvSpPr>
        <p:spPr>
          <a:xfrm>
            <a:off x="4579429" y="5226296"/>
            <a:ext cx="304240" cy="67235"/>
          </a:xfrm>
          <a:custGeom>
            <a:avLst/>
            <a:gdLst/>
            <a:ahLst/>
            <a:cxnLst/>
            <a:rect l="l" t="t" r="r" b="b"/>
            <a:pathLst>
              <a:path w="344804" h="76200">
                <a:moveTo>
                  <a:pt x="268223" y="0"/>
                </a:moveTo>
                <a:lnTo>
                  <a:pt x="268223" y="76200"/>
                </a:lnTo>
                <a:lnTo>
                  <a:pt x="332700" y="42672"/>
                </a:lnTo>
                <a:lnTo>
                  <a:pt x="280415" y="42672"/>
                </a:lnTo>
                <a:lnTo>
                  <a:pt x="283463" y="36575"/>
                </a:lnTo>
                <a:lnTo>
                  <a:pt x="280415" y="33528"/>
                </a:lnTo>
                <a:lnTo>
                  <a:pt x="338074" y="33528"/>
                </a:lnTo>
                <a:lnTo>
                  <a:pt x="268223" y="0"/>
                </a:lnTo>
                <a:close/>
              </a:path>
              <a:path w="344804" h="76200">
                <a:moveTo>
                  <a:pt x="268223" y="33528"/>
                </a:moveTo>
                <a:lnTo>
                  <a:pt x="3047" y="33528"/>
                </a:lnTo>
                <a:lnTo>
                  <a:pt x="0" y="36575"/>
                </a:lnTo>
                <a:lnTo>
                  <a:pt x="3047" y="42672"/>
                </a:lnTo>
                <a:lnTo>
                  <a:pt x="268223" y="42672"/>
                </a:lnTo>
                <a:lnTo>
                  <a:pt x="268223" y="33528"/>
                </a:lnTo>
                <a:close/>
              </a:path>
              <a:path w="344804" h="76200">
                <a:moveTo>
                  <a:pt x="338074" y="33528"/>
                </a:moveTo>
                <a:lnTo>
                  <a:pt x="280415" y="33528"/>
                </a:lnTo>
                <a:lnTo>
                  <a:pt x="283463" y="36575"/>
                </a:lnTo>
                <a:lnTo>
                  <a:pt x="280415" y="42672"/>
                </a:lnTo>
                <a:lnTo>
                  <a:pt x="332700" y="42672"/>
                </a:lnTo>
                <a:lnTo>
                  <a:pt x="344423" y="36575"/>
                </a:lnTo>
                <a:lnTo>
                  <a:pt x="338074" y="33528"/>
                </a:lnTo>
                <a:close/>
              </a:path>
            </a:pathLst>
          </a:custGeom>
          <a:solidFill>
            <a:srgbClr val="000000"/>
          </a:solidFill>
        </p:spPr>
        <p:txBody>
          <a:bodyPr wrap="square" lIns="0" tIns="0" rIns="0" bIns="0" rtlCol="0"/>
          <a:lstStyle/>
          <a:p>
            <a:endParaRPr sz="1588" dirty="0"/>
          </a:p>
        </p:txBody>
      </p:sp>
      <p:sp>
        <p:nvSpPr>
          <p:cNvPr id="17" name="object 17">
            <a:extLst>
              <a:ext uri="{FF2B5EF4-FFF2-40B4-BE49-F238E27FC236}">
                <a16:creationId xmlns:a16="http://schemas.microsoft.com/office/drawing/2014/main" id="{95CBC12C-B4A8-4AD3-8584-9A9659CC612E}"/>
              </a:ext>
            </a:extLst>
          </p:cNvPr>
          <p:cNvSpPr/>
          <p:nvPr/>
        </p:nvSpPr>
        <p:spPr>
          <a:xfrm>
            <a:off x="3831772" y="1980176"/>
            <a:ext cx="600075" cy="3593165"/>
          </a:xfrm>
          <a:custGeom>
            <a:avLst/>
            <a:gdLst/>
            <a:ahLst/>
            <a:cxnLst/>
            <a:rect l="l" t="t" r="r" b="b"/>
            <a:pathLst>
              <a:path w="680085" h="4072254">
                <a:moveTo>
                  <a:pt x="679704" y="0"/>
                </a:moveTo>
                <a:lnTo>
                  <a:pt x="633989" y="3106"/>
                </a:lnTo>
                <a:lnTo>
                  <a:pt x="590084" y="12149"/>
                </a:lnTo>
                <a:lnTo>
                  <a:pt x="548401" y="26717"/>
                </a:lnTo>
                <a:lnTo>
                  <a:pt x="509354" y="46397"/>
                </a:lnTo>
                <a:lnTo>
                  <a:pt x="473355" y="70776"/>
                </a:lnTo>
                <a:lnTo>
                  <a:pt x="440817" y="99440"/>
                </a:lnTo>
                <a:lnTo>
                  <a:pt x="412152" y="131979"/>
                </a:lnTo>
                <a:lnTo>
                  <a:pt x="387773" y="167978"/>
                </a:lnTo>
                <a:lnTo>
                  <a:pt x="368093" y="207025"/>
                </a:lnTo>
                <a:lnTo>
                  <a:pt x="353525" y="248708"/>
                </a:lnTo>
                <a:lnTo>
                  <a:pt x="344482" y="292613"/>
                </a:lnTo>
                <a:lnTo>
                  <a:pt x="341375" y="338328"/>
                </a:lnTo>
                <a:lnTo>
                  <a:pt x="341375" y="1697736"/>
                </a:lnTo>
                <a:lnTo>
                  <a:pt x="338268" y="1743450"/>
                </a:lnTo>
                <a:lnTo>
                  <a:pt x="329212" y="1787355"/>
                </a:lnTo>
                <a:lnTo>
                  <a:pt x="314610" y="1829038"/>
                </a:lnTo>
                <a:lnTo>
                  <a:pt x="294865" y="1868085"/>
                </a:lnTo>
                <a:lnTo>
                  <a:pt x="270379" y="1904084"/>
                </a:lnTo>
                <a:lnTo>
                  <a:pt x="241554" y="1936623"/>
                </a:lnTo>
                <a:lnTo>
                  <a:pt x="208791" y="1965287"/>
                </a:lnTo>
                <a:lnTo>
                  <a:pt x="172494" y="1989666"/>
                </a:lnTo>
                <a:lnTo>
                  <a:pt x="133064" y="2009346"/>
                </a:lnTo>
                <a:lnTo>
                  <a:pt x="90903" y="2023914"/>
                </a:lnTo>
                <a:lnTo>
                  <a:pt x="46414" y="2032957"/>
                </a:lnTo>
                <a:lnTo>
                  <a:pt x="0" y="2036064"/>
                </a:lnTo>
                <a:lnTo>
                  <a:pt x="46414" y="2039170"/>
                </a:lnTo>
                <a:lnTo>
                  <a:pt x="90903" y="2048213"/>
                </a:lnTo>
                <a:lnTo>
                  <a:pt x="133064" y="2062781"/>
                </a:lnTo>
                <a:lnTo>
                  <a:pt x="172494" y="2082461"/>
                </a:lnTo>
                <a:lnTo>
                  <a:pt x="208791" y="2106840"/>
                </a:lnTo>
                <a:lnTo>
                  <a:pt x="241554" y="2135504"/>
                </a:lnTo>
                <a:lnTo>
                  <a:pt x="270379" y="2168043"/>
                </a:lnTo>
                <a:lnTo>
                  <a:pt x="294865" y="2204042"/>
                </a:lnTo>
                <a:lnTo>
                  <a:pt x="314610" y="2243089"/>
                </a:lnTo>
                <a:lnTo>
                  <a:pt x="329212" y="2284772"/>
                </a:lnTo>
                <a:lnTo>
                  <a:pt x="338268" y="2328677"/>
                </a:lnTo>
                <a:lnTo>
                  <a:pt x="341375" y="2374392"/>
                </a:lnTo>
                <a:lnTo>
                  <a:pt x="341375" y="3730752"/>
                </a:lnTo>
                <a:lnTo>
                  <a:pt x="344482" y="3777166"/>
                </a:lnTo>
                <a:lnTo>
                  <a:pt x="353525" y="3821655"/>
                </a:lnTo>
                <a:lnTo>
                  <a:pt x="368093" y="3863816"/>
                </a:lnTo>
                <a:lnTo>
                  <a:pt x="387773" y="3903246"/>
                </a:lnTo>
                <a:lnTo>
                  <a:pt x="412152" y="3939543"/>
                </a:lnTo>
                <a:lnTo>
                  <a:pt x="440817" y="3972306"/>
                </a:lnTo>
                <a:lnTo>
                  <a:pt x="473355" y="4001131"/>
                </a:lnTo>
                <a:lnTo>
                  <a:pt x="509354" y="4025617"/>
                </a:lnTo>
                <a:lnTo>
                  <a:pt x="548401" y="4045362"/>
                </a:lnTo>
                <a:lnTo>
                  <a:pt x="590084" y="4059964"/>
                </a:lnTo>
                <a:lnTo>
                  <a:pt x="633989" y="4069020"/>
                </a:lnTo>
                <a:lnTo>
                  <a:pt x="679704" y="4072128"/>
                </a:lnTo>
              </a:path>
            </a:pathLst>
          </a:custGeom>
          <a:ln w="12192">
            <a:solidFill>
              <a:srgbClr val="000000"/>
            </a:solidFill>
          </a:ln>
        </p:spPr>
        <p:txBody>
          <a:bodyPr wrap="square" lIns="0" tIns="0" rIns="0" bIns="0" rtlCol="0"/>
          <a:lstStyle/>
          <a:p>
            <a:endParaRPr sz="1588" dirty="0"/>
          </a:p>
        </p:txBody>
      </p:sp>
      <p:sp>
        <p:nvSpPr>
          <p:cNvPr id="18" name="object 18">
            <a:extLst>
              <a:ext uri="{FF2B5EF4-FFF2-40B4-BE49-F238E27FC236}">
                <a16:creationId xmlns:a16="http://schemas.microsoft.com/office/drawing/2014/main" id="{241C2C3E-801E-4A7A-9E01-E31632FE8E24}"/>
              </a:ext>
            </a:extLst>
          </p:cNvPr>
          <p:cNvSpPr/>
          <p:nvPr/>
        </p:nvSpPr>
        <p:spPr>
          <a:xfrm>
            <a:off x="5149584" y="5414554"/>
            <a:ext cx="67235" cy="312084"/>
          </a:xfrm>
          <a:custGeom>
            <a:avLst/>
            <a:gdLst/>
            <a:ahLst/>
            <a:cxnLst/>
            <a:rect l="l" t="t" r="r" b="b"/>
            <a:pathLst>
              <a:path w="76200" h="353695">
                <a:moveTo>
                  <a:pt x="45719" y="64007"/>
                </a:moveTo>
                <a:lnTo>
                  <a:pt x="30479" y="64007"/>
                </a:lnTo>
                <a:lnTo>
                  <a:pt x="30479" y="353568"/>
                </a:lnTo>
                <a:lnTo>
                  <a:pt x="42671" y="353568"/>
                </a:lnTo>
                <a:lnTo>
                  <a:pt x="45719" y="64007"/>
                </a:lnTo>
                <a:close/>
              </a:path>
              <a:path w="76200" h="353695">
                <a:moveTo>
                  <a:pt x="39624" y="0"/>
                </a:moveTo>
                <a:lnTo>
                  <a:pt x="0" y="76200"/>
                </a:lnTo>
                <a:lnTo>
                  <a:pt x="30479" y="76200"/>
                </a:lnTo>
                <a:lnTo>
                  <a:pt x="30479" y="64007"/>
                </a:lnTo>
                <a:lnTo>
                  <a:pt x="70347" y="64007"/>
                </a:lnTo>
                <a:lnTo>
                  <a:pt x="39624" y="0"/>
                </a:lnTo>
                <a:close/>
              </a:path>
              <a:path w="76200" h="353695">
                <a:moveTo>
                  <a:pt x="70347" y="64007"/>
                </a:moveTo>
                <a:lnTo>
                  <a:pt x="45719" y="64007"/>
                </a:lnTo>
                <a:lnTo>
                  <a:pt x="45591" y="76200"/>
                </a:lnTo>
                <a:lnTo>
                  <a:pt x="76200" y="76200"/>
                </a:lnTo>
                <a:lnTo>
                  <a:pt x="70347" y="64007"/>
                </a:lnTo>
                <a:close/>
              </a:path>
            </a:pathLst>
          </a:custGeom>
          <a:solidFill>
            <a:srgbClr val="000000"/>
          </a:solidFill>
        </p:spPr>
        <p:txBody>
          <a:bodyPr wrap="square" lIns="0" tIns="0" rIns="0" bIns="0" rtlCol="0"/>
          <a:lstStyle/>
          <a:p>
            <a:endParaRPr sz="1588" dirty="0"/>
          </a:p>
        </p:txBody>
      </p:sp>
      <p:sp>
        <p:nvSpPr>
          <p:cNvPr id="19" name="object 19">
            <a:extLst>
              <a:ext uri="{FF2B5EF4-FFF2-40B4-BE49-F238E27FC236}">
                <a16:creationId xmlns:a16="http://schemas.microsoft.com/office/drawing/2014/main" id="{C6654A7D-03EE-455D-9DDC-3E7CDDD539BE}"/>
              </a:ext>
            </a:extLst>
          </p:cNvPr>
          <p:cNvSpPr/>
          <p:nvPr/>
        </p:nvSpPr>
        <p:spPr>
          <a:xfrm>
            <a:off x="5464244" y="5414554"/>
            <a:ext cx="67235" cy="312084"/>
          </a:xfrm>
          <a:custGeom>
            <a:avLst/>
            <a:gdLst/>
            <a:ahLst/>
            <a:cxnLst/>
            <a:rect l="l" t="t" r="r" b="b"/>
            <a:pathLst>
              <a:path w="76200" h="353695">
                <a:moveTo>
                  <a:pt x="45719" y="64007"/>
                </a:moveTo>
                <a:lnTo>
                  <a:pt x="33527" y="64007"/>
                </a:lnTo>
                <a:lnTo>
                  <a:pt x="33527" y="353568"/>
                </a:lnTo>
                <a:lnTo>
                  <a:pt x="45719" y="353568"/>
                </a:lnTo>
                <a:lnTo>
                  <a:pt x="45719" y="64007"/>
                </a:lnTo>
                <a:close/>
              </a:path>
              <a:path w="76200" h="353695">
                <a:moveTo>
                  <a:pt x="39624" y="0"/>
                </a:moveTo>
                <a:lnTo>
                  <a:pt x="0" y="76200"/>
                </a:lnTo>
                <a:lnTo>
                  <a:pt x="33527" y="76200"/>
                </a:lnTo>
                <a:lnTo>
                  <a:pt x="33527" y="64007"/>
                </a:lnTo>
                <a:lnTo>
                  <a:pt x="70347" y="64007"/>
                </a:lnTo>
                <a:lnTo>
                  <a:pt x="39624" y="0"/>
                </a:lnTo>
                <a:close/>
              </a:path>
              <a:path w="76200" h="353695">
                <a:moveTo>
                  <a:pt x="70347" y="64007"/>
                </a:moveTo>
                <a:lnTo>
                  <a:pt x="45719" y="64007"/>
                </a:lnTo>
                <a:lnTo>
                  <a:pt x="45719" y="76200"/>
                </a:lnTo>
                <a:lnTo>
                  <a:pt x="76200" y="76200"/>
                </a:lnTo>
                <a:lnTo>
                  <a:pt x="70347" y="64007"/>
                </a:lnTo>
                <a:close/>
              </a:path>
            </a:pathLst>
          </a:custGeom>
          <a:solidFill>
            <a:srgbClr val="000000"/>
          </a:solidFill>
        </p:spPr>
        <p:txBody>
          <a:bodyPr wrap="square" lIns="0" tIns="0" rIns="0" bIns="0" rtlCol="0"/>
          <a:lstStyle/>
          <a:p>
            <a:endParaRPr sz="1588" dirty="0"/>
          </a:p>
        </p:txBody>
      </p:sp>
      <p:sp>
        <p:nvSpPr>
          <p:cNvPr id="20" name="object 20">
            <a:extLst>
              <a:ext uri="{FF2B5EF4-FFF2-40B4-BE49-F238E27FC236}">
                <a16:creationId xmlns:a16="http://schemas.microsoft.com/office/drawing/2014/main" id="{706CFDF0-C3DC-488C-81A2-9EBC81D94555}"/>
              </a:ext>
            </a:extLst>
          </p:cNvPr>
          <p:cNvSpPr/>
          <p:nvPr/>
        </p:nvSpPr>
        <p:spPr>
          <a:xfrm>
            <a:off x="6647585" y="5414554"/>
            <a:ext cx="67235" cy="312084"/>
          </a:xfrm>
          <a:custGeom>
            <a:avLst/>
            <a:gdLst/>
            <a:ahLst/>
            <a:cxnLst/>
            <a:rect l="l" t="t" r="r" b="b"/>
            <a:pathLst>
              <a:path w="76200" h="353695">
                <a:moveTo>
                  <a:pt x="42672" y="64007"/>
                </a:moveTo>
                <a:lnTo>
                  <a:pt x="30480" y="64007"/>
                </a:lnTo>
                <a:lnTo>
                  <a:pt x="30480" y="353568"/>
                </a:lnTo>
                <a:lnTo>
                  <a:pt x="42672" y="353568"/>
                </a:lnTo>
                <a:lnTo>
                  <a:pt x="42672" y="64007"/>
                </a:lnTo>
                <a:close/>
              </a:path>
              <a:path w="76200" h="353695">
                <a:moveTo>
                  <a:pt x="36576" y="0"/>
                </a:moveTo>
                <a:lnTo>
                  <a:pt x="0" y="76200"/>
                </a:lnTo>
                <a:lnTo>
                  <a:pt x="30480" y="76200"/>
                </a:lnTo>
                <a:lnTo>
                  <a:pt x="30480" y="64007"/>
                </a:lnTo>
                <a:lnTo>
                  <a:pt x="69860" y="64007"/>
                </a:lnTo>
                <a:lnTo>
                  <a:pt x="36576" y="0"/>
                </a:lnTo>
                <a:close/>
              </a:path>
              <a:path w="76200" h="353695">
                <a:moveTo>
                  <a:pt x="69860" y="64007"/>
                </a:moveTo>
                <a:lnTo>
                  <a:pt x="42672" y="64007"/>
                </a:lnTo>
                <a:lnTo>
                  <a:pt x="42672" y="76200"/>
                </a:lnTo>
                <a:lnTo>
                  <a:pt x="76200" y="76200"/>
                </a:lnTo>
                <a:lnTo>
                  <a:pt x="69860" y="64007"/>
                </a:lnTo>
                <a:close/>
              </a:path>
            </a:pathLst>
          </a:custGeom>
          <a:solidFill>
            <a:srgbClr val="000000"/>
          </a:solidFill>
        </p:spPr>
        <p:txBody>
          <a:bodyPr wrap="square" lIns="0" tIns="0" rIns="0" bIns="0" rtlCol="0"/>
          <a:lstStyle/>
          <a:p>
            <a:endParaRPr sz="1588" dirty="0"/>
          </a:p>
        </p:txBody>
      </p:sp>
      <p:graphicFrame>
        <p:nvGraphicFramePr>
          <p:cNvPr id="21" name="object 21">
            <a:extLst>
              <a:ext uri="{FF2B5EF4-FFF2-40B4-BE49-F238E27FC236}">
                <a16:creationId xmlns:a16="http://schemas.microsoft.com/office/drawing/2014/main" id="{53C3E6D0-1FB8-40D6-90D1-9126C38A3CFD}"/>
              </a:ext>
            </a:extLst>
          </p:cNvPr>
          <p:cNvGraphicFramePr>
            <a:graphicFrameLocks noGrp="1"/>
          </p:cNvGraphicFramePr>
          <p:nvPr>
            <p:extLst/>
          </p:nvPr>
        </p:nvGraphicFramePr>
        <p:xfrm>
          <a:off x="5025870" y="1974798"/>
          <a:ext cx="1799664" cy="3430683"/>
        </p:xfrm>
        <a:graphic>
          <a:graphicData uri="http://schemas.openxmlformats.org/drawingml/2006/table">
            <a:tbl>
              <a:tblPr firstRow="1" bandRow="1">
                <a:tableStyleId>{2D5ABB26-0587-4C30-8999-92F81FD0307C}</a:tableStyleId>
              </a:tblPr>
              <a:tblGrid>
                <a:gridCol w="301438">
                  <a:extLst>
                    <a:ext uri="{9D8B030D-6E8A-4147-A177-3AD203B41FA5}">
                      <a16:colId xmlns:a16="http://schemas.microsoft.com/office/drawing/2014/main" val="20000"/>
                    </a:ext>
                  </a:extLst>
                </a:gridCol>
                <a:gridCol w="298637">
                  <a:extLst>
                    <a:ext uri="{9D8B030D-6E8A-4147-A177-3AD203B41FA5}">
                      <a16:colId xmlns:a16="http://schemas.microsoft.com/office/drawing/2014/main" val="20001"/>
                    </a:ext>
                  </a:extLst>
                </a:gridCol>
                <a:gridCol w="900952">
                  <a:extLst>
                    <a:ext uri="{9D8B030D-6E8A-4147-A177-3AD203B41FA5}">
                      <a16:colId xmlns:a16="http://schemas.microsoft.com/office/drawing/2014/main" val="20002"/>
                    </a:ext>
                  </a:extLst>
                </a:gridCol>
                <a:gridCol w="298637">
                  <a:extLst>
                    <a:ext uri="{9D8B030D-6E8A-4147-A177-3AD203B41FA5}">
                      <a16:colId xmlns:a16="http://schemas.microsoft.com/office/drawing/2014/main" val="20003"/>
                    </a:ext>
                  </a:extLst>
                </a:gridCol>
              </a:tblGrid>
              <a:tr h="311524">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11524">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14325">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11524">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311524">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311524">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949138">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r h="300878">
                <a:tc gridSpan="4">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308722">
                <a:tc>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22" name="object 22">
            <a:extLst>
              <a:ext uri="{FF2B5EF4-FFF2-40B4-BE49-F238E27FC236}">
                <a16:creationId xmlns:a16="http://schemas.microsoft.com/office/drawing/2014/main" id="{FD274FE2-155F-43D3-9201-9580A07C3690}"/>
              </a:ext>
            </a:extLst>
          </p:cNvPr>
          <p:cNvSpPr/>
          <p:nvPr/>
        </p:nvSpPr>
        <p:spPr>
          <a:xfrm>
            <a:off x="5903964" y="4025474"/>
            <a:ext cx="56478" cy="56478"/>
          </a:xfrm>
          <a:prstGeom prst="rect">
            <a:avLst/>
          </a:prstGeom>
          <a:blipFill>
            <a:blip r:embed="rId2" cstate="print"/>
            <a:stretch>
              <a:fillRect/>
            </a:stretch>
          </a:blipFill>
        </p:spPr>
        <p:txBody>
          <a:bodyPr wrap="square" lIns="0" tIns="0" rIns="0" bIns="0" rtlCol="0"/>
          <a:lstStyle/>
          <a:p>
            <a:endParaRPr sz="1588" dirty="0"/>
          </a:p>
        </p:txBody>
      </p:sp>
      <p:sp>
        <p:nvSpPr>
          <p:cNvPr id="23" name="object 23">
            <a:extLst>
              <a:ext uri="{FF2B5EF4-FFF2-40B4-BE49-F238E27FC236}">
                <a16:creationId xmlns:a16="http://schemas.microsoft.com/office/drawing/2014/main" id="{3512F011-33D0-47FC-9026-B1AAEDA3D83A}"/>
              </a:ext>
            </a:extLst>
          </p:cNvPr>
          <p:cNvSpPr/>
          <p:nvPr/>
        </p:nvSpPr>
        <p:spPr>
          <a:xfrm>
            <a:off x="5903964" y="4283657"/>
            <a:ext cx="56478" cy="59167"/>
          </a:xfrm>
          <a:prstGeom prst="rect">
            <a:avLst/>
          </a:prstGeom>
          <a:blipFill>
            <a:blip r:embed="rId3" cstate="print"/>
            <a:stretch>
              <a:fillRect/>
            </a:stretch>
          </a:blipFill>
        </p:spPr>
        <p:txBody>
          <a:bodyPr wrap="square" lIns="0" tIns="0" rIns="0" bIns="0" rtlCol="0"/>
          <a:lstStyle/>
          <a:p>
            <a:endParaRPr sz="1588" dirty="0"/>
          </a:p>
        </p:txBody>
      </p:sp>
      <p:sp>
        <p:nvSpPr>
          <p:cNvPr id="24" name="object 24">
            <a:extLst>
              <a:ext uri="{FF2B5EF4-FFF2-40B4-BE49-F238E27FC236}">
                <a16:creationId xmlns:a16="http://schemas.microsoft.com/office/drawing/2014/main" id="{A53684FF-F99A-4A05-82FF-E1B71E6D3A6B}"/>
              </a:ext>
            </a:extLst>
          </p:cNvPr>
          <p:cNvSpPr/>
          <p:nvPr/>
        </p:nvSpPr>
        <p:spPr>
          <a:xfrm>
            <a:off x="5903964" y="4531083"/>
            <a:ext cx="56478" cy="59167"/>
          </a:xfrm>
          <a:prstGeom prst="rect">
            <a:avLst/>
          </a:prstGeom>
          <a:blipFill>
            <a:blip r:embed="rId4" cstate="print"/>
            <a:stretch>
              <a:fillRect/>
            </a:stretch>
          </a:blipFill>
        </p:spPr>
        <p:txBody>
          <a:bodyPr wrap="square" lIns="0" tIns="0" rIns="0" bIns="0" rtlCol="0"/>
          <a:lstStyle/>
          <a:p>
            <a:endParaRPr sz="1588" dirty="0"/>
          </a:p>
        </p:txBody>
      </p:sp>
      <p:sp>
        <p:nvSpPr>
          <p:cNvPr id="25" name="object 25">
            <a:extLst>
              <a:ext uri="{FF2B5EF4-FFF2-40B4-BE49-F238E27FC236}">
                <a16:creationId xmlns:a16="http://schemas.microsoft.com/office/drawing/2014/main" id="{53113478-4A2D-4192-8BB2-FE420D2CCC2E}"/>
              </a:ext>
            </a:extLst>
          </p:cNvPr>
          <p:cNvSpPr/>
          <p:nvPr/>
        </p:nvSpPr>
        <p:spPr>
          <a:xfrm>
            <a:off x="5809833" y="5214193"/>
            <a:ext cx="56478" cy="59167"/>
          </a:xfrm>
          <a:prstGeom prst="rect">
            <a:avLst/>
          </a:prstGeom>
          <a:blipFill>
            <a:blip r:embed="rId5" cstate="print"/>
            <a:stretch>
              <a:fillRect/>
            </a:stretch>
          </a:blipFill>
        </p:spPr>
        <p:txBody>
          <a:bodyPr wrap="square" lIns="0" tIns="0" rIns="0" bIns="0" rtlCol="0"/>
          <a:lstStyle/>
          <a:p>
            <a:endParaRPr sz="1588" dirty="0"/>
          </a:p>
        </p:txBody>
      </p:sp>
      <p:sp>
        <p:nvSpPr>
          <p:cNvPr id="26" name="object 26">
            <a:extLst>
              <a:ext uri="{FF2B5EF4-FFF2-40B4-BE49-F238E27FC236}">
                <a16:creationId xmlns:a16="http://schemas.microsoft.com/office/drawing/2014/main" id="{ACF2647F-3510-45DC-8D50-15E66B87C216}"/>
              </a:ext>
            </a:extLst>
          </p:cNvPr>
          <p:cNvSpPr/>
          <p:nvPr/>
        </p:nvSpPr>
        <p:spPr>
          <a:xfrm>
            <a:off x="6059949" y="5214193"/>
            <a:ext cx="56478" cy="59167"/>
          </a:xfrm>
          <a:prstGeom prst="rect">
            <a:avLst/>
          </a:prstGeom>
          <a:blipFill>
            <a:blip r:embed="rId6" cstate="print"/>
            <a:stretch>
              <a:fillRect/>
            </a:stretch>
          </a:blipFill>
        </p:spPr>
        <p:txBody>
          <a:bodyPr wrap="square" lIns="0" tIns="0" rIns="0" bIns="0" rtlCol="0"/>
          <a:lstStyle/>
          <a:p>
            <a:endParaRPr sz="1588" dirty="0"/>
          </a:p>
        </p:txBody>
      </p:sp>
      <p:sp>
        <p:nvSpPr>
          <p:cNvPr id="27" name="object 27">
            <a:extLst>
              <a:ext uri="{FF2B5EF4-FFF2-40B4-BE49-F238E27FC236}">
                <a16:creationId xmlns:a16="http://schemas.microsoft.com/office/drawing/2014/main" id="{22CCE7A8-3DD2-43CD-B562-96EE6D0483D3}"/>
              </a:ext>
            </a:extLst>
          </p:cNvPr>
          <p:cNvSpPr/>
          <p:nvPr/>
        </p:nvSpPr>
        <p:spPr>
          <a:xfrm>
            <a:off x="6296617" y="5214193"/>
            <a:ext cx="56478" cy="59167"/>
          </a:xfrm>
          <a:prstGeom prst="rect">
            <a:avLst/>
          </a:prstGeom>
          <a:blipFill>
            <a:blip r:embed="rId5" cstate="print"/>
            <a:stretch>
              <a:fillRect/>
            </a:stretch>
          </a:blipFill>
        </p:spPr>
        <p:txBody>
          <a:bodyPr wrap="square" lIns="0" tIns="0" rIns="0" bIns="0" rtlCol="0"/>
          <a:lstStyle/>
          <a:p>
            <a:endParaRPr sz="1588" dirty="0"/>
          </a:p>
        </p:txBody>
      </p:sp>
      <p:sp>
        <p:nvSpPr>
          <p:cNvPr id="28" name="object 28">
            <a:extLst>
              <a:ext uri="{FF2B5EF4-FFF2-40B4-BE49-F238E27FC236}">
                <a16:creationId xmlns:a16="http://schemas.microsoft.com/office/drawing/2014/main" id="{76754665-FDF2-4F84-91A4-3CCC362FEBC5}"/>
              </a:ext>
            </a:extLst>
          </p:cNvPr>
          <p:cNvSpPr/>
          <p:nvPr/>
        </p:nvSpPr>
        <p:spPr>
          <a:xfrm>
            <a:off x="6679860" y="5726526"/>
            <a:ext cx="600075" cy="0"/>
          </a:xfrm>
          <a:custGeom>
            <a:avLst/>
            <a:gdLst/>
            <a:ahLst/>
            <a:cxnLst/>
            <a:rect l="l" t="t" r="r" b="b"/>
            <a:pathLst>
              <a:path w="680085">
                <a:moveTo>
                  <a:pt x="0" y="0"/>
                </a:moveTo>
                <a:lnTo>
                  <a:pt x="679703" y="0"/>
                </a:lnTo>
              </a:path>
            </a:pathLst>
          </a:custGeom>
          <a:ln w="12192">
            <a:solidFill>
              <a:srgbClr val="000000"/>
            </a:solidFill>
          </a:ln>
        </p:spPr>
        <p:txBody>
          <a:bodyPr wrap="square" lIns="0" tIns="0" rIns="0" bIns="0" rtlCol="0"/>
          <a:lstStyle/>
          <a:p>
            <a:endParaRPr sz="1588" dirty="0"/>
          </a:p>
        </p:txBody>
      </p:sp>
      <p:sp>
        <p:nvSpPr>
          <p:cNvPr id="29" name="object 29">
            <a:extLst>
              <a:ext uri="{FF2B5EF4-FFF2-40B4-BE49-F238E27FC236}">
                <a16:creationId xmlns:a16="http://schemas.microsoft.com/office/drawing/2014/main" id="{CA5CF871-B26B-4F4C-8631-B0A85FC14AE2}"/>
              </a:ext>
            </a:extLst>
          </p:cNvPr>
          <p:cNvSpPr/>
          <p:nvPr/>
        </p:nvSpPr>
        <p:spPr>
          <a:xfrm>
            <a:off x="6892322" y="1980176"/>
            <a:ext cx="750794" cy="3593165"/>
          </a:xfrm>
          <a:custGeom>
            <a:avLst/>
            <a:gdLst/>
            <a:ahLst/>
            <a:cxnLst/>
            <a:rect l="l" t="t" r="r" b="b"/>
            <a:pathLst>
              <a:path w="850900" h="4072254">
                <a:moveTo>
                  <a:pt x="0" y="0"/>
                </a:moveTo>
                <a:lnTo>
                  <a:pt x="53283" y="2651"/>
                </a:lnTo>
                <a:lnTo>
                  <a:pt x="104553" y="10388"/>
                </a:lnTo>
                <a:lnTo>
                  <a:pt x="153416" y="22887"/>
                </a:lnTo>
                <a:lnTo>
                  <a:pt x="199483" y="39822"/>
                </a:lnTo>
                <a:lnTo>
                  <a:pt x="242362" y="60869"/>
                </a:lnTo>
                <a:lnTo>
                  <a:pt x="281661" y="85704"/>
                </a:lnTo>
                <a:lnTo>
                  <a:pt x="316990" y="114002"/>
                </a:lnTo>
                <a:lnTo>
                  <a:pt x="347957" y="145438"/>
                </a:lnTo>
                <a:lnTo>
                  <a:pt x="374171" y="179687"/>
                </a:lnTo>
                <a:lnTo>
                  <a:pt x="395241" y="216426"/>
                </a:lnTo>
                <a:lnTo>
                  <a:pt x="410775" y="255328"/>
                </a:lnTo>
                <a:lnTo>
                  <a:pt x="420382" y="296070"/>
                </a:lnTo>
                <a:lnTo>
                  <a:pt x="423672" y="338328"/>
                </a:lnTo>
                <a:lnTo>
                  <a:pt x="423672" y="1697736"/>
                </a:lnTo>
                <a:lnTo>
                  <a:pt x="427012" y="1739993"/>
                </a:lnTo>
                <a:lnTo>
                  <a:pt x="436763" y="1780735"/>
                </a:lnTo>
                <a:lnTo>
                  <a:pt x="452514" y="1819637"/>
                </a:lnTo>
                <a:lnTo>
                  <a:pt x="473860" y="1856376"/>
                </a:lnTo>
                <a:lnTo>
                  <a:pt x="500392" y="1890625"/>
                </a:lnTo>
                <a:lnTo>
                  <a:pt x="531701" y="1922061"/>
                </a:lnTo>
                <a:lnTo>
                  <a:pt x="567381" y="1950359"/>
                </a:lnTo>
                <a:lnTo>
                  <a:pt x="607023" y="1975194"/>
                </a:lnTo>
                <a:lnTo>
                  <a:pt x="650220" y="1996241"/>
                </a:lnTo>
                <a:lnTo>
                  <a:pt x="696563" y="2013176"/>
                </a:lnTo>
                <a:lnTo>
                  <a:pt x="745644" y="2025675"/>
                </a:lnTo>
                <a:lnTo>
                  <a:pt x="797056" y="2033412"/>
                </a:lnTo>
                <a:lnTo>
                  <a:pt x="850392" y="2036064"/>
                </a:lnTo>
                <a:lnTo>
                  <a:pt x="797056" y="2038715"/>
                </a:lnTo>
                <a:lnTo>
                  <a:pt x="745644" y="2046452"/>
                </a:lnTo>
                <a:lnTo>
                  <a:pt x="696563" y="2058951"/>
                </a:lnTo>
                <a:lnTo>
                  <a:pt x="650220" y="2075886"/>
                </a:lnTo>
                <a:lnTo>
                  <a:pt x="607023" y="2096933"/>
                </a:lnTo>
                <a:lnTo>
                  <a:pt x="567381" y="2121768"/>
                </a:lnTo>
                <a:lnTo>
                  <a:pt x="531701" y="2150066"/>
                </a:lnTo>
                <a:lnTo>
                  <a:pt x="500392" y="2181502"/>
                </a:lnTo>
                <a:lnTo>
                  <a:pt x="473860" y="2215751"/>
                </a:lnTo>
                <a:lnTo>
                  <a:pt x="452514" y="2252490"/>
                </a:lnTo>
                <a:lnTo>
                  <a:pt x="436763" y="2291392"/>
                </a:lnTo>
                <a:lnTo>
                  <a:pt x="427012" y="2332134"/>
                </a:lnTo>
                <a:lnTo>
                  <a:pt x="423672" y="2374392"/>
                </a:lnTo>
                <a:lnTo>
                  <a:pt x="423672" y="3730752"/>
                </a:lnTo>
                <a:lnTo>
                  <a:pt x="420382" y="3773659"/>
                </a:lnTo>
                <a:lnTo>
                  <a:pt x="410775" y="3814952"/>
                </a:lnTo>
                <a:lnTo>
                  <a:pt x="395241" y="3854314"/>
                </a:lnTo>
                <a:lnTo>
                  <a:pt x="374171" y="3891428"/>
                </a:lnTo>
                <a:lnTo>
                  <a:pt x="347957" y="3925979"/>
                </a:lnTo>
                <a:lnTo>
                  <a:pt x="316990" y="3957649"/>
                </a:lnTo>
                <a:lnTo>
                  <a:pt x="281661" y="3986123"/>
                </a:lnTo>
                <a:lnTo>
                  <a:pt x="242362" y="4011084"/>
                </a:lnTo>
                <a:lnTo>
                  <a:pt x="199483" y="4032216"/>
                </a:lnTo>
                <a:lnTo>
                  <a:pt x="153416" y="4049203"/>
                </a:lnTo>
                <a:lnTo>
                  <a:pt x="104553" y="4061728"/>
                </a:lnTo>
                <a:lnTo>
                  <a:pt x="53283" y="4069475"/>
                </a:lnTo>
                <a:lnTo>
                  <a:pt x="0" y="4072128"/>
                </a:lnTo>
              </a:path>
            </a:pathLst>
          </a:custGeom>
          <a:ln w="12192">
            <a:solidFill>
              <a:srgbClr val="000000"/>
            </a:solidFill>
          </a:ln>
        </p:spPr>
        <p:txBody>
          <a:bodyPr wrap="square" lIns="0" tIns="0" rIns="0" bIns="0" rtlCol="0"/>
          <a:lstStyle/>
          <a:p>
            <a:endParaRPr sz="1588" dirty="0"/>
          </a:p>
        </p:txBody>
      </p:sp>
      <p:sp>
        <p:nvSpPr>
          <p:cNvPr id="30" name="object 30">
            <a:extLst>
              <a:ext uri="{FF2B5EF4-FFF2-40B4-BE49-F238E27FC236}">
                <a16:creationId xmlns:a16="http://schemas.microsoft.com/office/drawing/2014/main" id="{B6C2F8B0-2134-4708-B199-C5E878B83BBD}"/>
              </a:ext>
            </a:extLst>
          </p:cNvPr>
          <p:cNvSpPr txBox="1"/>
          <p:nvPr/>
        </p:nvSpPr>
        <p:spPr>
          <a:xfrm>
            <a:off x="4823716" y="5752973"/>
            <a:ext cx="1081368" cy="255678"/>
          </a:xfrm>
          <a:prstGeom prst="rect">
            <a:avLst/>
          </a:prstGeom>
        </p:spPr>
        <p:txBody>
          <a:bodyPr vert="horz" wrap="square" lIns="0" tIns="11206" rIns="0" bIns="0" rtlCol="0">
            <a:spAutoFit/>
          </a:bodyPr>
          <a:lstStyle/>
          <a:p>
            <a:pPr marL="11206">
              <a:spcBef>
                <a:spcPts val="88"/>
              </a:spcBef>
              <a:tabLst>
                <a:tab pos="597305" algn="l"/>
              </a:tabLst>
            </a:pPr>
            <a:r>
              <a:rPr sz="2382" spc="-6" baseline="3086" dirty="0">
                <a:solidFill>
                  <a:srgbClr val="333333"/>
                </a:solidFill>
                <a:latin typeface="Verdana"/>
                <a:cs typeface="Verdana"/>
              </a:rPr>
              <a:t>Bit</a:t>
            </a:r>
            <a:r>
              <a:rPr sz="2382" baseline="3086" dirty="0">
                <a:solidFill>
                  <a:srgbClr val="333333"/>
                </a:solidFill>
                <a:latin typeface="Verdana"/>
                <a:cs typeface="Verdana"/>
              </a:rPr>
              <a:t> 1	</a:t>
            </a:r>
            <a:r>
              <a:rPr sz="1588" spc="-4" dirty="0">
                <a:solidFill>
                  <a:srgbClr val="333333"/>
                </a:solidFill>
                <a:latin typeface="Verdana"/>
                <a:cs typeface="Verdana"/>
              </a:rPr>
              <a:t>Bit</a:t>
            </a:r>
            <a:r>
              <a:rPr sz="1588" spc="-66" dirty="0">
                <a:solidFill>
                  <a:srgbClr val="333333"/>
                </a:solidFill>
                <a:latin typeface="Verdana"/>
                <a:cs typeface="Verdana"/>
              </a:rPr>
              <a:t> </a:t>
            </a:r>
            <a:r>
              <a:rPr sz="1588" dirty="0">
                <a:solidFill>
                  <a:srgbClr val="333333"/>
                </a:solidFill>
                <a:latin typeface="Verdana"/>
                <a:cs typeface="Verdana"/>
              </a:rPr>
              <a:t>2</a:t>
            </a:r>
            <a:endParaRPr sz="1588" dirty="0">
              <a:latin typeface="Verdana"/>
              <a:cs typeface="Verdana"/>
            </a:endParaRPr>
          </a:p>
        </p:txBody>
      </p:sp>
      <p:sp>
        <p:nvSpPr>
          <p:cNvPr id="31" name="object 33">
            <a:extLst>
              <a:ext uri="{FF2B5EF4-FFF2-40B4-BE49-F238E27FC236}">
                <a16:creationId xmlns:a16="http://schemas.microsoft.com/office/drawing/2014/main" id="{7633E40E-3DD4-438D-B504-8635512999BC}"/>
              </a:ext>
            </a:extLst>
          </p:cNvPr>
          <p:cNvSpPr txBox="1">
            <a:spLocks/>
          </p:cNvSpPr>
          <p:nvPr/>
        </p:nvSpPr>
        <p:spPr>
          <a:xfrm>
            <a:off x="798503" y="7574129"/>
            <a:ext cx="807719" cy="21544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FFFF00"/>
                </a:solidFill>
                <a:latin typeface="Verdana"/>
                <a:ea typeface="+mn-ea"/>
                <a:cs typeface="Verdan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spcBef>
                <a:spcPts val="88"/>
              </a:spcBef>
            </a:pPr>
            <a:r>
              <a:rPr lang="en-US" spc="-10"/>
              <a:t>Ref</a:t>
            </a:r>
            <a:r>
              <a:rPr lang="en-US" spc="-70"/>
              <a:t> </a:t>
            </a:r>
            <a:r>
              <a:rPr lang="en-US" spc="-5"/>
              <a:t>Page</a:t>
            </a:r>
            <a:endParaRPr lang="en-US" spc="-4" dirty="0"/>
          </a:p>
        </p:txBody>
      </p:sp>
      <p:sp>
        <p:nvSpPr>
          <p:cNvPr id="33" name="object 32">
            <a:extLst>
              <a:ext uri="{FF2B5EF4-FFF2-40B4-BE49-F238E27FC236}">
                <a16:creationId xmlns:a16="http://schemas.microsoft.com/office/drawing/2014/main" id="{EDD7E72E-5B82-41B5-9B5C-24096E7AFDFA}"/>
              </a:ext>
            </a:extLst>
          </p:cNvPr>
          <p:cNvSpPr txBox="1"/>
          <p:nvPr/>
        </p:nvSpPr>
        <p:spPr>
          <a:xfrm>
            <a:off x="7405552" y="5059104"/>
            <a:ext cx="2314575" cy="987631"/>
          </a:xfrm>
          <a:prstGeom prst="rect">
            <a:avLst/>
          </a:prstGeom>
        </p:spPr>
        <p:txBody>
          <a:bodyPr vert="horz" wrap="square" lIns="0" tIns="10085" rIns="0" bIns="0" rtlCol="0">
            <a:spAutoFit/>
          </a:bodyPr>
          <a:lstStyle/>
          <a:p>
            <a:pPr marL="11206" marR="440975">
              <a:lnSpc>
                <a:spcPct val="100400"/>
              </a:lnSpc>
              <a:spcBef>
                <a:spcPts val="79"/>
              </a:spcBef>
            </a:pPr>
            <a:r>
              <a:rPr sz="1588" spc="-4" dirty="0">
                <a:solidFill>
                  <a:srgbClr val="333333"/>
                </a:solidFill>
                <a:latin typeface="Verdana"/>
                <a:cs typeface="Verdana"/>
              </a:rPr>
              <a:t>Each word  contains the</a:t>
            </a:r>
            <a:r>
              <a:rPr sz="1588" spc="-53" dirty="0">
                <a:solidFill>
                  <a:srgbClr val="333333"/>
                </a:solidFill>
                <a:latin typeface="Verdana"/>
                <a:cs typeface="Verdana"/>
              </a:rPr>
              <a:t> </a:t>
            </a:r>
            <a:r>
              <a:rPr sz="1588" dirty="0">
                <a:solidFill>
                  <a:srgbClr val="333333"/>
                </a:solidFill>
                <a:latin typeface="Verdana"/>
                <a:cs typeface="Verdana"/>
              </a:rPr>
              <a:t>same  </a:t>
            </a:r>
            <a:r>
              <a:rPr sz="1588" spc="-4" dirty="0">
                <a:solidFill>
                  <a:srgbClr val="333333"/>
                </a:solidFill>
                <a:latin typeface="Verdana"/>
                <a:cs typeface="Verdana"/>
              </a:rPr>
              <a:t>number </a:t>
            </a:r>
            <a:r>
              <a:rPr sz="1588" dirty="0">
                <a:solidFill>
                  <a:srgbClr val="333333"/>
                </a:solidFill>
                <a:latin typeface="Verdana"/>
                <a:cs typeface="Verdana"/>
              </a:rPr>
              <a:t>of </a:t>
            </a:r>
            <a:r>
              <a:rPr sz="1588" spc="-4" dirty="0">
                <a:solidFill>
                  <a:srgbClr val="333333"/>
                </a:solidFill>
                <a:latin typeface="Verdana"/>
                <a:cs typeface="Verdana"/>
              </a:rPr>
              <a:t>bits =  word</a:t>
            </a:r>
            <a:r>
              <a:rPr sz="1588" spc="-9" dirty="0">
                <a:solidFill>
                  <a:srgbClr val="333333"/>
                </a:solidFill>
                <a:latin typeface="Verdana"/>
                <a:cs typeface="Verdana"/>
              </a:rPr>
              <a:t> </a:t>
            </a:r>
            <a:r>
              <a:rPr sz="1588" spc="-4" dirty="0">
                <a:solidFill>
                  <a:srgbClr val="333333"/>
                </a:solidFill>
                <a:latin typeface="Verdana"/>
                <a:cs typeface="Verdana"/>
              </a:rPr>
              <a:t>length</a:t>
            </a:r>
            <a:endParaRPr sz="1588" dirty="0">
              <a:latin typeface="Verdana"/>
              <a:cs typeface="Verdana"/>
            </a:endParaRPr>
          </a:p>
        </p:txBody>
      </p:sp>
    </p:spTree>
    <p:extLst>
      <p:ext uri="{BB962C8B-B14F-4D97-AF65-F5344CB8AC3E}">
        <p14:creationId xmlns:p14="http://schemas.microsoft.com/office/powerpoint/2010/main" val="2542969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D4FC-E0A4-43A6-9B99-864DE2D66566}"/>
              </a:ext>
            </a:extLst>
          </p:cNvPr>
          <p:cNvSpPr>
            <a:spLocks noGrp="1"/>
          </p:cNvSpPr>
          <p:nvPr>
            <p:ph type="title"/>
          </p:nvPr>
        </p:nvSpPr>
        <p:spPr/>
        <p:txBody>
          <a:bodyPr/>
          <a:lstStyle/>
          <a:p>
            <a:r>
              <a:rPr lang="en-US" spc="-9" dirty="0"/>
              <a:t>Fixed </a:t>
            </a:r>
            <a:r>
              <a:rPr lang="en-US" spc="-4" dirty="0"/>
              <a:t>Word-length</a:t>
            </a:r>
            <a:r>
              <a:rPr lang="en-US" spc="26" dirty="0"/>
              <a:t> </a:t>
            </a:r>
            <a:r>
              <a:rPr lang="en-US" spc="-4" dirty="0"/>
              <a:t>Memory</a:t>
            </a:r>
            <a:endParaRPr lang="LID4096" dirty="0"/>
          </a:p>
        </p:txBody>
      </p:sp>
      <p:sp>
        <p:nvSpPr>
          <p:cNvPr id="3" name="Content Placeholder 2">
            <a:extLst>
              <a:ext uri="{FF2B5EF4-FFF2-40B4-BE49-F238E27FC236}">
                <a16:creationId xmlns:a16="http://schemas.microsoft.com/office/drawing/2014/main" id="{324CAD4B-BA1A-4BAA-80E8-C2C386043A2D}"/>
              </a:ext>
            </a:extLst>
          </p:cNvPr>
          <p:cNvSpPr>
            <a:spLocks noGrp="1"/>
          </p:cNvSpPr>
          <p:nvPr>
            <p:ph idx="1"/>
          </p:nvPr>
        </p:nvSpPr>
        <p:spPr>
          <a:xfrm>
            <a:off x="1045028" y="3947163"/>
            <a:ext cx="10308771" cy="2231567"/>
          </a:xfrm>
        </p:spPr>
        <p:txBody>
          <a:bodyPr>
            <a:normAutofit/>
          </a:bodyPr>
          <a:lstStyle/>
          <a:p>
            <a:pPr marL="317704" indent="-306497">
              <a:lnSpc>
                <a:spcPct val="100000"/>
              </a:lnSpc>
              <a:spcBef>
                <a:spcPts val="1478"/>
              </a:spcBef>
              <a:buClr>
                <a:srgbClr val="FF3300"/>
              </a:buClr>
              <a:buFont typeface="Wingdings"/>
              <a:buChar char=""/>
              <a:tabLst>
                <a:tab pos="317704" algn="l"/>
                <a:tab pos="318264" algn="l"/>
              </a:tabLst>
            </a:pPr>
            <a:r>
              <a:rPr lang="en-US" spc="-4" dirty="0"/>
              <a:t>Storage </a:t>
            </a:r>
            <a:r>
              <a:rPr lang="en-US" dirty="0"/>
              <a:t>space is </a:t>
            </a:r>
            <a:r>
              <a:rPr lang="en-US" spc="-4" dirty="0"/>
              <a:t>always </a:t>
            </a:r>
            <a:r>
              <a:rPr lang="en-US" dirty="0"/>
              <a:t>allocated in multiples of</a:t>
            </a:r>
            <a:r>
              <a:rPr lang="en-US" spc="13" dirty="0"/>
              <a:t> </a:t>
            </a:r>
            <a:r>
              <a:rPr lang="en-US" spc="-4" dirty="0"/>
              <a:t>word-length</a:t>
            </a:r>
            <a:endParaRPr lang="en-US" dirty="0"/>
          </a:p>
          <a:p>
            <a:pPr marL="317704" indent="-306497">
              <a:lnSpc>
                <a:spcPct val="100000"/>
              </a:lnSpc>
              <a:spcBef>
                <a:spcPts val="865"/>
              </a:spcBef>
              <a:buClr>
                <a:srgbClr val="FF3300"/>
              </a:buClr>
              <a:buFont typeface="Wingdings"/>
              <a:buChar char=""/>
              <a:tabLst>
                <a:tab pos="317704" algn="l"/>
                <a:tab pos="318264" algn="l"/>
              </a:tabLst>
            </a:pPr>
            <a:r>
              <a:rPr lang="en-US" dirty="0"/>
              <a:t>Faster in speed of calculation </a:t>
            </a:r>
            <a:r>
              <a:rPr lang="en-US" spc="-4" dirty="0"/>
              <a:t>than variable word-length </a:t>
            </a:r>
            <a:r>
              <a:rPr lang="en-US" dirty="0"/>
              <a:t>memory</a:t>
            </a:r>
          </a:p>
          <a:p>
            <a:pPr marL="317704" marR="97495" indent="-306497">
              <a:lnSpc>
                <a:spcPct val="101099"/>
              </a:lnSpc>
              <a:spcBef>
                <a:spcPts val="829"/>
              </a:spcBef>
              <a:buClr>
                <a:srgbClr val="FF3300"/>
              </a:buClr>
              <a:buFont typeface="Wingdings"/>
              <a:buChar char=""/>
              <a:tabLst>
                <a:tab pos="317704" algn="l"/>
                <a:tab pos="318264" algn="l"/>
              </a:tabLst>
            </a:pPr>
            <a:r>
              <a:rPr lang="en-US" dirty="0"/>
              <a:t>Normally </a:t>
            </a:r>
            <a:r>
              <a:rPr lang="en-US" spc="-4" dirty="0"/>
              <a:t>used </a:t>
            </a:r>
            <a:r>
              <a:rPr lang="en-US" dirty="0"/>
              <a:t>in large </a:t>
            </a:r>
            <a:r>
              <a:rPr lang="en-US" spc="-4" dirty="0"/>
              <a:t>scientific </a:t>
            </a:r>
            <a:r>
              <a:rPr lang="en-US" dirty="0"/>
              <a:t>computers </a:t>
            </a:r>
            <a:r>
              <a:rPr lang="en-US" spc="-4" dirty="0"/>
              <a:t>for gaining </a:t>
            </a:r>
            <a:r>
              <a:rPr lang="en-US" dirty="0"/>
              <a:t>speed of  calculation</a:t>
            </a:r>
          </a:p>
          <a:p>
            <a:endParaRPr lang="LID4096" dirty="0"/>
          </a:p>
        </p:txBody>
      </p:sp>
      <p:sp>
        <p:nvSpPr>
          <p:cNvPr id="4" name="object 4">
            <a:extLst>
              <a:ext uri="{FF2B5EF4-FFF2-40B4-BE49-F238E27FC236}">
                <a16:creationId xmlns:a16="http://schemas.microsoft.com/office/drawing/2014/main" id="{22C09B6C-D9AF-49D7-9CC7-BC5B97E14113}"/>
              </a:ext>
            </a:extLst>
          </p:cNvPr>
          <p:cNvSpPr txBox="1"/>
          <p:nvPr/>
        </p:nvSpPr>
        <p:spPr>
          <a:xfrm>
            <a:off x="4683610" y="1831041"/>
            <a:ext cx="477371" cy="1048511"/>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0</a:t>
            </a:r>
            <a:r>
              <a:rPr sz="1412" spc="4" dirty="0">
                <a:solidFill>
                  <a:srgbClr val="333333"/>
                </a:solidFill>
                <a:latin typeface="Verdana"/>
                <a:cs typeface="Verdana"/>
              </a:rPr>
              <a:t>5</a:t>
            </a:r>
            <a:r>
              <a:rPr sz="1412" spc="-9" dirty="0">
                <a:solidFill>
                  <a:srgbClr val="333333"/>
                </a:solidFill>
                <a:latin typeface="Verdana"/>
                <a:cs typeface="Verdana"/>
              </a:rPr>
              <a:t>01</a:t>
            </a:r>
            <a:endParaRPr sz="1412" dirty="0">
              <a:latin typeface="Verdana"/>
              <a:cs typeface="Verdana"/>
            </a:endParaRPr>
          </a:p>
          <a:p>
            <a:pPr marL="11206">
              <a:spcBef>
                <a:spcPts val="1482"/>
              </a:spcBef>
            </a:pPr>
            <a:r>
              <a:rPr sz="1412" spc="-9" dirty="0">
                <a:solidFill>
                  <a:srgbClr val="333333"/>
                </a:solidFill>
                <a:latin typeface="Verdana"/>
                <a:cs typeface="Verdana"/>
              </a:rPr>
              <a:t>0</a:t>
            </a:r>
            <a:r>
              <a:rPr sz="1412" spc="4" dirty="0">
                <a:solidFill>
                  <a:srgbClr val="333333"/>
                </a:solidFill>
                <a:latin typeface="Verdana"/>
                <a:cs typeface="Verdana"/>
              </a:rPr>
              <a:t>5</a:t>
            </a:r>
            <a:r>
              <a:rPr sz="1412" spc="-9" dirty="0">
                <a:solidFill>
                  <a:srgbClr val="333333"/>
                </a:solidFill>
                <a:latin typeface="Verdana"/>
                <a:cs typeface="Verdana"/>
              </a:rPr>
              <a:t>02</a:t>
            </a:r>
            <a:endParaRPr sz="1412" dirty="0">
              <a:latin typeface="Verdana"/>
              <a:cs typeface="Verdana"/>
            </a:endParaRPr>
          </a:p>
          <a:p>
            <a:pPr marL="11206">
              <a:spcBef>
                <a:spcPts val="1460"/>
              </a:spcBef>
            </a:pPr>
            <a:r>
              <a:rPr sz="1412" spc="-9" dirty="0">
                <a:solidFill>
                  <a:srgbClr val="333333"/>
                </a:solidFill>
                <a:latin typeface="Verdana"/>
                <a:cs typeface="Verdana"/>
              </a:rPr>
              <a:t>0</a:t>
            </a:r>
            <a:r>
              <a:rPr sz="1412" spc="4" dirty="0">
                <a:solidFill>
                  <a:srgbClr val="333333"/>
                </a:solidFill>
                <a:latin typeface="Verdana"/>
                <a:cs typeface="Verdana"/>
              </a:rPr>
              <a:t>5</a:t>
            </a:r>
            <a:r>
              <a:rPr sz="1412" spc="-9" dirty="0">
                <a:solidFill>
                  <a:srgbClr val="333333"/>
                </a:solidFill>
                <a:latin typeface="Verdana"/>
                <a:cs typeface="Verdana"/>
              </a:rPr>
              <a:t>03</a:t>
            </a:r>
            <a:endParaRPr sz="1412" dirty="0">
              <a:latin typeface="Verdana"/>
              <a:cs typeface="Verdana"/>
            </a:endParaRPr>
          </a:p>
        </p:txBody>
      </p:sp>
      <p:sp>
        <p:nvSpPr>
          <p:cNvPr id="5" name="object 6">
            <a:extLst>
              <a:ext uri="{FF2B5EF4-FFF2-40B4-BE49-F238E27FC236}">
                <a16:creationId xmlns:a16="http://schemas.microsoft.com/office/drawing/2014/main" id="{94B8BC82-1DC9-4109-AD48-63B91EA8D517}"/>
              </a:ext>
            </a:extLst>
          </p:cNvPr>
          <p:cNvSpPr/>
          <p:nvPr/>
        </p:nvSpPr>
        <p:spPr>
          <a:xfrm>
            <a:off x="5273040" y="2912633"/>
            <a:ext cx="8404" cy="387724"/>
          </a:xfrm>
          <a:custGeom>
            <a:avLst/>
            <a:gdLst/>
            <a:ahLst/>
            <a:cxnLst/>
            <a:rect l="l" t="t" r="r" b="b"/>
            <a:pathLst>
              <a:path w="9525" h="439420">
                <a:moveTo>
                  <a:pt x="3048" y="0"/>
                </a:moveTo>
                <a:lnTo>
                  <a:pt x="0" y="3048"/>
                </a:lnTo>
                <a:lnTo>
                  <a:pt x="0" y="33527"/>
                </a:lnTo>
                <a:lnTo>
                  <a:pt x="3048" y="36575"/>
                </a:lnTo>
                <a:lnTo>
                  <a:pt x="9143" y="33527"/>
                </a:lnTo>
                <a:lnTo>
                  <a:pt x="9143" y="3048"/>
                </a:lnTo>
                <a:lnTo>
                  <a:pt x="3048" y="0"/>
                </a:lnTo>
                <a:close/>
              </a:path>
              <a:path w="9525" h="439420">
                <a:moveTo>
                  <a:pt x="3048" y="67055"/>
                </a:moveTo>
                <a:lnTo>
                  <a:pt x="0" y="70103"/>
                </a:lnTo>
                <a:lnTo>
                  <a:pt x="0" y="100583"/>
                </a:lnTo>
                <a:lnTo>
                  <a:pt x="3048" y="103631"/>
                </a:lnTo>
                <a:lnTo>
                  <a:pt x="9143" y="100583"/>
                </a:lnTo>
                <a:lnTo>
                  <a:pt x="9143" y="70103"/>
                </a:lnTo>
                <a:lnTo>
                  <a:pt x="3048" y="67055"/>
                </a:lnTo>
                <a:close/>
              </a:path>
              <a:path w="9525" h="439420">
                <a:moveTo>
                  <a:pt x="3048" y="134112"/>
                </a:moveTo>
                <a:lnTo>
                  <a:pt x="0" y="137160"/>
                </a:lnTo>
                <a:lnTo>
                  <a:pt x="0" y="164591"/>
                </a:lnTo>
                <a:lnTo>
                  <a:pt x="3048" y="170687"/>
                </a:lnTo>
                <a:lnTo>
                  <a:pt x="9143" y="164591"/>
                </a:lnTo>
                <a:lnTo>
                  <a:pt x="9143" y="137160"/>
                </a:lnTo>
                <a:lnTo>
                  <a:pt x="3048" y="134112"/>
                </a:lnTo>
                <a:close/>
              </a:path>
              <a:path w="9525" h="439420">
                <a:moveTo>
                  <a:pt x="3048" y="198119"/>
                </a:moveTo>
                <a:lnTo>
                  <a:pt x="0" y="204215"/>
                </a:lnTo>
                <a:lnTo>
                  <a:pt x="0" y="231648"/>
                </a:lnTo>
                <a:lnTo>
                  <a:pt x="3048" y="237743"/>
                </a:lnTo>
                <a:lnTo>
                  <a:pt x="9143" y="231648"/>
                </a:lnTo>
                <a:lnTo>
                  <a:pt x="9143" y="204215"/>
                </a:lnTo>
                <a:lnTo>
                  <a:pt x="3048" y="198119"/>
                </a:lnTo>
                <a:close/>
              </a:path>
              <a:path w="9525" h="439420">
                <a:moveTo>
                  <a:pt x="3048" y="265175"/>
                </a:moveTo>
                <a:lnTo>
                  <a:pt x="0" y="271271"/>
                </a:lnTo>
                <a:lnTo>
                  <a:pt x="0" y="298703"/>
                </a:lnTo>
                <a:lnTo>
                  <a:pt x="3048" y="304800"/>
                </a:lnTo>
                <a:lnTo>
                  <a:pt x="9143" y="298703"/>
                </a:lnTo>
                <a:lnTo>
                  <a:pt x="9143" y="271271"/>
                </a:lnTo>
                <a:lnTo>
                  <a:pt x="3048" y="265175"/>
                </a:lnTo>
                <a:close/>
              </a:path>
              <a:path w="9525" h="439420">
                <a:moveTo>
                  <a:pt x="3048" y="332231"/>
                </a:moveTo>
                <a:lnTo>
                  <a:pt x="0" y="338327"/>
                </a:lnTo>
                <a:lnTo>
                  <a:pt x="0" y="365760"/>
                </a:lnTo>
                <a:lnTo>
                  <a:pt x="3048" y="371855"/>
                </a:lnTo>
                <a:lnTo>
                  <a:pt x="9143" y="365760"/>
                </a:lnTo>
                <a:lnTo>
                  <a:pt x="9143" y="338327"/>
                </a:lnTo>
                <a:lnTo>
                  <a:pt x="3048" y="332231"/>
                </a:lnTo>
                <a:close/>
              </a:path>
              <a:path w="9525" h="439420">
                <a:moveTo>
                  <a:pt x="3048" y="399288"/>
                </a:moveTo>
                <a:lnTo>
                  <a:pt x="0" y="405383"/>
                </a:lnTo>
                <a:lnTo>
                  <a:pt x="0" y="432815"/>
                </a:lnTo>
                <a:lnTo>
                  <a:pt x="3048" y="438912"/>
                </a:lnTo>
                <a:lnTo>
                  <a:pt x="9143" y="432815"/>
                </a:lnTo>
                <a:lnTo>
                  <a:pt x="9143" y="405383"/>
                </a:lnTo>
                <a:lnTo>
                  <a:pt x="3048" y="399288"/>
                </a:lnTo>
                <a:close/>
              </a:path>
            </a:pathLst>
          </a:custGeom>
          <a:solidFill>
            <a:srgbClr val="000000"/>
          </a:solidFill>
        </p:spPr>
        <p:txBody>
          <a:bodyPr wrap="square" lIns="0" tIns="0" rIns="0" bIns="0" rtlCol="0"/>
          <a:lstStyle/>
          <a:p>
            <a:endParaRPr sz="1588" dirty="0"/>
          </a:p>
        </p:txBody>
      </p:sp>
      <p:sp>
        <p:nvSpPr>
          <p:cNvPr id="6" name="object 7">
            <a:extLst>
              <a:ext uri="{FF2B5EF4-FFF2-40B4-BE49-F238E27FC236}">
                <a16:creationId xmlns:a16="http://schemas.microsoft.com/office/drawing/2014/main" id="{272B19B6-BBD7-49C5-B24D-EA38BDF8A5DB}"/>
              </a:ext>
            </a:extLst>
          </p:cNvPr>
          <p:cNvSpPr/>
          <p:nvPr/>
        </p:nvSpPr>
        <p:spPr>
          <a:xfrm>
            <a:off x="8277114" y="2912633"/>
            <a:ext cx="8404" cy="387724"/>
          </a:xfrm>
          <a:custGeom>
            <a:avLst/>
            <a:gdLst/>
            <a:ahLst/>
            <a:cxnLst/>
            <a:rect l="l" t="t" r="r" b="b"/>
            <a:pathLst>
              <a:path w="9525" h="439420">
                <a:moveTo>
                  <a:pt x="3048" y="0"/>
                </a:moveTo>
                <a:lnTo>
                  <a:pt x="0" y="3048"/>
                </a:lnTo>
                <a:lnTo>
                  <a:pt x="0" y="33527"/>
                </a:lnTo>
                <a:lnTo>
                  <a:pt x="3048" y="36575"/>
                </a:lnTo>
                <a:lnTo>
                  <a:pt x="9144" y="33527"/>
                </a:lnTo>
                <a:lnTo>
                  <a:pt x="9144" y="3048"/>
                </a:lnTo>
                <a:lnTo>
                  <a:pt x="3048" y="0"/>
                </a:lnTo>
                <a:close/>
              </a:path>
              <a:path w="9525" h="439420">
                <a:moveTo>
                  <a:pt x="3048" y="67055"/>
                </a:moveTo>
                <a:lnTo>
                  <a:pt x="0" y="70103"/>
                </a:lnTo>
                <a:lnTo>
                  <a:pt x="0" y="100583"/>
                </a:lnTo>
                <a:lnTo>
                  <a:pt x="3048" y="103631"/>
                </a:lnTo>
                <a:lnTo>
                  <a:pt x="9144" y="100583"/>
                </a:lnTo>
                <a:lnTo>
                  <a:pt x="9144" y="70103"/>
                </a:lnTo>
                <a:lnTo>
                  <a:pt x="3048" y="67055"/>
                </a:lnTo>
                <a:close/>
              </a:path>
              <a:path w="9525" h="439420">
                <a:moveTo>
                  <a:pt x="3048" y="134112"/>
                </a:moveTo>
                <a:lnTo>
                  <a:pt x="0" y="137160"/>
                </a:lnTo>
                <a:lnTo>
                  <a:pt x="0" y="164591"/>
                </a:lnTo>
                <a:lnTo>
                  <a:pt x="3048" y="170687"/>
                </a:lnTo>
                <a:lnTo>
                  <a:pt x="9144" y="164591"/>
                </a:lnTo>
                <a:lnTo>
                  <a:pt x="9144" y="137160"/>
                </a:lnTo>
                <a:lnTo>
                  <a:pt x="3048" y="134112"/>
                </a:lnTo>
                <a:close/>
              </a:path>
              <a:path w="9525" h="439420">
                <a:moveTo>
                  <a:pt x="3048" y="198119"/>
                </a:moveTo>
                <a:lnTo>
                  <a:pt x="0" y="204215"/>
                </a:lnTo>
                <a:lnTo>
                  <a:pt x="0" y="231648"/>
                </a:lnTo>
                <a:lnTo>
                  <a:pt x="3048" y="237743"/>
                </a:lnTo>
                <a:lnTo>
                  <a:pt x="9144" y="231648"/>
                </a:lnTo>
                <a:lnTo>
                  <a:pt x="9144" y="204215"/>
                </a:lnTo>
                <a:lnTo>
                  <a:pt x="3048" y="198119"/>
                </a:lnTo>
                <a:close/>
              </a:path>
              <a:path w="9525" h="439420">
                <a:moveTo>
                  <a:pt x="3048" y="265175"/>
                </a:moveTo>
                <a:lnTo>
                  <a:pt x="0" y="271271"/>
                </a:lnTo>
                <a:lnTo>
                  <a:pt x="0" y="298703"/>
                </a:lnTo>
                <a:lnTo>
                  <a:pt x="3048" y="304800"/>
                </a:lnTo>
                <a:lnTo>
                  <a:pt x="9144" y="298703"/>
                </a:lnTo>
                <a:lnTo>
                  <a:pt x="9144" y="271271"/>
                </a:lnTo>
                <a:lnTo>
                  <a:pt x="3048" y="265175"/>
                </a:lnTo>
                <a:close/>
              </a:path>
              <a:path w="9525" h="439420">
                <a:moveTo>
                  <a:pt x="3048" y="332231"/>
                </a:moveTo>
                <a:lnTo>
                  <a:pt x="0" y="338327"/>
                </a:lnTo>
                <a:lnTo>
                  <a:pt x="0" y="365760"/>
                </a:lnTo>
                <a:lnTo>
                  <a:pt x="3048" y="371855"/>
                </a:lnTo>
                <a:lnTo>
                  <a:pt x="9144" y="365760"/>
                </a:lnTo>
                <a:lnTo>
                  <a:pt x="9144" y="338327"/>
                </a:lnTo>
                <a:lnTo>
                  <a:pt x="3048" y="332231"/>
                </a:lnTo>
                <a:close/>
              </a:path>
              <a:path w="9525" h="439420">
                <a:moveTo>
                  <a:pt x="3048" y="399288"/>
                </a:moveTo>
                <a:lnTo>
                  <a:pt x="0" y="405383"/>
                </a:lnTo>
                <a:lnTo>
                  <a:pt x="0" y="432815"/>
                </a:lnTo>
                <a:lnTo>
                  <a:pt x="3048" y="438912"/>
                </a:lnTo>
                <a:lnTo>
                  <a:pt x="9144" y="432815"/>
                </a:lnTo>
                <a:lnTo>
                  <a:pt x="9144" y="405383"/>
                </a:lnTo>
                <a:lnTo>
                  <a:pt x="3048" y="399288"/>
                </a:lnTo>
                <a:close/>
              </a:path>
            </a:pathLst>
          </a:custGeom>
          <a:solidFill>
            <a:srgbClr val="000000"/>
          </a:solidFill>
        </p:spPr>
        <p:txBody>
          <a:bodyPr wrap="square" lIns="0" tIns="0" rIns="0" bIns="0" rtlCol="0"/>
          <a:lstStyle/>
          <a:p>
            <a:endParaRPr sz="1588" dirty="0"/>
          </a:p>
        </p:txBody>
      </p:sp>
      <p:graphicFrame>
        <p:nvGraphicFramePr>
          <p:cNvPr id="7" name="object 8">
            <a:extLst>
              <a:ext uri="{FF2B5EF4-FFF2-40B4-BE49-F238E27FC236}">
                <a16:creationId xmlns:a16="http://schemas.microsoft.com/office/drawing/2014/main" id="{E487E538-8904-4597-BA4E-48DFC0A4980C}"/>
              </a:ext>
            </a:extLst>
          </p:cNvPr>
          <p:cNvGraphicFramePr>
            <a:graphicFrameLocks noGrp="1"/>
          </p:cNvGraphicFramePr>
          <p:nvPr/>
        </p:nvGraphicFramePr>
        <p:xfrm>
          <a:off x="5271696" y="3298563"/>
          <a:ext cx="3003734" cy="387162"/>
        </p:xfrm>
        <a:graphic>
          <a:graphicData uri="http://schemas.openxmlformats.org/drawingml/2006/table">
            <a:tbl>
              <a:tblPr firstRow="1" bandRow="1">
                <a:tableStyleId>{2D5ABB26-0587-4C30-8999-92F81FD0307C}</a:tableStyleId>
              </a:tblPr>
              <a:tblGrid>
                <a:gridCol w="373716">
                  <a:extLst>
                    <a:ext uri="{9D8B030D-6E8A-4147-A177-3AD203B41FA5}">
                      <a16:colId xmlns:a16="http://schemas.microsoft.com/office/drawing/2014/main" val="20000"/>
                    </a:ext>
                  </a:extLst>
                </a:gridCol>
                <a:gridCol w="376518">
                  <a:extLst>
                    <a:ext uri="{9D8B030D-6E8A-4147-A177-3AD203B41FA5}">
                      <a16:colId xmlns:a16="http://schemas.microsoft.com/office/drawing/2014/main" val="20001"/>
                    </a:ext>
                  </a:extLst>
                </a:gridCol>
                <a:gridCol w="376518">
                  <a:extLst>
                    <a:ext uri="{9D8B030D-6E8A-4147-A177-3AD203B41FA5}">
                      <a16:colId xmlns:a16="http://schemas.microsoft.com/office/drawing/2014/main" val="20002"/>
                    </a:ext>
                  </a:extLst>
                </a:gridCol>
                <a:gridCol w="376517">
                  <a:extLst>
                    <a:ext uri="{9D8B030D-6E8A-4147-A177-3AD203B41FA5}">
                      <a16:colId xmlns:a16="http://schemas.microsoft.com/office/drawing/2014/main" val="20003"/>
                    </a:ext>
                  </a:extLst>
                </a:gridCol>
                <a:gridCol w="373715">
                  <a:extLst>
                    <a:ext uri="{9D8B030D-6E8A-4147-A177-3AD203B41FA5}">
                      <a16:colId xmlns:a16="http://schemas.microsoft.com/office/drawing/2014/main" val="20004"/>
                    </a:ext>
                  </a:extLst>
                </a:gridCol>
                <a:gridCol w="376517">
                  <a:extLst>
                    <a:ext uri="{9D8B030D-6E8A-4147-A177-3AD203B41FA5}">
                      <a16:colId xmlns:a16="http://schemas.microsoft.com/office/drawing/2014/main" val="20005"/>
                    </a:ext>
                  </a:extLst>
                </a:gridCol>
                <a:gridCol w="373715">
                  <a:extLst>
                    <a:ext uri="{9D8B030D-6E8A-4147-A177-3AD203B41FA5}">
                      <a16:colId xmlns:a16="http://schemas.microsoft.com/office/drawing/2014/main" val="20006"/>
                    </a:ext>
                  </a:extLst>
                </a:gridCol>
                <a:gridCol w="376518">
                  <a:extLst>
                    <a:ext uri="{9D8B030D-6E8A-4147-A177-3AD203B41FA5}">
                      <a16:colId xmlns:a16="http://schemas.microsoft.com/office/drawing/2014/main" val="20007"/>
                    </a:ext>
                  </a:extLst>
                </a:gridCol>
              </a:tblGrid>
              <a:tr h="387162">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9">
            <a:extLst>
              <a:ext uri="{FF2B5EF4-FFF2-40B4-BE49-F238E27FC236}">
                <a16:creationId xmlns:a16="http://schemas.microsoft.com/office/drawing/2014/main" id="{C742F4E4-7845-4489-B2B5-9EF502BDAC13}"/>
              </a:ext>
            </a:extLst>
          </p:cNvPr>
          <p:cNvGraphicFramePr>
            <a:graphicFrameLocks noGrp="1"/>
          </p:cNvGraphicFramePr>
          <p:nvPr>
            <p:extLst/>
          </p:nvPr>
        </p:nvGraphicFramePr>
        <p:xfrm>
          <a:off x="5271696" y="1752152"/>
          <a:ext cx="3003734" cy="1158685"/>
        </p:xfrm>
        <a:graphic>
          <a:graphicData uri="http://schemas.openxmlformats.org/drawingml/2006/table">
            <a:tbl>
              <a:tblPr firstRow="1" bandRow="1">
                <a:tableStyleId>{2D5ABB26-0587-4C30-8999-92F81FD0307C}</a:tableStyleId>
              </a:tblPr>
              <a:tblGrid>
                <a:gridCol w="373716">
                  <a:extLst>
                    <a:ext uri="{9D8B030D-6E8A-4147-A177-3AD203B41FA5}">
                      <a16:colId xmlns:a16="http://schemas.microsoft.com/office/drawing/2014/main" val="20000"/>
                    </a:ext>
                  </a:extLst>
                </a:gridCol>
                <a:gridCol w="376518">
                  <a:extLst>
                    <a:ext uri="{9D8B030D-6E8A-4147-A177-3AD203B41FA5}">
                      <a16:colId xmlns:a16="http://schemas.microsoft.com/office/drawing/2014/main" val="20001"/>
                    </a:ext>
                  </a:extLst>
                </a:gridCol>
                <a:gridCol w="376518">
                  <a:extLst>
                    <a:ext uri="{9D8B030D-6E8A-4147-A177-3AD203B41FA5}">
                      <a16:colId xmlns:a16="http://schemas.microsoft.com/office/drawing/2014/main" val="20002"/>
                    </a:ext>
                  </a:extLst>
                </a:gridCol>
                <a:gridCol w="376517">
                  <a:extLst>
                    <a:ext uri="{9D8B030D-6E8A-4147-A177-3AD203B41FA5}">
                      <a16:colId xmlns:a16="http://schemas.microsoft.com/office/drawing/2014/main" val="20003"/>
                    </a:ext>
                  </a:extLst>
                </a:gridCol>
                <a:gridCol w="373715">
                  <a:extLst>
                    <a:ext uri="{9D8B030D-6E8A-4147-A177-3AD203B41FA5}">
                      <a16:colId xmlns:a16="http://schemas.microsoft.com/office/drawing/2014/main" val="20004"/>
                    </a:ext>
                  </a:extLst>
                </a:gridCol>
                <a:gridCol w="376517">
                  <a:extLst>
                    <a:ext uri="{9D8B030D-6E8A-4147-A177-3AD203B41FA5}">
                      <a16:colId xmlns:a16="http://schemas.microsoft.com/office/drawing/2014/main" val="20005"/>
                    </a:ext>
                  </a:extLst>
                </a:gridCol>
                <a:gridCol w="373715">
                  <a:extLst>
                    <a:ext uri="{9D8B030D-6E8A-4147-A177-3AD203B41FA5}">
                      <a16:colId xmlns:a16="http://schemas.microsoft.com/office/drawing/2014/main" val="20006"/>
                    </a:ext>
                  </a:extLst>
                </a:gridCol>
                <a:gridCol w="376518">
                  <a:extLst>
                    <a:ext uri="{9D8B030D-6E8A-4147-A177-3AD203B41FA5}">
                      <a16:colId xmlns:a16="http://schemas.microsoft.com/office/drawing/2014/main" val="20007"/>
                    </a:ext>
                  </a:extLst>
                </a:gridCol>
              </a:tblGrid>
              <a:tr h="387162">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b="1"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16839">
                        <a:lnSpc>
                          <a:spcPct val="100000"/>
                        </a:lnSpc>
                        <a:spcBef>
                          <a:spcPts val="420"/>
                        </a:spcBef>
                      </a:pPr>
                      <a:r>
                        <a:rPr lang="en-US" sz="1800" dirty="0">
                          <a:latin typeface="Arial"/>
                          <a:cs typeface="Arial"/>
                        </a:rPr>
                        <a:t>L</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8895" algn="ctr">
                        <a:lnSpc>
                          <a:spcPct val="100000"/>
                        </a:lnSpc>
                        <a:spcBef>
                          <a:spcPts val="420"/>
                        </a:spcBef>
                      </a:pPr>
                      <a:r>
                        <a:rPr lang="en-US" sz="1800" dirty="0">
                          <a:latin typeface="Arial"/>
                          <a:cs typeface="Arial"/>
                        </a:rPr>
                        <a:t>A</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1115" algn="ctr">
                        <a:lnSpc>
                          <a:spcPct val="100000"/>
                        </a:lnSpc>
                        <a:spcBef>
                          <a:spcPts val="420"/>
                        </a:spcBef>
                      </a:pPr>
                      <a:r>
                        <a:rPr lang="en-US" sz="1800" dirty="0">
                          <a:solidFill>
                            <a:srgbClr val="333333"/>
                          </a:solidFill>
                          <a:latin typeface="Arial"/>
                          <a:cs typeface="Arial"/>
                        </a:rPr>
                        <a:t>H</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129539" algn="r">
                        <a:lnSpc>
                          <a:spcPct val="100000"/>
                        </a:lnSpc>
                        <a:spcBef>
                          <a:spcPts val="420"/>
                        </a:spcBef>
                      </a:pPr>
                      <a:r>
                        <a:rPr lang="en-US" sz="1800" dirty="0">
                          <a:latin typeface="Arial"/>
                          <a:cs typeface="Arial"/>
                        </a:rPr>
                        <a:t>O</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29845" algn="ctr">
                        <a:lnSpc>
                          <a:spcPct val="100000"/>
                        </a:lnSpc>
                        <a:spcBef>
                          <a:spcPts val="420"/>
                        </a:spcBef>
                      </a:pPr>
                      <a:r>
                        <a:rPr lang="en-US" sz="1800" dirty="0">
                          <a:latin typeface="Arial"/>
                          <a:cs typeface="Arial"/>
                        </a:rPr>
                        <a:t>R</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00330">
                        <a:lnSpc>
                          <a:spcPct val="100000"/>
                        </a:lnSpc>
                        <a:spcBef>
                          <a:spcPts val="420"/>
                        </a:spcBef>
                      </a:pPr>
                      <a:r>
                        <a:rPr lang="en-US" sz="1800" dirty="0">
                          <a:latin typeface="Arial"/>
                          <a:cs typeface="Arial"/>
                        </a:rPr>
                        <a:t>E</a:t>
                      </a:r>
                      <a:endParaRPr sz="1800" dirty="0">
                        <a:latin typeface="Arial"/>
                        <a:cs typeface="Arial"/>
                      </a:endParaRPr>
                    </a:p>
                  </a:txBody>
                  <a:tcPr marL="0" marR="0" marT="470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387162">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06680" algn="ctr">
                        <a:lnSpc>
                          <a:spcPct val="100000"/>
                        </a:lnSpc>
                        <a:spcBef>
                          <a:spcPts val="520"/>
                        </a:spcBef>
                      </a:pPr>
                      <a:r>
                        <a:rPr lang="en-US" sz="1800" dirty="0">
                          <a:latin typeface="Arial"/>
                          <a:cs typeface="Arial"/>
                        </a:rPr>
                        <a:t>G</a:t>
                      </a:r>
                      <a:endParaRPr sz="1800" dirty="0">
                        <a:latin typeface="Arial"/>
                        <a:cs typeface="Arial"/>
                      </a:endParaRPr>
                    </a:p>
                  </a:txBody>
                  <a:tcPr marL="0" marR="0" marT="58271"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29209" algn="ctr">
                        <a:lnSpc>
                          <a:spcPct val="100000"/>
                        </a:lnSpc>
                        <a:spcBef>
                          <a:spcPts val="520"/>
                        </a:spcBef>
                      </a:pPr>
                      <a:r>
                        <a:rPr lang="en-US" sz="1800" dirty="0">
                          <a:solidFill>
                            <a:srgbClr val="333333"/>
                          </a:solidFill>
                          <a:latin typeface="Arial"/>
                          <a:cs typeface="Arial"/>
                        </a:rPr>
                        <a:t>A</a:t>
                      </a:r>
                      <a:endParaRPr sz="1800" dirty="0">
                        <a:latin typeface="Arial"/>
                        <a:cs typeface="Arial"/>
                      </a:endParaRPr>
                    </a:p>
                  </a:txBody>
                  <a:tcPr marL="0" marR="0" marT="58271"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110489" algn="r">
                        <a:lnSpc>
                          <a:spcPct val="100000"/>
                        </a:lnSpc>
                        <a:spcBef>
                          <a:spcPts val="520"/>
                        </a:spcBef>
                      </a:pPr>
                      <a:r>
                        <a:rPr lang="en-US" sz="1800" dirty="0">
                          <a:latin typeface="Arial"/>
                          <a:cs typeface="Arial"/>
                        </a:rPr>
                        <a:t>M</a:t>
                      </a:r>
                      <a:endParaRPr sz="1800" dirty="0">
                        <a:latin typeface="Arial"/>
                        <a:cs typeface="Arial"/>
                      </a:endParaRPr>
                    </a:p>
                  </a:txBody>
                  <a:tcPr marL="0" marR="0" marT="58271"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47625" algn="ctr">
                        <a:lnSpc>
                          <a:spcPct val="100000"/>
                        </a:lnSpc>
                        <a:spcBef>
                          <a:spcPts val="520"/>
                        </a:spcBef>
                      </a:pPr>
                      <a:r>
                        <a:rPr lang="en-US" sz="1800" dirty="0">
                          <a:latin typeface="Arial"/>
                          <a:cs typeface="Arial"/>
                        </a:rPr>
                        <a:t>E</a:t>
                      </a:r>
                      <a:endParaRPr sz="1800" dirty="0">
                        <a:latin typeface="Arial"/>
                        <a:cs typeface="Arial"/>
                      </a:endParaRPr>
                    </a:p>
                  </a:txBody>
                  <a:tcPr marL="0" marR="0" marT="58271"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32715">
                        <a:lnSpc>
                          <a:spcPct val="100000"/>
                        </a:lnSpc>
                        <a:spcBef>
                          <a:spcPts val="520"/>
                        </a:spcBef>
                      </a:pPr>
                      <a:r>
                        <a:rPr lang="en-US" sz="1800" dirty="0">
                          <a:latin typeface="Arial"/>
                          <a:cs typeface="Arial"/>
                        </a:rPr>
                        <a:t>S</a:t>
                      </a:r>
                      <a:endParaRPr sz="1800" dirty="0">
                        <a:latin typeface="Arial"/>
                        <a:cs typeface="Arial"/>
                      </a:endParaRPr>
                    </a:p>
                  </a:txBody>
                  <a:tcPr marL="0" marR="0" marT="58271"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384361">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6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bl>
          </a:graphicData>
        </a:graphic>
      </p:graphicFrame>
      <p:sp>
        <p:nvSpPr>
          <p:cNvPr id="9" name="object 11">
            <a:extLst>
              <a:ext uri="{FF2B5EF4-FFF2-40B4-BE49-F238E27FC236}">
                <a16:creationId xmlns:a16="http://schemas.microsoft.com/office/drawing/2014/main" id="{CDE27A28-6BA2-4DBF-AB0C-44A37E675459}"/>
              </a:ext>
            </a:extLst>
          </p:cNvPr>
          <p:cNvSpPr/>
          <p:nvPr/>
        </p:nvSpPr>
        <p:spPr>
          <a:xfrm>
            <a:off x="4146177" y="1756186"/>
            <a:ext cx="564776" cy="1934135"/>
          </a:xfrm>
          <a:custGeom>
            <a:avLst/>
            <a:gdLst/>
            <a:ahLst/>
            <a:cxnLst/>
            <a:rect l="l" t="t" r="r" b="b"/>
            <a:pathLst>
              <a:path w="640079" h="2192020">
                <a:moveTo>
                  <a:pt x="640079" y="0"/>
                </a:moveTo>
                <a:lnTo>
                  <a:pt x="582544" y="2960"/>
                </a:lnTo>
                <a:lnTo>
                  <a:pt x="528395" y="11489"/>
                </a:lnTo>
                <a:lnTo>
                  <a:pt x="478536" y="25061"/>
                </a:lnTo>
                <a:lnTo>
                  <a:pt x="433869" y="43148"/>
                </a:lnTo>
                <a:lnTo>
                  <a:pt x="395299" y="65224"/>
                </a:lnTo>
                <a:lnTo>
                  <a:pt x="363728" y="90762"/>
                </a:lnTo>
                <a:lnTo>
                  <a:pt x="325195" y="150117"/>
                </a:lnTo>
                <a:lnTo>
                  <a:pt x="320039" y="182879"/>
                </a:lnTo>
                <a:lnTo>
                  <a:pt x="320039" y="914400"/>
                </a:lnTo>
                <a:lnTo>
                  <a:pt x="314884" y="947058"/>
                </a:lnTo>
                <a:lnTo>
                  <a:pt x="276352" y="1005727"/>
                </a:lnTo>
                <a:lnTo>
                  <a:pt x="244780" y="1030784"/>
                </a:lnTo>
                <a:lnTo>
                  <a:pt x="206210" y="1052354"/>
                </a:lnTo>
                <a:lnTo>
                  <a:pt x="161544" y="1069960"/>
                </a:lnTo>
                <a:lnTo>
                  <a:pt x="111684" y="1083127"/>
                </a:lnTo>
                <a:lnTo>
                  <a:pt x="57535" y="1091376"/>
                </a:lnTo>
                <a:lnTo>
                  <a:pt x="0" y="1094231"/>
                </a:lnTo>
                <a:lnTo>
                  <a:pt x="57535" y="1097192"/>
                </a:lnTo>
                <a:lnTo>
                  <a:pt x="111684" y="1105721"/>
                </a:lnTo>
                <a:lnTo>
                  <a:pt x="161544" y="1119293"/>
                </a:lnTo>
                <a:lnTo>
                  <a:pt x="206210" y="1137380"/>
                </a:lnTo>
                <a:lnTo>
                  <a:pt x="244780" y="1159456"/>
                </a:lnTo>
                <a:lnTo>
                  <a:pt x="276351" y="1184994"/>
                </a:lnTo>
                <a:lnTo>
                  <a:pt x="314884" y="1244349"/>
                </a:lnTo>
                <a:lnTo>
                  <a:pt x="320039" y="1277111"/>
                </a:lnTo>
                <a:lnTo>
                  <a:pt x="320039" y="2008631"/>
                </a:lnTo>
                <a:lnTo>
                  <a:pt x="325195" y="2041394"/>
                </a:lnTo>
                <a:lnTo>
                  <a:pt x="363727" y="2100749"/>
                </a:lnTo>
                <a:lnTo>
                  <a:pt x="395299" y="2126287"/>
                </a:lnTo>
                <a:lnTo>
                  <a:pt x="433869" y="2148363"/>
                </a:lnTo>
                <a:lnTo>
                  <a:pt x="478536" y="2166450"/>
                </a:lnTo>
                <a:lnTo>
                  <a:pt x="528395" y="2180022"/>
                </a:lnTo>
                <a:lnTo>
                  <a:pt x="582544" y="2188551"/>
                </a:lnTo>
                <a:lnTo>
                  <a:pt x="640079" y="2191511"/>
                </a:lnTo>
              </a:path>
            </a:pathLst>
          </a:custGeom>
          <a:ln w="9144">
            <a:solidFill>
              <a:srgbClr val="000000"/>
            </a:solidFill>
          </a:ln>
        </p:spPr>
        <p:txBody>
          <a:bodyPr wrap="square" lIns="0" tIns="0" rIns="0" bIns="0" rtlCol="0"/>
          <a:lstStyle/>
          <a:p>
            <a:endParaRPr sz="1588" dirty="0"/>
          </a:p>
        </p:txBody>
      </p:sp>
      <p:sp>
        <p:nvSpPr>
          <p:cNvPr id="10" name="object 13">
            <a:extLst>
              <a:ext uri="{FF2B5EF4-FFF2-40B4-BE49-F238E27FC236}">
                <a16:creationId xmlns:a16="http://schemas.microsoft.com/office/drawing/2014/main" id="{E963A1D9-8BB1-4DFC-AA35-F2669B293EAF}"/>
              </a:ext>
            </a:extLst>
          </p:cNvPr>
          <p:cNvSpPr/>
          <p:nvPr/>
        </p:nvSpPr>
        <p:spPr>
          <a:xfrm>
            <a:off x="5275729" y="1530275"/>
            <a:ext cx="1132354" cy="67235"/>
          </a:xfrm>
          <a:custGeom>
            <a:avLst/>
            <a:gdLst/>
            <a:ahLst/>
            <a:cxnLst/>
            <a:rect l="l" t="t" r="r" b="b"/>
            <a:pathLst>
              <a:path w="1283335" h="76200">
                <a:moveTo>
                  <a:pt x="76200" y="0"/>
                </a:moveTo>
                <a:lnTo>
                  <a:pt x="0" y="36575"/>
                </a:lnTo>
                <a:lnTo>
                  <a:pt x="76200" y="76200"/>
                </a:lnTo>
                <a:lnTo>
                  <a:pt x="76200" y="42672"/>
                </a:lnTo>
                <a:lnTo>
                  <a:pt x="64007" y="42672"/>
                </a:lnTo>
                <a:lnTo>
                  <a:pt x="60960" y="36575"/>
                </a:lnTo>
                <a:lnTo>
                  <a:pt x="64007" y="33527"/>
                </a:lnTo>
                <a:lnTo>
                  <a:pt x="76200" y="33527"/>
                </a:lnTo>
                <a:lnTo>
                  <a:pt x="76200" y="0"/>
                </a:lnTo>
                <a:close/>
              </a:path>
              <a:path w="1283335" h="76200">
                <a:moveTo>
                  <a:pt x="76200" y="33527"/>
                </a:moveTo>
                <a:lnTo>
                  <a:pt x="64007" y="33527"/>
                </a:lnTo>
                <a:lnTo>
                  <a:pt x="60960" y="36575"/>
                </a:lnTo>
                <a:lnTo>
                  <a:pt x="64007" y="42672"/>
                </a:lnTo>
                <a:lnTo>
                  <a:pt x="76200" y="42672"/>
                </a:lnTo>
                <a:lnTo>
                  <a:pt x="76200" y="33527"/>
                </a:lnTo>
                <a:close/>
              </a:path>
              <a:path w="1283335" h="76200">
                <a:moveTo>
                  <a:pt x="1277112" y="33527"/>
                </a:moveTo>
                <a:lnTo>
                  <a:pt x="76200" y="33527"/>
                </a:lnTo>
                <a:lnTo>
                  <a:pt x="76200" y="42672"/>
                </a:lnTo>
                <a:lnTo>
                  <a:pt x="1277112" y="42672"/>
                </a:lnTo>
                <a:lnTo>
                  <a:pt x="1283207" y="36575"/>
                </a:lnTo>
                <a:lnTo>
                  <a:pt x="1277112" y="33527"/>
                </a:lnTo>
                <a:close/>
              </a:path>
            </a:pathLst>
          </a:custGeom>
          <a:solidFill>
            <a:srgbClr val="000000"/>
          </a:solidFill>
        </p:spPr>
        <p:txBody>
          <a:bodyPr wrap="square" lIns="0" tIns="0" rIns="0" bIns="0" rtlCol="0"/>
          <a:lstStyle/>
          <a:p>
            <a:endParaRPr sz="1588" dirty="0"/>
          </a:p>
        </p:txBody>
      </p:sp>
      <p:sp>
        <p:nvSpPr>
          <p:cNvPr id="11" name="object 14">
            <a:extLst>
              <a:ext uri="{FF2B5EF4-FFF2-40B4-BE49-F238E27FC236}">
                <a16:creationId xmlns:a16="http://schemas.microsoft.com/office/drawing/2014/main" id="{C97D89DD-8FD8-4D2E-97F6-43F023F11A91}"/>
              </a:ext>
            </a:extLst>
          </p:cNvPr>
          <p:cNvSpPr/>
          <p:nvPr/>
        </p:nvSpPr>
        <p:spPr>
          <a:xfrm>
            <a:off x="7150249" y="1530275"/>
            <a:ext cx="1129553" cy="67235"/>
          </a:xfrm>
          <a:custGeom>
            <a:avLst/>
            <a:gdLst/>
            <a:ahLst/>
            <a:cxnLst/>
            <a:rect l="l" t="t" r="r" b="b"/>
            <a:pathLst>
              <a:path w="1280159" h="76200">
                <a:moveTo>
                  <a:pt x="1203960" y="0"/>
                </a:moveTo>
                <a:lnTo>
                  <a:pt x="1203960" y="76200"/>
                </a:lnTo>
                <a:lnTo>
                  <a:pt x="1268436" y="42672"/>
                </a:lnTo>
                <a:lnTo>
                  <a:pt x="1219200" y="42672"/>
                </a:lnTo>
                <a:lnTo>
                  <a:pt x="1222248" y="36575"/>
                </a:lnTo>
                <a:lnTo>
                  <a:pt x="1219200" y="33527"/>
                </a:lnTo>
                <a:lnTo>
                  <a:pt x="1273810" y="33527"/>
                </a:lnTo>
                <a:lnTo>
                  <a:pt x="1203960" y="0"/>
                </a:lnTo>
                <a:close/>
              </a:path>
              <a:path w="1280159" h="76200">
                <a:moveTo>
                  <a:pt x="1203960" y="33527"/>
                </a:moveTo>
                <a:lnTo>
                  <a:pt x="3048" y="33527"/>
                </a:lnTo>
                <a:lnTo>
                  <a:pt x="0" y="36575"/>
                </a:lnTo>
                <a:lnTo>
                  <a:pt x="3048" y="42672"/>
                </a:lnTo>
                <a:lnTo>
                  <a:pt x="1203960" y="42672"/>
                </a:lnTo>
                <a:lnTo>
                  <a:pt x="1203960" y="33527"/>
                </a:lnTo>
                <a:close/>
              </a:path>
              <a:path w="1280159" h="76200">
                <a:moveTo>
                  <a:pt x="1273810" y="33527"/>
                </a:moveTo>
                <a:lnTo>
                  <a:pt x="1219200" y="33527"/>
                </a:lnTo>
                <a:lnTo>
                  <a:pt x="1222248" y="36575"/>
                </a:lnTo>
                <a:lnTo>
                  <a:pt x="1219200" y="42672"/>
                </a:lnTo>
                <a:lnTo>
                  <a:pt x="1268436" y="42672"/>
                </a:lnTo>
                <a:lnTo>
                  <a:pt x="1280160" y="36575"/>
                </a:lnTo>
                <a:lnTo>
                  <a:pt x="1273810" y="33527"/>
                </a:lnTo>
                <a:close/>
              </a:path>
            </a:pathLst>
          </a:custGeom>
          <a:solidFill>
            <a:srgbClr val="000000"/>
          </a:solidFill>
        </p:spPr>
        <p:txBody>
          <a:bodyPr wrap="square" lIns="0" tIns="0" rIns="0" bIns="0" rtlCol="0"/>
          <a:lstStyle/>
          <a:p>
            <a:endParaRPr sz="1588" dirty="0"/>
          </a:p>
        </p:txBody>
      </p:sp>
      <p:sp>
        <p:nvSpPr>
          <p:cNvPr id="12" name="object 17">
            <a:extLst>
              <a:ext uri="{FF2B5EF4-FFF2-40B4-BE49-F238E27FC236}">
                <a16:creationId xmlns:a16="http://schemas.microsoft.com/office/drawing/2014/main" id="{52A65C71-2989-4C90-B709-9876521EA806}"/>
              </a:ext>
            </a:extLst>
          </p:cNvPr>
          <p:cNvSpPr txBox="1"/>
          <p:nvPr/>
        </p:nvSpPr>
        <p:spPr>
          <a:xfrm>
            <a:off x="3048448" y="2514151"/>
            <a:ext cx="934571" cy="500039"/>
          </a:xfrm>
          <a:prstGeom prst="rect">
            <a:avLst/>
          </a:prstGeom>
        </p:spPr>
        <p:txBody>
          <a:bodyPr vert="horz" wrap="square" lIns="0" tIns="11206" rIns="0" bIns="0" rtlCol="0">
            <a:spAutoFit/>
          </a:bodyPr>
          <a:lstStyle/>
          <a:p>
            <a:pPr marL="11206" marR="4483">
              <a:spcBef>
                <a:spcPts val="88"/>
              </a:spcBef>
            </a:pPr>
            <a:r>
              <a:rPr sz="1588" spc="-4" dirty="0">
                <a:solidFill>
                  <a:srgbClr val="333333"/>
                </a:solidFill>
                <a:latin typeface="Verdana"/>
                <a:cs typeface="Verdana"/>
              </a:rPr>
              <a:t>Address  </a:t>
            </a:r>
            <a:r>
              <a:rPr sz="1588" dirty="0">
                <a:solidFill>
                  <a:srgbClr val="333333"/>
                </a:solidFill>
                <a:latin typeface="Verdana"/>
                <a:cs typeface="Verdana"/>
              </a:rPr>
              <a:t>N</a:t>
            </a:r>
            <a:r>
              <a:rPr sz="1588" spc="-13" dirty="0">
                <a:solidFill>
                  <a:srgbClr val="333333"/>
                </a:solidFill>
                <a:latin typeface="Verdana"/>
                <a:cs typeface="Verdana"/>
              </a:rPr>
              <a:t>u</a:t>
            </a:r>
            <a:r>
              <a:rPr sz="1588" dirty="0">
                <a:solidFill>
                  <a:srgbClr val="333333"/>
                </a:solidFill>
                <a:latin typeface="Verdana"/>
                <a:cs typeface="Verdana"/>
              </a:rPr>
              <a:t>mbers</a:t>
            </a:r>
            <a:endParaRPr sz="1588" dirty="0">
              <a:latin typeface="Verdana"/>
              <a:cs typeface="Verdana"/>
            </a:endParaRPr>
          </a:p>
        </p:txBody>
      </p:sp>
    </p:spTree>
    <p:extLst>
      <p:ext uri="{BB962C8B-B14F-4D97-AF65-F5344CB8AC3E}">
        <p14:creationId xmlns:p14="http://schemas.microsoft.com/office/powerpoint/2010/main" val="19396576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B936C-F813-4E63-A01C-F5A68E219A21}"/>
              </a:ext>
            </a:extLst>
          </p:cNvPr>
          <p:cNvSpPr>
            <a:spLocks noGrp="1"/>
          </p:cNvSpPr>
          <p:nvPr>
            <p:ph type="title"/>
          </p:nvPr>
        </p:nvSpPr>
        <p:spPr>
          <a:xfrm>
            <a:off x="1052231" y="430466"/>
            <a:ext cx="10308771" cy="1325563"/>
          </a:xfrm>
        </p:spPr>
        <p:txBody>
          <a:bodyPr/>
          <a:lstStyle/>
          <a:p>
            <a:r>
              <a:rPr lang="en-US" spc="-4" dirty="0"/>
              <a:t>Variable Word-length</a:t>
            </a:r>
            <a:r>
              <a:rPr lang="en-US" spc="-18" dirty="0"/>
              <a:t> </a:t>
            </a:r>
            <a:r>
              <a:rPr lang="en-US" spc="-9" dirty="0"/>
              <a:t>Memory</a:t>
            </a:r>
            <a:endParaRPr lang="LID4096" dirty="0"/>
          </a:p>
        </p:txBody>
      </p:sp>
      <p:sp>
        <p:nvSpPr>
          <p:cNvPr id="4" name="object 4">
            <a:extLst>
              <a:ext uri="{FF2B5EF4-FFF2-40B4-BE49-F238E27FC236}">
                <a16:creationId xmlns:a16="http://schemas.microsoft.com/office/drawing/2014/main" id="{96A2FDF9-DF9D-415C-94BE-7959BFA37F98}"/>
              </a:ext>
            </a:extLst>
          </p:cNvPr>
          <p:cNvSpPr/>
          <p:nvPr/>
        </p:nvSpPr>
        <p:spPr>
          <a:xfrm>
            <a:off x="4053520" y="4918934"/>
            <a:ext cx="242047" cy="0"/>
          </a:xfrm>
          <a:custGeom>
            <a:avLst/>
            <a:gdLst/>
            <a:ahLst/>
            <a:cxnLst/>
            <a:rect l="l" t="t" r="r" b="b"/>
            <a:pathLst>
              <a:path w="274319">
                <a:moveTo>
                  <a:pt x="0" y="0"/>
                </a:moveTo>
                <a:lnTo>
                  <a:pt x="274319" y="0"/>
                </a:lnTo>
              </a:path>
            </a:pathLst>
          </a:custGeom>
          <a:ln w="9144">
            <a:solidFill>
              <a:srgbClr val="000000"/>
            </a:solidFill>
          </a:ln>
        </p:spPr>
        <p:txBody>
          <a:bodyPr wrap="square" lIns="0" tIns="0" rIns="0" bIns="0" rtlCol="0"/>
          <a:lstStyle/>
          <a:p>
            <a:endParaRPr sz="1588" dirty="0"/>
          </a:p>
        </p:txBody>
      </p:sp>
      <p:sp>
        <p:nvSpPr>
          <p:cNvPr id="5" name="object 5">
            <a:extLst>
              <a:ext uri="{FF2B5EF4-FFF2-40B4-BE49-F238E27FC236}">
                <a16:creationId xmlns:a16="http://schemas.microsoft.com/office/drawing/2014/main" id="{2245EEA2-01F3-4740-99E8-9205C4BE85B1}"/>
              </a:ext>
            </a:extLst>
          </p:cNvPr>
          <p:cNvSpPr/>
          <p:nvPr/>
        </p:nvSpPr>
        <p:spPr>
          <a:xfrm>
            <a:off x="4050831" y="4539727"/>
            <a:ext cx="8404" cy="387724"/>
          </a:xfrm>
          <a:custGeom>
            <a:avLst/>
            <a:gdLst/>
            <a:ahLst/>
            <a:cxnLst/>
            <a:rect l="l" t="t" r="r" b="b"/>
            <a:pathLst>
              <a:path w="9525" h="439420">
                <a:moveTo>
                  <a:pt x="3048" y="0"/>
                </a:moveTo>
                <a:lnTo>
                  <a:pt x="0" y="6096"/>
                </a:lnTo>
                <a:lnTo>
                  <a:pt x="0" y="33528"/>
                </a:lnTo>
                <a:lnTo>
                  <a:pt x="3048" y="39624"/>
                </a:lnTo>
                <a:lnTo>
                  <a:pt x="9143" y="33528"/>
                </a:lnTo>
                <a:lnTo>
                  <a:pt x="9143" y="6096"/>
                </a:lnTo>
                <a:lnTo>
                  <a:pt x="3048" y="0"/>
                </a:lnTo>
                <a:close/>
              </a:path>
              <a:path w="9525" h="439420">
                <a:moveTo>
                  <a:pt x="3048" y="67056"/>
                </a:moveTo>
                <a:lnTo>
                  <a:pt x="0" y="73152"/>
                </a:lnTo>
                <a:lnTo>
                  <a:pt x="0" y="100584"/>
                </a:lnTo>
                <a:lnTo>
                  <a:pt x="3048" y="106680"/>
                </a:lnTo>
                <a:lnTo>
                  <a:pt x="9143" y="100584"/>
                </a:lnTo>
                <a:lnTo>
                  <a:pt x="9143" y="73152"/>
                </a:lnTo>
                <a:lnTo>
                  <a:pt x="3048" y="67056"/>
                </a:lnTo>
                <a:close/>
              </a:path>
              <a:path w="9525" h="439420">
                <a:moveTo>
                  <a:pt x="3048" y="134112"/>
                </a:moveTo>
                <a:lnTo>
                  <a:pt x="0" y="140208"/>
                </a:lnTo>
                <a:lnTo>
                  <a:pt x="0" y="167640"/>
                </a:lnTo>
                <a:lnTo>
                  <a:pt x="3048" y="170687"/>
                </a:lnTo>
                <a:lnTo>
                  <a:pt x="9143" y="167640"/>
                </a:lnTo>
                <a:lnTo>
                  <a:pt x="9143" y="140208"/>
                </a:lnTo>
                <a:lnTo>
                  <a:pt x="3048" y="134112"/>
                </a:lnTo>
                <a:close/>
              </a:path>
              <a:path w="9525" h="439420">
                <a:moveTo>
                  <a:pt x="3048" y="201168"/>
                </a:moveTo>
                <a:lnTo>
                  <a:pt x="0" y="204216"/>
                </a:lnTo>
                <a:lnTo>
                  <a:pt x="0" y="234696"/>
                </a:lnTo>
                <a:lnTo>
                  <a:pt x="3048" y="237744"/>
                </a:lnTo>
                <a:lnTo>
                  <a:pt x="9143" y="234696"/>
                </a:lnTo>
                <a:lnTo>
                  <a:pt x="9143" y="204216"/>
                </a:lnTo>
                <a:lnTo>
                  <a:pt x="3048" y="201168"/>
                </a:lnTo>
                <a:close/>
              </a:path>
              <a:path w="9525" h="439420">
                <a:moveTo>
                  <a:pt x="3048" y="268224"/>
                </a:moveTo>
                <a:lnTo>
                  <a:pt x="0" y="271272"/>
                </a:lnTo>
                <a:lnTo>
                  <a:pt x="0" y="301752"/>
                </a:lnTo>
                <a:lnTo>
                  <a:pt x="3048" y="304800"/>
                </a:lnTo>
                <a:lnTo>
                  <a:pt x="9143" y="301752"/>
                </a:lnTo>
                <a:lnTo>
                  <a:pt x="9143" y="271272"/>
                </a:lnTo>
                <a:lnTo>
                  <a:pt x="3048" y="268224"/>
                </a:lnTo>
                <a:close/>
              </a:path>
              <a:path w="9525" h="439420">
                <a:moveTo>
                  <a:pt x="3048" y="335280"/>
                </a:moveTo>
                <a:lnTo>
                  <a:pt x="0" y="338328"/>
                </a:lnTo>
                <a:lnTo>
                  <a:pt x="0" y="368808"/>
                </a:lnTo>
                <a:lnTo>
                  <a:pt x="3048" y="371856"/>
                </a:lnTo>
                <a:lnTo>
                  <a:pt x="9143" y="368808"/>
                </a:lnTo>
                <a:lnTo>
                  <a:pt x="9143" y="338328"/>
                </a:lnTo>
                <a:lnTo>
                  <a:pt x="3048" y="335280"/>
                </a:lnTo>
                <a:close/>
              </a:path>
              <a:path w="9525" h="439420">
                <a:moveTo>
                  <a:pt x="3048" y="399288"/>
                </a:moveTo>
                <a:lnTo>
                  <a:pt x="0" y="405384"/>
                </a:lnTo>
                <a:lnTo>
                  <a:pt x="0" y="432816"/>
                </a:lnTo>
                <a:lnTo>
                  <a:pt x="3048" y="438912"/>
                </a:lnTo>
                <a:lnTo>
                  <a:pt x="9143" y="432816"/>
                </a:lnTo>
                <a:lnTo>
                  <a:pt x="9143" y="405384"/>
                </a:lnTo>
                <a:lnTo>
                  <a:pt x="3048" y="399288"/>
                </a:lnTo>
                <a:close/>
              </a:path>
            </a:pathLst>
          </a:custGeom>
          <a:solidFill>
            <a:srgbClr val="000000"/>
          </a:solidFill>
        </p:spPr>
        <p:txBody>
          <a:bodyPr wrap="square" lIns="0" tIns="0" rIns="0" bIns="0" rtlCol="0"/>
          <a:lstStyle/>
          <a:p>
            <a:endParaRPr sz="1588" dirty="0"/>
          </a:p>
        </p:txBody>
      </p:sp>
      <p:sp>
        <p:nvSpPr>
          <p:cNvPr id="6" name="object 6">
            <a:extLst>
              <a:ext uri="{FF2B5EF4-FFF2-40B4-BE49-F238E27FC236}">
                <a16:creationId xmlns:a16="http://schemas.microsoft.com/office/drawing/2014/main" id="{BBB9FCEF-58DB-42FF-A64A-11E2D04C5E69}"/>
              </a:ext>
            </a:extLst>
          </p:cNvPr>
          <p:cNvSpPr/>
          <p:nvPr/>
        </p:nvSpPr>
        <p:spPr>
          <a:xfrm>
            <a:off x="4298257" y="4545105"/>
            <a:ext cx="8404" cy="387724"/>
          </a:xfrm>
          <a:custGeom>
            <a:avLst/>
            <a:gdLst/>
            <a:ahLst/>
            <a:cxnLst/>
            <a:rect l="l" t="t" r="r" b="b"/>
            <a:pathLst>
              <a:path w="9525" h="439420">
                <a:moveTo>
                  <a:pt x="3047" y="0"/>
                </a:moveTo>
                <a:lnTo>
                  <a:pt x="0" y="6095"/>
                </a:lnTo>
                <a:lnTo>
                  <a:pt x="0" y="33527"/>
                </a:lnTo>
                <a:lnTo>
                  <a:pt x="3047" y="39623"/>
                </a:lnTo>
                <a:lnTo>
                  <a:pt x="9143" y="33527"/>
                </a:lnTo>
                <a:lnTo>
                  <a:pt x="9143" y="6095"/>
                </a:lnTo>
                <a:lnTo>
                  <a:pt x="3047" y="0"/>
                </a:lnTo>
                <a:close/>
              </a:path>
              <a:path w="9525" h="439420">
                <a:moveTo>
                  <a:pt x="3047" y="67056"/>
                </a:moveTo>
                <a:lnTo>
                  <a:pt x="0" y="73151"/>
                </a:lnTo>
                <a:lnTo>
                  <a:pt x="0" y="100583"/>
                </a:lnTo>
                <a:lnTo>
                  <a:pt x="3047" y="106679"/>
                </a:lnTo>
                <a:lnTo>
                  <a:pt x="9143" y="100583"/>
                </a:lnTo>
                <a:lnTo>
                  <a:pt x="9143" y="73151"/>
                </a:lnTo>
                <a:lnTo>
                  <a:pt x="3047" y="67056"/>
                </a:lnTo>
                <a:close/>
              </a:path>
              <a:path w="9525" h="439420">
                <a:moveTo>
                  <a:pt x="3047" y="134112"/>
                </a:moveTo>
                <a:lnTo>
                  <a:pt x="0" y="140207"/>
                </a:lnTo>
                <a:lnTo>
                  <a:pt x="0" y="167639"/>
                </a:lnTo>
                <a:lnTo>
                  <a:pt x="3047" y="173735"/>
                </a:lnTo>
                <a:lnTo>
                  <a:pt x="9143" y="167639"/>
                </a:lnTo>
                <a:lnTo>
                  <a:pt x="9143" y="140207"/>
                </a:lnTo>
                <a:lnTo>
                  <a:pt x="3047" y="134112"/>
                </a:lnTo>
                <a:close/>
              </a:path>
              <a:path w="9525" h="439420">
                <a:moveTo>
                  <a:pt x="3047" y="201167"/>
                </a:moveTo>
                <a:lnTo>
                  <a:pt x="0" y="204215"/>
                </a:lnTo>
                <a:lnTo>
                  <a:pt x="0" y="234695"/>
                </a:lnTo>
                <a:lnTo>
                  <a:pt x="3047" y="237744"/>
                </a:lnTo>
                <a:lnTo>
                  <a:pt x="9143" y="234695"/>
                </a:lnTo>
                <a:lnTo>
                  <a:pt x="9143" y="204215"/>
                </a:lnTo>
                <a:lnTo>
                  <a:pt x="3047" y="201167"/>
                </a:lnTo>
                <a:close/>
              </a:path>
              <a:path w="9525" h="439420">
                <a:moveTo>
                  <a:pt x="3047" y="268223"/>
                </a:moveTo>
                <a:lnTo>
                  <a:pt x="0" y="271271"/>
                </a:lnTo>
                <a:lnTo>
                  <a:pt x="0" y="301751"/>
                </a:lnTo>
                <a:lnTo>
                  <a:pt x="3047" y="304800"/>
                </a:lnTo>
                <a:lnTo>
                  <a:pt x="9143" y="301751"/>
                </a:lnTo>
                <a:lnTo>
                  <a:pt x="9143" y="271271"/>
                </a:lnTo>
                <a:lnTo>
                  <a:pt x="3047" y="268223"/>
                </a:lnTo>
                <a:close/>
              </a:path>
              <a:path w="9525" h="439420">
                <a:moveTo>
                  <a:pt x="3047" y="335279"/>
                </a:moveTo>
                <a:lnTo>
                  <a:pt x="0" y="338327"/>
                </a:lnTo>
                <a:lnTo>
                  <a:pt x="0" y="368807"/>
                </a:lnTo>
                <a:lnTo>
                  <a:pt x="3047" y="371856"/>
                </a:lnTo>
                <a:lnTo>
                  <a:pt x="9143" y="368807"/>
                </a:lnTo>
                <a:lnTo>
                  <a:pt x="9143" y="338327"/>
                </a:lnTo>
                <a:lnTo>
                  <a:pt x="3047" y="335279"/>
                </a:lnTo>
                <a:close/>
              </a:path>
              <a:path w="9525" h="439420">
                <a:moveTo>
                  <a:pt x="3047" y="402335"/>
                </a:moveTo>
                <a:lnTo>
                  <a:pt x="0" y="405383"/>
                </a:lnTo>
                <a:lnTo>
                  <a:pt x="0" y="432815"/>
                </a:lnTo>
                <a:lnTo>
                  <a:pt x="3047" y="438912"/>
                </a:lnTo>
                <a:lnTo>
                  <a:pt x="9143" y="432815"/>
                </a:lnTo>
                <a:lnTo>
                  <a:pt x="9143" y="405383"/>
                </a:lnTo>
                <a:lnTo>
                  <a:pt x="3047" y="402335"/>
                </a:lnTo>
                <a:close/>
              </a:path>
            </a:pathLst>
          </a:custGeom>
          <a:solidFill>
            <a:srgbClr val="000000"/>
          </a:solidFill>
        </p:spPr>
        <p:txBody>
          <a:bodyPr wrap="square" lIns="0" tIns="0" rIns="0" bIns="0" rtlCol="0"/>
          <a:lstStyle/>
          <a:p>
            <a:endParaRPr sz="1588" dirty="0"/>
          </a:p>
        </p:txBody>
      </p:sp>
      <p:sp>
        <p:nvSpPr>
          <p:cNvPr id="7" name="object 7">
            <a:extLst>
              <a:ext uri="{FF2B5EF4-FFF2-40B4-BE49-F238E27FC236}">
                <a16:creationId xmlns:a16="http://schemas.microsoft.com/office/drawing/2014/main" id="{7D84AA56-28F5-4A79-A8A5-A464945CD531}"/>
              </a:ext>
            </a:extLst>
          </p:cNvPr>
          <p:cNvSpPr/>
          <p:nvPr/>
        </p:nvSpPr>
        <p:spPr>
          <a:xfrm>
            <a:off x="4053520" y="4924313"/>
            <a:ext cx="0" cy="384922"/>
          </a:xfrm>
          <a:custGeom>
            <a:avLst/>
            <a:gdLst/>
            <a:ahLst/>
            <a:cxnLst/>
            <a:rect l="l" t="t" r="r" b="b"/>
            <a:pathLst>
              <a:path h="436245">
                <a:moveTo>
                  <a:pt x="0" y="0"/>
                </a:moveTo>
                <a:lnTo>
                  <a:pt x="0" y="435864"/>
                </a:lnTo>
              </a:path>
            </a:pathLst>
          </a:custGeom>
          <a:ln w="9144">
            <a:solidFill>
              <a:srgbClr val="000000"/>
            </a:solidFill>
          </a:ln>
        </p:spPr>
        <p:txBody>
          <a:bodyPr wrap="square" lIns="0" tIns="0" rIns="0" bIns="0" rtlCol="0"/>
          <a:lstStyle/>
          <a:p>
            <a:endParaRPr sz="1588" dirty="0"/>
          </a:p>
        </p:txBody>
      </p:sp>
      <p:sp>
        <p:nvSpPr>
          <p:cNvPr id="8" name="object 8">
            <a:extLst>
              <a:ext uri="{FF2B5EF4-FFF2-40B4-BE49-F238E27FC236}">
                <a16:creationId xmlns:a16="http://schemas.microsoft.com/office/drawing/2014/main" id="{EF8EF7E8-A338-4C58-A922-68AB3E56D4E2}"/>
              </a:ext>
            </a:extLst>
          </p:cNvPr>
          <p:cNvSpPr/>
          <p:nvPr/>
        </p:nvSpPr>
        <p:spPr>
          <a:xfrm>
            <a:off x="4300945" y="4924313"/>
            <a:ext cx="0" cy="384922"/>
          </a:xfrm>
          <a:custGeom>
            <a:avLst/>
            <a:gdLst/>
            <a:ahLst/>
            <a:cxnLst/>
            <a:rect l="l" t="t" r="r" b="b"/>
            <a:pathLst>
              <a:path h="436245">
                <a:moveTo>
                  <a:pt x="0" y="0"/>
                </a:moveTo>
                <a:lnTo>
                  <a:pt x="0" y="435864"/>
                </a:lnTo>
              </a:path>
            </a:pathLst>
          </a:custGeom>
          <a:ln w="9144">
            <a:solidFill>
              <a:srgbClr val="000000"/>
            </a:solidFill>
          </a:ln>
        </p:spPr>
        <p:txBody>
          <a:bodyPr wrap="square" lIns="0" tIns="0" rIns="0" bIns="0" rtlCol="0"/>
          <a:lstStyle/>
          <a:p>
            <a:endParaRPr sz="1588" dirty="0"/>
          </a:p>
        </p:txBody>
      </p:sp>
      <p:sp>
        <p:nvSpPr>
          <p:cNvPr id="9" name="object 9">
            <a:extLst>
              <a:ext uri="{FF2B5EF4-FFF2-40B4-BE49-F238E27FC236}">
                <a16:creationId xmlns:a16="http://schemas.microsoft.com/office/drawing/2014/main" id="{23A53880-4339-479E-8EB0-8A073E064323}"/>
              </a:ext>
            </a:extLst>
          </p:cNvPr>
          <p:cNvSpPr/>
          <p:nvPr/>
        </p:nvSpPr>
        <p:spPr>
          <a:xfrm>
            <a:off x="4053520" y="5308898"/>
            <a:ext cx="244849" cy="0"/>
          </a:xfrm>
          <a:custGeom>
            <a:avLst/>
            <a:gdLst/>
            <a:ahLst/>
            <a:cxnLst/>
            <a:rect l="l" t="t" r="r" b="b"/>
            <a:pathLst>
              <a:path w="277494">
                <a:moveTo>
                  <a:pt x="0" y="0"/>
                </a:moveTo>
                <a:lnTo>
                  <a:pt x="277368" y="0"/>
                </a:lnTo>
              </a:path>
            </a:pathLst>
          </a:custGeom>
          <a:ln w="9144">
            <a:solidFill>
              <a:srgbClr val="000000"/>
            </a:solidFill>
          </a:ln>
        </p:spPr>
        <p:txBody>
          <a:bodyPr wrap="square" lIns="0" tIns="0" rIns="0" bIns="0" rtlCol="0"/>
          <a:lstStyle/>
          <a:p>
            <a:endParaRPr sz="1588" dirty="0"/>
          </a:p>
        </p:txBody>
      </p:sp>
      <p:graphicFrame>
        <p:nvGraphicFramePr>
          <p:cNvPr id="10" name="object 10">
            <a:extLst>
              <a:ext uri="{FF2B5EF4-FFF2-40B4-BE49-F238E27FC236}">
                <a16:creationId xmlns:a16="http://schemas.microsoft.com/office/drawing/2014/main" id="{9A8F3F6E-4A13-431B-8ED2-B311155DC9B5}"/>
              </a:ext>
            </a:extLst>
          </p:cNvPr>
          <p:cNvGraphicFramePr>
            <a:graphicFrameLocks noGrp="1"/>
          </p:cNvGraphicFramePr>
          <p:nvPr>
            <p:extLst/>
          </p:nvPr>
        </p:nvGraphicFramePr>
        <p:xfrm>
          <a:off x="4049486" y="1865106"/>
          <a:ext cx="249891" cy="2693328"/>
        </p:xfrm>
        <a:graphic>
          <a:graphicData uri="http://schemas.openxmlformats.org/drawingml/2006/table">
            <a:tbl>
              <a:tblPr firstRow="1" bandRow="1">
                <a:tableStyleId>{2D5ABB26-0587-4C30-8999-92F81FD0307C}</a:tableStyleId>
              </a:tblPr>
              <a:tblGrid>
                <a:gridCol w="249891">
                  <a:extLst>
                    <a:ext uri="{9D8B030D-6E8A-4147-A177-3AD203B41FA5}">
                      <a16:colId xmlns:a16="http://schemas.microsoft.com/office/drawing/2014/main" val="20000"/>
                    </a:ext>
                  </a:extLst>
                </a:gridCol>
              </a:tblGrid>
              <a:tr h="384361">
                <a:tc>
                  <a:txBody>
                    <a:bodyPr/>
                    <a:lstStyle/>
                    <a:p>
                      <a:pPr marL="36830" algn="ctr">
                        <a:lnSpc>
                          <a:spcPct val="100000"/>
                        </a:lnSpc>
                        <a:spcBef>
                          <a:spcPts val="910"/>
                        </a:spcBef>
                      </a:pPr>
                      <a:r>
                        <a:rPr lang="en-US" sz="1600" dirty="0">
                          <a:solidFill>
                            <a:srgbClr val="333333"/>
                          </a:solidFill>
                          <a:latin typeface="Arial"/>
                          <a:cs typeface="Arial"/>
                        </a:rPr>
                        <a:t>L</a:t>
                      </a:r>
                      <a:endParaRPr sz="1600" dirty="0">
                        <a:latin typeface="Arial"/>
                        <a:cs typeface="Arial"/>
                      </a:endParaRPr>
                    </a:p>
                  </a:txBody>
                  <a:tcPr marL="0" marR="0" marT="101974"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360269">
                <a:tc>
                  <a:txBody>
                    <a:bodyPr/>
                    <a:lstStyle/>
                    <a:p>
                      <a:pPr marL="37465" algn="ctr">
                        <a:lnSpc>
                          <a:spcPct val="100000"/>
                        </a:lnSpc>
                        <a:spcBef>
                          <a:spcPts val="384"/>
                        </a:spcBef>
                      </a:pPr>
                      <a:r>
                        <a:rPr lang="en-US" sz="1600" dirty="0">
                          <a:solidFill>
                            <a:srgbClr val="333333"/>
                          </a:solidFill>
                          <a:latin typeface="Arial"/>
                          <a:cs typeface="Arial"/>
                        </a:rPr>
                        <a:t>A</a:t>
                      </a:r>
                      <a:endParaRPr sz="1600" dirty="0">
                        <a:latin typeface="Arial"/>
                        <a:cs typeface="Arial"/>
                      </a:endParaRPr>
                    </a:p>
                  </a:txBody>
                  <a:tcPr marL="0" marR="0" marT="43142"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384361">
                <a:tc>
                  <a:txBody>
                    <a:bodyPr/>
                    <a:lstStyle/>
                    <a:p>
                      <a:pPr marL="31750" algn="ctr">
                        <a:lnSpc>
                          <a:spcPct val="100000"/>
                        </a:lnSpc>
                        <a:spcBef>
                          <a:spcPts val="1005"/>
                        </a:spcBef>
                      </a:pPr>
                      <a:r>
                        <a:rPr lang="en-US" sz="1600" dirty="0">
                          <a:solidFill>
                            <a:srgbClr val="333333"/>
                          </a:solidFill>
                          <a:latin typeface="Arial"/>
                          <a:cs typeface="Arial"/>
                        </a:rPr>
                        <a:t>H</a:t>
                      </a:r>
                      <a:endParaRPr sz="1600" dirty="0">
                        <a:latin typeface="Arial"/>
                        <a:cs typeface="Arial"/>
                      </a:endParaRPr>
                    </a:p>
                  </a:txBody>
                  <a:tcPr marL="0" marR="0" marT="11261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387162">
                <a:tc>
                  <a:txBody>
                    <a:bodyPr/>
                    <a:lstStyle/>
                    <a:p>
                      <a:pPr marL="36830" algn="ctr">
                        <a:lnSpc>
                          <a:spcPct val="100000"/>
                        </a:lnSpc>
                        <a:spcBef>
                          <a:spcPts val="740"/>
                        </a:spcBef>
                      </a:pPr>
                      <a:r>
                        <a:rPr lang="en-US" sz="1600" dirty="0">
                          <a:solidFill>
                            <a:srgbClr val="333333"/>
                          </a:solidFill>
                          <a:latin typeface="Arial"/>
                          <a:cs typeface="Arial"/>
                        </a:rPr>
                        <a:t>O</a:t>
                      </a:r>
                      <a:endParaRPr sz="1600" dirty="0">
                        <a:latin typeface="Arial"/>
                        <a:cs typeface="Arial"/>
                      </a:endParaRPr>
                    </a:p>
                  </a:txBody>
                  <a:tcPr marL="0" marR="0" marT="82924"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381559">
                <a:tc>
                  <a:txBody>
                    <a:bodyPr/>
                    <a:lstStyle/>
                    <a:p>
                      <a:pPr marL="36830" algn="ctr">
                        <a:lnSpc>
                          <a:spcPct val="100000"/>
                        </a:lnSpc>
                        <a:spcBef>
                          <a:spcPts val="575"/>
                        </a:spcBef>
                      </a:pPr>
                      <a:r>
                        <a:rPr lang="en-US" sz="1600" dirty="0">
                          <a:solidFill>
                            <a:srgbClr val="333333"/>
                          </a:solidFill>
                          <a:latin typeface="Arial"/>
                          <a:cs typeface="Arial"/>
                        </a:rPr>
                        <a:t>R</a:t>
                      </a:r>
                      <a:endParaRPr sz="1600" dirty="0">
                        <a:latin typeface="Arial"/>
                        <a:cs typeface="Arial"/>
                      </a:endParaRPr>
                    </a:p>
                  </a:txBody>
                  <a:tcPr marL="0" marR="0" marT="64434"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387162">
                <a:tc>
                  <a:txBody>
                    <a:bodyPr/>
                    <a:lstStyle/>
                    <a:p>
                      <a:pPr marL="36830" algn="ctr">
                        <a:lnSpc>
                          <a:spcPct val="100000"/>
                        </a:lnSpc>
                        <a:spcBef>
                          <a:spcPts val="310"/>
                        </a:spcBef>
                      </a:pPr>
                      <a:r>
                        <a:rPr lang="en-US" sz="1600" dirty="0">
                          <a:solidFill>
                            <a:srgbClr val="333333"/>
                          </a:solidFill>
                          <a:latin typeface="Arial"/>
                          <a:cs typeface="Arial"/>
                        </a:rPr>
                        <a:t>E</a:t>
                      </a:r>
                      <a:endParaRPr sz="1600" dirty="0">
                        <a:latin typeface="Arial"/>
                        <a:cs typeface="Arial"/>
                      </a:endParaRPr>
                    </a:p>
                  </a:txBody>
                  <a:tcPr marL="0" marR="0" marT="34738"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08454">
                <a:tc>
                  <a:txBody>
                    <a:bodyPr/>
                    <a:lstStyle/>
                    <a:p>
                      <a:pPr>
                        <a:lnSpc>
                          <a:spcPct val="100000"/>
                        </a:lnSpc>
                      </a:pPr>
                      <a:endParaRPr sz="1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bl>
          </a:graphicData>
        </a:graphic>
      </p:graphicFrame>
      <p:sp>
        <p:nvSpPr>
          <p:cNvPr id="11" name="object 11">
            <a:extLst>
              <a:ext uri="{FF2B5EF4-FFF2-40B4-BE49-F238E27FC236}">
                <a16:creationId xmlns:a16="http://schemas.microsoft.com/office/drawing/2014/main" id="{332E2DCA-E0EA-4340-B855-59114BA75CDC}"/>
              </a:ext>
            </a:extLst>
          </p:cNvPr>
          <p:cNvSpPr txBox="1"/>
          <p:nvPr/>
        </p:nvSpPr>
        <p:spPr>
          <a:xfrm>
            <a:off x="3485605" y="1872459"/>
            <a:ext cx="477371" cy="698631"/>
          </a:xfrm>
          <a:prstGeom prst="rect">
            <a:avLst/>
          </a:prstGeom>
        </p:spPr>
        <p:txBody>
          <a:bodyPr vert="horz" wrap="square" lIns="0" tIns="134471" rIns="0" bIns="0" rtlCol="0">
            <a:spAutoFit/>
          </a:bodyPr>
          <a:lstStyle/>
          <a:p>
            <a:pPr marL="11206">
              <a:spcBef>
                <a:spcPts val="1059"/>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25</a:t>
            </a:r>
            <a:endParaRPr sz="1412" dirty="0">
              <a:latin typeface="Verdana"/>
              <a:cs typeface="Verdana"/>
            </a:endParaRPr>
          </a:p>
          <a:p>
            <a:pPr marL="11206">
              <a:spcBef>
                <a:spcPts val="975"/>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26</a:t>
            </a:r>
            <a:endParaRPr sz="1412" dirty="0">
              <a:latin typeface="Verdana"/>
              <a:cs typeface="Verdana"/>
            </a:endParaRPr>
          </a:p>
        </p:txBody>
      </p:sp>
      <p:sp>
        <p:nvSpPr>
          <p:cNvPr id="12" name="object 12">
            <a:extLst>
              <a:ext uri="{FF2B5EF4-FFF2-40B4-BE49-F238E27FC236}">
                <a16:creationId xmlns:a16="http://schemas.microsoft.com/office/drawing/2014/main" id="{4B926DE4-3D10-4702-AF5D-4C8637DAF979}"/>
              </a:ext>
            </a:extLst>
          </p:cNvPr>
          <p:cNvSpPr txBox="1"/>
          <p:nvPr/>
        </p:nvSpPr>
        <p:spPr>
          <a:xfrm>
            <a:off x="3485605" y="2740061"/>
            <a:ext cx="477371" cy="1329934"/>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27</a:t>
            </a:r>
            <a:endParaRPr sz="1412" dirty="0">
              <a:latin typeface="Verdana"/>
              <a:cs typeface="Verdana"/>
            </a:endParaRPr>
          </a:p>
          <a:p>
            <a:pPr marL="11206">
              <a:spcBef>
                <a:spcPts val="1354"/>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28</a:t>
            </a:r>
            <a:endParaRPr sz="1412" dirty="0">
              <a:latin typeface="Verdana"/>
              <a:cs typeface="Verdana"/>
            </a:endParaRPr>
          </a:p>
          <a:p>
            <a:pPr marL="11206">
              <a:spcBef>
                <a:spcPts val="1315"/>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29</a:t>
            </a:r>
            <a:endParaRPr sz="1412" dirty="0">
              <a:latin typeface="Verdana"/>
              <a:cs typeface="Verdana"/>
            </a:endParaRPr>
          </a:p>
          <a:p>
            <a:pPr marL="11206">
              <a:spcBef>
                <a:spcPts val="847"/>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30</a:t>
            </a:r>
            <a:endParaRPr sz="1412" dirty="0">
              <a:latin typeface="Verdana"/>
              <a:cs typeface="Verdana"/>
            </a:endParaRPr>
          </a:p>
        </p:txBody>
      </p:sp>
      <p:sp>
        <p:nvSpPr>
          <p:cNvPr id="13" name="object 13">
            <a:extLst>
              <a:ext uri="{FF2B5EF4-FFF2-40B4-BE49-F238E27FC236}">
                <a16:creationId xmlns:a16="http://schemas.microsoft.com/office/drawing/2014/main" id="{A5441C81-DDD2-4560-9DC9-FB8DF61A72EB}"/>
              </a:ext>
            </a:extLst>
          </p:cNvPr>
          <p:cNvSpPr txBox="1"/>
          <p:nvPr/>
        </p:nvSpPr>
        <p:spPr>
          <a:xfrm>
            <a:off x="3485605" y="4240754"/>
            <a:ext cx="477371" cy="229184"/>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31</a:t>
            </a:r>
            <a:endParaRPr sz="1412" dirty="0">
              <a:latin typeface="Verdana"/>
              <a:cs typeface="Verdana"/>
            </a:endParaRPr>
          </a:p>
        </p:txBody>
      </p:sp>
      <p:sp>
        <p:nvSpPr>
          <p:cNvPr id="14" name="object 14">
            <a:extLst>
              <a:ext uri="{FF2B5EF4-FFF2-40B4-BE49-F238E27FC236}">
                <a16:creationId xmlns:a16="http://schemas.microsoft.com/office/drawing/2014/main" id="{3037A018-FD26-47EA-8344-80A146A8D408}"/>
              </a:ext>
            </a:extLst>
          </p:cNvPr>
          <p:cNvSpPr txBox="1"/>
          <p:nvPr/>
        </p:nvSpPr>
        <p:spPr>
          <a:xfrm>
            <a:off x="3485605" y="4988411"/>
            <a:ext cx="477371" cy="229184"/>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4</a:t>
            </a:r>
            <a:r>
              <a:rPr sz="1412" spc="4" dirty="0">
                <a:solidFill>
                  <a:srgbClr val="333333"/>
                </a:solidFill>
                <a:latin typeface="Verdana"/>
                <a:cs typeface="Verdana"/>
              </a:rPr>
              <a:t>0</a:t>
            </a:r>
            <a:r>
              <a:rPr sz="1412" spc="-9" dirty="0">
                <a:solidFill>
                  <a:srgbClr val="333333"/>
                </a:solidFill>
                <a:latin typeface="Verdana"/>
                <a:cs typeface="Verdana"/>
              </a:rPr>
              <a:t>96</a:t>
            </a:r>
            <a:endParaRPr sz="1412" dirty="0">
              <a:latin typeface="Verdana"/>
              <a:cs typeface="Verdana"/>
            </a:endParaRPr>
          </a:p>
        </p:txBody>
      </p:sp>
      <p:sp>
        <p:nvSpPr>
          <p:cNvPr id="15" name="object 15">
            <a:extLst>
              <a:ext uri="{FF2B5EF4-FFF2-40B4-BE49-F238E27FC236}">
                <a16:creationId xmlns:a16="http://schemas.microsoft.com/office/drawing/2014/main" id="{5F9D0C1C-3262-4B72-B912-AFD72592A6EA}"/>
              </a:ext>
            </a:extLst>
          </p:cNvPr>
          <p:cNvSpPr/>
          <p:nvPr/>
        </p:nvSpPr>
        <p:spPr>
          <a:xfrm>
            <a:off x="3217113" y="1823421"/>
            <a:ext cx="298637" cy="3590364"/>
          </a:xfrm>
          <a:custGeom>
            <a:avLst/>
            <a:gdLst/>
            <a:ahLst/>
            <a:cxnLst/>
            <a:rect l="l" t="t" r="r" b="b"/>
            <a:pathLst>
              <a:path w="338455" h="4069079">
                <a:moveTo>
                  <a:pt x="338328" y="0"/>
                </a:moveTo>
                <a:lnTo>
                  <a:pt x="278680" y="21273"/>
                </a:lnTo>
                <a:lnTo>
                  <a:pt x="228265" y="79875"/>
                </a:lnTo>
                <a:lnTo>
                  <a:pt x="207711" y="120728"/>
                </a:lnTo>
                <a:lnTo>
                  <a:pt x="190895" y="167978"/>
                </a:lnTo>
                <a:lnTo>
                  <a:pt x="178293" y="220647"/>
                </a:lnTo>
                <a:lnTo>
                  <a:pt x="170382" y="277756"/>
                </a:lnTo>
                <a:lnTo>
                  <a:pt x="167640" y="338327"/>
                </a:lnTo>
                <a:lnTo>
                  <a:pt x="167640" y="1694688"/>
                </a:lnTo>
                <a:lnTo>
                  <a:pt x="164901" y="1756061"/>
                </a:lnTo>
                <a:lnTo>
                  <a:pt x="157020" y="1813597"/>
                </a:lnTo>
                <a:lnTo>
                  <a:pt x="144497" y="1866391"/>
                </a:lnTo>
                <a:lnTo>
                  <a:pt x="127836" y="1913541"/>
                </a:lnTo>
                <a:lnTo>
                  <a:pt x="107537" y="1954144"/>
                </a:lnTo>
                <a:lnTo>
                  <a:pt x="84102" y="1987296"/>
                </a:lnTo>
                <a:lnTo>
                  <a:pt x="29831" y="2027634"/>
                </a:lnTo>
                <a:lnTo>
                  <a:pt x="0" y="2033015"/>
                </a:lnTo>
                <a:lnTo>
                  <a:pt x="29831" y="2038501"/>
                </a:lnTo>
                <a:lnTo>
                  <a:pt x="84102" y="2079526"/>
                </a:lnTo>
                <a:lnTo>
                  <a:pt x="107537" y="2113158"/>
                </a:lnTo>
                <a:lnTo>
                  <a:pt x="127836" y="2154267"/>
                </a:lnTo>
                <a:lnTo>
                  <a:pt x="144497" y="2201897"/>
                </a:lnTo>
                <a:lnTo>
                  <a:pt x="157020" y="2255097"/>
                </a:lnTo>
                <a:lnTo>
                  <a:pt x="164901" y="2312913"/>
                </a:lnTo>
                <a:lnTo>
                  <a:pt x="167640" y="2374391"/>
                </a:lnTo>
                <a:lnTo>
                  <a:pt x="167640" y="3730752"/>
                </a:lnTo>
                <a:lnTo>
                  <a:pt x="170382" y="3791323"/>
                </a:lnTo>
                <a:lnTo>
                  <a:pt x="178293" y="3848432"/>
                </a:lnTo>
                <a:lnTo>
                  <a:pt x="190895" y="3901101"/>
                </a:lnTo>
                <a:lnTo>
                  <a:pt x="207711" y="3948351"/>
                </a:lnTo>
                <a:lnTo>
                  <a:pt x="228265" y="3989204"/>
                </a:lnTo>
                <a:lnTo>
                  <a:pt x="252080" y="4022682"/>
                </a:lnTo>
                <a:lnTo>
                  <a:pt x="307588" y="4063598"/>
                </a:lnTo>
                <a:lnTo>
                  <a:pt x="338328" y="4069079"/>
                </a:lnTo>
              </a:path>
            </a:pathLst>
          </a:custGeom>
          <a:ln w="9144">
            <a:solidFill>
              <a:srgbClr val="000000"/>
            </a:solidFill>
          </a:ln>
        </p:spPr>
        <p:txBody>
          <a:bodyPr wrap="square" lIns="0" tIns="0" rIns="0" bIns="0" rtlCol="0"/>
          <a:lstStyle/>
          <a:p>
            <a:endParaRPr sz="1588" dirty="0"/>
          </a:p>
        </p:txBody>
      </p:sp>
      <p:sp>
        <p:nvSpPr>
          <p:cNvPr id="16" name="object 16">
            <a:extLst>
              <a:ext uri="{FF2B5EF4-FFF2-40B4-BE49-F238E27FC236}">
                <a16:creationId xmlns:a16="http://schemas.microsoft.com/office/drawing/2014/main" id="{BFD75E5A-ED40-4103-81F3-39BF8C772826}"/>
              </a:ext>
            </a:extLst>
          </p:cNvPr>
          <p:cNvSpPr/>
          <p:nvPr/>
        </p:nvSpPr>
        <p:spPr>
          <a:xfrm>
            <a:off x="6584256" y="4988858"/>
            <a:ext cx="223557" cy="0"/>
          </a:xfrm>
          <a:custGeom>
            <a:avLst/>
            <a:gdLst/>
            <a:ahLst/>
            <a:cxnLst/>
            <a:rect l="l" t="t" r="r" b="b"/>
            <a:pathLst>
              <a:path w="253364">
                <a:moveTo>
                  <a:pt x="0" y="0"/>
                </a:moveTo>
                <a:lnTo>
                  <a:pt x="252984" y="0"/>
                </a:lnTo>
              </a:path>
            </a:pathLst>
          </a:custGeom>
          <a:ln w="9144">
            <a:solidFill>
              <a:srgbClr val="000000"/>
            </a:solidFill>
          </a:ln>
        </p:spPr>
        <p:txBody>
          <a:bodyPr wrap="square" lIns="0" tIns="0" rIns="0" bIns="0" rtlCol="0"/>
          <a:lstStyle/>
          <a:p>
            <a:endParaRPr sz="1588" dirty="0"/>
          </a:p>
        </p:txBody>
      </p:sp>
      <p:sp>
        <p:nvSpPr>
          <p:cNvPr id="17" name="object 17">
            <a:extLst>
              <a:ext uri="{FF2B5EF4-FFF2-40B4-BE49-F238E27FC236}">
                <a16:creationId xmlns:a16="http://schemas.microsoft.com/office/drawing/2014/main" id="{B5AE7833-3BCD-4EE3-9B68-EF2A3C27DA3A}"/>
              </a:ext>
            </a:extLst>
          </p:cNvPr>
          <p:cNvSpPr/>
          <p:nvPr/>
        </p:nvSpPr>
        <p:spPr>
          <a:xfrm>
            <a:off x="6578878" y="4598894"/>
            <a:ext cx="8404" cy="387724"/>
          </a:xfrm>
          <a:custGeom>
            <a:avLst/>
            <a:gdLst/>
            <a:ahLst/>
            <a:cxnLst/>
            <a:rect l="l" t="t" r="r" b="b"/>
            <a:pathLst>
              <a:path w="9525" h="439420">
                <a:moveTo>
                  <a:pt x="6096" y="0"/>
                </a:moveTo>
                <a:lnTo>
                  <a:pt x="0" y="6095"/>
                </a:lnTo>
                <a:lnTo>
                  <a:pt x="0" y="33527"/>
                </a:lnTo>
                <a:lnTo>
                  <a:pt x="6096" y="39623"/>
                </a:lnTo>
                <a:lnTo>
                  <a:pt x="9144" y="33527"/>
                </a:lnTo>
                <a:lnTo>
                  <a:pt x="9144" y="6095"/>
                </a:lnTo>
                <a:lnTo>
                  <a:pt x="6096" y="0"/>
                </a:lnTo>
                <a:close/>
              </a:path>
              <a:path w="9525" h="439420">
                <a:moveTo>
                  <a:pt x="6096" y="67055"/>
                </a:moveTo>
                <a:lnTo>
                  <a:pt x="0" y="73151"/>
                </a:lnTo>
                <a:lnTo>
                  <a:pt x="0" y="100583"/>
                </a:lnTo>
                <a:lnTo>
                  <a:pt x="6096" y="103631"/>
                </a:lnTo>
                <a:lnTo>
                  <a:pt x="9144" y="100583"/>
                </a:lnTo>
                <a:lnTo>
                  <a:pt x="9144" y="73151"/>
                </a:lnTo>
                <a:lnTo>
                  <a:pt x="6096" y="67055"/>
                </a:lnTo>
                <a:close/>
              </a:path>
              <a:path w="9525" h="439420">
                <a:moveTo>
                  <a:pt x="6096" y="134111"/>
                </a:moveTo>
                <a:lnTo>
                  <a:pt x="0" y="137159"/>
                </a:lnTo>
                <a:lnTo>
                  <a:pt x="0" y="167639"/>
                </a:lnTo>
                <a:lnTo>
                  <a:pt x="6096" y="170687"/>
                </a:lnTo>
                <a:lnTo>
                  <a:pt x="9144" y="167639"/>
                </a:lnTo>
                <a:lnTo>
                  <a:pt x="9144" y="137159"/>
                </a:lnTo>
                <a:lnTo>
                  <a:pt x="6096" y="134111"/>
                </a:lnTo>
                <a:close/>
              </a:path>
              <a:path w="9525" h="439420">
                <a:moveTo>
                  <a:pt x="6096" y="201167"/>
                </a:moveTo>
                <a:lnTo>
                  <a:pt x="0" y="204215"/>
                </a:lnTo>
                <a:lnTo>
                  <a:pt x="0" y="234695"/>
                </a:lnTo>
                <a:lnTo>
                  <a:pt x="6096" y="237743"/>
                </a:lnTo>
                <a:lnTo>
                  <a:pt x="9144" y="234695"/>
                </a:lnTo>
                <a:lnTo>
                  <a:pt x="9144" y="204215"/>
                </a:lnTo>
                <a:lnTo>
                  <a:pt x="6096" y="201167"/>
                </a:lnTo>
                <a:close/>
              </a:path>
              <a:path w="9525" h="439420">
                <a:moveTo>
                  <a:pt x="6096" y="268223"/>
                </a:moveTo>
                <a:lnTo>
                  <a:pt x="0" y="271271"/>
                </a:lnTo>
                <a:lnTo>
                  <a:pt x="0" y="301751"/>
                </a:lnTo>
                <a:lnTo>
                  <a:pt x="6096" y="304799"/>
                </a:lnTo>
                <a:lnTo>
                  <a:pt x="9144" y="301751"/>
                </a:lnTo>
                <a:lnTo>
                  <a:pt x="9144" y="271271"/>
                </a:lnTo>
                <a:lnTo>
                  <a:pt x="6096" y="268223"/>
                </a:lnTo>
                <a:close/>
              </a:path>
              <a:path w="9525" h="439420">
                <a:moveTo>
                  <a:pt x="6096" y="332231"/>
                </a:moveTo>
                <a:lnTo>
                  <a:pt x="0" y="338327"/>
                </a:lnTo>
                <a:lnTo>
                  <a:pt x="0" y="365759"/>
                </a:lnTo>
                <a:lnTo>
                  <a:pt x="6096" y="371855"/>
                </a:lnTo>
                <a:lnTo>
                  <a:pt x="9144" y="365759"/>
                </a:lnTo>
                <a:lnTo>
                  <a:pt x="9144" y="338327"/>
                </a:lnTo>
                <a:lnTo>
                  <a:pt x="6096" y="332231"/>
                </a:lnTo>
                <a:close/>
              </a:path>
              <a:path w="9525" h="439420">
                <a:moveTo>
                  <a:pt x="6096" y="399287"/>
                </a:moveTo>
                <a:lnTo>
                  <a:pt x="0" y="405383"/>
                </a:lnTo>
                <a:lnTo>
                  <a:pt x="0" y="432815"/>
                </a:lnTo>
                <a:lnTo>
                  <a:pt x="6096" y="438911"/>
                </a:lnTo>
                <a:lnTo>
                  <a:pt x="9144" y="432815"/>
                </a:lnTo>
                <a:lnTo>
                  <a:pt x="9144" y="405383"/>
                </a:lnTo>
                <a:lnTo>
                  <a:pt x="6096" y="399287"/>
                </a:lnTo>
                <a:close/>
              </a:path>
            </a:pathLst>
          </a:custGeom>
          <a:solidFill>
            <a:srgbClr val="000000"/>
          </a:solidFill>
        </p:spPr>
        <p:txBody>
          <a:bodyPr wrap="square" lIns="0" tIns="0" rIns="0" bIns="0" rtlCol="0"/>
          <a:lstStyle/>
          <a:p>
            <a:endParaRPr sz="1588" dirty="0"/>
          </a:p>
        </p:txBody>
      </p:sp>
      <p:sp>
        <p:nvSpPr>
          <p:cNvPr id="18" name="object 18">
            <a:extLst>
              <a:ext uri="{FF2B5EF4-FFF2-40B4-BE49-F238E27FC236}">
                <a16:creationId xmlns:a16="http://schemas.microsoft.com/office/drawing/2014/main" id="{3826AE9D-1EA9-4B50-B6E3-3763C1192276}"/>
              </a:ext>
            </a:extLst>
          </p:cNvPr>
          <p:cNvSpPr/>
          <p:nvPr/>
        </p:nvSpPr>
        <p:spPr>
          <a:xfrm>
            <a:off x="6818235" y="4598894"/>
            <a:ext cx="8404" cy="387724"/>
          </a:xfrm>
          <a:custGeom>
            <a:avLst/>
            <a:gdLst/>
            <a:ahLst/>
            <a:cxnLst/>
            <a:rect l="l" t="t" r="r" b="b"/>
            <a:pathLst>
              <a:path w="9525" h="439420">
                <a:moveTo>
                  <a:pt x="6096" y="0"/>
                </a:moveTo>
                <a:lnTo>
                  <a:pt x="0" y="6095"/>
                </a:lnTo>
                <a:lnTo>
                  <a:pt x="0" y="33527"/>
                </a:lnTo>
                <a:lnTo>
                  <a:pt x="6096" y="39623"/>
                </a:lnTo>
                <a:lnTo>
                  <a:pt x="9143" y="33527"/>
                </a:lnTo>
                <a:lnTo>
                  <a:pt x="9143" y="6095"/>
                </a:lnTo>
                <a:lnTo>
                  <a:pt x="6096" y="0"/>
                </a:lnTo>
                <a:close/>
              </a:path>
              <a:path w="9525" h="439420">
                <a:moveTo>
                  <a:pt x="6096" y="67055"/>
                </a:moveTo>
                <a:lnTo>
                  <a:pt x="0" y="73151"/>
                </a:lnTo>
                <a:lnTo>
                  <a:pt x="0" y="100583"/>
                </a:lnTo>
                <a:lnTo>
                  <a:pt x="6096" y="103631"/>
                </a:lnTo>
                <a:lnTo>
                  <a:pt x="9143" y="100583"/>
                </a:lnTo>
                <a:lnTo>
                  <a:pt x="9143" y="73151"/>
                </a:lnTo>
                <a:lnTo>
                  <a:pt x="6096" y="67055"/>
                </a:lnTo>
                <a:close/>
              </a:path>
              <a:path w="9525" h="439420">
                <a:moveTo>
                  <a:pt x="6096" y="134111"/>
                </a:moveTo>
                <a:lnTo>
                  <a:pt x="0" y="137159"/>
                </a:lnTo>
                <a:lnTo>
                  <a:pt x="0" y="167639"/>
                </a:lnTo>
                <a:lnTo>
                  <a:pt x="6096" y="170687"/>
                </a:lnTo>
                <a:lnTo>
                  <a:pt x="9143" y="167639"/>
                </a:lnTo>
                <a:lnTo>
                  <a:pt x="9143" y="137159"/>
                </a:lnTo>
                <a:lnTo>
                  <a:pt x="6096" y="134111"/>
                </a:lnTo>
                <a:close/>
              </a:path>
              <a:path w="9525" h="439420">
                <a:moveTo>
                  <a:pt x="6096" y="201167"/>
                </a:moveTo>
                <a:lnTo>
                  <a:pt x="0" y="204215"/>
                </a:lnTo>
                <a:lnTo>
                  <a:pt x="0" y="234695"/>
                </a:lnTo>
                <a:lnTo>
                  <a:pt x="6096" y="237743"/>
                </a:lnTo>
                <a:lnTo>
                  <a:pt x="9143" y="234695"/>
                </a:lnTo>
                <a:lnTo>
                  <a:pt x="9143" y="204215"/>
                </a:lnTo>
                <a:lnTo>
                  <a:pt x="6096" y="201167"/>
                </a:lnTo>
                <a:close/>
              </a:path>
              <a:path w="9525" h="439420">
                <a:moveTo>
                  <a:pt x="6096" y="268223"/>
                </a:moveTo>
                <a:lnTo>
                  <a:pt x="0" y="271271"/>
                </a:lnTo>
                <a:lnTo>
                  <a:pt x="0" y="301751"/>
                </a:lnTo>
                <a:lnTo>
                  <a:pt x="6096" y="304799"/>
                </a:lnTo>
                <a:lnTo>
                  <a:pt x="9143" y="301751"/>
                </a:lnTo>
                <a:lnTo>
                  <a:pt x="9143" y="271271"/>
                </a:lnTo>
                <a:lnTo>
                  <a:pt x="6096" y="268223"/>
                </a:lnTo>
                <a:close/>
              </a:path>
              <a:path w="9525" h="439420">
                <a:moveTo>
                  <a:pt x="6096" y="332231"/>
                </a:moveTo>
                <a:lnTo>
                  <a:pt x="0" y="338327"/>
                </a:lnTo>
                <a:lnTo>
                  <a:pt x="0" y="365759"/>
                </a:lnTo>
                <a:lnTo>
                  <a:pt x="6096" y="371855"/>
                </a:lnTo>
                <a:lnTo>
                  <a:pt x="9143" y="365759"/>
                </a:lnTo>
                <a:lnTo>
                  <a:pt x="9143" y="338327"/>
                </a:lnTo>
                <a:lnTo>
                  <a:pt x="6096" y="332231"/>
                </a:lnTo>
                <a:close/>
              </a:path>
              <a:path w="9525" h="439420">
                <a:moveTo>
                  <a:pt x="6096" y="399287"/>
                </a:moveTo>
                <a:lnTo>
                  <a:pt x="0" y="405383"/>
                </a:lnTo>
                <a:lnTo>
                  <a:pt x="0" y="432815"/>
                </a:lnTo>
                <a:lnTo>
                  <a:pt x="6096" y="438911"/>
                </a:lnTo>
                <a:lnTo>
                  <a:pt x="9143" y="432815"/>
                </a:lnTo>
                <a:lnTo>
                  <a:pt x="9143" y="405383"/>
                </a:lnTo>
                <a:lnTo>
                  <a:pt x="6096" y="399287"/>
                </a:lnTo>
                <a:close/>
              </a:path>
            </a:pathLst>
          </a:custGeom>
          <a:solidFill>
            <a:srgbClr val="000000"/>
          </a:solidFill>
        </p:spPr>
        <p:txBody>
          <a:bodyPr wrap="square" lIns="0" tIns="0" rIns="0" bIns="0" rtlCol="0"/>
          <a:lstStyle/>
          <a:p>
            <a:endParaRPr sz="1588" dirty="0"/>
          </a:p>
        </p:txBody>
      </p:sp>
      <p:sp>
        <p:nvSpPr>
          <p:cNvPr id="19" name="object 19">
            <a:extLst>
              <a:ext uri="{FF2B5EF4-FFF2-40B4-BE49-F238E27FC236}">
                <a16:creationId xmlns:a16="http://schemas.microsoft.com/office/drawing/2014/main" id="{B7FDFF31-C184-41FD-8977-E92F70F13153}"/>
              </a:ext>
            </a:extLst>
          </p:cNvPr>
          <p:cNvSpPr/>
          <p:nvPr/>
        </p:nvSpPr>
        <p:spPr>
          <a:xfrm>
            <a:off x="6584256" y="4988858"/>
            <a:ext cx="0" cy="384922"/>
          </a:xfrm>
          <a:custGeom>
            <a:avLst/>
            <a:gdLst/>
            <a:ahLst/>
            <a:cxnLst/>
            <a:rect l="l" t="t" r="r" b="b"/>
            <a:pathLst>
              <a:path h="436245">
                <a:moveTo>
                  <a:pt x="0" y="0"/>
                </a:moveTo>
                <a:lnTo>
                  <a:pt x="0" y="435864"/>
                </a:lnTo>
              </a:path>
            </a:pathLst>
          </a:custGeom>
          <a:ln w="9144">
            <a:solidFill>
              <a:srgbClr val="000000"/>
            </a:solidFill>
          </a:ln>
        </p:spPr>
        <p:txBody>
          <a:bodyPr wrap="square" lIns="0" tIns="0" rIns="0" bIns="0" rtlCol="0"/>
          <a:lstStyle/>
          <a:p>
            <a:endParaRPr sz="1588" dirty="0"/>
          </a:p>
        </p:txBody>
      </p:sp>
      <p:sp>
        <p:nvSpPr>
          <p:cNvPr id="20" name="object 20">
            <a:extLst>
              <a:ext uri="{FF2B5EF4-FFF2-40B4-BE49-F238E27FC236}">
                <a16:creationId xmlns:a16="http://schemas.microsoft.com/office/drawing/2014/main" id="{46A21821-CD91-448D-AB20-EFCE6BCF5FEC}"/>
              </a:ext>
            </a:extLst>
          </p:cNvPr>
          <p:cNvSpPr/>
          <p:nvPr/>
        </p:nvSpPr>
        <p:spPr>
          <a:xfrm>
            <a:off x="6823614" y="4988858"/>
            <a:ext cx="0" cy="384922"/>
          </a:xfrm>
          <a:custGeom>
            <a:avLst/>
            <a:gdLst/>
            <a:ahLst/>
            <a:cxnLst/>
            <a:rect l="l" t="t" r="r" b="b"/>
            <a:pathLst>
              <a:path h="436245">
                <a:moveTo>
                  <a:pt x="0" y="0"/>
                </a:moveTo>
                <a:lnTo>
                  <a:pt x="0" y="435864"/>
                </a:lnTo>
              </a:path>
            </a:pathLst>
          </a:custGeom>
          <a:ln w="9144">
            <a:solidFill>
              <a:srgbClr val="000000"/>
            </a:solidFill>
          </a:ln>
        </p:spPr>
        <p:txBody>
          <a:bodyPr wrap="square" lIns="0" tIns="0" rIns="0" bIns="0" rtlCol="0"/>
          <a:lstStyle/>
          <a:p>
            <a:endParaRPr sz="1588" dirty="0"/>
          </a:p>
        </p:txBody>
      </p:sp>
      <p:sp>
        <p:nvSpPr>
          <p:cNvPr id="21" name="object 21">
            <a:extLst>
              <a:ext uri="{FF2B5EF4-FFF2-40B4-BE49-F238E27FC236}">
                <a16:creationId xmlns:a16="http://schemas.microsoft.com/office/drawing/2014/main" id="{ACE2AA89-4D27-432A-9B75-67FD55D35C9C}"/>
              </a:ext>
            </a:extLst>
          </p:cNvPr>
          <p:cNvSpPr/>
          <p:nvPr/>
        </p:nvSpPr>
        <p:spPr>
          <a:xfrm>
            <a:off x="6584256" y="5373445"/>
            <a:ext cx="234203" cy="0"/>
          </a:xfrm>
          <a:custGeom>
            <a:avLst/>
            <a:gdLst/>
            <a:ahLst/>
            <a:cxnLst/>
            <a:rect l="l" t="t" r="r" b="b"/>
            <a:pathLst>
              <a:path w="265429">
                <a:moveTo>
                  <a:pt x="0" y="0"/>
                </a:moveTo>
                <a:lnTo>
                  <a:pt x="265175" y="0"/>
                </a:lnTo>
              </a:path>
            </a:pathLst>
          </a:custGeom>
          <a:ln w="9144">
            <a:solidFill>
              <a:srgbClr val="000000"/>
            </a:solidFill>
          </a:ln>
        </p:spPr>
        <p:txBody>
          <a:bodyPr wrap="square" lIns="0" tIns="0" rIns="0" bIns="0" rtlCol="0"/>
          <a:lstStyle/>
          <a:p>
            <a:endParaRPr sz="1588" dirty="0"/>
          </a:p>
        </p:txBody>
      </p:sp>
      <p:graphicFrame>
        <p:nvGraphicFramePr>
          <p:cNvPr id="22" name="object 22">
            <a:extLst>
              <a:ext uri="{FF2B5EF4-FFF2-40B4-BE49-F238E27FC236}">
                <a16:creationId xmlns:a16="http://schemas.microsoft.com/office/drawing/2014/main" id="{C2812C44-B669-4C04-8C67-EC5BD3EB38CB}"/>
              </a:ext>
            </a:extLst>
          </p:cNvPr>
          <p:cNvGraphicFramePr>
            <a:graphicFrameLocks noGrp="1"/>
          </p:cNvGraphicFramePr>
          <p:nvPr>
            <p:extLst/>
          </p:nvPr>
        </p:nvGraphicFramePr>
        <p:xfrm>
          <a:off x="6580223" y="1929652"/>
          <a:ext cx="242047" cy="2693328"/>
        </p:xfrm>
        <a:graphic>
          <a:graphicData uri="http://schemas.openxmlformats.org/drawingml/2006/table">
            <a:tbl>
              <a:tblPr firstRow="1" bandRow="1">
                <a:tableStyleId>{2D5ABB26-0587-4C30-8999-92F81FD0307C}</a:tableStyleId>
              </a:tblPr>
              <a:tblGrid>
                <a:gridCol w="242047">
                  <a:extLst>
                    <a:ext uri="{9D8B030D-6E8A-4147-A177-3AD203B41FA5}">
                      <a16:colId xmlns:a16="http://schemas.microsoft.com/office/drawing/2014/main" val="20000"/>
                    </a:ext>
                  </a:extLst>
                </a:gridCol>
              </a:tblGrid>
              <a:tr h="360269">
                <a:tc>
                  <a:txBody>
                    <a:bodyPr/>
                    <a:lstStyle/>
                    <a:p>
                      <a:pPr algn="ctr">
                        <a:lnSpc>
                          <a:spcPct val="100000"/>
                        </a:lnSpc>
                        <a:spcBef>
                          <a:spcPts val="670"/>
                        </a:spcBef>
                      </a:pPr>
                      <a:r>
                        <a:rPr lang="en-US" sz="1600" dirty="0">
                          <a:solidFill>
                            <a:srgbClr val="333333"/>
                          </a:solidFill>
                          <a:latin typeface="Arial"/>
                          <a:cs typeface="Arial"/>
                        </a:rPr>
                        <a:t>G</a:t>
                      </a:r>
                      <a:endParaRPr sz="1600" dirty="0">
                        <a:latin typeface="Arial"/>
                        <a:cs typeface="Arial"/>
                      </a:endParaRPr>
                    </a:p>
                  </a:txBody>
                  <a:tcPr marL="0" marR="0" marT="7507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387162">
                <a:tc>
                  <a:txBody>
                    <a:bodyPr/>
                    <a:lstStyle/>
                    <a:p>
                      <a:pPr marL="2540" algn="ctr">
                        <a:lnSpc>
                          <a:spcPts val="2110"/>
                        </a:lnSpc>
                        <a:spcBef>
                          <a:spcPts val="1245"/>
                        </a:spcBef>
                      </a:pPr>
                      <a:r>
                        <a:rPr lang="en-US" sz="1600" dirty="0">
                          <a:solidFill>
                            <a:srgbClr val="333333"/>
                          </a:solidFill>
                          <a:latin typeface="Arial"/>
                          <a:cs typeface="Arial"/>
                        </a:rPr>
                        <a:t>A</a:t>
                      </a:r>
                      <a:endParaRPr sz="1600" dirty="0">
                        <a:latin typeface="Arial"/>
                        <a:cs typeface="Arial"/>
                      </a:endParaRPr>
                    </a:p>
                  </a:txBody>
                  <a:tcPr marL="0" marR="0" marT="139513"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384361">
                <a:tc>
                  <a:txBody>
                    <a:bodyPr/>
                    <a:lstStyle/>
                    <a:p>
                      <a:pPr marL="1905" algn="ctr">
                        <a:lnSpc>
                          <a:spcPct val="100000"/>
                        </a:lnSpc>
                        <a:spcBef>
                          <a:spcPts val="840"/>
                        </a:spcBef>
                      </a:pPr>
                      <a:r>
                        <a:rPr lang="en-US" sz="1600" dirty="0">
                          <a:solidFill>
                            <a:srgbClr val="333333"/>
                          </a:solidFill>
                          <a:latin typeface="Arial"/>
                          <a:cs typeface="Arial"/>
                        </a:rPr>
                        <a:t>M</a:t>
                      </a:r>
                      <a:endParaRPr sz="1600" dirty="0">
                        <a:latin typeface="Arial"/>
                        <a:cs typeface="Arial"/>
                      </a:endParaRPr>
                    </a:p>
                  </a:txBody>
                  <a:tcPr marL="0" marR="0" marT="941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381559">
                <a:tc>
                  <a:txBody>
                    <a:bodyPr/>
                    <a:lstStyle/>
                    <a:p>
                      <a:pPr algn="ctr">
                        <a:lnSpc>
                          <a:spcPct val="100000"/>
                        </a:lnSpc>
                        <a:spcBef>
                          <a:spcPts val="550"/>
                        </a:spcBef>
                      </a:pPr>
                      <a:r>
                        <a:rPr lang="en-US" sz="1600" dirty="0">
                          <a:solidFill>
                            <a:srgbClr val="333333"/>
                          </a:solidFill>
                          <a:latin typeface="Arial"/>
                          <a:cs typeface="Arial"/>
                        </a:rPr>
                        <a:t>E</a:t>
                      </a:r>
                      <a:endParaRPr sz="1600" dirty="0">
                        <a:latin typeface="Arial"/>
                        <a:cs typeface="Arial"/>
                      </a:endParaRPr>
                    </a:p>
                  </a:txBody>
                  <a:tcPr marL="0" marR="0" marT="61632"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387162">
                <a:tc>
                  <a:txBody>
                    <a:bodyPr/>
                    <a:lstStyle/>
                    <a:p>
                      <a:pPr algn="ctr">
                        <a:lnSpc>
                          <a:spcPct val="100000"/>
                        </a:lnSpc>
                        <a:spcBef>
                          <a:spcPts val="575"/>
                        </a:spcBef>
                      </a:pPr>
                      <a:r>
                        <a:rPr lang="en-US" sz="1600" dirty="0">
                          <a:solidFill>
                            <a:srgbClr val="333333"/>
                          </a:solidFill>
                          <a:latin typeface="Arial"/>
                          <a:cs typeface="Arial"/>
                        </a:rPr>
                        <a:t>S</a:t>
                      </a:r>
                      <a:endParaRPr sz="1600" dirty="0">
                        <a:latin typeface="Arial"/>
                        <a:cs typeface="Arial"/>
                      </a:endParaRPr>
                    </a:p>
                  </a:txBody>
                  <a:tcPr marL="0" marR="0" marT="64434"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384361">
                <a:tc>
                  <a:txBody>
                    <a:bodyPr/>
                    <a:lstStyle/>
                    <a:p>
                      <a:pPr>
                        <a:lnSpc>
                          <a:spcPct val="100000"/>
                        </a:lnSpc>
                      </a:pPr>
                      <a:endParaRPr sz="1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08454">
                <a:tc>
                  <a:txBody>
                    <a:bodyPr/>
                    <a:lstStyle/>
                    <a:p>
                      <a:pPr>
                        <a:lnSpc>
                          <a:spcPct val="100000"/>
                        </a:lnSpc>
                      </a:pPr>
                      <a:endParaRPr sz="1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bl>
          </a:graphicData>
        </a:graphic>
      </p:graphicFrame>
      <p:sp>
        <p:nvSpPr>
          <p:cNvPr id="23" name="object 23">
            <a:extLst>
              <a:ext uri="{FF2B5EF4-FFF2-40B4-BE49-F238E27FC236}">
                <a16:creationId xmlns:a16="http://schemas.microsoft.com/office/drawing/2014/main" id="{0D976229-1DAE-499C-B9DA-A22C092EDCAE}"/>
              </a:ext>
            </a:extLst>
          </p:cNvPr>
          <p:cNvSpPr txBox="1"/>
          <p:nvPr/>
        </p:nvSpPr>
        <p:spPr>
          <a:xfrm>
            <a:off x="5967932" y="2035437"/>
            <a:ext cx="477371" cy="229184"/>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51</a:t>
            </a:r>
            <a:endParaRPr sz="1412" dirty="0">
              <a:latin typeface="Verdana"/>
              <a:cs typeface="Verdana"/>
            </a:endParaRPr>
          </a:p>
        </p:txBody>
      </p:sp>
      <p:sp>
        <p:nvSpPr>
          <p:cNvPr id="24" name="object 24">
            <a:extLst>
              <a:ext uri="{FF2B5EF4-FFF2-40B4-BE49-F238E27FC236}">
                <a16:creationId xmlns:a16="http://schemas.microsoft.com/office/drawing/2014/main" id="{11F1FF54-A682-4A00-972E-43D273A8F168}"/>
              </a:ext>
            </a:extLst>
          </p:cNvPr>
          <p:cNvSpPr txBox="1"/>
          <p:nvPr/>
        </p:nvSpPr>
        <p:spPr>
          <a:xfrm>
            <a:off x="5967932" y="2449606"/>
            <a:ext cx="477371" cy="1739598"/>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52</a:t>
            </a:r>
            <a:endParaRPr sz="1412" dirty="0">
              <a:latin typeface="Verdana"/>
              <a:cs typeface="Verdana"/>
            </a:endParaRPr>
          </a:p>
          <a:p>
            <a:pPr marL="11206">
              <a:spcBef>
                <a:spcPts val="1315"/>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53</a:t>
            </a:r>
            <a:endParaRPr sz="1412" dirty="0">
              <a:latin typeface="Verdana"/>
              <a:cs typeface="Verdana"/>
            </a:endParaRPr>
          </a:p>
          <a:p>
            <a:pPr marL="11206">
              <a:spcBef>
                <a:spcPts val="975"/>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54</a:t>
            </a:r>
            <a:endParaRPr sz="1412" dirty="0">
              <a:latin typeface="Verdana"/>
              <a:cs typeface="Verdana"/>
            </a:endParaRPr>
          </a:p>
          <a:p>
            <a:pPr marL="11206">
              <a:spcBef>
                <a:spcPts val="1310"/>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55</a:t>
            </a:r>
            <a:endParaRPr sz="1412" dirty="0">
              <a:latin typeface="Verdana"/>
              <a:cs typeface="Verdana"/>
            </a:endParaRPr>
          </a:p>
          <a:p>
            <a:pPr marL="11206">
              <a:spcBef>
                <a:spcPts val="1354"/>
              </a:spcBef>
            </a:pPr>
            <a:r>
              <a:rPr sz="1412" spc="-9" dirty="0">
                <a:solidFill>
                  <a:srgbClr val="333333"/>
                </a:solidFill>
                <a:latin typeface="Verdana"/>
                <a:cs typeface="Verdana"/>
              </a:rPr>
              <a:t>0</a:t>
            </a:r>
            <a:r>
              <a:rPr sz="1412" spc="4" dirty="0">
                <a:solidFill>
                  <a:srgbClr val="333333"/>
                </a:solidFill>
                <a:latin typeface="Verdana"/>
                <a:cs typeface="Verdana"/>
              </a:rPr>
              <a:t>0</a:t>
            </a:r>
            <a:r>
              <a:rPr sz="1412" spc="-9" dirty="0">
                <a:solidFill>
                  <a:srgbClr val="333333"/>
                </a:solidFill>
                <a:latin typeface="Verdana"/>
                <a:cs typeface="Verdana"/>
              </a:rPr>
              <a:t>56</a:t>
            </a:r>
            <a:endParaRPr sz="1412" dirty="0">
              <a:latin typeface="Verdana"/>
              <a:cs typeface="Verdana"/>
            </a:endParaRPr>
          </a:p>
        </p:txBody>
      </p:sp>
      <p:sp>
        <p:nvSpPr>
          <p:cNvPr id="25" name="object 25">
            <a:extLst>
              <a:ext uri="{FF2B5EF4-FFF2-40B4-BE49-F238E27FC236}">
                <a16:creationId xmlns:a16="http://schemas.microsoft.com/office/drawing/2014/main" id="{D920482E-99F8-4B9D-8B51-74602F89BE2B}"/>
              </a:ext>
            </a:extLst>
          </p:cNvPr>
          <p:cNvSpPr txBox="1"/>
          <p:nvPr/>
        </p:nvSpPr>
        <p:spPr>
          <a:xfrm>
            <a:off x="5967932" y="5052956"/>
            <a:ext cx="477371" cy="229184"/>
          </a:xfrm>
          <a:prstGeom prst="rect">
            <a:avLst/>
          </a:prstGeom>
        </p:spPr>
        <p:txBody>
          <a:bodyPr vert="horz" wrap="square" lIns="0" tIns="11766" rIns="0" bIns="0" rtlCol="0">
            <a:spAutoFit/>
          </a:bodyPr>
          <a:lstStyle/>
          <a:p>
            <a:pPr marL="11206">
              <a:spcBef>
                <a:spcPts val="93"/>
              </a:spcBef>
            </a:pPr>
            <a:r>
              <a:rPr sz="1412" spc="-9" dirty="0">
                <a:solidFill>
                  <a:srgbClr val="333333"/>
                </a:solidFill>
                <a:latin typeface="Verdana"/>
                <a:cs typeface="Verdana"/>
              </a:rPr>
              <a:t>4</a:t>
            </a:r>
            <a:r>
              <a:rPr sz="1412" spc="4" dirty="0">
                <a:solidFill>
                  <a:srgbClr val="333333"/>
                </a:solidFill>
                <a:latin typeface="Verdana"/>
                <a:cs typeface="Verdana"/>
              </a:rPr>
              <a:t>0</a:t>
            </a:r>
            <a:r>
              <a:rPr sz="1412" spc="-9" dirty="0">
                <a:solidFill>
                  <a:srgbClr val="333333"/>
                </a:solidFill>
                <a:latin typeface="Verdana"/>
                <a:cs typeface="Verdana"/>
              </a:rPr>
              <a:t>96</a:t>
            </a:r>
            <a:endParaRPr sz="1412" dirty="0">
              <a:latin typeface="Verdana"/>
              <a:cs typeface="Verdana"/>
            </a:endParaRPr>
          </a:p>
        </p:txBody>
      </p:sp>
      <p:sp>
        <p:nvSpPr>
          <p:cNvPr id="26" name="object 26">
            <a:extLst>
              <a:ext uri="{FF2B5EF4-FFF2-40B4-BE49-F238E27FC236}">
                <a16:creationId xmlns:a16="http://schemas.microsoft.com/office/drawing/2014/main" id="{13E23372-C653-4990-8956-6DE459E58BBE}"/>
              </a:ext>
            </a:extLst>
          </p:cNvPr>
          <p:cNvSpPr/>
          <p:nvPr/>
        </p:nvSpPr>
        <p:spPr>
          <a:xfrm>
            <a:off x="5675235" y="1869141"/>
            <a:ext cx="298637" cy="3593165"/>
          </a:xfrm>
          <a:custGeom>
            <a:avLst/>
            <a:gdLst/>
            <a:ahLst/>
            <a:cxnLst/>
            <a:rect l="l" t="t" r="r" b="b"/>
            <a:pathLst>
              <a:path w="338454" h="4072254">
                <a:moveTo>
                  <a:pt x="338327" y="0"/>
                </a:moveTo>
                <a:lnTo>
                  <a:pt x="278680" y="21306"/>
                </a:lnTo>
                <a:lnTo>
                  <a:pt x="228265" y="80142"/>
                </a:lnTo>
                <a:lnTo>
                  <a:pt x="207711" y="121251"/>
                </a:lnTo>
                <a:lnTo>
                  <a:pt x="190895" y="168881"/>
                </a:lnTo>
                <a:lnTo>
                  <a:pt x="178293" y="222081"/>
                </a:lnTo>
                <a:lnTo>
                  <a:pt x="170382" y="279897"/>
                </a:lnTo>
                <a:lnTo>
                  <a:pt x="167639" y="341375"/>
                </a:lnTo>
                <a:lnTo>
                  <a:pt x="167639" y="1697736"/>
                </a:lnTo>
                <a:lnTo>
                  <a:pt x="165001" y="1758307"/>
                </a:lnTo>
                <a:lnTo>
                  <a:pt x="157371" y="1815416"/>
                </a:lnTo>
                <a:lnTo>
                  <a:pt x="145175" y="1868085"/>
                </a:lnTo>
                <a:lnTo>
                  <a:pt x="128839" y="1915335"/>
                </a:lnTo>
                <a:lnTo>
                  <a:pt x="108791" y="1956188"/>
                </a:lnTo>
                <a:lnTo>
                  <a:pt x="85456" y="1989666"/>
                </a:lnTo>
                <a:lnTo>
                  <a:pt x="30634" y="2030582"/>
                </a:lnTo>
                <a:lnTo>
                  <a:pt x="0" y="2036064"/>
                </a:lnTo>
                <a:lnTo>
                  <a:pt x="30634" y="2041545"/>
                </a:lnTo>
                <a:lnTo>
                  <a:pt x="85456" y="2082461"/>
                </a:lnTo>
                <a:lnTo>
                  <a:pt x="108791" y="2115939"/>
                </a:lnTo>
                <a:lnTo>
                  <a:pt x="128839" y="2156792"/>
                </a:lnTo>
                <a:lnTo>
                  <a:pt x="145175" y="2204042"/>
                </a:lnTo>
                <a:lnTo>
                  <a:pt x="157371" y="2256711"/>
                </a:lnTo>
                <a:lnTo>
                  <a:pt x="165001" y="2313820"/>
                </a:lnTo>
                <a:lnTo>
                  <a:pt x="167639" y="2374391"/>
                </a:lnTo>
                <a:lnTo>
                  <a:pt x="167639" y="3733800"/>
                </a:lnTo>
                <a:lnTo>
                  <a:pt x="170382" y="3794371"/>
                </a:lnTo>
                <a:lnTo>
                  <a:pt x="178293" y="3851480"/>
                </a:lnTo>
                <a:lnTo>
                  <a:pt x="190895" y="3904149"/>
                </a:lnTo>
                <a:lnTo>
                  <a:pt x="207711" y="3951399"/>
                </a:lnTo>
                <a:lnTo>
                  <a:pt x="228265" y="3992252"/>
                </a:lnTo>
                <a:lnTo>
                  <a:pt x="252080" y="4025730"/>
                </a:lnTo>
                <a:lnTo>
                  <a:pt x="307588" y="4066646"/>
                </a:lnTo>
                <a:lnTo>
                  <a:pt x="338327" y="4072128"/>
                </a:lnTo>
              </a:path>
            </a:pathLst>
          </a:custGeom>
          <a:ln w="9144">
            <a:solidFill>
              <a:srgbClr val="000000"/>
            </a:solidFill>
          </a:ln>
        </p:spPr>
        <p:txBody>
          <a:bodyPr wrap="square" lIns="0" tIns="0" rIns="0" bIns="0" rtlCol="0"/>
          <a:lstStyle/>
          <a:p>
            <a:endParaRPr sz="1588" dirty="0"/>
          </a:p>
        </p:txBody>
      </p:sp>
      <p:sp>
        <p:nvSpPr>
          <p:cNvPr id="27" name="object 27">
            <a:extLst>
              <a:ext uri="{FF2B5EF4-FFF2-40B4-BE49-F238E27FC236}">
                <a16:creationId xmlns:a16="http://schemas.microsoft.com/office/drawing/2014/main" id="{0C3088F3-6996-4B1B-83CF-45929A9F5627}"/>
              </a:ext>
            </a:extLst>
          </p:cNvPr>
          <p:cNvSpPr txBox="1"/>
          <p:nvPr/>
        </p:nvSpPr>
        <p:spPr>
          <a:xfrm>
            <a:off x="7046388" y="2000474"/>
            <a:ext cx="2629460" cy="2788358"/>
          </a:xfrm>
          <a:prstGeom prst="rect">
            <a:avLst/>
          </a:prstGeom>
        </p:spPr>
        <p:txBody>
          <a:bodyPr vert="horz" wrap="square" lIns="0" tIns="11206" rIns="0" bIns="0" rtlCol="0">
            <a:spAutoFit/>
          </a:bodyPr>
          <a:lstStyle/>
          <a:p>
            <a:pPr marL="317704" marR="17930" indent="-306497" algn="just">
              <a:spcBef>
                <a:spcPts val="88"/>
              </a:spcBef>
              <a:buClr>
                <a:srgbClr val="FF3300"/>
              </a:buClr>
              <a:buFont typeface="Wingdings"/>
              <a:buChar char=""/>
              <a:tabLst>
                <a:tab pos="318264" algn="l"/>
              </a:tabLst>
            </a:pPr>
            <a:r>
              <a:rPr sz="1588" spc="-4" dirty="0">
                <a:solidFill>
                  <a:srgbClr val="333333"/>
                </a:solidFill>
                <a:latin typeface="Verdana"/>
                <a:cs typeface="Verdana"/>
              </a:rPr>
              <a:t>Each </a:t>
            </a:r>
            <a:r>
              <a:rPr sz="1588" dirty="0">
                <a:solidFill>
                  <a:srgbClr val="333333"/>
                </a:solidFill>
                <a:latin typeface="Verdana"/>
                <a:cs typeface="Verdana"/>
              </a:rPr>
              <a:t>memory location  can store </a:t>
            </a:r>
            <a:r>
              <a:rPr sz="1588" spc="-4" dirty="0">
                <a:solidFill>
                  <a:srgbClr val="333333"/>
                </a:solidFill>
                <a:latin typeface="Verdana"/>
                <a:cs typeface="Verdana"/>
              </a:rPr>
              <a:t>only </a:t>
            </a:r>
            <a:r>
              <a:rPr sz="1588" dirty="0">
                <a:solidFill>
                  <a:srgbClr val="333333"/>
                </a:solidFill>
                <a:latin typeface="Verdana"/>
                <a:cs typeface="Verdana"/>
              </a:rPr>
              <a:t>a</a:t>
            </a:r>
            <a:r>
              <a:rPr sz="1588" spc="-66" dirty="0">
                <a:solidFill>
                  <a:srgbClr val="333333"/>
                </a:solidFill>
                <a:latin typeface="Verdana"/>
                <a:cs typeface="Verdana"/>
              </a:rPr>
              <a:t> </a:t>
            </a:r>
            <a:r>
              <a:rPr sz="1588" spc="-4" dirty="0">
                <a:solidFill>
                  <a:srgbClr val="333333"/>
                </a:solidFill>
                <a:latin typeface="Verdana"/>
                <a:cs typeface="Verdana"/>
              </a:rPr>
              <a:t>single  </a:t>
            </a:r>
            <a:r>
              <a:rPr sz="1588" dirty="0">
                <a:solidFill>
                  <a:srgbClr val="333333"/>
                </a:solidFill>
                <a:latin typeface="Verdana"/>
                <a:cs typeface="Verdana"/>
              </a:rPr>
              <a:t>character</a:t>
            </a:r>
            <a:endParaRPr sz="1588" dirty="0">
              <a:latin typeface="Verdana"/>
              <a:cs typeface="Verdana"/>
            </a:endParaRPr>
          </a:p>
          <a:p>
            <a:pPr marL="317704" marR="108702" indent="-306497">
              <a:spcBef>
                <a:spcPts val="1332"/>
              </a:spcBef>
              <a:buClr>
                <a:srgbClr val="FF3300"/>
              </a:buClr>
              <a:buFont typeface="Wingdings"/>
              <a:buChar char=""/>
              <a:tabLst>
                <a:tab pos="317704" algn="l"/>
                <a:tab pos="318264" algn="l"/>
              </a:tabLst>
            </a:pPr>
            <a:r>
              <a:rPr sz="1588" spc="-4" dirty="0">
                <a:solidFill>
                  <a:srgbClr val="333333"/>
                </a:solidFill>
                <a:latin typeface="Verdana"/>
                <a:cs typeface="Verdana"/>
              </a:rPr>
              <a:t>Slower </a:t>
            </a:r>
            <a:r>
              <a:rPr sz="1588" dirty="0">
                <a:solidFill>
                  <a:srgbClr val="333333"/>
                </a:solidFill>
                <a:latin typeface="Verdana"/>
                <a:cs typeface="Verdana"/>
              </a:rPr>
              <a:t>in speed of  calculation </a:t>
            </a:r>
            <a:r>
              <a:rPr sz="1588" spc="-4" dirty="0">
                <a:solidFill>
                  <a:srgbClr val="333333"/>
                </a:solidFill>
                <a:latin typeface="Verdana"/>
                <a:cs typeface="Verdana"/>
              </a:rPr>
              <a:t>than fixed  world-length</a:t>
            </a:r>
            <a:r>
              <a:rPr sz="1588" spc="-13" dirty="0">
                <a:solidFill>
                  <a:srgbClr val="333333"/>
                </a:solidFill>
                <a:latin typeface="Verdana"/>
                <a:cs typeface="Verdana"/>
              </a:rPr>
              <a:t> </a:t>
            </a:r>
            <a:r>
              <a:rPr sz="1588" spc="-4" dirty="0">
                <a:solidFill>
                  <a:srgbClr val="333333"/>
                </a:solidFill>
                <a:latin typeface="Verdana"/>
                <a:cs typeface="Verdana"/>
              </a:rPr>
              <a:t>memory</a:t>
            </a:r>
            <a:endParaRPr sz="1588" dirty="0">
              <a:latin typeface="Verdana"/>
              <a:cs typeface="Verdana"/>
            </a:endParaRPr>
          </a:p>
          <a:p>
            <a:pPr marL="317704" marR="4483" indent="-306497">
              <a:lnSpc>
                <a:spcPct val="100400"/>
              </a:lnSpc>
              <a:spcBef>
                <a:spcPts val="1328"/>
              </a:spcBef>
              <a:buClr>
                <a:srgbClr val="FF3300"/>
              </a:buClr>
              <a:buFont typeface="Wingdings"/>
              <a:buChar char=""/>
              <a:tabLst>
                <a:tab pos="317704" algn="l"/>
                <a:tab pos="318264" algn="l"/>
              </a:tabLst>
            </a:pPr>
            <a:r>
              <a:rPr sz="1588" dirty="0">
                <a:solidFill>
                  <a:srgbClr val="333333"/>
                </a:solidFill>
                <a:latin typeface="Verdana"/>
                <a:cs typeface="Verdana"/>
              </a:rPr>
              <a:t>Used in small</a:t>
            </a:r>
            <a:r>
              <a:rPr sz="1588" spc="-71" dirty="0">
                <a:solidFill>
                  <a:srgbClr val="333333"/>
                </a:solidFill>
                <a:latin typeface="Verdana"/>
                <a:cs typeface="Verdana"/>
              </a:rPr>
              <a:t> </a:t>
            </a:r>
            <a:r>
              <a:rPr sz="1588" spc="-4" dirty="0">
                <a:solidFill>
                  <a:srgbClr val="333333"/>
                </a:solidFill>
                <a:latin typeface="Verdana"/>
                <a:cs typeface="Verdana"/>
              </a:rPr>
              <a:t>business  </a:t>
            </a:r>
            <a:r>
              <a:rPr sz="1588" dirty="0">
                <a:solidFill>
                  <a:srgbClr val="333333"/>
                </a:solidFill>
                <a:latin typeface="Verdana"/>
                <a:cs typeface="Verdana"/>
              </a:rPr>
              <a:t>computers </a:t>
            </a:r>
            <a:r>
              <a:rPr sz="1588" spc="-4" dirty="0">
                <a:solidFill>
                  <a:srgbClr val="333333"/>
                </a:solidFill>
                <a:latin typeface="Verdana"/>
                <a:cs typeface="Verdana"/>
              </a:rPr>
              <a:t>for  optimizing the use </a:t>
            </a:r>
            <a:r>
              <a:rPr sz="1588" dirty="0">
                <a:solidFill>
                  <a:srgbClr val="333333"/>
                </a:solidFill>
                <a:latin typeface="Verdana"/>
                <a:cs typeface="Verdana"/>
              </a:rPr>
              <a:t>of  </a:t>
            </a:r>
            <a:r>
              <a:rPr sz="1588" spc="-4" dirty="0">
                <a:solidFill>
                  <a:srgbClr val="333333"/>
                </a:solidFill>
                <a:latin typeface="Verdana"/>
                <a:cs typeface="Verdana"/>
              </a:rPr>
              <a:t>storage</a:t>
            </a:r>
            <a:r>
              <a:rPr sz="1588" spc="-9" dirty="0">
                <a:solidFill>
                  <a:srgbClr val="333333"/>
                </a:solidFill>
                <a:latin typeface="Verdana"/>
                <a:cs typeface="Verdana"/>
              </a:rPr>
              <a:t> </a:t>
            </a:r>
            <a:r>
              <a:rPr sz="1588" dirty="0">
                <a:solidFill>
                  <a:srgbClr val="333333"/>
                </a:solidFill>
                <a:latin typeface="Verdana"/>
                <a:cs typeface="Verdana"/>
              </a:rPr>
              <a:t>space</a:t>
            </a:r>
            <a:endParaRPr sz="1588" dirty="0">
              <a:latin typeface="Verdana"/>
              <a:cs typeface="Verdana"/>
            </a:endParaRPr>
          </a:p>
        </p:txBody>
      </p:sp>
      <p:sp>
        <p:nvSpPr>
          <p:cNvPr id="28" name="object 32">
            <a:extLst>
              <a:ext uri="{FF2B5EF4-FFF2-40B4-BE49-F238E27FC236}">
                <a16:creationId xmlns:a16="http://schemas.microsoft.com/office/drawing/2014/main" id="{0400F93D-FB83-463F-BD56-E5C8B5C11DFE}"/>
              </a:ext>
            </a:extLst>
          </p:cNvPr>
          <p:cNvSpPr txBox="1">
            <a:spLocks/>
          </p:cNvSpPr>
          <p:nvPr/>
        </p:nvSpPr>
        <p:spPr>
          <a:xfrm>
            <a:off x="673317" y="7508814"/>
            <a:ext cx="807719" cy="2406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FFFF00"/>
                </a:solidFill>
                <a:latin typeface="Verdana"/>
                <a:ea typeface="+mn-ea"/>
                <a:cs typeface="Verdan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spcBef>
                <a:spcPts val="88"/>
              </a:spcBef>
            </a:pPr>
            <a:r>
              <a:rPr lang="en-US" spc="-10"/>
              <a:t>Ref</a:t>
            </a:r>
            <a:r>
              <a:rPr lang="en-US" spc="-70"/>
              <a:t> </a:t>
            </a:r>
            <a:r>
              <a:rPr lang="en-US" spc="-5"/>
              <a:t>Page</a:t>
            </a:r>
            <a:endParaRPr lang="en-US" spc="-4" dirty="0"/>
          </a:p>
        </p:txBody>
      </p:sp>
      <p:sp>
        <p:nvSpPr>
          <p:cNvPr id="29" name="object 28">
            <a:extLst>
              <a:ext uri="{FF2B5EF4-FFF2-40B4-BE49-F238E27FC236}">
                <a16:creationId xmlns:a16="http://schemas.microsoft.com/office/drawing/2014/main" id="{F2F25147-D6FF-49C4-8FD2-6CC1DD592C25}"/>
              </a:ext>
            </a:extLst>
          </p:cNvPr>
          <p:cNvSpPr txBox="1"/>
          <p:nvPr/>
        </p:nvSpPr>
        <p:spPr>
          <a:xfrm>
            <a:off x="2501282" y="5582770"/>
            <a:ext cx="6821581" cy="676615"/>
          </a:xfrm>
          <a:prstGeom prst="rect">
            <a:avLst/>
          </a:prstGeom>
        </p:spPr>
        <p:txBody>
          <a:bodyPr vert="horz" wrap="square" lIns="0" tIns="11766" rIns="0" bIns="0" rtlCol="0">
            <a:spAutoFit/>
          </a:bodyPr>
          <a:lstStyle/>
          <a:p>
            <a:pPr marL="718334" marR="4483" indent="-707689">
              <a:spcBef>
                <a:spcPts val="93"/>
              </a:spcBef>
              <a:tabLst>
                <a:tab pos="688638" algn="l"/>
              </a:tabLst>
            </a:pPr>
            <a:r>
              <a:rPr sz="1412" b="1" spc="-4" dirty="0">
                <a:solidFill>
                  <a:srgbClr val="333333"/>
                </a:solidFill>
                <a:latin typeface="Verdana"/>
                <a:cs typeface="Verdana"/>
              </a:rPr>
              <a:t>Note:	</a:t>
            </a:r>
            <a:r>
              <a:rPr sz="1412" spc="-4" dirty="0">
                <a:solidFill>
                  <a:srgbClr val="333333"/>
                </a:solidFill>
                <a:latin typeface="Verdana"/>
                <a:cs typeface="Verdana"/>
              </a:rPr>
              <a:t>With memory becoming cheaper and </a:t>
            </a:r>
            <a:r>
              <a:rPr sz="1412" spc="-9" dirty="0">
                <a:solidFill>
                  <a:srgbClr val="333333"/>
                </a:solidFill>
                <a:latin typeface="Verdana"/>
                <a:cs typeface="Verdana"/>
              </a:rPr>
              <a:t>larger </a:t>
            </a:r>
            <a:r>
              <a:rPr sz="1412" spc="-4" dirty="0">
                <a:solidFill>
                  <a:srgbClr val="333333"/>
                </a:solidFill>
                <a:latin typeface="Verdana"/>
                <a:cs typeface="Verdana"/>
              </a:rPr>
              <a:t>day-by-day, </a:t>
            </a:r>
            <a:r>
              <a:rPr sz="1412" dirty="0">
                <a:solidFill>
                  <a:srgbClr val="333333"/>
                </a:solidFill>
                <a:latin typeface="Verdana"/>
                <a:cs typeface="Verdana"/>
              </a:rPr>
              <a:t>most  modern </a:t>
            </a:r>
            <a:r>
              <a:rPr sz="1412" spc="-4" dirty="0">
                <a:solidFill>
                  <a:srgbClr val="333333"/>
                </a:solidFill>
                <a:latin typeface="Verdana"/>
                <a:cs typeface="Verdana"/>
              </a:rPr>
              <a:t>computers employ fixed-word-length memory</a:t>
            </a:r>
            <a:r>
              <a:rPr sz="1412" spc="88" dirty="0">
                <a:solidFill>
                  <a:srgbClr val="333333"/>
                </a:solidFill>
                <a:latin typeface="Verdana"/>
                <a:cs typeface="Verdana"/>
              </a:rPr>
              <a:t> </a:t>
            </a:r>
            <a:r>
              <a:rPr sz="1412" spc="-4" dirty="0">
                <a:solidFill>
                  <a:srgbClr val="333333"/>
                </a:solidFill>
                <a:latin typeface="Verdana"/>
                <a:cs typeface="Verdana"/>
              </a:rPr>
              <a:t>organization</a:t>
            </a:r>
            <a:endParaRPr lang="en-US" sz="1412" spc="-4" dirty="0">
              <a:solidFill>
                <a:srgbClr val="333333"/>
              </a:solidFill>
              <a:latin typeface="Verdana"/>
              <a:cs typeface="Verdana"/>
            </a:endParaRPr>
          </a:p>
          <a:p>
            <a:pPr marL="718334" marR="4483" indent="-707689">
              <a:spcBef>
                <a:spcPts val="93"/>
              </a:spcBef>
              <a:buFont typeface="Arial" panose="020B0604020202020204" pitchFamily="34" charset="0"/>
              <a:buChar char="•"/>
              <a:tabLst>
                <a:tab pos="688638" algn="l"/>
              </a:tabLst>
            </a:pPr>
            <a:r>
              <a:rPr lang="en-US" sz="1412" spc="-4" dirty="0">
                <a:solidFill>
                  <a:srgbClr val="333333"/>
                </a:solidFill>
                <a:latin typeface="Verdana"/>
                <a:cs typeface="Verdana"/>
              </a:rPr>
              <a:t>Character addressable</a:t>
            </a:r>
            <a:endParaRPr sz="1412" dirty="0">
              <a:latin typeface="Verdana"/>
              <a:cs typeface="Verdana"/>
            </a:endParaRPr>
          </a:p>
        </p:txBody>
      </p:sp>
      <p:sp>
        <p:nvSpPr>
          <p:cNvPr id="31" name="object 30">
            <a:extLst>
              <a:ext uri="{FF2B5EF4-FFF2-40B4-BE49-F238E27FC236}">
                <a16:creationId xmlns:a16="http://schemas.microsoft.com/office/drawing/2014/main" id="{9ABC2F0F-E9D1-4CC4-BEC8-AA16481B4A81}"/>
              </a:ext>
            </a:extLst>
          </p:cNvPr>
          <p:cNvSpPr txBox="1"/>
          <p:nvPr/>
        </p:nvSpPr>
        <p:spPr>
          <a:xfrm>
            <a:off x="2307643" y="3415104"/>
            <a:ext cx="934571" cy="500039"/>
          </a:xfrm>
          <a:prstGeom prst="rect">
            <a:avLst/>
          </a:prstGeom>
        </p:spPr>
        <p:txBody>
          <a:bodyPr vert="horz" wrap="square" lIns="0" tIns="11206" rIns="0" bIns="0" rtlCol="0">
            <a:spAutoFit/>
          </a:bodyPr>
          <a:lstStyle/>
          <a:p>
            <a:pPr marL="11206" marR="4483">
              <a:spcBef>
                <a:spcPts val="88"/>
              </a:spcBef>
            </a:pPr>
            <a:r>
              <a:rPr sz="1588" spc="-4" dirty="0">
                <a:solidFill>
                  <a:srgbClr val="333333"/>
                </a:solidFill>
                <a:latin typeface="Verdana"/>
                <a:cs typeface="Verdana"/>
              </a:rPr>
              <a:t>Address  </a:t>
            </a:r>
            <a:r>
              <a:rPr sz="1588" dirty="0">
                <a:solidFill>
                  <a:srgbClr val="333333"/>
                </a:solidFill>
                <a:latin typeface="Verdana"/>
                <a:cs typeface="Verdana"/>
              </a:rPr>
              <a:t>N</a:t>
            </a:r>
            <a:r>
              <a:rPr sz="1588" spc="-13" dirty="0">
                <a:solidFill>
                  <a:srgbClr val="333333"/>
                </a:solidFill>
                <a:latin typeface="Verdana"/>
                <a:cs typeface="Verdana"/>
              </a:rPr>
              <a:t>u</a:t>
            </a:r>
            <a:r>
              <a:rPr sz="1588" dirty="0">
                <a:solidFill>
                  <a:srgbClr val="333333"/>
                </a:solidFill>
                <a:latin typeface="Verdana"/>
                <a:cs typeface="Verdana"/>
              </a:rPr>
              <a:t>mbers</a:t>
            </a:r>
            <a:endParaRPr sz="1588" dirty="0">
              <a:latin typeface="Verdana"/>
              <a:cs typeface="Verdana"/>
            </a:endParaRPr>
          </a:p>
        </p:txBody>
      </p:sp>
      <p:sp>
        <p:nvSpPr>
          <p:cNvPr id="32" name="object 31">
            <a:extLst>
              <a:ext uri="{FF2B5EF4-FFF2-40B4-BE49-F238E27FC236}">
                <a16:creationId xmlns:a16="http://schemas.microsoft.com/office/drawing/2014/main" id="{1E46C838-FA12-4417-B1D4-C92F786BC46A}"/>
              </a:ext>
            </a:extLst>
          </p:cNvPr>
          <p:cNvSpPr txBox="1"/>
          <p:nvPr/>
        </p:nvSpPr>
        <p:spPr>
          <a:xfrm>
            <a:off x="4633985" y="3450066"/>
            <a:ext cx="934571" cy="500039"/>
          </a:xfrm>
          <a:prstGeom prst="rect">
            <a:avLst/>
          </a:prstGeom>
        </p:spPr>
        <p:txBody>
          <a:bodyPr vert="horz" wrap="square" lIns="0" tIns="11206" rIns="0" bIns="0" rtlCol="0">
            <a:spAutoFit/>
          </a:bodyPr>
          <a:lstStyle/>
          <a:p>
            <a:pPr marL="11206" marR="4483">
              <a:spcBef>
                <a:spcPts val="88"/>
              </a:spcBef>
            </a:pPr>
            <a:r>
              <a:rPr sz="1588" spc="-4" dirty="0">
                <a:solidFill>
                  <a:srgbClr val="333333"/>
                </a:solidFill>
                <a:latin typeface="Verdana"/>
                <a:cs typeface="Verdana"/>
              </a:rPr>
              <a:t>Address  </a:t>
            </a:r>
            <a:r>
              <a:rPr sz="1588" dirty="0">
                <a:solidFill>
                  <a:srgbClr val="333333"/>
                </a:solidFill>
                <a:latin typeface="Verdana"/>
                <a:cs typeface="Verdana"/>
              </a:rPr>
              <a:t>N</a:t>
            </a:r>
            <a:r>
              <a:rPr sz="1588" spc="-13" dirty="0">
                <a:solidFill>
                  <a:srgbClr val="333333"/>
                </a:solidFill>
                <a:latin typeface="Verdana"/>
                <a:cs typeface="Verdana"/>
              </a:rPr>
              <a:t>u</a:t>
            </a:r>
            <a:r>
              <a:rPr sz="1588" dirty="0">
                <a:solidFill>
                  <a:srgbClr val="333333"/>
                </a:solidFill>
                <a:latin typeface="Verdana"/>
                <a:cs typeface="Verdana"/>
              </a:rPr>
              <a:t>mbers</a:t>
            </a:r>
            <a:endParaRPr sz="1588" dirty="0">
              <a:latin typeface="Verdana"/>
              <a:cs typeface="Verdana"/>
            </a:endParaRPr>
          </a:p>
        </p:txBody>
      </p:sp>
    </p:spTree>
    <p:extLst>
      <p:ext uri="{BB962C8B-B14F-4D97-AF65-F5344CB8AC3E}">
        <p14:creationId xmlns:p14="http://schemas.microsoft.com/office/powerpoint/2010/main" val="12684052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A8B5-AB0A-4EE9-834F-5F6F36CB72D3}"/>
              </a:ext>
            </a:extLst>
          </p:cNvPr>
          <p:cNvSpPr>
            <a:spLocks noGrp="1"/>
          </p:cNvSpPr>
          <p:nvPr>
            <p:ph type="title"/>
          </p:nvPr>
        </p:nvSpPr>
        <p:spPr/>
        <p:txBody>
          <a:bodyPr/>
          <a:lstStyle/>
          <a:p>
            <a:r>
              <a:rPr lang="en-US" spc="-9" dirty="0"/>
              <a:t>Memory</a:t>
            </a:r>
            <a:r>
              <a:rPr lang="en-US" spc="-13" dirty="0"/>
              <a:t> </a:t>
            </a:r>
            <a:r>
              <a:rPr lang="en-US" spc="-4" dirty="0"/>
              <a:t>Capacity</a:t>
            </a:r>
            <a:endParaRPr lang="LID4096" dirty="0"/>
          </a:p>
        </p:txBody>
      </p:sp>
      <p:sp>
        <p:nvSpPr>
          <p:cNvPr id="3" name="Content Placeholder 2">
            <a:extLst>
              <a:ext uri="{FF2B5EF4-FFF2-40B4-BE49-F238E27FC236}">
                <a16:creationId xmlns:a16="http://schemas.microsoft.com/office/drawing/2014/main" id="{86045C7C-490E-4E73-9B88-5DA129492F53}"/>
              </a:ext>
            </a:extLst>
          </p:cNvPr>
          <p:cNvSpPr>
            <a:spLocks noGrp="1"/>
          </p:cNvSpPr>
          <p:nvPr>
            <p:ph idx="1"/>
          </p:nvPr>
        </p:nvSpPr>
        <p:spPr/>
        <p:txBody>
          <a:bodyPr>
            <a:normAutofit/>
          </a:bodyPr>
          <a:lstStyle/>
          <a:p>
            <a:pPr marL="317704" marR="4483" indent="-306497">
              <a:spcBef>
                <a:spcPts val="79"/>
              </a:spcBef>
              <a:buClr>
                <a:srgbClr val="FF3300"/>
              </a:buClr>
              <a:buFont typeface="Wingdings"/>
              <a:buChar char=""/>
              <a:tabLst>
                <a:tab pos="317704" algn="l"/>
                <a:tab pos="318264" algn="l"/>
              </a:tabLst>
            </a:pPr>
            <a:r>
              <a:rPr lang="en-US" spc="-9" dirty="0">
                <a:solidFill>
                  <a:srgbClr val="333333"/>
                </a:solidFill>
                <a:latin typeface="Verdana"/>
                <a:cs typeface="Verdana"/>
              </a:rPr>
              <a:t>Memory </a:t>
            </a:r>
            <a:r>
              <a:rPr lang="en-US" spc="-4" dirty="0">
                <a:solidFill>
                  <a:srgbClr val="333333"/>
                </a:solidFill>
                <a:latin typeface="Verdana"/>
                <a:cs typeface="Verdana"/>
              </a:rPr>
              <a:t>capacity </a:t>
            </a:r>
            <a:r>
              <a:rPr lang="en-US" spc="-9" dirty="0">
                <a:solidFill>
                  <a:srgbClr val="333333"/>
                </a:solidFill>
                <a:latin typeface="Verdana"/>
                <a:cs typeface="Verdana"/>
              </a:rPr>
              <a:t>of </a:t>
            </a:r>
            <a:r>
              <a:rPr lang="en-US" spc="-4" dirty="0">
                <a:solidFill>
                  <a:srgbClr val="333333"/>
                </a:solidFill>
                <a:latin typeface="Verdana"/>
                <a:cs typeface="Verdana"/>
              </a:rPr>
              <a:t>a </a:t>
            </a:r>
            <a:r>
              <a:rPr lang="en-US" spc="-9" dirty="0">
                <a:solidFill>
                  <a:srgbClr val="333333"/>
                </a:solidFill>
                <a:latin typeface="Verdana"/>
                <a:cs typeface="Verdana"/>
              </a:rPr>
              <a:t>computer </a:t>
            </a:r>
            <a:r>
              <a:rPr lang="en-US" dirty="0">
                <a:solidFill>
                  <a:srgbClr val="333333"/>
                </a:solidFill>
                <a:latin typeface="Verdana"/>
                <a:cs typeface="Verdana"/>
              </a:rPr>
              <a:t>is </a:t>
            </a:r>
            <a:r>
              <a:rPr lang="en-US" spc="-9" dirty="0">
                <a:solidFill>
                  <a:srgbClr val="333333"/>
                </a:solidFill>
                <a:latin typeface="Verdana"/>
                <a:cs typeface="Verdana"/>
              </a:rPr>
              <a:t>equal </a:t>
            </a:r>
            <a:r>
              <a:rPr lang="en-US" spc="-4" dirty="0">
                <a:solidFill>
                  <a:srgbClr val="333333"/>
                </a:solidFill>
                <a:latin typeface="Verdana"/>
                <a:cs typeface="Verdana"/>
              </a:rPr>
              <a:t>to the </a:t>
            </a:r>
            <a:r>
              <a:rPr lang="en-US" spc="-9" dirty="0">
                <a:solidFill>
                  <a:srgbClr val="333333"/>
                </a:solidFill>
                <a:latin typeface="Verdana"/>
                <a:cs typeface="Verdana"/>
              </a:rPr>
              <a:t>number  </a:t>
            </a:r>
            <a:r>
              <a:rPr lang="en-US" spc="-13" dirty="0">
                <a:solidFill>
                  <a:srgbClr val="333333"/>
                </a:solidFill>
                <a:latin typeface="Verdana"/>
                <a:cs typeface="Verdana"/>
              </a:rPr>
              <a:t>of </a:t>
            </a:r>
            <a:r>
              <a:rPr lang="en-US" spc="-4" dirty="0">
                <a:solidFill>
                  <a:srgbClr val="333333"/>
                </a:solidFill>
                <a:latin typeface="Verdana"/>
                <a:cs typeface="Verdana"/>
              </a:rPr>
              <a:t>bytes that </a:t>
            </a:r>
            <a:r>
              <a:rPr lang="en-US" spc="-9" dirty="0">
                <a:solidFill>
                  <a:srgbClr val="333333"/>
                </a:solidFill>
                <a:latin typeface="Verdana"/>
                <a:cs typeface="Verdana"/>
              </a:rPr>
              <a:t>can </a:t>
            </a:r>
            <a:r>
              <a:rPr lang="en-US" spc="-4" dirty="0">
                <a:solidFill>
                  <a:srgbClr val="333333"/>
                </a:solidFill>
                <a:latin typeface="Verdana"/>
                <a:cs typeface="Verdana"/>
              </a:rPr>
              <a:t>be </a:t>
            </a:r>
            <a:r>
              <a:rPr lang="en-US" spc="-9" dirty="0">
                <a:solidFill>
                  <a:srgbClr val="333333"/>
                </a:solidFill>
                <a:latin typeface="Verdana"/>
                <a:cs typeface="Verdana"/>
              </a:rPr>
              <a:t>stored </a:t>
            </a:r>
            <a:r>
              <a:rPr lang="en-US" dirty="0">
                <a:solidFill>
                  <a:srgbClr val="333333"/>
                </a:solidFill>
                <a:latin typeface="Verdana"/>
                <a:cs typeface="Verdana"/>
              </a:rPr>
              <a:t>in its </a:t>
            </a:r>
            <a:r>
              <a:rPr lang="en-US" spc="-9" dirty="0">
                <a:solidFill>
                  <a:srgbClr val="333333"/>
                </a:solidFill>
                <a:latin typeface="Verdana"/>
                <a:cs typeface="Verdana"/>
              </a:rPr>
              <a:t>primary</a:t>
            </a:r>
            <a:r>
              <a:rPr lang="en-US" spc="4" dirty="0">
                <a:solidFill>
                  <a:srgbClr val="333333"/>
                </a:solidFill>
                <a:latin typeface="Verdana"/>
                <a:cs typeface="Verdana"/>
              </a:rPr>
              <a:t> </a:t>
            </a:r>
            <a:r>
              <a:rPr lang="en-US" spc="-4" dirty="0">
                <a:solidFill>
                  <a:srgbClr val="333333"/>
                </a:solidFill>
                <a:latin typeface="Verdana"/>
                <a:cs typeface="Verdana"/>
              </a:rPr>
              <a:t>storage</a:t>
            </a:r>
            <a:endParaRPr lang="en-US" dirty="0">
              <a:latin typeface="Verdana"/>
              <a:cs typeface="Verdana"/>
            </a:endParaRPr>
          </a:p>
          <a:p>
            <a:pPr marL="317704" indent="-306497">
              <a:spcBef>
                <a:spcPts val="1460"/>
              </a:spcBef>
              <a:buClr>
                <a:srgbClr val="FF3300"/>
              </a:buClr>
              <a:buFont typeface="Wingdings"/>
              <a:buChar char=""/>
              <a:tabLst>
                <a:tab pos="317704" algn="l"/>
                <a:tab pos="318264" algn="l"/>
              </a:tabLst>
            </a:pPr>
            <a:r>
              <a:rPr lang="en-US" spc="-13" dirty="0">
                <a:solidFill>
                  <a:srgbClr val="333333"/>
                </a:solidFill>
                <a:latin typeface="Verdana"/>
                <a:cs typeface="Verdana"/>
              </a:rPr>
              <a:t>Its </a:t>
            </a:r>
            <a:r>
              <a:rPr lang="en-US" dirty="0">
                <a:solidFill>
                  <a:srgbClr val="333333"/>
                </a:solidFill>
                <a:latin typeface="Verdana"/>
                <a:cs typeface="Verdana"/>
              </a:rPr>
              <a:t>units</a:t>
            </a:r>
            <a:r>
              <a:rPr lang="en-US" spc="-18" dirty="0">
                <a:solidFill>
                  <a:srgbClr val="333333"/>
                </a:solidFill>
                <a:latin typeface="Verdana"/>
                <a:cs typeface="Verdana"/>
              </a:rPr>
              <a:t> are:</a:t>
            </a:r>
            <a:endParaRPr lang="en-US" dirty="0">
              <a:latin typeface="Verdana"/>
              <a:cs typeface="Verdana"/>
            </a:endParaRPr>
          </a:p>
          <a:p>
            <a:pPr marL="1100476">
              <a:spcBef>
                <a:spcPts val="1482"/>
              </a:spcBef>
              <a:tabLst>
                <a:tab pos="3181519" algn="l"/>
                <a:tab pos="3434226" algn="l"/>
              </a:tabLst>
            </a:pPr>
            <a:r>
              <a:rPr lang="en-US" spc="-4" dirty="0">
                <a:solidFill>
                  <a:srgbClr val="333333"/>
                </a:solidFill>
                <a:latin typeface="Verdana"/>
                <a:cs typeface="Verdana"/>
              </a:rPr>
              <a:t>Kilobytes</a:t>
            </a:r>
            <a:r>
              <a:rPr lang="en-US" dirty="0">
                <a:solidFill>
                  <a:srgbClr val="333333"/>
                </a:solidFill>
                <a:latin typeface="Verdana"/>
                <a:cs typeface="Verdana"/>
              </a:rPr>
              <a:t> </a:t>
            </a:r>
            <a:r>
              <a:rPr lang="en-US" spc="-4" dirty="0">
                <a:solidFill>
                  <a:srgbClr val="333333"/>
                </a:solidFill>
                <a:latin typeface="Verdana"/>
                <a:cs typeface="Verdana"/>
              </a:rPr>
              <a:t>(KB)	:	</a:t>
            </a:r>
            <a:r>
              <a:rPr lang="en-US" spc="-9" dirty="0">
                <a:solidFill>
                  <a:srgbClr val="333333"/>
                </a:solidFill>
                <a:latin typeface="Verdana"/>
                <a:cs typeface="Verdana"/>
              </a:rPr>
              <a:t>1024 </a:t>
            </a:r>
            <a:r>
              <a:rPr lang="en-US" spc="-4" dirty="0">
                <a:solidFill>
                  <a:srgbClr val="333333"/>
                </a:solidFill>
                <a:latin typeface="Verdana"/>
                <a:cs typeface="Verdana"/>
              </a:rPr>
              <a:t>(2</a:t>
            </a:r>
            <a:r>
              <a:rPr lang="en-US" spc="-6" baseline="25641" dirty="0">
                <a:solidFill>
                  <a:srgbClr val="333333"/>
                </a:solidFill>
                <a:latin typeface="Verdana"/>
                <a:cs typeface="Verdana"/>
              </a:rPr>
              <a:t>10</a:t>
            </a:r>
            <a:r>
              <a:rPr lang="en-US" spc="-4" dirty="0">
                <a:solidFill>
                  <a:srgbClr val="333333"/>
                </a:solidFill>
                <a:latin typeface="Verdana"/>
                <a:cs typeface="Verdana"/>
              </a:rPr>
              <a:t>)</a:t>
            </a:r>
            <a:r>
              <a:rPr lang="en-US" dirty="0">
                <a:solidFill>
                  <a:srgbClr val="333333"/>
                </a:solidFill>
                <a:latin typeface="Verdana"/>
                <a:cs typeface="Verdana"/>
              </a:rPr>
              <a:t> </a:t>
            </a:r>
            <a:r>
              <a:rPr lang="en-US" spc="-9" dirty="0">
                <a:solidFill>
                  <a:srgbClr val="333333"/>
                </a:solidFill>
                <a:latin typeface="Verdana"/>
                <a:cs typeface="Verdana"/>
              </a:rPr>
              <a:t>bytes</a:t>
            </a:r>
            <a:endParaRPr lang="en-US" dirty="0">
              <a:latin typeface="Verdana"/>
              <a:cs typeface="Verdana"/>
            </a:endParaRPr>
          </a:p>
          <a:p>
            <a:pPr>
              <a:spcBef>
                <a:spcPts val="40"/>
              </a:spcBef>
            </a:pPr>
            <a:endParaRPr lang="en-US" sz="3200" dirty="0">
              <a:latin typeface="Times New Roman"/>
              <a:cs typeface="Times New Roman"/>
            </a:endParaRPr>
          </a:p>
          <a:p>
            <a:pPr marL="1067978">
              <a:tabLst>
                <a:tab pos="3181519" algn="l"/>
                <a:tab pos="3434226" algn="l"/>
              </a:tabLst>
            </a:pPr>
            <a:r>
              <a:rPr lang="en-US" spc="-9" dirty="0">
                <a:solidFill>
                  <a:srgbClr val="333333"/>
                </a:solidFill>
                <a:latin typeface="Verdana"/>
                <a:cs typeface="Verdana"/>
              </a:rPr>
              <a:t>Megabytes</a:t>
            </a:r>
            <a:r>
              <a:rPr lang="en-US" spc="4" dirty="0">
                <a:solidFill>
                  <a:srgbClr val="333333"/>
                </a:solidFill>
                <a:latin typeface="Verdana"/>
                <a:cs typeface="Verdana"/>
              </a:rPr>
              <a:t> </a:t>
            </a:r>
            <a:r>
              <a:rPr lang="en-US" spc="-4" dirty="0">
                <a:solidFill>
                  <a:srgbClr val="333333"/>
                </a:solidFill>
                <a:latin typeface="Verdana"/>
                <a:cs typeface="Verdana"/>
              </a:rPr>
              <a:t>(MB)	:	</a:t>
            </a:r>
            <a:r>
              <a:rPr lang="en-US" spc="-9" dirty="0">
                <a:solidFill>
                  <a:srgbClr val="333333"/>
                </a:solidFill>
                <a:latin typeface="Verdana"/>
                <a:cs typeface="Verdana"/>
              </a:rPr>
              <a:t>1,048,576 </a:t>
            </a:r>
            <a:r>
              <a:rPr lang="en-US" spc="-4" dirty="0">
                <a:solidFill>
                  <a:srgbClr val="333333"/>
                </a:solidFill>
                <a:latin typeface="Verdana"/>
                <a:cs typeface="Verdana"/>
              </a:rPr>
              <a:t>(2</a:t>
            </a:r>
            <a:r>
              <a:rPr lang="en-US" spc="-6" baseline="25641" dirty="0">
                <a:solidFill>
                  <a:srgbClr val="333333"/>
                </a:solidFill>
                <a:latin typeface="Verdana"/>
                <a:cs typeface="Verdana"/>
              </a:rPr>
              <a:t>20</a:t>
            </a:r>
            <a:r>
              <a:rPr lang="en-US" spc="-4" dirty="0">
                <a:solidFill>
                  <a:srgbClr val="333333"/>
                </a:solidFill>
                <a:latin typeface="Verdana"/>
                <a:cs typeface="Verdana"/>
              </a:rPr>
              <a:t>)</a:t>
            </a:r>
            <a:r>
              <a:rPr lang="en-US" spc="22" dirty="0">
                <a:solidFill>
                  <a:srgbClr val="333333"/>
                </a:solidFill>
                <a:latin typeface="Verdana"/>
                <a:cs typeface="Verdana"/>
              </a:rPr>
              <a:t> </a:t>
            </a:r>
            <a:r>
              <a:rPr lang="en-US" spc="-4" dirty="0">
                <a:solidFill>
                  <a:srgbClr val="333333"/>
                </a:solidFill>
                <a:latin typeface="Verdana"/>
                <a:cs typeface="Verdana"/>
              </a:rPr>
              <a:t>bytes</a:t>
            </a:r>
            <a:endParaRPr lang="en-US" dirty="0">
              <a:latin typeface="Verdana"/>
              <a:cs typeface="Verdana"/>
            </a:endParaRPr>
          </a:p>
          <a:p>
            <a:pPr>
              <a:spcBef>
                <a:spcPts val="35"/>
              </a:spcBef>
            </a:pPr>
            <a:endParaRPr lang="en-US" sz="3200" dirty="0">
              <a:latin typeface="Times New Roman"/>
              <a:cs typeface="Times New Roman"/>
            </a:endParaRPr>
          </a:p>
          <a:p>
            <a:pPr marL="1067978">
              <a:tabLst>
                <a:tab pos="3181519" algn="l"/>
                <a:tab pos="3434226" algn="l"/>
              </a:tabLst>
            </a:pPr>
            <a:r>
              <a:rPr lang="en-US" spc="-4" dirty="0">
                <a:solidFill>
                  <a:srgbClr val="333333"/>
                </a:solidFill>
                <a:latin typeface="Verdana"/>
                <a:cs typeface="Verdana"/>
              </a:rPr>
              <a:t>Gigabytes</a:t>
            </a:r>
            <a:r>
              <a:rPr lang="en-US" dirty="0">
                <a:solidFill>
                  <a:srgbClr val="333333"/>
                </a:solidFill>
                <a:latin typeface="Verdana"/>
                <a:cs typeface="Verdana"/>
              </a:rPr>
              <a:t> </a:t>
            </a:r>
            <a:r>
              <a:rPr lang="en-US" spc="-4" dirty="0">
                <a:solidFill>
                  <a:srgbClr val="333333"/>
                </a:solidFill>
                <a:latin typeface="Verdana"/>
                <a:cs typeface="Verdana"/>
              </a:rPr>
              <a:t>(GB)	:	1,073,741824 (2</a:t>
            </a:r>
            <a:r>
              <a:rPr lang="en-US" spc="-6" baseline="25641" dirty="0">
                <a:solidFill>
                  <a:srgbClr val="333333"/>
                </a:solidFill>
                <a:latin typeface="Verdana"/>
                <a:cs typeface="Verdana"/>
              </a:rPr>
              <a:t>30</a:t>
            </a:r>
            <a:r>
              <a:rPr lang="en-US" spc="-4" dirty="0">
                <a:solidFill>
                  <a:srgbClr val="333333"/>
                </a:solidFill>
                <a:latin typeface="Verdana"/>
                <a:cs typeface="Verdana"/>
              </a:rPr>
              <a:t>)</a:t>
            </a:r>
            <a:r>
              <a:rPr lang="en-US" dirty="0">
                <a:solidFill>
                  <a:srgbClr val="333333"/>
                </a:solidFill>
                <a:latin typeface="Verdana"/>
                <a:cs typeface="Verdana"/>
              </a:rPr>
              <a:t> </a:t>
            </a:r>
            <a:r>
              <a:rPr lang="en-US" spc="-9" dirty="0">
                <a:solidFill>
                  <a:srgbClr val="333333"/>
                </a:solidFill>
                <a:latin typeface="Verdana"/>
                <a:cs typeface="Verdana"/>
              </a:rPr>
              <a:t>bytes</a:t>
            </a:r>
            <a:endParaRPr lang="en-US" dirty="0">
              <a:latin typeface="Verdana"/>
              <a:cs typeface="Verdana"/>
            </a:endParaRPr>
          </a:p>
          <a:p>
            <a:endParaRPr lang="LID4096" dirty="0"/>
          </a:p>
        </p:txBody>
      </p:sp>
    </p:spTree>
    <p:extLst>
      <p:ext uri="{BB962C8B-B14F-4D97-AF65-F5344CB8AC3E}">
        <p14:creationId xmlns:p14="http://schemas.microsoft.com/office/powerpoint/2010/main" val="28872609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83F7-95E8-4AD3-938F-C3D577A67D12}"/>
              </a:ext>
            </a:extLst>
          </p:cNvPr>
          <p:cNvSpPr>
            <a:spLocks noGrp="1"/>
          </p:cNvSpPr>
          <p:nvPr>
            <p:ph type="title"/>
          </p:nvPr>
        </p:nvSpPr>
        <p:spPr/>
        <p:txBody>
          <a:bodyPr/>
          <a:lstStyle/>
          <a:p>
            <a:r>
              <a:rPr lang="en-US" dirty="0"/>
              <a:t>Control unit-CU</a:t>
            </a:r>
            <a:endParaRPr lang="LID4096" dirty="0"/>
          </a:p>
        </p:txBody>
      </p:sp>
      <p:sp>
        <p:nvSpPr>
          <p:cNvPr id="3" name="Content Placeholder 2">
            <a:extLst>
              <a:ext uri="{FF2B5EF4-FFF2-40B4-BE49-F238E27FC236}">
                <a16:creationId xmlns:a16="http://schemas.microsoft.com/office/drawing/2014/main" id="{5388E02D-43AE-4A11-820C-D4C137A938F0}"/>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a:t>
            </a:r>
            <a:r>
              <a:rPr lang="en-US" b="1" dirty="0">
                <a:solidFill>
                  <a:srgbClr val="000000"/>
                </a:solidFill>
              </a:rPr>
              <a:t>control unit </a:t>
            </a:r>
            <a:r>
              <a:rPr lang="en-US" dirty="0">
                <a:solidFill>
                  <a:srgbClr val="000000"/>
                </a:solidFill>
              </a:rPr>
              <a:t>of a computer is where the Fetch/Execute Cycle occurs</a:t>
            </a:r>
          </a:p>
          <a:p>
            <a:pPr>
              <a:spcBef>
                <a:spcPts val="800"/>
              </a:spcBef>
              <a:buFont typeface="Arial" charset="0"/>
              <a:buChar char="•"/>
            </a:pPr>
            <a:r>
              <a:rPr lang="en-US" dirty="0">
                <a:solidFill>
                  <a:srgbClr val="000000"/>
                </a:solidFill>
              </a:rPr>
              <a:t>Its circuitry </a:t>
            </a:r>
            <a:r>
              <a:rPr lang="en-US" i="1" dirty="0">
                <a:solidFill>
                  <a:srgbClr val="000000"/>
                </a:solidFill>
              </a:rPr>
              <a:t>fetches</a:t>
            </a:r>
            <a:r>
              <a:rPr lang="en-US" dirty="0">
                <a:solidFill>
                  <a:srgbClr val="000000"/>
                </a:solidFill>
              </a:rPr>
              <a:t> an instruction from memory and performs the other operations of the Fetch/Execute Cycle on it</a:t>
            </a:r>
          </a:p>
          <a:p>
            <a:pPr>
              <a:spcBef>
                <a:spcPts val="800"/>
              </a:spcBef>
              <a:buFont typeface="Arial" charset="0"/>
              <a:buChar char="•"/>
            </a:pPr>
            <a:r>
              <a:rPr lang="en-US" dirty="0">
                <a:solidFill>
                  <a:srgbClr val="000000"/>
                </a:solidFill>
              </a:rPr>
              <a:t>A typical machine instruction has the form</a:t>
            </a:r>
            <a:br>
              <a:rPr lang="en-US" dirty="0">
                <a:solidFill>
                  <a:srgbClr val="000000"/>
                </a:solidFill>
              </a:rPr>
            </a:br>
            <a:r>
              <a:rPr lang="en-US" dirty="0">
                <a:solidFill>
                  <a:srgbClr val="000000"/>
                </a:solidFill>
              </a:rPr>
              <a:t>ADD 4000, 2000, 2080</a:t>
            </a:r>
          </a:p>
          <a:p>
            <a:endParaRPr lang="LID4096" dirty="0"/>
          </a:p>
        </p:txBody>
      </p:sp>
    </p:spTree>
    <p:extLst>
      <p:ext uri="{BB962C8B-B14F-4D97-AF65-F5344CB8AC3E}">
        <p14:creationId xmlns:p14="http://schemas.microsoft.com/office/powerpoint/2010/main" val="1615739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1669-BC2F-4BD3-BC1E-D02D430E2B75}"/>
              </a:ext>
            </a:extLst>
          </p:cNvPr>
          <p:cNvSpPr>
            <a:spLocks noGrp="1"/>
          </p:cNvSpPr>
          <p:nvPr>
            <p:ph type="title"/>
          </p:nvPr>
        </p:nvSpPr>
        <p:spPr/>
        <p:txBody>
          <a:bodyPr/>
          <a:lstStyle/>
          <a:p>
            <a:r>
              <a:rPr lang="en-US" dirty="0"/>
              <a:t>Task</a:t>
            </a:r>
            <a:endParaRPr lang="LID4096" dirty="0"/>
          </a:p>
        </p:txBody>
      </p:sp>
      <p:sp>
        <p:nvSpPr>
          <p:cNvPr id="3" name="Content Placeholder 2">
            <a:extLst>
              <a:ext uri="{FF2B5EF4-FFF2-40B4-BE49-F238E27FC236}">
                <a16:creationId xmlns:a16="http://schemas.microsoft.com/office/drawing/2014/main" id="{693D63EE-97BF-4E81-9F36-0335E756C7AD}"/>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ADD 4000, 2000, 2080</a:t>
            </a:r>
          </a:p>
          <a:p>
            <a:pPr lvl="1">
              <a:spcBef>
                <a:spcPts val="700"/>
              </a:spcBef>
              <a:buFont typeface="Arial" charset="0"/>
              <a:buChar char="–"/>
            </a:pPr>
            <a:r>
              <a:rPr lang="en-US" sz="2800" dirty="0">
                <a:solidFill>
                  <a:srgbClr val="000000"/>
                </a:solidFill>
              </a:rPr>
              <a:t>Looks like those three numbers should be added together</a:t>
            </a:r>
          </a:p>
          <a:p>
            <a:pPr lvl="1">
              <a:spcBef>
                <a:spcPts val="700"/>
              </a:spcBef>
              <a:buFont typeface="Arial" charset="0"/>
              <a:buChar char="–"/>
            </a:pPr>
            <a:r>
              <a:rPr lang="en-US" sz="2800" dirty="0">
                <a:solidFill>
                  <a:srgbClr val="000000"/>
                </a:solidFill>
              </a:rPr>
              <a:t>What it really means is that whatever numbers are stored in memory locations 2000 and 2080 be added together, and the result be stored in location 4000</a:t>
            </a:r>
          </a:p>
          <a:p>
            <a:endParaRPr lang="LID4096" dirty="0"/>
          </a:p>
        </p:txBody>
      </p:sp>
    </p:spTree>
    <p:extLst>
      <p:ext uri="{BB962C8B-B14F-4D97-AF65-F5344CB8AC3E}">
        <p14:creationId xmlns:p14="http://schemas.microsoft.com/office/powerpoint/2010/main" val="666830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8FA2-73C3-4E30-AACC-30AFD4D74487}"/>
              </a:ext>
            </a:extLst>
          </p:cNvPr>
          <p:cNvSpPr>
            <a:spLocks noGrp="1"/>
          </p:cNvSpPr>
          <p:nvPr>
            <p:ph type="title"/>
          </p:nvPr>
        </p:nvSpPr>
        <p:spPr/>
        <p:txBody>
          <a:bodyPr/>
          <a:lstStyle/>
          <a:p>
            <a:r>
              <a:rPr lang="en-US" dirty="0"/>
              <a:t>task</a:t>
            </a:r>
            <a:endParaRPr lang="LID4096" dirty="0"/>
          </a:p>
        </p:txBody>
      </p:sp>
      <p:pic>
        <p:nvPicPr>
          <p:cNvPr id="4" name="Picture 2">
            <a:extLst>
              <a:ext uri="{FF2B5EF4-FFF2-40B4-BE49-F238E27FC236}">
                <a16:creationId xmlns:a16="http://schemas.microsoft.com/office/drawing/2014/main" id="{846B847A-E52C-4CAA-B445-F1362DD8B1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7755" y="1300842"/>
            <a:ext cx="8103315" cy="4871357"/>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733806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7178-0523-470D-A133-393EA757E024}"/>
              </a:ext>
            </a:extLst>
          </p:cNvPr>
          <p:cNvSpPr>
            <a:spLocks noGrp="1"/>
          </p:cNvSpPr>
          <p:nvPr>
            <p:ph type="title"/>
          </p:nvPr>
        </p:nvSpPr>
        <p:spPr/>
        <p:txBody>
          <a:bodyPr/>
          <a:lstStyle/>
          <a:p>
            <a:r>
              <a:rPr lang="en-AU" dirty="0"/>
              <a:t>Storage Hierarchy</a:t>
            </a:r>
            <a:endParaRPr lang="LID4096" dirty="0"/>
          </a:p>
        </p:txBody>
      </p:sp>
      <p:sp>
        <p:nvSpPr>
          <p:cNvPr id="3" name="Content Placeholder 2">
            <a:extLst>
              <a:ext uri="{FF2B5EF4-FFF2-40B4-BE49-F238E27FC236}">
                <a16:creationId xmlns:a16="http://schemas.microsoft.com/office/drawing/2014/main" id="{A89CF04C-80A3-485A-9166-675F470A91F6}"/>
              </a:ext>
            </a:extLst>
          </p:cNvPr>
          <p:cNvSpPr>
            <a:spLocks noGrp="1"/>
          </p:cNvSpPr>
          <p:nvPr>
            <p:ph idx="1"/>
          </p:nvPr>
        </p:nvSpPr>
        <p:spPr>
          <a:xfrm>
            <a:off x="1045028" y="1825625"/>
            <a:ext cx="4882243" cy="4353106"/>
          </a:xfrm>
        </p:spPr>
        <p:txBody>
          <a:bodyPr/>
          <a:lstStyle/>
          <a:p>
            <a:r>
              <a:rPr lang="en-AU" dirty="0"/>
              <a:t>Capacity and access are inversely proportional to each other </a:t>
            </a:r>
            <a:endParaRPr lang="en-US" dirty="0"/>
          </a:p>
          <a:p>
            <a:endParaRPr lang="LID4096" dirty="0"/>
          </a:p>
        </p:txBody>
      </p:sp>
      <p:pic>
        <p:nvPicPr>
          <p:cNvPr id="4" name="Picture 3">
            <a:extLst>
              <a:ext uri="{FF2B5EF4-FFF2-40B4-BE49-F238E27FC236}">
                <a16:creationId xmlns:a16="http://schemas.microsoft.com/office/drawing/2014/main" id="{4B484E05-DFAF-4375-AE98-A6B9B7CC99A6}"/>
              </a:ext>
            </a:extLst>
          </p:cNvPr>
          <p:cNvPicPr>
            <a:picLocks noChangeAspect="1"/>
          </p:cNvPicPr>
          <p:nvPr/>
        </p:nvPicPr>
        <p:blipFill>
          <a:blip r:embed="rId2"/>
          <a:stretch>
            <a:fillRect/>
          </a:stretch>
        </p:blipFill>
        <p:spPr>
          <a:xfrm>
            <a:off x="5927271" y="1258524"/>
            <a:ext cx="6028270" cy="4920207"/>
          </a:xfrm>
          <a:prstGeom prst="rect">
            <a:avLst/>
          </a:prstGeom>
        </p:spPr>
      </p:pic>
    </p:spTree>
    <p:extLst>
      <p:ext uri="{BB962C8B-B14F-4D97-AF65-F5344CB8AC3E}">
        <p14:creationId xmlns:p14="http://schemas.microsoft.com/office/powerpoint/2010/main" val="16270683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90D3-04B3-4E9D-BE5E-1E7928E9670C}"/>
              </a:ext>
            </a:extLst>
          </p:cNvPr>
          <p:cNvSpPr>
            <a:spLocks noGrp="1"/>
          </p:cNvSpPr>
          <p:nvPr>
            <p:ph type="title"/>
          </p:nvPr>
        </p:nvSpPr>
        <p:spPr/>
        <p:txBody>
          <a:bodyPr/>
          <a:lstStyle/>
          <a:p>
            <a:r>
              <a:rPr lang="en-US" dirty="0">
                <a:solidFill>
                  <a:srgbClr val="000000"/>
                </a:solidFill>
              </a:rPr>
              <a:t>The Program Counter (PC)</a:t>
            </a:r>
            <a:endParaRPr lang="LID4096" dirty="0"/>
          </a:p>
        </p:txBody>
      </p:sp>
      <p:sp>
        <p:nvSpPr>
          <p:cNvPr id="3" name="Content Placeholder 2">
            <a:extLst>
              <a:ext uri="{FF2B5EF4-FFF2-40B4-BE49-F238E27FC236}">
                <a16:creationId xmlns:a16="http://schemas.microsoft.com/office/drawing/2014/main" id="{4C3AA611-AAB0-4DB8-B0C3-3E1C61A762C8}"/>
              </a:ext>
            </a:extLst>
          </p:cNvPr>
          <p:cNvSpPr>
            <a:spLocks noGrp="1"/>
          </p:cNvSpPr>
          <p:nvPr>
            <p:ph idx="1"/>
          </p:nvPr>
        </p:nvSpPr>
        <p:spPr/>
        <p:txBody>
          <a:bodyPr>
            <a:normAutofit/>
          </a:bodyPr>
          <a:lstStyle/>
          <a:p>
            <a:pPr>
              <a:spcBef>
                <a:spcPts val="800"/>
              </a:spcBef>
              <a:buFont typeface="Arial" charset="0"/>
              <a:buChar char="•"/>
            </a:pPr>
            <a:r>
              <a:rPr lang="en-US" sz="3200" b="1" dirty="0">
                <a:solidFill>
                  <a:srgbClr val="000000"/>
                </a:solidFill>
              </a:rPr>
              <a:t>How does the computer determine which instruction it should execute next?</a:t>
            </a:r>
          </a:p>
          <a:p>
            <a:pPr>
              <a:spcBef>
                <a:spcPts val="800"/>
              </a:spcBef>
              <a:buFont typeface="Arial" charset="0"/>
              <a:buChar char="•"/>
            </a:pPr>
            <a:r>
              <a:rPr lang="en-US" sz="3200" b="1" dirty="0">
                <a:solidFill>
                  <a:srgbClr val="000000"/>
                </a:solidFill>
              </a:rPr>
              <a:t>Address of the Next Instruction </a:t>
            </a:r>
          </a:p>
          <a:p>
            <a:pPr lvl="1">
              <a:spcBef>
                <a:spcPts val="700"/>
              </a:spcBef>
              <a:buFont typeface="Arial" charset="0"/>
              <a:buChar char="–"/>
            </a:pPr>
            <a:r>
              <a:rPr lang="en-US" sz="2800" dirty="0">
                <a:solidFill>
                  <a:srgbClr val="000000"/>
                </a:solidFill>
              </a:rPr>
              <a:t>The instruction is stored in memory and the computer has its address</a:t>
            </a:r>
          </a:p>
          <a:p>
            <a:pPr lvl="1">
              <a:spcBef>
                <a:spcPts val="700"/>
              </a:spcBef>
              <a:buFont typeface="Arial" charset="0"/>
              <a:buChar char="–"/>
            </a:pPr>
            <a:r>
              <a:rPr lang="en-US" sz="2800" dirty="0">
                <a:solidFill>
                  <a:srgbClr val="000000"/>
                </a:solidFill>
              </a:rPr>
              <a:t>Computers use the address (known as the </a:t>
            </a:r>
            <a:r>
              <a:rPr lang="en-US" sz="2800" i="1" dirty="0">
                <a:solidFill>
                  <a:srgbClr val="000000"/>
                </a:solidFill>
              </a:rPr>
              <a:t>program counter </a:t>
            </a:r>
            <a:r>
              <a:rPr lang="en-US" sz="2800" dirty="0">
                <a:solidFill>
                  <a:srgbClr val="000000"/>
                </a:solidFill>
              </a:rPr>
              <a:t>or</a:t>
            </a:r>
            <a:r>
              <a:rPr lang="en-US" sz="2800" i="1" dirty="0">
                <a:solidFill>
                  <a:srgbClr val="000000"/>
                </a:solidFill>
              </a:rPr>
              <a:t> PC)</a:t>
            </a:r>
            <a:r>
              <a:rPr lang="en-US" sz="2800" dirty="0">
                <a:solidFill>
                  <a:srgbClr val="000000"/>
                </a:solidFill>
              </a:rPr>
              <a:t> to keep track of the next instruction</a:t>
            </a:r>
          </a:p>
          <a:p>
            <a:endParaRPr lang="LID4096" dirty="0"/>
          </a:p>
        </p:txBody>
      </p:sp>
    </p:spTree>
    <p:extLst>
      <p:ext uri="{BB962C8B-B14F-4D97-AF65-F5344CB8AC3E}">
        <p14:creationId xmlns:p14="http://schemas.microsoft.com/office/powerpoint/2010/main" val="6268881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4DE3-5614-42DD-8641-8CCA94055775}"/>
              </a:ext>
            </a:extLst>
          </p:cNvPr>
          <p:cNvSpPr>
            <a:spLocks noGrp="1"/>
          </p:cNvSpPr>
          <p:nvPr>
            <p:ph type="title"/>
          </p:nvPr>
        </p:nvSpPr>
        <p:spPr/>
        <p:txBody>
          <a:bodyPr/>
          <a:lstStyle/>
          <a:p>
            <a:r>
              <a:rPr lang="en-US" dirty="0">
                <a:solidFill>
                  <a:srgbClr val="000000"/>
                </a:solidFill>
              </a:rPr>
              <a:t>The Program Counter</a:t>
            </a:r>
            <a:endParaRPr lang="LID4096" dirty="0"/>
          </a:p>
        </p:txBody>
      </p:sp>
      <p:sp>
        <p:nvSpPr>
          <p:cNvPr id="3" name="Content Placeholder 2">
            <a:extLst>
              <a:ext uri="{FF2B5EF4-FFF2-40B4-BE49-F238E27FC236}">
                <a16:creationId xmlns:a16="http://schemas.microsoft.com/office/drawing/2014/main" id="{08DACE87-340C-4919-9FB2-04E3C12CF272}"/>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computer gets ready to process the next instruction</a:t>
            </a:r>
          </a:p>
          <a:p>
            <a:pPr>
              <a:spcBef>
                <a:spcPts val="800"/>
              </a:spcBef>
              <a:buFont typeface="Arial" charset="0"/>
              <a:buChar char="•"/>
            </a:pPr>
            <a:r>
              <a:rPr lang="en-US" dirty="0">
                <a:solidFill>
                  <a:srgbClr val="000000"/>
                </a:solidFill>
              </a:rPr>
              <a:t>It assumes that the next instruction is the next instruction in sequence</a:t>
            </a:r>
          </a:p>
          <a:p>
            <a:pPr>
              <a:spcBef>
                <a:spcPts val="800"/>
              </a:spcBef>
              <a:buFont typeface="Arial" charset="0"/>
              <a:buChar char="•"/>
            </a:pPr>
            <a:r>
              <a:rPr lang="en-US" dirty="0">
                <a:solidFill>
                  <a:srgbClr val="000000"/>
                </a:solidFill>
              </a:rPr>
              <a:t>Because instructions use 4 bytes of memory, the next instruction must be at the memory address PC + 4 or 4 bytes further along the sequence</a:t>
            </a:r>
          </a:p>
          <a:p>
            <a:endParaRPr lang="LID4096" dirty="0"/>
          </a:p>
        </p:txBody>
      </p:sp>
    </p:spTree>
    <p:extLst>
      <p:ext uri="{BB962C8B-B14F-4D97-AF65-F5344CB8AC3E}">
        <p14:creationId xmlns:p14="http://schemas.microsoft.com/office/powerpoint/2010/main" val="32751995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AFAD5-D207-405B-A76B-822BDC6DED37}"/>
              </a:ext>
            </a:extLst>
          </p:cNvPr>
          <p:cNvSpPr>
            <a:spLocks noGrp="1"/>
          </p:cNvSpPr>
          <p:nvPr>
            <p:ph type="title"/>
          </p:nvPr>
        </p:nvSpPr>
        <p:spPr/>
        <p:txBody>
          <a:bodyPr/>
          <a:lstStyle/>
          <a:p>
            <a:r>
              <a:rPr lang="en-US" dirty="0">
                <a:solidFill>
                  <a:srgbClr val="000000"/>
                </a:solidFill>
              </a:rPr>
              <a:t>The Computer Clock</a:t>
            </a:r>
            <a:endParaRPr lang="LID4096" dirty="0"/>
          </a:p>
        </p:txBody>
      </p:sp>
      <p:sp>
        <p:nvSpPr>
          <p:cNvPr id="3" name="Content Placeholder 2">
            <a:extLst>
              <a:ext uri="{FF2B5EF4-FFF2-40B4-BE49-F238E27FC236}">
                <a16:creationId xmlns:a16="http://schemas.microsoft.com/office/drawing/2014/main" id="{D4A573CE-A628-4438-B50B-45CDE0A7F02A}"/>
              </a:ext>
            </a:extLst>
          </p:cNvPr>
          <p:cNvSpPr>
            <a:spLocks noGrp="1"/>
          </p:cNvSpPr>
          <p:nvPr>
            <p:ph idx="1"/>
          </p:nvPr>
        </p:nvSpPr>
        <p:spPr/>
        <p:txBody>
          <a:bodyPr/>
          <a:lstStyle/>
          <a:p>
            <a:pPr>
              <a:spcBef>
                <a:spcPts val="800"/>
              </a:spcBef>
              <a:buFont typeface="Arial" charset="0"/>
              <a:buChar char="•"/>
            </a:pPr>
            <a:r>
              <a:rPr lang="en-US" dirty="0">
                <a:solidFill>
                  <a:srgbClr val="000000"/>
                </a:solidFill>
              </a:rPr>
              <a:t>Computers are instruction execution engines. </a:t>
            </a:r>
          </a:p>
          <a:p>
            <a:pPr>
              <a:spcBef>
                <a:spcPts val="800"/>
              </a:spcBef>
              <a:buNone/>
            </a:pPr>
            <a:endParaRPr lang="en-US" dirty="0">
              <a:solidFill>
                <a:srgbClr val="000000"/>
              </a:solidFill>
            </a:endParaRPr>
          </a:p>
          <a:p>
            <a:pPr>
              <a:spcBef>
                <a:spcPts val="800"/>
              </a:spcBef>
              <a:buFont typeface="Arial" charset="0"/>
              <a:buChar char="•"/>
            </a:pPr>
            <a:r>
              <a:rPr lang="en-US" dirty="0">
                <a:solidFill>
                  <a:srgbClr val="000000"/>
                </a:solidFill>
              </a:rPr>
              <a:t>Since the computer does one instruction per cycle in principle, the speed of a computer depends on the number of Fetch/Execute Cycles it completes per second.</a:t>
            </a:r>
          </a:p>
          <a:p>
            <a:pPr marL="0" indent="0">
              <a:buNone/>
            </a:pPr>
            <a:endParaRPr lang="LID4096" dirty="0"/>
          </a:p>
        </p:txBody>
      </p:sp>
    </p:spTree>
    <p:extLst>
      <p:ext uri="{BB962C8B-B14F-4D97-AF65-F5344CB8AC3E}">
        <p14:creationId xmlns:p14="http://schemas.microsoft.com/office/powerpoint/2010/main" val="2338182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8FA7D-087C-4665-BCD1-AE4BED2A0D6C}"/>
              </a:ext>
            </a:extLst>
          </p:cNvPr>
          <p:cNvSpPr>
            <a:spLocks noGrp="1"/>
          </p:cNvSpPr>
          <p:nvPr>
            <p:ph type="title"/>
          </p:nvPr>
        </p:nvSpPr>
        <p:spPr/>
        <p:txBody>
          <a:bodyPr/>
          <a:lstStyle/>
          <a:p>
            <a:r>
              <a:rPr lang="en-US" dirty="0">
                <a:solidFill>
                  <a:srgbClr val="000000"/>
                </a:solidFill>
              </a:rPr>
              <a:t>The Computer Clock</a:t>
            </a:r>
            <a:endParaRPr lang="LID4096" dirty="0"/>
          </a:p>
        </p:txBody>
      </p:sp>
      <p:sp>
        <p:nvSpPr>
          <p:cNvPr id="3" name="Content Placeholder 2">
            <a:extLst>
              <a:ext uri="{FF2B5EF4-FFF2-40B4-BE49-F238E27FC236}">
                <a16:creationId xmlns:a16="http://schemas.microsoft.com/office/drawing/2014/main" id="{324EB4EC-878F-4479-98E1-B3C299171372}"/>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rate of the Fetch/Execute Cycle is determined by the computer’s clock, and it is measured in megahertz, or millions (mega) of cycles per second (hertz). </a:t>
            </a:r>
          </a:p>
          <a:p>
            <a:pPr>
              <a:spcBef>
                <a:spcPts val="800"/>
              </a:spcBef>
              <a:buFont typeface="Arial" charset="0"/>
              <a:buChar char="•"/>
            </a:pPr>
            <a:r>
              <a:rPr lang="en-US" dirty="0">
                <a:solidFill>
                  <a:srgbClr val="000000"/>
                </a:solidFill>
              </a:rPr>
              <a:t>A 1,000 MHz clock ticks a billion (in American English) times per second, which is one gigahertz (1 GHz)</a:t>
            </a:r>
          </a:p>
          <a:p>
            <a:endParaRPr lang="LID4096" dirty="0"/>
          </a:p>
        </p:txBody>
      </p:sp>
    </p:spTree>
    <p:extLst>
      <p:ext uri="{BB962C8B-B14F-4D97-AF65-F5344CB8AC3E}">
        <p14:creationId xmlns:p14="http://schemas.microsoft.com/office/powerpoint/2010/main" val="6786586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7133-40AE-4910-82EF-0E443B1029D2}"/>
              </a:ext>
            </a:extLst>
          </p:cNvPr>
          <p:cNvSpPr>
            <a:spLocks noGrp="1"/>
          </p:cNvSpPr>
          <p:nvPr>
            <p:ph type="title"/>
          </p:nvPr>
        </p:nvSpPr>
        <p:spPr/>
        <p:txBody>
          <a:bodyPr/>
          <a:lstStyle/>
          <a:p>
            <a:r>
              <a:rPr lang="en-US" dirty="0">
                <a:solidFill>
                  <a:srgbClr val="000000"/>
                </a:solidFill>
              </a:rPr>
              <a:t>Standard Prefixes</a:t>
            </a:r>
            <a:endParaRPr lang="LID4096" dirty="0"/>
          </a:p>
        </p:txBody>
      </p:sp>
      <p:pic>
        <p:nvPicPr>
          <p:cNvPr id="5" name="Picture 2">
            <a:extLst>
              <a:ext uri="{FF2B5EF4-FFF2-40B4-BE49-F238E27FC236}">
                <a16:creationId xmlns:a16="http://schemas.microsoft.com/office/drawing/2014/main" id="{73737358-8093-41A0-942F-3C3BA66182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7400" y="1690688"/>
            <a:ext cx="9344025" cy="3762375"/>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675481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E50F-60F5-4F67-87E7-49498710F443}"/>
              </a:ext>
            </a:extLst>
          </p:cNvPr>
          <p:cNvSpPr>
            <a:spLocks noGrp="1"/>
          </p:cNvSpPr>
          <p:nvPr>
            <p:ph type="title"/>
          </p:nvPr>
        </p:nvSpPr>
        <p:spPr/>
        <p:txBody>
          <a:bodyPr/>
          <a:lstStyle/>
          <a:p>
            <a:r>
              <a:rPr lang="en-US" dirty="0">
                <a:solidFill>
                  <a:srgbClr val="000000"/>
                </a:solidFill>
              </a:rPr>
              <a:t>One Cycle per Clock Tick</a:t>
            </a:r>
            <a:endParaRPr lang="LID4096" dirty="0"/>
          </a:p>
        </p:txBody>
      </p:sp>
      <p:sp>
        <p:nvSpPr>
          <p:cNvPr id="3" name="Content Placeholder 2">
            <a:extLst>
              <a:ext uri="{FF2B5EF4-FFF2-40B4-BE49-F238E27FC236}">
                <a16:creationId xmlns:a16="http://schemas.microsoft.com/office/drawing/2014/main" id="{881CE57C-C517-4974-B673-B4A6BB68AC6A}"/>
              </a:ext>
            </a:extLst>
          </p:cNvPr>
          <p:cNvSpPr>
            <a:spLocks noGrp="1"/>
          </p:cNvSpPr>
          <p:nvPr>
            <p:ph idx="1"/>
          </p:nvPr>
        </p:nvSpPr>
        <p:spPr/>
        <p:txBody>
          <a:bodyPr/>
          <a:lstStyle/>
          <a:p>
            <a:pPr>
              <a:spcBef>
                <a:spcPts val="800"/>
              </a:spcBef>
              <a:buFont typeface="Arial" charset="0"/>
              <a:buChar char="•"/>
            </a:pPr>
            <a:r>
              <a:rPr lang="en-US" dirty="0">
                <a:solidFill>
                  <a:srgbClr val="000000"/>
                </a:solidFill>
              </a:rPr>
              <a:t>A computer with a 1 GHz clock has one billionth of a second—one nanosecond—between clock ticks to run the Fetch/Execute Cycle. </a:t>
            </a:r>
          </a:p>
          <a:p>
            <a:pPr>
              <a:spcBef>
                <a:spcPts val="800"/>
              </a:spcBef>
              <a:buFont typeface="Arial" charset="0"/>
              <a:buChar char="•"/>
            </a:pPr>
            <a:r>
              <a:rPr lang="en-US" dirty="0">
                <a:solidFill>
                  <a:srgbClr val="000000"/>
                </a:solidFill>
              </a:rPr>
              <a:t>In that amount of time, light travels about one foot (~30 cm).</a:t>
            </a:r>
          </a:p>
          <a:p>
            <a:pPr>
              <a:spcBef>
                <a:spcPts val="800"/>
              </a:spcBef>
              <a:buFont typeface="Arial" charset="0"/>
              <a:buChar char="•"/>
            </a:pPr>
            <a:r>
              <a:rPr lang="en-US" dirty="0">
                <a:solidFill>
                  <a:srgbClr val="000000"/>
                </a:solidFill>
              </a:rPr>
              <a:t>Modern computers </a:t>
            </a:r>
            <a:r>
              <a:rPr lang="en-US" i="1" dirty="0">
                <a:solidFill>
                  <a:srgbClr val="000000"/>
                </a:solidFill>
              </a:rPr>
              <a:t>try</a:t>
            </a:r>
            <a:r>
              <a:rPr lang="en-US" dirty="0">
                <a:solidFill>
                  <a:srgbClr val="000000"/>
                </a:solidFill>
              </a:rPr>
              <a:t> to start an instruction on each clock tick. </a:t>
            </a:r>
          </a:p>
          <a:p>
            <a:endParaRPr lang="LID4096" dirty="0"/>
          </a:p>
        </p:txBody>
      </p:sp>
    </p:spTree>
    <p:extLst>
      <p:ext uri="{BB962C8B-B14F-4D97-AF65-F5344CB8AC3E}">
        <p14:creationId xmlns:p14="http://schemas.microsoft.com/office/powerpoint/2010/main" val="2958484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14F0-4E75-47AB-B686-F77B97D62B11}"/>
              </a:ext>
            </a:extLst>
          </p:cNvPr>
          <p:cNvSpPr>
            <a:spLocks noGrp="1"/>
          </p:cNvSpPr>
          <p:nvPr>
            <p:ph type="title"/>
          </p:nvPr>
        </p:nvSpPr>
        <p:spPr/>
        <p:txBody>
          <a:bodyPr/>
          <a:lstStyle/>
          <a:p>
            <a:r>
              <a:rPr lang="en-US" dirty="0">
                <a:solidFill>
                  <a:srgbClr val="000000"/>
                </a:solidFill>
              </a:rPr>
              <a:t>Computer’s View of Software</a:t>
            </a:r>
            <a:endParaRPr lang="LID4096" dirty="0"/>
          </a:p>
        </p:txBody>
      </p:sp>
      <p:sp>
        <p:nvSpPr>
          <p:cNvPr id="3" name="Content Placeholder 2">
            <a:extLst>
              <a:ext uri="{FF2B5EF4-FFF2-40B4-BE49-F238E27FC236}">
                <a16:creationId xmlns:a16="http://schemas.microsoft.com/office/drawing/2014/main" id="{D57F9D10-6992-4152-9F38-3B967F024F3B}"/>
              </a:ext>
            </a:extLst>
          </p:cNvPr>
          <p:cNvSpPr>
            <a:spLocks noGrp="1"/>
          </p:cNvSpPr>
          <p:nvPr>
            <p:ph idx="1"/>
          </p:nvPr>
        </p:nvSpPr>
        <p:spPr/>
        <p:txBody>
          <a:bodyPr>
            <a:normAutofit/>
          </a:bodyPr>
          <a:lstStyle/>
          <a:p>
            <a:r>
              <a:rPr lang="en-US" b="1" dirty="0">
                <a:solidFill>
                  <a:srgbClr val="000000"/>
                </a:solidFill>
              </a:rPr>
              <a:t>A program “sees” software as a long sequence of 4-byte groups of bits </a:t>
            </a:r>
            <a:br>
              <a:rPr lang="en-US" b="1" dirty="0">
                <a:solidFill>
                  <a:srgbClr val="000000"/>
                </a:solidFill>
              </a:rPr>
            </a:br>
            <a:r>
              <a:rPr lang="en-US" b="1" dirty="0">
                <a:solidFill>
                  <a:srgbClr val="000000"/>
                </a:solidFill>
              </a:rPr>
              <a:t>(0's and 1’s)</a:t>
            </a:r>
          </a:p>
          <a:p>
            <a:endParaRPr lang="en-US" b="1" dirty="0">
              <a:solidFill>
                <a:srgbClr val="000000"/>
              </a:solidFill>
            </a:endParaRPr>
          </a:p>
          <a:p>
            <a:endParaRPr lang="en-US" b="1" dirty="0">
              <a:solidFill>
                <a:srgbClr val="000000"/>
              </a:solidFill>
            </a:endParaRPr>
          </a:p>
          <a:p>
            <a:endParaRPr lang="en-US" b="1" dirty="0">
              <a:solidFill>
                <a:srgbClr val="000000"/>
              </a:solidFill>
            </a:endParaRPr>
          </a:p>
          <a:p>
            <a:endParaRPr lang="en-US" b="1" dirty="0">
              <a:solidFill>
                <a:srgbClr val="000000"/>
              </a:solidFill>
            </a:endParaRPr>
          </a:p>
          <a:p>
            <a:r>
              <a:rPr lang="en-US" dirty="0">
                <a:solidFill>
                  <a:srgbClr val="000000"/>
                </a:solidFill>
              </a:rPr>
              <a:t>This binary object file can be hundreds of thousands to millions of words long</a:t>
            </a:r>
          </a:p>
          <a:p>
            <a:endParaRPr lang="en-US" b="1" dirty="0">
              <a:solidFill>
                <a:srgbClr val="000000"/>
              </a:solidFill>
            </a:endParaRPr>
          </a:p>
          <a:p>
            <a:endParaRPr lang="LID4096" dirty="0"/>
          </a:p>
        </p:txBody>
      </p:sp>
      <p:pic>
        <p:nvPicPr>
          <p:cNvPr id="4" name="Picture 3">
            <a:extLst>
              <a:ext uri="{FF2B5EF4-FFF2-40B4-BE49-F238E27FC236}">
                <a16:creationId xmlns:a16="http://schemas.microsoft.com/office/drawing/2014/main" id="{9955CC83-D9AC-4415-AA4C-4BCE5A9DCE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1" y="3200400"/>
            <a:ext cx="9334500" cy="1143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998978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F3482-546F-4F1C-B5B9-C67CA708D1D9}"/>
              </a:ext>
            </a:extLst>
          </p:cNvPr>
          <p:cNvSpPr>
            <a:spLocks noGrp="1"/>
          </p:cNvSpPr>
          <p:nvPr>
            <p:ph type="title"/>
          </p:nvPr>
        </p:nvSpPr>
        <p:spPr/>
        <p:txBody>
          <a:bodyPr/>
          <a:lstStyle/>
          <a:p>
            <a:r>
              <a:rPr lang="en-US" dirty="0">
                <a:solidFill>
                  <a:srgbClr val="000000"/>
                </a:solidFill>
              </a:rPr>
              <a:t>Computer’s View of Software</a:t>
            </a:r>
            <a:endParaRPr lang="LID4096" dirty="0"/>
          </a:p>
        </p:txBody>
      </p:sp>
      <p:sp>
        <p:nvSpPr>
          <p:cNvPr id="3" name="Content Placeholder 2">
            <a:extLst>
              <a:ext uri="{FF2B5EF4-FFF2-40B4-BE49-F238E27FC236}">
                <a16:creationId xmlns:a16="http://schemas.microsoft.com/office/drawing/2014/main" id="{69817C6C-A0F4-49A9-A75E-0C6EE2EEAB33}"/>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Once installed, the computer runs the software by:</a:t>
            </a:r>
          </a:p>
          <a:p>
            <a:pPr lvl="1">
              <a:spcBef>
                <a:spcPts val="700"/>
              </a:spcBef>
              <a:buFont typeface="Arial" charset="0"/>
              <a:buChar char="•"/>
            </a:pPr>
            <a:r>
              <a:rPr lang="en-US" sz="2800" dirty="0">
                <a:solidFill>
                  <a:srgbClr val="000000"/>
                </a:solidFill>
              </a:rPr>
              <a:t>copying the binary instructions into the RAM </a:t>
            </a:r>
          </a:p>
          <a:p>
            <a:pPr lvl="1">
              <a:spcBef>
                <a:spcPts val="700"/>
              </a:spcBef>
              <a:buFont typeface="Arial" charset="0"/>
              <a:buChar char="•"/>
            </a:pPr>
            <a:r>
              <a:rPr lang="en-US" sz="2800" dirty="0">
                <a:solidFill>
                  <a:srgbClr val="000000"/>
                </a:solidFill>
              </a:rPr>
              <a:t>interpreting them using the Fetch/Execute Cycle. </a:t>
            </a:r>
          </a:p>
          <a:p>
            <a:pPr>
              <a:spcBef>
                <a:spcPts val="800"/>
              </a:spcBef>
              <a:buFont typeface="Arial" charset="0"/>
              <a:buChar char="•"/>
            </a:pPr>
            <a:r>
              <a:rPr lang="en-US" sz="3200" b="1" dirty="0">
                <a:solidFill>
                  <a:srgbClr val="000000"/>
                </a:solidFill>
              </a:rPr>
              <a:t>It does whatever the instructions tell it to do</a:t>
            </a:r>
          </a:p>
          <a:p>
            <a:endParaRPr lang="LID4096" dirty="0"/>
          </a:p>
        </p:txBody>
      </p:sp>
    </p:spTree>
    <p:extLst>
      <p:ext uri="{BB962C8B-B14F-4D97-AF65-F5344CB8AC3E}">
        <p14:creationId xmlns:p14="http://schemas.microsoft.com/office/powerpoint/2010/main" val="16461646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4AB17-CAEA-4266-A694-439F494DF9C3}"/>
              </a:ext>
            </a:extLst>
          </p:cNvPr>
          <p:cNvSpPr>
            <a:spLocks noGrp="1"/>
          </p:cNvSpPr>
          <p:nvPr>
            <p:ph type="title"/>
          </p:nvPr>
        </p:nvSpPr>
        <p:spPr/>
        <p:txBody>
          <a:bodyPr/>
          <a:lstStyle/>
          <a:p>
            <a:r>
              <a:rPr lang="en-US" spc="-4" dirty="0"/>
              <a:t>Processor</a:t>
            </a:r>
            <a:r>
              <a:rPr lang="en-US" spc="-26" dirty="0"/>
              <a:t> </a:t>
            </a:r>
            <a:r>
              <a:rPr lang="en-US" spc="-13" dirty="0"/>
              <a:t>Speed</a:t>
            </a:r>
            <a:endParaRPr lang="LID4096" dirty="0"/>
          </a:p>
        </p:txBody>
      </p:sp>
      <p:sp>
        <p:nvSpPr>
          <p:cNvPr id="3" name="Content Placeholder 2">
            <a:extLst>
              <a:ext uri="{FF2B5EF4-FFF2-40B4-BE49-F238E27FC236}">
                <a16:creationId xmlns:a16="http://schemas.microsoft.com/office/drawing/2014/main" id="{C9DE39D8-AD2F-401F-B0A2-6C68EE50D56E}"/>
              </a:ext>
            </a:extLst>
          </p:cNvPr>
          <p:cNvSpPr>
            <a:spLocks noGrp="1"/>
          </p:cNvSpPr>
          <p:nvPr>
            <p:ph idx="1"/>
          </p:nvPr>
        </p:nvSpPr>
        <p:spPr/>
        <p:txBody>
          <a:bodyPr>
            <a:normAutofit/>
          </a:bodyPr>
          <a:lstStyle/>
          <a:p>
            <a:pPr marL="468407" marR="4483" indent="-457200" algn="just">
              <a:spcBef>
                <a:spcPts val="88"/>
              </a:spcBef>
              <a:buClr>
                <a:schemeClr val="tx1"/>
              </a:buClr>
              <a:tabLst>
                <a:tab pos="318264" algn="l"/>
              </a:tabLst>
            </a:pPr>
            <a:r>
              <a:rPr lang="en-US" spc="-4" dirty="0">
                <a:solidFill>
                  <a:srgbClr val="333333"/>
                </a:solidFill>
              </a:rPr>
              <a:t>Computer has </a:t>
            </a:r>
            <a:r>
              <a:rPr lang="en-US" dirty="0">
                <a:solidFill>
                  <a:srgbClr val="333333"/>
                </a:solidFill>
              </a:rPr>
              <a:t>a built-in </a:t>
            </a:r>
            <a:r>
              <a:rPr lang="en-US" b="1" i="1" dirty="0">
                <a:solidFill>
                  <a:srgbClr val="333333"/>
                </a:solidFill>
              </a:rPr>
              <a:t>system clock </a:t>
            </a:r>
            <a:r>
              <a:rPr lang="en-US" spc="-4" dirty="0">
                <a:solidFill>
                  <a:srgbClr val="333333"/>
                </a:solidFill>
              </a:rPr>
              <a:t>that </a:t>
            </a:r>
            <a:r>
              <a:rPr lang="en-US" dirty="0">
                <a:solidFill>
                  <a:srgbClr val="333333"/>
                </a:solidFill>
              </a:rPr>
              <a:t>emits millions of  </a:t>
            </a:r>
            <a:r>
              <a:rPr lang="en-US" spc="-4" dirty="0">
                <a:solidFill>
                  <a:srgbClr val="333333"/>
                </a:solidFill>
              </a:rPr>
              <a:t>regularly </a:t>
            </a:r>
            <a:r>
              <a:rPr lang="en-US" dirty="0">
                <a:solidFill>
                  <a:srgbClr val="333333"/>
                </a:solidFill>
              </a:rPr>
              <a:t>spaced electric </a:t>
            </a:r>
            <a:r>
              <a:rPr lang="en-US" spc="-4" dirty="0">
                <a:solidFill>
                  <a:srgbClr val="333333"/>
                </a:solidFill>
              </a:rPr>
              <a:t>pulses </a:t>
            </a:r>
            <a:r>
              <a:rPr lang="en-US" dirty="0">
                <a:solidFill>
                  <a:srgbClr val="333333"/>
                </a:solidFill>
              </a:rPr>
              <a:t>per </a:t>
            </a:r>
            <a:r>
              <a:rPr lang="en-US" spc="-4" dirty="0">
                <a:solidFill>
                  <a:srgbClr val="333333"/>
                </a:solidFill>
              </a:rPr>
              <a:t>second (known </a:t>
            </a:r>
            <a:r>
              <a:rPr lang="en-US" dirty="0">
                <a:solidFill>
                  <a:srgbClr val="333333"/>
                </a:solidFill>
              </a:rPr>
              <a:t>as  </a:t>
            </a:r>
            <a:r>
              <a:rPr lang="en-US" i="1" dirty="0">
                <a:solidFill>
                  <a:srgbClr val="333333"/>
                </a:solidFill>
              </a:rPr>
              <a:t>clock</a:t>
            </a:r>
            <a:r>
              <a:rPr lang="en-US" i="1" spc="-13" dirty="0">
                <a:solidFill>
                  <a:srgbClr val="333333"/>
                </a:solidFill>
              </a:rPr>
              <a:t> </a:t>
            </a:r>
            <a:r>
              <a:rPr lang="en-US" i="1" spc="-4" dirty="0">
                <a:solidFill>
                  <a:srgbClr val="333333"/>
                </a:solidFill>
              </a:rPr>
              <a:t>cycles)</a:t>
            </a:r>
            <a:endParaRPr lang="en-US" dirty="0"/>
          </a:p>
          <a:p>
            <a:pPr marL="468407" marR="6724" indent="-457200" algn="just">
              <a:spcBef>
                <a:spcPts val="869"/>
              </a:spcBef>
              <a:buClr>
                <a:schemeClr val="tx1"/>
              </a:buClr>
              <a:tabLst>
                <a:tab pos="318264" algn="l"/>
              </a:tabLst>
            </a:pPr>
            <a:r>
              <a:rPr lang="en-US" spc="-9" dirty="0">
                <a:solidFill>
                  <a:srgbClr val="333333"/>
                </a:solidFill>
              </a:rPr>
              <a:t>It </a:t>
            </a:r>
            <a:r>
              <a:rPr lang="en-US" spc="-4" dirty="0">
                <a:solidFill>
                  <a:srgbClr val="333333"/>
                </a:solidFill>
              </a:rPr>
              <a:t>takes one cycle </a:t>
            </a:r>
            <a:r>
              <a:rPr lang="en-US" dirty="0">
                <a:solidFill>
                  <a:srgbClr val="333333"/>
                </a:solidFill>
              </a:rPr>
              <a:t>to </a:t>
            </a:r>
            <a:r>
              <a:rPr lang="en-US" spc="-4" dirty="0">
                <a:solidFill>
                  <a:srgbClr val="333333"/>
                </a:solidFill>
              </a:rPr>
              <a:t>perform </a:t>
            </a:r>
            <a:r>
              <a:rPr lang="en-US" dirty="0">
                <a:solidFill>
                  <a:srgbClr val="333333"/>
                </a:solidFill>
              </a:rPr>
              <a:t>a basic </a:t>
            </a:r>
            <a:r>
              <a:rPr lang="en-US" spc="-4" dirty="0">
                <a:solidFill>
                  <a:srgbClr val="333333"/>
                </a:solidFill>
              </a:rPr>
              <a:t>operation, such </a:t>
            </a:r>
            <a:r>
              <a:rPr lang="en-US" dirty="0">
                <a:solidFill>
                  <a:srgbClr val="333333"/>
                </a:solidFill>
              </a:rPr>
              <a:t>as  </a:t>
            </a:r>
            <a:r>
              <a:rPr lang="en-US" spc="-4" dirty="0">
                <a:solidFill>
                  <a:srgbClr val="333333"/>
                </a:solidFill>
              </a:rPr>
              <a:t>moving </a:t>
            </a:r>
            <a:r>
              <a:rPr lang="en-US" dirty="0">
                <a:solidFill>
                  <a:srgbClr val="333333"/>
                </a:solidFill>
              </a:rPr>
              <a:t>a </a:t>
            </a:r>
            <a:r>
              <a:rPr lang="en-US" spc="-4" dirty="0">
                <a:solidFill>
                  <a:srgbClr val="333333"/>
                </a:solidFill>
              </a:rPr>
              <a:t>byte </a:t>
            </a:r>
            <a:r>
              <a:rPr lang="en-US" dirty="0">
                <a:solidFill>
                  <a:srgbClr val="333333"/>
                </a:solidFill>
              </a:rPr>
              <a:t>of data </a:t>
            </a:r>
            <a:r>
              <a:rPr lang="en-US" spc="-4" dirty="0">
                <a:solidFill>
                  <a:srgbClr val="333333"/>
                </a:solidFill>
              </a:rPr>
              <a:t>from one </a:t>
            </a:r>
            <a:r>
              <a:rPr lang="en-US" dirty="0">
                <a:solidFill>
                  <a:srgbClr val="333333"/>
                </a:solidFill>
              </a:rPr>
              <a:t>memory location to  </a:t>
            </a:r>
            <a:r>
              <a:rPr lang="en-US" spc="-4" dirty="0">
                <a:solidFill>
                  <a:srgbClr val="333333"/>
                </a:solidFill>
              </a:rPr>
              <a:t>another</a:t>
            </a:r>
            <a:endParaRPr lang="en-US" dirty="0"/>
          </a:p>
          <a:p>
            <a:pPr>
              <a:buClr>
                <a:schemeClr val="tx1"/>
              </a:buClr>
            </a:pPr>
            <a:r>
              <a:rPr lang="en-US" dirty="0">
                <a:solidFill>
                  <a:srgbClr val="333333"/>
                </a:solidFill>
              </a:rPr>
              <a:t>Normally, </a:t>
            </a:r>
            <a:r>
              <a:rPr lang="en-US" spc="-4" dirty="0">
                <a:solidFill>
                  <a:srgbClr val="333333"/>
                </a:solidFill>
              </a:rPr>
              <a:t>several </a:t>
            </a:r>
            <a:r>
              <a:rPr lang="en-US" dirty="0">
                <a:solidFill>
                  <a:srgbClr val="333333"/>
                </a:solidFill>
              </a:rPr>
              <a:t>clock c</a:t>
            </a:r>
            <a:r>
              <a:rPr lang="en-US" spc="-9" dirty="0">
                <a:solidFill>
                  <a:srgbClr val="333333"/>
                </a:solidFill>
              </a:rPr>
              <a:t>y</a:t>
            </a:r>
            <a:r>
              <a:rPr lang="en-US" dirty="0">
                <a:solidFill>
                  <a:srgbClr val="333333"/>
                </a:solidFill>
              </a:rPr>
              <a:t>cles are req</a:t>
            </a:r>
            <a:r>
              <a:rPr lang="en-US" spc="-13" dirty="0">
                <a:solidFill>
                  <a:srgbClr val="333333"/>
                </a:solidFill>
              </a:rPr>
              <a:t>u</a:t>
            </a:r>
            <a:r>
              <a:rPr lang="en-US" dirty="0">
                <a:solidFill>
                  <a:srgbClr val="333333"/>
                </a:solidFill>
              </a:rPr>
              <a:t>ired to </a:t>
            </a:r>
            <a:r>
              <a:rPr lang="en-US" spc="-9" dirty="0">
                <a:solidFill>
                  <a:srgbClr val="333333"/>
                </a:solidFill>
              </a:rPr>
              <a:t>f</a:t>
            </a:r>
            <a:r>
              <a:rPr lang="en-US" dirty="0">
                <a:solidFill>
                  <a:srgbClr val="333333"/>
                </a:solidFill>
              </a:rPr>
              <a:t>etc</a:t>
            </a:r>
            <a:r>
              <a:rPr lang="en-US" spc="-13" dirty="0">
                <a:solidFill>
                  <a:srgbClr val="333333"/>
                </a:solidFill>
              </a:rPr>
              <a:t>h</a:t>
            </a:r>
            <a:r>
              <a:rPr lang="en-US" dirty="0">
                <a:solidFill>
                  <a:srgbClr val="333333"/>
                </a:solidFill>
              </a:rPr>
              <a:t>, decode, </a:t>
            </a:r>
            <a:r>
              <a:rPr lang="en-US" spc="-9" dirty="0">
                <a:solidFill>
                  <a:srgbClr val="333333"/>
                </a:solidFill>
              </a:rPr>
              <a:t>and </a:t>
            </a:r>
            <a:r>
              <a:rPr lang="en-US" spc="-4" dirty="0">
                <a:solidFill>
                  <a:srgbClr val="333333"/>
                </a:solidFill>
              </a:rPr>
              <a:t>execute a </a:t>
            </a:r>
            <a:r>
              <a:rPr lang="en-US" dirty="0">
                <a:solidFill>
                  <a:srgbClr val="333333"/>
                </a:solidFill>
              </a:rPr>
              <a:t>single </a:t>
            </a:r>
            <a:r>
              <a:rPr lang="en-US" spc="-4" dirty="0">
                <a:solidFill>
                  <a:srgbClr val="333333"/>
                </a:solidFill>
              </a:rPr>
              <a:t>program</a:t>
            </a:r>
            <a:r>
              <a:rPr lang="en-US" spc="13" dirty="0">
                <a:solidFill>
                  <a:srgbClr val="333333"/>
                </a:solidFill>
              </a:rPr>
              <a:t> </a:t>
            </a:r>
            <a:r>
              <a:rPr lang="en-US" spc="-4" dirty="0">
                <a:solidFill>
                  <a:srgbClr val="333333"/>
                </a:solidFill>
              </a:rPr>
              <a:t>instruction</a:t>
            </a:r>
            <a:endParaRPr lang="en-US" dirty="0"/>
          </a:p>
          <a:p>
            <a:pPr marL="468407" indent="-457200">
              <a:spcBef>
                <a:spcPts val="865"/>
              </a:spcBef>
              <a:buClr>
                <a:schemeClr val="tx1"/>
              </a:buClr>
              <a:tabLst>
                <a:tab pos="317704" algn="l"/>
                <a:tab pos="318264" algn="l"/>
              </a:tabLst>
            </a:pPr>
            <a:r>
              <a:rPr lang="en-US" spc="-4" dirty="0">
                <a:solidFill>
                  <a:srgbClr val="333333"/>
                </a:solidFill>
              </a:rPr>
              <a:t>Hence, </a:t>
            </a:r>
            <a:r>
              <a:rPr lang="en-US" dirty="0">
                <a:solidFill>
                  <a:srgbClr val="333333"/>
                </a:solidFill>
              </a:rPr>
              <a:t>shorter </a:t>
            </a:r>
            <a:r>
              <a:rPr lang="en-US" spc="-4" dirty="0">
                <a:solidFill>
                  <a:srgbClr val="333333"/>
                </a:solidFill>
              </a:rPr>
              <a:t>the </a:t>
            </a:r>
            <a:r>
              <a:rPr lang="en-US" dirty="0">
                <a:solidFill>
                  <a:srgbClr val="333333"/>
                </a:solidFill>
              </a:rPr>
              <a:t>clock cycle, faster </a:t>
            </a:r>
            <a:r>
              <a:rPr lang="en-US" spc="-4" dirty="0">
                <a:solidFill>
                  <a:srgbClr val="333333"/>
                </a:solidFill>
              </a:rPr>
              <a:t>the</a:t>
            </a:r>
            <a:r>
              <a:rPr lang="en-US" spc="-49" dirty="0">
                <a:solidFill>
                  <a:srgbClr val="333333"/>
                </a:solidFill>
              </a:rPr>
              <a:t> </a:t>
            </a:r>
            <a:r>
              <a:rPr lang="en-US" dirty="0">
                <a:solidFill>
                  <a:srgbClr val="333333"/>
                </a:solidFill>
              </a:rPr>
              <a:t>processor</a:t>
            </a:r>
            <a:endParaRPr lang="en-US" dirty="0"/>
          </a:p>
          <a:p>
            <a:pPr marL="468407" marR="4483" indent="-457200" algn="just">
              <a:lnSpc>
                <a:spcPct val="100600"/>
              </a:lnSpc>
              <a:spcBef>
                <a:spcPts val="838"/>
              </a:spcBef>
              <a:buClr>
                <a:schemeClr val="tx1"/>
              </a:buClr>
              <a:tabLst>
                <a:tab pos="318264" algn="l"/>
              </a:tabLst>
            </a:pPr>
            <a:r>
              <a:rPr lang="en-US" spc="-4" dirty="0">
                <a:solidFill>
                  <a:srgbClr val="333333"/>
                </a:solidFill>
              </a:rPr>
              <a:t>Clock </a:t>
            </a:r>
            <a:r>
              <a:rPr lang="en-US" dirty="0">
                <a:solidFill>
                  <a:srgbClr val="333333"/>
                </a:solidFill>
              </a:rPr>
              <a:t>speed </a:t>
            </a:r>
            <a:r>
              <a:rPr lang="en-US" spc="-4" dirty="0">
                <a:solidFill>
                  <a:srgbClr val="333333"/>
                </a:solidFill>
              </a:rPr>
              <a:t>(number </a:t>
            </a:r>
            <a:r>
              <a:rPr lang="en-US" dirty="0">
                <a:solidFill>
                  <a:srgbClr val="333333"/>
                </a:solidFill>
              </a:rPr>
              <a:t>of clock </a:t>
            </a:r>
            <a:r>
              <a:rPr lang="en-US" spc="-4" dirty="0">
                <a:solidFill>
                  <a:srgbClr val="333333"/>
                </a:solidFill>
              </a:rPr>
              <a:t>cycles </a:t>
            </a:r>
            <a:r>
              <a:rPr lang="en-US" dirty="0">
                <a:solidFill>
                  <a:srgbClr val="333333"/>
                </a:solidFill>
              </a:rPr>
              <a:t>per </a:t>
            </a:r>
            <a:r>
              <a:rPr lang="en-US" spc="-4" dirty="0">
                <a:solidFill>
                  <a:srgbClr val="333333"/>
                </a:solidFill>
              </a:rPr>
              <a:t>second) </a:t>
            </a:r>
            <a:r>
              <a:rPr lang="en-US" dirty="0">
                <a:solidFill>
                  <a:srgbClr val="333333"/>
                </a:solidFill>
              </a:rPr>
              <a:t>is  </a:t>
            </a:r>
            <a:r>
              <a:rPr lang="en-US" spc="-4" dirty="0">
                <a:solidFill>
                  <a:srgbClr val="333333"/>
                </a:solidFill>
              </a:rPr>
              <a:t>measured </a:t>
            </a:r>
            <a:r>
              <a:rPr lang="en-US" dirty="0">
                <a:solidFill>
                  <a:srgbClr val="333333"/>
                </a:solidFill>
              </a:rPr>
              <a:t>in </a:t>
            </a:r>
            <a:r>
              <a:rPr lang="en-US" spc="-4" dirty="0">
                <a:solidFill>
                  <a:srgbClr val="333333"/>
                </a:solidFill>
              </a:rPr>
              <a:t>Megahertz (10</a:t>
            </a:r>
            <a:r>
              <a:rPr lang="en-US" spc="-6" baseline="23148" dirty="0">
                <a:solidFill>
                  <a:srgbClr val="333333"/>
                </a:solidFill>
              </a:rPr>
              <a:t>6 </a:t>
            </a:r>
            <a:r>
              <a:rPr lang="en-US" spc="-4" dirty="0">
                <a:solidFill>
                  <a:srgbClr val="333333"/>
                </a:solidFill>
              </a:rPr>
              <a:t>cycles/sec) </a:t>
            </a:r>
            <a:r>
              <a:rPr lang="en-US" dirty="0">
                <a:solidFill>
                  <a:srgbClr val="333333"/>
                </a:solidFill>
              </a:rPr>
              <a:t>or </a:t>
            </a:r>
            <a:r>
              <a:rPr lang="en-US" spc="-4" dirty="0">
                <a:solidFill>
                  <a:srgbClr val="333333"/>
                </a:solidFill>
              </a:rPr>
              <a:t>Gigahertz (10</a:t>
            </a:r>
            <a:r>
              <a:rPr lang="en-US" spc="-6" baseline="23148" dirty="0">
                <a:solidFill>
                  <a:srgbClr val="333333"/>
                </a:solidFill>
              </a:rPr>
              <a:t>9 </a:t>
            </a:r>
            <a:r>
              <a:rPr lang="en-US" sz="1800" spc="-4" dirty="0">
                <a:solidFill>
                  <a:srgbClr val="333333"/>
                </a:solidFill>
              </a:rPr>
              <a:t> </a:t>
            </a:r>
            <a:r>
              <a:rPr lang="en-US" spc="-4" dirty="0">
                <a:solidFill>
                  <a:srgbClr val="333333"/>
                </a:solidFill>
              </a:rPr>
              <a:t>cycles/sec)</a:t>
            </a:r>
            <a:endParaRPr lang="en-US" dirty="0"/>
          </a:p>
          <a:p>
            <a:endParaRPr lang="en-US" dirty="0"/>
          </a:p>
          <a:p>
            <a:endParaRPr lang="LID4096" dirty="0"/>
          </a:p>
        </p:txBody>
      </p:sp>
    </p:spTree>
    <p:extLst>
      <p:ext uri="{BB962C8B-B14F-4D97-AF65-F5344CB8AC3E}">
        <p14:creationId xmlns:p14="http://schemas.microsoft.com/office/powerpoint/2010/main" val="1742317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E7C2-8788-4B2D-8FE4-4A586BC01A6E}"/>
              </a:ext>
            </a:extLst>
          </p:cNvPr>
          <p:cNvSpPr>
            <a:spLocks noGrp="1"/>
          </p:cNvSpPr>
          <p:nvPr>
            <p:ph type="title"/>
          </p:nvPr>
        </p:nvSpPr>
        <p:spPr/>
        <p:txBody>
          <a:bodyPr/>
          <a:lstStyle/>
          <a:p>
            <a:r>
              <a:rPr lang="en-US" dirty="0"/>
              <a:t>ACTIVITY</a:t>
            </a:r>
            <a:endParaRPr lang="LID4096" dirty="0"/>
          </a:p>
        </p:txBody>
      </p:sp>
      <p:sp>
        <p:nvSpPr>
          <p:cNvPr id="3" name="Content Placeholder 2">
            <a:extLst>
              <a:ext uri="{FF2B5EF4-FFF2-40B4-BE49-F238E27FC236}">
                <a16:creationId xmlns:a16="http://schemas.microsoft.com/office/drawing/2014/main" id="{53ABAE1A-354F-41A8-BC42-8B14239AE8D7}"/>
              </a:ext>
            </a:extLst>
          </p:cNvPr>
          <p:cNvSpPr>
            <a:spLocks noGrp="1"/>
          </p:cNvSpPr>
          <p:nvPr>
            <p:ph idx="1"/>
          </p:nvPr>
        </p:nvSpPr>
        <p:spPr/>
        <p:txBody>
          <a:bodyPr>
            <a:normAutofit/>
          </a:bodyPr>
          <a:lstStyle/>
          <a:p>
            <a:r>
              <a:rPr lang="en-US" dirty="0"/>
              <a:t>Develop fetch and execute cycle with instructions, manipulating registers memory and change the state of memory. </a:t>
            </a:r>
          </a:p>
          <a:p>
            <a:r>
              <a:rPr lang="en-US" dirty="0">
                <a:solidFill>
                  <a:srgbClr val="000000"/>
                </a:solidFill>
              </a:rPr>
              <a:t>ADD X, Y, Z</a:t>
            </a:r>
          </a:p>
          <a:p>
            <a:pPr marL="0" indent="0">
              <a:buNone/>
            </a:pPr>
            <a:r>
              <a:rPr lang="en-US" dirty="0">
                <a:solidFill>
                  <a:srgbClr val="000000"/>
                </a:solidFill>
              </a:rPr>
              <a:t>X=27</a:t>
            </a:r>
          </a:p>
          <a:p>
            <a:pPr marL="0" indent="0">
              <a:buNone/>
            </a:pPr>
            <a:r>
              <a:rPr lang="en-US" dirty="0">
                <a:solidFill>
                  <a:srgbClr val="000000"/>
                </a:solidFill>
              </a:rPr>
              <a:t>Y=56</a:t>
            </a:r>
          </a:p>
          <a:p>
            <a:pPr marL="0" indent="0">
              <a:buNone/>
            </a:pPr>
            <a:r>
              <a:rPr lang="en-US" dirty="0">
                <a:solidFill>
                  <a:srgbClr val="000000"/>
                </a:solidFill>
              </a:rPr>
              <a:t>Z=60</a:t>
            </a:r>
          </a:p>
          <a:p>
            <a:pPr marL="0" indent="0">
              <a:buNone/>
            </a:pPr>
            <a:r>
              <a:rPr lang="en-US" dirty="0">
                <a:solidFill>
                  <a:srgbClr val="000000"/>
                </a:solidFill>
              </a:rPr>
              <a:t>!! Convert XYZ in to 8bit address</a:t>
            </a:r>
          </a:p>
        </p:txBody>
      </p:sp>
    </p:spTree>
    <p:extLst>
      <p:ext uri="{BB962C8B-B14F-4D97-AF65-F5344CB8AC3E}">
        <p14:creationId xmlns:p14="http://schemas.microsoft.com/office/powerpoint/2010/main" val="18321751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1211B-22CC-4E8C-A8E3-D53F66750C02}"/>
              </a:ext>
            </a:extLst>
          </p:cNvPr>
          <p:cNvSpPr>
            <a:spLocks noGrp="1"/>
          </p:cNvSpPr>
          <p:nvPr>
            <p:ph type="title"/>
          </p:nvPr>
        </p:nvSpPr>
        <p:spPr/>
        <p:txBody>
          <a:bodyPr/>
          <a:lstStyle/>
          <a:p>
            <a:r>
              <a:rPr lang="en-US" dirty="0"/>
              <a:t>Recommended</a:t>
            </a:r>
            <a:endParaRPr lang="LID4096" dirty="0"/>
          </a:p>
        </p:txBody>
      </p:sp>
      <p:sp>
        <p:nvSpPr>
          <p:cNvPr id="3" name="Content Placeholder 2">
            <a:extLst>
              <a:ext uri="{FF2B5EF4-FFF2-40B4-BE49-F238E27FC236}">
                <a16:creationId xmlns:a16="http://schemas.microsoft.com/office/drawing/2014/main" id="{949AE23F-165B-41E7-A795-F2E4B9537CCB}"/>
              </a:ext>
            </a:extLst>
          </p:cNvPr>
          <p:cNvSpPr>
            <a:spLocks noGrp="1"/>
          </p:cNvSpPr>
          <p:nvPr>
            <p:ph idx="1"/>
          </p:nvPr>
        </p:nvSpPr>
        <p:spPr/>
        <p:txBody>
          <a:bodyPr/>
          <a:lstStyle/>
          <a:p>
            <a:r>
              <a:rPr lang="en-US" dirty="0">
                <a:hlinkClick r:id="rId2"/>
              </a:rPr>
              <a:t>https://www.futurelearn.com/courses/how-computers-work/0/steps/49284</a:t>
            </a:r>
            <a:endParaRPr lang="LID4096" dirty="0"/>
          </a:p>
        </p:txBody>
      </p:sp>
    </p:spTree>
    <p:extLst>
      <p:ext uri="{BB962C8B-B14F-4D97-AF65-F5344CB8AC3E}">
        <p14:creationId xmlns:p14="http://schemas.microsoft.com/office/powerpoint/2010/main" val="17869691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B23EB71-1E20-4D30-BDA8-B9128D4AABD9}"/>
              </a:ext>
            </a:extLst>
          </p:cNvPr>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956773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3</TotalTime>
  <Words>3012</Words>
  <Application>Microsoft Office PowerPoint</Application>
  <PresentationFormat>Widescreen</PresentationFormat>
  <Paragraphs>560</Paragraphs>
  <Slides>78</Slides>
  <Notes>19</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Calibri</vt:lpstr>
      <vt:lpstr>Century Gothic</vt:lpstr>
      <vt:lpstr>Garamond</vt:lpstr>
      <vt:lpstr>Times</vt:lpstr>
      <vt:lpstr>Times New Roman</vt:lpstr>
      <vt:lpstr>Verdana</vt:lpstr>
      <vt:lpstr>Wingdings</vt:lpstr>
      <vt:lpstr>Savon</vt:lpstr>
      <vt:lpstr>PowerPoint Presentation</vt:lpstr>
      <vt:lpstr>Computer Organization</vt:lpstr>
      <vt:lpstr>Computer Organization</vt:lpstr>
      <vt:lpstr>Parts of the Computer System</vt:lpstr>
      <vt:lpstr>Parts of the Computer System</vt:lpstr>
      <vt:lpstr>1.Hardware</vt:lpstr>
      <vt:lpstr>Essential Computer Hardware</vt:lpstr>
      <vt:lpstr>Inside the box</vt:lpstr>
      <vt:lpstr>Mother-board</vt:lpstr>
      <vt:lpstr>Central Processing Unit</vt:lpstr>
      <vt:lpstr>Arithmetic Logic Unit- ALU</vt:lpstr>
      <vt:lpstr>How an ALU Works</vt:lpstr>
      <vt:lpstr>Control Unit (CU)</vt:lpstr>
      <vt:lpstr>RAM&amp;ROM</vt:lpstr>
      <vt:lpstr>Storage devices</vt:lpstr>
      <vt:lpstr>I/O devices</vt:lpstr>
      <vt:lpstr>Software</vt:lpstr>
      <vt:lpstr>Software</vt:lpstr>
      <vt:lpstr>Basic organization of computer system</vt:lpstr>
      <vt:lpstr>Basic organization of computer system</vt:lpstr>
      <vt:lpstr>Von Neumann Basic Structure</vt:lpstr>
      <vt:lpstr>PowerPoint Presentation</vt:lpstr>
      <vt:lpstr>PROCESSOR AND MEMORY</vt:lpstr>
      <vt:lpstr>Basic Processor &amp; Memory Architecture  of a Computer System</vt:lpstr>
      <vt:lpstr>Computer BUS</vt:lpstr>
      <vt:lpstr>PowerPoint Presentation</vt:lpstr>
      <vt:lpstr>PowerPoint Presentation</vt:lpstr>
      <vt:lpstr>PowerPoint Presentation</vt:lpstr>
      <vt:lpstr>Instruction Set</vt:lpstr>
      <vt:lpstr>Registers</vt:lpstr>
      <vt:lpstr>Functions of Commonly Used Registers</vt:lpstr>
      <vt:lpstr>CPU Registers</vt:lpstr>
      <vt:lpstr>CPU Registers</vt:lpstr>
      <vt:lpstr>Fetch decode execute cycle</vt:lpstr>
      <vt:lpstr>Fetch decode execute cycle</vt:lpstr>
      <vt:lpstr>The Fetch/Execute Cycle</vt:lpstr>
      <vt:lpstr>A Five-Step Cycle</vt:lpstr>
      <vt:lpstr>A Five-Step Cycle</vt:lpstr>
      <vt:lpstr>ADD 800, 428, 884</vt:lpstr>
      <vt:lpstr>Instruction Fetch (IF)</vt:lpstr>
      <vt:lpstr>IF</vt:lpstr>
      <vt:lpstr>Instruction Decode (ID)</vt:lpstr>
      <vt:lpstr>ID</vt:lpstr>
      <vt:lpstr>Data Fetch (DF)</vt:lpstr>
      <vt:lpstr>DF</vt:lpstr>
      <vt:lpstr>Instruction Execution (EX)</vt:lpstr>
      <vt:lpstr>EX</vt:lpstr>
      <vt:lpstr>Return Result (RR)</vt:lpstr>
      <vt:lpstr>RR</vt:lpstr>
      <vt:lpstr>Cycling the Fetch/Execute Cycle</vt:lpstr>
      <vt:lpstr>Many, Many Simple Operations</vt:lpstr>
      <vt:lpstr>Processor and Memory</vt:lpstr>
      <vt:lpstr>Memory</vt:lpstr>
      <vt:lpstr>Memory</vt:lpstr>
      <vt:lpstr>Byte-Size Memory Location</vt:lpstr>
      <vt:lpstr>Byte-Size Memory Location</vt:lpstr>
      <vt:lpstr>RAM</vt:lpstr>
      <vt:lpstr>Storage Evaluation Criteria</vt:lpstr>
      <vt:lpstr>Main Memory Organization </vt:lpstr>
      <vt:lpstr>Fixed Word-length Memory</vt:lpstr>
      <vt:lpstr>Variable Word-length Memory</vt:lpstr>
      <vt:lpstr>Memory Capacity</vt:lpstr>
      <vt:lpstr>Control unit-CU</vt:lpstr>
      <vt:lpstr>Task</vt:lpstr>
      <vt:lpstr>task</vt:lpstr>
      <vt:lpstr>Storage Hierarchy</vt:lpstr>
      <vt:lpstr>The Program Counter (PC)</vt:lpstr>
      <vt:lpstr>The Program Counter</vt:lpstr>
      <vt:lpstr>The Computer Clock</vt:lpstr>
      <vt:lpstr>The Computer Clock</vt:lpstr>
      <vt:lpstr>Standard Prefixes</vt:lpstr>
      <vt:lpstr>One Cycle per Clock Tick</vt:lpstr>
      <vt:lpstr>Computer’s View of Software</vt:lpstr>
      <vt:lpstr>Computer’s View of Software</vt:lpstr>
      <vt:lpstr>Processor Speed</vt:lpstr>
      <vt:lpstr>ACTIVITY</vt:lpstr>
      <vt:lpstr>Recommended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cp:revision>
  <dcterms:created xsi:type="dcterms:W3CDTF">2019-09-04T10:02:18Z</dcterms:created>
  <dcterms:modified xsi:type="dcterms:W3CDTF">2019-09-04T10:05:34Z</dcterms:modified>
</cp:coreProperties>
</file>