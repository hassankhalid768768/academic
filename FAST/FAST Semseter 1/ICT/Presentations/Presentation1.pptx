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3" r:id="rId1"/>
  </p:sldMasterIdLst>
  <p:sldIdLst>
    <p:sldId id="256" r:id="rId2"/>
    <p:sldId id="269" r:id="rId3"/>
    <p:sldId id="258" r:id="rId4"/>
    <p:sldId id="259" r:id="rId5"/>
    <p:sldId id="260" r:id="rId6"/>
    <p:sldId id="261" r:id="rId7"/>
    <p:sldId id="266" r:id="rId8"/>
    <p:sldId id="262" r:id="rId9"/>
    <p:sldId id="264" r:id="rId10"/>
    <p:sldId id="263" r:id="rId11"/>
    <p:sldId id="265" r:id="rId12"/>
    <p:sldId id="267" r:id="rId13"/>
    <p:sldId id="268"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084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5EC50E-9E07-9DB5-E38A-4424B2AB4174}" v="255" dt="2021-11-20T08:34:43.377"/>
    <p1510:client id="{9B9927ED-6FB3-8D6B-28C0-4C0C58428EF2}" v="173" dt="2021-11-20T08:54:52.405"/>
    <p1510:client id="{A4606870-939B-4A3B-828E-B7A9BCD8F76D}" v="473" dt="2021-11-20T08:00:22.6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dirty="0"/>
              <a:t>Click to edit Master title style</a:t>
            </a:r>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11/20/2021</a:t>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6831163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11/20/2021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2968266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dirty="0"/>
              <a:t>Click to edit Master title style</a:t>
            </a:r>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404136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dirty="0"/>
              <a:t>Click to edit Master title style</a:t>
            </a:r>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11/20/2021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0753755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11/20/2021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65531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11/20/2021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7262492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11/20/2021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8210201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dirty="0"/>
              <a:t>Click to edit Master title style</a:t>
            </a:r>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11/20/2021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6351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dirty="0"/>
              <a:t>Click to edit Master title style</a:t>
            </a:r>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11/20/2021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6157514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dirty="0"/>
              <a:t>Click to edit Master title style</a:t>
            </a:r>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11/20/2021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45985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dirty="0"/>
              <a:t>Click to edit Master title style</a:t>
            </a:r>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6187549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dirty="0"/>
              <a:t>Click to edit Master title style</a:t>
            </a:r>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4740565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dirty="0"/>
              <a:t>Click to edit Master title style</a:t>
            </a:r>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9846588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dirty="0"/>
              <a:t>Click to edit Master title style</a:t>
            </a:r>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dirty="0"/>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6336033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dirty="0"/>
              <a:t>Click to edit Master title style</a:t>
            </a:r>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dirty="0"/>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942311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11/20/2021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423433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11/20/2021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7310924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11/20/2021</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826480333"/>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 id="2147483736" r:id="rId13"/>
    <p:sldLayoutId id="2147483737" r:id="rId14"/>
    <p:sldLayoutId id="2147483738" r:id="rId15"/>
    <p:sldLayoutId id="2147483739" r:id="rId16"/>
    <p:sldLayoutId id="2147483740"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xfinity.com/learn/home-security/features/safety-and-security" TargetMode="External"/><Relationship Id="rId2" Type="http://schemas.openxmlformats.org/officeDocument/2006/relationships/hyperlink" Target="https://www.xfinity.com/learn/home-security/devices/zen-thermostat"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zdnet.com/article/ten-examples-of-iot-and-big-data-working-well-together/" TargetMode="External"/><Relationship Id="rId2" Type="http://schemas.openxmlformats.org/officeDocument/2006/relationships/hyperlink" Target="https://www.zdnet.com/article/how-sensors-enabled-eli-lilly-to-improve-the-patient-experience/"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zdnet.com/article/johnson-controls-cortana-powered-thermostat-is-up-for-preorder-in-march/" TargetMode="External"/><Relationship Id="rId2" Type="http://schemas.openxmlformats.org/officeDocument/2006/relationships/hyperlink" Target="https://www.zdnet.com/article/building-my-own-internet-of-things-ambient-experience-one-step-at-a-time/" TargetMode="External"/><Relationship Id="rId1" Type="http://schemas.openxmlformats.org/officeDocument/2006/relationships/slideLayout" Target="../slideLayouts/slideLayout2.xml"/><Relationship Id="rId6" Type="http://schemas.openxmlformats.org/officeDocument/2006/relationships/hyperlink" Target="https://www.zdnet.com/article/las-vegas-announces-smart-city-plans-with-cisco/" TargetMode="External"/><Relationship Id="rId5" Type="http://schemas.openxmlformats.org/officeDocument/2006/relationships/hyperlink" Target="https://www.zdnet.com/article/driverless-trucks-are-coming-but-for-now-adoption-is-in-the-slow-lane/" TargetMode="External"/><Relationship Id="rId4" Type="http://schemas.openxmlformats.org/officeDocument/2006/relationships/hyperlink" Target="https://www.zdnet.com/article/fbi-to-parents-beware-your-kids-smart-toy-could-be-a-security-risk/"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110655" y="3875643"/>
            <a:ext cx="9007855" cy="2905822"/>
          </a:xfrm>
        </p:spPr>
        <p:txBody>
          <a:bodyPr vert="horz" lIns="0" tIns="0" rIns="0" bIns="0" rtlCol="0">
            <a:normAutofit/>
          </a:bodyPr>
          <a:lstStyle/>
          <a:p>
            <a:pPr algn="ctr">
              <a:lnSpc>
                <a:spcPct val="90000"/>
              </a:lnSpc>
            </a:pPr>
            <a:r>
              <a:rPr lang="en-US" sz="4000" b="1" dirty="0">
                <a:solidFill>
                  <a:srgbClr val="00B050"/>
                </a:solidFill>
              </a:rPr>
              <a:t>HOME AUTOMATION</a:t>
            </a:r>
            <a:br>
              <a:rPr lang="en-US" sz="4000" b="1" dirty="0">
                <a:solidFill>
                  <a:srgbClr val="00B050"/>
                </a:solidFill>
              </a:rPr>
            </a:br>
            <a:r>
              <a:rPr lang="en-US" sz="4000" b="1" dirty="0">
                <a:solidFill>
                  <a:srgbClr val="00B050"/>
                </a:solidFill>
              </a:rPr>
              <a:t>INTERNET OF THINGS</a:t>
            </a:r>
            <a:br>
              <a:rPr lang="en-US" sz="4000" b="1" dirty="0">
                <a:solidFill>
                  <a:srgbClr val="00B050"/>
                </a:solidFill>
              </a:rPr>
            </a:br>
            <a:br>
              <a:rPr lang="en-US" sz="4000" dirty="0">
                <a:solidFill>
                  <a:srgbClr val="00B050"/>
                </a:solidFill>
              </a:rPr>
            </a:br>
            <a:r>
              <a:rPr lang="en-US" sz="4000" dirty="0">
                <a:solidFill>
                  <a:srgbClr val="FFC000"/>
                </a:solidFill>
                <a:latin typeface="Algerian"/>
              </a:rPr>
              <a:t>MUHAMMAD HASSAN KAHLID</a:t>
            </a:r>
            <a:br>
              <a:rPr lang="en-US" sz="4000" dirty="0">
                <a:solidFill>
                  <a:srgbClr val="FFC000"/>
                </a:solidFill>
                <a:latin typeface="Algerian"/>
              </a:rPr>
            </a:br>
            <a:r>
              <a:rPr lang="en-US" sz="4000" dirty="0">
                <a:solidFill>
                  <a:srgbClr val="FFC000"/>
                </a:solidFill>
                <a:latin typeface="Algerian"/>
              </a:rPr>
              <a:t>MUHAMMAD HAMZA</a:t>
            </a:r>
          </a:p>
        </p:txBody>
      </p:sp>
      <p:pic>
        <p:nvPicPr>
          <p:cNvPr id="112" name="Picture 2" descr="CPU with binary numbers and blueprint">
            <a:extLst>
              <a:ext uri="{FF2B5EF4-FFF2-40B4-BE49-F238E27FC236}">
                <a16:creationId xmlns:a16="http://schemas.microsoft.com/office/drawing/2014/main" id="{A5BEE572-2E24-465F-9FB6-14B0665BEA17}"/>
              </a:ext>
            </a:extLst>
          </p:cNvPr>
          <p:cNvPicPr>
            <a:picLocks noChangeAspect="1"/>
          </p:cNvPicPr>
          <p:nvPr/>
        </p:nvPicPr>
        <p:blipFill rotWithShape="1">
          <a:blip r:embed="rId2"/>
          <a:srcRect t="25622" r="-7" b="8653"/>
          <a:stretch/>
        </p:blipFill>
        <p:spPr>
          <a:xfrm>
            <a:off x="-682" y="1"/>
            <a:ext cx="12186364" cy="3805825"/>
          </a:xfrm>
          <a:prstGeom prst="rect">
            <a:avLst/>
          </a:prstGeom>
        </p:spPr>
      </p:pic>
    </p:spTree>
    <p:extLst>
      <p:ext uri="{BB962C8B-B14F-4D97-AF65-F5344CB8AC3E}">
        <p14:creationId xmlns:p14="http://schemas.microsoft.com/office/powerpoint/2010/main" val="109857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881B7-E4EE-432B-9EE0-727579E94234}"/>
              </a:ext>
            </a:extLst>
          </p:cNvPr>
          <p:cNvSpPr>
            <a:spLocks noGrp="1"/>
          </p:cNvSpPr>
          <p:nvPr>
            <p:ph type="title"/>
          </p:nvPr>
        </p:nvSpPr>
        <p:spPr/>
        <p:txBody>
          <a:bodyPr/>
          <a:lstStyle/>
          <a:p>
            <a:endParaRPr lang="en-US"/>
          </a:p>
        </p:txBody>
      </p:sp>
      <p:pic>
        <p:nvPicPr>
          <p:cNvPr id="4" name="Picture 4" descr="A picture containing indoor&#10;&#10;Description automatically generated">
            <a:extLst>
              <a:ext uri="{FF2B5EF4-FFF2-40B4-BE49-F238E27FC236}">
                <a16:creationId xmlns:a16="http://schemas.microsoft.com/office/drawing/2014/main" id="{4A166911-137C-4BE2-8FF2-9E6A480F6DBA}"/>
              </a:ext>
            </a:extLst>
          </p:cNvPr>
          <p:cNvPicPr>
            <a:picLocks noGrp="1" noChangeAspect="1"/>
          </p:cNvPicPr>
          <p:nvPr>
            <p:ph idx="1"/>
          </p:nvPr>
        </p:nvPicPr>
        <p:blipFill>
          <a:blip r:embed="rId2"/>
          <a:stretch>
            <a:fillRect/>
          </a:stretch>
        </p:blipFill>
        <p:spPr>
          <a:xfrm>
            <a:off x="1677144" y="179716"/>
            <a:ext cx="10165007" cy="5496465"/>
          </a:xfrm>
        </p:spPr>
      </p:pic>
      <p:sp>
        <p:nvSpPr>
          <p:cNvPr id="5" name="Rectangle 4">
            <a:extLst>
              <a:ext uri="{FF2B5EF4-FFF2-40B4-BE49-F238E27FC236}">
                <a16:creationId xmlns:a16="http://schemas.microsoft.com/office/drawing/2014/main" id="{830DC081-84C5-4B40-9575-82AB5F183BB2}"/>
              </a:ext>
            </a:extLst>
          </p:cNvPr>
          <p:cNvSpPr/>
          <p:nvPr/>
        </p:nvSpPr>
        <p:spPr>
          <a:xfrm>
            <a:off x="9563819" y="6336102"/>
            <a:ext cx="2458527" cy="345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FROM </a:t>
            </a:r>
            <a:r>
              <a:rPr lang="en-US" dirty="0" err="1"/>
              <a:t>elnofochips</a:t>
            </a:r>
          </a:p>
        </p:txBody>
      </p:sp>
    </p:spTree>
    <p:extLst>
      <p:ext uri="{BB962C8B-B14F-4D97-AF65-F5344CB8AC3E}">
        <p14:creationId xmlns:p14="http://schemas.microsoft.com/office/powerpoint/2010/main" val="18595268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1F4E76-949A-48E3-AF64-931BD4AD6D8A}"/>
              </a:ext>
            </a:extLst>
          </p:cNvPr>
          <p:cNvSpPr>
            <a:spLocks noGrp="1"/>
          </p:cNvSpPr>
          <p:nvPr>
            <p:ph idx="1"/>
          </p:nvPr>
        </p:nvSpPr>
        <p:spPr>
          <a:xfrm>
            <a:off x="1595146" y="1530926"/>
            <a:ext cx="10018713" cy="3124201"/>
          </a:xfrm>
        </p:spPr>
        <p:txBody>
          <a:bodyPr vert="horz" lIns="91440" tIns="45720" rIns="91440" bIns="45720" rtlCol="0" anchor="ctr">
            <a:noAutofit/>
          </a:bodyPr>
          <a:lstStyle/>
          <a:p>
            <a:pPr marL="0" indent="0" algn="ctr">
              <a:buNone/>
            </a:pPr>
            <a:endParaRPr lang="en-US" sz="3200" b="1" dirty="0">
              <a:ea typeface="+mn-lt"/>
              <a:cs typeface="+mn-lt"/>
            </a:endParaRPr>
          </a:p>
          <a:p>
            <a:pPr algn="ctr">
              <a:buNone/>
            </a:pPr>
            <a:r>
              <a:rPr lang="en-US" sz="3200" u="sng" dirty="0">
                <a:latin typeface="Cooper Black"/>
                <a:ea typeface="+mn-lt"/>
                <a:cs typeface="+mn-lt"/>
              </a:rPr>
              <a:t>WHAT IS HOME AUTOMATION?</a:t>
            </a:r>
            <a:endParaRPr lang="en-US" sz="3200" dirty="0">
              <a:ea typeface="+mn-lt"/>
              <a:cs typeface="+mn-lt"/>
            </a:endParaRPr>
          </a:p>
          <a:p>
            <a:pPr marL="0" indent="0" algn="ctr">
              <a:buNone/>
            </a:pPr>
            <a:r>
              <a:rPr lang="en-US" sz="3200" b="1" dirty="0">
                <a:ea typeface="+mn-lt"/>
                <a:cs typeface="+mn-lt"/>
              </a:rPr>
              <a:t>Home automation is a network of hardware, communication, and electronic interfaces that work to integrate everyday devices with one another via the Internet. Each device has sensors and is connected through </a:t>
            </a:r>
            <a:r>
              <a:rPr lang="en-US" sz="3200" b="1" dirty="0" err="1">
                <a:ea typeface="+mn-lt"/>
                <a:cs typeface="+mn-lt"/>
              </a:rPr>
              <a:t>WiFi</a:t>
            </a:r>
            <a:r>
              <a:rPr lang="en-US" sz="3200" b="1" dirty="0">
                <a:ea typeface="+mn-lt"/>
                <a:cs typeface="+mn-lt"/>
              </a:rPr>
              <a:t>, so you can manage them from your smartphone or tablet whether you’re at home, or miles away. This allows you to turn on the lights, lock the front door, or even turn down the heat, no matter where you are.</a:t>
            </a:r>
            <a:endParaRPr lang="en-US" sz="3200" b="1"/>
          </a:p>
        </p:txBody>
      </p:sp>
      <p:sp>
        <p:nvSpPr>
          <p:cNvPr id="4" name="TextBox 3">
            <a:extLst>
              <a:ext uri="{FF2B5EF4-FFF2-40B4-BE49-F238E27FC236}">
                <a16:creationId xmlns:a16="http://schemas.microsoft.com/office/drawing/2014/main" id="{32D23112-5914-4459-B4C0-F01B21D81CAF}"/>
              </a:ext>
            </a:extLst>
          </p:cNvPr>
          <p:cNvSpPr txBox="1"/>
          <p:nvPr/>
        </p:nvSpPr>
        <p:spPr>
          <a:xfrm>
            <a:off x="8465128" y="6345383"/>
            <a:ext cx="349134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highlight>
                  <a:srgbClr val="00FFFF"/>
                </a:highlight>
                <a:latin typeface="XfinityStandard"/>
              </a:rPr>
              <a:t>FROM XFINITY Discovery Hub</a:t>
            </a:r>
          </a:p>
        </p:txBody>
      </p:sp>
    </p:spTree>
    <p:extLst>
      <p:ext uri="{BB962C8B-B14F-4D97-AF65-F5344CB8AC3E}">
        <p14:creationId xmlns:p14="http://schemas.microsoft.com/office/powerpoint/2010/main" val="3316647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4F0E34-7E84-4E76-A07D-EC738DFC546E}"/>
              </a:ext>
            </a:extLst>
          </p:cNvPr>
          <p:cNvSpPr>
            <a:spLocks noGrp="1"/>
          </p:cNvSpPr>
          <p:nvPr>
            <p:ph idx="1"/>
          </p:nvPr>
        </p:nvSpPr>
        <p:spPr>
          <a:xfrm>
            <a:off x="1719837" y="2417617"/>
            <a:ext cx="10018713" cy="3124201"/>
          </a:xfrm>
        </p:spPr>
        <p:txBody>
          <a:bodyPr vert="horz" lIns="91440" tIns="45720" rIns="91440" bIns="45720" rtlCol="0" anchor="ctr">
            <a:noAutofit/>
          </a:bodyPr>
          <a:lstStyle/>
          <a:p>
            <a:pPr marL="0" indent="0">
              <a:buNone/>
            </a:pPr>
            <a:r>
              <a:rPr lang="en-US" sz="2800" b="1" dirty="0">
                <a:ea typeface="+mn-lt"/>
                <a:cs typeface="+mn-lt"/>
              </a:rPr>
              <a:t>There are three main elements of a home automation system: sensors, controllers, and actuators.</a:t>
            </a:r>
            <a:endParaRPr lang="en-US" sz="2800" b="1"/>
          </a:p>
          <a:p>
            <a:pPr>
              <a:buClr>
                <a:srgbClr val="1287C3"/>
              </a:buClr>
            </a:pPr>
            <a:r>
              <a:rPr lang="en-US" sz="2800" dirty="0">
                <a:ea typeface="+mn-lt"/>
                <a:cs typeface="+mn-lt"/>
              </a:rPr>
              <a:t>Sensors can monitor changes in daylight, temperature, or motion detection. Home automation systems can then adjust those settings (and more) to your preferences.</a:t>
            </a:r>
            <a:endParaRPr lang="en-US" sz="2800"/>
          </a:p>
          <a:p>
            <a:pPr>
              <a:buClr>
                <a:srgbClr val="1287C3"/>
              </a:buClr>
            </a:pPr>
            <a:r>
              <a:rPr lang="en-US" sz="2800" dirty="0">
                <a:ea typeface="+mn-lt"/>
                <a:cs typeface="+mn-lt"/>
              </a:rPr>
              <a:t>Controllers refer to the devices — personal computers, tablets or smartphones — used to send and receive messages about the status of automated features in your home.</a:t>
            </a:r>
            <a:endParaRPr lang="en-US" sz="2800"/>
          </a:p>
          <a:p>
            <a:pPr>
              <a:buClr>
                <a:srgbClr val="1287C3"/>
              </a:buClr>
            </a:pPr>
            <a:r>
              <a:rPr lang="en-US" sz="2800" dirty="0">
                <a:ea typeface="+mn-lt"/>
                <a:cs typeface="+mn-lt"/>
              </a:rPr>
              <a:t>Actuators may be light switches, motors, or motorized valves that control the actual mechanism, or function, of a home automation system. They are programmed to be activated by a remote command from a controller.</a:t>
            </a:r>
            <a:endParaRPr lang="en-US" sz="2800"/>
          </a:p>
          <a:p>
            <a:pPr>
              <a:buClr>
                <a:srgbClr val="1287C3"/>
              </a:buClr>
            </a:pPr>
            <a:endParaRPr lang="en-US" sz="2800" dirty="0"/>
          </a:p>
          <a:p>
            <a:pPr>
              <a:buClr>
                <a:srgbClr val="1287C3"/>
              </a:buClr>
            </a:pPr>
            <a:endParaRPr lang="en-US" sz="2800" dirty="0"/>
          </a:p>
          <a:p>
            <a:pPr>
              <a:buClr>
                <a:srgbClr val="1287C3"/>
              </a:buClr>
            </a:pPr>
            <a:endParaRPr lang="en-US" dirty="0"/>
          </a:p>
        </p:txBody>
      </p:sp>
      <p:sp>
        <p:nvSpPr>
          <p:cNvPr id="4" name="Rectangle 3">
            <a:extLst>
              <a:ext uri="{FF2B5EF4-FFF2-40B4-BE49-F238E27FC236}">
                <a16:creationId xmlns:a16="http://schemas.microsoft.com/office/drawing/2014/main" id="{77D0F3A0-057A-42DE-B2A4-B65C27AFEE36}"/>
              </a:ext>
            </a:extLst>
          </p:cNvPr>
          <p:cNvSpPr/>
          <p:nvPr/>
        </p:nvSpPr>
        <p:spPr>
          <a:xfrm>
            <a:off x="8617527" y="6338454"/>
            <a:ext cx="3186546" cy="3325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dirty="0"/>
              <a:t>FROM XFINITY Discovery Hub</a:t>
            </a:r>
          </a:p>
          <a:p>
            <a:pPr algn="ctr"/>
            <a:endParaRPr lang="en-US" dirty="0"/>
          </a:p>
        </p:txBody>
      </p:sp>
    </p:spTree>
    <p:extLst>
      <p:ext uri="{BB962C8B-B14F-4D97-AF65-F5344CB8AC3E}">
        <p14:creationId xmlns:p14="http://schemas.microsoft.com/office/powerpoint/2010/main" val="35691155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4C76795-6969-4870-820A-B20B18142F74}"/>
              </a:ext>
            </a:extLst>
          </p:cNvPr>
          <p:cNvSpPr txBox="1"/>
          <p:nvPr/>
        </p:nvSpPr>
        <p:spPr>
          <a:xfrm>
            <a:off x="1717964" y="955964"/>
            <a:ext cx="9975272"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solidFill>
                  <a:srgbClr val="44484C"/>
                </a:solidFill>
                <a:latin typeface="XfinityStandard"/>
              </a:rPr>
              <a:t>Home automation systems offer a variety of services and functions. Some of the more common features available through these platforms include:</a:t>
            </a:r>
          </a:p>
          <a:p>
            <a:pPr>
              <a:buChar char="•"/>
            </a:pPr>
            <a:endParaRPr lang="en-US" sz="2000" dirty="0">
              <a:solidFill>
                <a:srgbClr val="191919"/>
              </a:solidFill>
              <a:latin typeface="XfinityStandard"/>
            </a:endParaRPr>
          </a:p>
          <a:p>
            <a:pPr>
              <a:buChar char="•"/>
            </a:pPr>
            <a:r>
              <a:rPr lang="en-US" sz="2000" dirty="0">
                <a:solidFill>
                  <a:srgbClr val="191919"/>
                </a:solidFill>
                <a:latin typeface="XfinityStandard"/>
              </a:rPr>
              <a:t>Fire and carbon monoxide monitoring</a:t>
            </a:r>
            <a:endParaRPr lang="en-US" dirty="0"/>
          </a:p>
          <a:p>
            <a:pPr>
              <a:buChar char="•"/>
            </a:pPr>
            <a:r>
              <a:rPr lang="en-US" sz="2000" dirty="0">
                <a:solidFill>
                  <a:srgbClr val="191919"/>
                </a:solidFill>
                <a:latin typeface="XfinityStandard"/>
              </a:rPr>
              <a:t>Remote lighting control</a:t>
            </a:r>
          </a:p>
          <a:p>
            <a:pPr>
              <a:buChar char="•"/>
            </a:pPr>
            <a:r>
              <a:rPr lang="en-US" sz="2000" dirty="0">
                <a:solidFill>
                  <a:srgbClr val="0272B6"/>
                </a:solidFill>
                <a:latin typeface="XfinityStandard"/>
                <a:hlinkClick r:id="rId2"/>
              </a:rPr>
              <a:t>Thermostat control</a:t>
            </a:r>
            <a:endParaRPr lang="en-US" sz="2000" dirty="0">
              <a:solidFill>
                <a:srgbClr val="0272B6"/>
              </a:solidFill>
              <a:latin typeface="XfinityStandard"/>
            </a:endParaRPr>
          </a:p>
          <a:p>
            <a:pPr>
              <a:buChar char="•"/>
            </a:pPr>
            <a:r>
              <a:rPr lang="en-US" sz="2000" dirty="0">
                <a:solidFill>
                  <a:srgbClr val="191919"/>
                </a:solidFill>
                <a:latin typeface="XfinityStandard"/>
              </a:rPr>
              <a:t>Appliance control</a:t>
            </a:r>
          </a:p>
          <a:p>
            <a:pPr>
              <a:buChar char="•"/>
            </a:pPr>
            <a:r>
              <a:rPr lang="en-US" sz="2000" dirty="0">
                <a:solidFill>
                  <a:srgbClr val="191919"/>
                </a:solidFill>
                <a:latin typeface="XfinityStandard"/>
              </a:rPr>
              <a:t>Home automation security systems and cameras</a:t>
            </a:r>
          </a:p>
          <a:p>
            <a:pPr>
              <a:buChar char="•"/>
            </a:pPr>
            <a:r>
              <a:rPr lang="en-US" sz="2000" dirty="0">
                <a:solidFill>
                  <a:srgbClr val="0272B6"/>
                </a:solidFill>
                <a:latin typeface="XfinityStandard"/>
                <a:hlinkClick r:id="rId3"/>
              </a:rPr>
              <a:t>Live video surveillance</a:t>
            </a:r>
            <a:endParaRPr lang="en-US" sz="2000" dirty="0">
              <a:solidFill>
                <a:srgbClr val="0272B6"/>
              </a:solidFill>
              <a:latin typeface="XfinityStandard"/>
            </a:endParaRPr>
          </a:p>
          <a:p>
            <a:pPr>
              <a:buChar char="•"/>
            </a:pPr>
            <a:r>
              <a:rPr lang="en-US" sz="2000" dirty="0">
                <a:solidFill>
                  <a:srgbClr val="191919"/>
                </a:solidFill>
                <a:latin typeface="XfinityStandard"/>
              </a:rPr>
              <a:t>Alarm systems</a:t>
            </a:r>
          </a:p>
          <a:p>
            <a:pPr>
              <a:buChar char="•"/>
            </a:pPr>
            <a:r>
              <a:rPr lang="en-US" sz="2000" dirty="0">
                <a:solidFill>
                  <a:srgbClr val="191919"/>
                </a:solidFill>
                <a:latin typeface="XfinityStandard"/>
              </a:rPr>
              <a:t>Real-time text and email alerts</a:t>
            </a:r>
          </a:p>
          <a:p>
            <a:pPr>
              <a:buChar char="•"/>
            </a:pPr>
            <a:r>
              <a:rPr lang="en-US" sz="2000" dirty="0">
                <a:solidFill>
                  <a:srgbClr val="191919"/>
                </a:solidFill>
                <a:latin typeface="XfinityStandard"/>
              </a:rPr>
              <a:t>Digital personal assistant integration</a:t>
            </a:r>
          </a:p>
          <a:p>
            <a:pPr>
              <a:buChar char="•"/>
            </a:pPr>
            <a:r>
              <a:rPr lang="en-US" sz="2000" dirty="0">
                <a:solidFill>
                  <a:srgbClr val="191919"/>
                </a:solidFill>
                <a:latin typeface="XfinityStandard"/>
              </a:rPr>
              <a:t>Keyless entry</a:t>
            </a:r>
          </a:p>
          <a:p>
            <a:pPr>
              <a:buChar char="•"/>
            </a:pPr>
            <a:r>
              <a:rPr lang="en-US" sz="2000" dirty="0">
                <a:solidFill>
                  <a:srgbClr val="191919"/>
                </a:solidFill>
                <a:latin typeface="XfinityStandard"/>
              </a:rPr>
              <a:t>Voice-activated control</a:t>
            </a:r>
          </a:p>
        </p:txBody>
      </p:sp>
      <p:sp>
        <p:nvSpPr>
          <p:cNvPr id="5" name="Rectangle 4">
            <a:extLst>
              <a:ext uri="{FF2B5EF4-FFF2-40B4-BE49-F238E27FC236}">
                <a16:creationId xmlns:a16="http://schemas.microsoft.com/office/drawing/2014/main" id="{358E45D4-A568-4A33-8A0E-0A2ED5D28556}"/>
              </a:ext>
            </a:extLst>
          </p:cNvPr>
          <p:cNvSpPr/>
          <p:nvPr/>
        </p:nvSpPr>
        <p:spPr>
          <a:xfrm>
            <a:off x="8866909" y="6130636"/>
            <a:ext cx="3103418" cy="4156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a typeface="+mn-lt"/>
              <a:cs typeface="+mn-lt"/>
            </a:endParaRPr>
          </a:p>
          <a:p>
            <a:r>
              <a:rPr lang="en-US" dirty="0">
                <a:solidFill>
                  <a:schemeClr val="tx1"/>
                </a:solidFill>
                <a:ea typeface="+mn-lt"/>
                <a:cs typeface="+mn-lt"/>
              </a:rPr>
              <a:t>FROM XFINITY Discovery Hub</a:t>
            </a:r>
            <a:endParaRPr lang="en-US" dirty="0">
              <a:solidFill>
                <a:schemeClr val="tx1"/>
              </a:solidFill>
            </a:endParaRPr>
          </a:p>
          <a:p>
            <a:pPr algn="ctr"/>
            <a:endParaRPr lang="en-US" dirty="0"/>
          </a:p>
        </p:txBody>
      </p:sp>
    </p:spTree>
    <p:extLst>
      <p:ext uri="{BB962C8B-B14F-4D97-AF65-F5344CB8AC3E}">
        <p14:creationId xmlns:p14="http://schemas.microsoft.com/office/powerpoint/2010/main" val="1538833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D6C43-50EE-4351-9602-711C278EF031}"/>
              </a:ext>
            </a:extLst>
          </p:cNvPr>
          <p:cNvSpPr>
            <a:spLocks noGrp="1"/>
          </p:cNvSpPr>
          <p:nvPr>
            <p:ph type="title"/>
          </p:nvPr>
        </p:nvSpPr>
        <p:spPr>
          <a:xfrm>
            <a:off x="1996929" y="187036"/>
            <a:ext cx="10018713" cy="1752599"/>
          </a:xfrm>
        </p:spPr>
        <p:txBody>
          <a:bodyPr/>
          <a:lstStyle/>
          <a:p>
            <a:r>
              <a:rPr lang="en-US" b="1" dirty="0"/>
              <a:t>What are the benefits of home automation?</a:t>
            </a:r>
            <a:endParaRPr lang="en-US" dirty="0"/>
          </a:p>
          <a:p>
            <a:endParaRPr lang="en-US" dirty="0"/>
          </a:p>
        </p:txBody>
      </p:sp>
      <p:sp>
        <p:nvSpPr>
          <p:cNvPr id="3" name="Content Placeholder 2">
            <a:extLst>
              <a:ext uri="{FF2B5EF4-FFF2-40B4-BE49-F238E27FC236}">
                <a16:creationId xmlns:a16="http://schemas.microsoft.com/office/drawing/2014/main" id="{8F52B937-0CB5-4FC7-B221-802471A7C156}"/>
              </a:ext>
            </a:extLst>
          </p:cNvPr>
          <p:cNvSpPr>
            <a:spLocks noGrp="1"/>
          </p:cNvSpPr>
          <p:nvPr>
            <p:ph idx="1"/>
          </p:nvPr>
        </p:nvSpPr>
        <p:spPr>
          <a:xfrm>
            <a:off x="1903349" y="1864894"/>
            <a:ext cx="10018713" cy="3124201"/>
          </a:xfrm>
        </p:spPr>
        <p:txBody>
          <a:bodyPr vert="horz" lIns="91440" tIns="45720" rIns="91440" bIns="45720" rtlCol="0" anchor="ctr">
            <a:noAutofit/>
          </a:bodyPr>
          <a:lstStyle/>
          <a:p>
            <a:r>
              <a:rPr lang="en-US" sz="2000" b="1" dirty="0">
                <a:ea typeface="+mn-lt"/>
                <a:cs typeface="+mn-lt"/>
              </a:rPr>
              <a:t>Remote access: Control your home from mobile devices, including your laptop, tablet, or smartphone.</a:t>
            </a:r>
            <a:endParaRPr lang="en-US" sz="2000" b="1"/>
          </a:p>
          <a:p>
            <a:pPr>
              <a:buClr>
                <a:srgbClr val="1287C3"/>
              </a:buClr>
            </a:pPr>
            <a:r>
              <a:rPr lang="en-US" sz="2000" b="1" dirty="0">
                <a:ea typeface="+mn-lt"/>
                <a:cs typeface="+mn-lt"/>
              </a:rPr>
              <a:t>Comfort: Use home automation to make your home a more comfortable, livable space. Preprogram your thermostat with your preferred settings so that your home is always at a comfortable temperature, set up smart speakers to play music when you get home from work, or adjust your lights to soften or brighten based on the time of day.</a:t>
            </a:r>
            <a:endParaRPr lang="en-US" sz="2000" b="1"/>
          </a:p>
          <a:p>
            <a:pPr>
              <a:buClr>
                <a:srgbClr val="1287C3"/>
              </a:buClr>
            </a:pPr>
            <a:r>
              <a:rPr lang="en-US" sz="2000" b="1" dirty="0">
                <a:ea typeface="+mn-lt"/>
                <a:cs typeface="+mn-lt"/>
              </a:rPr>
              <a:t>Convenience: Program devices to turn on automatically at certain times, or access their settings remotely from anywhere with an Internet connection.</a:t>
            </a:r>
          </a:p>
          <a:p>
            <a:pPr>
              <a:buClr>
                <a:srgbClr val="1287C3"/>
              </a:buClr>
            </a:pPr>
            <a:r>
              <a:rPr lang="en-US" sz="2000" b="1" dirty="0">
                <a:ea typeface="+mn-lt"/>
                <a:cs typeface="+mn-lt"/>
              </a:rPr>
              <a:t>Increased safety: Smart fire detectors, carbon monoxide monitors, pressure sensors.</a:t>
            </a:r>
            <a:endParaRPr lang="en-US"/>
          </a:p>
          <a:p>
            <a:pPr>
              <a:buClr>
                <a:srgbClr val="1287C3"/>
              </a:buClr>
            </a:pPr>
            <a:r>
              <a:rPr lang="en-US" sz="2000" b="1" dirty="0">
                <a:ea typeface="+mn-lt"/>
                <a:cs typeface="+mn-lt"/>
              </a:rPr>
              <a:t> Energy efficiency: Home automation allows you to be more mindful of your power usage.</a:t>
            </a:r>
            <a:endParaRPr lang="en-US" sz="2000" b="1" dirty="0"/>
          </a:p>
        </p:txBody>
      </p:sp>
      <p:sp>
        <p:nvSpPr>
          <p:cNvPr id="4" name="Rectangle 3">
            <a:extLst>
              <a:ext uri="{FF2B5EF4-FFF2-40B4-BE49-F238E27FC236}">
                <a16:creationId xmlns:a16="http://schemas.microsoft.com/office/drawing/2014/main" id="{D3F2AB03-A6EC-4722-8D7C-D199A935DB4C}"/>
              </a:ext>
            </a:extLst>
          </p:cNvPr>
          <p:cNvSpPr/>
          <p:nvPr/>
        </p:nvSpPr>
        <p:spPr>
          <a:xfrm>
            <a:off x="8880764" y="6130636"/>
            <a:ext cx="3048000" cy="4849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ea typeface="+mn-lt"/>
                <a:cs typeface="+mn-lt"/>
              </a:rPr>
              <a:t>FROM XFINITY Discovery Hub</a:t>
            </a:r>
          </a:p>
        </p:txBody>
      </p:sp>
    </p:spTree>
    <p:extLst>
      <p:ext uri="{BB962C8B-B14F-4D97-AF65-F5344CB8AC3E}">
        <p14:creationId xmlns:p14="http://schemas.microsoft.com/office/powerpoint/2010/main" val="3955237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428D1-2DDF-4ECB-A7DE-365E09012618}"/>
              </a:ext>
            </a:extLst>
          </p:cNvPr>
          <p:cNvSpPr>
            <a:spLocks noGrp="1"/>
          </p:cNvSpPr>
          <p:nvPr>
            <p:ph type="title"/>
          </p:nvPr>
        </p:nvSpPr>
        <p:spPr/>
        <p:txBody>
          <a:bodyPr/>
          <a:lstStyle/>
          <a:p>
            <a:endParaRPr lang="en-US"/>
          </a:p>
        </p:txBody>
      </p:sp>
      <p:pic>
        <p:nvPicPr>
          <p:cNvPr id="4" name="Picture 4" descr="A picture containing square&#10;&#10;Description automatically generated">
            <a:extLst>
              <a:ext uri="{FF2B5EF4-FFF2-40B4-BE49-F238E27FC236}">
                <a16:creationId xmlns:a16="http://schemas.microsoft.com/office/drawing/2014/main" id="{7CD74F68-FBBE-40A9-9ED6-26BC3E6B2A4B}"/>
              </a:ext>
            </a:extLst>
          </p:cNvPr>
          <p:cNvPicPr>
            <a:picLocks noGrp="1" noChangeAspect="1"/>
          </p:cNvPicPr>
          <p:nvPr>
            <p:ph idx="1"/>
          </p:nvPr>
        </p:nvPicPr>
        <p:blipFill>
          <a:blip r:embed="rId2"/>
          <a:stretch>
            <a:fillRect/>
          </a:stretch>
        </p:blipFill>
        <p:spPr>
          <a:xfrm>
            <a:off x="2410238" y="769188"/>
            <a:ext cx="9173270" cy="5137032"/>
          </a:xfrm>
        </p:spPr>
      </p:pic>
      <p:sp>
        <p:nvSpPr>
          <p:cNvPr id="5" name="Rectangle 4">
            <a:extLst>
              <a:ext uri="{FF2B5EF4-FFF2-40B4-BE49-F238E27FC236}">
                <a16:creationId xmlns:a16="http://schemas.microsoft.com/office/drawing/2014/main" id="{53C486E8-CE38-420E-97F9-54365433939A}"/>
              </a:ext>
            </a:extLst>
          </p:cNvPr>
          <p:cNvSpPr/>
          <p:nvPr/>
        </p:nvSpPr>
        <p:spPr>
          <a:xfrm>
            <a:off x="8769927" y="6342653"/>
            <a:ext cx="3172690" cy="2770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FROM HOME AUTOMATION</a:t>
            </a:r>
          </a:p>
        </p:txBody>
      </p:sp>
    </p:spTree>
    <p:extLst>
      <p:ext uri="{BB962C8B-B14F-4D97-AF65-F5344CB8AC3E}">
        <p14:creationId xmlns:p14="http://schemas.microsoft.com/office/powerpoint/2010/main" val="18101625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8" descr="A picture containing text, indoor, counter&#10;&#10;Description automatically generated">
            <a:extLst>
              <a:ext uri="{FF2B5EF4-FFF2-40B4-BE49-F238E27FC236}">
                <a16:creationId xmlns:a16="http://schemas.microsoft.com/office/drawing/2014/main" id="{C7341185-5D43-46B9-8611-66DFCBE5A336}"/>
              </a:ext>
            </a:extLst>
          </p:cNvPr>
          <p:cNvPicPr>
            <a:picLocks noChangeAspect="1"/>
          </p:cNvPicPr>
          <p:nvPr/>
        </p:nvPicPr>
        <p:blipFill>
          <a:blip r:embed="rId2"/>
          <a:stretch>
            <a:fillRect/>
          </a:stretch>
        </p:blipFill>
        <p:spPr>
          <a:xfrm>
            <a:off x="2855343" y="559279"/>
            <a:ext cx="8407879" cy="5610045"/>
          </a:xfrm>
          <a:prstGeom prst="rect">
            <a:avLst/>
          </a:prstGeom>
        </p:spPr>
      </p:pic>
      <p:sp>
        <p:nvSpPr>
          <p:cNvPr id="12" name="Rectangle 11">
            <a:extLst>
              <a:ext uri="{FF2B5EF4-FFF2-40B4-BE49-F238E27FC236}">
                <a16:creationId xmlns:a16="http://schemas.microsoft.com/office/drawing/2014/main" id="{BCCD6C07-867F-4FEE-9801-45B4BB75023B}"/>
              </a:ext>
            </a:extLst>
          </p:cNvPr>
          <p:cNvSpPr/>
          <p:nvPr/>
        </p:nvSpPr>
        <p:spPr>
          <a:xfrm>
            <a:off x="7897091" y="5687291"/>
            <a:ext cx="3061854" cy="3325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FROM TECH REPUBLIC</a:t>
            </a:r>
          </a:p>
        </p:txBody>
      </p:sp>
    </p:spTree>
    <p:extLst>
      <p:ext uri="{BB962C8B-B14F-4D97-AF65-F5344CB8AC3E}">
        <p14:creationId xmlns:p14="http://schemas.microsoft.com/office/powerpoint/2010/main" val="1317359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3F0775-123D-4E91-B8F9-BF2EB9983248}"/>
              </a:ext>
            </a:extLst>
          </p:cNvPr>
          <p:cNvSpPr>
            <a:spLocks noGrp="1"/>
          </p:cNvSpPr>
          <p:nvPr>
            <p:ph idx="1"/>
          </p:nvPr>
        </p:nvSpPr>
        <p:spPr>
          <a:xfrm>
            <a:off x="1969220" y="1808017"/>
            <a:ext cx="9464531" cy="3235038"/>
          </a:xfrm>
        </p:spPr>
        <p:txBody>
          <a:bodyPr>
            <a:normAutofit fontScale="92500" lnSpcReduction="10000"/>
          </a:bodyPr>
          <a:lstStyle/>
          <a:p>
            <a:pPr marL="0" indent="0">
              <a:buNone/>
            </a:pPr>
            <a:r>
              <a:rPr lang="en-US" sz="3200" b="1" dirty="0">
                <a:ea typeface="+mn-lt"/>
                <a:cs typeface="+mn-lt"/>
              </a:rPr>
              <a:t>Voice assistants are programs on digital devices that listen and respond to verbal commands. A user can say, “What's the weather?” and the voice assistant will answer with the weather report for that day and location. They could say, “Tell me a story,” and the assistant will jump into a tale. These Voice assistants can be used to control your home automated devices.</a:t>
            </a:r>
            <a:endParaRPr lang="en-US" sz="3200" b="1" dirty="0"/>
          </a:p>
        </p:txBody>
      </p:sp>
      <p:sp>
        <p:nvSpPr>
          <p:cNvPr id="4" name="Rectangle 3">
            <a:extLst>
              <a:ext uri="{FF2B5EF4-FFF2-40B4-BE49-F238E27FC236}">
                <a16:creationId xmlns:a16="http://schemas.microsoft.com/office/drawing/2014/main" id="{52CF4189-4913-4924-ADFB-FF8C6FDF7FF8}"/>
              </a:ext>
            </a:extLst>
          </p:cNvPr>
          <p:cNvSpPr/>
          <p:nvPr/>
        </p:nvSpPr>
        <p:spPr>
          <a:xfrm>
            <a:off x="9767455" y="6199909"/>
            <a:ext cx="2133600" cy="3740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FROM TECNO SPOT</a:t>
            </a:r>
          </a:p>
        </p:txBody>
      </p:sp>
    </p:spTree>
    <p:extLst>
      <p:ext uri="{BB962C8B-B14F-4D97-AF65-F5344CB8AC3E}">
        <p14:creationId xmlns:p14="http://schemas.microsoft.com/office/powerpoint/2010/main" val="8793091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7FF82-3580-4052-B04F-7A3C11916DDE}"/>
              </a:ext>
            </a:extLst>
          </p:cNvPr>
          <p:cNvSpPr>
            <a:spLocks noGrp="1"/>
          </p:cNvSpPr>
          <p:nvPr>
            <p:ph type="title"/>
          </p:nvPr>
        </p:nvSpPr>
        <p:spPr/>
        <p:txBody>
          <a:bodyPr/>
          <a:lstStyle/>
          <a:p>
            <a:endParaRPr lang="en-US"/>
          </a:p>
        </p:txBody>
      </p:sp>
      <p:pic>
        <p:nvPicPr>
          <p:cNvPr id="4" name="Picture 4" descr="A picture containing shape&#10;&#10;Description automatically generated">
            <a:extLst>
              <a:ext uri="{FF2B5EF4-FFF2-40B4-BE49-F238E27FC236}">
                <a16:creationId xmlns:a16="http://schemas.microsoft.com/office/drawing/2014/main" id="{87DF8754-6FDC-49DC-B249-B61D0FFED2DC}"/>
              </a:ext>
            </a:extLst>
          </p:cNvPr>
          <p:cNvPicPr>
            <a:picLocks noGrp="1" noChangeAspect="1"/>
          </p:cNvPicPr>
          <p:nvPr>
            <p:ph idx="1"/>
          </p:nvPr>
        </p:nvPicPr>
        <p:blipFill>
          <a:blip r:embed="rId2"/>
          <a:stretch>
            <a:fillRect/>
          </a:stretch>
        </p:blipFill>
        <p:spPr>
          <a:xfrm>
            <a:off x="1818788" y="136584"/>
            <a:ext cx="10226776" cy="5798390"/>
          </a:xfrm>
        </p:spPr>
      </p:pic>
      <p:sp>
        <p:nvSpPr>
          <p:cNvPr id="5" name="Rectangle 4">
            <a:extLst>
              <a:ext uri="{FF2B5EF4-FFF2-40B4-BE49-F238E27FC236}">
                <a16:creationId xmlns:a16="http://schemas.microsoft.com/office/drawing/2014/main" id="{E4C9FAE8-78A6-40DD-B5A6-061233AA53DA}"/>
              </a:ext>
            </a:extLst>
          </p:cNvPr>
          <p:cNvSpPr/>
          <p:nvPr/>
        </p:nvSpPr>
        <p:spPr>
          <a:xfrm>
            <a:off x="9240982" y="6213764"/>
            <a:ext cx="2715490" cy="4987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FROM </a:t>
            </a:r>
            <a:r>
              <a:rPr lang="en-US" dirty="0" err="1"/>
              <a:t>Mrwhoosetheboss</a:t>
            </a:r>
          </a:p>
        </p:txBody>
      </p:sp>
    </p:spTree>
    <p:extLst>
      <p:ext uri="{BB962C8B-B14F-4D97-AF65-F5344CB8AC3E}">
        <p14:creationId xmlns:p14="http://schemas.microsoft.com/office/powerpoint/2010/main" val="1104585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183DA-8A4E-4F9A-91CA-81E404221ABA}"/>
              </a:ext>
            </a:extLst>
          </p:cNvPr>
          <p:cNvSpPr>
            <a:spLocks noGrp="1"/>
          </p:cNvSpPr>
          <p:nvPr>
            <p:ph type="title"/>
          </p:nvPr>
        </p:nvSpPr>
        <p:spPr>
          <a:xfrm>
            <a:off x="957838" y="-270164"/>
            <a:ext cx="10018713" cy="1752599"/>
          </a:xfrm>
        </p:spPr>
        <p:txBody>
          <a:bodyPr/>
          <a:lstStyle/>
          <a:p>
            <a:r>
              <a:rPr lang="en-US" b="1" dirty="0">
                <a:ea typeface="+mj-lt"/>
                <a:cs typeface="+mj-lt"/>
              </a:rPr>
              <a:t>Common home automation issues</a:t>
            </a:r>
            <a:endParaRPr lang="en-US" dirty="0"/>
          </a:p>
        </p:txBody>
      </p:sp>
      <p:sp>
        <p:nvSpPr>
          <p:cNvPr id="3" name="Content Placeholder 2">
            <a:extLst>
              <a:ext uri="{FF2B5EF4-FFF2-40B4-BE49-F238E27FC236}">
                <a16:creationId xmlns:a16="http://schemas.microsoft.com/office/drawing/2014/main" id="{0B341848-7233-4994-9772-E8B55C609002}"/>
              </a:ext>
            </a:extLst>
          </p:cNvPr>
          <p:cNvSpPr>
            <a:spLocks noGrp="1"/>
          </p:cNvSpPr>
          <p:nvPr>
            <p:ph idx="1"/>
          </p:nvPr>
        </p:nvSpPr>
        <p:spPr>
          <a:xfrm>
            <a:off x="2093910" y="1212272"/>
            <a:ext cx="10018713" cy="5036128"/>
          </a:xfrm>
        </p:spPr>
        <p:txBody>
          <a:bodyPr>
            <a:normAutofit fontScale="85000" lnSpcReduction="20000"/>
          </a:bodyPr>
          <a:lstStyle/>
          <a:p>
            <a:pPr marL="0" indent="0">
              <a:buNone/>
            </a:pPr>
            <a:r>
              <a:rPr lang="en-US" sz="3600" dirty="0"/>
              <a:t>1. Sub systems not integrating</a:t>
            </a:r>
          </a:p>
          <a:p>
            <a:pPr marL="0" indent="0">
              <a:buClr>
                <a:srgbClr val="1287C3"/>
              </a:buClr>
              <a:buNone/>
            </a:pPr>
            <a:br>
              <a:rPr lang="en-US" sz="3600" dirty="0"/>
            </a:br>
            <a:r>
              <a:rPr lang="en-US" sz="3600" dirty="0"/>
              <a:t>2. Insufficient features and functionality</a:t>
            </a:r>
          </a:p>
          <a:p>
            <a:pPr marL="0" indent="0">
              <a:buClr>
                <a:srgbClr val="1287C3"/>
              </a:buClr>
              <a:buNone/>
            </a:pPr>
            <a:br>
              <a:rPr lang="en-US" sz="3600" dirty="0"/>
            </a:br>
            <a:r>
              <a:rPr lang="en-US" sz="3600" dirty="0"/>
              <a:t>3. Too many home automation control apps</a:t>
            </a:r>
          </a:p>
          <a:p>
            <a:pPr marL="0" indent="0">
              <a:buClr>
                <a:srgbClr val="1287C3"/>
              </a:buClr>
              <a:buNone/>
            </a:pPr>
            <a:br>
              <a:rPr lang="en-US" sz="3600" dirty="0"/>
            </a:br>
            <a:r>
              <a:rPr lang="en-US" sz="3600" dirty="0"/>
              <a:t>4. Lengthy delays during the construction of your project</a:t>
            </a:r>
          </a:p>
          <a:p>
            <a:pPr marL="0" indent="0">
              <a:buClr>
                <a:srgbClr val="1287C3"/>
              </a:buClr>
              <a:buNone/>
            </a:pPr>
            <a:br>
              <a:rPr lang="en-US" sz="3600" dirty="0"/>
            </a:br>
            <a:r>
              <a:rPr lang="en-US" sz="3600" dirty="0"/>
              <a:t>5. Sub system suppliers lacking smart knowledge</a:t>
            </a:r>
          </a:p>
          <a:p>
            <a:pPr marL="0" indent="0">
              <a:buClr>
                <a:srgbClr val="1287C3"/>
              </a:buClr>
              <a:buNone/>
            </a:pPr>
            <a:br>
              <a:rPr lang="en-US" dirty="0"/>
            </a:br>
            <a:endParaRPr lang="en-US" dirty="0"/>
          </a:p>
        </p:txBody>
      </p:sp>
      <p:sp>
        <p:nvSpPr>
          <p:cNvPr id="4" name="Rectangle 3">
            <a:extLst>
              <a:ext uri="{FF2B5EF4-FFF2-40B4-BE49-F238E27FC236}">
                <a16:creationId xmlns:a16="http://schemas.microsoft.com/office/drawing/2014/main" id="{C9B3AD43-081B-4BC3-829B-10B2FB519794}"/>
              </a:ext>
            </a:extLst>
          </p:cNvPr>
          <p:cNvSpPr/>
          <p:nvPr/>
        </p:nvSpPr>
        <p:spPr>
          <a:xfrm>
            <a:off x="10889673" y="6262045"/>
            <a:ext cx="1219200" cy="4433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FROM ITA</a:t>
            </a:r>
          </a:p>
        </p:txBody>
      </p:sp>
    </p:spTree>
    <p:extLst>
      <p:ext uri="{BB962C8B-B14F-4D97-AF65-F5344CB8AC3E}">
        <p14:creationId xmlns:p14="http://schemas.microsoft.com/office/powerpoint/2010/main" val="25467555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5FAA4-11AC-4E84-BBB0-0F9F82631B29}"/>
              </a:ext>
            </a:extLst>
          </p:cNvPr>
          <p:cNvSpPr>
            <a:spLocks noGrp="1"/>
          </p:cNvSpPr>
          <p:nvPr>
            <p:ph type="title"/>
          </p:nvPr>
        </p:nvSpPr>
        <p:spPr/>
        <p:txBody>
          <a:bodyPr/>
          <a:lstStyle/>
          <a:p>
            <a:endParaRPr lang="en-US"/>
          </a:p>
        </p:txBody>
      </p:sp>
      <p:pic>
        <p:nvPicPr>
          <p:cNvPr id="4" name="Picture 4" descr="Diagram&#10;&#10;Description automatically generated">
            <a:extLst>
              <a:ext uri="{FF2B5EF4-FFF2-40B4-BE49-F238E27FC236}">
                <a16:creationId xmlns:a16="http://schemas.microsoft.com/office/drawing/2014/main" id="{3D77B6D7-A6DE-44CC-9AE2-7992BEFD7E00}"/>
              </a:ext>
            </a:extLst>
          </p:cNvPr>
          <p:cNvPicPr>
            <a:picLocks noGrp="1" noChangeAspect="1"/>
          </p:cNvPicPr>
          <p:nvPr>
            <p:ph idx="1"/>
          </p:nvPr>
        </p:nvPicPr>
        <p:blipFill>
          <a:blip r:embed="rId2"/>
          <a:stretch>
            <a:fillRect/>
          </a:stretch>
        </p:blipFill>
        <p:spPr>
          <a:xfrm>
            <a:off x="2300212" y="222848"/>
            <a:ext cx="8401286" cy="5927785"/>
          </a:xfrm>
        </p:spPr>
      </p:pic>
      <p:sp>
        <p:nvSpPr>
          <p:cNvPr id="5" name="Rectangle 4">
            <a:extLst>
              <a:ext uri="{FF2B5EF4-FFF2-40B4-BE49-F238E27FC236}">
                <a16:creationId xmlns:a16="http://schemas.microsoft.com/office/drawing/2014/main" id="{3444663F-DAE5-4863-AFBC-906C9E2AF8FA}"/>
              </a:ext>
            </a:extLst>
          </p:cNvPr>
          <p:cNvSpPr/>
          <p:nvPr/>
        </p:nvSpPr>
        <p:spPr>
          <a:xfrm>
            <a:off x="9535064" y="6249838"/>
            <a:ext cx="2501660" cy="4600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FROM GREENER IDEAL</a:t>
            </a:r>
          </a:p>
        </p:txBody>
      </p:sp>
    </p:spTree>
    <p:extLst>
      <p:ext uri="{BB962C8B-B14F-4D97-AF65-F5344CB8AC3E}">
        <p14:creationId xmlns:p14="http://schemas.microsoft.com/office/powerpoint/2010/main" val="4758576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2B54D-EBAD-4E1E-A55D-CB42AB6E2C26}"/>
              </a:ext>
            </a:extLst>
          </p:cNvPr>
          <p:cNvSpPr>
            <a:spLocks noGrp="1"/>
          </p:cNvSpPr>
          <p:nvPr>
            <p:ph type="title"/>
          </p:nvPr>
        </p:nvSpPr>
        <p:spPr/>
        <p:txBody>
          <a:bodyPr/>
          <a:lstStyle/>
          <a:p>
            <a:endParaRPr lang="en-US"/>
          </a:p>
        </p:txBody>
      </p:sp>
      <p:pic>
        <p:nvPicPr>
          <p:cNvPr id="4" name="Picture 4">
            <a:extLst>
              <a:ext uri="{FF2B5EF4-FFF2-40B4-BE49-F238E27FC236}">
                <a16:creationId xmlns:a16="http://schemas.microsoft.com/office/drawing/2014/main" id="{AB57AFD4-CE33-4439-8CF1-D50A8CC82B8A}"/>
              </a:ext>
            </a:extLst>
          </p:cNvPr>
          <p:cNvPicPr>
            <a:picLocks noGrp="1" noChangeAspect="1"/>
          </p:cNvPicPr>
          <p:nvPr>
            <p:ph idx="1"/>
          </p:nvPr>
        </p:nvPicPr>
        <p:blipFill>
          <a:blip r:embed="rId2"/>
          <a:stretch>
            <a:fillRect/>
          </a:stretch>
        </p:blipFill>
        <p:spPr>
          <a:xfrm>
            <a:off x="1545617" y="165338"/>
            <a:ext cx="10269907" cy="5784011"/>
          </a:xfrm>
        </p:spPr>
      </p:pic>
      <p:sp>
        <p:nvSpPr>
          <p:cNvPr id="5" name="Rectangle 4">
            <a:extLst>
              <a:ext uri="{FF2B5EF4-FFF2-40B4-BE49-F238E27FC236}">
                <a16:creationId xmlns:a16="http://schemas.microsoft.com/office/drawing/2014/main" id="{A49466E2-C169-4B64-8148-E6CAB3BEB12D}"/>
              </a:ext>
            </a:extLst>
          </p:cNvPr>
          <p:cNvSpPr/>
          <p:nvPr/>
        </p:nvSpPr>
        <p:spPr>
          <a:xfrm>
            <a:off x="10340196" y="6307347"/>
            <a:ext cx="1523999" cy="3881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FROM ZDNet</a:t>
            </a:r>
          </a:p>
        </p:txBody>
      </p:sp>
    </p:spTree>
    <p:extLst>
      <p:ext uri="{BB962C8B-B14F-4D97-AF65-F5344CB8AC3E}">
        <p14:creationId xmlns:p14="http://schemas.microsoft.com/office/powerpoint/2010/main" val="11076012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0858D-56E1-417F-A839-019A2D02CB5B}"/>
              </a:ext>
            </a:extLst>
          </p:cNvPr>
          <p:cNvSpPr>
            <a:spLocks noGrp="1"/>
          </p:cNvSpPr>
          <p:nvPr>
            <p:ph type="title"/>
          </p:nvPr>
        </p:nvSpPr>
        <p:spPr>
          <a:xfrm>
            <a:off x="403918" y="1250961"/>
            <a:ext cx="10018713" cy="789316"/>
          </a:xfrm>
        </p:spPr>
        <p:txBody>
          <a:bodyPr/>
          <a:lstStyle/>
          <a:p>
            <a:r>
              <a:rPr lang="en-US" b="1" dirty="0">
                <a:ea typeface="+mj-lt"/>
                <a:cs typeface="+mj-lt"/>
              </a:rPr>
              <a:t>What is the Internet of Things?</a:t>
            </a:r>
            <a:endParaRPr lang="en-US" dirty="0"/>
          </a:p>
        </p:txBody>
      </p:sp>
      <p:sp>
        <p:nvSpPr>
          <p:cNvPr id="3" name="Content Placeholder 2">
            <a:extLst>
              <a:ext uri="{FF2B5EF4-FFF2-40B4-BE49-F238E27FC236}">
                <a16:creationId xmlns:a16="http://schemas.microsoft.com/office/drawing/2014/main" id="{C95192FF-7959-481B-B032-914C829AB5E0}"/>
              </a:ext>
            </a:extLst>
          </p:cNvPr>
          <p:cNvSpPr>
            <a:spLocks noGrp="1"/>
          </p:cNvSpPr>
          <p:nvPr>
            <p:ph idx="1"/>
          </p:nvPr>
        </p:nvSpPr>
        <p:spPr>
          <a:xfrm>
            <a:off x="1829367" y="2250056"/>
            <a:ext cx="10018713" cy="3124201"/>
          </a:xfrm>
        </p:spPr>
        <p:txBody>
          <a:bodyPr vert="horz" lIns="91440" tIns="45720" rIns="91440" bIns="45720" rtlCol="0" anchor="ctr">
            <a:noAutofit/>
          </a:bodyPr>
          <a:lstStyle/>
          <a:p>
            <a:pPr marL="0" indent="0">
              <a:buNone/>
            </a:pPr>
            <a:r>
              <a:rPr lang="en-US" sz="2800" dirty="0">
                <a:ea typeface="+mn-lt"/>
                <a:cs typeface="+mn-lt"/>
              </a:rPr>
              <a:t>The Internet of Things, or IoT, refers to the billions of physical devices around the world that are now connected to the internet, all collecting and sharing data. Thanks to the arrival of super-cheap computer chips and the ubiquity of wireless networks, it's possible to turn anything, from something as small as </a:t>
            </a:r>
            <a:r>
              <a:rPr lang="en-US" sz="2800" dirty="0">
                <a:ea typeface="+mn-lt"/>
                <a:cs typeface="+mn-lt"/>
                <a:hlinkClick r:id="rId2"/>
              </a:rPr>
              <a:t>a pill </a:t>
            </a:r>
            <a:r>
              <a:rPr lang="en-US" sz="2800" dirty="0">
                <a:ea typeface="+mn-lt"/>
                <a:cs typeface="+mn-lt"/>
              </a:rPr>
              <a:t>to something as big as </a:t>
            </a:r>
            <a:r>
              <a:rPr lang="en-US" sz="2800" dirty="0">
                <a:ea typeface="+mn-lt"/>
                <a:cs typeface="+mn-lt"/>
                <a:hlinkClick r:id="rId3"/>
              </a:rPr>
              <a:t>an aeroplane</a:t>
            </a:r>
            <a:r>
              <a:rPr lang="en-US" sz="2800" dirty="0">
                <a:ea typeface="+mn-lt"/>
                <a:cs typeface="+mn-lt"/>
              </a:rPr>
              <a:t>, into a part of the IoT. </a:t>
            </a:r>
            <a:endParaRPr lang="en-US" sz="2800" dirty="0"/>
          </a:p>
        </p:txBody>
      </p:sp>
      <p:sp>
        <p:nvSpPr>
          <p:cNvPr id="4" name="Rectangle 3">
            <a:extLst>
              <a:ext uri="{FF2B5EF4-FFF2-40B4-BE49-F238E27FC236}">
                <a16:creationId xmlns:a16="http://schemas.microsoft.com/office/drawing/2014/main" id="{1FCA06DF-C53A-4185-9FAC-91D2B3CC64D0}"/>
              </a:ext>
            </a:extLst>
          </p:cNvPr>
          <p:cNvSpPr/>
          <p:nvPr/>
        </p:nvSpPr>
        <p:spPr>
          <a:xfrm>
            <a:off x="10138913" y="6235460"/>
            <a:ext cx="1754036" cy="44569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ea typeface="+mn-lt"/>
                <a:cs typeface="+mn-lt"/>
              </a:rPr>
              <a:t>FROM ZDNet</a:t>
            </a:r>
          </a:p>
        </p:txBody>
      </p:sp>
    </p:spTree>
    <p:extLst>
      <p:ext uri="{BB962C8B-B14F-4D97-AF65-F5344CB8AC3E}">
        <p14:creationId xmlns:p14="http://schemas.microsoft.com/office/powerpoint/2010/main" val="28904161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4E155-A8B8-4DBB-95D9-8DA31192EF5C}"/>
              </a:ext>
            </a:extLst>
          </p:cNvPr>
          <p:cNvSpPr>
            <a:spLocks noGrp="1"/>
          </p:cNvSpPr>
          <p:nvPr>
            <p:ph type="title"/>
          </p:nvPr>
        </p:nvSpPr>
        <p:spPr>
          <a:xfrm>
            <a:off x="1733693" y="907473"/>
            <a:ext cx="9783186" cy="1503217"/>
          </a:xfrm>
        </p:spPr>
        <p:txBody>
          <a:bodyPr>
            <a:normAutofit/>
          </a:bodyPr>
          <a:lstStyle/>
          <a:p>
            <a:r>
              <a:rPr lang="en-US" b="1" dirty="0">
                <a:ea typeface="+mj-lt"/>
                <a:cs typeface="+mj-lt"/>
              </a:rPr>
              <a:t>What is an example of an Internet of Things device?</a:t>
            </a:r>
            <a:endParaRPr lang="en-US" dirty="0"/>
          </a:p>
        </p:txBody>
      </p:sp>
      <p:sp>
        <p:nvSpPr>
          <p:cNvPr id="3" name="Content Placeholder 2">
            <a:extLst>
              <a:ext uri="{FF2B5EF4-FFF2-40B4-BE49-F238E27FC236}">
                <a16:creationId xmlns:a16="http://schemas.microsoft.com/office/drawing/2014/main" id="{3DDD7EFF-3B30-4809-BA89-835A94596888}"/>
              </a:ext>
            </a:extLst>
          </p:cNvPr>
          <p:cNvSpPr>
            <a:spLocks noGrp="1"/>
          </p:cNvSpPr>
          <p:nvPr>
            <p:ph idx="1"/>
          </p:nvPr>
        </p:nvSpPr>
        <p:spPr>
          <a:xfrm>
            <a:off x="1484310" y="2666999"/>
            <a:ext cx="10434349" cy="3221182"/>
          </a:xfrm>
        </p:spPr>
        <p:txBody>
          <a:bodyPr>
            <a:normAutofit fontScale="92500" lnSpcReduction="20000"/>
          </a:bodyPr>
          <a:lstStyle/>
          <a:p>
            <a:r>
              <a:rPr lang="en-US" b="1" dirty="0">
                <a:ea typeface="+mn-lt"/>
                <a:cs typeface="+mn-lt"/>
              </a:rPr>
              <a:t>Pretty much any physical object can be transformed into an IoT device if it can be connected to the internet to be controlled or communicate information.</a:t>
            </a:r>
            <a:endParaRPr lang="en-US" b="1" dirty="0"/>
          </a:p>
          <a:p>
            <a:pPr>
              <a:buClr>
                <a:srgbClr val="1287C3"/>
              </a:buClr>
            </a:pPr>
            <a:r>
              <a:rPr lang="en-US" b="1" dirty="0">
                <a:ea typeface="+mn-lt"/>
                <a:cs typeface="+mn-lt"/>
                <a:hlinkClick r:id="rId2"/>
              </a:rPr>
              <a:t>A lightbulb</a:t>
            </a:r>
            <a:r>
              <a:rPr lang="en-US" b="1" dirty="0">
                <a:ea typeface="+mn-lt"/>
                <a:cs typeface="+mn-lt"/>
              </a:rPr>
              <a:t> that can be switched on using a smartphone app is an IoT device, as is a motion sensor or a </a:t>
            </a:r>
            <a:r>
              <a:rPr lang="en-US" b="1" dirty="0">
                <a:ea typeface="+mn-lt"/>
                <a:cs typeface="+mn-lt"/>
                <a:hlinkClick r:id="rId3"/>
              </a:rPr>
              <a:t>smart thermostat</a:t>
            </a:r>
            <a:r>
              <a:rPr lang="en-US" b="1" dirty="0">
                <a:ea typeface="+mn-lt"/>
                <a:cs typeface="+mn-lt"/>
              </a:rPr>
              <a:t> in your office or a connected streetlight. An IoT device could be as fluffy as </a:t>
            </a:r>
            <a:r>
              <a:rPr lang="en-US" b="1" dirty="0">
                <a:ea typeface="+mn-lt"/>
                <a:cs typeface="+mn-lt"/>
                <a:hlinkClick r:id="rId4"/>
              </a:rPr>
              <a:t>a child's toy</a:t>
            </a:r>
            <a:r>
              <a:rPr lang="en-US" b="1" dirty="0">
                <a:ea typeface="+mn-lt"/>
                <a:cs typeface="+mn-lt"/>
              </a:rPr>
              <a:t> or as serious as </a:t>
            </a:r>
            <a:r>
              <a:rPr lang="en-US" b="1" dirty="0">
                <a:ea typeface="+mn-lt"/>
                <a:cs typeface="+mn-lt"/>
                <a:hlinkClick r:id="rId5"/>
              </a:rPr>
              <a:t>a driverless truck</a:t>
            </a:r>
            <a:r>
              <a:rPr lang="en-US" b="1" dirty="0">
                <a:ea typeface="+mn-lt"/>
                <a:cs typeface="+mn-lt"/>
              </a:rPr>
              <a:t>. Some larger objects may themselves be filled with many smaller IoT components, such as a jet engine that's now filled with thousands of sensors collecting and transmitting data back to make sure it is operating efficiently. At an even bigger scale, </a:t>
            </a:r>
            <a:r>
              <a:rPr lang="en-US" b="1" dirty="0">
                <a:ea typeface="+mn-lt"/>
                <a:cs typeface="+mn-lt"/>
                <a:hlinkClick r:id="rId6"/>
              </a:rPr>
              <a:t>smart cities projects are filling entire regions with sensors</a:t>
            </a:r>
            <a:r>
              <a:rPr lang="en-US" b="1" dirty="0">
                <a:ea typeface="+mn-lt"/>
                <a:cs typeface="+mn-lt"/>
              </a:rPr>
              <a:t> to help us understand and control the environment. </a:t>
            </a:r>
            <a:endParaRPr lang="en-US" b="1" dirty="0"/>
          </a:p>
          <a:p>
            <a:pPr>
              <a:buClr>
                <a:srgbClr val="1287C3"/>
              </a:buClr>
            </a:pPr>
            <a:endParaRPr lang="en-US" dirty="0"/>
          </a:p>
        </p:txBody>
      </p:sp>
      <p:sp>
        <p:nvSpPr>
          <p:cNvPr id="4" name="Rectangle 3">
            <a:extLst>
              <a:ext uri="{FF2B5EF4-FFF2-40B4-BE49-F238E27FC236}">
                <a16:creationId xmlns:a16="http://schemas.microsoft.com/office/drawing/2014/main" id="{B20208F1-7F2E-4B18-80C6-068F9C25F553}"/>
              </a:ext>
            </a:extLst>
          </p:cNvPr>
          <p:cNvSpPr/>
          <p:nvPr/>
        </p:nvSpPr>
        <p:spPr>
          <a:xfrm>
            <a:off x="9809018" y="6033654"/>
            <a:ext cx="1981200" cy="5541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FROM ZDNet</a:t>
            </a:r>
            <a:endParaRPr lang="en-US" dirty="0">
              <a:ea typeface="+mn-lt"/>
              <a:cs typeface="+mn-lt"/>
            </a:endParaRPr>
          </a:p>
        </p:txBody>
      </p:sp>
    </p:spTree>
    <p:extLst>
      <p:ext uri="{BB962C8B-B14F-4D97-AF65-F5344CB8AC3E}">
        <p14:creationId xmlns:p14="http://schemas.microsoft.com/office/powerpoint/2010/main" val="2810018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51D89-9200-4F99-9EBD-BCBA4D68C488}"/>
              </a:ext>
            </a:extLst>
          </p:cNvPr>
          <p:cNvSpPr>
            <a:spLocks noGrp="1"/>
          </p:cNvSpPr>
          <p:nvPr>
            <p:ph type="title"/>
          </p:nvPr>
        </p:nvSpPr>
        <p:spPr/>
        <p:txBody>
          <a:bodyPr/>
          <a:lstStyle/>
          <a:p>
            <a:endParaRPr lang="en-US"/>
          </a:p>
        </p:txBody>
      </p:sp>
      <p:pic>
        <p:nvPicPr>
          <p:cNvPr id="4" name="Picture 4" descr="A picture containing person, hand&#10;&#10;Description automatically generated">
            <a:extLst>
              <a:ext uri="{FF2B5EF4-FFF2-40B4-BE49-F238E27FC236}">
                <a16:creationId xmlns:a16="http://schemas.microsoft.com/office/drawing/2014/main" id="{646AE771-A602-4DCE-B9EB-57CBC1F788EF}"/>
              </a:ext>
            </a:extLst>
          </p:cNvPr>
          <p:cNvPicPr>
            <a:picLocks noGrp="1" noChangeAspect="1"/>
          </p:cNvPicPr>
          <p:nvPr>
            <p:ph idx="1"/>
          </p:nvPr>
        </p:nvPicPr>
        <p:blipFill>
          <a:blip r:embed="rId2"/>
          <a:stretch>
            <a:fillRect/>
          </a:stretch>
        </p:blipFill>
        <p:spPr>
          <a:xfrm>
            <a:off x="2123308" y="280357"/>
            <a:ext cx="8841358" cy="5884653"/>
          </a:xfrm>
        </p:spPr>
      </p:pic>
      <p:sp>
        <p:nvSpPr>
          <p:cNvPr id="5" name="Rectangle 4">
            <a:extLst>
              <a:ext uri="{FF2B5EF4-FFF2-40B4-BE49-F238E27FC236}">
                <a16:creationId xmlns:a16="http://schemas.microsoft.com/office/drawing/2014/main" id="{E268E4F5-3201-4101-9A4C-4101B4EEBDA9}"/>
              </a:ext>
            </a:extLst>
          </p:cNvPr>
          <p:cNvSpPr/>
          <p:nvPr/>
        </p:nvSpPr>
        <p:spPr>
          <a:xfrm>
            <a:off x="9851366" y="6321725"/>
            <a:ext cx="2343508" cy="5319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FROM THE VERGE</a:t>
            </a:r>
          </a:p>
        </p:txBody>
      </p:sp>
    </p:spTree>
    <p:extLst>
      <p:ext uri="{BB962C8B-B14F-4D97-AF65-F5344CB8AC3E}">
        <p14:creationId xmlns:p14="http://schemas.microsoft.com/office/powerpoint/2010/main" val="36217862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3CB61-4E92-4DFA-93BC-226CCDBA0A94}"/>
              </a:ext>
            </a:extLst>
          </p:cNvPr>
          <p:cNvSpPr>
            <a:spLocks noGrp="1"/>
          </p:cNvSpPr>
          <p:nvPr>
            <p:ph type="title"/>
          </p:nvPr>
        </p:nvSpPr>
        <p:spPr/>
        <p:txBody>
          <a:bodyPr/>
          <a:lstStyle/>
          <a:p>
            <a:endParaRPr lang="en-US"/>
          </a:p>
        </p:txBody>
      </p:sp>
      <p:pic>
        <p:nvPicPr>
          <p:cNvPr id="4" name="Picture 4">
            <a:extLst>
              <a:ext uri="{FF2B5EF4-FFF2-40B4-BE49-F238E27FC236}">
                <a16:creationId xmlns:a16="http://schemas.microsoft.com/office/drawing/2014/main" id="{6FD20D99-681C-4BFF-8D59-1814C1B6BAE3}"/>
              </a:ext>
            </a:extLst>
          </p:cNvPr>
          <p:cNvPicPr>
            <a:picLocks noGrp="1" noChangeAspect="1"/>
          </p:cNvPicPr>
          <p:nvPr>
            <p:ph idx="1"/>
          </p:nvPr>
        </p:nvPicPr>
        <p:blipFill>
          <a:blip r:embed="rId2"/>
          <a:stretch>
            <a:fillRect/>
          </a:stretch>
        </p:blipFill>
        <p:spPr>
          <a:xfrm>
            <a:off x="2298875" y="165339"/>
            <a:ext cx="8864033" cy="5927786"/>
          </a:xfrm>
        </p:spPr>
      </p:pic>
      <p:sp>
        <p:nvSpPr>
          <p:cNvPr id="5" name="Rectangle 4">
            <a:extLst>
              <a:ext uri="{FF2B5EF4-FFF2-40B4-BE49-F238E27FC236}">
                <a16:creationId xmlns:a16="http://schemas.microsoft.com/office/drawing/2014/main" id="{AF1E7811-93DF-481A-A721-8F8792170429}"/>
              </a:ext>
            </a:extLst>
          </p:cNvPr>
          <p:cNvSpPr/>
          <p:nvPr/>
        </p:nvSpPr>
        <p:spPr>
          <a:xfrm>
            <a:off x="10527102" y="6350479"/>
            <a:ext cx="1667772" cy="5032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FROM ZDNet</a:t>
            </a:r>
            <a:endParaRPr lang="en-US" dirty="0">
              <a:ea typeface="+mn-lt"/>
              <a:cs typeface="+mn-lt"/>
            </a:endParaRPr>
          </a:p>
        </p:txBody>
      </p:sp>
    </p:spTree>
    <p:extLst>
      <p:ext uri="{BB962C8B-B14F-4D97-AF65-F5344CB8AC3E}">
        <p14:creationId xmlns:p14="http://schemas.microsoft.com/office/powerpoint/2010/main" val="8792462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C7AF7-A859-4FAD-A412-D05E472A2BEA}"/>
              </a:ext>
            </a:extLst>
          </p:cNvPr>
          <p:cNvSpPr>
            <a:spLocks noGrp="1"/>
          </p:cNvSpPr>
          <p:nvPr>
            <p:ph type="title"/>
          </p:nvPr>
        </p:nvSpPr>
        <p:spPr>
          <a:xfrm>
            <a:off x="1581293" y="2556164"/>
            <a:ext cx="10018713" cy="1752599"/>
          </a:xfrm>
        </p:spPr>
        <p:txBody>
          <a:bodyPr>
            <a:normAutofit fontScale="90000"/>
          </a:bodyPr>
          <a:lstStyle/>
          <a:p>
            <a:r>
              <a:rPr lang="en-US" b="1" dirty="0">
                <a:ea typeface="+mj-lt"/>
                <a:cs typeface="+mj-lt"/>
              </a:rPr>
              <a:t>How big is the Internet of Things?</a:t>
            </a:r>
            <a:br>
              <a:rPr lang="en-US" b="1" dirty="0">
                <a:ea typeface="+mj-lt"/>
                <a:cs typeface="+mj-lt"/>
              </a:rPr>
            </a:br>
            <a:endParaRPr lang="en-US" dirty="0"/>
          </a:p>
          <a:p>
            <a:r>
              <a:rPr lang="en-US" sz="2400" b="1" dirty="0">
                <a:ea typeface="+mj-lt"/>
                <a:cs typeface="+mj-lt"/>
              </a:rPr>
              <a:t>Big and getting bigger -- there are already more connected things than people in the world.</a:t>
            </a:r>
            <a:endParaRPr lang="en-US" sz="2400" b="1"/>
          </a:p>
          <a:p>
            <a:r>
              <a:rPr lang="en-US" sz="2400" b="1" dirty="0">
                <a:ea typeface="+mj-lt"/>
                <a:cs typeface="+mj-lt"/>
              </a:rPr>
              <a:t>Tech analyst company IDC predicts that in total there will be 41.6 billion connected IoT devices by 2025, or "things." It also suggests industrial and automotive equipment represent the largest opportunity of connected "things,", but it also sees strong adoption of smart home and wearable devices in the near term.  </a:t>
            </a:r>
            <a:endParaRPr lang="en-US" sz="2400" b="1"/>
          </a:p>
          <a:p>
            <a:r>
              <a:rPr lang="en-US" sz="2400" b="1" dirty="0">
                <a:ea typeface="+mj-lt"/>
                <a:cs typeface="+mj-lt"/>
              </a:rPr>
              <a:t>Another tech analyst, Gartner, predicts that the enterprise and automotive sectors will account for 5.8 billion devices this year, up almost a quarter on 2019. Utilities will be the highest user of IoT, thanks to the continuing rollout of smart meters. Security devices, in the form of intruder detection and web cameras will be the second biggest use of IoT devices. Building automation – like connected lighting – will be the fastest growing sector, followed by automotive (connected cars) and healthcare (monitoring of chronic conditions). </a:t>
            </a:r>
            <a:endParaRPr lang="en-US" sz="2400" b="1" dirty="0"/>
          </a:p>
          <a:p>
            <a:endParaRPr lang="en-US" sz="2400" dirty="0"/>
          </a:p>
        </p:txBody>
      </p:sp>
      <p:sp>
        <p:nvSpPr>
          <p:cNvPr id="4" name="Rectangle 3">
            <a:extLst>
              <a:ext uri="{FF2B5EF4-FFF2-40B4-BE49-F238E27FC236}">
                <a16:creationId xmlns:a16="http://schemas.microsoft.com/office/drawing/2014/main" id="{F10EEF03-F8BA-4251-8E08-C7A771395B8E}"/>
              </a:ext>
            </a:extLst>
          </p:cNvPr>
          <p:cNvSpPr/>
          <p:nvPr/>
        </p:nvSpPr>
        <p:spPr>
          <a:xfrm>
            <a:off x="10626436" y="6269182"/>
            <a:ext cx="1565563" cy="5818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ea typeface="+mn-lt"/>
                <a:cs typeface="+mn-lt"/>
              </a:rPr>
              <a:t>FROM ZDNet</a:t>
            </a:r>
            <a:endParaRPr lang="en-US" dirty="0"/>
          </a:p>
        </p:txBody>
      </p:sp>
    </p:spTree>
    <p:extLst>
      <p:ext uri="{BB962C8B-B14F-4D97-AF65-F5344CB8AC3E}">
        <p14:creationId xmlns:p14="http://schemas.microsoft.com/office/powerpoint/2010/main" val="28767750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E266C-3856-446E-9110-5F0B2CE576A4}"/>
              </a:ext>
            </a:extLst>
          </p:cNvPr>
          <p:cNvSpPr>
            <a:spLocks noGrp="1"/>
          </p:cNvSpPr>
          <p:nvPr>
            <p:ph type="title"/>
          </p:nvPr>
        </p:nvSpPr>
        <p:spPr/>
        <p:txBody>
          <a:bodyPr/>
          <a:lstStyle/>
          <a:p>
            <a:endParaRPr lang="en-US"/>
          </a:p>
        </p:txBody>
      </p:sp>
      <p:pic>
        <p:nvPicPr>
          <p:cNvPr id="4" name="Picture 4" descr="Map&#10;&#10;Description automatically generated">
            <a:extLst>
              <a:ext uri="{FF2B5EF4-FFF2-40B4-BE49-F238E27FC236}">
                <a16:creationId xmlns:a16="http://schemas.microsoft.com/office/drawing/2014/main" id="{A276EC42-8DC7-44F7-BF33-2BC810E8069B}"/>
              </a:ext>
            </a:extLst>
          </p:cNvPr>
          <p:cNvPicPr>
            <a:picLocks noGrp="1" noChangeAspect="1"/>
          </p:cNvPicPr>
          <p:nvPr>
            <p:ph idx="1"/>
          </p:nvPr>
        </p:nvPicPr>
        <p:blipFill>
          <a:blip r:embed="rId2"/>
          <a:stretch>
            <a:fillRect/>
          </a:stretch>
        </p:blipFill>
        <p:spPr>
          <a:xfrm>
            <a:off x="1751704" y="937011"/>
            <a:ext cx="10039675" cy="4681661"/>
          </a:xfrm>
        </p:spPr>
      </p:pic>
      <p:sp>
        <p:nvSpPr>
          <p:cNvPr id="5" name="Rectangle 4">
            <a:extLst>
              <a:ext uri="{FF2B5EF4-FFF2-40B4-BE49-F238E27FC236}">
                <a16:creationId xmlns:a16="http://schemas.microsoft.com/office/drawing/2014/main" id="{140EF0BE-BF19-45E2-AD0D-170965A8400D}"/>
              </a:ext>
            </a:extLst>
          </p:cNvPr>
          <p:cNvSpPr/>
          <p:nvPr/>
        </p:nvSpPr>
        <p:spPr>
          <a:xfrm>
            <a:off x="10110158" y="6321725"/>
            <a:ext cx="2084716" cy="460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FROM MEDIUM</a:t>
            </a:r>
          </a:p>
        </p:txBody>
      </p:sp>
    </p:spTree>
    <p:extLst>
      <p:ext uri="{BB962C8B-B14F-4D97-AF65-F5344CB8AC3E}">
        <p14:creationId xmlns:p14="http://schemas.microsoft.com/office/powerpoint/2010/main" val="9142238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6F0E4-387E-4804-A432-E19DAD44E021}"/>
              </a:ext>
            </a:extLst>
          </p:cNvPr>
          <p:cNvSpPr>
            <a:spLocks noGrp="1"/>
          </p:cNvSpPr>
          <p:nvPr>
            <p:ph type="title"/>
          </p:nvPr>
        </p:nvSpPr>
        <p:spPr>
          <a:xfrm>
            <a:off x="1656839" y="2181045"/>
            <a:ext cx="10018713" cy="1752599"/>
          </a:xfrm>
        </p:spPr>
        <p:txBody>
          <a:bodyPr>
            <a:noAutofit/>
          </a:bodyPr>
          <a:lstStyle/>
          <a:p>
            <a:r>
              <a:rPr lang="en-US" sz="7200" b="1" dirty="0">
                <a:solidFill>
                  <a:srgbClr val="00B050"/>
                </a:solidFill>
              </a:rPr>
              <a:t>PRESENT SITUATION OF IOT IN PAKISTAN</a:t>
            </a:r>
          </a:p>
        </p:txBody>
      </p:sp>
    </p:spTree>
    <p:extLst>
      <p:ext uri="{BB962C8B-B14F-4D97-AF65-F5344CB8AC3E}">
        <p14:creationId xmlns:p14="http://schemas.microsoft.com/office/powerpoint/2010/main" val="31466382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A picture containing text, sign&#10;&#10;Description automatically generated">
            <a:extLst>
              <a:ext uri="{FF2B5EF4-FFF2-40B4-BE49-F238E27FC236}">
                <a16:creationId xmlns:a16="http://schemas.microsoft.com/office/drawing/2014/main" id="{5A411B88-6BF4-4F52-ADEB-0D3B8F350E7E}"/>
              </a:ext>
            </a:extLst>
          </p:cNvPr>
          <p:cNvPicPr>
            <a:picLocks noGrp="1" noChangeAspect="1"/>
          </p:cNvPicPr>
          <p:nvPr>
            <p:ph idx="1"/>
          </p:nvPr>
        </p:nvPicPr>
        <p:blipFill>
          <a:blip r:embed="rId2"/>
          <a:stretch>
            <a:fillRect/>
          </a:stretch>
        </p:blipFill>
        <p:spPr>
          <a:xfrm>
            <a:off x="2081525" y="805401"/>
            <a:ext cx="8019151" cy="5452792"/>
          </a:xfrm>
        </p:spPr>
      </p:pic>
    </p:spTree>
    <p:extLst>
      <p:ext uri="{BB962C8B-B14F-4D97-AF65-F5344CB8AC3E}">
        <p14:creationId xmlns:p14="http://schemas.microsoft.com/office/powerpoint/2010/main" val="36323999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9160A-3DE8-47F1-A3B2-D9F25E27DAAB}"/>
              </a:ext>
            </a:extLst>
          </p:cNvPr>
          <p:cNvSpPr>
            <a:spLocks noGrp="1"/>
          </p:cNvSpPr>
          <p:nvPr>
            <p:ph type="title"/>
          </p:nvPr>
        </p:nvSpPr>
        <p:spPr/>
        <p:txBody>
          <a:bodyPr/>
          <a:lstStyle/>
          <a:p>
            <a:endParaRPr lang="en-US"/>
          </a:p>
        </p:txBody>
      </p:sp>
      <p:pic>
        <p:nvPicPr>
          <p:cNvPr id="4" name="Picture 4" descr="A picture containing text, indoor, preparing&#10;&#10;Description automatically generated">
            <a:extLst>
              <a:ext uri="{FF2B5EF4-FFF2-40B4-BE49-F238E27FC236}">
                <a16:creationId xmlns:a16="http://schemas.microsoft.com/office/drawing/2014/main" id="{688FE27A-9D6E-44CF-B467-0F6BD8095BC9}"/>
              </a:ext>
            </a:extLst>
          </p:cNvPr>
          <p:cNvPicPr>
            <a:picLocks noGrp="1" noChangeAspect="1"/>
          </p:cNvPicPr>
          <p:nvPr>
            <p:ph idx="1"/>
          </p:nvPr>
        </p:nvPicPr>
        <p:blipFill>
          <a:blip r:embed="rId2"/>
          <a:stretch>
            <a:fillRect/>
          </a:stretch>
        </p:blipFill>
        <p:spPr>
          <a:xfrm>
            <a:off x="1801962" y="251603"/>
            <a:ext cx="9599069" cy="5352691"/>
          </a:xfrm>
        </p:spPr>
      </p:pic>
      <p:sp>
        <p:nvSpPr>
          <p:cNvPr id="5" name="Rectangle 4">
            <a:extLst>
              <a:ext uri="{FF2B5EF4-FFF2-40B4-BE49-F238E27FC236}">
                <a16:creationId xmlns:a16="http://schemas.microsoft.com/office/drawing/2014/main" id="{271D87E5-79BA-4577-A834-DA14585D0E74}"/>
              </a:ext>
            </a:extLst>
          </p:cNvPr>
          <p:cNvSpPr/>
          <p:nvPr/>
        </p:nvSpPr>
        <p:spPr>
          <a:xfrm>
            <a:off x="9319404" y="6494253"/>
            <a:ext cx="2875470" cy="3019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FROM Technology Times</a:t>
            </a:r>
          </a:p>
        </p:txBody>
      </p:sp>
    </p:spTree>
    <p:extLst>
      <p:ext uri="{BB962C8B-B14F-4D97-AF65-F5344CB8AC3E}">
        <p14:creationId xmlns:p14="http://schemas.microsoft.com/office/powerpoint/2010/main" val="3717890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A picture containing logo&#10;&#10;Description automatically generated">
            <a:extLst>
              <a:ext uri="{FF2B5EF4-FFF2-40B4-BE49-F238E27FC236}">
                <a16:creationId xmlns:a16="http://schemas.microsoft.com/office/drawing/2014/main" id="{1B9AD719-F72C-4F2A-822C-0106A007833B}"/>
              </a:ext>
            </a:extLst>
          </p:cNvPr>
          <p:cNvPicPr>
            <a:picLocks noGrp="1" noChangeAspect="1"/>
          </p:cNvPicPr>
          <p:nvPr>
            <p:ph idx="1"/>
          </p:nvPr>
        </p:nvPicPr>
        <p:blipFill>
          <a:blip r:embed="rId2"/>
          <a:stretch>
            <a:fillRect/>
          </a:stretch>
        </p:blipFill>
        <p:spPr>
          <a:xfrm>
            <a:off x="1727123" y="296443"/>
            <a:ext cx="2143125" cy="2143125"/>
          </a:xfrm>
        </p:spPr>
      </p:pic>
      <p:pic>
        <p:nvPicPr>
          <p:cNvPr id="5" name="Picture 5" descr="Icon&#10;&#10;Description automatically generated">
            <a:extLst>
              <a:ext uri="{FF2B5EF4-FFF2-40B4-BE49-F238E27FC236}">
                <a16:creationId xmlns:a16="http://schemas.microsoft.com/office/drawing/2014/main" id="{3E3C0FF1-C31C-48B6-A3C0-01AFC9EC04F5}"/>
              </a:ext>
            </a:extLst>
          </p:cNvPr>
          <p:cNvPicPr>
            <a:picLocks noChangeAspect="1"/>
          </p:cNvPicPr>
          <p:nvPr/>
        </p:nvPicPr>
        <p:blipFill>
          <a:blip r:embed="rId3"/>
          <a:stretch>
            <a:fillRect/>
          </a:stretch>
        </p:blipFill>
        <p:spPr>
          <a:xfrm>
            <a:off x="4580626" y="-165142"/>
            <a:ext cx="6466935" cy="2285604"/>
          </a:xfrm>
          <a:prstGeom prst="rect">
            <a:avLst/>
          </a:prstGeom>
        </p:spPr>
      </p:pic>
      <p:pic>
        <p:nvPicPr>
          <p:cNvPr id="6" name="Picture 6" descr="A picture containing text, clipart&#10;&#10;Description automatically generated">
            <a:extLst>
              <a:ext uri="{FF2B5EF4-FFF2-40B4-BE49-F238E27FC236}">
                <a16:creationId xmlns:a16="http://schemas.microsoft.com/office/drawing/2014/main" id="{658DC213-534E-408D-838F-A724A12956FD}"/>
              </a:ext>
            </a:extLst>
          </p:cNvPr>
          <p:cNvPicPr>
            <a:picLocks noChangeAspect="1"/>
          </p:cNvPicPr>
          <p:nvPr/>
        </p:nvPicPr>
        <p:blipFill>
          <a:blip r:embed="rId4"/>
          <a:stretch>
            <a:fillRect/>
          </a:stretch>
        </p:blipFill>
        <p:spPr>
          <a:xfrm>
            <a:off x="1561381" y="3257882"/>
            <a:ext cx="2743200" cy="773556"/>
          </a:xfrm>
          <a:prstGeom prst="rect">
            <a:avLst/>
          </a:prstGeom>
        </p:spPr>
      </p:pic>
      <p:pic>
        <p:nvPicPr>
          <p:cNvPr id="7" name="Picture 7" descr="Text&#10;&#10;Description automatically generated">
            <a:extLst>
              <a:ext uri="{FF2B5EF4-FFF2-40B4-BE49-F238E27FC236}">
                <a16:creationId xmlns:a16="http://schemas.microsoft.com/office/drawing/2014/main" id="{C7E4B364-375B-4877-88CF-B6999FE7984A}"/>
              </a:ext>
            </a:extLst>
          </p:cNvPr>
          <p:cNvPicPr>
            <a:picLocks noChangeAspect="1"/>
          </p:cNvPicPr>
          <p:nvPr/>
        </p:nvPicPr>
        <p:blipFill>
          <a:blip r:embed="rId5"/>
          <a:stretch>
            <a:fillRect/>
          </a:stretch>
        </p:blipFill>
        <p:spPr>
          <a:xfrm>
            <a:off x="5268853" y="2644985"/>
            <a:ext cx="2143125" cy="2143125"/>
          </a:xfrm>
          <a:prstGeom prst="rect">
            <a:avLst/>
          </a:prstGeom>
        </p:spPr>
      </p:pic>
      <p:pic>
        <p:nvPicPr>
          <p:cNvPr id="8" name="Picture 8" descr="Logo&#10;&#10;Description automatically generated">
            <a:extLst>
              <a:ext uri="{FF2B5EF4-FFF2-40B4-BE49-F238E27FC236}">
                <a16:creationId xmlns:a16="http://schemas.microsoft.com/office/drawing/2014/main" id="{CDE503FF-054D-4C70-B642-EF0BBE6005F1}"/>
              </a:ext>
            </a:extLst>
          </p:cNvPr>
          <p:cNvPicPr>
            <a:picLocks noChangeAspect="1"/>
          </p:cNvPicPr>
          <p:nvPr/>
        </p:nvPicPr>
        <p:blipFill>
          <a:blip r:embed="rId6"/>
          <a:stretch>
            <a:fillRect/>
          </a:stretch>
        </p:blipFill>
        <p:spPr>
          <a:xfrm>
            <a:off x="8304362" y="2776268"/>
            <a:ext cx="2743200" cy="2743200"/>
          </a:xfrm>
          <a:prstGeom prst="rect">
            <a:avLst/>
          </a:prstGeom>
        </p:spPr>
      </p:pic>
      <p:pic>
        <p:nvPicPr>
          <p:cNvPr id="9" name="Picture 9" descr="Logo, company name&#10;&#10;Description automatically generated">
            <a:extLst>
              <a:ext uri="{FF2B5EF4-FFF2-40B4-BE49-F238E27FC236}">
                <a16:creationId xmlns:a16="http://schemas.microsoft.com/office/drawing/2014/main" id="{B9DA916E-9C6D-40C9-A3AE-897F890FA363}"/>
              </a:ext>
            </a:extLst>
          </p:cNvPr>
          <p:cNvPicPr>
            <a:picLocks noChangeAspect="1"/>
          </p:cNvPicPr>
          <p:nvPr/>
        </p:nvPicPr>
        <p:blipFill>
          <a:blip r:embed="rId7"/>
          <a:stretch>
            <a:fillRect/>
          </a:stretch>
        </p:blipFill>
        <p:spPr>
          <a:xfrm>
            <a:off x="1561381" y="4371640"/>
            <a:ext cx="2743200" cy="990193"/>
          </a:xfrm>
          <a:prstGeom prst="rect">
            <a:avLst/>
          </a:prstGeom>
        </p:spPr>
      </p:pic>
      <p:pic>
        <p:nvPicPr>
          <p:cNvPr id="10" name="Picture 10" descr="Logo&#10;&#10;Description automatically generated">
            <a:extLst>
              <a:ext uri="{FF2B5EF4-FFF2-40B4-BE49-F238E27FC236}">
                <a16:creationId xmlns:a16="http://schemas.microsoft.com/office/drawing/2014/main" id="{D5AD60B2-E9AE-4F84-86D0-F9592CF9EADC}"/>
              </a:ext>
            </a:extLst>
          </p:cNvPr>
          <p:cNvPicPr>
            <a:picLocks noChangeAspect="1"/>
          </p:cNvPicPr>
          <p:nvPr/>
        </p:nvPicPr>
        <p:blipFill>
          <a:blip r:embed="rId8"/>
          <a:stretch>
            <a:fillRect/>
          </a:stretch>
        </p:blipFill>
        <p:spPr>
          <a:xfrm>
            <a:off x="4940060" y="5360227"/>
            <a:ext cx="2743200" cy="910828"/>
          </a:xfrm>
          <a:prstGeom prst="rect">
            <a:avLst/>
          </a:prstGeom>
        </p:spPr>
      </p:pic>
    </p:spTree>
    <p:extLst>
      <p:ext uri="{BB962C8B-B14F-4D97-AF65-F5344CB8AC3E}">
        <p14:creationId xmlns:p14="http://schemas.microsoft.com/office/powerpoint/2010/main" val="28098589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83DFB-DDA2-4677-938F-E2A0165BBFD0}"/>
              </a:ext>
            </a:extLst>
          </p:cNvPr>
          <p:cNvSpPr>
            <a:spLocks noGrp="1"/>
          </p:cNvSpPr>
          <p:nvPr>
            <p:ph type="title"/>
          </p:nvPr>
        </p:nvSpPr>
        <p:spPr/>
        <p:txBody>
          <a:bodyPr/>
          <a:lstStyle/>
          <a:p>
            <a:endParaRPr lang="en-US"/>
          </a:p>
        </p:txBody>
      </p:sp>
      <p:pic>
        <p:nvPicPr>
          <p:cNvPr id="4" name="Picture 4" descr="A picture containing table, indoor, floor&#10;&#10;Description automatically generated">
            <a:extLst>
              <a:ext uri="{FF2B5EF4-FFF2-40B4-BE49-F238E27FC236}">
                <a16:creationId xmlns:a16="http://schemas.microsoft.com/office/drawing/2014/main" id="{79D8EBB9-FAC0-4E4F-BDE1-363A34836DF6}"/>
              </a:ext>
            </a:extLst>
          </p:cNvPr>
          <p:cNvPicPr>
            <a:picLocks noGrp="1" noChangeAspect="1"/>
          </p:cNvPicPr>
          <p:nvPr>
            <p:ph idx="1"/>
          </p:nvPr>
        </p:nvPicPr>
        <p:blipFill>
          <a:blip r:embed="rId2"/>
          <a:stretch>
            <a:fillRect/>
          </a:stretch>
        </p:blipFill>
        <p:spPr>
          <a:xfrm>
            <a:off x="2987508" y="380999"/>
            <a:ext cx="7227978" cy="5424578"/>
          </a:xfrm>
        </p:spPr>
      </p:pic>
      <p:sp>
        <p:nvSpPr>
          <p:cNvPr id="5" name="Rectangle 4">
            <a:extLst>
              <a:ext uri="{FF2B5EF4-FFF2-40B4-BE49-F238E27FC236}">
                <a16:creationId xmlns:a16="http://schemas.microsoft.com/office/drawing/2014/main" id="{E16E6C0A-86C1-4B15-925F-49B654D0F2B3}"/>
              </a:ext>
            </a:extLst>
          </p:cNvPr>
          <p:cNvSpPr/>
          <p:nvPr/>
        </p:nvSpPr>
        <p:spPr>
          <a:xfrm>
            <a:off x="10067026" y="6321725"/>
            <a:ext cx="2170980" cy="5319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FROM </a:t>
            </a:r>
            <a:r>
              <a:rPr lang="en-US"/>
              <a:t>Artificial</a:t>
            </a:r>
            <a:r>
              <a:rPr lang="en-US" dirty="0"/>
              <a:t> Intelligence</a:t>
            </a:r>
          </a:p>
        </p:txBody>
      </p:sp>
    </p:spTree>
    <p:extLst>
      <p:ext uri="{BB962C8B-B14F-4D97-AF65-F5344CB8AC3E}">
        <p14:creationId xmlns:p14="http://schemas.microsoft.com/office/powerpoint/2010/main" val="3072984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2EC73-C03D-406B-BEDF-E26AD272A69A}"/>
              </a:ext>
            </a:extLst>
          </p:cNvPr>
          <p:cNvSpPr>
            <a:spLocks noGrp="1"/>
          </p:cNvSpPr>
          <p:nvPr>
            <p:ph type="title"/>
          </p:nvPr>
        </p:nvSpPr>
        <p:spPr/>
        <p:txBody>
          <a:bodyPr/>
          <a:lstStyle/>
          <a:p>
            <a:endParaRPr lang="en-US"/>
          </a:p>
        </p:txBody>
      </p:sp>
      <p:pic>
        <p:nvPicPr>
          <p:cNvPr id="4" name="Picture 4">
            <a:extLst>
              <a:ext uri="{FF2B5EF4-FFF2-40B4-BE49-F238E27FC236}">
                <a16:creationId xmlns:a16="http://schemas.microsoft.com/office/drawing/2014/main" id="{CDB55AA0-3AAA-48C4-A890-A207F714AAA0}"/>
              </a:ext>
            </a:extLst>
          </p:cNvPr>
          <p:cNvPicPr>
            <a:picLocks noGrp="1" noChangeAspect="1"/>
          </p:cNvPicPr>
          <p:nvPr>
            <p:ph idx="1"/>
          </p:nvPr>
        </p:nvPicPr>
        <p:blipFill>
          <a:blip r:embed="rId2"/>
          <a:stretch>
            <a:fillRect/>
          </a:stretch>
        </p:blipFill>
        <p:spPr>
          <a:xfrm>
            <a:off x="1580200" y="337867"/>
            <a:ext cx="10617687" cy="5467709"/>
          </a:xfrm>
        </p:spPr>
      </p:pic>
      <p:sp>
        <p:nvSpPr>
          <p:cNvPr id="5" name="Rectangle 4">
            <a:extLst>
              <a:ext uri="{FF2B5EF4-FFF2-40B4-BE49-F238E27FC236}">
                <a16:creationId xmlns:a16="http://schemas.microsoft.com/office/drawing/2014/main" id="{0F928FAA-9C84-466F-AC74-FD1D361E8B22}"/>
              </a:ext>
            </a:extLst>
          </p:cNvPr>
          <p:cNvSpPr/>
          <p:nvPr/>
        </p:nvSpPr>
        <p:spPr>
          <a:xfrm>
            <a:off x="8830574" y="6278592"/>
            <a:ext cx="3364299" cy="5750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ea typeface="+mn-lt"/>
                <a:cs typeface="+mn-lt"/>
              </a:rPr>
              <a:t>FROM Pakistan &amp; Gulf Economist</a:t>
            </a:r>
            <a:endParaRPr lang="en-US" dirty="0"/>
          </a:p>
        </p:txBody>
      </p:sp>
    </p:spTree>
    <p:extLst>
      <p:ext uri="{BB962C8B-B14F-4D97-AF65-F5344CB8AC3E}">
        <p14:creationId xmlns:p14="http://schemas.microsoft.com/office/powerpoint/2010/main" val="9283312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F44AC-6D0B-4EE2-A74E-BAC308033D53}"/>
              </a:ext>
            </a:extLst>
          </p:cNvPr>
          <p:cNvSpPr>
            <a:spLocks noGrp="1"/>
          </p:cNvSpPr>
          <p:nvPr>
            <p:ph type="title"/>
          </p:nvPr>
        </p:nvSpPr>
        <p:spPr>
          <a:xfrm>
            <a:off x="1268651" y="2209800"/>
            <a:ext cx="10018713" cy="1752599"/>
          </a:xfrm>
        </p:spPr>
        <p:txBody>
          <a:bodyPr vert="horz" lIns="91440" tIns="45720" rIns="91440" bIns="45720" rtlCol="0" anchor="ctr">
            <a:noAutofit/>
          </a:bodyPr>
          <a:lstStyle/>
          <a:p>
            <a:r>
              <a:rPr lang="en-US" sz="9600" dirty="0">
                <a:solidFill>
                  <a:srgbClr val="00B050"/>
                </a:solidFill>
              </a:rPr>
              <a:t>THANK YOU! </a:t>
            </a:r>
            <a:br>
              <a:rPr lang="en-US" sz="9600" dirty="0"/>
            </a:br>
            <a:r>
              <a:rPr lang="en-US" sz="9600" dirty="0">
                <a:solidFill>
                  <a:srgbClr val="00B050"/>
                </a:solidFill>
              </a:rPr>
              <a:t>THE END</a:t>
            </a:r>
          </a:p>
        </p:txBody>
      </p:sp>
    </p:spTree>
    <p:extLst>
      <p:ext uri="{BB962C8B-B14F-4D97-AF65-F5344CB8AC3E}">
        <p14:creationId xmlns:p14="http://schemas.microsoft.com/office/powerpoint/2010/main" val="372894194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Parallax</vt:lpstr>
      <vt:lpstr>HOME AUTOMATION INTERNET OF THINGS  MUHAMMAD HASSAN KAHLID MUHAMMAD HAMZA</vt:lpstr>
      <vt:lpstr>PowerPoint Presentation</vt:lpstr>
      <vt:lpstr>PowerPoint Presentation</vt:lpstr>
      <vt:lpstr>PowerPoint Presentation</vt:lpstr>
      <vt:lpstr>PowerPoint Presentation</vt:lpstr>
      <vt:lpstr>What are the benefits of home automation? </vt:lpstr>
      <vt:lpstr>PowerPoint Presentation</vt:lpstr>
      <vt:lpstr>PowerPoint Presentation</vt:lpstr>
      <vt:lpstr>PowerPoint Presentation</vt:lpstr>
      <vt:lpstr>PowerPoint Presentation</vt:lpstr>
      <vt:lpstr>Common home automation issues</vt:lpstr>
      <vt:lpstr>PowerPoint Presentation</vt:lpstr>
      <vt:lpstr>PowerPoint Presentation</vt:lpstr>
      <vt:lpstr>What is the Internet of Things?</vt:lpstr>
      <vt:lpstr>What is an example of an Internet of Things device?</vt:lpstr>
      <vt:lpstr>PowerPoint Presentation</vt:lpstr>
      <vt:lpstr>PowerPoint Presentation</vt:lpstr>
      <vt:lpstr>How big is the Internet of Things?  Big and getting bigger -- there are already more connected things than people in the world. Tech analyst company IDC predicts that in total there will be 41.6 billion connected IoT devices by 2025, or "things." It also suggests industrial and automotive equipment represent the largest opportunity of connected "things,", but it also sees strong adoption of smart home and wearable devices in the near term.   Another tech analyst, Gartner, predicts that the enterprise and automotive sectors will account for 5.8 billion devices this year, up almost a quarter on 2019. Utilities will be the highest user of IoT, thanks to the continuing rollout of smart meters. Security devices, in the form of intruder detection and web cameras will be the second biggest use of IoT devices. Building automation – like connected lighting – will be the fastest growing sector, followed by automotive (connected cars) and healthcare (monitoring of chronic conditions).  </vt:lpstr>
      <vt:lpstr>PowerPoint Presentation</vt:lpstr>
      <vt:lpstr>PRESENT SITUATION OF IOT IN PAKISTAN</vt:lpstr>
      <vt:lpstr>PowerPoint Presentation</vt:lpstr>
      <vt:lpstr>PowerPoint Presentation</vt:lpstr>
      <vt:lpstr>PowerPoint Presentation</vt:lpstr>
      <vt:lpstr>PowerPoint Presentation</vt:lpstr>
      <vt:lpstr>PowerPoint Presentation</vt:lpstr>
      <vt:lpstr>THANK YOU!  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303</cp:revision>
  <dcterms:created xsi:type="dcterms:W3CDTF">2021-11-20T07:16:29Z</dcterms:created>
  <dcterms:modified xsi:type="dcterms:W3CDTF">2021-11-20T08:55:03Z</dcterms:modified>
</cp:coreProperties>
</file>