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embeddedFontLst>
    <p:embeddedFont>
      <p:font typeface="Caveat"/>
      <p:regular r:id="rId33"/>
      <p:bold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ave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font" Target="fonts/Caveat-bold.fntdata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96f908ab0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296f908ab0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296f908ab0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96f908ab0_0_1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96f908ab0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296f908ab0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96f908ab0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296f908ab0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296f908ab0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96f908ab0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96f908ab0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296f908ab0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99b88c729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99b88c7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299b88c72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99b88c729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99b88c72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299b88c72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99b88c729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99b88c72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299b88c72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99b88c729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299b88c72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299b88c729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99b88c729_0_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99b88c729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299b88c729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96f908ab0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296f908ab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296f908ab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96f908ab0_0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296f908ab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296f908ab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96f908ab0_0_1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296f908ab0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296f908ab0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99b88c729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299b88c72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99b88c729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96f908ab0_0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296f908ab0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296f908ab0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99b88c729_0_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299b88c72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299b88c729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96f908ab0_0_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296f908ab0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296f908ab0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96f908ab0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96f908ab0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296f908ab0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96f908ab0_0_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96f908ab0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296f908ab0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99b88c729_0_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99b88c729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299b88c729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96f908ab0_0_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96f908ab0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296f908ab0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96f908ab0_0_1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96f908ab0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296f908ab0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96f908ab0_0_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296f908ab0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296f908ab0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96f908ab0_0_1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296f908ab0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296f908ab0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96f908ab0_0_1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296f908ab0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296f908ab0_0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99b88c729_0_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299b88c729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299b88c729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EFF8FC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5" name="Google Shape;85;p13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6" name="Google Shape;96;p15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7" name="Google Shape;97;p15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8" name="Google Shape;98;p15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9" name="Google Shape;99;p15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00" name="Google Shape;100;p15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16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08" name="Google Shape;108;p16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9" name="Google Shape;109;p16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6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1" name="Google Shape;111;p16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16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16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4" name="Google Shape;114;p16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5" name="Google Shape;115;p16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2" name="Google Shape;122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8823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E8F5FB">
                  <a:alpha val="6666"/>
                </a:srgbClr>
              </a:gs>
              <a:gs pos="36000">
                <a:srgbClr val="E8F5FB">
                  <a:alpha val="5882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E8F5FB">
                  <a:alpha val="13725"/>
                </a:srgbClr>
              </a:gs>
              <a:gs pos="36000">
                <a:srgbClr val="E8F5FB">
                  <a:alpha val="6666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E8F5FB">
                  <a:alpha val="8627"/>
                </a:srgbClr>
              </a:gs>
              <a:gs pos="36000">
                <a:srgbClr val="E8F5FB">
                  <a:alpha val="4705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E8F5FB">
                  <a:alpha val="10980"/>
                </a:srgbClr>
              </a:gs>
              <a:gs pos="36000">
                <a:srgbClr val="E8F5FB">
                  <a:alpha val="9803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E8F5FB">
                  <a:alpha val="7843"/>
                </a:srgbClr>
              </a:gs>
              <a:gs pos="36000">
                <a:srgbClr val="E8F5FB">
                  <a:alpha val="7843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7366" y="76200"/>
            <a:ext cx="922356" cy="922356"/>
          </a:xfrm>
          <a:prstGeom prst="rect">
            <a:avLst/>
          </a:prstGeom>
          <a:noFill/>
          <a:ln>
            <a:noFill/>
          </a:ln>
          <a:effectLst>
            <a:outerShdw blurRad="127000" rotWithShape="0" algn="tl">
              <a:srgbClr val="000000">
                <a:alpha val="88627"/>
              </a:srgbClr>
            </a:outerShdw>
          </a:effectLst>
        </p:spPr>
      </p:pic>
      <p:sp>
        <p:nvSpPr>
          <p:cNvPr id="19" name="Google Shape;19;p1"/>
          <p:cNvSpPr/>
          <p:nvPr/>
        </p:nvSpPr>
        <p:spPr>
          <a:xfrm>
            <a:off x="12584" y="6248406"/>
            <a:ext cx="9118832" cy="609594"/>
          </a:xfrm>
          <a:prstGeom prst="rect">
            <a:avLst/>
          </a:prstGeom>
          <a:solidFill>
            <a:srgbClr val="0B2036">
              <a:alpha val="81960"/>
            </a:srgbClr>
          </a:solidFill>
          <a:ln cap="flat" cmpd="dbl" w="28575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mozilla.org/en-US/docs/Learn_web_development/Core/CSS_layout/Introduction#normal_layout_flow" TargetMode="External"/><Relationship Id="rId4" Type="http://schemas.openxmlformats.org/officeDocument/2006/relationships/hyperlink" Target="https://developer.mozilla.org/en-US/docs/Web/CSS/top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developer.mozilla.org/en-US/docs/Web/CSS/right" TargetMode="External"/><Relationship Id="rId6" Type="http://schemas.openxmlformats.org/officeDocument/2006/relationships/hyperlink" Target="https://developer.mozilla.org/en-US/docs/Web/CSS/bottom" TargetMode="External"/><Relationship Id="rId7" Type="http://schemas.openxmlformats.org/officeDocument/2006/relationships/hyperlink" Target="https://developer.mozilla.org/en-US/docs/Web/CSS/left" TargetMode="External"/><Relationship Id="rId8" Type="http://schemas.openxmlformats.org/officeDocument/2006/relationships/hyperlink" Target="https://developer.mozilla.org/en-US/docs/Web/CSS/z-index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ctrTitle"/>
          </p:nvPr>
        </p:nvSpPr>
        <p:spPr>
          <a:xfrm>
            <a:off x="800100" y="127635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200"/>
              <a:t>Web Programming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200"/>
              <a:t>Lecture 4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/>
              <a:t>Bootstrap + CSS Positioning</a:t>
            </a:r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50000"/>
          <a:stretch/>
        </p:blipFill>
        <p:spPr>
          <a:xfrm>
            <a:off x="1066800" y="3362325"/>
            <a:ext cx="76231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2819400" y="5334000"/>
            <a:ext cx="7055380" cy="9188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3186300" y="37528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veat"/>
                <a:ea typeface="Caveat"/>
                <a:cs typeface="Caveat"/>
                <a:sym typeface="Caveat"/>
              </a:rPr>
              <a:t>Mahhek Tahir</a:t>
            </a:r>
            <a:endParaRPr sz="3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Responsive Design.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81000" y="1542193"/>
            <a:ext cx="82296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lang="en-US" sz="2700"/>
              <a:t>Grid System (Bootstrap, tailwind)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lang="en-US" sz="2700"/>
              <a:t>CSS Media Queries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700"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 Queries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What are Media Queries?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CSS rules that apply styles based on device characteristics such as screen width, height, or orientation.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Common Use Cases: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Adjusting layouts for different screen sizes.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Changing font sizes on smaller screens.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en-US" sz="2200"/>
              <a:t>Hiding or showing elements.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20000" y="0"/>
            <a:ext cx="8197500" cy="4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(max-width: 600px)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body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155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lightblue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(min-width: 601px) and (max-width: 900px)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body</a:t>
            </a:r>
            <a:r>
              <a:rPr b="1" lang="en-US" sz="1550">
                <a:solidFill>
                  <a:srgbClr val="F5D67B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5D67B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5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background-color: </a:t>
            </a:r>
            <a:r>
              <a:rPr b="1" lang="en-US" sz="155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purple;</a:t>
            </a:r>
            <a:endParaRPr b="1" sz="155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5D67B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0">
                <a:solidFill>
                  <a:srgbClr val="98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(orientation: portrait) {</a:t>
            </a:r>
            <a:endParaRPr b="1" sz="1550">
              <a:solidFill>
                <a:srgbClr val="980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0">
                <a:solidFill>
                  <a:srgbClr val="98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img </a:t>
            </a: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5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width: </a:t>
            </a:r>
            <a:r>
              <a:rPr b="1" lang="en-US" sz="155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100%;</a:t>
            </a:r>
            <a:endParaRPr b="1" sz="155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550"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55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0" y="100500"/>
            <a:ext cx="77997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/* Extra small devices (phones, 600px and down) */</a:t>
            </a:r>
            <a:endParaRPr>
              <a:solidFill>
                <a:srgbClr val="008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(max-width: 600px) 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D6E4F5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/* Small devices (portrait tablets and large phones, 600px and up) */</a:t>
            </a:r>
            <a:endParaRPr>
              <a:solidFill>
                <a:srgbClr val="008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600px) 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D6E4F5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/* Medium devices (landscape tablets, 768px and up) */</a:t>
            </a:r>
            <a:endParaRPr>
              <a:solidFill>
                <a:srgbClr val="008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768px) 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6E4F5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/* Large devices (laptops/desktops, 992px and up) */</a:t>
            </a:r>
            <a:endParaRPr>
              <a:solidFill>
                <a:srgbClr val="008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992px) 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6E4F5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/* Extra large devices (large laptops and desktops, 1200px and up) */</a:t>
            </a:r>
            <a:endParaRPr>
              <a:solidFill>
                <a:srgbClr val="00800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1200px) 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Flex?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827700" y="1027900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Definition:</a:t>
            </a:r>
            <a:r>
              <a:rPr lang="en-US" sz="2200"/>
              <a:t> Flexbox, or the Flexible Box Layout, is a CSS module that provides a way to arrange items in a container.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Key Features: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Align items horizontally or vertically.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Control the spacing between items.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Handle dynamic resizing of elements within a container.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Layout – Position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827700" y="10400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The position is CSS sets how an element is positioned in a document.</a:t>
            </a:r>
            <a:endParaRPr sz="30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►"/>
            </a:pPr>
            <a:r>
              <a:rPr b="1" lang="en-US" sz="2200"/>
              <a:t>Static:</a:t>
            </a:r>
            <a:r>
              <a:rPr lang="en-US" sz="2200"/>
              <a:t> Default positioning; elements are placed in the normal flow.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►"/>
            </a:pPr>
            <a:r>
              <a:rPr b="1" lang="en-US" sz="2200"/>
              <a:t>Relative:</a:t>
            </a:r>
            <a:r>
              <a:rPr lang="en-US" sz="2200"/>
              <a:t> Positioned relative to its normal position.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►"/>
            </a:pPr>
            <a:r>
              <a:rPr b="1" lang="en-US" sz="2200"/>
              <a:t>Absolute:</a:t>
            </a:r>
            <a:r>
              <a:rPr lang="en-US" sz="2200"/>
              <a:t> Positioned relative to the nearest positioned ancestor.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►"/>
            </a:pPr>
            <a:r>
              <a:rPr b="1" lang="en-US" sz="2200"/>
              <a:t>Fixed:</a:t>
            </a:r>
            <a:r>
              <a:rPr lang="en-US" sz="2200"/>
              <a:t> Positioned relative to the viewport; does not move on scroll.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►"/>
            </a:pPr>
            <a:r>
              <a:rPr b="1" lang="en-US" sz="2200"/>
              <a:t>Sticky:</a:t>
            </a:r>
            <a:r>
              <a:rPr lang="en-US" sz="2200"/>
              <a:t> Switches between relative and fixed based on scroll position.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Static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The element is positioned according to the </a:t>
            </a:r>
            <a:r>
              <a:rPr lang="en-US" sz="2200" u="sng">
                <a:solidFill>
                  <a:schemeClr val="hlink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Normal Flow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 of the document. The </a:t>
            </a:r>
            <a:r>
              <a:rPr lang="en-US" sz="2200" u="sng">
                <a:solidFill>
                  <a:srgbClr val="0000E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200" u="sng">
                <a:solidFill>
                  <a:srgbClr val="0000E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right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200" u="sng">
                <a:solidFill>
                  <a:srgbClr val="0000E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bottom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200" u="sng">
                <a:solidFill>
                  <a:srgbClr val="0000E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left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2200" u="sng">
                <a:solidFill>
                  <a:srgbClr val="0000E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z-index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 properties have </a:t>
            </a:r>
            <a:r>
              <a:rPr i="1"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no effect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. This is the default value.</a:t>
            </a:r>
            <a:endParaRPr sz="2200">
              <a:highlight>
                <a:srgbClr val="D6E4F5"/>
              </a:highlight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4200" y="3731625"/>
            <a:ext cx="45720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Relative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791075" y="1331250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The element is positioned according to the normal flow of the document, and then offset </a:t>
            </a:r>
            <a:r>
              <a:rPr i="1"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relative to itself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 based on the values of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top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right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bottom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. The offset does not affect the position of any other elements; thus, the space given for the element in the page layout is the same as if position were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solidFill>
                <a:srgbClr val="1B1B1B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B1B1B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position: relative;</a:t>
            </a:r>
            <a:endParaRPr sz="2200">
              <a:solidFill>
                <a:srgbClr val="1B1B1B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top: 40px; left: 40px;</a:t>
            </a:r>
            <a:endParaRPr sz="2200">
              <a:solidFill>
                <a:srgbClr val="1B1B1B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B1B1B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900" y="3676850"/>
            <a:ext cx="46101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Fixed &amp; Sticky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754475" y="9180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►"/>
            </a:pP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position: fixed: </a:t>
            </a:r>
            <a:r>
              <a:rPr lang="en-US" sz="2200">
                <a:solidFill>
                  <a:srgbClr val="1B1B1B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The element is removed from the normal document flow. Its final position is determined by the values of top, right, bottom, and left. </a:t>
            </a:r>
            <a:r>
              <a:rPr lang="en-US" sz="2200">
                <a:solidFill>
                  <a:srgbClr val="1F1F1F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For instance </a:t>
            </a:r>
            <a:r>
              <a:rPr lang="en-US" sz="2200">
                <a:solidFill>
                  <a:srgbClr val="040C28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a website with a header and navigation that always stays visible when you are scrolling</a:t>
            </a:r>
            <a:r>
              <a:rPr lang="en-US" sz="2200">
                <a:solidFill>
                  <a:srgbClr val="1F1F1F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 is a good example of fixed positioning.</a:t>
            </a:r>
            <a:endParaRPr sz="2200">
              <a:solidFill>
                <a:srgbClr val="1F1F1F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Roboto"/>
              <a:buChar char="►"/>
            </a:pP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position: sticky</a:t>
            </a: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</a:rPr>
              <a:t> basically acts like </a:t>
            </a: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position: relative</a:t>
            </a: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</a:rPr>
              <a:t> until an element is scrolled beyond a specific offset, in which case it turns into </a:t>
            </a: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  <a:latin typeface="Roboto Mono"/>
                <a:ea typeface="Roboto Mono"/>
                <a:cs typeface="Roboto Mono"/>
                <a:sym typeface="Roboto Mono"/>
              </a:rPr>
              <a:t>position: fixed</a:t>
            </a:r>
            <a:r>
              <a:rPr lang="en-US" sz="2200">
                <a:solidFill>
                  <a:srgbClr val="0C0D0E"/>
                </a:solidFill>
                <a:highlight>
                  <a:srgbClr val="D6E4F5"/>
                </a:highlight>
              </a:rPr>
              <a:t>,</a:t>
            </a:r>
            <a:endParaRPr sz="2200">
              <a:solidFill>
                <a:srgbClr val="1F1F1F"/>
              </a:solidFill>
              <a:highlight>
                <a:srgbClr val="D6E4F5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What is bootstrap?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381000" y="1542193"/>
            <a:ext cx="82296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lang="en-US" sz="2700"/>
              <a:t>Bootstrap is a powerful, open-source front-end framework used for designing responsive and mobile-first websites.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lang="en-US" sz="2700"/>
              <a:t>Why use </a:t>
            </a:r>
            <a:r>
              <a:rPr lang="en-US" sz="2700"/>
              <a:t>bootstrap</a:t>
            </a:r>
            <a:r>
              <a:rPr lang="en-US" sz="2700"/>
              <a:t>?</a:t>
            </a:r>
            <a:endParaRPr sz="27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2700"/>
              <a:t>Speeds up development.</a:t>
            </a:r>
            <a:endParaRPr sz="27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2700"/>
              <a:t>Pre-styled components.</a:t>
            </a:r>
            <a:endParaRPr sz="27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2700"/>
              <a:t>Easy to create responsive designs.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700"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Key Features of Bootstrap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81000" y="1542193"/>
            <a:ext cx="82296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lang="en-US" sz="2700"/>
              <a:t>Responsive Grid System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lang="en-US" sz="2700"/>
              <a:t>Pre-designed Components</a:t>
            </a:r>
            <a:endParaRPr b="1" sz="27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○"/>
            </a:pPr>
            <a:r>
              <a:rPr lang="en-US" sz="2700"/>
              <a:t>Buttons, Modals, Alerts, etc.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lang="en-US" sz="2700"/>
              <a:t>Customizable</a:t>
            </a:r>
            <a:endParaRPr b="1" sz="27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○"/>
            </a:pPr>
            <a:r>
              <a:rPr lang="en-US" sz="2700"/>
              <a:t>Built with Sass and a theming system.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lang="en-US" sz="2700"/>
              <a:t>Cross-Browser Compatibility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●"/>
            </a:pPr>
            <a:r>
              <a:rPr b="1" lang="en-US" sz="2700"/>
              <a:t>Extensive Documentation</a:t>
            </a:r>
            <a:endParaRPr b="1" sz="2700"/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5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&lt;!-- Bootstrap CSS --&gt; &lt;link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href="https://cdn.jsdelivr.net/npm/bootstrap@5.0.2/dist/css/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bootstrap.min.css" rel="stylesheet"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integrity="sha384-EVSTQN3/azprG1Anm3QDgpJLIm9Nao0Yz1ztcQTwFs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pd3yD65VohhpuuCOmLASjC" crossorigin="anonymous"&gt;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&lt;!-- Bootstrap JS Bundle with Popper --&gt; &lt;script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src="https://cdn.jsdelivr.net/npm/bootstrap@5.0.2/dist/js/bo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otstrap.bundle.min.js"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integrity="sha384-MrcW6ZMFYlzcLA8Nl+NtUVF0sA7MsXsP1UyJoMp4YL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EuNSfAP+JcXn/tWtIaxVXM" crossorigin="anonymous"&gt;&lt;/script&gt;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Container</a:t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754475" y="10034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Containers are used to pad the content inside of them, and there are two container classes available:</a:t>
            </a:r>
            <a:endParaRPr sz="22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AutoNum type="arabicPeriod"/>
            </a:pPr>
            <a:r>
              <a:rPr lang="en-US" sz="22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2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.container</a:t>
            </a:r>
            <a:r>
              <a:rPr lang="en-US" sz="22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provides a responsive fixed width container</a:t>
            </a:r>
            <a:endParaRPr sz="22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AutoNum type="arabicPeriod"/>
            </a:pPr>
            <a:r>
              <a:rPr lang="en-US" sz="22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2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.container-fluid</a:t>
            </a:r>
            <a:r>
              <a:rPr lang="en-US" sz="22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provides a full width container, spanning the entire width of the viewport</a:t>
            </a:r>
            <a:endParaRPr sz="22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D6E4F5"/>
              </a:highlight>
            </a:endParaRPr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88" y="4277525"/>
            <a:ext cx="8804613" cy="13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Bootstrap Grid System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405400" y="883243"/>
            <a:ext cx="82296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/>
              <a:t>What is the Grid System?</a:t>
            </a:r>
            <a:endParaRPr b="1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Divides the page into a 12-column layout.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/>
              <a:t>Core Concepts:</a:t>
            </a:r>
            <a:endParaRPr b="1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Containers (fixed and fluid).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Rows and Columns.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Breakpoints for responsiveness.</a:t>
            </a:r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10614"/>
            <a:ext cx="9144003" cy="2111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idx="1" type="body"/>
          </p:nvPr>
        </p:nvSpPr>
        <p:spPr>
          <a:xfrm>
            <a:off x="403650" y="927425"/>
            <a:ext cx="83367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6" lvl="0" marL="3429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&lt;div </a:t>
            </a:r>
            <a:r>
              <a:rPr lang="en-US" sz="18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sz="1800">
                <a:solidFill>
                  <a:srgbClr val="0000EE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800">
              <a:solidFill>
                <a:srgbClr val="A52A2A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="row"&gt;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="col-md-6"&gt;&lt;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="col-md-6"&gt;&lt;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="row"&gt;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="col-md-4"&gt;&lt;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="col-md-4"&gt;&lt;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800">
                <a:solidFill>
                  <a:srgbClr val="FF000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="col-md-4"&gt;&lt;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800106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0000CD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-US" sz="1800">
                <a:solidFill>
                  <a:srgbClr val="0000CD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0" y="141675"/>
            <a:ext cx="77121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Typography and Components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405400" y="1310343"/>
            <a:ext cx="82296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/>
              <a:t>Typography</a:t>
            </a:r>
            <a:endParaRPr b="1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Predefined styles for headings, paragraphs, and text utilities.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/>
              <a:t>Common Components:</a:t>
            </a:r>
            <a:endParaRPr b="1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Buttons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Alerts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Navigation Bars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/>
              <a:t>Modals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/>
              <a:t>Example: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&lt;button class="btn btn-primary"&gt;Click Me!&lt;/button&gt;</a:t>
            </a:r>
            <a:endParaRPr b="1"/>
          </a:p>
          <a:p>
            <a:pPr indent="-241306" lvl="0" marL="342906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</a:t>
            </a:r>
            <a:r>
              <a:rPr lang="en-US"/>
              <a:t> Buttons</a:t>
            </a:r>
            <a:endParaRPr/>
          </a:p>
        </p:txBody>
      </p:sp>
      <p:sp>
        <p:nvSpPr>
          <p:cNvPr id="257" name="Google Shape;257;p36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5" y="1636667"/>
            <a:ext cx="9143999" cy="4341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483910" y="500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Alerts</a:t>
            </a:r>
            <a:endParaRPr/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325" y="723300"/>
            <a:ext cx="4437776" cy="5411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975" y="685875"/>
            <a:ext cx="3540175" cy="54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8"/>
          <p:cNvSpPr txBox="1"/>
          <p:nvPr>
            <p:ph idx="1" type="body"/>
          </p:nvPr>
        </p:nvSpPr>
        <p:spPr>
          <a:xfrm>
            <a:off x="0" y="0"/>
            <a:ext cx="87372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classes for text colors are: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.text-muted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.text-primary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.text-success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.text-info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.text-warning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.text-danger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.text-secondary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.text-white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.text-dark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.text-body</a:t>
            </a:r>
            <a:endParaRPr sz="1900">
              <a:solidFill>
                <a:srgbClr val="DC143C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classes for background colors are: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.bg-primary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.bg-success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.bg-info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.bg-warning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.bg-danger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.bg-secondary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.bg-dark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.bg-ligh</a:t>
            </a:r>
            <a:endParaRPr sz="1900">
              <a:solidFill>
                <a:srgbClr val="DC143C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.table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adds basic styling to a table: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.table-striped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adds zebra-stripes to a table: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.table-bordered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adds borders on all sides of the table and cells: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.table-hover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adds a hover effect (grey background color) on table rows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.rounded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adds rounded corners to an image: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.rounded-circle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shapes the image to a circle: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900">
                <a:solidFill>
                  <a:srgbClr val="DC143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.img-thumbnail</a:t>
            </a:r>
            <a:r>
              <a:rPr lang="en-US" sz="1900">
                <a:highlight>
                  <a:srgbClr val="D6E4F5"/>
                </a:highlight>
                <a:latin typeface="Verdana"/>
                <a:ea typeface="Verdana"/>
                <a:cs typeface="Verdana"/>
                <a:sym typeface="Verdana"/>
              </a:rPr>
              <a:t> class shapes the image to a thumbnail (bordered):</a:t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highlight>
                <a:srgbClr val="D6E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900">
              <a:highlight>
                <a:srgbClr val="D6E4F5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Navigation Bar</a:t>
            </a:r>
            <a:endParaRPr/>
          </a:p>
        </p:txBody>
      </p:sp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50" y="1316525"/>
            <a:ext cx="4711351" cy="25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9"/>
          <p:cNvSpPr txBox="1"/>
          <p:nvPr/>
        </p:nvSpPr>
        <p:spPr>
          <a:xfrm>
            <a:off x="97625" y="6394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9"/>
          <p:cNvSpPr txBox="1"/>
          <p:nvPr/>
        </p:nvSpPr>
        <p:spPr>
          <a:xfrm>
            <a:off x="235450" y="4039150"/>
            <a:ext cx="43365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E83E8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.nav</a:t>
            </a:r>
            <a:r>
              <a:rPr lang="en-US" sz="2000">
                <a:solidFill>
                  <a:srgbClr val="212529"/>
                </a:solidFill>
                <a:highlight>
                  <a:srgbClr val="D6E4F5"/>
                </a:highlight>
                <a:latin typeface="Roboto"/>
                <a:ea typeface="Roboto"/>
                <a:cs typeface="Roboto"/>
                <a:sym typeface="Roboto"/>
              </a:rPr>
              <a:t> uses </a:t>
            </a:r>
            <a:r>
              <a:rPr lang="en-US" sz="2000">
                <a:solidFill>
                  <a:srgbClr val="E83E8C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display: flex</a:t>
            </a:r>
            <a:endParaRPr sz="2000">
              <a:solidFill>
                <a:srgbClr val="E83E8C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44950"/>
              </a:buClr>
              <a:buSzPts val="2000"/>
              <a:buFont typeface="Consolas"/>
              <a:buChar char="●"/>
            </a:pPr>
            <a:r>
              <a:rPr b="1" lang="en-US" sz="2000">
                <a:solidFill>
                  <a:srgbClr val="D44950"/>
                </a:solidFill>
                <a:highlight>
                  <a:srgbClr val="D6E4F5"/>
                </a:highlight>
                <a:latin typeface="Consolas"/>
                <a:ea typeface="Consolas"/>
                <a:cs typeface="Consolas"/>
                <a:sym typeface="Consolas"/>
              </a:rPr>
              <a:t>flex-column class on nav makes it vertical</a:t>
            </a:r>
            <a:endParaRPr b="1" sz="2000">
              <a:solidFill>
                <a:srgbClr val="D4495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4950"/>
              </a:solidFill>
              <a:highlight>
                <a:srgbClr val="D6E4F5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800" y="1316525"/>
            <a:ext cx="4442750" cy="431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Tabs</a:t>
            </a:r>
            <a:endParaRPr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75" y="1474525"/>
            <a:ext cx="7194951" cy="46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Dropdown Menu</a:t>
            </a:r>
            <a:endParaRPr/>
          </a:p>
        </p:txBody>
      </p:sp>
      <p:sp>
        <p:nvSpPr>
          <p:cNvPr id="300" name="Google Shape;300;p41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5" y="1409188"/>
            <a:ext cx="9144003" cy="242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675" y="2403975"/>
            <a:ext cx="38671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Form</a:t>
            </a:r>
            <a:endParaRPr/>
          </a:p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50" y="1233324"/>
            <a:ext cx="7687798" cy="50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Bootstrap Responsive</a:t>
            </a:r>
            <a:endParaRPr/>
          </a:p>
        </p:txBody>
      </p:sp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473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-US" sz="2200"/>
              <a:t>Breakpoints:</a:t>
            </a:r>
            <a:endParaRPr b="1" sz="2200"/>
          </a:p>
          <a:p>
            <a:pPr indent="-34734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sm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md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lg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xl</a:t>
            </a:r>
            <a:r>
              <a:rPr lang="en-US" sz="2200"/>
              <a:t>,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xxl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734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/>
              <a:t>Adapt layout based on screen size.</a:t>
            </a:r>
            <a:endParaRPr sz="2200"/>
          </a:p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-US" sz="2200"/>
              <a:t>Mobile-First Approach:</a:t>
            </a:r>
            <a:endParaRPr b="1" sz="2200"/>
          </a:p>
          <a:p>
            <a:pPr indent="-34734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/>
              <a:t>Prioritize small screens and scale up.</a:t>
            </a:r>
            <a:endParaRPr sz="2200"/>
          </a:p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-US" sz="2200"/>
              <a:t>Example: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&lt;div class="col-sm-12 col-md-6 col-lg-4"&gt;Column 1&lt;/div&gt;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&lt;div class="col-sm-12 col-md-6 col-lg-4"&gt;Column 2&lt;/div&gt;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&lt;div class="col-sm-12 col-md-6 col-lg-4"&gt;Column 3&lt;/div&gt;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2200"/>
              <a:t>&lt;div class="col-sm-12 col-md-6 col-lg-4"&gt;Column 4&lt;/div&gt;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</a:t>
            </a:r>
            <a:endParaRPr/>
          </a:p>
        </p:txBody>
      </p:sp>
      <p:sp>
        <p:nvSpPr>
          <p:cNvPr id="324" name="Google Shape;324;p44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Create a responsive </a:t>
            </a:r>
            <a:r>
              <a:rPr lang="en-US"/>
              <a:t>Bootstrap grid that displays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type="title"/>
          </p:nvPr>
        </p:nvSpPr>
        <p:spPr>
          <a:xfrm>
            <a:off x="0" y="14166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lang="en-US"/>
              <a:t>Resources to Learn</a:t>
            </a:r>
            <a:endParaRPr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304800" y="1600200"/>
            <a:ext cx="8610600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/>
              <a:t>Slide 15: Resources to Learn More</a:t>
            </a:r>
            <a:endParaRPr b="1" sz="2600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/>
              <a:t>Websites: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</a:pPr>
            <a:r>
              <a:rPr lang="en-US" sz="2600"/>
              <a:t>https://getbootstrap.com/docs/4.0/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/>
              <a:t>Platforms: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</a:pPr>
            <a:r>
              <a:rPr lang="en-US" sz="2600"/>
              <a:t>FreeCodeCamp, Codecademy, or W3Schools.</a:t>
            </a:r>
            <a:endParaRPr sz="2600"/>
          </a:p>
          <a:p>
            <a:pPr indent="-365766" lvl="0" marL="342906" rtl="0" algn="l">
              <a:spcBef>
                <a:spcPts val="1000"/>
              </a:spcBef>
              <a:spcAft>
                <a:spcPts val="0"/>
              </a:spcAft>
              <a:buSzPts val="2600"/>
              <a:buFont typeface="Comic Sans MS"/>
              <a:buChar char="►"/>
            </a:pPr>
            <a:r>
              <a:t/>
            </a:r>
            <a:endParaRPr b="1" sz="2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