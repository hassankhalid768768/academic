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Caveat"/>
      <p:regular r:id="rId26"/>
      <p:bold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veat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font" Target="fonts/Cave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ba649f597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2ba649f5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132" name="Google Shape;132;g32ba649f5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bac1908f5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bac1908f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2bac1908f5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bac1908f5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bac1908f5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2bac1908f5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bac1908f5_0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bac1908f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2bac1908f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bac1908f5_0_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2bac1908f5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2bac1908f5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ba649f597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2ba649f597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ba649f597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2ba649f597_0_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bac1908f5_0_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bac1908f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2bac1908f5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bac1908f5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bac1908f5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2bac1908f5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bac1908f5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2bac1908f5_0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bac1908f5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2bac1908f5_0_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bac1908f5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2bac1908f5_0_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bac1908f5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2bac1908f5_0_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bac1908f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2bac1908f5_0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ac1908f5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bac1908f5_0_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ac1908f5_0_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bac1908f5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2bac1908f5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ba649f597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2ba649f597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ba649f597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2ba649f597_0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ba649f597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2ba649f597_0_1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bac1908f5_0_1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2bac1908f5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2bac1908f5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EFF8FC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5" name="Google Shape;85;p13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6" name="Google Shape;96;p15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7" name="Google Shape;97;p15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8" name="Google Shape;98;p15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9" name="Google Shape;99;p15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00" name="Google Shape;100;p15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16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08" name="Google Shape;108;p16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9" name="Google Shape;109;p16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6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1" name="Google Shape;111;p16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16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16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4" name="Google Shape;114;p16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5" name="Google Shape;115;p16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2" name="Google Shape;122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8823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E8F5FB">
                  <a:alpha val="6666"/>
                </a:srgbClr>
              </a:gs>
              <a:gs pos="36000">
                <a:srgbClr val="E8F5FB">
                  <a:alpha val="5882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E8F5FB">
                  <a:alpha val="13725"/>
                </a:srgbClr>
              </a:gs>
              <a:gs pos="36000">
                <a:srgbClr val="E8F5FB">
                  <a:alpha val="6666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E8F5FB">
                  <a:alpha val="8627"/>
                </a:srgbClr>
              </a:gs>
              <a:gs pos="36000">
                <a:srgbClr val="E8F5FB">
                  <a:alpha val="4705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E8F5FB">
                  <a:alpha val="10980"/>
                </a:srgbClr>
              </a:gs>
              <a:gs pos="36000">
                <a:srgbClr val="E8F5FB">
                  <a:alpha val="9803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E8F5FB">
                  <a:alpha val="7843"/>
                </a:srgbClr>
              </a:gs>
              <a:gs pos="36000">
                <a:srgbClr val="E8F5FB">
                  <a:alpha val="7843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7366" y="76200"/>
            <a:ext cx="922356" cy="922356"/>
          </a:xfrm>
          <a:prstGeom prst="rect">
            <a:avLst/>
          </a:prstGeom>
          <a:noFill/>
          <a:ln>
            <a:noFill/>
          </a:ln>
          <a:effectLst>
            <a:outerShdw blurRad="127000" rotWithShape="0" algn="tl">
              <a:srgbClr val="000000">
                <a:alpha val="88627"/>
              </a:srgbClr>
            </a:outerShdw>
          </a:effectLst>
        </p:spPr>
      </p:pic>
      <p:sp>
        <p:nvSpPr>
          <p:cNvPr id="19" name="Google Shape;19;p1"/>
          <p:cNvSpPr/>
          <p:nvPr/>
        </p:nvSpPr>
        <p:spPr>
          <a:xfrm>
            <a:off x="12584" y="6248406"/>
            <a:ext cx="9118832" cy="609594"/>
          </a:xfrm>
          <a:prstGeom prst="rect">
            <a:avLst/>
          </a:prstGeom>
          <a:solidFill>
            <a:srgbClr val="0B2036">
              <a:alpha val="81960"/>
            </a:srgbClr>
          </a:solidFill>
          <a:ln cap="flat" cmpd="dbl" w="28575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schools.com/jquery/tryit.asp?filename=tryjquery_fadein" TargetMode="External"/><Relationship Id="rId4" Type="http://schemas.openxmlformats.org/officeDocument/2006/relationships/hyperlink" Target="https://www.w3schools.com/jquery/tryit.asp?filename=tryjquery_fadeout" TargetMode="External"/><Relationship Id="rId5" Type="http://schemas.openxmlformats.org/officeDocument/2006/relationships/hyperlink" Target="https://www.w3schools.com/jquery/tryit.asp?filename=tryjquery_fadetoggle" TargetMode="External"/><Relationship Id="rId6" Type="http://schemas.openxmlformats.org/officeDocument/2006/relationships/hyperlink" Target="https://www.w3schools.com/jquery/tryit.asp?filename=tryjquery_fadeto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jquery/tryit.asp?filename=tryjquery_slide_down" TargetMode="External"/><Relationship Id="rId4" Type="http://schemas.openxmlformats.org/officeDocument/2006/relationships/hyperlink" Target="https://www.w3schools.com/jquery/tryit.asp?filename=tryjquery_slide_up" TargetMode="External"/><Relationship Id="rId5" Type="http://schemas.openxmlformats.org/officeDocument/2006/relationships/hyperlink" Target="https://www.w3schools.com/jquery/tryit.asp?filename=tryjquery_slide_toggl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jquery.com/" TargetMode="External"/><Relationship Id="rId4" Type="http://schemas.openxmlformats.org/officeDocument/2006/relationships/hyperlink" Target="https://jquer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ctrTitle"/>
          </p:nvPr>
        </p:nvSpPr>
        <p:spPr>
          <a:xfrm>
            <a:off x="866442" y="1447801"/>
            <a:ext cx="66210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200"/>
              <a:t>Web Programming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200"/>
              <a:t>Lecture 9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jQuery</a:t>
            </a:r>
            <a:endParaRPr/>
          </a:p>
        </p:txBody>
      </p:sp>
      <p:sp>
        <p:nvSpPr>
          <p:cNvPr id="135" name="Google Shape;135;p19"/>
          <p:cNvSpPr txBox="1"/>
          <p:nvPr>
            <p:ph idx="1" type="subTitle"/>
          </p:nvPr>
        </p:nvSpPr>
        <p:spPr>
          <a:xfrm>
            <a:off x="866442" y="4777380"/>
            <a:ext cx="66210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8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Mahhek Tahir</a:t>
            </a:r>
            <a:endParaRPr sz="28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JQuery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656600" y="1491600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What is jQuery?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A fast, small, and feature-rich JavaScript library.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Simplifies HTML document traversal, event handling, and animation.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Ensures cross-browser compatibility.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Why use jQuery?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Concise and easy-to-use syntax.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Reduces the need for complex JavaScript code.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Widely supported and used in web development.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JQuery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656600" y="1491600"/>
            <a:ext cx="8568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Ways to include jQuery: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Download from jQuery.com and include locally.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Use a CDN (e.g., Google or jQuery CDN):</a:t>
            </a:r>
            <a:br>
              <a:rPr lang="en-US" sz="2200"/>
            </a:br>
            <a:r>
              <a:rPr lang="en-US" sz="2200"/>
              <a:t>&lt;script src="https://code.jquery.com/jquery-3.6.0.min.js"&gt;&lt;/script&gt;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Placing the script in your HTML file: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Inside the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lang="en-US" sz="2200"/>
              <a:t> or before closing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lang="en-US" sz="2200"/>
              <a:t>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Recommended: Place it before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r>
              <a:rPr lang="en-US" sz="2200"/>
              <a:t> for better performance.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Syntax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Structure:</a:t>
            </a:r>
            <a:br>
              <a:rPr lang="en-US" sz="2200"/>
            </a:br>
            <a:r>
              <a:rPr lang="en-US" sz="2200"/>
              <a:t>	$(document).ready(function() {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    		// jQuery code here</a:t>
            </a:r>
            <a:endParaRPr sz="22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});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-US" sz="2200"/>
              <a:t> is the jQuery selector.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$(document).ready()</a:t>
            </a:r>
            <a:r>
              <a:rPr lang="en-US" sz="2200"/>
              <a:t> ensures the DOM is fully loaded before executing scripts.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JQuery Selector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583650" y="1331250"/>
            <a:ext cx="83163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Select elements like CSS selectors:</a:t>
            </a:r>
            <a:br>
              <a:rPr b="1" lang="en-US" sz="2200"/>
            </a:br>
            <a:r>
              <a:rPr b="1" lang="en-US" sz="2200"/>
              <a:t>	</a:t>
            </a:r>
            <a:endParaRPr b="1"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$("p").hide(); </a:t>
            </a:r>
            <a:r>
              <a:rPr lang="en-US" sz="2200">
                <a:solidFill>
                  <a:srgbClr val="188038"/>
                </a:solidFill>
              </a:rPr>
              <a:t>// Hides all `&lt;p&gt;` elements</a:t>
            </a:r>
            <a:endParaRPr sz="2200">
              <a:solidFill>
                <a:srgbClr val="188038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$("#myId").show(); </a:t>
            </a:r>
            <a:r>
              <a:rPr lang="en-US" sz="2200">
                <a:solidFill>
                  <a:srgbClr val="188038"/>
                </a:solidFill>
              </a:rPr>
              <a:t>// Shows the element with ID 'myId'</a:t>
            </a:r>
            <a:endParaRPr sz="2200">
              <a:solidFill>
                <a:srgbClr val="188038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$(".myClass").fadeOut(); </a:t>
            </a:r>
            <a:r>
              <a:rPr lang="en-US" sz="2200">
                <a:solidFill>
                  <a:srgbClr val="188038"/>
                </a:solidFill>
              </a:rPr>
              <a:t>// Fades out elements with class 'myClass'</a:t>
            </a:r>
            <a:endParaRPr sz="2200">
              <a:solidFill>
                <a:srgbClr val="188038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Common selectors: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$("*")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$(this)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$("ul li")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$("div:first")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9" name="Google Shape;169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771" y="10886"/>
            <a:ext cx="9165900" cy="68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5" name="Google Shape;17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 in JQuery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jQuery makes event handling simple:</a:t>
            </a:r>
            <a:br>
              <a:rPr b="1" lang="en-US" sz="2200"/>
            </a:br>
            <a:endParaRPr b="1"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$("#btn").click(function() {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    alert("Button clicked!");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});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Common events: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click()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mouseover()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mouseleave()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keydown()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submit()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JQuery Effects &amp; Animations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717875" y="13939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Hide/Show Elements: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$("#box").hide();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$("#box").show();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$("#box").toggle();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Fading Effects: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("#box").fadeIn();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$("#box").fadeOut();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Sliding Effects: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$("#box").slideUp();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$("#box").slideDown();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Hide/Show Example</a:t>
            </a:r>
            <a:endParaRPr/>
          </a:p>
        </p:txBody>
      </p:sp>
      <p:pic>
        <p:nvPicPr>
          <p:cNvPr id="195" name="Google Shape;19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5" y="1649300"/>
            <a:ext cx="7038900" cy="42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909888"/>
            <a:ext cx="3286125" cy="103822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5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Toggle Example</a:t>
            </a:r>
            <a:endParaRPr/>
          </a:p>
        </p:txBody>
      </p:sp>
      <p:pic>
        <p:nvPicPr>
          <p:cNvPr id="202" name="Google Shape;20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752600"/>
            <a:ext cx="71343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2819400"/>
            <a:ext cx="3228975" cy="119062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5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jQuery Fading Effects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733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/>
              <a:t>With jQuery you can fade elements in and out of visibility.</a:t>
            </a:r>
            <a:endParaRPr/>
          </a:p>
          <a:p>
            <a:pPr indent="-37338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/>
              <a:t>Click to fade in/out panel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b="1" lang="en-US"/>
              <a:t>Examples:</a:t>
            </a:r>
            <a:endParaRPr b="1"/>
          </a:p>
          <a:p>
            <a:pPr indent="-37338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 u="sng">
                <a:hlinkClick r:id="rId3"/>
              </a:rPr>
              <a:t>jQuery fadeIn()</a:t>
            </a:r>
            <a:br>
              <a:rPr lang="en-US"/>
            </a:br>
            <a:r>
              <a:rPr lang="en-US"/>
              <a:t>Demonstrates the jQuery fadeIn() method.</a:t>
            </a:r>
            <a:endParaRPr/>
          </a:p>
          <a:p>
            <a:pPr indent="-37338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 u="sng">
                <a:hlinkClick r:id="rId4"/>
              </a:rPr>
              <a:t>jQuery fadeOut()</a:t>
            </a:r>
            <a:br>
              <a:rPr lang="en-US"/>
            </a:br>
            <a:r>
              <a:rPr lang="en-US"/>
              <a:t>Demonstrates the jQuery fadeOut() method.</a:t>
            </a:r>
            <a:endParaRPr/>
          </a:p>
          <a:p>
            <a:pPr indent="-37338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 u="sng">
                <a:hlinkClick r:id="rId5"/>
              </a:rPr>
              <a:t>jQuery fadeToggle()</a:t>
            </a:r>
            <a:br>
              <a:rPr lang="en-US"/>
            </a:br>
            <a:r>
              <a:rPr lang="en-US"/>
              <a:t>Demonstrates the jQuery fadeToggle() method.</a:t>
            </a:r>
            <a:endParaRPr/>
          </a:p>
          <a:p>
            <a:pPr indent="-37338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Char char="►"/>
            </a:pPr>
            <a:r>
              <a:rPr lang="en-US" u="sng">
                <a:hlinkClick r:id="rId6"/>
              </a:rPr>
              <a:t>jQuery fadeTo()</a:t>
            </a:r>
            <a:br>
              <a:rPr lang="en-US"/>
            </a:br>
            <a:r>
              <a:rPr lang="en-US"/>
              <a:t>Demonstrates the jQuery fadeTo() method.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Fading Example</a:t>
            </a:r>
            <a:endParaRPr/>
          </a:p>
        </p:txBody>
      </p:sp>
      <p:pic>
        <p:nvPicPr>
          <p:cNvPr id="215" name="Google Shape;215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151" y="1600200"/>
            <a:ext cx="7341600" cy="45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2438400"/>
            <a:ext cx="2316303" cy="2481262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5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jQuery Effects - Sliding</a:t>
            </a:r>
            <a:br>
              <a:rPr lang="en-US"/>
            </a:b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Examples</a:t>
            </a:r>
            <a:endParaRPr b="1"/>
          </a:p>
          <a:p>
            <a:pPr indent="0" lvl="0" marL="342906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hlinkClick r:id="rId3"/>
              </a:rPr>
              <a:t>slideDown()</a:t>
            </a:r>
            <a:br>
              <a:rPr lang="en-US"/>
            </a:br>
            <a:r>
              <a:rPr lang="en-US"/>
              <a:t>Demonstrates the jQuery slideDown() method.</a:t>
            </a:r>
            <a:endParaRPr/>
          </a:p>
          <a:p>
            <a:pPr indent="0" lvl="0" marL="342906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hlinkClick r:id="rId4"/>
              </a:rPr>
              <a:t>slideUp()</a:t>
            </a:r>
            <a:br>
              <a:rPr lang="en-US"/>
            </a:br>
            <a:r>
              <a:rPr lang="en-US"/>
              <a:t>Demonstrates the jQuery slideUp() method.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►"/>
            </a:pPr>
            <a:r>
              <a:rPr lang="en-US" u="sng">
                <a:hlinkClick r:id="rId5"/>
              </a:rPr>
              <a:t>slideToggle()</a:t>
            </a:r>
            <a:br>
              <a:rPr lang="en-US"/>
            </a:br>
            <a:r>
              <a:rPr lang="en-US"/>
              <a:t>Demonstrates the jQuery slideToggle() method.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Animate Example</a:t>
            </a:r>
            <a:endParaRPr/>
          </a:p>
        </p:txBody>
      </p:sp>
      <p:pic>
        <p:nvPicPr>
          <p:cNvPr id="228" name="Google Shape;22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87" y="1715294"/>
            <a:ext cx="7286700" cy="42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438400"/>
            <a:ext cx="3715958" cy="9906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50"/>
              </a:srgbClr>
            </a:outerShdw>
          </a:effectLst>
        </p:spPr>
      </p:pic>
      <p:pic>
        <p:nvPicPr>
          <p:cNvPr id="230" name="Google Shape;23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0" y="3505200"/>
            <a:ext cx="3715959" cy="92717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5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484698" y="452725"/>
            <a:ext cx="81183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Manipulating HTML and CSS</a:t>
            </a:r>
            <a:endParaRPr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Change content:</a:t>
            </a:r>
            <a:endParaRPr b="1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$("#text").text("New Content");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$("#text").html("&lt;b&gt;Bold Content&lt;/b&gt;");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Change CSS:</a:t>
            </a:r>
            <a:endParaRPr b="1"/>
          </a:p>
          <a:p>
            <a:pPr indent="-3200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$("#box").css("background-color", "blue");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3" name="Google Shape;243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9" name="Google Shape;249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/>
              <a:t>Create a counter where</a:t>
            </a:r>
            <a:r>
              <a:rPr b="1" lang="en-US" sz="2200"/>
              <a:t>:</a:t>
            </a:r>
            <a:endParaRPr b="1" sz="2200"/>
          </a:p>
          <a:p>
            <a:pPr indent="-391166" lvl="0" marL="34290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►"/>
            </a:pPr>
            <a:r>
              <a:rPr lang="en-US" sz="2200"/>
              <a:t>Clicking the </a:t>
            </a:r>
            <a:r>
              <a:rPr b="1" lang="en-US" sz="2200"/>
              <a:t>"Increase"</a:t>
            </a:r>
            <a:r>
              <a:rPr lang="en-US" sz="2200"/>
              <a:t> button increases the count.</a:t>
            </a:r>
            <a:endParaRPr sz="2200"/>
          </a:p>
          <a:p>
            <a:pPr indent="-391166" lvl="0" marL="3429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►"/>
            </a:pPr>
            <a:r>
              <a:rPr lang="en-US" sz="2200"/>
              <a:t>Clicking the </a:t>
            </a:r>
            <a:r>
              <a:rPr b="1" lang="en-US" sz="2200"/>
              <a:t>"Decrease"</a:t>
            </a:r>
            <a:r>
              <a:rPr lang="en-US" sz="2200"/>
              <a:t> button decreases the count.</a:t>
            </a:r>
            <a:endParaRPr sz="2200"/>
          </a:p>
          <a:p>
            <a:pPr indent="-391166" lvl="0" marL="3429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►"/>
            </a:pPr>
            <a:r>
              <a:rPr lang="en-US" sz="2200"/>
              <a:t>Clicking the </a:t>
            </a:r>
            <a:r>
              <a:rPr b="1" lang="en-US" sz="2200"/>
              <a:t>"Reset"</a:t>
            </a:r>
            <a:r>
              <a:rPr lang="en-US" sz="2200"/>
              <a:t> button resets the count to zero.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Resources</a:t>
            </a:r>
            <a:endParaRPr/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Why use jQuery in modern development?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Legacy browser support.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Still useful despite modern JavaScript frameworks.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Learning resources: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Official jQuery website:</a:t>
            </a:r>
            <a:r>
              <a:rPr lang="en-US" sz="2200">
                <a:uFill>
                  <a:noFill/>
                </a:uFill>
                <a:hlinkClick r:id="rId3"/>
              </a:rPr>
              <a:t> </a:t>
            </a:r>
            <a:r>
              <a:rPr lang="en-US" sz="2200" u="sng">
                <a:solidFill>
                  <a:schemeClr val="hlink"/>
                </a:solidFill>
                <a:hlinkClick r:id="rId4"/>
              </a:rPr>
              <a:t>https://jquery.com/</a:t>
            </a:r>
            <a:endParaRPr sz="2200" u="sng">
              <a:solidFill>
                <a:schemeClr val="hlink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Online tutorials: W3Schools, MDN, jQuery Documentation.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Practice by building small projects!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