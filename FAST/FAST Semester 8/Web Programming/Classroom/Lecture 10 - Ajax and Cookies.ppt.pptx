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Caveat"/>
      <p:regular r:id="rId24"/>
      <p:bold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pEPTbmRUno8gnopgR0TIl5dVR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ave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Caveat-bold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bad6a612b_0_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bad6a612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2bad6a612b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bad6a612b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bad6a612b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bad6a612b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bad6a612b_0_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2bad6a612b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2bad6a612b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bad6a612b_0_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2bad6a612b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2bad6a612b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bad6a612b_0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bad6a612b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2bad6a612b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bad6a612b_0_8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2bad6a612b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2bad6a612b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bad6a612b_0_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2bad6a612b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2bad6a612b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bad6a612b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2bad6a612b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2bad6a612b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bad6a612b_0_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2bad6a612b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2bad6a612b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bad6a612b_0_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2bad6a612b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2bad6a612b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947745ae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d947745a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2d947745ae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EFF8FC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0" name="Google Shape;50;p27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1" name="Google Shape;51;p27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2" name="Google Shape;52;p27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8" name="Google Shape;58;p2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1" name="Google Shape;61;p2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5" name="Google Shape;65;p30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1" name="Google Shape;71;p31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2" name="Google Shape;72;p3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3" name="Google Shape;73;p3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33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3" name="Google Shape;83;p3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3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5" name="Google Shape;85;p33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86" name="Google Shape;86;p33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3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1" name="Google Shape;91;p3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5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5" name="Google Shape;95;p35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6" name="Google Shape;96;p35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7" name="Google Shape;97;p35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8" name="Google Shape;98;p35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9" name="Google Shape;99;p35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00" name="Google Shape;100;p35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35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3" name="Google Shape;103;p3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36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08" name="Google Shape;108;p36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9" name="Google Shape;109;p36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36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1" name="Google Shape;111;p36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36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36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4" name="Google Shape;114;p36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5" name="Google Shape;115;p36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36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3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3" name="Google Shape;123;p3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8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8" name="Google Shape;128;p3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18823"/>
          </a:scheme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E8F5FB">
                  <a:alpha val="6666"/>
                </a:srgbClr>
              </a:gs>
              <a:gs pos="36000">
                <a:srgbClr val="E8F5FB">
                  <a:alpha val="5882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1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E8F5FB">
                  <a:alpha val="13725"/>
                </a:srgbClr>
              </a:gs>
              <a:gs pos="36000">
                <a:srgbClr val="E8F5FB">
                  <a:alpha val="6666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1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E8F5FB">
                  <a:alpha val="8627"/>
                </a:srgbClr>
              </a:gs>
              <a:gs pos="36000">
                <a:srgbClr val="E8F5FB">
                  <a:alpha val="4705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1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E8F5FB">
                  <a:alpha val="10980"/>
                </a:srgbClr>
              </a:gs>
              <a:gs pos="36000">
                <a:srgbClr val="E8F5FB">
                  <a:alpha val="9803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1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E8F5FB">
                  <a:alpha val="7843"/>
                </a:srgbClr>
              </a:gs>
              <a:gs pos="36000">
                <a:srgbClr val="E8F5FB">
                  <a:alpha val="7843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" name="Google Shape;18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7366" y="76200"/>
            <a:ext cx="922356" cy="922356"/>
          </a:xfrm>
          <a:prstGeom prst="rect">
            <a:avLst/>
          </a:prstGeom>
          <a:noFill/>
          <a:ln>
            <a:noFill/>
          </a:ln>
          <a:effectLst>
            <a:outerShdw blurRad="127000" rotWithShape="0" algn="tl">
              <a:srgbClr val="000000">
                <a:alpha val="88627"/>
              </a:srgbClr>
            </a:outerShdw>
          </a:effectLst>
        </p:spPr>
      </p:pic>
      <p:sp>
        <p:nvSpPr>
          <p:cNvPr id="19" name="Google Shape;19;p21"/>
          <p:cNvSpPr/>
          <p:nvPr/>
        </p:nvSpPr>
        <p:spPr>
          <a:xfrm>
            <a:off x="12584" y="6248406"/>
            <a:ext cx="9118832" cy="609594"/>
          </a:xfrm>
          <a:prstGeom prst="rect">
            <a:avLst/>
          </a:prstGeom>
          <a:solidFill>
            <a:srgbClr val="0B2036">
              <a:alpha val="81960"/>
            </a:srgbClr>
          </a:solidFill>
          <a:ln cap="flat" cmpd="dbl" w="28575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800100" y="127635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2800"/>
              <a:t>Lecture</a:t>
            </a:r>
            <a:r>
              <a:rPr lang="en-US" sz="2800"/>
              <a:t> 10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2800"/>
              <a:t>Web Programming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/>
              <a:t>Ajax &amp; Cookies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3">
            <a:alphaModFix/>
          </a:blip>
          <a:srcRect b="0" l="0" r="0" t="50000"/>
          <a:stretch/>
        </p:blipFill>
        <p:spPr>
          <a:xfrm>
            <a:off x="1066800" y="3362325"/>
            <a:ext cx="76231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/>
          <p:nvPr/>
        </p:nvSpPr>
        <p:spPr>
          <a:xfrm>
            <a:off x="2420062" y="3752850"/>
            <a:ext cx="464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Mahhek Tahir</a:t>
            </a:r>
            <a:endParaRPr i="0" sz="2800" u="none" cap="none" strike="noStrike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What is Ajax?</a:t>
            </a:r>
            <a:endParaRPr/>
          </a:p>
        </p:txBody>
      </p:sp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0" y="2052925"/>
            <a:ext cx="9144000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AJAX (Asynchronous JavaScript and XML)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Allows web pages to update asynchronously without reloading.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Uses JavaScript to send/receive data from a web server.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Often works with JSON instead of XML.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241306" lvl="0" marL="342906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>
            <p:ph type="title"/>
          </p:nvPr>
        </p:nvSpPr>
        <p:spPr>
          <a:xfrm>
            <a:off x="410850" y="228275"/>
            <a:ext cx="83223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How Ajax Works</a:t>
            </a:r>
            <a:endParaRPr/>
          </a:p>
        </p:txBody>
      </p:sp>
      <p:sp>
        <p:nvSpPr>
          <p:cNvPr id="148" name="Google Shape;148;p3"/>
          <p:cNvSpPr txBox="1"/>
          <p:nvPr>
            <p:ph idx="1" type="body"/>
          </p:nvPr>
        </p:nvSpPr>
        <p:spPr>
          <a:xfrm>
            <a:off x="0" y="1295401"/>
            <a:ext cx="9144000" cy="49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 triggers an event (e.g., clicking a button).</a:t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JavaScript creates an XMLHttpRequest (XHR) object.</a:t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XHR sends a request to the server.</a:t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Server processes the request and sends a response.</a:t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JavaScript updates the web page dynamically.</a:t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41306" lvl="0" marL="342906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>
            <p:ph type="title"/>
          </p:nvPr>
        </p:nvSpPr>
        <p:spPr>
          <a:xfrm>
            <a:off x="0" y="0"/>
            <a:ext cx="8534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Ajax-driven Online Applications</a:t>
            </a:r>
            <a:endParaRPr/>
          </a:p>
        </p:txBody>
      </p:sp>
      <p:sp>
        <p:nvSpPr>
          <p:cNvPr id="154" name="Google Shape;154;p4"/>
          <p:cNvSpPr txBox="1"/>
          <p:nvPr>
            <p:ph idx="1" type="body"/>
          </p:nvPr>
        </p:nvSpPr>
        <p:spPr>
          <a:xfrm>
            <a:off x="609600" y="1371601"/>
            <a:ext cx="7620000" cy="4876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1" i="0" lang="en-US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rPr>
              <a:t>Gmail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n-US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rPr>
              <a:t>Google Maps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n-US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rPr>
              <a:t>Google Docs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n-US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n-US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rPr>
              <a:t>Facebook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>
                <a:solidFill>
                  <a:srgbClr val="414141"/>
                </a:solidFill>
              </a:rPr>
              <a:t>Instagram</a:t>
            </a:r>
            <a:endParaRPr b="1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bad6a612b_0_9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Advantages of Ajax</a:t>
            </a:r>
            <a:endParaRPr/>
          </a:p>
        </p:txBody>
      </p:sp>
      <p:sp>
        <p:nvSpPr>
          <p:cNvPr id="161" name="Google Shape;161;g32bad6a612b_0_9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Improved User Experience</a:t>
            </a:r>
            <a:r>
              <a:rPr lang="en-US" sz="2200"/>
              <a:t>: AJAX allows for smoother and faster interactions because it only loads the necessary parts of the page.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Asynchronous</a:t>
            </a:r>
            <a:r>
              <a:rPr lang="en-US" sz="2200"/>
              <a:t>: AJAX calls are asynchronous, meaning the page can continue to function while waiting for a server response.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Reduced Server Load</a:t>
            </a:r>
            <a:r>
              <a:rPr lang="en-US" sz="2200"/>
              <a:t>: By only requesting necessary data rather than reloading entire pages, server resources are used more efficiently.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bad6a612b_0_62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Steps of Ajax</a:t>
            </a:r>
            <a:endParaRPr/>
          </a:p>
        </p:txBody>
      </p:sp>
      <p:sp>
        <p:nvSpPr>
          <p:cNvPr id="168" name="Google Shape;168;g32bad6a612b_0_62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Create an XMLHttpRequest object</a:t>
            </a:r>
            <a:r>
              <a:rPr lang="en-US" sz="2200"/>
              <a:t>: This is the main object used for making requests to the server.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Configure the request</a:t>
            </a:r>
            <a:r>
              <a:rPr lang="en-US" sz="2200"/>
              <a:t>: You set the request type (GET, POST, etc.), the URL to send the request to, and whether it should be asynchronous.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Send the request</a:t>
            </a:r>
            <a:r>
              <a:rPr lang="en-US" sz="2200"/>
              <a:t>: Once the request is set up, it is sent to the server.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Process the response</a:t>
            </a:r>
            <a:r>
              <a:rPr lang="en-US" sz="2200"/>
              <a:t>: When the server sends back a response, you can use JavaScript to process and update the page dynamically based on that response. </a:t>
            </a:r>
            <a:r>
              <a:rPr b="1" lang="en-US" sz="2200"/>
              <a:t>What is response?</a:t>
            </a:r>
            <a:endParaRPr b="1"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bad6a612b_0_56"/>
          <p:cNvSpPr txBox="1"/>
          <p:nvPr>
            <p:ph type="title"/>
          </p:nvPr>
        </p:nvSpPr>
        <p:spPr>
          <a:xfrm>
            <a:off x="353910" y="18304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Ajax Example with JS</a:t>
            </a:r>
            <a:endParaRPr/>
          </a:p>
        </p:txBody>
      </p:sp>
      <p:sp>
        <p:nvSpPr>
          <p:cNvPr id="175" name="Google Shape;175;g32bad6a612b_0_56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g32bad6a612b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5970"/>
            <a:ext cx="9144000" cy="5212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bad6a612b_0_71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Ajax Example with 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2bad6a612b_0_71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Explanation of the Example: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xhr.open("GET", "URL", true);</a:t>
            </a:r>
            <a:r>
              <a:rPr lang="en-US" sz="2200"/>
              <a:t>: Initializes the request.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"GET"</a:t>
            </a:r>
            <a:r>
              <a:rPr lang="en-US" sz="2200"/>
              <a:t> specifies the type of request, and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"true"</a:t>
            </a:r>
            <a:r>
              <a:rPr lang="en-US" sz="2200"/>
              <a:t> makes it asynchronous.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xhr.onload</a:t>
            </a:r>
            <a:r>
              <a:rPr lang="en-US" sz="2200"/>
              <a:t>: This function runs when the response is received from the server. If the status is successful (status code 200-299), the response is processed.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xhr.send();</a:t>
            </a:r>
            <a:r>
              <a:rPr lang="en-US" sz="2200"/>
              <a:t>: Sends the request to the server.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bad6a612b_0_78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/>
              <a:t>Ajax with Fetch API</a:t>
            </a:r>
            <a:endParaRPr/>
          </a:p>
        </p:txBody>
      </p:sp>
      <p:sp>
        <p:nvSpPr>
          <p:cNvPr id="190" name="Google Shape;190;g32bad6a612b_0_78"/>
          <p:cNvSpPr txBox="1"/>
          <p:nvPr>
            <p:ph idx="1" type="body"/>
          </p:nvPr>
        </p:nvSpPr>
        <p:spPr>
          <a:xfrm>
            <a:off x="583650" y="141837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The Fetch API is a modern alternative to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XMLHttpRequest</a:t>
            </a:r>
            <a:r>
              <a:rPr lang="en-US" sz="2200"/>
              <a:t>. It’s more flexible and easier to use. Here's how the previous example would look using the Fetch API: </a:t>
            </a:r>
            <a:r>
              <a:rPr b="1" lang="en-US" sz="2200"/>
              <a:t>API END POINT?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191" name="Google Shape;191;g32bad6a612b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8130"/>
            <a:ext cx="9144002" cy="306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bad6a612b_0_89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Uses of Ajax</a:t>
            </a:r>
            <a:endParaRPr/>
          </a:p>
        </p:txBody>
      </p:sp>
      <p:sp>
        <p:nvSpPr>
          <p:cNvPr id="198" name="Google Shape;198;g32bad6a612b_0_89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Form Submissions</a:t>
            </a:r>
            <a:r>
              <a:rPr lang="en-US" sz="2200"/>
              <a:t>: Sending form data without reloading the page.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Live Search</a:t>
            </a:r>
            <a:r>
              <a:rPr lang="en-US" sz="2200"/>
              <a:t>: Updating search results as you type.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Updating Content</a:t>
            </a:r>
            <a:r>
              <a:rPr lang="en-US" sz="2200"/>
              <a:t>: Loading content like news or product listings dynamically.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Single-Page Applications (SPAs)</a:t>
            </a:r>
            <a:r>
              <a:rPr lang="en-US" sz="2200"/>
              <a:t>: Frameworks like React, Angular, and Vue rely heavily on AJAX for updating the user interface without page reloads.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404546" y="228600"/>
            <a:ext cx="5547424" cy="1701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/>
              <a:t>JavaScript and Cookies</a:t>
            </a:r>
            <a:endParaRPr/>
          </a:p>
        </p:txBody>
      </p:sp>
      <p:pic>
        <p:nvPicPr>
          <p:cNvPr id="204" name="Google Shape;204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950" r="6949" t="0"/>
          <a:stretch/>
        </p:blipFill>
        <p:spPr>
          <a:xfrm>
            <a:off x="6975914" y="2667000"/>
            <a:ext cx="2168085" cy="3960397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228600" y="2438400"/>
            <a:ext cx="5029200" cy="1701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Baking Your First Cookie!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JavaScript and Cookies</a:t>
            </a:r>
            <a:endParaRPr/>
          </a:p>
        </p:txBody>
      </p:sp>
      <p:sp>
        <p:nvSpPr>
          <p:cNvPr id="211" name="Google Shape;211;p18"/>
          <p:cNvSpPr txBox="1"/>
          <p:nvPr>
            <p:ph idx="1" type="body"/>
          </p:nvPr>
        </p:nvSpPr>
        <p:spPr>
          <a:xfrm>
            <a:off x="0" y="1600201"/>
            <a:ext cx="8915400" cy="4648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2240"/>
              <a:buChar char="►"/>
            </a:pPr>
            <a:r>
              <a:rPr lang="en-US" sz="2800"/>
              <a:t>In web terms, a cookie is a unique chunk of information that a web server gives to a browser when the first meet.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2240"/>
              <a:buChar char="►"/>
            </a:pPr>
            <a:r>
              <a:rPr lang="en-US" sz="2800"/>
              <a:t>Browsers saves the cookie  and information about you as a plain text file stored on your computer’s drive.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2240"/>
              <a:buChar char="►"/>
            </a:pPr>
            <a:r>
              <a:rPr lang="en-US" sz="2800"/>
              <a:t>You can keep track of which parts of your site the user has visited and count the number of visit from the user.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bad6a612b_0_23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Cookies</a:t>
            </a:r>
            <a:endParaRPr/>
          </a:p>
        </p:txBody>
      </p:sp>
      <p:sp>
        <p:nvSpPr>
          <p:cNvPr id="218" name="Google Shape;218;g32bad6a612b_0_23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lang="en-US" sz="2800"/>
              <a:t>Cookies</a:t>
            </a:r>
            <a:r>
              <a:rPr lang="en-US" sz="2800"/>
              <a:t> are small pieces of data stored on the client’s browser.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lang="en-US" sz="2800"/>
              <a:t>Used for tracking, session management, and personalization.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lang="en-US" sz="2800"/>
              <a:t>Stored as key-value pairs.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bad6a612b_0_30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of Cookies</a:t>
            </a:r>
            <a:endParaRPr/>
          </a:p>
        </p:txBody>
      </p:sp>
      <p:sp>
        <p:nvSpPr>
          <p:cNvPr id="225" name="Google Shape;225;g32bad6a612b_0_30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 sz="2800"/>
              <a:t>Session Cookies:</a:t>
            </a:r>
            <a:r>
              <a:rPr lang="en-US" sz="2800"/>
              <a:t> Expire when the browser is closed.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 sz="2800"/>
              <a:t>Persistent Cookies:</a:t>
            </a:r>
            <a:r>
              <a:rPr lang="en-US" sz="2800"/>
              <a:t> Remain stored until they expire or are deleted.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 sz="2800"/>
              <a:t>Secure Cookies:</a:t>
            </a:r>
            <a:r>
              <a:rPr lang="en-US" sz="2800"/>
              <a:t> Transmitted only over HTTPS.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en-US" sz="2800"/>
              <a:t>HttpOnly Cookies:</a:t>
            </a:r>
            <a:r>
              <a:rPr lang="en-US" sz="2800"/>
              <a:t> Cannot be accessed by JavaScript.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bad6a612b_0_37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Cookies Work?</a:t>
            </a:r>
            <a:endParaRPr/>
          </a:p>
        </p:txBody>
      </p:sp>
      <p:sp>
        <p:nvSpPr>
          <p:cNvPr id="232" name="Google Shape;232;g32bad6a612b_0_37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/>
              <a:t>Server sends a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Set-Cookie</a:t>
            </a:r>
            <a:r>
              <a:rPr lang="en-US" sz="2800"/>
              <a:t> header in the HTTP response.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/>
              <a:t>Browser stores the cookie.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/>
              <a:t>Browser includes the cookie in subsequent requests.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/>
              <a:t>Server reads the cookie for session management.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bad6a612b_0_44"/>
          <p:cNvSpPr txBox="1"/>
          <p:nvPr>
            <p:ph type="title"/>
          </p:nvPr>
        </p:nvSpPr>
        <p:spPr>
          <a:xfrm>
            <a:off x="484699" y="452725"/>
            <a:ext cx="78621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and GET Cookie using JS</a:t>
            </a:r>
            <a:endParaRPr/>
          </a:p>
        </p:txBody>
      </p:sp>
      <p:sp>
        <p:nvSpPr>
          <p:cNvPr id="239" name="Google Shape;239;g32bad6a612b_0_44"/>
          <p:cNvSpPr txBox="1"/>
          <p:nvPr>
            <p:ph idx="1" type="body"/>
          </p:nvPr>
        </p:nvSpPr>
        <p:spPr>
          <a:xfrm>
            <a:off x="642700" y="1991900"/>
            <a:ext cx="77772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Set a Cookie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document.cookie = "username=JohnDoe; expires=Fri, 31 Dec 2025 23:59:59 UTC;";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Get a Cookie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console.log(getCookie("username"));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Misconception about cookies</a:t>
            </a:r>
            <a:endParaRPr/>
          </a:p>
        </p:txBody>
      </p:sp>
      <p:sp>
        <p:nvSpPr>
          <p:cNvPr id="245" name="Google Shape;245;p20"/>
          <p:cNvSpPr txBox="1"/>
          <p:nvPr>
            <p:ph idx="1" type="body"/>
          </p:nvPr>
        </p:nvSpPr>
        <p:spPr>
          <a:xfrm>
            <a:off x="152400" y="1752601"/>
            <a:ext cx="8610600" cy="4495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866" lvl="0" marL="34290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►"/>
            </a:pPr>
            <a:r>
              <a:rPr b="1" lang="en-US" sz="2400"/>
              <a:t>Cookies store viruses or malware:</a:t>
            </a:r>
            <a:r>
              <a:rPr lang="en-US" sz="2400"/>
              <a:t> False, cookies are just text files and cannot execute code.</a:t>
            </a:r>
            <a:endParaRPr sz="2400"/>
          </a:p>
          <a:p>
            <a:pPr indent="-403866" lvl="0" marL="34290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►"/>
            </a:pPr>
            <a:r>
              <a:rPr b="1" lang="en-US" sz="2400"/>
              <a:t>Cookies are always bad for privacy:</a:t>
            </a:r>
            <a:r>
              <a:rPr lang="en-US" sz="2400"/>
              <a:t> Not necessarily, they can enhance user experience when used responsibly.</a:t>
            </a:r>
            <a:endParaRPr sz="2400"/>
          </a:p>
          <a:p>
            <a:pPr indent="-403866" lvl="0" marL="34290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►"/>
            </a:pPr>
            <a:r>
              <a:rPr b="1" lang="en-US" sz="2400"/>
              <a:t>Deleting cookies removes all tracking:</a:t>
            </a:r>
            <a:r>
              <a:rPr lang="en-US" sz="2400"/>
              <a:t> Not entirely, as other tracking mechanisms like local storage and fingerprinting exist.</a:t>
            </a:r>
            <a:endParaRPr sz="2400"/>
          </a:p>
          <a:p>
            <a:pPr indent="-403866" lvl="0" marL="34290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►"/>
            </a:pPr>
            <a:r>
              <a:rPr b="1" lang="en-US" sz="2400"/>
              <a:t>Cookies slow down your browser:</a:t>
            </a:r>
            <a:r>
              <a:rPr lang="en-US" sz="2400"/>
              <a:t> Only if excessive cookies are stored, but modern browsers manage them efficiently.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d947745ae6_0_0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Revision?</a:t>
            </a:r>
            <a:endParaRPr/>
          </a:p>
        </p:txBody>
      </p:sp>
      <p:sp>
        <p:nvSpPr>
          <p:cNvPr id="252" name="Google Shape;252;g2d947745ae6_0_0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2012-07-03T07:32:31Z</dcterms:created>
  <dc:creator>Administrator</dc:creator>
</cp:coreProperties>
</file>