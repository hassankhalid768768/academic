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6858000" cx="9144000"/>
  <p:notesSz cx="6858000" cy="9144000"/>
  <p:embeddedFontLst>
    <p:embeddedFont>
      <p:font typeface="Caveat"/>
      <p:regular r:id="rId25"/>
      <p:bold r:id="rId26"/>
    </p:embeddedFont>
    <p:embeddedFont>
      <p:font typeface="Roboto Mon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1" roundtripDataSignature="AMtx7mgIFM2n/PVP0oemoF8Fei/Pwn8L7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Caveat-bold.fntdata"/><Relationship Id="rId25" Type="http://schemas.openxmlformats.org/officeDocument/2006/relationships/font" Target="fonts/Caveat-regular.fntdata"/><Relationship Id="rId28" Type="http://schemas.openxmlformats.org/officeDocument/2006/relationships/font" Target="fonts/RobotoMono-bold.fntdata"/><Relationship Id="rId27" Type="http://schemas.openxmlformats.org/officeDocument/2006/relationships/font" Target="fonts/RobotoMon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Mon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customschemas.google.com/relationships/presentationmetadata" Target="metadata"/><Relationship Id="rId30" Type="http://schemas.openxmlformats.org/officeDocument/2006/relationships/font" Target="fonts/RobotoMon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.</a:t>
            </a:r>
            <a:endParaRPr/>
          </a:p>
        </p:txBody>
      </p:sp>
      <p:sp>
        <p:nvSpPr>
          <p:cNvPr id="132" name="Google Shape;132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4b178a6ba3_0_2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g34b178a6ba3_0_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" name="Google Shape;141;g34b178a6ba3_0_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54e7eab0dc_0_1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g354e7eab0dc_0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g354e7eab0dc_0_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54e7eab0dc_0_1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g354e7eab0dc_0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5" name="Google Shape;155;g354e7eab0dc_0_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4b178a6ba3_0_1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g34b178a6ba3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2" name="Google Shape;162;g34b178a6ba3_0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441e215438_0_2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g3441e215438_0_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9" name="Google Shape;169;g3441e215438_0_2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4d1d08e5b1_0_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g34d1d08e5b1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0" name="Google Shape;180;g34d1d08e5b1_0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51fea458ab_0_2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g351fea458ab_0_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7" name="Google Shape;187;g351fea458ab_0_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4d1d08e5b1_0_3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g34d1d08e5b1_0_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6" name="Google Shape;196;g34d1d08e5b1_0_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54e7eab0dc_0_5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g354e7eab0dc_0_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3" name="Google Shape;203;g354e7eab0dc_0_5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51fea458ab_0_6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g351fea458ab_0_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1" name="Google Shape;211;g351fea458ab_0_6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572dbd2da3_0_5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572dbd2da3_0_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g3572dbd2da3_0_5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572dbd2da3_0_7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572dbd2da3_0_7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g3572dbd2da3_0_7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572dbd2da3_0_6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572dbd2da3_0_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g3572dbd2da3_0_6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572dbd2da3_0_8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572dbd2da3_0_8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3572dbd2da3_0_8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572dbd2da3_0_9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572dbd2da3_0_9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g3572dbd2da3_0_9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572dbd2da3_0_6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572dbd2da3_0_6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g3572dbd2da3_0_6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572dbd2da3_0_11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572dbd2da3_0_1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g3572dbd2da3_0_1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54e7eab0dc_0_7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g354e7eab0dc_0_7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8" name="Google Shape;268;g354e7eab0dc_0_7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9"/>
          <p:cNvSpPr txBox="1"/>
          <p:nvPr>
            <p:ph type="ctrTitle"/>
          </p:nvPr>
        </p:nvSpPr>
        <p:spPr>
          <a:xfrm>
            <a:off x="866442" y="1447801"/>
            <a:ext cx="6620968" cy="33295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Font typeface="Arial"/>
              <a:buNone/>
              <a:defRPr sz="7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9"/>
          <p:cNvSpPr txBox="1"/>
          <p:nvPr>
            <p:ph idx="1" type="subTitle"/>
          </p:nvPr>
        </p:nvSpPr>
        <p:spPr>
          <a:xfrm>
            <a:off x="866442" y="4777380"/>
            <a:ext cx="6620968" cy="861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cap="none">
                <a:solidFill>
                  <a:srgbClr val="EFF8FC"/>
                </a:solidFill>
              </a:defRPr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3" name="Google Shape;23;p29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4" name="Google Shape;24;p29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0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0"/>
          <p:cNvSpPr txBox="1"/>
          <p:nvPr>
            <p:ph idx="1" type="body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28" name="Google Shape;28;p30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9" name="Google Shape;29;p30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1"/>
          <p:cNvSpPr txBox="1"/>
          <p:nvPr>
            <p:ph type="title"/>
          </p:nvPr>
        </p:nvSpPr>
        <p:spPr>
          <a:xfrm>
            <a:off x="866443" y="2861734"/>
            <a:ext cx="6620967" cy="19156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b="0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1"/>
          <p:cNvSpPr txBox="1"/>
          <p:nvPr>
            <p:ph idx="1" type="body"/>
          </p:nvPr>
        </p:nvSpPr>
        <p:spPr>
          <a:xfrm>
            <a:off x="866442" y="4777381"/>
            <a:ext cx="662096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 cap="none">
                <a:solidFill>
                  <a:srgbClr val="EFF8FC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3" name="Google Shape;33;p31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34" name="Google Shape;34;p31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2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2"/>
          <p:cNvSpPr txBox="1"/>
          <p:nvPr>
            <p:ph idx="1" type="body"/>
          </p:nvPr>
        </p:nvSpPr>
        <p:spPr>
          <a:xfrm>
            <a:off x="827700" y="2060576"/>
            <a:ext cx="3298113" cy="4195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38" name="Google Shape;38;p32"/>
          <p:cNvSpPr txBox="1"/>
          <p:nvPr>
            <p:ph idx="2" type="body"/>
          </p:nvPr>
        </p:nvSpPr>
        <p:spPr>
          <a:xfrm>
            <a:off x="4241975" y="2056093"/>
            <a:ext cx="3298115" cy="42002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39" name="Google Shape;39;p32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0" name="Google Shape;40;p32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3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3"/>
          <p:cNvSpPr txBox="1"/>
          <p:nvPr>
            <p:ph idx="1" type="body"/>
          </p:nvPr>
        </p:nvSpPr>
        <p:spPr>
          <a:xfrm>
            <a:off x="827700" y="1905000"/>
            <a:ext cx="3298112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EFF8FC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44" name="Google Shape;44;p33"/>
          <p:cNvSpPr txBox="1"/>
          <p:nvPr>
            <p:ph idx="2" type="body"/>
          </p:nvPr>
        </p:nvSpPr>
        <p:spPr>
          <a:xfrm>
            <a:off x="827700" y="2514600"/>
            <a:ext cx="3298113" cy="37417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45" name="Google Shape;45;p33"/>
          <p:cNvSpPr txBox="1"/>
          <p:nvPr>
            <p:ph idx="3" type="body"/>
          </p:nvPr>
        </p:nvSpPr>
        <p:spPr>
          <a:xfrm>
            <a:off x="4241976" y="1905000"/>
            <a:ext cx="3298113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EFF8FC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46" name="Google Shape;46;p33"/>
          <p:cNvSpPr txBox="1"/>
          <p:nvPr>
            <p:ph idx="4" type="body"/>
          </p:nvPr>
        </p:nvSpPr>
        <p:spPr>
          <a:xfrm>
            <a:off x="4241976" y="2514600"/>
            <a:ext cx="3298113" cy="37417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47" name="Google Shape;47;p33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8" name="Google Shape;48;p33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4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4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2" name="Google Shape;52;p34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5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5" name="Google Shape;55;p35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6"/>
          <p:cNvSpPr txBox="1"/>
          <p:nvPr>
            <p:ph type="title"/>
          </p:nvPr>
        </p:nvSpPr>
        <p:spPr>
          <a:xfrm>
            <a:off x="866441" y="1447800"/>
            <a:ext cx="2551462" cy="1447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6"/>
          <p:cNvSpPr txBox="1"/>
          <p:nvPr>
            <p:ph idx="1" type="body"/>
          </p:nvPr>
        </p:nvSpPr>
        <p:spPr>
          <a:xfrm>
            <a:off x="3589397" y="1447800"/>
            <a:ext cx="3898013" cy="45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►"/>
              <a:defRPr sz="2000"/>
            </a:lvl1pPr>
            <a:lvl2pPr indent="-32004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2pPr>
            <a:lvl3pPr indent="-30988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3pPr>
            <a:lvl4pPr indent="-299719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4pPr>
            <a:lvl5pPr indent="-29972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5pPr>
            <a:lvl6pPr indent="-29972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6pPr>
            <a:lvl7pPr indent="-29972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7pPr>
            <a:lvl8pPr indent="-29972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8pPr>
            <a:lvl9pPr indent="-29972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9pPr>
          </a:lstStyle>
          <a:p/>
        </p:txBody>
      </p:sp>
      <p:sp>
        <p:nvSpPr>
          <p:cNvPr id="59" name="Google Shape;59;p36"/>
          <p:cNvSpPr txBox="1"/>
          <p:nvPr>
            <p:ph idx="2" type="body"/>
          </p:nvPr>
        </p:nvSpPr>
        <p:spPr>
          <a:xfrm>
            <a:off x="866441" y="3129281"/>
            <a:ext cx="2551462" cy="2895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60" name="Google Shape;60;p36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61" name="Google Shape;61;p36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7"/>
          <p:cNvSpPr txBox="1"/>
          <p:nvPr>
            <p:ph type="title"/>
          </p:nvPr>
        </p:nvSpPr>
        <p:spPr>
          <a:xfrm>
            <a:off x="865656" y="1854192"/>
            <a:ext cx="3820674" cy="15748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 b="0"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7"/>
          <p:cNvSpPr/>
          <p:nvPr>
            <p:ph idx="2" type="pic"/>
          </p:nvPr>
        </p:nvSpPr>
        <p:spPr>
          <a:xfrm>
            <a:off x="5213517" y="1143000"/>
            <a:ext cx="2400925" cy="4572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0000"/>
              </a:srgbClr>
            </a:outerShdw>
          </a:effectLst>
        </p:spPr>
      </p:sp>
      <p:sp>
        <p:nvSpPr>
          <p:cNvPr id="65" name="Google Shape;65;p37"/>
          <p:cNvSpPr txBox="1"/>
          <p:nvPr>
            <p:ph idx="1" type="body"/>
          </p:nvPr>
        </p:nvSpPr>
        <p:spPr>
          <a:xfrm>
            <a:off x="866441" y="3657600"/>
            <a:ext cx="381472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66" name="Google Shape;66;p37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67" name="Google Shape;67;p37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8"/>
          <p:cNvSpPr txBox="1"/>
          <p:nvPr>
            <p:ph type="title"/>
          </p:nvPr>
        </p:nvSpPr>
        <p:spPr>
          <a:xfrm>
            <a:off x="866443" y="4800587"/>
            <a:ext cx="6620967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8"/>
          <p:cNvSpPr/>
          <p:nvPr>
            <p:ph idx="2" type="pic"/>
          </p:nvPr>
        </p:nvSpPr>
        <p:spPr>
          <a:xfrm>
            <a:off x="866442" y="685800"/>
            <a:ext cx="6620968" cy="3640666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0000"/>
              </a:srgbClr>
            </a:outerShdw>
          </a:effectLst>
        </p:spPr>
      </p:sp>
      <p:sp>
        <p:nvSpPr>
          <p:cNvPr id="71" name="Google Shape;71;p38"/>
          <p:cNvSpPr txBox="1"/>
          <p:nvPr>
            <p:ph idx="1" type="body"/>
          </p:nvPr>
        </p:nvSpPr>
        <p:spPr>
          <a:xfrm>
            <a:off x="866443" y="5367325"/>
            <a:ext cx="6620966" cy="493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72" name="Google Shape;72;p38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3" name="Google Shape;73;p38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9"/>
          <p:cNvSpPr txBox="1"/>
          <p:nvPr>
            <p:ph type="title"/>
          </p:nvPr>
        </p:nvSpPr>
        <p:spPr>
          <a:xfrm>
            <a:off x="866442" y="1447800"/>
            <a:ext cx="6620968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9"/>
          <p:cNvSpPr txBox="1"/>
          <p:nvPr>
            <p:ph idx="1" type="body"/>
          </p:nvPr>
        </p:nvSpPr>
        <p:spPr>
          <a:xfrm>
            <a:off x="866442" y="3657600"/>
            <a:ext cx="6620968" cy="23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77" name="Google Shape;77;p39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8" name="Google Shape;78;p39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0"/>
          <p:cNvSpPr txBox="1"/>
          <p:nvPr>
            <p:ph type="title"/>
          </p:nvPr>
        </p:nvSpPr>
        <p:spPr>
          <a:xfrm>
            <a:off x="1181409" y="1447800"/>
            <a:ext cx="6001049" cy="23233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40"/>
          <p:cNvSpPr txBox="1"/>
          <p:nvPr>
            <p:ph idx="1" type="body"/>
          </p:nvPr>
        </p:nvSpPr>
        <p:spPr>
          <a:xfrm>
            <a:off x="1448177" y="3771174"/>
            <a:ext cx="5461159" cy="342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b="0" i="0" sz="1400" cap="small">
                <a:solidFill>
                  <a:srgbClr val="EFF8FC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82" name="Google Shape;82;p40"/>
          <p:cNvSpPr txBox="1"/>
          <p:nvPr>
            <p:ph idx="2" type="body"/>
          </p:nvPr>
        </p:nvSpPr>
        <p:spPr>
          <a:xfrm>
            <a:off x="866442" y="4350657"/>
            <a:ext cx="6620968" cy="16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83" name="Google Shape;83;p40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4" name="Google Shape;84;p40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5" name="Google Shape;85;p40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00"/>
              <a:buFont typeface="Arial"/>
              <a:buNone/>
            </a:pPr>
            <a:r>
              <a:rPr b="0" i="0" lang="en-US" sz="12200" u="none" cap="none" strike="noStrike">
                <a:solidFill>
                  <a:srgbClr val="EFF8FC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40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00"/>
              <a:buFont typeface="Arial"/>
              <a:buNone/>
            </a:pPr>
            <a:r>
              <a:rPr b="0" i="0" lang="en-US" sz="12200" u="none" cap="none" strike="noStrike">
                <a:solidFill>
                  <a:srgbClr val="EFF8FC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1"/>
          <p:cNvSpPr txBox="1"/>
          <p:nvPr>
            <p:ph type="title"/>
          </p:nvPr>
        </p:nvSpPr>
        <p:spPr>
          <a:xfrm>
            <a:off x="866441" y="3124201"/>
            <a:ext cx="6620969" cy="16531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b="0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41"/>
          <p:cNvSpPr txBox="1"/>
          <p:nvPr>
            <p:ph idx="1" type="body"/>
          </p:nvPr>
        </p:nvSpPr>
        <p:spPr>
          <a:xfrm>
            <a:off x="866442" y="4777381"/>
            <a:ext cx="662096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 cap="none">
                <a:solidFill>
                  <a:srgbClr val="EFF8FC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0" name="Google Shape;90;p41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91" name="Google Shape;91;p41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">
  <p:cSld name="3 Column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2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Arial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42"/>
          <p:cNvSpPr txBox="1"/>
          <p:nvPr>
            <p:ph idx="1" type="body"/>
          </p:nvPr>
        </p:nvSpPr>
        <p:spPr>
          <a:xfrm>
            <a:off x="474834" y="1981200"/>
            <a:ext cx="221072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EFF8FC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95" name="Google Shape;95;p42"/>
          <p:cNvSpPr txBox="1"/>
          <p:nvPr>
            <p:ph idx="2" type="body"/>
          </p:nvPr>
        </p:nvSpPr>
        <p:spPr>
          <a:xfrm>
            <a:off x="489475" y="2667000"/>
            <a:ext cx="2196084" cy="358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96" name="Google Shape;96;p42"/>
          <p:cNvSpPr txBox="1"/>
          <p:nvPr>
            <p:ph idx="3" type="body"/>
          </p:nvPr>
        </p:nvSpPr>
        <p:spPr>
          <a:xfrm>
            <a:off x="2913504" y="1981200"/>
            <a:ext cx="2202754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EFF8FC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97" name="Google Shape;97;p42"/>
          <p:cNvSpPr txBox="1"/>
          <p:nvPr>
            <p:ph idx="4" type="body"/>
          </p:nvPr>
        </p:nvSpPr>
        <p:spPr>
          <a:xfrm>
            <a:off x="2905586" y="2667000"/>
            <a:ext cx="2210671" cy="358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98" name="Google Shape;98;p42"/>
          <p:cNvSpPr txBox="1"/>
          <p:nvPr>
            <p:ph idx="5" type="body"/>
          </p:nvPr>
        </p:nvSpPr>
        <p:spPr>
          <a:xfrm>
            <a:off x="5344917" y="1981200"/>
            <a:ext cx="219965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EFF8FC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99" name="Google Shape;99;p42"/>
          <p:cNvSpPr txBox="1"/>
          <p:nvPr>
            <p:ph idx="6" type="body"/>
          </p:nvPr>
        </p:nvSpPr>
        <p:spPr>
          <a:xfrm>
            <a:off x="5344917" y="2667000"/>
            <a:ext cx="2199658" cy="358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cxnSp>
        <p:nvCxnSpPr>
          <p:cNvPr id="100" name="Google Shape;100;p42"/>
          <p:cNvCxnSpPr/>
          <p:nvPr/>
        </p:nvCxnSpPr>
        <p:spPr>
          <a:xfrm>
            <a:off x="2795334" y="2133600"/>
            <a:ext cx="0" cy="3962400"/>
          </a:xfrm>
          <a:prstGeom prst="straightConnector1">
            <a:avLst/>
          </a:prstGeom>
          <a:noFill/>
          <a:ln cap="flat" cmpd="sng" w="12700">
            <a:solidFill>
              <a:srgbClr val="EFF8F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42"/>
          <p:cNvCxnSpPr/>
          <p:nvPr/>
        </p:nvCxnSpPr>
        <p:spPr>
          <a:xfrm>
            <a:off x="5223030" y="2133600"/>
            <a:ext cx="0" cy="3966882"/>
          </a:xfrm>
          <a:prstGeom prst="straightConnector1">
            <a:avLst/>
          </a:prstGeom>
          <a:noFill/>
          <a:ln cap="flat" cmpd="sng" w="12700">
            <a:solidFill>
              <a:srgbClr val="EFF8F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" name="Google Shape;102;p42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03" name="Google Shape;103;p42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Picture Column">
  <p:cSld name="3 Picture Colum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3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Arial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43"/>
          <p:cNvSpPr txBox="1"/>
          <p:nvPr>
            <p:ph idx="1" type="body"/>
          </p:nvPr>
        </p:nvSpPr>
        <p:spPr>
          <a:xfrm>
            <a:off x="489475" y="4250949"/>
            <a:ext cx="2205612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EFF8FC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07" name="Google Shape;107;p43"/>
          <p:cNvSpPr/>
          <p:nvPr>
            <p:ph idx="2" type="pic"/>
          </p:nvPr>
        </p:nvSpPr>
        <p:spPr>
          <a:xfrm>
            <a:off x="489475" y="2209800"/>
            <a:ext cx="2205612" cy="1524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0000"/>
              </a:srgbClr>
            </a:outerShdw>
          </a:effectLst>
        </p:spPr>
      </p:sp>
      <p:sp>
        <p:nvSpPr>
          <p:cNvPr id="108" name="Google Shape;108;p43"/>
          <p:cNvSpPr txBox="1"/>
          <p:nvPr>
            <p:ph idx="3" type="body"/>
          </p:nvPr>
        </p:nvSpPr>
        <p:spPr>
          <a:xfrm>
            <a:off x="489475" y="4827212"/>
            <a:ext cx="2205612" cy="659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09" name="Google Shape;109;p43"/>
          <p:cNvSpPr txBox="1"/>
          <p:nvPr>
            <p:ph idx="4" type="body"/>
          </p:nvPr>
        </p:nvSpPr>
        <p:spPr>
          <a:xfrm>
            <a:off x="2917792" y="4250949"/>
            <a:ext cx="2198466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EFF8FC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10" name="Google Shape;110;p43"/>
          <p:cNvSpPr/>
          <p:nvPr>
            <p:ph idx="5" type="pic"/>
          </p:nvPr>
        </p:nvSpPr>
        <p:spPr>
          <a:xfrm>
            <a:off x="2917791" y="2209800"/>
            <a:ext cx="2198466" cy="1524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0000"/>
              </a:srgbClr>
            </a:outerShdw>
          </a:effectLst>
        </p:spPr>
      </p:sp>
      <p:sp>
        <p:nvSpPr>
          <p:cNvPr id="111" name="Google Shape;111;p43"/>
          <p:cNvSpPr txBox="1"/>
          <p:nvPr>
            <p:ph idx="6" type="body"/>
          </p:nvPr>
        </p:nvSpPr>
        <p:spPr>
          <a:xfrm>
            <a:off x="2916776" y="4827211"/>
            <a:ext cx="2201378" cy="659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12" name="Google Shape;112;p43"/>
          <p:cNvSpPr txBox="1"/>
          <p:nvPr>
            <p:ph idx="7" type="body"/>
          </p:nvPr>
        </p:nvSpPr>
        <p:spPr>
          <a:xfrm>
            <a:off x="5344917" y="4250949"/>
            <a:ext cx="219965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EFF8FC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13" name="Google Shape;113;p43"/>
          <p:cNvSpPr/>
          <p:nvPr>
            <p:ph idx="8" type="pic"/>
          </p:nvPr>
        </p:nvSpPr>
        <p:spPr>
          <a:xfrm>
            <a:off x="5344916" y="2209800"/>
            <a:ext cx="2199658" cy="1524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0000"/>
              </a:srgbClr>
            </a:outerShdw>
          </a:effectLst>
        </p:spPr>
      </p:sp>
      <p:sp>
        <p:nvSpPr>
          <p:cNvPr id="114" name="Google Shape;114;p43"/>
          <p:cNvSpPr txBox="1"/>
          <p:nvPr>
            <p:ph idx="9" type="body"/>
          </p:nvPr>
        </p:nvSpPr>
        <p:spPr>
          <a:xfrm>
            <a:off x="5344824" y="4827209"/>
            <a:ext cx="2202571" cy="659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cxnSp>
        <p:nvCxnSpPr>
          <p:cNvPr id="115" name="Google Shape;115;p43"/>
          <p:cNvCxnSpPr/>
          <p:nvPr/>
        </p:nvCxnSpPr>
        <p:spPr>
          <a:xfrm>
            <a:off x="2795334" y="2133600"/>
            <a:ext cx="0" cy="3962400"/>
          </a:xfrm>
          <a:prstGeom prst="straightConnector1">
            <a:avLst/>
          </a:prstGeom>
          <a:noFill/>
          <a:ln cap="flat" cmpd="sng" w="12700">
            <a:solidFill>
              <a:srgbClr val="EFF8F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" name="Google Shape;116;p43"/>
          <p:cNvCxnSpPr/>
          <p:nvPr/>
        </p:nvCxnSpPr>
        <p:spPr>
          <a:xfrm>
            <a:off x="5223030" y="2133600"/>
            <a:ext cx="0" cy="3966882"/>
          </a:xfrm>
          <a:prstGeom prst="straightConnector1">
            <a:avLst/>
          </a:prstGeom>
          <a:noFill/>
          <a:ln cap="flat" cmpd="sng" w="12700">
            <a:solidFill>
              <a:srgbClr val="EFF8F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7" name="Google Shape;117;p43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18" name="Google Shape;118;p43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4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44"/>
          <p:cNvSpPr txBox="1"/>
          <p:nvPr>
            <p:ph idx="1" type="body"/>
          </p:nvPr>
        </p:nvSpPr>
        <p:spPr>
          <a:xfrm rot="5400000">
            <a:off x="2085787" y="794839"/>
            <a:ext cx="4195481" cy="67116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22" name="Google Shape;122;p44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23" name="Google Shape;123;p44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5"/>
          <p:cNvSpPr txBox="1"/>
          <p:nvPr>
            <p:ph type="title"/>
          </p:nvPr>
        </p:nvSpPr>
        <p:spPr>
          <a:xfrm rot="5400000">
            <a:off x="3974116" y="2685880"/>
            <a:ext cx="5826125" cy="131479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45"/>
          <p:cNvSpPr txBox="1"/>
          <p:nvPr>
            <p:ph idx="1" type="body"/>
          </p:nvPr>
        </p:nvSpPr>
        <p:spPr>
          <a:xfrm rot="5400000">
            <a:off x="532314" y="730366"/>
            <a:ext cx="5483134" cy="5568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27" name="Google Shape;127;p45"/>
          <p:cNvSpPr txBox="1"/>
          <p:nvPr>
            <p:ph idx="10" type="dt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28" name="Google Shape;128;p45"/>
          <p:cNvSpPr txBox="1"/>
          <p:nvPr>
            <p:ph idx="11" type="ftr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theme" Target="../theme/theme2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>
            <a:alpha val="12941"/>
          </a:schemeClr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8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>
            <a:gsLst>
              <a:gs pos="0">
                <a:srgbClr val="E8F5FB">
                  <a:alpha val="784"/>
                </a:srgbClr>
              </a:gs>
              <a:gs pos="36000">
                <a:srgbClr val="E8F5FB">
                  <a:alpha val="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8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>
            <a:gsLst>
              <a:gs pos="0">
                <a:srgbClr val="E8F5FB">
                  <a:alpha val="7843"/>
                </a:srgbClr>
              </a:gs>
              <a:gs pos="36000">
                <a:srgbClr val="E8F5FB">
                  <a:alpha val="784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28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>
            <a:gsLst>
              <a:gs pos="0">
                <a:srgbClr val="E8F5FB">
                  <a:alpha val="2745"/>
                </a:srgbClr>
              </a:gs>
              <a:gs pos="36000">
                <a:srgbClr val="E8F5FB">
                  <a:alpha val="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28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>
            <a:gsLst>
              <a:gs pos="0">
                <a:srgbClr val="E8F5FB">
                  <a:alpha val="5098"/>
                </a:srgbClr>
              </a:gs>
              <a:gs pos="36000">
                <a:srgbClr val="E8F5FB">
                  <a:alpha val="3921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28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>
            <a:gsLst>
              <a:gs pos="0">
                <a:srgbClr val="E8F5FB">
                  <a:alpha val="1960"/>
                </a:srgbClr>
              </a:gs>
              <a:gs pos="36000">
                <a:srgbClr val="E8F5FB">
                  <a:alpha val="196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2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28"/>
          <p:cNvSpPr txBox="1"/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Arial"/>
              <a:buNone/>
              <a:defRPr b="0" i="0" sz="4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28"/>
          <p:cNvSpPr txBox="1"/>
          <p:nvPr>
            <p:ph idx="1" type="body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FF8FC"/>
              </a:buClr>
              <a:buSzPts val="1600"/>
              <a:buFont typeface="Noto Sans Symbols"/>
              <a:buChar char="►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004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FF8FC"/>
              </a:buClr>
              <a:buSzPts val="1440"/>
              <a:buFont typeface="Noto Sans Symbols"/>
              <a:buChar char="►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988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FF8FC"/>
              </a:buClr>
              <a:buSzPts val="1280"/>
              <a:buFont typeface="Noto Sans Symbols"/>
              <a:buChar char="►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9719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FF8FC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972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FF8FC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972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FF8FC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972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FF8FC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972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FF8FC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972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FF8FC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8" name="Google Shape;18;p28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627366" y="76200"/>
            <a:ext cx="922356" cy="922356"/>
          </a:xfrm>
          <a:prstGeom prst="rect">
            <a:avLst/>
          </a:prstGeom>
          <a:noFill/>
          <a:ln>
            <a:noFill/>
          </a:ln>
          <a:effectLst>
            <a:outerShdw blurRad="127000" rotWithShape="0" algn="tl">
              <a:srgbClr val="000000">
                <a:alpha val="82745"/>
              </a:srgbClr>
            </a:outerShdw>
          </a:effectLst>
        </p:spPr>
      </p:pic>
      <p:sp>
        <p:nvSpPr>
          <p:cNvPr id="19" name="Google Shape;19;p28"/>
          <p:cNvSpPr/>
          <p:nvPr/>
        </p:nvSpPr>
        <p:spPr>
          <a:xfrm>
            <a:off x="12584" y="6248406"/>
            <a:ext cx="9118832" cy="609594"/>
          </a:xfrm>
          <a:prstGeom prst="rect">
            <a:avLst/>
          </a:prstGeom>
          <a:solidFill>
            <a:srgbClr val="0B2036">
              <a:alpha val="80000"/>
            </a:srgbClr>
          </a:solidFill>
          <a:ln cap="flat" cmpd="dbl" w="28575">
            <a:solidFill>
              <a:srgbClr val="0A51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www.mongodb.com/cloud/atlas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dashboard.heroku.com/apps/app-name/settings" TargetMode="External"/><Relationship Id="rId4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"/>
          <p:cNvSpPr txBox="1"/>
          <p:nvPr>
            <p:ph type="ctrTitle"/>
          </p:nvPr>
        </p:nvSpPr>
        <p:spPr>
          <a:xfrm>
            <a:off x="800100" y="1276350"/>
            <a:ext cx="7772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US" sz="4400"/>
              <a:t>Web Programming</a:t>
            </a:r>
            <a:endParaRPr/>
          </a:p>
        </p:txBody>
      </p:sp>
      <p:pic>
        <p:nvPicPr>
          <p:cNvPr id="135" name="Google Shape;135;p1"/>
          <p:cNvPicPr preferRelativeResize="0"/>
          <p:nvPr/>
        </p:nvPicPr>
        <p:blipFill rotWithShape="1">
          <a:blip r:embed="rId3">
            <a:alphaModFix/>
          </a:blip>
          <a:srcRect b="0" l="0" r="0" t="50000"/>
          <a:stretch/>
        </p:blipFill>
        <p:spPr>
          <a:xfrm>
            <a:off x="1066800" y="3362325"/>
            <a:ext cx="7623175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"/>
          <p:cNvSpPr txBox="1"/>
          <p:nvPr/>
        </p:nvSpPr>
        <p:spPr>
          <a:xfrm>
            <a:off x="3257000" y="3697725"/>
            <a:ext cx="5255100" cy="12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" marR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Node - </a:t>
            </a:r>
            <a:r>
              <a:rPr lang="en-US" sz="2200">
                <a:solidFill>
                  <a:schemeClr val="dk1"/>
                </a:solidFill>
              </a:rPr>
              <a:t>Deployment &amp; </a:t>
            </a:r>
            <a:r>
              <a:rPr lang="en-US" sz="2200">
                <a:solidFill>
                  <a:schemeClr val="dk1"/>
                </a:solidFill>
              </a:rPr>
              <a:t>Dockerization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" marR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Lecture 2</a:t>
            </a:r>
            <a:r>
              <a:rPr lang="en-US" sz="2200">
                <a:solidFill>
                  <a:schemeClr val="dk1"/>
                </a:solidFill>
              </a:rPr>
              <a:t>8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" marR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Mahhek Khan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"/>
          <p:cNvSpPr txBox="1"/>
          <p:nvPr/>
        </p:nvSpPr>
        <p:spPr>
          <a:xfrm>
            <a:off x="2106850" y="4505300"/>
            <a:ext cx="3000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" marR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1" sz="3200" u="none" cap="none" strike="noStrike">
              <a:solidFill>
                <a:srgbClr val="000000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4b178a6ba3_0_22"/>
          <p:cNvSpPr txBox="1"/>
          <p:nvPr>
            <p:ph type="title"/>
          </p:nvPr>
        </p:nvSpPr>
        <p:spPr>
          <a:xfrm>
            <a:off x="484710" y="452718"/>
            <a:ext cx="7055400" cy="14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What is Dockerization</a:t>
            </a:r>
            <a:endParaRPr/>
          </a:p>
        </p:txBody>
      </p:sp>
      <p:sp>
        <p:nvSpPr>
          <p:cNvPr id="144" name="Google Shape;144;g34b178a6ba3_0_22"/>
          <p:cNvSpPr txBox="1"/>
          <p:nvPr/>
        </p:nvSpPr>
        <p:spPr>
          <a:xfrm>
            <a:off x="591200" y="1644625"/>
            <a:ext cx="7728600" cy="39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●"/>
            </a:pPr>
            <a:r>
              <a:rPr b="1" lang="en-US" sz="2200">
                <a:solidFill>
                  <a:schemeClr val="dk1"/>
                </a:solidFill>
              </a:rPr>
              <a:t>Dockerization</a:t>
            </a:r>
            <a:r>
              <a:rPr lang="en-US" sz="2200">
                <a:solidFill>
                  <a:schemeClr val="dk1"/>
                </a:solidFill>
              </a:rPr>
              <a:t> is the act of creating a </a:t>
            </a:r>
            <a:r>
              <a:rPr b="1" lang="en-US" sz="2200">
                <a:solidFill>
                  <a:schemeClr val="dk1"/>
                </a:solidFill>
              </a:rPr>
              <a:t>Docker image</a:t>
            </a:r>
            <a:r>
              <a:rPr lang="en-US" sz="2200">
                <a:solidFill>
                  <a:schemeClr val="dk1"/>
                </a:solidFill>
              </a:rPr>
              <a:t> for your application (like a MERN stack app), and then running it inside a </a:t>
            </a:r>
            <a:r>
              <a:rPr b="1" lang="en-US" sz="2200">
                <a:solidFill>
                  <a:schemeClr val="dk1"/>
                </a:solidFill>
              </a:rPr>
              <a:t>Docker container</a:t>
            </a:r>
            <a:r>
              <a:rPr lang="en-US" sz="2200">
                <a:solidFill>
                  <a:schemeClr val="dk1"/>
                </a:solidFill>
              </a:rPr>
              <a:t>.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●"/>
            </a:pPr>
            <a:r>
              <a:rPr lang="en-US" sz="2200">
                <a:solidFill>
                  <a:schemeClr val="dk1"/>
                </a:solidFill>
              </a:rPr>
              <a:t>A </a:t>
            </a:r>
            <a:r>
              <a:rPr b="1" lang="en-US" sz="2200">
                <a:solidFill>
                  <a:schemeClr val="dk1"/>
                </a:solidFill>
              </a:rPr>
              <a:t>Docker image</a:t>
            </a:r>
            <a:r>
              <a:rPr lang="en-US" sz="2200">
                <a:solidFill>
                  <a:schemeClr val="dk1"/>
                </a:solidFill>
              </a:rPr>
              <a:t> is a </a:t>
            </a:r>
            <a:r>
              <a:rPr b="1" lang="en-US" sz="2200">
                <a:solidFill>
                  <a:schemeClr val="dk1"/>
                </a:solidFill>
              </a:rPr>
              <a:t>read-only template</a:t>
            </a:r>
            <a:r>
              <a:rPr lang="en-US" sz="2200">
                <a:solidFill>
                  <a:schemeClr val="dk1"/>
                </a:solidFill>
              </a:rPr>
              <a:t> that contains everything needed to run an application, including:</a:t>
            </a:r>
            <a:endParaRPr sz="2200">
              <a:solidFill>
                <a:schemeClr val="dk1"/>
              </a:solidFill>
            </a:endParaRPr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AutoNum type="alphaLcPeriod"/>
            </a:pPr>
            <a:r>
              <a:rPr lang="en-US" sz="2200">
                <a:solidFill>
                  <a:schemeClr val="dk1"/>
                </a:solidFill>
              </a:rPr>
              <a:t>The application code</a:t>
            </a:r>
            <a:endParaRPr sz="2200">
              <a:solidFill>
                <a:schemeClr val="dk1"/>
              </a:solidFill>
            </a:endParaRPr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AutoNum type="alphaLcPeriod"/>
            </a:pPr>
            <a:r>
              <a:rPr lang="en-US" sz="2200">
                <a:solidFill>
                  <a:schemeClr val="dk1"/>
                </a:solidFill>
              </a:rPr>
              <a:t>Runtime (like Node.js)</a:t>
            </a:r>
            <a:endParaRPr sz="2200">
              <a:solidFill>
                <a:schemeClr val="dk1"/>
              </a:solidFill>
            </a:endParaRPr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AutoNum type="alphaLcPeriod"/>
            </a:pPr>
            <a:r>
              <a:rPr lang="en-US" sz="2200">
                <a:solidFill>
                  <a:schemeClr val="dk1"/>
                </a:solidFill>
              </a:rPr>
              <a:t>Libraries and dependencies</a:t>
            </a:r>
            <a:endParaRPr sz="2200">
              <a:solidFill>
                <a:schemeClr val="dk1"/>
              </a:solidFill>
            </a:endParaRPr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AutoNum type="alphaLcPeriod"/>
            </a:pPr>
            <a:r>
              <a:rPr lang="en-US" sz="2200">
                <a:solidFill>
                  <a:schemeClr val="dk1"/>
                </a:solidFill>
              </a:rPr>
              <a:t>System tools and settings</a:t>
            </a:r>
            <a:endParaRPr sz="22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54e7eab0dc_0_11"/>
          <p:cNvSpPr txBox="1"/>
          <p:nvPr>
            <p:ph type="title"/>
          </p:nvPr>
        </p:nvSpPr>
        <p:spPr>
          <a:xfrm>
            <a:off x="484710" y="452718"/>
            <a:ext cx="7055400" cy="14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Why Dockerization</a:t>
            </a:r>
            <a:endParaRPr/>
          </a:p>
        </p:txBody>
      </p:sp>
      <p:sp>
        <p:nvSpPr>
          <p:cNvPr id="151" name="Google Shape;151;g354e7eab0dc_0_11"/>
          <p:cNvSpPr txBox="1"/>
          <p:nvPr>
            <p:ph idx="1" type="body"/>
          </p:nvPr>
        </p:nvSpPr>
        <p:spPr>
          <a:xfrm>
            <a:off x="548200" y="1644450"/>
            <a:ext cx="6711600" cy="41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●"/>
            </a:pPr>
            <a:r>
              <a:rPr b="1" lang="en-US" sz="2200"/>
              <a:t>Consistency</a:t>
            </a:r>
            <a:r>
              <a:rPr lang="en-US" sz="2200"/>
              <a:t> across all environments (development, testing, production).</a:t>
            </a:r>
            <a:br>
              <a:rPr lang="en-US" sz="2200"/>
            </a:b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●"/>
            </a:pPr>
            <a:r>
              <a:rPr b="1" lang="en-US" sz="2200"/>
              <a:t>Isolation</a:t>
            </a:r>
            <a:r>
              <a:rPr lang="en-US" sz="2200"/>
              <a:t> of dependencies — avoids "it works on my machine" issues.</a:t>
            </a:r>
            <a:br>
              <a:rPr lang="en-US" sz="2200"/>
            </a:b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●"/>
            </a:pPr>
            <a:r>
              <a:rPr b="1" lang="en-US" sz="2200"/>
              <a:t>Portability</a:t>
            </a:r>
            <a:r>
              <a:rPr lang="en-US" sz="2200"/>
              <a:t> — run anywhere Docker is installed (Windows, Linux, cloud).</a:t>
            </a:r>
            <a:br>
              <a:rPr lang="en-US" sz="2200"/>
            </a:b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●"/>
            </a:pPr>
            <a:r>
              <a:rPr b="1" lang="en-US" sz="2200"/>
              <a:t>Scalability</a:t>
            </a:r>
            <a:r>
              <a:rPr lang="en-US" sz="2200"/>
              <a:t> — easy to spin up more containers.</a:t>
            </a:r>
            <a:br>
              <a:rPr lang="en-US" sz="2200"/>
            </a:b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b="1" sz="2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54e7eab0dc_0_17"/>
          <p:cNvSpPr txBox="1"/>
          <p:nvPr>
            <p:ph type="title"/>
          </p:nvPr>
        </p:nvSpPr>
        <p:spPr>
          <a:xfrm>
            <a:off x="484710" y="452718"/>
            <a:ext cx="7055400" cy="14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Steps in Dockerization</a:t>
            </a:r>
            <a:endParaRPr/>
          </a:p>
        </p:txBody>
      </p:sp>
      <p:sp>
        <p:nvSpPr>
          <p:cNvPr id="158" name="Google Shape;158;g354e7eab0dc_0_17"/>
          <p:cNvSpPr txBox="1"/>
          <p:nvPr>
            <p:ph idx="1" type="body"/>
          </p:nvPr>
        </p:nvSpPr>
        <p:spPr>
          <a:xfrm>
            <a:off x="538375" y="1229525"/>
            <a:ext cx="8254500" cy="41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-US" sz="2200"/>
              <a:t>1. </a:t>
            </a:r>
            <a:r>
              <a:rPr b="1" lang="en-US" sz="2200"/>
              <a:t>Write a </a:t>
            </a:r>
            <a:r>
              <a:rPr b="1" lang="en-US" sz="2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Dockerfile</a:t>
            </a:r>
            <a:r>
              <a:rPr b="1" lang="en-US" sz="2200"/>
              <a:t>:</a:t>
            </a:r>
            <a:endParaRPr b="1" sz="2200"/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●"/>
            </a:pPr>
            <a:r>
              <a:rPr lang="en-US" sz="2200"/>
              <a:t>Defines how your app is built and run in the container.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●"/>
            </a:pPr>
            <a:r>
              <a:rPr lang="en-US" sz="2200"/>
              <a:t>Example (Node.js)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latin typeface="Roboto Mono"/>
                <a:ea typeface="Roboto Mono"/>
                <a:cs typeface="Roboto Mono"/>
                <a:sym typeface="Roboto Mono"/>
              </a:rPr>
              <a:t>FROM node:18</a:t>
            </a:r>
            <a:endParaRPr sz="2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latin typeface="Roboto Mono"/>
                <a:ea typeface="Roboto Mono"/>
                <a:cs typeface="Roboto Mono"/>
                <a:sym typeface="Roboto Mono"/>
              </a:rPr>
              <a:t>WORKDIR /app</a:t>
            </a:r>
            <a:endParaRPr sz="2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latin typeface="Roboto Mono"/>
                <a:ea typeface="Roboto Mono"/>
                <a:cs typeface="Roboto Mono"/>
                <a:sym typeface="Roboto Mono"/>
              </a:rPr>
              <a:t>COPY package*.json ./</a:t>
            </a:r>
            <a:endParaRPr sz="2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latin typeface="Roboto Mono"/>
                <a:ea typeface="Roboto Mono"/>
                <a:cs typeface="Roboto Mono"/>
                <a:sym typeface="Roboto Mono"/>
              </a:rPr>
              <a:t>RUN npm install</a:t>
            </a:r>
            <a:endParaRPr sz="2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latin typeface="Roboto Mono"/>
                <a:ea typeface="Roboto Mono"/>
                <a:cs typeface="Roboto Mono"/>
                <a:sym typeface="Roboto Mono"/>
              </a:rPr>
              <a:t>COPY . .</a:t>
            </a:r>
            <a:endParaRPr sz="2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latin typeface="Roboto Mono"/>
                <a:ea typeface="Roboto Mono"/>
                <a:cs typeface="Roboto Mono"/>
                <a:sym typeface="Roboto Mono"/>
              </a:rPr>
              <a:t>EXPOSE 5000</a:t>
            </a:r>
            <a:endParaRPr sz="2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latin typeface="Roboto Mono"/>
                <a:ea typeface="Roboto Mono"/>
                <a:cs typeface="Roboto Mono"/>
                <a:sym typeface="Roboto Mono"/>
              </a:rPr>
              <a:t>CMD ["node", "index.js"]</a:t>
            </a:r>
            <a:endParaRPr sz="2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4b178a6ba3_0_12"/>
          <p:cNvSpPr txBox="1"/>
          <p:nvPr>
            <p:ph type="title"/>
          </p:nvPr>
        </p:nvSpPr>
        <p:spPr>
          <a:xfrm>
            <a:off x="267185" y="-69157"/>
            <a:ext cx="7055400" cy="14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/>
              <a:t>Steps in Dockerization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65" name="Google Shape;165;g34b178a6ba3_0_12"/>
          <p:cNvSpPr txBox="1"/>
          <p:nvPr>
            <p:ph idx="1" type="body"/>
          </p:nvPr>
        </p:nvSpPr>
        <p:spPr>
          <a:xfrm>
            <a:off x="121350" y="1208850"/>
            <a:ext cx="8148300" cy="41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 sz="2200"/>
              <a:t>2. Build the Docker image:</a:t>
            </a:r>
            <a:endParaRPr sz="2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 sz="2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docker build -t my-app .</a:t>
            </a:r>
            <a:endParaRPr sz="2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/>
              <a:t>You run it any time you change things that affect the image like you started using jwt token</a:t>
            </a:r>
            <a:endParaRPr b="1" sz="22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sz="2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 sz="2200"/>
              <a:t>3. Run the container:</a:t>
            </a:r>
            <a:endParaRPr sz="2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 sz="2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docker run -p 5000:5000 my-app</a:t>
            </a:r>
            <a:endParaRPr sz="2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b="1" lang="en-US" sz="2200"/>
              <a:t>First time or after docker build or everytime you stop </a:t>
            </a:r>
            <a:r>
              <a:rPr b="1" lang="en-US" sz="2200"/>
              <a:t>container</a:t>
            </a:r>
            <a:r>
              <a:rPr b="1" lang="en-US" sz="2200"/>
              <a:t> and start again</a:t>
            </a:r>
            <a:endParaRPr b="1" sz="2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441e215438_0_27"/>
          <p:cNvSpPr txBox="1"/>
          <p:nvPr>
            <p:ph type="title"/>
          </p:nvPr>
        </p:nvSpPr>
        <p:spPr>
          <a:xfrm>
            <a:off x="205223" y="247225"/>
            <a:ext cx="8211300" cy="14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Dockerization</a:t>
            </a:r>
            <a:endParaRPr/>
          </a:p>
        </p:txBody>
      </p:sp>
      <p:sp>
        <p:nvSpPr>
          <p:cNvPr id="172" name="Google Shape;172;g3441e215438_0_27"/>
          <p:cNvSpPr txBox="1"/>
          <p:nvPr>
            <p:ph idx="1" type="body"/>
          </p:nvPr>
        </p:nvSpPr>
        <p:spPr>
          <a:xfrm>
            <a:off x="301000" y="1096250"/>
            <a:ext cx="8685300" cy="42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</a:pPr>
            <a:r>
              <a:rPr b="1" lang="en-US" sz="2200"/>
              <a:t>Create separate Dockerfiles for Node.js (backend) and React (frontend)</a:t>
            </a:r>
            <a:r>
              <a:rPr lang="en-US" sz="2200"/>
              <a:t>, but </a:t>
            </a:r>
            <a:r>
              <a:rPr b="1" lang="en-US" sz="2200"/>
              <a:t>not for MongoDB</a:t>
            </a:r>
            <a:r>
              <a:rPr lang="en-US" sz="2200"/>
              <a:t>, because MongoDB already provides </a:t>
            </a:r>
            <a:r>
              <a:rPr lang="en-US" sz="2200"/>
              <a:t>a</a:t>
            </a:r>
            <a:r>
              <a:rPr lang="en-US" sz="2200"/>
              <a:t>n official Docker image that you can use directly.</a:t>
            </a:r>
            <a:endParaRPr sz="2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73" name="Google Shape;173;g3441e215438_0_27" title="Screenshot 2025-05-10 at 4.42.02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8075" y="3311150"/>
            <a:ext cx="5143950" cy="354685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g3441e215438_0_27"/>
          <p:cNvSpPr txBox="1"/>
          <p:nvPr/>
        </p:nvSpPr>
        <p:spPr>
          <a:xfrm>
            <a:off x="0" y="2422950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</a:rPr>
              <a:t>Node</a:t>
            </a:r>
            <a:endParaRPr/>
          </a:p>
        </p:txBody>
      </p:sp>
      <p:sp>
        <p:nvSpPr>
          <p:cNvPr id="175" name="Google Shape;175;g3441e215438_0_27"/>
          <p:cNvSpPr txBox="1"/>
          <p:nvPr/>
        </p:nvSpPr>
        <p:spPr>
          <a:xfrm>
            <a:off x="4168075" y="2422950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</a:rPr>
              <a:t>React</a:t>
            </a:r>
            <a:endParaRPr/>
          </a:p>
        </p:txBody>
      </p:sp>
      <p:pic>
        <p:nvPicPr>
          <p:cNvPr id="176" name="Google Shape;176;g3441e215438_0_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384450"/>
            <a:ext cx="4191000" cy="281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4d1d08e5b1_0_6"/>
          <p:cNvSpPr txBox="1"/>
          <p:nvPr>
            <p:ph type="title"/>
          </p:nvPr>
        </p:nvSpPr>
        <p:spPr>
          <a:xfrm>
            <a:off x="-2" y="366725"/>
            <a:ext cx="8727300" cy="14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Mongo (no docker file needed)</a:t>
            </a:r>
            <a:endParaRPr/>
          </a:p>
        </p:txBody>
      </p:sp>
      <p:sp>
        <p:nvSpPr>
          <p:cNvPr id="183" name="Google Shape;183;g34d1d08e5b1_0_6"/>
          <p:cNvSpPr txBox="1"/>
          <p:nvPr>
            <p:ph idx="1" type="body"/>
          </p:nvPr>
        </p:nvSpPr>
        <p:spPr>
          <a:xfrm>
            <a:off x="258000" y="1331250"/>
            <a:ext cx="8886000" cy="41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 sz="2200"/>
              <a:t>Use the official MongoDB image in your </a:t>
            </a:r>
            <a:r>
              <a:rPr lang="en-US" sz="2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docker-compose.yml</a:t>
            </a:r>
            <a:r>
              <a:rPr lang="en-US" sz="2200"/>
              <a:t>:</a:t>
            </a:r>
            <a:endParaRPr sz="22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latin typeface="Roboto Mono"/>
                <a:ea typeface="Roboto Mono"/>
                <a:cs typeface="Roboto Mono"/>
                <a:sym typeface="Roboto Mono"/>
              </a:rPr>
              <a:t>mongo:</a:t>
            </a:r>
            <a:endParaRPr sz="2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latin typeface="Roboto Mono"/>
                <a:ea typeface="Roboto Mono"/>
                <a:cs typeface="Roboto Mono"/>
                <a:sym typeface="Roboto Mono"/>
              </a:rPr>
              <a:t>  image: mongo</a:t>
            </a:r>
            <a:endParaRPr sz="2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latin typeface="Roboto Mono"/>
                <a:ea typeface="Roboto Mono"/>
                <a:cs typeface="Roboto Mono"/>
                <a:sym typeface="Roboto Mono"/>
              </a:rPr>
              <a:t>  ports:</a:t>
            </a:r>
            <a:endParaRPr sz="2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latin typeface="Roboto Mono"/>
                <a:ea typeface="Roboto Mono"/>
                <a:cs typeface="Roboto Mono"/>
                <a:sym typeface="Roboto Mono"/>
              </a:rPr>
              <a:t>	- "27017:27017"</a:t>
            </a:r>
            <a:endParaRPr sz="2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latin typeface="Roboto Mono"/>
                <a:ea typeface="Roboto Mono"/>
                <a:cs typeface="Roboto Mono"/>
                <a:sym typeface="Roboto Mono"/>
              </a:rPr>
              <a:t>  volumes:</a:t>
            </a:r>
            <a:endParaRPr sz="2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latin typeface="Roboto Mono"/>
                <a:ea typeface="Roboto Mono"/>
                <a:cs typeface="Roboto Mono"/>
                <a:sym typeface="Roboto Mono"/>
              </a:rPr>
              <a:t>	- mongo-data:/data/db</a:t>
            </a:r>
            <a:endParaRPr sz="2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51fea458ab_0_22"/>
          <p:cNvSpPr txBox="1"/>
          <p:nvPr>
            <p:ph idx="1" type="body"/>
          </p:nvPr>
        </p:nvSpPr>
        <p:spPr>
          <a:xfrm>
            <a:off x="0" y="1311225"/>
            <a:ext cx="4149300" cy="23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100"/>
              <a:buNone/>
            </a:pPr>
            <a:r>
              <a:rPr lang="en-US"/>
              <a:t>1.</a:t>
            </a:r>
            <a:r>
              <a:rPr lang="en-US"/>
              <a:t>This tells Docker to use the official </a:t>
            </a:r>
            <a:r>
              <a:rPr b="1" lang="en-US"/>
              <a:t>Node.js version 18</a:t>
            </a:r>
            <a:r>
              <a:rPr lang="en-US"/>
              <a:t> image as the starting point. It includes Node.js and npm pre-installed on a lightweight Linux system.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2. Sets the </a:t>
            </a:r>
            <a:r>
              <a:rPr b="1" lang="en-US"/>
              <a:t>working </a:t>
            </a:r>
            <a:r>
              <a:rPr b="1" lang="en-US"/>
              <a:t>d</a:t>
            </a:r>
            <a:r>
              <a:rPr b="1" lang="en-US"/>
              <a:t>irectory inside the container</a:t>
            </a:r>
            <a:r>
              <a:rPr lang="en-US"/>
              <a:t> to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/app</a:t>
            </a:r>
            <a:r>
              <a:rPr lang="en-US"/>
              <a:t>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90" name="Google Shape;190;g351fea458ab_0_22"/>
          <p:cNvSpPr txBox="1"/>
          <p:nvPr/>
        </p:nvSpPr>
        <p:spPr>
          <a:xfrm>
            <a:off x="-48450" y="3697725"/>
            <a:ext cx="9240900" cy="25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3. </a:t>
            </a:r>
            <a:r>
              <a:rPr lang="en-US" sz="1800">
                <a:solidFill>
                  <a:schemeClr val="dk1"/>
                </a:solidFill>
              </a:rPr>
              <a:t>Copies 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package.json</a:t>
            </a:r>
            <a:r>
              <a:rPr lang="en-US" sz="1800">
                <a:solidFill>
                  <a:schemeClr val="dk1"/>
                </a:solidFill>
              </a:rPr>
              <a:t> and 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package-lock.json</a:t>
            </a:r>
            <a:r>
              <a:rPr lang="en-US" sz="1800">
                <a:solidFill>
                  <a:schemeClr val="dk1"/>
                </a:solidFill>
              </a:rPr>
              <a:t> (if it exists) into the container’s 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/app</a:t>
            </a:r>
            <a:r>
              <a:rPr lang="en-US" sz="1800">
                <a:solidFill>
                  <a:schemeClr val="dk1"/>
                </a:solidFill>
              </a:rPr>
              <a:t> directory.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4. Runs 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npm install</a:t>
            </a:r>
            <a:r>
              <a:rPr lang="en-US" sz="1800">
                <a:solidFill>
                  <a:schemeClr val="dk1"/>
                </a:solidFill>
              </a:rPr>
              <a:t> inside the container, installing all Node.js dependencies listed in 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package.json</a:t>
            </a:r>
            <a:r>
              <a:rPr lang="en-US" sz="1800">
                <a:solidFill>
                  <a:schemeClr val="dk1"/>
                </a:solidFill>
              </a:rPr>
              <a:t>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5. Copies </a:t>
            </a:r>
            <a:r>
              <a:rPr b="1" lang="en-US" sz="1800">
                <a:solidFill>
                  <a:schemeClr val="dk1"/>
                </a:solidFill>
              </a:rPr>
              <a:t>everything from your local folder</a:t>
            </a:r>
            <a:r>
              <a:rPr lang="en-US" sz="1800">
                <a:solidFill>
                  <a:schemeClr val="dk1"/>
                </a:solidFill>
              </a:rPr>
              <a:t> (where this Dockerfile is) into the working directory 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/app</a:t>
            </a:r>
            <a:r>
              <a:rPr lang="en-US" sz="1800">
                <a:solidFill>
                  <a:schemeClr val="dk1"/>
                </a:solidFill>
              </a:rPr>
              <a:t> in the container.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6. Informs Docker that the app listens on </a:t>
            </a:r>
            <a:r>
              <a:rPr b="1" lang="en-US" sz="1800">
                <a:solidFill>
                  <a:schemeClr val="dk1"/>
                </a:solidFill>
              </a:rPr>
              <a:t>port 5000</a:t>
            </a:r>
            <a:r>
              <a:rPr lang="en-US" sz="1800">
                <a:solidFill>
                  <a:schemeClr val="dk1"/>
                </a:solidFill>
              </a:rPr>
              <a:t>. This doesn’t actually open the port</a:t>
            </a:r>
            <a:endParaRPr sz="1800"/>
          </a:p>
        </p:txBody>
      </p:sp>
      <p:sp>
        <p:nvSpPr>
          <p:cNvPr id="191" name="Google Shape;191;g351fea458ab_0_22"/>
          <p:cNvSpPr txBox="1"/>
          <p:nvPr>
            <p:ph type="title"/>
          </p:nvPr>
        </p:nvSpPr>
        <p:spPr>
          <a:xfrm>
            <a:off x="-1" y="367400"/>
            <a:ext cx="4471800" cy="14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Node Dockerfile</a:t>
            </a:r>
            <a:endParaRPr/>
          </a:p>
        </p:txBody>
      </p:sp>
      <p:pic>
        <p:nvPicPr>
          <p:cNvPr id="192" name="Google Shape;192;g351fea458ab_0_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7550" y="367400"/>
            <a:ext cx="4720650" cy="31757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4d1d08e5b1_0_35"/>
          <p:cNvSpPr txBox="1"/>
          <p:nvPr>
            <p:ph type="title"/>
          </p:nvPr>
        </p:nvSpPr>
        <p:spPr>
          <a:xfrm>
            <a:off x="366560" y="366743"/>
            <a:ext cx="7055400" cy="14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Package.json</a:t>
            </a:r>
            <a:endParaRPr/>
          </a:p>
        </p:txBody>
      </p:sp>
      <p:sp>
        <p:nvSpPr>
          <p:cNvPr id="199" name="Google Shape;199;g34d1d08e5b1_0_35"/>
          <p:cNvSpPr txBox="1"/>
          <p:nvPr>
            <p:ph idx="1" type="body"/>
          </p:nvPr>
        </p:nvSpPr>
        <p:spPr>
          <a:xfrm>
            <a:off x="183700" y="1686000"/>
            <a:ext cx="8673600" cy="41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/>
              <a:t>{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/>
              <a:t>  "dependencies": {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/>
              <a:t>	"express": "^4.18.2",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/>
              <a:t>	"jsonwebtoken": "^9.0.0",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/>
              <a:t>	"mongoose": "^7.0.0"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/>
              <a:t>  }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/>
              <a:t>}</a:t>
            </a:r>
            <a:endParaRPr sz="22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</a:pPr>
            <a:r>
              <a:rPr lang="en-US" sz="2200"/>
              <a:t>You </a:t>
            </a:r>
            <a:r>
              <a:rPr b="1" lang="en-US" sz="2200"/>
              <a:t>don’t</a:t>
            </a:r>
            <a:r>
              <a:rPr lang="en-US" sz="2200"/>
              <a:t> need to run </a:t>
            </a:r>
            <a:r>
              <a:rPr lang="en-US" sz="2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npm install express</a:t>
            </a:r>
            <a:r>
              <a:rPr lang="en-US" sz="2200"/>
              <a:t> or </a:t>
            </a:r>
            <a:r>
              <a:rPr lang="en-US" sz="2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npm install jsonwebtoken</a:t>
            </a:r>
            <a:r>
              <a:rPr lang="en-US" sz="2200"/>
              <a:t> again manually.</a:t>
            </a:r>
            <a:endParaRPr sz="2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54e7eab0dc_0_57"/>
          <p:cNvSpPr txBox="1"/>
          <p:nvPr>
            <p:ph type="title"/>
          </p:nvPr>
        </p:nvSpPr>
        <p:spPr>
          <a:xfrm>
            <a:off x="484710" y="452718"/>
            <a:ext cx="7055400" cy="14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Project Structure</a:t>
            </a:r>
            <a:endParaRPr/>
          </a:p>
        </p:txBody>
      </p:sp>
      <p:sp>
        <p:nvSpPr>
          <p:cNvPr id="206" name="Google Shape;206;g354e7eab0dc_0_57"/>
          <p:cNvSpPr txBox="1"/>
          <p:nvPr/>
        </p:nvSpPr>
        <p:spPr>
          <a:xfrm>
            <a:off x="-68475" y="4963775"/>
            <a:ext cx="9144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7" name="Google Shape;207;g354e7eab0dc_0_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2650" y="1457306"/>
            <a:ext cx="5458700" cy="502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51fea458ab_0_60"/>
          <p:cNvSpPr txBox="1"/>
          <p:nvPr>
            <p:ph type="title"/>
          </p:nvPr>
        </p:nvSpPr>
        <p:spPr>
          <a:xfrm>
            <a:off x="137998" y="-106250"/>
            <a:ext cx="8659200" cy="14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Package-lock.json</a:t>
            </a:r>
            <a:endParaRPr/>
          </a:p>
        </p:txBody>
      </p:sp>
      <p:sp>
        <p:nvSpPr>
          <p:cNvPr id="214" name="Google Shape;214;g351fea458ab_0_60"/>
          <p:cNvSpPr txBox="1"/>
          <p:nvPr/>
        </p:nvSpPr>
        <p:spPr>
          <a:xfrm>
            <a:off x="138000" y="727800"/>
            <a:ext cx="8868000" cy="27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The </a:t>
            </a:r>
            <a:r>
              <a:rPr b="1" lang="en-US" sz="2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package-lock.json</a:t>
            </a:r>
            <a:r>
              <a:rPr lang="en-US" sz="2200">
                <a:solidFill>
                  <a:schemeClr val="dk1"/>
                </a:solidFill>
              </a:rPr>
              <a:t> is essentially a </a:t>
            </a:r>
            <a:r>
              <a:rPr b="1" lang="en-US" sz="2200">
                <a:solidFill>
                  <a:schemeClr val="dk1"/>
                </a:solidFill>
              </a:rPr>
              <a:t>"snapshot"</a:t>
            </a:r>
            <a:r>
              <a:rPr lang="en-US" sz="2200">
                <a:solidFill>
                  <a:schemeClr val="dk1"/>
                </a:solidFill>
              </a:rPr>
              <a:t> of the installed dependencies and their specific versions at the time of the </a:t>
            </a:r>
            <a:r>
              <a:rPr lang="en-US" sz="2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npm install</a:t>
            </a:r>
            <a:r>
              <a:rPr lang="en-US" sz="2200">
                <a:solidFill>
                  <a:schemeClr val="dk1"/>
                </a:solidFill>
              </a:rPr>
              <a:t>. It records the </a:t>
            </a:r>
            <a:r>
              <a:rPr b="1" lang="en-US" sz="2200">
                <a:solidFill>
                  <a:schemeClr val="dk1"/>
                </a:solidFill>
              </a:rPr>
              <a:t>exact versions</a:t>
            </a:r>
            <a:r>
              <a:rPr lang="en-US" sz="2200">
                <a:solidFill>
                  <a:schemeClr val="dk1"/>
                </a:solidFill>
              </a:rPr>
              <a:t>, </a:t>
            </a:r>
            <a:r>
              <a:rPr b="1" lang="en-US" sz="2200">
                <a:solidFill>
                  <a:schemeClr val="dk1"/>
                </a:solidFill>
              </a:rPr>
              <a:t>dependency tree</a:t>
            </a:r>
            <a:r>
              <a:rPr lang="en-US" sz="2200">
                <a:solidFill>
                  <a:schemeClr val="dk1"/>
                </a:solidFill>
              </a:rPr>
              <a:t>, and </a:t>
            </a:r>
            <a:r>
              <a:rPr b="1" lang="en-US" sz="2200">
                <a:solidFill>
                  <a:schemeClr val="dk1"/>
                </a:solidFill>
              </a:rPr>
              <a:t>URLs</a:t>
            </a:r>
            <a:r>
              <a:rPr lang="en-US" sz="2200">
                <a:solidFill>
                  <a:schemeClr val="dk1"/>
                </a:solidFill>
              </a:rPr>
              <a:t> for the packages that were installed.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</a:endParaRPr>
          </a:p>
        </p:txBody>
      </p:sp>
      <p:pic>
        <p:nvPicPr>
          <p:cNvPr id="215" name="Google Shape;215;g351fea458ab_0_60" title="Screenshot 2025-05-10 at 5.12.22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7725" y="2346425"/>
            <a:ext cx="8199750" cy="506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572dbd2da3_0_55"/>
          <p:cNvSpPr txBox="1"/>
          <p:nvPr>
            <p:ph type="title"/>
          </p:nvPr>
        </p:nvSpPr>
        <p:spPr>
          <a:xfrm>
            <a:off x="484710" y="452718"/>
            <a:ext cx="7055400" cy="1400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Deployment </a:t>
            </a:r>
            <a:endParaRPr/>
          </a:p>
        </p:txBody>
      </p:sp>
      <p:sp>
        <p:nvSpPr>
          <p:cNvPr id="222" name="Google Shape;222;g3572dbd2da3_0_55"/>
          <p:cNvSpPr txBox="1"/>
          <p:nvPr>
            <p:ph idx="1" type="body"/>
          </p:nvPr>
        </p:nvSpPr>
        <p:spPr>
          <a:xfrm>
            <a:off x="827700" y="2052925"/>
            <a:ext cx="6711600" cy="4195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200"/>
              <a:t>Deployment</a:t>
            </a:r>
            <a:r>
              <a:rPr lang="en-US" sz="2200"/>
              <a:t> is the process of </a:t>
            </a:r>
            <a:r>
              <a:rPr b="1" lang="en-US" sz="2200"/>
              <a:t>taking your application from your development machine and making it available for others to use</a:t>
            </a:r>
            <a:r>
              <a:rPr lang="en-US" sz="2200"/>
              <a:t>, usually on the internet.</a:t>
            </a:r>
            <a:endParaRPr sz="22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200"/>
              <a:t>When you're building a website or app (like a MERN app), you're writing code on your own computer. But for others to use it (e.g., visiting your site in a browser), it needs to run on a </a:t>
            </a:r>
            <a:r>
              <a:rPr b="1" lang="en-US" sz="2200"/>
              <a:t>public server</a:t>
            </a:r>
            <a:r>
              <a:rPr lang="en-US" sz="2200"/>
              <a:t>. </a:t>
            </a:r>
            <a:r>
              <a:rPr b="1" lang="en-US" sz="2200"/>
              <a:t>Deployment</a:t>
            </a:r>
            <a:r>
              <a:rPr lang="en-US" sz="2200"/>
              <a:t> is how you get it there.a</a:t>
            </a:r>
            <a:endParaRPr sz="22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572dbd2da3_0_75"/>
          <p:cNvSpPr txBox="1"/>
          <p:nvPr>
            <p:ph type="title"/>
          </p:nvPr>
        </p:nvSpPr>
        <p:spPr>
          <a:xfrm>
            <a:off x="484710" y="452718"/>
            <a:ext cx="7055400" cy="1400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deployment involves?</a:t>
            </a:r>
            <a:endParaRPr/>
          </a:p>
        </p:txBody>
      </p:sp>
      <p:pic>
        <p:nvPicPr>
          <p:cNvPr id="229" name="Google Shape;229;g3572dbd2da3_0_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8383"/>
            <a:ext cx="9144000" cy="3377184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g3572dbd2da3_0_75"/>
          <p:cNvSpPr txBox="1"/>
          <p:nvPr/>
        </p:nvSpPr>
        <p:spPr>
          <a:xfrm>
            <a:off x="86100" y="5449850"/>
            <a:ext cx="90579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</a:rPr>
              <a:t>Deployment is how you make your app live and usable by the public.</a:t>
            </a:r>
            <a:endParaRPr sz="22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572dbd2da3_0_61"/>
          <p:cNvSpPr txBox="1"/>
          <p:nvPr>
            <p:ph type="title"/>
          </p:nvPr>
        </p:nvSpPr>
        <p:spPr>
          <a:xfrm>
            <a:off x="484710" y="452718"/>
            <a:ext cx="7055400" cy="1400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Heroku a use case</a:t>
            </a:r>
            <a:endParaRPr/>
          </a:p>
        </p:txBody>
      </p:sp>
      <p:pic>
        <p:nvPicPr>
          <p:cNvPr id="237" name="Google Shape;237;g3572dbd2da3_0_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1200" y="1568250"/>
            <a:ext cx="7296150" cy="232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g3572dbd2da3_0_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73527"/>
            <a:ext cx="9144000" cy="49109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572dbd2da3_0_93"/>
          <p:cNvSpPr txBox="1"/>
          <p:nvPr>
            <p:ph type="title"/>
          </p:nvPr>
        </p:nvSpPr>
        <p:spPr>
          <a:xfrm>
            <a:off x="366485" y="-85982"/>
            <a:ext cx="7055400" cy="1400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Steps</a:t>
            </a:r>
            <a:endParaRPr/>
          </a:p>
        </p:txBody>
      </p:sp>
      <p:sp>
        <p:nvSpPr>
          <p:cNvPr id="250" name="Google Shape;250;g3572dbd2da3_0_93"/>
          <p:cNvSpPr txBox="1"/>
          <p:nvPr>
            <p:ph idx="1" type="body"/>
          </p:nvPr>
        </p:nvSpPr>
        <p:spPr>
          <a:xfrm>
            <a:off x="429950" y="492800"/>
            <a:ext cx="8545800" cy="4195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/>
              <a:t>1. </a:t>
            </a:r>
            <a:r>
              <a:rPr lang="en-US" sz="1900"/>
              <a:t>Initialize Git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git init</a:t>
            </a:r>
            <a:endParaRPr sz="1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git add .</a:t>
            </a:r>
            <a:endParaRPr sz="1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git commit -m "Initial commit"</a:t>
            </a:r>
            <a:endParaRPr sz="1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1900"/>
              <a:t>2. Create Heroku </a:t>
            </a:r>
            <a:r>
              <a:rPr lang="en-US" sz="1900"/>
              <a:t>A</a:t>
            </a:r>
            <a:r>
              <a:rPr lang="en-US" sz="1900"/>
              <a:t>pp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heroku login</a:t>
            </a:r>
            <a:endParaRPr sz="1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heroku create my-mern-app</a:t>
            </a:r>
            <a:endParaRPr sz="1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/>
              <a:t>3. Create MongoDB Atlas Account and add the string in environment setting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/>
              <a:t> </a:t>
            </a:r>
            <a:r>
              <a:rPr lang="en-US" sz="1900" u="sng">
                <a:solidFill>
                  <a:schemeClr val="hlink"/>
                </a:solidFill>
                <a:hlinkClick r:id="rId3"/>
              </a:rPr>
              <a:t>https://www.mongodb.com/cloud/atlas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/>
              <a:t>4. Push to Heroku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git push heroku maste</a:t>
            </a:r>
            <a:r>
              <a:rPr lang="en-US" sz="1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/>
              <a:t>5. Open your deployed app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heroku open</a:t>
            </a:r>
            <a:endParaRPr sz="19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572dbd2da3_0_67"/>
          <p:cNvSpPr txBox="1"/>
          <p:nvPr>
            <p:ph type="title"/>
          </p:nvPr>
        </p:nvSpPr>
        <p:spPr>
          <a:xfrm>
            <a:off x="-2" y="0"/>
            <a:ext cx="8555400" cy="1400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Environment Variables on Heroku</a:t>
            </a:r>
            <a:endParaRPr/>
          </a:p>
        </p:txBody>
      </p:sp>
      <p:sp>
        <p:nvSpPr>
          <p:cNvPr id="257" name="Google Shape;257;g3572dbd2da3_0_67"/>
          <p:cNvSpPr txBox="1"/>
          <p:nvPr>
            <p:ph idx="1" type="body"/>
          </p:nvPr>
        </p:nvSpPr>
        <p:spPr>
          <a:xfrm>
            <a:off x="849200" y="816775"/>
            <a:ext cx="6711600" cy="4195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https://dashboard.heroku.com/apps/app-name/settings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8" name="Google Shape;258;g3572dbd2da3_0_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9203" y="1260675"/>
            <a:ext cx="7181504" cy="545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572dbd2da3_0_115"/>
          <p:cNvSpPr txBox="1"/>
          <p:nvPr>
            <p:ph type="title"/>
          </p:nvPr>
        </p:nvSpPr>
        <p:spPr>
          <a:xfrm>
            <a:off x="484710" y="452718"/>
            <a:ext cx="7055400" cy="1400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 heroku account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54e7eab0dc_0_76"/>
          <p:cNvSpPr txBox="1"/>
          <p:nvPr>
            <p:ph type="title"/>
          </p:nvPr>
        </p:nvSpPr>
        <p:spPr>
          <a:xfrm>
            <a:off x="301948" y="1903850"/>
            <a:ext cx="8659200" cy="14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Thank you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Good luck with everything! :)))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2012-07-03T07:32:31Z</dcterms:created>
  <dc:creator>Administrator</dc:creator>
</cp:coreProperties>
</file>