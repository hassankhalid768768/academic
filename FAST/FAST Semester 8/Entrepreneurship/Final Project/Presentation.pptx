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70" r:id="rId4"/>
    <p:sldId id="260" r:id="rId5"/>
    <p:sldId id="261" r:id="rId6"/>
    <p:sldId id="272" r:id="rId7"/>
    <p:sldId id="262" r:id="rId8"/>
    <p:sldId id="275" r:id="rId9"/>
    <p:sldId id="276" r:id="rId10"/>
    <p:sldId id="263" r:id="rId11"/>
    <p:sldId id="277" r:id="rId12"/>
    <p:sldId id="282" r:id="rId13"/>
    <p:sldId id="278" r:id="rId14"/>
    <p:sldId id="279" r:id="rId15"/>
    <p:sldId id="280" r:id="rId16"/>
    <p:sldId id="287" r:id="rId17"/>
    <p:sldId id="288" r:id="rId18"/>
    <p:sldId id="289" r:id="rId19"/>
    <p:sldId id="265" r:id="rId20"/>
    <p:sldId id="284" r:id="rId21"/>
    <p:sldId id="290" r:id="rId22"/>
    <p:sldId id="266" r:id="rId23"/>
    <p:sldId id="291" r:id="rId24"/>
    <p:sldId id="264" r:id="rId25"/>
    <p:sldId id="292" r:id="rId26"/>
    <p:sldId id="267" r:id="rId27"/>
    <p:sldId id="293" r:id="rId28"/>
    <p:sldId id="297" r:id="rId29"/>
    <p:sldId id="295" r:id="rId30"/>
    <p:sldId id="296" r:id="rId31"/>
    <p:sldId id="269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CE4E9E-7F64-4916-91E1-0341E8B8D9C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326688-9F5B-4630-AA17-50CE66F34DC3}">
      <dgm:prSet/>
      <dgm:spPr/>
      <dgm:t>
        <a:bodyPr/>
        <a:lstStyle/>
        <a:p>
          <a:r>
            <a:rPr lang="en-US" b="1"/>
            <a:t>Regulatory Approvals</a:t>
          </a:r>
          <a:endParaRPr lang="en-US"/>
        </a:p>
      </dgm:t>
    </dgm:pt>
    <dgm:pt modelId="{352AC0BA-738B-4E39-A2E6-5B2F448FB14F}" type="parTrans" cxnId="{6F8AFCC4-A1F3-4254-BBCC-4D8469CF327B}">
      <dgm:prSet/>
      <dgm:spPr/>
      <dgm:t>
        <a:bodyPr/>
        <a:lstStyle/>
        <a:p>
          <a:endParaRPr lang="en-US"/>
        </a:p>
      </dgm:t>
    </dgm:pt>
    <dgm:pt modelId="{568851CE-064F-436D-9680-C70AEB1DCBF5}" type="sibTrans" cxnId="{6F8AFCC4-A1F3-4254-BBCC-4D8469CF327B}">
      <dgm:prSet/>
      <dgm:spPr/>
      <dgm:t>
        <a:bodyPr/>
        <a:lstStyle/>
        <a:p>
          <a:endParaRPr lang="en-US"/>
        </a:p>
      </dgm:t>
    </dgm:pt>
    <dgm:pt modelId="{AE8F5F13-4393-4792-BA30-5B2E230223AC}">
      <dgm:prSet/>
      <dgm:spPr/>
      <dgm:t>
        <a:bodyPr/>
        <a:lstStyle/>
        <a:p>
          <a:r>
            <a:rPr lang="en-US"/>
            <a:t>Compliance with:</a:t>
          </a:r>
        </a:p>
      </dgm:t>
    </dgm:pt>
    <dgm:pt modelId="{14EDC950-0027-4DAA-B981-746A012718AA}" type="parTrans" cxnId="{695663E4-935B-4B29-8C6F-185E2BF531CA}">
      <dgm:prSet/>
      <dgm:spPr/>
      <dgm:t>
        <a:bodyPr/>
        <a:lstStyle/>
        <a:p>
          <a:endParaRPr lang="en-US"/>
        </a:p>
      </dgm:t>
    </dgm:pt>
    <dgm:pt modelId="{0D22748E-9A59-42AB-AAEF-45BA2C62B19F}" type="sibTrans" cxnId="{695663E4-935B-4B29-8C6F-185E2BF531CA}">
      <dgm:prSet/>
      <dgm:spPr/>
      <dgm:t>
        <a:bodyPr/>
        <a:lstStyle/>
        <a:p>
          <a:endParaRPr lang="en-US"/>
        </a:p>
      </dgm:t>
    </dgm:pt>
    <dgm:pt modelId="{B48BA075-2B51-46DC-BE75-75E95014E80B}">
      <dgm:prSet/>
      <dgm:spPr/>
      <dgm:t>
        <a:bodyPr/>
        <a:lstStyle/>
        <a:p>
          <a:r>
            <a:rPr lang="en-US" b="1" dirty="0"/>
            <a:t>Pakistan Environmental Protection Agency (Pak-EPA)</a:t>
          </a:r>
          <a:endParaRPr lang="en-US" dirty="0"/>
        </a:p>
      </dgm:t>
    </dgm:pt>
    <dgm:pt modelId="{76FF3EDB-ABFF-45FE-8E99-07A66A5C120A}" type="parTrans" cxnId="{D5064AE8-39F8-4725-8E8C-3591AEAA63B6}">
      <dgm:prSet/>
      <dgm:spPr/>
      <dgm:t>
        <a:bodyPr/>
        <a:lstStyle/>
        <a:p>
          <a:endParaRPr lang="en-US"/>
        </a:p>
      </dgm:t>
    </dgm:pt>
    <dgm:pt modelId="{D8D0358E-B062-4F2C-9FBC-4FCC6343530B}" type="sibTrans" cxnId="{D5064AE8-39F8-4725-8E8C-3591AEAA63B6}">
      <dgm:prSet/>
      <dgm:spPr/>
      <dgm:t>
        <a:bodyPr/>
        <a:lstStyle/>
        <a:p>
          <a:endParaRPr lang="en-US"/>
        </a:p>
      </dgm:t>
    </dgm:pt>
    <dgm:pt modelId="{A1B6ABED-5BB4-42C4-BC38-4184811D3F0B}">
      <dgm:prSet/>
      <dgm:spPr/>
      <dgm:t>
        <a:bodyPr/>
        <a:lstStyle/>
        <a:p>
          <a:r>
            <a:rPr lang="en-US" b="1"/>
            <a:t>Drug Regulatory Authority of Pakistan (DRAP)</a:t>
          </a:r>
          <a:endParaRPr lang="en-US"/>
        </a:p>
      </dgm:t>
    </dgm:pt>
    <dgm:pt modelId="{3EE49188-F619-497F-AADC-497887ABD34C}" type="parTrans" cxnId="{B56E8F51-C5F5-402C-B19C-9026C40257E2}">
      <dgm:prSet/>
      <dgm:spPr/>
      <dgm:t>
        <a:bodyPr/>
        <a:lstStyle/>
        <a:p>
          <a:endParaRPr lang="en-US"/>
        </a:p>
      </dgm:t>
    </dgm:pt>
    <dgm:pt modelId="{CFC66B9D-BE9A-48DD-9EFB-FFC247C74076}" type="sibTrans" cxnId="{B56E8F51-C5F5-402C-B19C-9026C40257E2}">
      <dgm:prSet/>
      <dgm:spPr/>
      <dgm:t>
        <a:bodyPr/>
        <a:lstStyle/>
        <a:p>
          <a:endParaRPr lang="en-US"/>
        </a:p>
      </dgm:t>
    </dgm:pt>
    <dgm:pt modelId="{30398294-635E-477F-8C65-58F0A0CDBF10}">
      <dgm:prSet/>
      <dgm:spPr/>
      <dgm:t>
        <a:bodyPr/>
        <a:lstStyle/>
        <a:p>
          <a:r>
            <a:rPr lang="en-US" b="1"/>
            <a:t>Environmental Protection Departments (EPDs)</a:t>
          </a:r>
          <a:r>
            <a:rPr lang="en-US"/>
            <a:t> at the provincial level</a:t>
          </a:r>
        </a:p>
      </dgm:t>
    </dgm:pt>
    <dgm:pt modelId="{E7773EBA-9147-4B54-AF61-C8BC92DF92C8}" type="parTrans" cxnId="{BB5F95B7-D584-4A6F-B4B1-76A8166AEF89}">
      <dgm:prSet/>
      <dgm:spPr/>
      <dgm:t>
        <a:bodyPr/>
        <a:lstStyle/>
        <a:p>
          <a:endParaRPr lang="en-US"/>
        </a:p>
      </dgm:t>
    </dgm:pt>
    <dgm:pt modelId="{831776DF-144C-4F27-BF40-5BC05F9F2D0D}" type="sibTrans" cxnId="{BB5F95B7-D584-4A6F-B4B1-76A8166AEF89}">
      <dgm:prSet/>
      <dgm:spPr/>
      <dgm:t>
        <a:bodyPr/>
        <a:lstStyle/>
        <a:p>
          <a:endParaRPr lang="en-US"/>
        </a:p>
      </dgm:t>
    </dgm:pt>
    <dgm:pt modelId="{984420B5-55FA-4512-8097-D12E16EE1D96}">
      <dgm:prSet/>
      <dgm:spPr/>
      <dgm:t>
        <a:bodyPr/>
        <a:lstStyle/>
        <a:p>
          <a:r>
            <a:rPr lang="en-US"/>
            <a:t>Required </a:t>
          </a:r>
          <a:r>
            <a:rPr lang="en-US" b="1"/>
            <a:t>inspections, testing, and audits</a:t>
          </a:r>
          <a:r>
            <a:rPr lang="en-US"/>
            <a:t> may cause delays</a:t>
          </a:r>
        </a:p>
      </dgm:t>
    </dgm:pt>
    <dgm:pt modelId="{6D752013-3B6C-4BF4-8EEC-B47ADC3307D0}" type="parTrans" cxnId="{61AF1460-54D1-467A-B66F-1224CDA9C232}">
      <dgm:prSet/>
      <dgm:spPr/>
      <dgm:t>
        <a:bodyPr/>
        <a:lstStyle/>
        <a:p>
          <a:endParaRPr lang="en-US"/>
        </a:p>
      </dgm:t>
    </dgm:pt>
    <dgm:pt modelId="{EB8E8AE7-97D5-4F8F-B235-AA782F6F0394}" type="sibTrans" cxnId="{61AF1460-54D1-467A-B66F-1224CDA9C232}">
      <dgm:prSet/>
      <dgm:spPr/>
      <dgm:t>
        <a:bodyPr/>
        <a:lstStyle/>
        <a:p>
          <a:endParaRPr lang="en-US"/>
        </a:p>
      </dgm:t>
    </dgm:pt>
    <dgm:pt modelId="{F44EE6BF-6470-484D-9EB0-9CD3B3063F36}">
      <dgm:prSet/>
      <dgm:spPr/>
      <dgm:t>
        <a:bodyPr/>
        <a:lstStyle/>
        <a:p>
          <a:r>
            <a:rPr lang="en-US" b="1"/>
            <a:t>Product Effectiveness &amp; Safety Testing</a:t>
          </a:r>
          <a:endParaRPr lang="en-US"/>
        </a:p>
      </dgm:t>
    </dgm:pt>
    <dgm:pt modelId="{857DEE13-10D0-419A-8D91-B4131E0CE84E}" type="parTrans" cxnId="{357C073A-7E0A-41D9-9B9D-200B79EF52EA}">
      <dgm:prSet/>
      <dgm:spPr/>
      <dgm:t>
        <a:bodyPr/>
        <a:lstStyle/>
        <a:p>
          <a:endParaRPr lang="en-US"/>
        </a:p>
      </dgm:t>
    </dgm:pt>
    <dgm:pt modelId="{8130EC28-DDDA-4219-AA8D-2F1231113D55}" type="sibTrans" cxnId="{357C073A-7E0A-41D9-9B9D-200B79EF52EA}">
      <dgm:prSet/>
      <dgm:spPr/>
      <dgm:t>
        <a:bodyPr/>
        <a:lstStyle/>
        <a:p>
          <a:endParaRPr lang="en-US"/>
        </a:p>
      </dgm:t>
    </dgm:pt>
    <dgm:pt modelId="{957F7569-36E5-4BDD-8FBA-D1024C68141C}">
      <dgm:prSet/>
      <dgm:spPr/>
      <dgm:t>
        <a:bodyPr/>
        <a:lstStyle/>
        <a:p>
          <a:r>
            <a:rPr lang="en-US" dirty="0"/>
            <a:t>Requires </a:t>
          </a:r>
          <a:r>
            <a:rPr lang="en-US" b="1" dirty="0"/>
            <a:t>laboratory and field testing</a:t>
          </a:r>
          <a:endParaRPr lang="en-US" dirty="0"/>
        </a:p>
      </dgm:t>
    </dgm:pt>
    <dgm:pt modelId="{9EA47B26-E15E-4611-90C2-5B181DCABB87}" type="parTrans" cxnId="{BE27CD56-6EFF-445B-A23F-D574F9B098E6}">
      <dgm:prSet/>
      <dgm:spPr/>
      <dgm:t>
        <a:bodyPr/>
        <a:lstStyle/>
        <a:p>
          <a:endParaRPr lang="en-US"/>
        </a:p>
      </dgm:t>
    </dgm:pt>
    <dgm:pt modelId="{30189593-0827-4A40-8734-27B5FD5843A5}" type="sibTrans" cxnId="{BE27CD56-6EFF-445B-A23F-D574F9B098E6}">
      <dgm:prSet/>
      <dgm:spPr/>
      <dgm:t>
        <a:bodyPr/>
        <a:lstStyle/>
        <a:p>
          <a:endParaRPr lang="en-US"/>
        </a:p>
      </dgm:t>
    </dgm:pt>
    <dgm:pt modelId="{7E9CD551-931F-4826-B8AC-DA1D6433A022}">
      <dgm:prSet/>
      <dgm:spPr/>
      <dgm:t>
        <a:bodyPr/>
        <a:lstStyle/>
        <a:p>
          <a:r>
            <a:rPr lang="en-US"/>
            <a:t>Certifications needed from:</a:t>
          </a:r>
        </a:p>
      </dgm:t>
    </dgm:pt>
    <dgm:pt modelId="{552DCD88-13B4-4436-B940-C8DA58A11820}" type="parTrans" cxnId="{1BFC054F-06F9-4E42-A6D0-C7161AE0C31B}">
      <dgm:prSet/>
      <dgm:spPr/>
      <dgm:t>
        <a:bodyPr/>
        <a:lstStyle/>
        <a:p>
          <a:endParaRPr lang="en-US"/>
        </a:p>
      </dgm:t>
    </dgm:pt>
    <dgm:pt modelId="{D418A1A0-AC22-4517-9608-0D1352D25D05}" type="sibTrans" cxnId="{1BFC054F-06F9-4E42-A6D0-C7161AE0C31B}">
      <dgm:prSet/>
      <dgm:spPr/>
      <dgm:t>
        <a:bodyPr/>
        <a:lstStyle/>
        <a:p>
          <a:endParaRPr lang="en-US"/>
        </a:p>
      </dgm:t>
    </dgm:pt>
    <dgm:pt modelId="{58D147D9-3588-4331-AC0A-2CA4791B06F6}">
      <dgm:prSet/>
      <dgm:spPr/>
      <dgm:t>
        <a:bodyPr/>
        <a:lstStyle/>
        <a:p>
          <a:r>
            <a:rPr lang="en-US" b="1"/>
            <a:t>Pakistan Council of Scientific and Industrial Research (PCSIR)</a:t>
          </a:r>
          <a:endParaRPr lang="en-US"/>
        </a:p>
      </dgm:t>
    </dgm:pt>
    <dgm:pt modelId="{776B4E26-6970-4539-B309-162FC7721A28}" type="parTrans" cxnId="{EBE23648-B8CC-4D56-8B77-EB7435237AAD}">
      <dgm:prSet/>
      <dgm:spPr/>
      <dgm:t>
        <a:bodyPr/>
        <a:lstStyle/>
        <a:p>
          <a:endParaRPr lang="en-US"/>
        </a:p>
      </dgm:t>
    </dgm:pt>
    <dgm:pt modelId="{A8FD815B-2DF6-45B4-AEDD-7ADF05EE351B}" type="sibTrans" cxnId="{EBE23648-B8CC-4D56-8B77-EB7435237AAD}">
      <dgm:prSet/>
      <dgm:spPr/>
      <dgm:t>
        <a:bodyPr/>
        <a:lstStyle/>
        <a:p>
          <a:endParaRPr lang="en-US"/>
        </a:p>
      </dgm:t>
    </dgm:pt>
    <dgm:pt modelId="{6E7DCE8E-BE56-449D-9BA6-20CBC85E5634}">
      <dgm:prSet/>
      <dgm:spPr/>
      <dgm:t>
        <a:bodyPr/>
        <a:lstStyle/>
        <a:p>
          <a:r>
            <a:rPr lang="en-US" b="1"/>
            <a:t>Pakistan Standards and Quality Control Authority (PSQCA)</a:t>
          </a:r>
          <a:endParaRPr lang="en-US"/>
        </a:p>
      </dgm:t>
    </dgm:pt>
    <dgm:pt modelId="{A6C905E3-7A85-4DF6-86CE-3E44E3791F69}" type="parTrans" cxnId="{71C1C261-E63D-4F59-81A6-72FA364F7B53}">
      <dgm:prSet/>
      <dgm:spPr/>
      <dgm:t>
        <a:bodyPr/>
        <a:lstStyle/>
        <a:p>
          <a:endParaRPr lang="en-US"/>
        </a:p>
      </dgm:t>
    </dgm:pt>
    <dgm:pt modelId="{F399CC04-9BE2-4A93-ABA8-DFC400B5FF2E}" type="sibTrans" cxnId="{71C1C261-E63D-4F59-81A6-72FA364F7B53}">
      <dgm:prSet/>
      <dgm:spPr/>
      <dgm:t>
        <a:bodyPr/>
        <a:lstStyle/>
        <a:p>
          <a:endParaRPr lang="en-US"/>
        </a:p>
      </dgm:t>
    </dgm:pt>
    <dgm:pt modelId="{65EC7513-474A-4128-A583-AA5FB655BEFE}" type="pres">
      <dgm:prSet presAssocID="{79CE4E9E-7F64-4916-91E1-0341E8B8D9CA}" presName="linear" presStyleCnt="0">
        <dgm:presLayoutVars>
          <dgm:dir/>
          <dgm:animLvl val="lvl"/>
          <dgm:resizeHandles val="exact"/>
        </dgm:presLayoutVars>
      </dgm:prSet>
      <dgm:spPr/>
    </dgm:pt>
    <dgm:pt modelId="{A0B57338-08BB-457A-BC4F-95F8C0D7D439}" type="pres">
      <dgm:prSet presAssocID="{34326688-9F5B-4630-AA17-50CE66F34DC3}" presName="parentLin" presStyleCnt="0"/>
      <dgm:spPr/>
    </dgm:pt>
    <dgm:pt modelId="{E18FF039-EE4C-4117-A4B2-AE289873E85A}" type="pres">
      <dgm:prSet presAssocID="{34326688-9F5B-4630-AA17-50CE66F34DC3}" presName="parentLeftMargin" presStyleLbl="node1" presStyleIdx="0" presStyleCnt="2"/>
      <dgm:spPr/>
    </dgm:pt>
    <dgm:pt modelId="{C0A712E9-64BD-4070-BDF4-8CEDA4C40D6F}" type="pres">
      <dgm:prSet presAssocID="{34326688-9F5B-4630-AA17-50CE66F34DC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90E23B5-E8F3-46CE-9BE9-40526B5556B5}" type="pres">
      <dgm:prSet presAssocID="{34326688-9F5B-4630-AA17-50CE66F34DC3}" presName="negativeSpace" presStyleCnt="0"/>
      <dgm:spPr/>
    </dgm:pt>
    <dgm:pt modelId="{31E724E3-ABE1-465F-B6E8-657D5260A1AB}" type="pres">
      <dgm:prSet presAssocID="{34326688-9F5B-4630-AA17-50CE66F34DC3}" presName="childText" presStyleLbl="conFgAcc1" presStyleIdx="0" presStyleCnt="2">
        <dgm:presLayoutVars>
          <dgm:bulletEnabled val="1"/>
        </dgm:presLayoutVars>
      </dgm:prSet>
      <dgm:spPr/>
    </dgm:pt>
    <dgm:pt modelId="{6913A95D-AB70-4608-8CBF-35B8D71C4F51}" type="pres">
      <dgm:prSet presAssocID="{568851CE-064F-436D-9680-C70AEB1DCBF5}" presName="spaceBetweenRectangles" presStyleCnt="0"/>
      <dgm:spPr/>
    </dgm:pt>
    <dgm:pt modelId="{D976ED31-77A3-47D0-A34F-8B7E0AC7F413}" type="pres">
      <dgm:prSet presAssocID="{F44EE6BF-6470-484D-9EB0-9CD3B3063F36}" presName="parentLin" presStyleCnt="0"/>
      <dgm:spPr/>
    </dgm:pt>
    <dgm:pt modelId="{A791C6F0-31A9-4990-8D5C-009CE7C00606}" type="pres">
      <dgm:prSet presAssocID="{F44EE6BF-6470-484D-9EB0-9CD3B3063F36}" presName="parentLeftMargin" presStyleLbl="node1" presStyleIdx="0" presStyleCnt="2"/>
      <dgm:spPr/>
    </dgm:pt>
    <dgm:pt modelId="{4E6EDD1A-81A3-42CC-85E2-1FD6731C5C56}" type="pres">
      <dgm:prSet presAssocID="{F44EE6BF-6470-484D-9EB0-9CD3B3063F3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79FB478-E2CE-4E88-B616-6B1F3F041E17}" type="pres">
      <dgm:prSet presAssocID="{F44EE6BF-6470-484D-9EB0-9CD3B3063F36}" presName="negativeSpace" presStyleCnt="0"/>
      <dgm:spPr/>
    </dgm:pt>
    <dgm:pt modelId="{961BD39A-9E63-47A3-8826-5A4A23FF4791}" type="pres">
      <dgm:prSet presAssocID="{F44EE6BF-6470-484D-9EB0-9CD3B3063F3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5E46403-AA63-4A8C-BCE6-9C3136B92504}" type="presOf" srcId="{79CE4E9E-7F64-4916-91E1-0341E8B8D9CA}" destId="{65EC7513-474A-4128-A583-AA5FB655BEFE}" srcOrd="0" destOrd="0" presId="urn:microsoft.com/office/officeart/2005/8/layout/list1"/>
    <dgm:cxn modelId="{5305F134-72D4-44A6-A2B3-8138D59CDCD1}" type="presOf" srcId="{7E9CD551-931F-4826-B8AC-DA1D6433A022}" destId="{961BD39A-9E63-47A3-8826-5A4A23FF4791}" srcOrd="0" destOrd="1" presId="urn:microsoft.com/office/officeart/2005/8/layout/list1"/>
    <dgm:cxn modelId="{357C073A-7E0A-41D9-9B9D-200B79EF52EA}" srcId="{79CE4E9E-7F64-4916-91E1-0341E8B8D9CA}" destId="{F44EE6BF-6470-484D-9EB0-9CD3B3063F36}" srcOrd="1" destOrd="0" parTransId="{857DEE13-10D0-419A-8D91-B4131E0CE84E}" sibTransId="{8130EC28-DDDA-4219-AA8D-2F1231113D55}"/>
    <dgm:cxn modelId="{61AF1460-54D1-467A-B66F-1224CDA9C232}" srcId="{34326688-9F5B-4630-AA17-50CE66F34DC3}" destId="{984420B5-55FA-4512-8097-D12E16EE1D96}" srcOrd="1" destOrd="0" parTransId="{6D752013-3B6C-4BF4-8EEC-B47ADC3307D0}" sibTransId="{EB8E8AE7-97D5-4F8F-B235-AA782F6F0394}"/>
    <dgm:cxn modelId="{71C1C261-E63D-4F59-81A6-72FA364F7B53}" srcId="{7E9CD551-931F-4826-B8AC-DA1D6433A022}" destId="{6E7DCE8E-BE56-449D-9BA6-20CBC85E5634}" srcOrd="1" destOrd="0" parTransId="{A6C905E3-7A85-4DF6-86CE-3E44E3791F69}" sibTransId="{F399CC04-9BE2-4A93-ABA8-DFC400B5FF2E}"/>
    <dgm:cxn modelId="{7BA8E942-44A9-4B02-B934-BF553AEACE4C}" type="presOf" srcId="{984420B5-55FA-4512-8097-D12E16EE1D96}" destId="{31E724E3-ABE1-465F-B6E8-657D5260A1AB}" srcOrd="0" destOrd="4" presId="urn:microsoft.com/office/officeart/2005/8/layout/list1"/>
    <dgm:cxn modelId="{268A0B43-482C-4365-B5D4-E6F711B5D43F}" type="presOf" srcId="{34326688-9F5B-4630-AA17-50CE66F34DC3}" destId="{E18FF039-EE4C-4117-A4B2-AE289873E85A}" srcOrd="0" destOrd="0" presId="urn:microsoft.com/office/officeart/2005/8/layout/list1"/>
    <dgm:cxn modelId="{EBE23648-B8CC-4D56-8B77-EB7435237AAD}" srcId="{7E9CD551-931F-4826-B8AC-DA1D6433A022}" destId="{58D147D9-3588-4331-AC0A-2CA4791B06F6}" srcOrd="0" destOrd="0" parTransId="{776B4E26-6970-4539-B309-162FC7721A28}" sibTransId="{A8FD815B-2DF6-45B4-AEDD-7ADF05EE351B}"/>
    <dgm:cxn modelId="{1BFC054F-06F9-4E42-A6D0-C7161AE0C31B}" srcId="{F44EE6BF-6470-484D-9EB0-9CD3B3063F36}" destId="{7E9CD551-931F-4826-B8AC-DA1D6433A022}" srcOrd="1" destOrd="0" parTransId="{552DCD88-13B4-4436-B940-C8DA58A11820}" sibTransId="{D418A1A0-AC22-4517-9608-0D1352D25D05}"/>
    <dgm:cxn modelId="{B56E8F51-C5F5-402C-B19C-9026C40257E2}" srcId="{AE8F5F13-4393-4792-BA30-5B2E230223AC}" destId="{A1B6ABED-5BB4-42C4-BC38-4184811D3F0B}" srcOrd="1" destOrd="0" parTransId="{3EE49188-F619-497F-AADC-497887ABD34C}" sibTransId="{CFC66B9D-BE9A-48DD-9EFB-FFC247C74076}"/>
    <dgm:cxn modelId="{BE27CD56-6EFF-445B-A23F-D574F9B098E6}" srcId="{F44EE6BF-6470-484D-9EB0-9CD3B3063F36}" destId="{957F7569-36E5-4BDD-8FBA-D1024C68141C}" srcOrd="0" destOrd="0" parTransId="{9EA47B26-E15E-4611-90C2-5B181DCABB87}" sibTransId="{30189593-0827-4A40-8734-27B5FD5843A5}"/>
    <dgm:cxn modelId="{85468C59-4FDE-4BDA-BC58-24F478A85472}" type="presOf" srcId="{A1B6ABED-5BB4-42C4-BC38-4184811D3F0B}" destId="{31E724E3-ABE1-465F-B6E8-657D5260A1AB}" srcOrd="0" destOrd="2" presId="urn:microsoft.com/office/officeart/2005/8/layout/list1"/>
    <dgm:cxn modelId="{5701EB84-3655-4262-BBF0-9F42D1E5C994}" type="presOf" srcId="{58D147D9-3588-4331-AC0A-2CA4791B06F6}" destId="{961BD39A-9E63-47A3-8826-5A4A23FF4791}" srcOrd="0" destOrd="2" presId="urn:microsoft.com/office/officeart/2005/8/layout/list1"/>
    <dgm:cxn modelId="{9F25C597-AB42-4A6E-8688-42BA75BF30CB}" type="presOf" srcId="{6E7DCE8E-BE56-449D-9BA6-20CBC85E5634}" destId="{961BD39A-9E63-47A3-8826-5A4A23FF4791}" srcOrd="0" destOrd="3" presId="urn:microsoft.com/office/officeart/2005/8/layout/list1"/>
    <dgm:cxn modelId="{DE4C3E9C-4A15-4F1D-837F-F4E9FD562B4B}" type="presOf" srcId="{F44EE6BF-6470-484D-9EB0-9CD3B3063F36}" destId="{4E6EDD1A-81A3-42CC-85E2-1FD6731C5C56}" srcOrd="1" destOrd="0" presId="urn:microsoft.com/office/officeart/2005/8/layout/list1"/>
    <dgm:cxn modelId="{8D0F5EA8-7D8A-4DC3-8254-55B7BA256206}" type="presOf" srcId="{34326688-9F5B-4630-AA17-50CE66F34DC3}" destId="{C0A712E9-64BD-4070-BDF4-8CEDA4C40D6F}" srcOrd="1" destOrd="0" presId="urn:microsoft.com/office/officeart/2005/8/layout/list1"/>
    <dgm:cxn modelId="{BB5F95B7-D584-4A6F-B4B1-76A8166AEF89}" srcId="{AE8F5F13-4393-4792-BA30-5B2E230223AC}" destId="{30398294-635E-477F-8C65-58F0A0CDBF10}" srcOrd="2" destOrd="0" parTransId="{E7773EBA-9147-4B54-AF61-C8BC92DF92C8}" sibTransId="{831776DF-144C-4F27-BF40-5BC05F9F2D0D}"/>
    <dgm:cxn modelId="{6F8AFCC4-A1F3-4254-BBCC-4D8469CF327B}" srcId="{79CE4E9E-7F64-4916-91E1-0341E8B8D9CA}" destId="{34326688-9F5B-4630-AA17-50CE66F34DC3}" srcOrd="0" destOrd="0" parTransId="{352AC0BA-738B-4E39-A2E6-5B2F448FB14F}" sibTransId="{568851CE-064F-436D-9680-C70AEB1DCBF5}"/>
    <dgm:cxn modelId="{C8D468C6-DDFA-4465-92E6-5B532F2C201D}" type="presOf" srcId="{AE8F5F13-4393-4792-BA30-5B2E230223AC}" destId="{31E724E3-ABE1-465F-B6E8-657D5260A1AB}" srcOrd="0" destOrd="0" presId="urn:microsoft.com/office/officeart/2005/8/layout/list1"/>
    <dgm:cxn modelId="{CC334DCC-260A-45B8-9DB3-237FDBE5A675}" type="presOf" srcId="{F44EE6BF-6470-484D-9EB0-9CD3B3063F36}" destId="{A791C6F0-31A9-4990-8D5C-009CE7C00606}" srcOrd="0" destOrd="0" presId="urn:microsoft.com/office/officeart/2005/8/layout/list1"/>
    <dgm:cxn modelId="{6F8C6CE1-AE85-45F4-8228-559166191D52}" type="presOf" srcId="{B48BA075-2B51-46DC-BE75-75E95014E80B}" destId="{31E724E3-ABE1-465F-B6E8-657D5260A1AB}" srcOrd="0" destOrd="1" presId="urn:microsoft.com/office/officeart/2005/8/layout/list1"/>
    <dgm:cxn modelId="{695663E4-935B-4B29-8C6F-185E2BF531CA}" srcId="{34326688-9F5B-4630-AA17-50CE66F34DC3}" destId="{AE8F5F13-4393-4792-BA30-5B2E230223AC}" srcOrd="0" destOrd="0" parTransId="{14EDC950-0027-4DAA-B981-746A012718AA}" sibTransId="{0D22748E-9A59-42AB-AAEF-45BA2C62B19F}"/>
    <dgm:cxn modelId="{D5064AE8-39F8-4725-8E8C-3591AEAA63B6}" srcId="{AE8F5F13-4393-4792-BA30-5B2E230223AC}" destId="{B48BA075-2B51-46DC-BE75-75E95014E80B}" srcOrd="0" destOrd="0" parTransId="{76FF3EDB-ABFF-45FE-8E99-07A66A5C120A}" sibTransId="{D8D0358E-B062-4F2C-9FBC-4FCC6343530B}"/>
    <dgm:cxn modelId="{C70F37EE-8F04-4168-BEAB-6EA493BB0B22}" type="presOf" srcId="{30398294-635E-477F-8C65-58F0A0CDBF10}" destId="{31E724E3-ABE1-465F-B6E8-657D5260A1AB}" srcOrd="0" destOrd="3" presId="urn:microsoft.com/office/officeart/2005/8/layout/list1"/>
    <dgm:cxn modelId="{1203FCF1-C5C5-4128-9FAC-BFAA3691D5FC}" type="presOf" srcId="{957F7569-36E5-4BDD-8FBA-D1024C68141C}" destId="{961BD39A-9E63-47A3-8826-5A4A23FF4791}" srcOrd="0" destOrd="0" presId="urn:microsoft.com/office/officeart/2005/8/layout/list1"/>
    <dgm:cxn modelId="{DE660793-1BD7-4735-ACA1-8487C2D91B66}" type="presParOf" srcId="{65EC7513-474A-4128-A583-AA5FB655BEFE}" destId="{A0B57338-08BB-457A-BC4F-95F8C0D7D439}" srcOrd="0" destOrd="0" presId="urn:microsoft.com/office/officeart/2005/8/layout/list1"/>
    <dgm:cxn modelId="{683675EA-1A1A-488F-BDB5-B94FAC1F3157}" type="presParOf" srcId="{A0B57338-08BB-457A-BC4F-95F8C0D7D439}" destId="{E18FF039-EE4C-4117-A4B2-AE289873E85A}" srcOrd="0" destOrd="0" presId="urn:microsoft.com/office/officeart/2005/8/layout/list1"/>
    <dgm:cxn modelId="{B792247C-BE65-4D9B-BCEE-67469D6E2895}" type="presParOf" srcId="{A0B57338-08BB-457A-BC4F-95F8C0D7D439}" destId="{C0A712E9-64BD-4070-BDF4-8CEDA4C40D6F}" srcOrd="1" destOrd="0" presId="urn:microsoft.com/office/officeart/2005/8/layout/list1"/>
    <dgm:cxn modelId="{10530E42-CAA3-4C97-8732-157C0C335D47}" type="presParOf" srcId="{65EC7513-474A-4128-A583-AA5FB655BEFE}" destId="{A90E23B5-E8F3-46CE-9BE9-40526B5556B5}" srcOrd="1" destOrd="0" presId="urn:microsoft.com/office/officeart/2005/8/layout/list1"/>
    <dgm:cxn modelId="{E88B2D25-E8E2-4E2C-BC71-51A6B2302F28}" type="presParOf" srcId="{65EC7513-474A-4128-A583-AA5FB655BEFE}" destId="{31E724E3-ABE1-465F-B6E8-657D5260A1AB}" srcOrd="2" destOrd="0" presId="urn:microsoft.com/office/officeart/2005/8/layout/list1"/>
    <dgm:cxn modelId="{E934D339-3703-49BC-9887-2ACD58DFDB64}" type="presParOf" srcId="{65EC7513-474A-4128-A583-AA5FB655BEFE}" destId="{6913A95D-AB70-4608-8CBF-35B8D71C4F51}" srcOrd="3" destOrd="0" presId="urn:microsoft.com/office/officeart/2005/8/layout/list1"/>
    <dgm:cxn modelId="{CE37F5F4-E7FB-4A3A-98C5-9FE5779A821F}" type="presParOf" srcId="{65EC7513-474A-4128-A583-AA5FB655BEFE}" destId="{D976ED31-77A3-47D0-A34F-8B7E0AC7F413}" srcOrd="4" destOrd="0" presId="urn:microsoft.com/office/officeart/2005/8/layout/list1"/>
    <dgm:cxn modelId="{30517F8F-1CFC-48EA-B920-C6517B0F1F64}" type="presParOf" srcId="{D976ED31-77A3-47D0-A34F-8B7E0AC7F413}" destId="{A791C6F0-31A9-4990-8D5C-009CE7C00606}" srcOrd="0" destOrd="0" presId="urn:microsoft.com/office/officeart/2005/8/layout/list1"/>
    <dgm:cxn modelId="{F81028A4-B842-47F9-B52A-2FD4A346F777}" type="presParOf" srcId="{D976ED31-77A3-47D0-A34F-8B7E0AC7F413}" destId="{4E6EDD1A-81A3-42CC-85E2-1FD6731C5C56}" srcOrd="1" destOrd="0" presId="urn:microsoft.com/office/officeart/2005/8/layout/list1"/>
    <dgm:cxn modelId="{ECF8FDF6-93F1-40E5-96D4-DE0A31057B2F}" type="presParOf" srcId="{65EC7513-474A-4128-A583-AA5FB655BEFE}" destId="{279FB478-E2CE-4E88-B616-6B1F3F041E17}" srcOrd="5" destOrd="0" presId="urn:microsoft.com/office/officeart/2005/8/layout/list1"/>
    <dgm:cxn modelId="{6A273383-43D6-4E95-8695-497BF8BFAF93}" type="presParOf" srcId="{65EC7513-474A-4128-A583-AA5FB655BEFE}" destId="{961BD39A-9E63-47A3-8826-5A4A23FF479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CE4E9E-7F64-4916-91E1-0341E8B8D9C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27D06BC-1ED9-49D2-9DBD-28D6D7650A22}">
      <dgm:prSet/>
      <dgm:spPr/>
      <dgm:t>
        <a:bodyPr/>
        <a:lstStyle/>
        <a:p>
          <a:r>
            <a:rPr lang="en-US" b="1"/>
            <a:t>Supply Chain Challenges</a:t>
          </a:r>
          <a:endParaRPr lang="en-US"/>
        </a:p>
      </dgm:t>
    </dgm:pt>
    <dgm:pt modelId="{9FB5C8F9-55B3-48C2-B538-10398EA69CA1}" type="parTrans" cxnId="{1AB26C14-82B9-46F3-A53F-1D27B25F897A}">
      <dgm:prSet/>
      <dgm:spPr/>
      <dgm:t>
        <a:bodyPr/>
        <a:lstStyle/>
        <a:p>
          <a:endParaRPr lang="en-US"/>
        </a:p>
      </dgm:t>
    </dgm:pt>
    <dgm:pt modelId="{1DB84456-FA07-4642-A49F-E00688342272}" type="sibTrans" cxnId="{1AB26C14-82B9-46F3-A53F-1D27B25F897A}">
      <dgm:prSet/>
      <dgm:spPr/>
      <dgm:t>
        <a:bodyPr/>
        <a:lstStyle/>
        <a:p>
          <a:endParaRPr lang="en-US"/>
        </a:p>
      </dgm:t>
    </dgm:pt>
    <dgm:pt modelId="{509D7C96-1E6F-4027-B9C8-0670DDA3B7E8}">
      <dgm:prSet/>
      <dgm:spPr/>
      <dgm:t>
        <a:bodyPr/>
        <a:lstStyle/>
        <a:p>
          <a:r>
            <a:rPr lang="en-US" dirty="0"/>
            <a:t>Must build partnerships with </a:t>
          </a:r>
          <a:r>
            <a:rPr lang="en-US" b="1" dirty="0"/>
            <a:t>hospitals and pharma industries</a:t>
          </a:r>
          <a:r>
            <a:rPr lang="en-US" dirty="0"/>
            <a:t> for legal collection</a:t>
          </a:r>
        </a:p>
      </dgm:t>
    </dgm:pt>
    <dgm:pt modelId="{312D146A-E96F-4EBA-B464-ECF2C2BD17AB}" type="parTrans" cxnId="{D18B5531-80A5-457E-971B-3DAC3D557B15}">
      <dgm:prSet/>
      <dgm:spPr/>
      <dgm:t>
        <a:bodyPr/>
        <a:lstStyle/>
        <a:p>
          <a:endParaRPr lang="en-US"/>
        </a:p>
      </dgm:t>
    </dgm:pt>
    <dgm:pt modelId="{76AF2BE7-C814-4BF4-954D-7D9E258AE612}" type="sibTrans" cxnId="{D18B5531-80A5-457E-971B-3DAC3D557B15}">
      <dgm:prSet/>
      <dgm:spPr/>
      <dgm:t>
        <a:bodyPr/>
        <a:lstStyle/>
        <a:p>
          <a:endParaRPr lang="en-US"/>
        </a:p>
      </dgm:t>
    </dgm:pt>
    <dgm:pt modelId="{EE0D3728-EC9C-4E71-A41A-DEEE447CC2AA}">
      <dgm:prSet/>
      <dgm:spPr/>
      <dgm:t>
        <a:bodyPr/>
        <a:lstStyle/>
        <a:p>
          <a:r>
            <a:rPr lang="en-US"/>
            <a:t>Compliance with </a:t>
          </a:r>
          <a:r>
            <a:rPr lang="en-US" b="1"/>
            <a:t>Hospital Waste Management Rules 2005</a:t>
          </a:r>
          <a:r>
            <a:rPr lang="en-US"/>
            <a:t> is mandatory</a:t>
          </a:r>
        </a:p>
      </dgm:t>
    </dgm:pt>
    <dgm:pt modelId="{CB867294-A15A-4878-AED9-0DF842447EF5}" type="parTrans" cxnId="{4A8EDED6-D4E1-4458-B809-B878EBBD3924}">
      <dgm:prSet/>
      <dgm:spPr/>
      <dgm:t>
        <a:bodyPr/>
        <a:lstStyle/>
        <a:p>
          <a:endParaRPr lang="en-US"/>
        </a:p>
      </dgm:t>
    </dgm:pt>
    <dgm:pt modelId="{7D5CC1B9-BB24-4455-AD44-1558AF1D882D}" type="sibTrans" cxnId="{4A8EDED6-D4E1-4458-B809-B878EBBD3924}">
      <dgm:prSet/>
      <dgm:spPr/>
      <dgm:t>
        <a:bodyPr/>
        <a:lstStyle/>
        <a:p>
          <a:endParaRPr lang="en-US"/>
        </a:p>
      </dgm:t>
    </dgm:pt>
    <dgm:pt modelId="{9F93BED8-34A6-414E-BA79-6C044119E078}">
      <dgm:prSet/>
      <dgm:spPr/>
      <dgm:t>
        <a:bodyPr/>
        <a:lstStyle/>
        <a:p>
          <a:r>
            <a:rPr lang="en-US" b="1"/>
            <a:t>Public Perception &amp; Awareness</a:t>
          </a:r>
          <a:endParaRPr lang="en-US"/>
        </a:p>
      </dgm:t>
    </dgm:pt>
    <dgm:pt modelId="{700094BB-96E5-4881-9926-8F5DBA644600}" type="parTrans" cxnId="{61CCB84F-20EE-4CAE-B305-E51B8CC8C073}">
      <dgm:prSet/>
      <dgm:spPr/>
      <dgm:t>
        <a:bodyPr/>
        <a:lstStyle/>
        <a:p>
          <a:endParaRPr lang="en-US"/>
        </a:p>
      </dgm:t>
    </dgm:pt>
    <dgm:pt modelId="{640C4607-D8FC-46E9-B4C1-2153A50FB54E}" type="sibTrans" cxnId="{61CCB84F-20EE-4CAE-B305-E51B8CC8C073}">
      <dgm:prSet/>
      <dgm:spPr/>
      <dgm:t>
        <a:bodyPr/>
        <a:lstStyle/>
        <a:p>
          <a:endParaRPr lang="en-US"/>
        </a:p>
      </dgm:t>
    </dgm:pt>
    <dgm:pt modelId="{D8D10C18-4CFE-4AF2-9A54-AA420E07425B}">
      <dgm:prSet/>
      <dgm:spPr/>
      <dgm:t>
        <a:bodyPr/>
        <a:lstStyle/>
        <a:p>
          <a:r>
            <a:rPr lang="en-US"/>
            <a:t>Need </a:t>
          </a:r>
          <a:r>
            <a:rPr lang="en-US" b="1"/>
            <a:t>strong marketing efforts</a:t>
          </a:r>
          <a:endParaRPr lang="en-US"/>
        </a:p>
      </dgm:t>
    </dgm:pt>
    <dgm:pt modelId="{CE5CF7FD-4C2C-4EA8-AD7B-74539A1C24D6}" type="parTrans" cxnId="{36674DF5-DE47-447D-B60D-A5A64F17B161}">
      <dgm:prSet/>
      <dgm:spPr/>
      <dgm:t>
        <a:bodyPr/>
        <a:lstStyle/>
        <a:p>
          <a:endParaRPr lang="en-US"/>
        </a:p>
      </dgm:t>
    </dgm:pt>
    <dgm:pt modelId="{C86600E1-0BE7-46BC-BC30-64DB5F66DEB9}" type="sibTrans" cxnId="{36674DF5-DE47-447D-B60D-A5A64F17B161}">
      <dgm:prSet/>
      <dgm:spPr/>
      <dgm:t>
        <a:bodyPr/>
        <a:lstStyle/>
        <a:p>
          <a:endParaRPr lang="en-US"/>
        </a:p>
      </dgm:t>
    </dgm:pt>
    <dgm:pt modelId="{149B67AD-D0A9-4A11-B0C0-8E2207F9AAA1}">
      <dgm:prSet/>
      <dgm:spPr/>
      <dgm:t>
        <a:bodyPr/>
        <a:lstStyle/>
        <a:p>
          <a:r>
            <a:rPr lang="en-US"/>
            <a:t>Must </a:t>
          </a:r>
          <a:r>
            <a:rPr lang="en-US" b="1"/>
            <a:t>educate public and businesses</a:t>
          </a:r>
          <a:r>
            <a:rPr lang="en-US"/>
            <a:t> on environmental and safety benefits</a:t>
          </a:r>
        </a:p>
      </dgm:t>
    </dgm:pt>
    <dgm:pt modelId="{CF353B5D-2662-472C-BE4D-5CCB8E84AC03}" type="parTrans" cxnId="{006A6F5E-C4D0-42F0-A24E-81A066F49FFE}">
      <dgm:prSet/>
      <dgm:spPr/>
      <dgm:t>
        <a:bodyPr/>
        <a:lstStyle/>
        <a:p>
          <a:endParaRPr lang="en-US"/>
        </a:p>
      </dgm:t>
    </dgm:pt>
    <dgm:pt modelId="{724DADAA-AD14-4392-9735-DB7C92F52EFC}" type="sibTrans" cxnId="{006A6F5E-C4D0-42F0-A24E-81A066F49FFE}">
      <dgm:prSet/>
      <dgm:spPr/>
      <dgm:t>
        <a:bodyPr/>
        <a:lstStyle/>
        <a:p>
          <a:endParaRPr lang="en-US"/>
        </a:p>
      </dgm:t>
    </dgm:pt>
    <dgm:pt modelId="{B8CCE717-DF25-4EDB-96C2-1CAACCCACDBA}">
      <dgm:prSet/>
      <dgm:spPr/>
      <dgm:t>
        <a:bodyPr/>
        <a:lstStyle/>
        <a:p>
          <a:r>
            <a:rPr lang="en-US" b="1"/>
            <a:t>Intellectual Property Protection</a:t>
          </a:r>
          <a:endParaRPr lang="en-US"/>
        </a:p>
      </dgm:t>
    </dgm:pt>
    <dgm:pt modelId="{1DB50D0F-DC14-4A4F-861F-D70A8A3A0538}" type="parTrans" cxnId="{809E8065-90EB-45C6-B12C-C000ACB4417C}">
      <dgm:prSet/>
      <dgm:spPr/>
      <dgm:t>
        <a:bodyPr/>
        <a:lstStyle/>
        <a:p>
          <a:endParaRPr lang="en-US"/>
        </a:p>
      </dgm:t>
    </dgm:pt>
    <dgm:pt modelId="{9CF945CE-34D5-475C-AFBA-CFD5D69A26E0}" type="sibTrans" cxnId="{809E8065-90EB-45C6-B12C-C000ACB4417C}">
      <dgm:prSet/>
      <dgm:spPr/>
      <dgm:t>
        <a:bodyPr/>
        <a:lstStyle/>
        <a:p>
          <a:endParaRPr lang="en-US"/>
        </a:p>
      </dgm:t>
    </dgm:pt>
    <dgm:pt modelId="{C89C178F-6D36-4906-A8D9-D03106B609E7}">
      <dgm:prSet/>
      <dgm:spPr/>
      <dgm:t>
        <a:bodyPr/>
        <a:lstStyle/>
        <a:p>
          <a:r>
            <a:rPr lang="en-US"/>
            <a:t>Protect recycling methods and product designs via:</a:t>
          </a:r>
        </a:p>
      </dgm:t>
    </dgm:pt>
    <dgm:pt modelId="{0058DA81-B519-46A4-94AD-FD67E47751CB}" type="parTrans" cxnId="{77D34128-1B29-4100-91BD-CFEFABEEA5A9}">
      <dgm:prSet/>
      <dgm:spPr/>
      <dgm:t>
        <a:bodyPr/>
        <a:lstStyle/>
        <a:p>
          <a:endParaRPr lang="en-US"/>
        </a:p>
      </dgm:t>
    </dgm:pt>
    <dgm:pt modelId="{FEE68A01-0B4B-4976-BA87-0E93A7ECFAA8}" type="sibTrans" cxnId="{77D34128-1B29-4100-91BD-CFEFABEEA5A9}">
      <dgm:prSet/>
      <dgm:spPr/>
      <dgm:t>
        <a:bodyPr/>
        <a:lstStyle/>
        <a:p>
          <a:endParaRPr lang="en-US"/>
        </a:p>
      </dgm:t>
    </dgm:pt>
    <dgm:pt modelId="{B048064F-F172-4DAA-9567-65E24831F1EE}">
      <dgm:prSet/>
      <dgm:spPr/>
      <dgm:t>
        <a:bodyPr/>
        <a:lstStyle/>
        <a:p>
          <a:r>
            <a:rPr lang="en-US" b="1"/>
            <a:t>Intellectual Property Organization of Pakistan (IPO Pakistan)</a:t>
          </a:r>
          <a:endParaRPr lang="en-US"/>
        </a:p>
      </dgm:t>
    </dgm:pt>
    <dgm:pt modelId="{9C2C3727-E45D-429E-9CF8-9838A932B05E}" type="parTrans" cxnId="{57E6B76E-BEDB-4BFD-BB0D-A792498F1B3C}">
      <dgm:prSet/>
      <dgm:spPr/>
      <dgm:t>
        <a:bodyPr/>
        <a:lstStyle/>
        <a:p>
          <a:endParaRPr lang="en-US"/>
        </a:p>
      </dgm:t>
    </dgm:pt>
    <dgm:pt modelId="{26F8EA6B-AD00-4CA7-98EC-DBC861DBC4E7}" type="sibTrans" cxnId="{57E6B76E-BEDB-4BFD-BB0D-A792498F1B3C}">
      <dgm:prSet/>
      <dgm:spPr/>
      <dgm:t>
        <a:bodyPr/>
        <a:lstStyle/>
        <a:p>
          <a:endParaRPr lang="en-US"/>
        </a:p>
      </dgm:t>
    </dgm:pt>
    <dgm:pt modelId="{65EC7513-474A-4128-A583-AA5FB655BEFE}" type="pres">
      <dgm:prSet presAssocID="{79CE4E9E-7F64-4916-91E1-0341E8B8D9CA}" presName="linear" presStyleCnt="0">
        <dgm:presLayoutVars>
          <dgm:dir/>
          <dgm:animLvl val="lvl"/>
          <dgm:resizeHandles val="exact"/>
        </dgm:presLayoutVars>
      </dgm:prSet>
      <dgm:spPr/>
    </dgm:pt>
    <dgm:pt modelId="{674D7B73-9A1E-4C32-AAA0-79112B601679}" type="pres">
      <dgm:prSet presAssocID="{727D06BC-1ED9-49D2-9DBD-28D6D7650A22}" presName="parentLin" presStyleCnt="0"/>
      <dgm:spPr/>
    </dgm:pt>
    <dgm:pt modelId="{C0594EFF-0BF2-4D90-90BD-DA6FD40E985C}" type="pres">
      <dgm:prSet presAssocID="{727D06BC-1ED9-49D2-9DBD-28D6D7650A22}" presName="parentLeftMargin" presStyleLbl="node1" presStyleIdx="0" presStyleCnt="3"/>
      <dgm:spPr/>
    </dgm:pt>
    <dgm:pt modelId="{A32EA469-000E-4E6A-9DE3-9AC561DE8736}" type="pres">
      <dgm:prSet presAssocID="{727D06BC-1ED9-49D2-9DBD-28D6D7650A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25F47F-6848-4A40-8D69-75B549FC1B64}" type="pres">
      <dgm:prSet presAssocID="{727D06BC-1ED9-49D2-9DBD-28D6D7650A22}" presName="negativeSpace" presStyleCnt="0"/>
      <dgm:spPr/>
    </dgm:pt>
    <dgm:pt modelId="{49FCC8A4-4489-4411-B99D-5CFD67862755}" type="pres">
      <dgm:prSet presAssocID="{727D06BC-1ED9-49D2-9DBD-28D6D7650A22}" presName="childText" presStyleLbl="conFgAcc1" presStyleIdx="0" presStyleCnt="3">
        <dgm:presLayoutVars>
          <dgm:bulletEnabled val="1"/>
        </dgm:presLayoutVars>
      </dgm:prSet>
      <dgm:spPr/>
    </dgm:pt>
    <dgm:pt modelId="{C0E62EF4-C029-477A-8C4D-A62F762240B3}" type="pres">
      <dgm:prSet presAssocID="{1DB84456-FA07-4642-A49F-E00688342272}" presName="spaceBetweenRectangles" presStyleCnt="0"/>
      <dgm:spPr/>
    </dgm:pt>
    <dgm:pt modelId="{F5E17A8B-0A6E-4A74-8C03-DF01D6263277}" type="pres">
      <dgm:prSet presAssocID="{9F93BED8-34A6-414E-BA79-6C044119E078}" presName="parentLin" presStyleCnt="0"/>
      <dgm:spPr/>
    </dgm:pt>
    <dgm:pt modelId="{8FD9A51F-6AE0-4FF7-BE5E-AF2CC790E5DD}" type="pres">
      <dgm:prSet presAssocID="{9F93BED8-34A6-414E-BA79-6C044119E078}" presName="parentLeftMargin" presStyleLbl="node1" presStyleIdx="0" presStyleCnt="3"/>
      <dgm:spPr/>
    </dgm:pt>
    <dgm:pt modelId="{A87CFC03-5E3D-40C1-A9CE-5961633E8B42}" type="pres">
      <dgm:prSet presAssocID="{9F93BED8-34A6-414E-BA79-6C044119E0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62F8F1-91B7-471E-8721-1D0E4FD754CF}" type="pres">
      <dgm:prSet presAssocID="{9F93BED8-34A6-414E-BA79-6C044119E078}" presName="negativeSpace" presStyleCnt="0"/>
      <dgm:spPr/>
    </dgm:pt>
    <dgm:pt modelId="{80A163D4-E867-4FCA-9542-B327E99DD22D}" type="pres">
      <dgm:prSet presAssocID="{9F93BED8-34A6-414E-BA79-6C044119E078}" presName="childText" presStyleLbl="conFgAcc1" presStyleIdx="1" presStyleCnt="3">
        <dgm:presLayoutVars>
          <dgm:bulletEnabled val="1"/>
        </dgm:presLayoutVars>
      </dgm:prSet>
      <dgm:spPr/>
    </dgm:pt>
    <dgm:pt modelId="{13BCD18F-B143-4644-8683-2A3C8D40D497}" type="pres">
      <dgm:prSet presAssocID="{640C4607-D8FC-46E9-B4C1-2153A50FB54E}" presName="spaceBetweenRectangles" presStyleCnt="0"/>
      <dgm:spPr/>
    </dgm:pt>
    <dgm:pt modelId="{3608F83F-9C5F-490B-83FC-4D43CBC5394D}" type="pres">
      <dgm:prSet presAssocID="{B8CCE717-DF25-4EDB-96C2-1CAACCCACDBA}" presName="parentLin" presStyleCnt="0"/>
      <dgm:spPr/>
    </dgm:pt>
    <dgm:pt modelId="{22B16E58-64CB-4668-9CE4-AF867C468479}" type="pres">
      <dgm:prSet presAssocID="{B8CCE717-DF25-4EDB-96C2-1CAACCCACDBA}" presName="parentLeftMargin" presStyleLbl="node1" presStyleIdx="1" presStyleCnt="3"/>
      <dgm:spPr/>
    </dgm:pt>
    <dgm:pt modelId="{B363EEEE-3262-4D0B-95CE-B25DAC7FE19F}" type="pres">
      <dgm:prSet presAssocID="{B8CCE717-DF25-4EDB-96C2-1CAACCCACDB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ECC8281-98B8-4D2F-9ACF-F767653AE464}" type="pres">
      <dgm:prSet presAssocID="{B8CCE717-DF25-4EDB-96C2-1CAACCCACDBA}" presName="negativeSpace" presStyleCnt="0"/>
      <dgm:spPr/>
    </dgm:pt>
    <dgm:pt modelId="{37607711-9D14-4C82-A783-B1BBAFDB3DF1}" type="pres">
      <dgm:prSet presAssocID="{B8CCE717-DF25-4EDB-96C2-1CAACCCACDB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5E46403-AA63-4A8C-BCE6-9C3136B92504}" type="presOf" srcId="{79CE4E9E-7F64-4916-91E1-0341E8B8D9CA}" destId="{65EC7513-474A-4128-A583-AA5FB655BEFE}" srcOrd="0" destOrd="0" presId="urn:microsoft.com/office/officeart/2005/8/layout/list1"/>
    <dgm:cxn modelId="{807CAA08-C688-4F25-815D-61DA3BFEAAE0}" type="presOf" srcId="{149B67AD-D0A9-4A11-B0C0-8E2207F9AAA1}" destId="{80A163D4-E867-4FCA-9542-B327E99DD22D}" srcOrd="0" destOrd="1" presId="urn:microsoft.com/office/officeart/2005/8/layout/list1"/>
    <dgm:cxn modelId="{1AB26C14-82B9-46F3-A53F-1D27B25F897A}" srcId="{79CE4E9E-7F64-4916-91E1-0341E8B8D9CA}" destId="{727D06BC-1ED9-49D2-9DBD-28D6D7650A22}" srcOrd="0" destOrd="0" parTransId="{9FB5C8F9-55B3-48C2-B538-10398EA69CA1}" sibTransId="{1DB84456-FA07-4642-A49F-E00688342272}"/>
    <dgm:cxn modelId="{8F346B21-7E52-4CC5-A428-24D3569FB82A}" type="presOf" srcId="{D8D10C18-4CFE-4AF2-9A54-AA420E07425B}" destId="{80A163D4-E867-4FCA-9542-B327E99DD22D}" srcOrd="0" destOrd="0" presId="urn:microsoft.com/office/officeart/2005/8/layout/list1"/>
    <dgm:cxn modelId="{77D34128-1B29-4100-91BD-CFEFABEEA5A9}" srcId="{B8CCE717-DF25-4EDB-96C2-1CAACCCACDBA}" destId="{C89C178F-6D36-4906-A8D9-D03106B609E7}" srcOrd="0" destOrd="0" parTransId="{0058DA81-B519-46A4-94AD-FD67E47751CB}" sibTransId="{FEE68A01-0B4B-4976-BA87-0E93A7ECFAA8}"/>
    <dgm:cxn modelId="{D18B5531-80A5-457E-971B-3DAC3D557B15}" srcId="{727D06BC-1ED9-49D2-9DBD-28D6D7650A22}" destId="{509D7C96-1E6F-4027-B9C8-0670DDA3B7E8}" srcOrd="0" destOrd="0" parTransId="{312D146A-E96F-4EBA-B464-ECF2C2BD17AB}" sibTransId="{76AF2BE7-C814-4BF4-954D-7D9E258AE612}"/>
    <dgm:cxn modelId="{41928235-07B0-4EA9-A9C4-1F1D1A5F2898}" type="presOf" srcId="{B048064F-F172-4DAA-9567-65E24831F1EE}" destId="{37607711-9D14-4C82-A783-B1BBAFDB3DF1}" srcOrd="0" destOrd="1" presId="urn:microsoft.com/office/officeart/2005/8/layout/list1"/>
    <dgm:cxn modelId="{006A6F5E-C4D0-42F0-A24E-81A066F49FFE}" srcId="{9F93BED8-34A6-414E-BA79-6C044119E078}" destId="{149B67AD-D0A9-4A11-B0C0-8E2207F9AAA1}" srcOrd="1" destOrd="0" parTransId="{CF353B5D-2662-472C-BE4D-5CCB8E84AC03}" sibTransId="{724DADAA-AD14-4392-9735-DB7C92F52EFC}"/>
    <dgm:cxn modelId="{809E8065-90EB-45C6-B12C-C000ACB4417C}" srcId="{79CE4E9E-7F64-4916-91E1-0341E8B8D9CA}" destId="{B8CCE717-DF25-4EDB-96C2-1CAACCCACDBA}" srcOrd="2" destOrd="0" parTransId="{1DB50D0F-DC14-4A4F-861F-D70A8A3A0538}" sibTransId="{9CF945CE-34D5-475C-AFBA-CFD5D69A26E0}"/>
    <dgm:cxn modelId="{60E2D569-10D6-4AD3-B60F-77FE640EFAE1}" type="presOf" srcId="{509D7C96-1E6F-4027-B9C8-0670DDA3B7E8}" destId="{49FCC8A4-4489-4411-B99D-5CFD67862755}" srcOrd="0" destOrd="0" presId="urn:microsoft.com/office/officeart/2005/8/layout/list1"/>
    <dgm:cxn modelId="{57E6B76E-BEDB-4BFD-BB0D-A792498F1B3C}" srcId="{C89C178F-6D36-4906-A8D9-D03106B609E7}" destId="{B048064F-F172-4DAA-9567-65E24831F1EE}" srcOrd="0" destOrd="0" parTransId="{9C2C3727-E45D-429E-9CF8-9838A932B05E}" sibTransId="{26F8EA6B-AD00-4CA7-98EC-DBC861DBC4E7}"/>
    <dgm:cxn modelId="{61CCB84F-20EE-4CAE-B305-E51B8CC8C073}" srcId="{79CE4E9E-7F64-4916-91E1-0341E8B8D9CA}" destId="{9F93BED8-34A6-414E-BA79-6C044119E078}" srcOrd="1" destOrd="0" parTransId="{700094BB-96E5-4881-9926-8F5DBA644600}" sibTransId="{640C4607-D8FC-46E9-B4C1-2153A50FB54E}"/>
    <dgm:cxn modelId="{DFE8CF83-EE89-4983-BCE3-9CC404D12035}" type="presOf" srcId="{9F93BED8-34A6-414E-BA79-6C044119E078}" destId="{8FD9A51F-6AE0-4FF7-BE5E-AF2CC790E5DD}" srcOrd="0" destOrd="0" presId="urn:microsoft.com/office/officeart/2005/8/layout/list1"/>
    <dgm:cxn modelId="{573ABFBC-547E-4A98-85B1-3F3F9FBA2459}" type="presOf" srcId="{9F93BED8-34A6-414E-BA79-6C044119E078}" destId="{A87CFC03-5E3D-40C1-A9CE-5961633E8B42}" srcOrd="1" destOrd="0" presId="urn:microsoft.com/office/officeart/2005/8/layout/list1"/>
    <dgm:cxn modelId="{590602BE-8523-4D07-AE30-F7A8C1106D80}" type="presOf" srcId="{B8CCE717-DF25-4EDB-96C2-1CAACCCACDBA}" destId="{B363EEEE-3262-4D0B-95CE-B25DAC7FE19F}" srcOrd="1" destOrd="0" presId="urn:microsoft.com/office/officeart/2005/8/layout/list1"/>
    <dgm:cxn modelId="{8CE91DC5-3A68-4B6D-87D7-34DB7F28A490}" type="presOf" srcId="{C89C178F-6D36-4906-A8D9-D03106B609E7}" destId="{37607711-9D14-4C82-A783-B1BBAFDB3DF1}" srcOrd="0" destOrd="0" presId="urn:microsoft.com/office/officeart/2005/8/layout/list1"/>
    <dgm:cxn modelId="{7515E0C5-7E67-4CB0-9226-D1195AC79909}" type="presOf" srcId="{EE0D3728-EC9C-4E71-A41A-DEEE447CC2AA}" destId="{49FCC8A4-4489-4411-B99D-5CFD67862755}" srcOrd="0" destOrd="1" presId="urn:microsoft.com/office/officeart/2005/8/layout/list1"/>
    <dgm:cxn modelId="{6E9B60D1-F9F0-41C6-896E-F3AF4334E690}" type="presOf" srcId="{727D06BC-1ED9-49D2-9DBD-28D6D7650A22}" destId="{A32EA469-000E-4E6A-9DE3-9AC561DE8736}" srcOrd="1" destOrd="0" presId="urn:microsoft.com/office/officeart/2005/8/layout/list1"/>
    <dgm:cxn modelId="{3E3404D2-4E25-4741-BCA9-A8EEBCD45B6C}" type="presOf" srcId="{727D06BC-1ED9-49D2-9DBD-28D6D7650A22}" destId="{C0594EFF-0BF2-4D90-90BD-DA6FD40E985C}" srcOrd="0" destOrd="0" presId="urn:microsoft.com/office/officeart/2005/8/layout/list1"/>
    <dgm:cxn modelId="{4A8EDED6-D4E1-4458-B809-B878EBBD3924}" srcId="{727D06BC-1ED9-49D2-9DBD-28D6D7650A22}" destId="{EE0D3728-EC9C-4E71-A41A-DEEE447CC2AA}" srcOrd="1" destOrd="0" parTransId="{CB867294-A15A-4878-AED9-0DF842447EF5}" sibTransId="{7D5CC1B9-BB24-4455-AD44-1558AF1D882D}"/>
    <dgm:cxn modelId="{8E0809DA-EBBC-4E09-828D-BF9D9D1133AA}" type="presOf" srcId="{B8CCE717-DF25-4EDB-96C2-1CAACCCACDBA}" destId="{22B16E58-64CB-4668-9CE4-AF867C468479}" srcOrd="0" destOrd="0" presId="urn:microsoft.com/office/officeart/2005/8/layout/list1"/>
    <dgm:cxn modelId="{36674DF5-DE47-447D-B60D-A5A64F17B161}" srcId="{9F93BED8-34A6-414E-BA79-6C044119E078}" destId="{D8D10C18-4CFE-4AF2-9A54-AA420E07425B}" srcOrd="0" destOrd="0" parTransId="{CE5CF7FD-4C2C-4EA8-AD7B-74539A1C24D6}" sibTransId="{C86600E1-0BE7-46BC-BC30-64DB5F66DEB9}"/>
    <dgm:cxn modelId="{30D523B0-B318-4001-B4A8-8D647E09D216}" type="presParOf" srcId="{65EC7513-474A-4128-A583-AA5FB655BEFE}" destId="{674D7B73-9A1E-4C32-AAA0-79112B601679}" srcOrd="0" destOrd="0" presId="urn:microsoft.com/office/officeart/2005/8/layout/list1"/>
    <dgm:cxn modelId="{B9D9260C-C2BC-49DB-A0FA-B662BCDB8A46}" type="presParOf" srcId="{674D7B73-9A1E-4C32-AAA0-79112B601679}" destId="{C0594EFF-0BF2-4D90-90BD-DA6FD40E985C}" srcOrd="0" destOrd="0" presId="urn:microsoft.com/office/officeart/2005/8/layout/list1"/>
    <dgm:cxn modelId="{66C4DE46-1FB6-4D06-84F9-47780454672B}" type="presParOf" srcId="{674D7B73-9A1E-4C32-AAA0-79112B601679}" destId="{A32EA469-000E-4E6A-9DE3-9AC561DE8736}" srcOrd="1" destOrd="0" presId="urn:microsoft.com/office/officeart/2005/8/layout/list1"/>
    <dgm:cxn modelId="{4AE2CBF3-EB95-430B-99B7-5E1CDE62724A}" type="presParOf" srcId="{65EC7513-474A-4128-A583-AA5FB655BEFE}" destId="{DC25F47F-6848-4A40-8D69-75B549FC1B64}" srcOrd="1" destOrd="0" presId="urn:microsoft.com/office/officeart/2005/8/layout/list1"/>
    <dgm:cxn modelId="{9542325B-9BC2-4962-B30A-773F6013F57F}" type="presParOf" srcId="{65EC7513-474A-4128-A583-AA5FB655BEFE}" destId="{49FCC8A4-4489-4411-B99D-5CFD67862755}" srcOrd="2" destOrd="0" presId="urn:microsoft.com/office/officeart/2005/8/layout/list1"/>
    <dgm:cxn modelId="{84361B34-465B-429C-B0AC-1ECE25C99EAC}" type="presParOf" srcId="{65EC7513-474A-4128-A583-AA5FB655BEFE}" destId="{C0E62EF4-C029-477A-8C4D-A62F762240B3}" srcOrd="3" destOrd="0" presId="urn:microsoft.com/office/officeart/2005/8/layout/list1"/>
    <dgm:cxn modelId="{AC9B174C-5B0C-4A6B-A99D-06D4A6B11E21}" type="presParOf" srcId="{65EC7513-474A-4128-A583-AA5FB655BEFE}" destId="{F5E17A8B-0A6E-4A74-8C03-DF01D6263277}" srcOrd="4" destOrd="0" presId="urn:microsoft.com/office/officeart/2005/8/layout/list1"/>
    <dgm:cxn modelId="{0C29D909-9B02-4C17-AACE-F5AAB64DEDBA}" type="presParOf" srcId="{F5E17A8B-0A6E-4A74-8C03-DF01D6263277}" destId="{8FD9A51F-6AE0-4FF7-BE5E-AF2CC790E5DD}" srcOrd="0" destOrd="0" presId="urn:microsoft.com/office/officeart/2005/8/layout/list1"/>
    <dgm:cxn modelId="{8760E09A-74F4-4345-ACB4-BA54071FA32A}" type="presParOf" srcId="{F5E17A8B-0A6E-4A74-8C03-DF01D6263277}" destId="{A87CFC03-5E3D-40C1-A9CE-5961633E8B42}" srcOrd="1" destOrd="0" presId="urn:microsoft.com/office/officeart/2005/8/layout/list1"/>
    <dgm:cxn modelId="{454DB00C-755E-4F59-BB53-43B51CB029E0}" type="presParOf" srcId="{65EC7513-474A-4128-A583-AA5FB655BEFE}" destId="{BF62F8F1-91B7-471E-8721-1D0E4FD754CF}" srcOrd="5" destOrd="0" presId="urn:microsoft.com/office/officeart/2005/8/layout/list1"/>
    <dgm:cxn modelId="{47BD3A42-C6A7-44A4-B9DA-67212AD16444}" type="presParOf" srcId="{65EC7513-474A-4128-A583-AA5FB655BEFE}" destId="{80A163D4-E867-4FCA-9542-B327E99DD22D}" srcOrd="6" destOrd="0" presId="urn:microsoft.com/office/officeart/2005/8/layout/list1"/>
    <dgm:cxn modelId="{67529845-10E9-4433-B166-DB229D4CBEF1}" type="presParOf" srcId="{65EC7513-474A-4128-A583-AA5FB655BEFE}" destId="{13BCD18F-B143-4644-8683-2A3C8D40D497}" srcOrd="7" destOrd="0" presId="urn:microsoft.com/office/officeart/2005/8/layout/list1"/>
    <dgm:cxn modelId="{54B86123-90EF-4412-8305-27330B023B48}" type="presParOf" srcId="{65EC7513-474A-4128-A583-AA5FB655BEFE}" destId="{3608F83F-9C5F-490B-83FC-4D43CBC5394D}" srcOrd="8" destOrd="0" presId="urn:microsoft.com/office/officeart/2005/8/layout/list1"/>
    <dgm:cxn modelId="{D72A144F-EBD4-47AB-B86C-2A4755B6D3FA}" type="presParOf" srcId="{3608F83F-9C5F-490B-83FC-4D43CBC5394D}" destId="{22B16E58-64CB-4668-9CE4-AF867C468479}" srcOrd="0" destOrd="0" presId="urn:microsoft.com/office/officeart/2005/8/layout/list1"/>
    <dgm:cxn modelId="{BE2D4A19-961B-4C8E-9925-CD549652BF3E}" type="presParOf" srcId="{3608F83F-9C5F-490B-83FC-4D43CBC5394D}" destId="{B363EEEE-3262-4D0B-95CE-B25DAC7FE19F}" srcOrd="1" destOrd="0" presId="urn:microsoft.com/office/officeart/2005/8/layout/list1"/>
    <dgm:cxn modelId="{2ADB05BF-46BD-4352-BB37-0586B8A1FA7B}" type="presParOf" srcId="{65EC7513-474A-4128-A583-AA5FB655BEFE}" destId="{5ECC8281-98B8-4D2F-9ACF-F767653AE464}" srcOrd="9" destOrd="0" presId="urn:microsoft.com/office/officeart/2005/8/layout/list1"/>
    <dgm:cxn modelId="{4349ED94-581C-458E-9597-3D6E470A65B8}" type="presParOf" srcId="{65EC7513-474A-4128-A583-AA5FB655BEFE}" destId="{37607711-9D14-4C82-A783-B1BBAFDB3DF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724E3-ABE1-465F-B6E8-657D5260A1AB}">
      <dsp:nvSpPr>
        <dsp:cNvPr id="0" name=""/>
        <dsp:cNvSpPr/>
      </dsp:nvSpPr>
      <dsp:spPr>
        <a:xfrm>
          <a:off x="0" y="527849"/>
          <a:ext cx="7286948" cy="317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48" tIns="437388" rIns="56554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Compliance with: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Pakistan Environmental Protection Agency (Pak-EPA)</a:t>
          </a:r>
          <a:endParaRPr lang="en-US" sz="210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Drug Regulatory Authority of Pakistan (DRAP)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Environmental Protection Departments (EPDs)</a:t>
          </a:r>
          <a:r>
            <a:rPr lang="en-US" sz="2100" kern="1200"/>
            <a:t> at the provincial level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Required </a:t>
          </a:r>
          <a:r>
            <a:rPr lang="en-US" sz="2100" b="1" kern="1200"/>
            <a:t>inspections, testing, and audits</a:t>
          </a:r>
          <a:r>
            <a:rPr lang="en-US" sz="2100" kern="1200"/>
            <a:t> may cause delays</a:t>
          </a:r>
        </a:p>
      </dsp:txBody>
      <dsp:txXfrm>
        <a:off x="0" y="527849"/>
        <a:ext cx="7286948" cy="3175200"/>
      </dsp:txXfrm>
    </dsp:sp>
    <dsp:sp modelId="{C0A712E9-64BD-4070-BDF4-8CEDA4C40D6F}">
      <dsp:nvSpPr>
        <dsp:cNvPr id="0" name=""/>
        <dsp:cNvSpPr/>
      </dsp:nvSpPr>
      <dsp:spPr>
        <a:xfrm>
          <a:off x="364347" y="217889"/>
          <a:ext cx="5100863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800" tIns="0" rIns="19280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Regulatory Approvals</a:t>
          </a:r>
          <a:endParaRPr lang="en-US" sz="2100" kern="1200"/>
        </a:p>
      </dsp:txBody>
      <dsp:txXfrm>
        <a:off x="394609" y="248151"/>
        <a:ext cx="5040339" cy="559396"/>
      </dsp:txXfrm>
    </dsp:sp>
    <dsp:sp modelId="{961BD39A-9E63-47A3-8826-5A4A23FF4791}">
      <dsp:nvSpPr>
        <dsp:cNvPr id="0" name=""/>
        <dsp:cNvSpPr/>
      </dsp:nvSpPr>
      <dsp:spPr>
        <a:xfrm>
          <a:off x="0" y="4126409"/>
          <a:ext cx="7286948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48" tIns="437388" rIns="56554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Requires </a:t>
          </a:r>
          <a:r>
            <a:rPr lang="en-US" sz="2100" b="1" kern="1200" dirty="0"/>
            <a:t>laboratory and field testing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Certifications needed from: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Pakistan Council of Scientific and Industrial Research (PCSIR)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Pakistan Standards and Quality Control Authority (PSQCA)</a:t>
          </a:r>
          <a:endParaRPr lang="en-US" sz="2100" kern="1200"/>
        </a:p>
      </dsp:txBody>
      <dsp:txXfrm>
        <a:off x="0" y="4126409"/>
        <a:ext cx="7286948" cy="2513700"/>
      </dsp:txXfrm>
    </dsp:sp>
    <dsp:sp modelId="{4E6EDD1A-81A3-42CC-85E2-1FD6731C5C56}">
      <dsp:nvSpPr>
        <dsp:cNvPr id="0" name=""/>
        <dsp:cNvSpPr/>
      </dsp:nvSpPr>
      <dsp:spPr>
        <a:xfrm>
          <a:off x="364347" y="3816449"/>
          <a:ext cx="5100863" cy="6199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800" tIns="0" rIns="19280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Product Effectiveness &amp; Safety Testing</a:t>
          </a:r>
          <a:endParaRPr lang="en-US" sz="2100" kern="1200"/>
        </a:p>
      </dsp:txBody>
      <dsp:txXfrm>
        <a:off x="394609" y="3846711"/>
        <a:ext cx="5040339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CC8A4-4489-4411-B99D-5CFD67862755}">
      <dsp:nvSpPr>
        <dsp:cNvPr id="0" name=""/>
        <dsp:cNvSpPr/>
      </dsp:nvSpPr>
      <dsp:spPr>
        <a:xfrm>
          <a:off x="0" y="440068"/>
          <a:ext cx="7286948" cy="190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48" tIns="458216" rIns="56554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Must build partnerships with </a:t>
          </a:r>
          <a:r>
            <a:rPr lang="en-US" sz="2200" b="1" kern="1200" dirty="0"/>
            <a:t>hospitals and pharma industries</a:t>
          </a:r>
          <a:r>
            <a:rPr lang="en-US" sz="2200" kern="1200" dirty="0"/>
            <a:t> for legal collection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Compliance with </a:t>
          </a:r>
          <a:r>
            <a:rPr lang="en-US" sz="2200" b="1" kern="1200"/>
            <a:t>Hospital Waste Management Rules 2005</a:t>
          </a:r>
          <a:r>
            <a:rPr lang="en-US" sz="2200" kern="1200"/>
            <a:t> is mandatory</a:t>
          </a:r>
        </a:p>
      </dsp:txBody>
      <dsp:txXfrm>
        <a:off x="0" y="440068"/>
        <a:ext cx="7286948" cy="1905750"/>
      </dsp:txXfrm>
    </dsp:sp>
    <dsp:sp modelId="{A32EA469-000E-4E6A-9DE3-9AC561DE8736}">
      <dsp:nvSpPr>
        <dsp:cNvPr id="0" name=""/>
        <dsp:cNvSpPr/>
      </dsp:nvSpPr>
      <dsp:spPr>
        <a:xfrm>
          <a:off x="364347" y="115348"/>
          <a:ext cx="5100863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800" tIns="0" rIns="1928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Supply Chain Challenges</a:t>
          </a:r>
          <a:endParaRPr lang="en-US" sz="2200" kern="1200"/>
        </a:p>
      </dsp:txBody>
      <dsp:txXfrm>
        <a:off x="396050" y="147051"/>
        <a:ext cx="5037457" cy="586034"/>
      </dsp:txXfrm>
    </dsp:sp>
    <dsp:sp modelId="{80A163D4-E867-4FCA-9542-B327E99DD22D}">
      <dsp:nvSpPr>
        <dsp:cNvPr id="0" name=""/>
        <dsp:cNvSpPr/>
      </dsp:nvSpPr>
      <dsp:spPr>
        <a:xfrm>
          <a:off x="0" y="2789338"/>
          <a:ext cx="7286948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48" tIns="458216" rIns="56554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Need </a:t>
          </a:r>
          <a:r>
            <a:rPr lang="en-US" sz="2200" b="1" kern="1200"/>
            <a:t>strong marketing efforts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Must </a:t>
          </a:r>
          <a:r>
            <a:rPr lang="en-US" sz="2200" b="1" kern="1200"/>
            <a:t>educate public and businesses</a:t>
          </a:r>
          <a:r>
            <a:rPr lang="en-US" sz="2200" kern="1200"/>
            <a:t> on environmental and safety benefits</a:t>
          </a:r>
        </a:p>
      </dsp:txBody>
      <dsp:txXfrm>
        <a:off x="0" y="2789338"/>
        <a:ext cx="7286948" cy="1593900"/>
      </dsp:txXfrm>
    </dsp:sp>
    <dsp:sp modelId="{A87CFC03-5E3D-40C1-A9CE-5961633E8B42}">
      <dsp:nvSpPr>
        <dsp:cNvPr id="0" name=""/>
        <dsp:cNvSpPr/>
      </dsp:nvSpPr>
      <dsp:spPr>
        <a:xfrm>
          <a:off x="364347" y="2464618"/>
          <a:ext cx="5100863" cy="6494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800" tIns="0" rIns="1928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Public Perception &amp; Awareness</a:t>
          </a:r>
          <a:endParaRPr lang="en-US" sz="2200" kern="1200"/>
        </a:p>
      </dsp:txBody>
      <dsp:txXfrm>
        <a:off x="396050" y="2496321"/>
        <a:ext cx="5037457" cy="586034"/>
      </dsp:txXfrm>
    </dsp:sp>
    <dsp:sp modelId="{37607711-9D14-4C82-A783-B1BBAFDB3DF1}">
      <dsp:nvSpPr>
        <dsp:cNvPr id="0" name=""/>
        <dsp:cNvSpPr/>
      </dsp:nvSpPr>
      <dsp:spPr>
        <a:xfrm>
          <a:off x="0" y="4826758"/>
          <a:ext cx="7286948" cy="190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5548" tIns="458216" rIns="56554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Protect recycling methods and product designs via: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/>
            <a:t>Intellectual Property Organization of Pakistan (IPO Pakistan)</a:t>
          </a:r>
          <a:endParaRPr lang="en-US" sz="2200" kern="1200"/>
        </a:p>
      </dsp:txBody>
      <dsp:txXfrm>
        <a:off x="0" y="4826758"/>
        <a:ext cx="7286948" cy="1905750"/>
      </dsp:txXfrm>
    </dsp:sp>
    <dsp:sp modelId="{B363EEEE-3262-4D0B-95CE-B25DAC7FE19F}">
      <dsp:nvSpPr>
        <dsp:cNvPr id="0" name=""/>
        <dsp:cNvSpPr/>
      </dsp:nvSpPr>
      <dsp:spPr>
        <a:xfrm>
          <a:off x="364347" y="4502038"/>
          <a:ext cx="5100863" cy="6494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800" tIns="0" rIns="1928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Intellectual Property Protection</a:t>
          </a:r>
          <a:endParaRPr lang="en-US" sz="2200" kern="1200"/>
        </a:p>
      </dsp:txBody>
      <dsp:txXfrm>
        <a:off x="396050" y="4533741"/>
        <a:ext cx="5037457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2E4CB-137C-46D4-8E80-B357771ABE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CC05C-4052-4B32-AB41-547C8A210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9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https://www.yemenmonitor.com/en/Details/ArtMID/908/ArticleID/125327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CC05C-4052-4B32-AB41-547C8A210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9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CC05C-4052-4B32-AB41-547C8A210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24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DC0B-F822-1087-7D62-D37FA93F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DCABD-DB2A-07B2-0734-7D36569FC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288AB-6D8A-B853-F1C1-DBA1B5778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C4910-3C62-E1EE-38D2-EFEEC06E5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CC05C-4052-4B32-AB41-547C8A210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6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152C2-CECD-872D-CC28-3B99266D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FA1BB-A355-8529-5AA8-B2CCBB433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032B4-8A5C-20D1-F828-96A272EA5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2CCEE-8837-52B8-1115-8BBA33871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CC05C-4052-4B32-AB41-547C8A210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37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CC05C-4052-4B32-AB41-547C8A2106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29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F566-DD7F-36D3-B63A-9B31E3C8A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CD4C6-1953-2C96-268D-557995D75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1496E-69C0-A15D-B3E1-398A8A8D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AF1D6-17B0-68AC-4F2A-97F1680E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5F51B-32F4-160A-E0F5-A4F69CB8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8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2512-C095-EF52-D56A-1750C520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4A7A-E5C1-ED0D-FE18-B2B74821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EC835-63BA-B7C5-323E-7DEC2D9A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81D02-785B-3BC8-B244-C4195B3A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FD66C-92C0-17FD-898D-4AA553D0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8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388E-3767-64BD-F52A-3E3D8183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310D9-3CB7-8D5B-D21D-DCF45B137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97D75-E430-6BF2-7834-6FB5CD983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F947-10D5-64D1-3CFB-FBCFE4B1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8C3C1-1CD3-FF8D-8EBD-68A68EC5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8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9BD5-C4CC-08B1-AFD1-0A96AEC8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BB5FE-DC37-3CD3-4088-465DD6B35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F9325-4024-FB43-9D82-7D329AA91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5FA9A-8354-9537-019B-30EA5A4E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52B11-5490-4B52-C0CC-0728EB76D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57F7A-14F5-1E6E-14C3-BDAAB97D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1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A16E-BC38-3BBF-0810-19B685A2D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53E2B-3C71-2330-29FA-F2F820F2B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C7DF-4F97-4875-485B-7CD9AB354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48CF8-4971-CCA8-D983-29E6D0FD9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3F09F-F9ED-77CD-4951-F1AADB710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BFDC2-F75C-50BE-F168-41ECEF11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B437D-B2A6-E9F1-D9D5-45B2346A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053A9-F66D-38B9-5832-F9118775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0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B55D-D104-0DB6-3024-4CAC9D41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1CEF6D-C4DC-46D4-0A05-2585BB64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E2136-5052-DC75-CAED-41B6B9D0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4E47E-C858-8FA3-41CB-89551BFA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7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5B11C-6C8C-D84A-B711-C338A045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830E56-C05F-4619-A208-6A29762B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99A3F-01F2-C0D8-EF5E-0A5462DA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3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CC27-A7BD-3647-F3A7-991094BA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B60B0-76C1-55B6-F9CF-B3C34C13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6BF0F-6696-14CC-3EB2-A7771F032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4172-6CC6-2FEF-64D7-5430C57C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97CEF-02DA-F5F4-F96E-C24A3CA9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FFBEC-3664-71CD-0DCF-2E828869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C48E-F238-F293-8F5F-F06BCC867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F8B0F-2DBA-67B5-DE66-799873BDB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C03A1-7EF9-A113-D40D-BFB48D220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D234F-3AD4-16E2-A19F-1300DE4A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7D413-1D42-7633-72B3-2E71129E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28593-86B7-BA1A-5232-DAAA361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4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4928-2F38-501F-2892-15BDD674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20B5B-B53C-D4D7-4DA8-103F5B0C2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9B32A-5CA8-6503-F3A4-45376BF5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75B98-8E6F-ED99-33D0-C19C08D1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659CF-6B79-95C8-6F99-59A391EE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75F6E-27C7-C8BF-1183-B11B09CC7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EBD9E-DA7F-1055-26CE-BE0FA86E5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E0FC1-C3E8-6E14-BEB9-170640A7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E517-CAB6-4B8A-759B-0AB0CA9F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4CFD-A267-1F6E-7AE3-50A180E1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89D650-7344-A4C9-C63C-402173F42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5A49B-F85E-386B-A9E0-C6A38F44D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6AD0-571B-A3D4-3EE2-894A91110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8BFD3-A06B-4DFC-826A-A6345802BC5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352E9-B575-493F-9ECD-267ED94F8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91CF-C23E-4AAA-C188-F89910FC7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D5DD9-B537-4F3B-B840-D67F2A00D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6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bottles with green leaves&#10;&#10;AI-generated content may be incorrect.">
            <a:extLst>
              <a:ext uri="{FF2B5EF4-FFF2-40B4-BE49-F238E27FC236}">
                <a16:creationId xmlns:a16="http://schemas.microsoft.com/office/drawing/2014/main" id="{899C7ACD-E63F-C5C5-F8F8-C28915BC0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343" y="0"/>
            <a:ext cx="5301343" cy="6858000"/>
          </a:xfrm>
          <a:prstGeom prst="rect">
            <a:avLst/>
          </a:prstGeom>
          <a:solidFill>
            <a:srgbClr val="EBE0B4"/>
          </a:solidFill>
        </p:spPr>
      </p:pic>
    </p:spTree>
    <p:extLst>
      <p:ext uri="{BB962C8B-B14F-4D97-AF65-F5344CB8AC3E}">
        <p14:creationId xmlns:p14="http://schemas.microsoft.com/office/powerpoint/2010/main" val="169659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83B23-232C-AC06-857A-2BCFBAC58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7EEAFF-E944-EBDC-FEC8-6DC47FAB1D0E}"/>
              </a:ext>
            </a:extLst>
          </p:cNvPr>
          <p:cNvSpPr txBox="1"/>
          <p:nvPr/>
        </p:nvSpPr>
        <p:spPr>
          <a:xfrm>
            <a:off x="1834240" y="2449892"/>
            <a:ext cx="8523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MEDRECYCLE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B48FA-72AC-DABD-DC17-C76F8A2F9FBD}"/>
              </a:ext>
            </a:extLst>
          </p:cNvPr>
          <p:cNvSpPr txBox="1"/>
          <p:nvPr/>
        </p:nvSpPr>
        <p:spPr>
          <a:xfrm>
            <a:off x="2574470" y="4216999"/>
            <a:ext cx="704305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Hassan Khalid (21L-5692)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Hamza (21L-5636) </a:t>
            </a:r>
          </a:p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Nimra Amer (21L-5609)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Ahmad (21L-5617) </a:t>
            </a:r>
          </a:p>
        </p:txBody>
      </p:sp>
      <p:pic>
        <p:nvPicPr>
          <p:cNvPr id="10" name="Picture 9" descr="A green recycle logo with a bottle and a recycle symbol&#10;&#10;AI-generated content may be incorrect.">
            <a:extLst>
              <a:ext uri="{FF2B5EF4-FFF2-40B4-BE49-F238E27FC236}">
                <a16:creationId xmlns:a16="http://schemas.microsoft.com/office/drawing/2014/main" id="{F5E71414-1401-7709-1636-D4E2782D4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775" y="0"/>
            <a:ext cx="2838449" cy="283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98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EE13-3E19-F1DC-4954-9B3C1CB4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11F6-D31B-5284-BA70-9125309E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2BD55-2A79-A086-FB3B-7D14BB65E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464"/>
            <a:ext cx="12192000" cy="675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5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27CF5-1A7E-4DBE-7F68-C8451150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02" y="473982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&amp;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2935-454F-8E8B-99FB-BA6396477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01" y="2442154"/>
            <a:ext cx="5780314" cy="384366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Hazard: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Millions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expired medicines enter landfills or waterways each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Burden: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Hospitals and pharma industries face costly disposal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Demand: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Growing consumer and institutional appetite for sustainable solutions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Medications Discarded in Landfills May Be Contaminating Maine's Water -  Circle of Blue">
            <a:extLst>
              <a:ext uri="{FF2B5EF4-FFF2-40B4-BE49-F238E27FC236}">
                <a16:creationId xmlns:a16="http://schemas.microsoft.com/office/drawing/2014/main" id="{B19D60BE-5243-8365-1BCD-A20B0A62A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4" r="15609" b="-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87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915DD-C3B3-C045-9E33-6AFBB661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6C39-B8F2-78AE-A80F-14E614CD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-168274"/>
            <a:ext cx="3407228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pic>
        <p:nvPicPr>
          <p:cNvPr id="6" name="Picture 5" descr="A poster with green icons&#10;&#10;AI-generated content may be incorrect.">
            <a:extLst>
              <a:ext uri="{FF2B5EF4-FFF2-40B4-BE49-F238E27FC236}">
                <a16:creationId xmlns:a16="http://schemas.microsoft.com/office/drawing/2014/main" id="{2C6CCDF3-2CCB-8FCE-BD30-2F8768A72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714" y="925285"/>
            <a:ext cx="5562600" cy="62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9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E8B33-337D-EF93-E752-869BC416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5" name="Rectangle 12304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 descr="40,137 Vision Mission Stock Photos - Free &amp; Royalty-Free Stock Photos from  Dreamstime">
            <a:extLst>
              <a:ext uri="{FF2B5EF4-FFF2-40B4-BE49-F238E27FC236}">
                <a16:creationId xmlns:a16="http://schemas.microsoft.com/office/drawing/2014/main" id="{2BE4BA06-025C-CCA8-0DCB-3DBCCEB2B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7" r="-1" b="-1"/>
          <a:stretch/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2307" name="Freeform: Shape 12306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309" name="Freeform: Shape 12308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A0C25-CB2A-42AD-DB1C-9418563B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98" y="92975"/>
            <a:ext cx="3438144" cy="59410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</a:p>
        </p:txBody>
      </p:sp>
      <p:sp>
        <p:nvSpPr>
          <p:cNvPr id="12311" name="Rectangle 1231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13" name="Rectangle 1231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3406B-9497-BB3D-E130-29025EB42E99}"/>
              </a:ext>
            </a:extLst>
          </p:cNvPr>
          <p:cNvSpPr txBox="1"/>
          <p:nvPr/>
        </p:nvSpPr>
        <p:spPr>
          <a:xfrm>
            <a:off x="116398" y="1580160"/>
            <a:ext cx="391140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Statement 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expired medications into beneficial and environmentally friendly items, assist in minimizing pollution , and contribute to a cleaner, healthier world 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Statement 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become the foremost company in safe medicine recycling while developing products that safeguard the environment and enhance life for all . 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9043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309BD-E646-E7DC-6CCB-0FBA1744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B7DA4-3A21-4546-A722-8A54D15E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4" y="398203"/>
            <a:ext cx="7892827" cy="830782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Service Highlights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ECF976-8E63-4621-F6AE-DACECD9E19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3914" y="1502229"/>
            <a:ext cx="5301600" cy="5170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Eco-Fertilizers: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Faster plant growth, soil health restoration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Skincare Range: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Gentle, nourishing, dermatologically tested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Solutions: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Non-toxic, biodegradable, effective against pathogens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Supporting Services: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collection contracts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QA/QC and regulatory compliance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R&amp;D for new formulations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8" name="Picture 6" descr="Skin Care Products Pictures | Download Free Images on Unsplash">
            <a:extLst>
              <a:ext uri="{FF2B5EF4-FFF2-40B4-BE49-F238E27FC236}">
                <a16:creationId xmlns:a16="http://schemas.microsoft.com/office/drawing/2014/main" id="{2EF1407F-3891-6ED3-1B9B-9C5579F46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61" r="-1" b="11173"/>
          <a:stretch/>
        </p:blipFill>
        <p:spPr bwMode="auto"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318,600+ Cleaning Products Stock Photos, Pictures &amp; Royalty-Free Images -  iStock | Cleaning, Cleaning supplies icon, Cleaning products isolated">
            <a:extLst>
              <a:ext uri="{FF2B5EF4-FFF2-40B4-BE49-F238E27FC236}">
                <a16:creationId xmlns:a16="http://schemas.microsoft.com/office/drawing/2014/main" id="{7F491D42-5D45-4EA0-1906-4EE8E7615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1" r="7194"/>
          <a:stretch/>
        </p:blipFill>
        <p:spPr bwMode="auto"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rganic Fertilizers Stock Illustrations – 1,660 Organic Fertilizers Stock  Illustrations, Vectors &amp; Clipart - Dreamstime">
            <a:extLst>
              <a:ext uri="{FF2B5EF4-FFF2-40B4-BE49-F238E27FC236}">
                <a16:creationId xmlns:a16="http://schemas.microsoft.com/office/drawing/2014/main" id="{A4554202-8924-B2EB-C9CA-4DF68DC9B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9" r="6957" b="1"/>
          <a:stretch/>
        </p:blipFill>
        <p:spPr bwMode="auto"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21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D354C-7916-05CD-257F-5E80BC81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5877-214C-5971-0706-32A995BD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30" y="330740"/>
            <a:ext cx="8033856" cy="162452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of Differentiation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B187F-8B43-FE21-4638-81071726C621}"/>
              </a:ext>
            </a:extLst>
          </p:cNvPr>
          <p:cNvSpPr txBox="1"/>
          <p:nvPr/>
        </p:nvSpPr>
        <p:spPr>
          <a:xfrm>
            <a:off x="0" y="2286000"/>
            <a:ext cx="9056914" cy="4241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organic compounds from medicine waste.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products, all made from pharmaceutical resources.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reduced production costs by sourcing raw materials from expired medicines, allowing for competitive pricing and better profit margins.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in pollution reduction and encouraging environmental sustainability, establishing emotional connection with environmentally conscious consumers.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F605AA-B689-7C7A-921B-21314F4A7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5" r="2721"/>
          <a:stretch/>
        </p:blipFill>
        <p:spPr>
          <a:xfrm>
            <a:off x="8638716" y="1308370"/>
            <a:ext cx="3553283" cy="399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7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FC56-C51E-8F49-0C5D-17E7074B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company's company&#10;&#10;AI-generated content may be incorrect.">
            <a:extLst>
              <a:ext uri="{FF2B5EF4-FFF2-40B4-BE49-F238E27FC236}">
                <a16:creationId xmlns:a16="http://schemas.microsoft.com/office/drawing/2014/main" id="{AD561BA9-F03F-EE4D-5D69-4F64228FC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4048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77B96-41DF-F1A2-F43D-3CDAC8E3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58494-47DE-4893-87C7-A011CBFF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821936"/>
            <a:ext cx="6272784" cy="708442"/>
          </a:xfrm>
        </p:spPr>
        <p:txBody>
          <a:bodyPr anchor="b">
            <a:normAutofit fontScale="90000"/>
          </a:bodyPr>
          <a:lstStyle/>
          <a:p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5+ Thousand B2b B2c Royalty-Free Images, Stock Photos &amp; Pictures |  Shutterstock">
            <a:extLst>
              <a:ext uri="{FF2B5EF4-FFF2-40B4-BE49-F238E27FC236}">
                <a16:creationId xmlns:a16="http://schemas.microsoft.com/office/drawing/2014/main" id="{2056E044-1747-AAA0-5161-F2A21C4840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2" b="8892"/>
          <a:stretch/>
        </p:blipFill>
        <p:spPr bwMode="auto">
          <a:xfrm>
            <a:off x="7684008" y="1"/>
            <a:ext cx="4507992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1" name="Rectangle 4110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C60F4-0550-BE1C-7BC2-52D8B34F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06" y="1849986"/>
            <a:ext cx="6978396" cy="50818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Segments: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B2B: Hospitals, pharma industries, agricultural wholesalers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B2C: Eco-conscious consumers, home gardeners, beauty buyers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Size &amp; Growth: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green-products market growing 10–12% p.a.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moving toward stricter pharma-waste rules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Edge: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extraction 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First-mover in Pakistan combining waste-management fees with product sales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2" name="Picture 6" descr="First Mover Advantage - Benefits and Drawbacks of Being First">
            <a:extLst>
              <a:ext uri="{FF2B5EF4-FFF2-40B4-BE49-F238E27FC236}">
                <a16:creationId xmlns:a16="http://schemas.microsoft.com/office/drawing/2014/main" id="{311B9A48-CC17-0187-A725-22F532778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2"/>
          <a:stretch/>
        </p:blipFill>
        <p:spPr bwMode="auto">
          <a:xfrm>
            <a:off x="7684008" y="2308860"/>
            <a:ext cx="4507992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435,000+ Green Market Stock Photos, Pictures &amp; Royalty-Free Images - iStock  | Green market square">
            <a:extLst>
              <a:ext uri="{FF2B5EF4-FFF2-40B4-BE49-F238E27FC236}">
                <a16:creationId xmlns:a16="http://schemas.microsoft.com/office/drawing/2014/main" id="{C21DE3AF-7751-CAC1-3DE2-077B774E3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03" b="15146"/>
          <a:stretch/>
        </p:blipFill>
        <p:spPr bwMode="auto">
          <a:xfrm>
            <a:off x="7684008" y="4617720"/>
            <a:ext cx="4507992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80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46A68-7C89-D5DE-C9F4-16E70F9F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6B7C79-2E1D-8196-B00E-623FEA535002}"/>
              </a:ext>
            </a:extLst>
          </p:cNvPr>
          <p:cNvSpPr txBox="1"/>
          <p:nvPr/>
        </p:nvSpPr>
        <p:spPr>
          <a:xfrm>
            <a:off x="4348840" y="144482"/>
            <a:ext cx="93345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Analysis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C25F181-F767-6AB5-ED00-F498E87C7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405" y="716120"/>
            <a:ext cx="79626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MedRecycle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operates 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regulated and emerging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industry.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potential due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 needs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01913-3520-F445-0FC8-56F39B007154}"/>
              </a:ext>
            </a:extLst>
          </p:cNvPr>
          <p:cNvSpPr txBox="1"/>
          <p:nvPr/>
        </p:nvSpPr>
        <p:spPr>
          <a:xfrm>
            <a:off x="250371" y="1643409"/>
            <a:ext cx="641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Barriers to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29946-7BD2-8ABC-7A69-E555C17B7247}"/>
              </a:ext>
            </a:extLst>
          </p:cNvPr>
          <p:cNvSpPr txBox="1"/>
          <p:nvPr/>
        </p:nvSpPr>
        <p:spPr>
          <a:xfrm>
            <a:off x="250371" y="2330530"/>
            <a:ext cx="64171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startup capital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technology and expertise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MedRecycle’s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partnerships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innovation and skilled staff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6832D-EDCA-BB44-010D-E4C8135F7383}"/>
              </a:ext>
            </a:extLst>
          </p:cNvPr>
          <p:cNvSpPr txBox="1"/>
          <p:nvPr/>
        </p:nvSpPr>
        <p:spPr>
          <a:xfrm>
            <a:off x="5807527" y="1643408"/>
            <a:ext cx="641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&amp; Consumer Power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F81741-EA32-742A-74C2-AE61F64725D7}"/>
              </a:ext>
            </a:extLst>
          </p:cNvPr>
          <p:cNvSpPr txBox="1"/>
          <p:nvPr/>
        </p:nvSpPr>
        <p:spPr>
          <a:xfrm>
            <a:off x="5807527" y="2316256"/>
            <a:ext cx="64171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Challenge: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sources of pharma waste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contracts with pharma industries and hospitals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agreements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Challenge: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quality, price, and green value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eco-products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loyalty strategy</a:t>
            </a:r>
          </a:p>
        </p:txBody>
      </p:sp>
    </p:spTree>
    <p:extLst>
      <p:ext uri="{BB962C8B-B14F-4D97-AF65-F5344CB8AC3E}">
        <p14:creationId xmlns:p14="http://schemas.microsoft.com/office/powerpoint/2010/main" val="2391005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85CA1-0FD6-930A-322D-0CC5F9D8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C60F89-643A-ADA4-70F6-E091934B230F}"/>
              </a:ext>
            </a:extLst>
          </p:cNvPr>
          <p:cNvSpPr txBox="1"/>
          <p:nvPr/>
        </p:nvSpPr>
        <p:spPr>
          <a:xfrm>
            <a:off x="4348840" y="144482"/>
            <a:ext cx="93345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Analysis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8315AF-0C5E-6566-8133-6E9C42709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405" y="716120"/>
            <a:ext cx="79626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MedRecycle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operates 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regulated and emerging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industry.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potential due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 needs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A2970-0BA5-D90A-444D-088B686C72ED}"/>
              </a:ext>
            </a:extLst>
          </p:cNvPr>
          <p:cNvSpPr txBox="1"/>
          <p:nvPr/>
        </p:nvSpPr>
        <p:spPr>
          <a:xfrm>
            <a:off x="250371" y="1660476"/>
            <a:ext cx="641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Substitutes &amp; Competitors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349BF-E6E7-6E67-9645-1BF4D8DCE831}"/>
              </a:ext>
            </a:extLst>
          </p:cNvPr>
          <p:cNvSpPr txBox="1"/>
          <p:nvPr/>
        </p:nvSpPr>
        <p:spPr>
          <a:xfrm>
            <a:off x="250371" y="2394341"/>
            <a:ext cx="641712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 Threats: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Incineration, landfill, plant-based alternatives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recycling tech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green product line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Rivalry: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competition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differentiation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alliances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EC6F0B-ABB4-4B2E-A15D-676B5FB60DE0}"/>
              </a:ext>
            </a:extLst>
          </p:cNvPr>
          <p:cNvSpPr txBox="1"/>
          <p:nvPr/>
        </p:nvSpPr>
        <p:spPr>
          <a:xfrm>
            <a:off x="6096000" y="1660476"/>
            <a:ext cx="641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Competitive Edge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C32BB4-D2CF-F81F-5D68-00B150EBDAFF}"/>
              </a:ext>
            </a:extLst>
          </p:cNvPr>
          <p:cNvSpPr txBox="1"/>
          <p:nvPr/>
        </p:nvSpPr>
        <p:spPr>
          <a:xfrm>
            <a:off x="6096000" y="2355225"/>
            <a:ext cx="64171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Challenges: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licensing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investment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gap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experts and grants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investors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campaigns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First-mover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method to produce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partnerships</a:t>
            </a:r>
          </a:p>
        </p:txBody>
      </p:sp>
    </p:spTree>
    <p:extLst>
      <p:ext uri="{BB962C8B-B14F-4D97-AF65-F5344CB8AC3E}">
        <p14:creationId xmlns:p14="http://schemas.microsoft.com/office/powerpoint/2010/main" val="163941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BD8A8-A02A-51E4-3862-B71AC44E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BC9B5-9C2B-99BE-D40A-AD485E6F5696}"/>
              </a:ext>
            </a:extLst>
          </p:cNvPr>
          <p:cNvSpPr txBox="1"/>
          <p:nvPr/>
        </p:nvSpPr>
        <p:spPr>
          <a:xfrm>
            <a:off x="6096000" y="566058"/>
            <a:ext cx="5291663" cy="5844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Competitor Analysis</a:t>
            </a:r>
          </a:p>
        </p:txBody>
      </p:sp>
      <p:pic>
        <p:nvPicPr>
          <p:cNvPr id="9" name="Picture 8" descr="A group of people pointing at a white board">
            <a:extLst>
              <a:ext uri="{FF2B5EF4-FFF2-40B4-BE49-F238E27FC236}">
                <a16:creationId xmlns:a16="http://schemas.microsoft.com/office/drawing/2014/main" id="{9C2D2F7A-92CA-C385-8C1D-C81159058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7" r="25895" b="1"/>
          <a:stretch/>
        </p:blipFill>
        <p:spPr>
          <a:xfrm>
            <a:off x="511632" y="707572"/>
            <a:ext cx="4245426" cy="4822372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CFA3E3-59CA-D0B8-E7B4-4CE51550AC49}"/>
              </a:ext>
            </a:extLst>
          </p:cNvPr>
          <p:cNvSpPr txBox="1"/>
          <p:nvPr/>
        </p:nvSpPr>
        <p:spPr>
          <a:xfrm>
            <a:off x="5122331" y="1502228"/>
            <a:ext cx="6851955" cy="50945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Competitors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producing similar end-products: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Engro Fertilizers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chemical fertilizers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Marhaba Laboratories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herbal cosmetics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 Organics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organic cleaning and personal care products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Competitors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offering waste disposal without recycling: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 Chem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pharma waste destruction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WMS Pakistan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traditional waste disposal services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00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EA707-06CB-8A8D-EA3F-27F73454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business model&#10;&#10;AI-generated content may be incorrect.">
            <a:extLst>
              <a:ext uri="{FF2B5EF4-FFF2-40B4-BE49-F238E27FC236}">
                <a16:creationId xmlns:a16="http://schemas.microsoft.com/office/drawing/2014/main" id="{70461FE4-106C-8D0F-343B-EF5B1C01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2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70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B8840-B190-1CFB-BE13-697E6C7C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holding a pill next to a trash can&#10;&#10;AI-generated content may be incorrect.">
            <a:extLst>
              <a:ext uri="{FF2B5EF4-FFF2-40B4-BE49-F238E27FC236}">
                <a16:creationId xmlns:a16="http://schemas.microsoft.com/office/drawing/2014/main" id="{039A2A39-6B0E-1BC0-63D1-B93A05E8A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" b="593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96F78-FC17-6346-4111-DA07ED75F87C}"/>
              </a:ext>
            </a:extLst>
          </p:cNvPr>
          <p:cNvSpPr txBox="1"/>
          <p:nvPr/>
        </p:nvSpPr>
        <p:spPr>
          <a:xfrm>
            <a:off x="8228296" y="259438"/>
            <a:ext cx="3822189" cy="843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Marketing 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3D040-0EED-8A28-5AD7-558FC080AAEB}"/>
              </a:ext>
            </a:extLst>
          </p:cNvPr>
          <p:cNvSpPr txBox="1"/>
          <p:nvPr/>
        </p:nvSpPr>
        <p:spPr>
          <a:xfrm>
            <a:off x="8228296" y="1285864"/>
            <a:ext cx="3960655" cy="54632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Skincare, fertilizers, household cleaning products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Organic, safe, tested for effectiveness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High-performance from natural ingredients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Biodegradable, minimal plastic, recyclable packaging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After-Sales: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support, refill programs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Focus: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Sustainability, innovation, eco-consciousness</a:t>
            </a:r>
          </a:p>
        </p:txBody>
      </p:sp>
    </p:spTree>
    <p:extLst>
      <p:ext uri="{BB962C8B-B14F-4D97-AF65-F5344CB8AC3E}">
        <p14:creationId xmlns:p14="http://schemas.microsoft.com/office/powerpoint/2010/main" val="2130719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5E8EE-8A96-2B0B-B03D-09ECBDDF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880A2B0-25BE-07ED-F54C-C903BADC3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holding a pill next to a trash can&#10;&#10;AI-generated content may be incorrect.">
            <a:extLst>
              <a:ext uri="{FF2B5EF4-FFF2-40B4-BE49-F238E27FC236}">
                <a16:creationId xmlns:a16="http://schemas.microsoft.com/office/drawing/2014/main" id="{2C801CCB-861F-21B1-B582-6C1E1B2C1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" b="593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A5F5D47-D9A9-1371-0D4E-867EF383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A856D-84AF-0221-3F8C-72F4E56BD606}"/>
              </a:ext>
            </a:extLst>
          </p:cNvPr>
          <p:cNvSpPr txBox="1"/>
          <p:nvPr/>
        </p:nvSpPr>
        <p:spPr>
          <a:xfrm>
            <a:off x="8228296" y="259438"/>
            <a:ext cx="3822189" cy="843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Marketing 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89BD7-BB74-021E-6796-FEC5E99D82BB}"/>
              </a:ext>
            </a:extLst>
          </p:cNvPr>
          <p:cNvSpPr txBox="1"/>
          <p:nvPr/>
        </p:nvSpPr>
        <p:spPr>
          <a:xfrm>
            <a:off x="8228296" y="1285864"/>
            <a:ext cx="3960655" cy="546327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  <a:p>
            <a:pPr algn="ctr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Penetration pricing (initially low to gain traction)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pricing (based on consumer-perceived eco-value)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(Earth Day, Awareness Months)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orders for hospitals/pharmacies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Fertilizers: 30–40%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Skincare/Cleaners: 25–35%</a:t>
            </a:r>
          </a:p>
        </p:txBody>
      </p:sp>
    </p:spTree>
    <p:extLst>
      <p:ext uri="{BB962C8B-B14F-4D97-AF65-F5344CB8AC3E}">
        <p14:creationId xmlns:p14="http://schemas.microsoft.com/office/powerpoint/2010/main" val="232136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F4CA1-DC10-5408-636B-DCD3CE51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CCAD278-803A-93FE-54F5-FDA9D415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holding a pill next to a trash can&#10;&#10;AI-generated content may be incorrect.">
            <a:extLst>
              <a:ext uri="{FF2B5EF4-FFF2-40B4-BE49-F238E27FC236}">
                <a16:creationId xmlns:a16="http://schemas.microsoft.com/office/drawing/2014/main" id="{13D67EFC-2EC2-E1B1-8599-910E05DCC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" b="593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AEDA67A-9023-3393-07B8-9284EED3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346D0-410E-7612-C6FC-265BEEC654D5}"/>
              </a:ext>
            </a:extLst>
          </p:cNvPr>
          <p:cNvSpPr txBox="1"/>
          <p:nvPr/>
        </p:nvSpPr>
        <p:spPr>
          <a:xfrm>
            <a:off x="8228296" y="259438"/>
            <a:ext cx="3822189" cy="843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Marketing 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EBE7B-1D41-DF4D-6100-4EA6CDF1FF74}"/>
              </a:ext>
            </a:extLst>
          </p:cNvPr>
          <p:cNvSpPr txBox="1"/>
          <p:nvPr/>
        </p:nvSpPr>
        <p:spPr>
          <a:xfrm>
            <a:off x="8228296" y="1285864"/>
            <a:ext cx="3960655" cy="54632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</a:p>
          <a:p>
            <a:pPr algn="ctr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B2B (hospitals, clinics, pharma industries), B2C (consumers)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Channels: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(direct-to-consumer)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partnerships (agricultural, cosmetic and departmental stores)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 services for hospitals/pharma industries</a:t>
            </a:r>
          </a:p>
        </p:txBody>
      </p:sp>
    </p:spTree>
    <p:extLst>
      <p:ext uri="{BB962C8B-B14F-4D97-AF65-F5344CB8AC3E}">
        <p14:creationId xmlns:p14="http://schemas.microsoft.com/office/powerpoint/2010/main" val="2157259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E3092-953C-D9AE-53A7-12F29283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263EACA-A195-9302-C979-F409028E9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holding a pill next to a trash can&#10;&#10;AI-generated content may be incorrect.">
            <a:extLst>
              <a:ext uri="{FF2B5EF4-FFF2-40B4-BE49-F238E27FC236}">
                <a16:creationId xmlns:a16="http://schemas.microsoft.com/office/drawing/2014/main" id="{1E0D6FE7-5ADF-71DD-BCE7-E16F168C3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" b="593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0D41743-64E2-B50B-21CA-62B6A446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5151D-5A3D-45B9-630C-B4331EB8FDB2}"/>
              </a:ext>
            </a:extLst>
          </p:cNvPr>
          <p:cNvSpPr txBox="1"/>
          <p:nvPr/>
        </p:nvSpPr>
        <p:spPr>
          <a:xfrm>
            <a:off x="8228296" y="259438"/>
            <a:ext cx="3822189" cy="843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Marketing 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D23AF-AB5B-7C1C-593C-7F1490E37E82}"/>
              </a:ext>
            </a:extLst>
          </p:cNvPr>
          <p:cNvSpPr txBox="1"/>
          <p:nvPr/>
        </p:nvSpPr>
        <p:spPr>
          <a:xfrm>
            <a:off x="8228296" y="1285864"/>
            <a:ext cx="3960655" cy="54632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</a:t>
            </a:r>
          </a:p>
          <a:p>
            <a:pPr algn="ctr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Targeted social media, educational content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features, partnerships with NGOs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Marketing: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campaigns, cold calls to healthcare institutions</a:t>
            </a:r>
          </a:p>
        </p:txBody>
      </p:sp>
    </p:spTree>
    <p:extLst>
      <p:ext uri="{BB962C8B-B14F-4D97-AF65-F5344CB8AC3E}">
        <p14:creationId xmlns:p14="http://schemas.microsoft.com/office/powerpoint/2010/main" val="1436733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05CAD-DCF2-00DB-6144-AB8B3ABAD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3" name="Rectangle 6162">
            <a:extLst>
              <a:ext uri="{FF2B5EF4-FFF2-40B4-BE49-F238E27FC236}">
                <a16:creationId xmlns:a16="http://schemas.microsoft.com/office/drawing/2014/main" id="{B3684CCF-CEBB-4D8E-A366-95E43D4C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20ACE-1608-5BF4-3225-9C55A8FF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2" y="500061"/>
            <a:ext cx="8033656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Go-to-Market &amp; Marketing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FE80-999E-9565-A02B-6A67E8385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4557" cy="4351338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B2B sales team outreach &amp; trade shows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 for B2C orders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Partnerships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-stores, cosmetic retailers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Promotional Tactics: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campaigns (social media, SEO, email)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“Green Partner” referral incentives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content &amp; webinars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500+ Ecommerce Pictures [HD] | Download Free Images on Unsplash">
            <a:extLst>
              <a:ext uri="{FF2B5EF4-FFF2-40B4-BE49-F238E27FC236}">
                <a16:creationId xmlns:a16="http://schemas.microsoft.com/office/drawing/2014/main" id="{8780FFFC-AE38-2229-A559-B7B4A8DA1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46" b="-3"/>
          <a:stretch/>
        </p:blipFill>
        <p:spPr bwMode="auto">
          <a:xfrm>
            <a:off x="6863996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5" name="Arc 616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8" name="Picture 4" descr="Partnership Photos, Download The BEST Free Partnership Stock Photos &amp; HD  Images">
            <a:extLst>
              <a:ext uri="{FF2B5EF4-FFF2-40B4-BE49-F238E27FC236}">
                <a16:creationId xmlns:a16="http://schemas.microsoft.com/office/drawing/2014/main" id="{BE2A292F-22BF-16BF-5977-A95709D84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" r="21458" b="1"/>
          <a:stretch/>
        </p:blipFill>
        <p:spPr bwMode="auto">
          <a:xfrm>
            <a:off x="63058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tree with green symbols&#10;&#10;AI-generated content may be incorrect.">
            <a:extLst>
              <a:ext uri="{FF2B5EF4-FFF2-40B4-BE49-F238E27FC236}">
                <a16:creationId xmlns:a16="http://schemas.microsoft.com/office/drawing/2014/main" id="{4DE22965-FFC2-CEA3-EC08-B91988C47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3" r="18603" b="4"/>
          <a:stretch/>
        </p:blipFill>
        <p:spPr>
          <a:xfrm>
            <a:off x="9933462" y="3722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0853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3419A-A46D-2023-5BE3-764263C0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B1434-693F-618D-4543-EB1F072CB7CA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Challenges &amp; Risks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57AA0623-D369-C411-EF86-CBB3DB5734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64640"/>
              </p:ext>
            </p:extLst>
          </p:nvPr>
        </p:nvGraphicFramePr>
        <p:xfrm>
          <a:off x="4487451" y="-10138"/>
          <a:ext cx="7286948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5018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2904A-4B68-F7E6-1C73-3DF4CDD2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BC9F4D-65C5-F53C-2946-1206821A7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3C5BBA-7EAB-2EC0-8FDD-52B0E9524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64AB3C-4DB9-451E-0E8E-FB570C46B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37F812-E6FE-E30A-E6D1-D7073EFCD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63C3BB2-6711-75EB-AC11-447547482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DB897C-16BE-CAE9-C484-C8B0E800F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A01A9-DBE2-ABA5-1A12-AAC185D0E8BE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Challenges &amp; Risks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DD95CAAB-12D6-A260-1206-20A27BFC9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4736697"/>
              </p:ext>
            </p:extLst>
          </p:nvPr>
        </p:nvGraphicFramePr>
        <p:xfrm>
          <a:off x="4624302" y="20281"/>
          <a:ext cx="7286948" cy="6847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7679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7AC52-32F9-58D6-B063-C5A693AD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3" name="Rectangle 7182">
            <a:extLst>
              <a:ext uri="{FF2B5EF4-FFF2-40B4-BE49-F238E27FC236}">
                <a16:creationId xmlns:a16="http://schemas.microsoft.com/office/drawing/2014/main" id="{FF93924A-10DF-4647-8C7A-115C01757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A9C10-2081-46A9-5B5A-F6B4FBFD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007" y="0"/>
            <a:ext cx="5836993" cy="1079837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&amp; Infrastructure</a:t>
            </a:r>
          </a:p>
        </p:txBody>
      </p:sp>
      <p:pic>
        <p:nvPicPr>
          <p:cNvPr id="7172" name="Picture 4" descr="Lahore Division - Wikipedia">
            <a:extLst>
              <a:ext uri="{FF2B5EF4-FFF2-40B4-BE49-F238E27FC236}">
                <a16:creationId xmlns:a16="http://schemas.microsoft.com/office/drawing/2014/main" id="{FA92AD47-1ED8-802E-E517-7AB4BF8FB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7" r="1" b="1"/>
          <a:stretch/>
        </p:blipFill>
        <p:spPr bwMode="auto">
          <a:xfrm>
            <a:off x="-1" y="10"/>
            <a:ext cx="3003123" cy="389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461+ Thousand Process Plant Royalty-Free Images, Stock Photos &amp; Pictures |  Shutterstock">
            <a:extLst>
              <a:ext uri="{FF2B5EF4-FFF2-40B4-BE49-F238E27FC236}">
                <a16:creationId xmlns:a16="http://schemas.microsoft.com/office/drawing/2014/main" id="{A4AF47B9-0D91-3F0D-6EC6-6C23626650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2" t="-1" r="17467" b="8182"/>
          <a:stretch/>
        </p:blipFill>
        <p:spPr bwMode="auto">
          <a:xfrm>
            <a:off x="3180257" y="97982"/>
            <a:ext cx="3016307" cy="255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158,400+ Eco Friendly Packaging Stock Photos, Pictures &amp; Royalty-Free  Images - iStock | Eco friendly packaging icons">
            <a:extLst>
              <a:ext uri="{FF2B5EF4-FFF2-40B4-BE49-F238E27FC236}">
                <a16:creationId xmlns:a16="http://schemas.microsoft.com/office/drawing/2014/main" id="{C395BBA1-2E64-62CB-00A5-E4091ECFA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3" r="12482"/>
          <a:stretch/>
        </p:blipFill>
        <p:spPr bwMode="auto">
          <a:xfrm>
            <a:off x="-1" y="4079988"/>
            <a:ext cx="3003123" cy="277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703,900+ R&amp;D Lab Stock Photos, Pictures &amp; Royalty-Free Images - iStock |  Research and development, Laboratory, Scientist">
            <a:extLst>
              <a:ext uri="{FF2B5EF4-FFF2-40B4-BE49-F238E27FC236}">
                <a16:creationId xmlns:a16="http://schemas.microsoft.com/office/drawing/2014/main" id="{5E8BAE6A-EEB0-2C63-177B-ACE389D1A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04" r="29396" b="1"/>
          <a:stretch/>
        </p:blipFill>
        <p:spPr bwMode="auto">
          <a:xfrm>
            <a:off x="3180257" y="2957665"/>
            <a:ext cx="3016307" cy="390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C77BD-3D78-E026-3CB5-4A19E5FC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921" y="1500073"/>
            <a:ext cx="5477164" cy="5159829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Industrial zone, Lahore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&amp; processing plant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In-house R&amp;D lab for testing &amp; new products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Eco-packaging unit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Offices for Operations and Marketing </a:t>
            </a:r>
          </a:p>
          <a:p>
            <a:pPr marL="457200" lvl="1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&amp; Compliance: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ERP/CRM for supply-chain and customer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audits to meet DRAP, Pak-EPA, PSQCA standards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097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0A668A-82C9-5427-21D8-F1C5E756B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20835"/>
            <a:ext cx="10905066" cy="501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88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1D7D8-2238-A4C6-43E9-070F3DF9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DB14F-3DC9-D068-394D-10254349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&amp; Revenue Streams</a:t>
            </a:r>
          </a:p>
        </p:txBody>
      </p:sp>
      <p:pic>
        <p:nvPicPr>
          <p:cNvPr id="5123" name="Picture 3" descr="Generated image">
            <a:extLst>
              <a:ext uri="{FF2B5EF4-FFF2-40B4-BE49-F238E27FC236}">
                <a16:creationId xmlns:a16="http://schemas.microsoft.com/office/drawing/2014/main" id="{749B42D5-3096-07A0-FA64-D8C3D7700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6172" y="174171"/>
            <a:ext cx="7108371" cy="638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096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4ADD1-2BC0-4CE1-2911-9A26DF7B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0485534-7739-6C78-74E5-7ECCB097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14" y="0"/>
            <a:ext cx="5355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24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6E0C0-95B4-6170-0D4D-3EAC831F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Freeform: Shape 820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8055B-6BD3-587B-98E4-FE6F8855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&amp;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C9D9-71AD-F73B-7B9E-325A42025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2" y="2245235"/>
            <a:ext cx="7206342" cy="52223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CEO: Nimra Amer – Strategy &amp; R&amp;D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COO: Muhammad Ahmad – Operations &amp; Logistics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CFO: Muhammad Hamza – Finance &amp; Funding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CMO: Muhammad Hassan – Marketing &amp; Sales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Advisors &amp; Partners: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regulators, university researchers, logistics providers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03" name="Freeform: Shape 820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erson touching a screen with a diagram&#10;&#10;AI-generated content may be incorrect.">
            <a:extLst>
              <a:ext uri="{FF2B5EF4-FFF2-40B4-BE49-F238E27FC236}">
                <a16:creationId xmlns:a16="http://schemas.microsoft.com/office/drawing/2014/main" id="{52DB0880-C67D-D27F-05E2-BAEE8A1A1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1682349"/>
            <a:ext cx="5682343" cy="379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56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33ACF5-8EE6-E40D-43D8-D860DB977E4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E2F40-B5CA-BB1A-AA97-EE409827439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B7CAA6B-0702-CD0D-3D3B-AAC85C920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420419"/>
              </p:ext>
            </p:extLst>
          </p:nvPr>
        </p:nvGraphicFramePr>
        <p:xfrm>
          <a:off x="7738310" y="-14403"/>
          <a:ext cx="5085062" cy="6858006"/>
        </p:xfrm>
        <a:graphic>
          <a:graphicData uri="http://schemas.openxmlformats.org/drawingml/2006/table">
            <a:tbl>
              <a:tblPr/>
              <a:tblGrid>
                <a:gridCol w="2542531">
                  <a:extLst>
                    <a:ext uri="{9D8B030D-6E8A-4147-A177-3AD203B41FA5}">
                      <a16:colId xmlns:a16="http://schemas.microsoft.com/office/drawing/2014/main" val="1766127657"/>
                    </a:ext>
                  </a:extLst>
                </a:gridCol>
                <a:gridCol w="2542531">
                  <a:extLst>
                    <a:ext uri="{9D8B030D-6E8A-4147-A177-3AD203B41FA5}">
                      <a16:colId xmlns:a16="http://schemas.microsoft.com/office/drawing/2014/main" val="3787578842"/>
                    </a:ext>
                  </a:extLst>
                </a:gridCol>
              </a:tblGrid>
              <a:tr h="382692">
                <a:tc>
                  <a:txBody>
                    <a:bodyPr/>
                    <a:lstStyle/>
                    <a:p>
                      <a:r>
                        <a:rPr lang="en-US" sz="1500" b="1" dirty="0">
                          <a:highlight>
                            <a:srgbClr val="FFFF00"/>
                          </a:highlight>
                        </a:rPr>
                        <a:t>Asset / Expense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highlight>
                            <a:srgbClr val="FFFF00"/>
                          </a:highlight>
                        </a:rPr>
                        <a:t>Amount (PKR)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272026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Cash and Cash Equivalents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27,000,000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189215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 dirty="0"/>
                        <a:t>Distribution Agreements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5,000,000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399736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Recycling Machinery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100,000,000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643650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 dirty="0"/>
                        <a:t>Vehicles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10,978,000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118824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100,000,000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28548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Salaries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5,000,000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754341"/>
                  </a:ext>
                </a:extLst>
              </a:tr>
              <a:tr h="627670">
                <a:tc>
                  <a:txBody>
                    <a:bodyPr/>
                    <a:lstStyle/>
                    <a:p>
                      <a:r>
                        <a:rPr lang="en-US" sz="1500" b="1">
                          <a:highlight>
                            <a:srgbClr val="00FF00"/>
                          </a:highlight>
                        </a:rPr>
                        <a:t>Minor Costs (Grouped Total)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highlight>
                            <a:srgbClr val="00FF00"/>
                          </a:highlight>
                        </a:rPr>
                        <a:t>2,022,000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204371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   Furniture and Fixtures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500,000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515800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   R&amp;D Lab Equipment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300,000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188213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   Licenses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300,000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350683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   Trademarks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20,000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213406"/>
                  </a:ext>
                </a:extLst>
              </a:tr>
              <a:tr h="627670">
                <a:tc>
                  <a:txBody>
                    <a:bodyPr/>
                    <a:lstStyle/>
                    <a:p>
                      <a:r>
                        <a:rPr lang="en-US" sz="1500" b="1"/>
                        <a:t>   Website and Digital Assets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094610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/>
                        <a:t>   Safety Testing Equipment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099976"/>
                  </a:ext>
                </a:extLst>
              </a:tr>
              <a:tr h="627670">
                <a:tc>
                  <a:txBody>
                    <a:bodyPr/>
                    <a:lstStyle/>
                    <a:p>
                      <a:r>
                        <a:rPr lang="en-US" sz="1500" b="1"/>
                        <a:t>   Eco-friendly Packaging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22,000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75322"/>
                  </a:ext>
                </a:extLst>
              </a:tr>
              <a:tr h="382692">
                <a:tc>
                  <a:txBody>
                    <a:bodyPr/>
                    <a:lstStyle/>
                    <a:p>
                      <a:r>
                        <a:rPr lang="en-US" sz="1500" b="1" dirty="0"/>
                        <a:t>   Spare Parts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500,000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077896"/>
                  </a:ext>
                </a:extLst>
              </a:tr>
            </a:tbl>
          </a:graphicData>
        </a:graphic>
      </p:graphicFrame>
      <p:pic>
        <p:nvPicPr>
          <p:cNvPr id="20" name="Picture 19" descr="A graph of a cost&#10;&#10;AI-generated content may be incorrect.">
            <a:extLst>
              <a:ext uri="{FF2B5EF4-FFF2-40B4-BE49-F238E27FC236}">
                <a16:creationId xmlns:a16="http://schemas.microsoft.com/office/drawing/2014/main" id="{2E5841C4-A148-854F-D40E-A360A2B43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38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9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FFE23-917F-6164-FBCA-E118E346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46C0-1249-1729-A5D1-AD97791B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714" y="57529"/>
            <a:ext cx="3374571" cy="123507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9DD91-E99D-3956-CE9A-943E02AB9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9905"/>
              </p:ext>
            </p:extLst>
          </p:nvPr>
        </p:nvGraphicFramePr>
        <p:xfrm>
          <a:off x="141515" y="1815118"/>
          <a:ext cx="7336972" cy="6380585"/>
        </p:xfrm>
        <a:graphic>
          <a:graphicData uri="http://schemas.openxmlformats.org/drawingml/2006/table">
            <a:tbl>
              <a:tblPr/>
              <a:tblGrid>
                <a:gridCol w="1955303">
                  <a:extLst>
                    <a:ext uri="{9D8B030D-6E8A-4147-A177-3AD203B41FA5}">
                      <a16:colId xmlns:a16="http://schemas.microsoft.com/office/drawing/2014/main" val="158879193"/>
                    </a:ext>
                  </a:extLst>
                </a:gridCol>
                <a:gridCol w="1955303">
                  <a:extLst>
                    <a:ext uri="{9D8B030D-6E8A-4147-A177-3AD203B41FA5}">
                      <a16:colId xmlns:a16="http://schemas.microsoft.com/office/drawing/2014/main" val="193155043"/>
                    </a:ext>
                  </a:extLst>
                </a:gridCol>
                <a:gridCol w="1713183">
                  <a:extLst>
                    <a:ext uri="{9D8B030D-6E8A-4147-A177-3AD203B41FA5}">
                      <a16:colId xmlns:a16="http://schemas.microsoft.com/office/drawing/2014/main" val="723972504"/>
                    </a:ext>
                  </a:extLst>
                </a:gridCol>
                <a:gridCol w="1713183">
                  <a:extLst>
                    <a:ext uri="{9D8B030D-6E8A-4147-A177-3AD203B41FA5}">
                      <a16:colId xmlns:a16="http://schemas.microsoft.com/office/drawing/2014/main" val="3536403827"/>
                    </a:ext>
                  </a:extLst>
                </a:gridCol>
              </a:tblGrid>
              <a:tr h="1091416">
                <a:tc>
                  <a:txBody>
                    <a:bodyPr/>
                    <a:lstStyle/>
                    <a:p>
                      <a:r>
                        <a:rPr lang="en-US" sz="2000" b="1" dirty="0"/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Units Sold/Year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Price/Unit (PKR)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Annual Revenue (PKR)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696131"/>
                  </a:ext>
                </a:extLst>
              </a:tr>
              <a:tr h="755596">
                <a:tc>
                  <a:txBody>
                    <a:bodyPr/>
                    <a:lstStyle/>
                    <a:p>
                      <a:r>
                        <a:rPr lang="en-US" sz="2000"/>
                        <a:t>Fertilizer (10 kg bags)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11,450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5,725,000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472238"/>
                  </a:ext>
                </a:extLst>
              </a:tr>
              <a:tr h="1091416">
                <a:tc>
                  <a:txBody>
                    <a:bodyPr/>
                    <a:lstStyle/>
                    <a:p>
                      <a:r>
                        <a:rPr lang="en-US" sz="2000"/>
                        <a:t>Skincare products (bottles)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7,857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5,499,900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35276"/>
                  </a:ext>
                </a:extLst>
              </a:tr>
              <a:tr h="1091416">
                <a:tc>
                  <a:txBody>
                    <a:bodyPr/>
                    <a:lstStyle/>
                    <a:p>
                      <a:r>
                        <a:rPr lang="en-US" sz="2000"/>
                        <a:t>Cleaning agents (1L bottles)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9,437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3,774,800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653255"/>
                  </a:ext>
                </a:extLst>
              </a:tr>
              <a:tr h="1091416">
                <a:tc>
                  <a:txBody>
                    <a:bodyPr/>
                    <a:lstStyle/>
                    <a:p>
                      <a:r>
                        <a:rPr lang="en-US" sz="2000" b="1"/>
                        <a:t>Total Product Sales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15,000,000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973838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825751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257747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20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A6E199-C05F-715F-E392-25545DACC3CE}"/>
              </a:ext>
            </a:extLst>
          </p:cNvPr>
          <p:cNvSpPr txBox="1"/>
          <p:nvPr/>
        </p:nvSpPr>
        <p:spPr>
          <a:xfrm>
            <a:off x="7598229" y="2116511"/>
            <a:ext cx="45937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🏥 Expired Medicine Waste Management Services</a:t>
            </a:r>
          </a:p>
          <a:p>
            <a:pPr>
              <a:buNone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100 hospitals/pharma industries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Each paying PKR 50,000/year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Service Revenue = 100 × 50,000 = 5,000,000 PKR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ADE3E2-0F60-236A-D403-351DC702DDDD}"/>
              </a:ext>
            </a:extLst>
          </p:cNvPr>
          <p:cNvCxnSpPr>
            <a:cxnSpLocks/>
          </p:cNvCxnSpPr>
          <p:nvPr/>
        </p:nvCxnSpPr>
        <p:spPr>
          <a:xfrm>
            <a:off x="7358743" y="2116511"/>
            <a:ext cx="0" cy="4741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929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62B5-5EF2-ADBD-8FB1-E35C517C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714" y="365125"/>
            <a:ext cx="3374571" cy="123507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0B50B6-F12C-9240-987D-0F735781F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53441"/>
              </p:ext>
            </p:extLst>
          </p:nvPr>
        </p:nvGraphicFramePr>
        <p:xfrm>
          <a:off x="838200" y="2141539"/>
          <a:ext cx="10479553" cy="4351336"/>
        </p:xfrm>
        <a:graphic>
          <a:graphicData uri="http://schemas.openxmlformats.org/drawingml/2006/table">
            <a:tbl>
              <a:tblPr/>
              <a:tblGrid>
                <a:gridCol w="3807501">
                  <a:extLst>
                    <a:ext uri="{9D8B030D-6E8A-4147-A177-3AD203B41FA5}">
                      <a16:colId xmlns:a16="http://schemas.microsoft.com/office/drawing/2014/main" val="158879193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723972504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3536403827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r>
                        <a:rPr lang="en-US" sz="1700" b="1"/>
                        <a:t>Year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Annual Revenue (PKR)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Cumulative Revenue (PKR)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69613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r>
                        <a:rPr lang="en-US" sz="1700" dirty="0"/>
                        <a:t>Year 1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20,000,000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20,000,000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472238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 dirty="0"/>
                        <a:t>Year 2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20,000,000 × 1.20 = 24,000,000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20,000,000 + 24,000,000 = 44,000,000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3527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 dirty="0"/>
                        <a:t>Year 3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24,000,000 × 1.20 = 28,800,000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44,000,000 + 28,800,000 = 72,800,000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653255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/>
                        <a:t>Year 4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28,800,000 × 1.20 = 34,560,000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72,800,000 + 34,560,000 = 107,360,000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973838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 dirty="0"/>
                        <a:t>Year 5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34,560,000 × 1.20 = 41,472,000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107,360,000 + 41,472,000 = 148,832,000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825751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/>
                        <a:t>Year 6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41,472,000 × 1.20 = 49,766,400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148,832,000 + 49,766,400 = 198,598,400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257747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r>
                        <a:rPr lang="en-US" sz="1700"/>
                        <a:t>Year 7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49,766,400 × 1.20 = 59,719,680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198,598,400 + 59,719,680 = 258,318,080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722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0730-9BBB-9CD1-70B3-A4B8C46B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708" y="2494740"/>
            <a:ext cx="2735236" cy="1325563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ROADMAP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529430C3-3651-3AE0-43F9-E76292B5D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943" y="0"/>
            <a:ext cx="6281057" cy="68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43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EE445-D804-3D51-9DDB-EEDEB58F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4" name="Rectangle 10253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A1BB0-B616-63C9-3663-21720B46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3866" y="437075"/>
            <a:ext cx="4140014" cy="133083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to Action</a:t>
            </a:r>
          </a:p>
        </p:txBody>
      </p:sp>
      <p:pic>
        <p:nvPicPr>
          <p:cNvPr id="10242" name="Picture 2" descr="Investment Images – Browse 10,313,363 Stock Photos, Vectors, and Video |  Adobe Stock">
            <a:extLst>
              <a:ext uri="{FF2B5EF4-FFF2-40B4-BE49-F238E27FC236}">
                <a16:creationId xmlns:a16="http://schemas.microsoft.com/office/drawing/2014/main" id="{EA939679-992F-D6A6-8BB5-6A3E67D1E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4" r="14669" b="-1"/>
          <a:stretch/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FD4D2-72F2-B759-65B9-BD3F72731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058" y="2204988"/>
            <a:ext cx="5212078" cy="390858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Opportunity: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 us in creating Pakistan’s first pharmaceutical-waste circular economy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Partnerships Wanted: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institutions, agriculture partners, sustainability advocates</a:t>
            </a:r>
          </a:p>
        </p:txBody>
      </p:sp>
    </p:spTree>
    <p:extLst>
      <p:ext uri="{BB962C8B-B14F-4D97-AF65-F5344CB8AC3E}">
        <p14:creationId xmlns:p14="http://schemas.microsoft.com/office/powerpoint/2010/main" val="1882082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0B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B2098-A809-AA6A-C5CE-CDDCFEF2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Not just “THANK YOU” slide …. Not before the REAL ending | by Aravind  Gogineni | Sales World | Medium">
            <a:extLst>
              <a:ext uri="{FF2B5EF4-FFF2-40B4-BE49-F238E27FC236}">
                <a16:creationId xmlns:a16="http://schemas.microsoft.com/office/drawing/2014/main" id="{B1B2B879-CA31-DA74-DDE0-2AE1A1FFE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16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3792</TotalTime>
  <Words>1281</Words>
  <Application>Microsoft Office PowerPoint</Application>
  <PresentationFormat>Widescreen</PresentationFormat>
  <Paragraphs>296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The Problem &amp; Opportunity</vt:lpstr>
      <vt:lpstr>Our Solution</vt:lpstr>
      <vt:lpstr>Company Overview</vt:lpstr>
      <vt:lpstr>Product &amp; Service Highlights</vt:lpstr>
      <vt:lpstr>Points of Differentiation</vt:lpstr>
      <vt:lpstr>PowerPoint Presentation</vt:lpstr>
      <vt:lpstr>Market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Go-to-Market &amp; Marketing </vt:lpstr>
      <vt:lpstr>PowerPoint Presentation</vt:lpstr>
      <vt:lpstr>PowerPoint Presentation</vt:lpstr>
      <vt:lpstr>Operations &amp; Infrastructure</vt:lpstr>
      <vt:lpstr>PowerPoint Presentation</vt:lpstr>
      <vt:lpstr>Business Model &amp; Revenue Streams</vt:lpstr>
      <vt:lpstr>PowerPoint Presentation</vt:lpstr>
      <vt:lpstr>Team &amp; Governance</vt:lpstr>
      <vt:lpstr>PowerPoint Presentation</vt:lpstr>
      <vt:lpstr>Key Metrics</vt:lpstr>
      <vt:lpstr>Key Metrics</vt:lpstr>
      <vt:lpstr>ROADMAP</vt:lpstr>
      <vt:lpstr>Call to 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HASSAN KHALID</dc:creator>
  <cp:lastModifiedBy>M HASSAN KHALID</cp:lastModifiedBy>
  <cp:revision>33</cp:revision>
  <dcterms:created xsi:type="dcterms:W3CDTF">2025-04-30T19:48:01Z</dcterms:created>
  <dcterms:modified xsi:type="dcterms:W3CDTF">2025-05-12T03:59:37Z</dcterms:modified>
</cp:coreProperties>
</file>