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3"/>
  </p:notesMasterIdLst>
  <p:handoutMasterIdLst>
    <p:handoutMasterId r:id="rId24"/>
  </p:handoutMasterIdLst>
  <p:sldIdLst>
    <p:sldId id="590" r:id="rId2"/>
    <p:sldId id="582" r:id="rId3"/>
    <p:sldId id="567" r:id="rId4"/>
    <p:sldId id="568" r:id="rId5"/>
    <p:sldId id="604" r:id="rId6"/>
    <p:sldId id="606" r:id="rId7"/>
    <p:sldId id="609" r:id="rId8"/>
    <p:sldId id="570" r:id="rId9"/>
    <p:sldId id="593" r:id="rId10"/>
    <p:sldId id="594" r:id="rId11"/>
    <p:sldId id="596" r:id="rId12"/>
    <p:sldId id="591" r:id="rId13"/>
    <p:sldId id="597" r:id="rId14"/>
    <p:sldId id="598" r:id="rId15"/>
    <p:sldId id="571" r:id="rId16"/>
    <p:sldId id="586" r:id="rId17"/>
    <p:sldId id="585" r:id="rId18"/>
    <p:sldId id="574" r:id="rId19"/>
    <p:sldId id="620" r:id="rId20"/>
    <p:sldId id="618" r:id="rId21"/>
    <p:sldId id="621" r:id="rId22"/>
  </p:sldIdLst>
  <p:sldSz cx="9144000" cy="6858000" type="screen4x3"/>
  <p:notesSz cx="7315200" cy="9601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400" b="1" kern="1200">
        <a:solidFill>
          <a:schemeClr val="tx1"/>
        </a:solidFill>
        <a:latin typeface="Arial" charset="0"/>
        <a:ea typeface="+mn-ea"/>
        <a:cs typeface="+mn-cs"/>
      </a:defRPr>
    </a:lvl1pPr>
    <a:lvl2pPr marL="457200" algn="l" rtl="0" eaLnBrk="0" fontAlgn="base" hangingPunct="0">
      <a:spcBef>
        <a:spcPct val="0"/>
      </a:spcBef>
      <a:spcAft>
        <a:spcPct val="0"/>
      </a:spcAft>
      <a:defRPr sz="1400" b="1" kern="1200">
        <a:solidFill>
          <a:schemeClr val="tx1"/>
        </a:solidFill>
        <a:latin typeface="Arial" charset="0"/>
        <a:ea typeface="+mn-ea"/>
        <a:cs typeface="+mn-cs"/>
      </a:defRPr>
    </a:lvl2pPr>
    <a:lvl3pPr marL="914400" algn="l" rtl="0" eaLnBrk="0" fontAlgn="base" hangingPunct="0">
      <a:spcBef>
        <a:spcPct val="0"/>
      </a:spcBef>
      <a:spcAft>
        <a:spcPct val="0"/>
      </a:spcAft>
      <a:defRPr sz="1400" b="1" kern="1200">
        <a:solidFill>
          <a:schemeClr val="tx1"/>
        </a:solidFill>
        <a:latin typeface="Arial" charset="0"/>
        <a:ea typeface="+mn-ea"/>
        <a:cs typeface="+mn-cs"/>
      </a:defRPr>
    </a:lvl3pPr>
    <a:lvl4pPr marL="1371600" algn="l" rtl="0" eaLnBrk="0" fontAlgn="base" hangingPunct="0">
      <a:spcBef>
        <a:spcPct val="0"/>
      </a:spcBef>
      <a:spcAft>
        <a:spcPct val="0"/>
      </a:spcAft>
      <a:defRPr sz="1400" b="1" kern="1200">
        <a:solidFill>
          <a:schemeClr val="tx1"/>
        </a:solidFill>
        <a:latin typeface="Arial" charset="0"/>
        <a:ea typeface="+mn-ea"/>
        <a:cs typeface="+mn-cs"/>
      </a:defRPr>
    </a:lvl4pPr>
    <a:lvl5pPr marL="1828800" algn="l" rtl="0" eaLnBrk="0" fontAlgn="base" hangingPunct="0">
      <a:spcBef>
        <a:spcPct val="0"/>
      </a:spcBef>
      <a:spcAft>
        <a:spcPct val="0"/>
      </a:spcAft>
      <a:defRPr sz="1400" b="1" kern="1200">
        <a:solidFill>
          <a:schemeClr val="tx1"/>
        </a:solidFill>
        <a:latin typeface="Arial" charset="0"/>
        <a:ea typeface="+mn-ea"/>
        <a:cs typeface="+mn-cs"/>
      </a:defRPr>
    </a:lvl5pPr>
    <a:lvl6pPr marL="2286000" algn="l" defTabSz="914400" rtl="0" eaLnBrk="1" latinLnBrk="0" hangingPunct="1">
      <a:defRPr sz="1400" b="1" kern="1200">
        <a:solidFill>
          <a:schemeClr val="tx1"/>
        </a:solidFill>
        <a:latin typeface="Arial" charset="0"/>
        <a:ea typeface="+mn-ea"/>
        <a:cs typeface="+mn-cs"/>
      </a:defRPr>
    </a:lvl6pPr>
    <a:lvl7pPr marL="2743200" algn="l" defTabSz="914400" rtl="0" eaLnBrk="1" latinLnBrk="0" hangingPunct="1">
      <a:defRPr sz="1400" b="1" kern="1200">
        <a:solidFill>
          <a:schemeClr val="tx1"/>
        </a:solidFill>
        <a:latin typeface="Arial" charset="0"/>
        <a:ea typeface="+mn-ea"/>
        <a:cs typeface="+mn-cs"/>
      </a:defRPr>
    </a:lvl7pPr>
    <a:lvl8pPr marL="3200400" algn="l" defTabSz="914400" rtl="0" eaLnBrk="1" latinLnBrk="0" hangingPunct="1">
      <a:defRPr sz="1400" b="1" kern="1200">
        <a:solidFill>
          <a:schemeClr val="tx1"/>
        </a:solidFill>
        <a:latin typeface="Arial" charset="0"/>
        <a:ea typeface="+mn-ea"/>
        <a:cs typeface="+mn-cs"/>
      </a:defRPr>
    </a:lvl8pPr>
    <a:lvl9pPr marL="3657600" algn="l" defTabSz="914400" rtl="0" eaLnBrk="1" latinLnBrk="0" hangingPunct="1">
      <a:defRPr sz="14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736">
          <p15:clr>
            <a:srgbClr val="A4A3A4"/>
          </p15:clr>
        </p15:guide>
      </p15:sldGuideLst>
    </p:ext>
    <p:ext uri="{2D200454-40CA-4A62-9FC3-DE9A4176ACB9}">
      <p15:notesGuideLst xmlns:p15="http://schemas.microsoft.com/office/powerpoint/2012/main">
        <p15:guide id="1" orient="horz" pos="3025" userDrawn="1">
          <p15:clr>
            <a:srgbClr val="A4A3A4"/>
          </p15:clr>
        </p15:guide>
        <p15:guide id="2" pos="230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A8487"/>
    <a:srgbClr val="1C5A61"/>
    <a:srgbClr val="0C6D9C"/>
    <a:srgbClr val="FF0000"/>
    <a:srgbClr val="CC3300"/>
    <a:srgbClr val="F5F5F5"/>
    <a:srgbClr val="F4F4F4"/>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02" autoAdjust="0"/>
    <p:restoredTop sz="94551" autoAdjust="0"/>
  </p:normalViewPr>
  <p:slideViewPr>
    <p:cSldViewPr>
      <p:cViewPr varScale="1">
        <p:scale>
          <a:sx n="58" d="100"/>
          <a:sy n="58" d="100"/>
        </p:scale>
        <p:origin x="1398" y="66"/>
      </p:cViewPr>
      <p:guideLst>
        <p:guide orient="horz" pos="2160"/>
        <p:guide pos="2736"/>
      </p:guideLst>
    </p:cSldViewPr>
  </p:slideViewPr>
  <p:outlineViewPr>
    <p:cViewPr>
      <p:scale>
        <a:sx n="33" d="100"/>
        <a:sy n="33" d="100"/>
      </p:scale>
      <p:origin x="0" y="0"/>
    </p:cViewPr>
  </p:outlineViewPr>
  <p:notesTextViewPr>
    <p:cViewPr>
      <p:scale>
        <a:sx n="3" d="2"/>
        <a:sy n="3" d="2"/>
      </p:scale>
      <p:origin x="0" y="0"/>
    </p:cViewPr>
  </p:notesTextViewPr>
  <p:sorterViewPr>
    <p:cViewPr>
      <p:scale>
        <a:sx n="75" d="100"/>
        <a:sy n="75" d="100"/>
      </p:scale>
      <p:origin x="0" y="0"/>
    </p:cViewPr>
  </p:sorterViewPr>
  <p:notesViewPr>
    <p:cSldViewPr>
      <p:cViewPr varScale="1">
        <p:scale>
          <a:sx n="83" d="100"/>
          <a:sy n="83" d="100"/>
        </p:scale>
        <p:origin x="-840" y="-66"/>
      </p:cViewPr>
      <p:guideLst>
        <p:guide orient="horz" pos="3025"/>
        <p:guide pos="230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8699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73138" y="4560889"/>
            <a:ext cx="5367337" cy="4318000"/>
          </a:xfrm>
          <a:prstGeom prst="rect">
            <a:avLst/>
          </a:prstGeom>
          <a:noFill/>
          <a:ln w="12700">
            <a:noFill/>
            <a:miter lim="800000"/>
            <a:headEnd/>
            <a:tailEnd/>
          </a:ln>
          <a:effectLst/>
        </p:spPr>
        <p:txBody>
          <a:bodyPr vert="horz" wrap="square" lIns="100422" tIns="50214" rIns="100422" bIns="50214"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771" name="Rectangle 3"/>
          <p:cNvSpPr>
            <a:spLocks noGrp="1" noRot="1" noChangeAspect="1" noChangeArrowheads="1" noTextEdit="1"/>
          </p:cNvSpPr>
          <p:nvPr>
            <p:ph type="sldImg" idx="2"/>
          </p:nvPr>
        </p:nvSpPr>
        <p:spPr bwMode="auto">
          <a:xfrm>
            <a:off x="1270000" y="728663"/>
            <a:ext cx="4778375" cy="35845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593162615"/>
      </p:ext>
    </p:extLst>
  </p:cSld>
  <p:clrMap bg1="lt1" tx1="dk1" bg2="lt2" tx2="dk2" accent1="accent1" accent2="accent2" accent3="accent3" accent4="accent4" accent5="accent5" accent6="accent6" hlink="hlink" folHlink="folHlink"/>
  <p:notesStyle>
    <a:lvl1pPr algn="l" defTabSz="963613" rtl="0" eaLnBrk="0" fontAlgn="base" hangingPunct="0">
      <a:spcBef>
        <a:spcPct val="30000"/>
      </a:spcBef>
      <a:spcAft>
        <a:spcPct val="0"/>
      </a:spcAft>
      <a:defRPr sz="1200" kern="1200">
        <a:solidFill>
          <a:schemeClr val="tx1"/>
        </a:solidFill>
        <a:latin typeface="Arial" charset="0"/>
        <a:ea typeface="+mn-ea"/>
        <a:cs typeface="+mn-cs"/>
      </a:defRPr>
    </a:lvl1pPr>
    <a:lvl2pPr marL="469900" algn="l" defTabSz="963613" rtl="0" eaLnBrk="0" fontAlgn="base" hangingPunct="0">
      <a:spcBef>
        <a:spcPct val="30000"/>
      </a:spcBef>
      <a:spcAft>
        <a:spcPct val="0"/>
      </a:spcAft>
      <a:defRPr sz="1200" kern="1200">
        <a:solidFill>
          <a:schemeClr val="tx1"/>
        </a:solidFill>
        <a:latin typeface="Arial" charset="0"/>
        <a:ea typeface="+mn-ea"/>
        <a:cs typeface="+mn-cs"/>
      </a:defRPr>
    </a:lvl2pPr>
    <a:lvl3pPr marL="938213" algn="l" defTabSz="963613" rtl="0" eaLnBrk="0" fontAlgn="base" hangingPunct="0">
      <a:spcBef>
        <a:spcPct val="30000"/>
      </a:spcBef>
      <a:spcAft>
        <a:spcPct val="0"/>
      </a:spcAft>
      <a:defRPr sz="1200" kern="1200">
        <a:solidFill>
          <a:schemeClr val="tx1"/>
        </a:solidFill>
        <a:latin typeface="Arial" charset="0"/>
        <a:ea typeface="+mn-ea"/>
        <a:cs typeface="+mn-cs"/>
      </a:defRPr>
    </a:lvl3pPr>
    <a:lvl4pPr marL="1408113" algn="l" defTabSz="963613" rtl="0" eaLnBrk="0" fontAlgn="base" hangingPunct="0">
      <a:spcBef>
        <a:spcPct val="30000"/>
      </a:spcBef>
      <a:spcAft>
        <a:spcPct val="0"/>
      </a:spcAft>
      <a:defRPr sz="1200" kern="1200">
        <a:solidFill>
          <a:schemeClr val="tx1"/>
        </a:solidFill>
        <a:latin typeface="Arial" charset="0"/>
        <a:ea typeface="+mn-ea"/>
        <a:cs typeface="+mn-cs"/>
      </a:defRPr>
    </a:lvl4pPr>
    <a:lvl5pPr marL="1876425" algn="l" defTabSz="963613"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xfrm>
            <a:off x="1262063" y="722313"/>
            <a:ext cx="4795837" cy="3597275"/>
          </a:xfrm>
          <a:ln/>
        </p:spPr>
      </p:sp>
      <p:sp>
        <p:nvSpPr>
          <p:cNvPr id="33795" name="Rectangle 3"/>
          <p:cNvSpPr>
            <a:spLocks noGrp="1" noChangeArrowheads="1"/>
          </p:cNvSpPr>
          <p:nvPr>
            <p:ph type="body" idx="1"/>
          </p:nvPr>
        </p:nvSpPr>
        <p:spPr>
          <a:xfrm>
            <a:off x="974726" y="4560889"/>
            <a:ext cx="5365750" cy="4318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4993" tIns="47492" rIns="94993" bIns="47492"/>
          <a:lstStyle/>
          <a:p>
            <a:endParaRPr lang="en-US" altLang="en-US"/>
          </a:p>
        </p:txBody>
      </p:sp>
    </p:spTree>
    <p:extLst>
      <p:ext uri="{BB962C8B-B14F-4D97-AF65-F5344CB8AC3E}">
        <p14:creationId xmlns:p14="http://schemas.microsoft.com/office/powerpoint/2010/main" val="1758152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83838"/>
                </a:solidFill>
                <a:effectLst/>
                <a:highlight>
                  <a:srgbClr val="FFFFFF"/>
                </a:highlight>
                <a:latin typeface="Inter"/>
              </a:rPr>
              <a:t>Right – so now we come to the crux of this article. What in the world is Precision? And what does all the above learning have to do with it?</a:t>
            </a:r>
          </a:p>
          <a:p>
            <a:pPr algn="l"/>
            <a:r>
              <a:rPr lang="en-US" b="0" i="0" dirty="0">
                <a:solidFill>
                  <a:srgbClr val="383838"/>
                </a:solidFill>
                <a:effectLst/>
                <a:highlight>
                  <a:srgbClr val="FFFFFF"/>
                </a:highlight>
                <a:latin typeface="Inter"/>
              </a:rPr>
              <a:t>In the simplest terms, Precision is the ratio between the True Positives and all the Positives. For our problem statement, that would be the measure of patients that we correctly identify as having a heart disease out of all the patients actually having it. Mathematically:</a:t>
            </a:r>
          </a:p>
          <a:p>
            <a:endParaRPr lang="en-US" dirty="0"/>
          </a:p>
          <a:p>
            <a:r>
              <a:rPr lang="en-US" b="0" i="0" dirty="0">
                <a:solidFill>
                  <a:srgbClr val="383838"/>
                </a:solidFill>
                <a:effectLst/>
                <a:highlight>
                  <a:srgbClr val="FFFFFF"/>
                </a:highlight>
                <a:latin typeface="Inter"/>
              </a:rPr>
              <a:t>The recall is the measure of our model correctly identifying True Positives. Thus, for all the patients who actually have heart disease, recall tells us how many we correctly identified as having a heart disease. Mathematically:</a:t>
            </a:r>
            <a:endParaRPr lang="en-US" dirty="0"/>
          </a:p>
        </p:txBody>
      </p:sp>
    </p:spTree>
    <p:extLst>
      <p:ext uri="{BB962C8B-B14F-4D97-AF65-F5344CB8AC3E}">
        <p14:creationId xmlns:p14="http://schemas.microsoft.com/office/powerpoint/2010/main" val="1411607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83838"/>
                </a:solidFill>
                <a:effectLst/>
                <a:highlight>
                  <a:srgbClr val="FFFFFF"/>
                </a:highlight>
                <a:latin typeface="Inter"/>
              </a:rPr>
              <a:t>Although we do aim for high precision and high recall value, achieving both at the same time is not possible. For example, if we change the model to one giving us a high recall, we might detect all the patients who actually have heart disease, but we might end up giving treatments to many patients who don’t suffer from it.</a:t>
            </a:r>
          </a:p>
          <a:p>
            <a:pPr algn="l"/>
            <a:r>
              <a:rPr lang="en-US" b="0" i="0" dirty="0">
                <a:solidFill>
                  <a:srgbClr val="383838"/>
                </a:solidFill>
                <a:effectLst/>
                <a:highlight>
                  <a:srgbClr val="FFFFFF"/>
                </a:highlight>
                <a:latin typeface="Inter"/>
              </a:rPr>
              <a:t>Similarly, suppose we aim for high precision to avoid giving any wrong and unrequired treatment. In that case, we end up getting a lot of patients who actually have heart disease going without any treatment.</a:t>
            </a:r>
          </a:p>
          <a:p>
            <a:endParaRPr lang="en-US" dirty="0"/>
          </a:p>
        </p:txBody>
      </p:sp>
    </p:spTree>
    <p:extLst>
      <p:ext uri="{BB962C8B-B14F-4D97-AF65-F5344CB8AC3E}">
        <p14:creationId xmlns:p14="http://schemas.microsoft.com/office/powerpoint/2010/main" val="2164393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83838"/>
                </a:solidFill>
                <a:effectLst/>
                <a:highlight>
                  <a:srgbClr val="FFFFFF"/>
                </a:highlight>
                <a:latin typeface="Inter"/>
              </a:rPr>
              <a:t>For example, for our dataset, we can consider that achieving a high recall is more important than getting a high precision – we would like to detect as many heart patients as possible. For some other models, like classifying whether or not a bank customer is a loan defaulter, it is desirable to have high precision since the bank wouldn’t want to lose customers who were denied a loan based on the model’s prediction that they would be defaulters.</a:t>
            </a:r>
          </a:p>
          <a:p>
            <a:endParaRPr lang="en-US" b="0" i="0" dirty="0">
              <a:solidFill>
                <a:srgbClr val="383838"/>
              </a:solidFill>
              <a:effectLst/>
              <a:highlight>
                <a:srgbClr val="FFFFFF"/>
              </a:highlight>
              <a:latin typeface="Inter"/>
            </a:endParaRPr>
          </a:p>
          <a:p>
            <a:r>
              <a:rPr lang="en-US" b="0" i="0" dirty="0">
                <a:solidFill>
                  <a:srgbClr val="383838"/>
                </a:solidFill>
                <a:effectLst/>
                <a:highlight>
                  <a:srgbClr val="FFFFFF"/>
                </a:highlight>
                <a:latin typeface="Inter"/>
              </a:rPr>
              <a:t>There are also many situations where precision and recall are equally important. For example, for our model, if the doctor informs us that the patients who were incorrectly classified as suffering from heart disease are equally important since they could be indicative of some other ailment, then we would aim for not only a high recall but a high precision as well.</a:t>
            </a:r>
            <a:endParaRPr lang="en-US" dirty="0"/>
          </a:p>
        </p:txBody>
      </p:sp>
    </p:spTree>
    <p:extLst>
      <p:ext uri="{BB962C8B-B14F-4D97-AF65-F5344CB8AC3E}">
        <p14:creationId xmlns:p14="http://schemas.microsoft.com/office/powerpoint/2010/main" val="12315047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xfrm>
            <a:off x="1270000" y="728663"/>
            <a:ext cx="4778375" cy="3584575"/>
          </a:xfrm>
          <a:ln/>
        </p:spPr>
      </p:sp>
      <p:sp>
        <p:nvSpPr>
          <p:cNvPr id="34819"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b="0" i="0" dirty="0">
                <a:solidFill>
                  <a:srgbClr val="1F1F1F"/>
                </a:solidFill>
                <a:effectLst/>
                <a:highlight>
                  <a:srgbClr val="FFFFFF"/>
                </a:highlight>
                <a:latin typeface="Google Sans"/>
              </a:rPr>
              <a:t>The null hypothesis is the statement or claim being made (which we are trying to disprove) and the alternative hypothesis is the hypothesis that we are trying to prove and which is accepted if we have sufficient evidence to reject the null hypothesis.</a:t>
            </a:r>
            <a:endParaRPr lang="en-US" altLang="en-US" dirty="0"/>
          </a:p>
        </p:txBody>
      </p:sp>
      <p:sp>
        <p:nvSpPr>
          <p:cNvPr id="34820" name="Slide Number Placeholder 3"/>
          <p:cNvSpPr>
            <a:spLocks noGrp="1"/>
          </p:cNvSpPr>
          <p:nvPr>
            <p:ph type="sldNum" sz="quarter" idx="4294967295"/>
          </p:nvPr>
        </p:nvSpPr>
        <p:spPr bwMode="auto">
          <a:xfrm>
            <a:off x="4143375" y="9120189"/>
            <a:ext cx="3170238"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733" tIns="47866" rIns="95733" bIns="47866"/>
          <a:lstStyle>
            <a:lvl1pPr>
              <a:defRPr sz="1300" b="1">
                <a:solidFill>
                  <a:schemeClr val="tx1"/>
                </a:solidFill>
                <a:latin typeface="Arial" charset="0"/>
              </a:defRPr>
            </a:lvl1pPr>
            <a:lvl2pPr marL="742842" indent="-285708">
              <a:defRPr sz="1300" b="1">
                <a:solidFill>
                  <a:schemeClr val="tx1"/>
                </a:solidFill>
                <a:latin typeface="Arial" charset="0"/>
              </a:defRPr>
            </a:lvl2pPr>
            <a:lvl3pPr marL="1142833" indent="-228567">
              <a:defRPr sz="1300" b="1">
                <a:solidFill>
                  <a:schemeClr val="tx1"/>
                </a:solidFill>
                <a:latin typeface="Arial" charset="0"/>
              </a:defRPr>
            </a:lvl3pPr>
            <a:lvl4pPr marL="1599966" indent="-228567">
              <a:defRPr sz="1300" b="1">
                <a:solidFill>
                  <a:schemeClr val="tx1"/>
                </a:solidFill>
                <a:latin typeface="Arial" charset="0"/>
              </a:defRPr>
            </a:lvl4pPr>
            <a:lvl5pPr marL="2057099" indent="-228567">
              <a:defRPr sz="1300" b="1">
                <a:solidFill>
                  <a:schemeClr val="tx1"/>
                </a:solidFill>
                <a:latin typeface="Arial" charset="0"/>
              </a:defRPr>
            </a:lvl5pPr>
            <a:lvl6pPr marL="2514232" indent="-228567" eaLnBrk="0" fontAlgn="base" hangingPunct="0">
              <a:spcBef>
                <a:spcPct val="0"/>
              </a:spcBef>
              <a:spcAft>
                <a:spcPct val="0"/>
              </a:spcAft>
              <a:defRPr sz="1300" b="1">
                <a:solidFill>
                  <a:schemeClr val="tx1"/>
                </a:solidFill>
                <a:latin typeface="Arial" charset="0"/>
              </a:defRPr>
            </a:lvl6pPr>
            <a:lvl7pPr marL="2971365" indent="-228567" eaLnBrk="0" fontAlgn="base" hangingPunct="0">
              <a:spcBef>
                <a:spcPct val="0"/>
              </a:spcBef>
              <a:spcAft>
                <a:spcPct val="0"/>
              </a:spcAft>
              <a:defRPr sz="1300" b="1">
                <a:solidFill>
                  <a:schemeClr val="tx1"/>
                </a:solidFill>
                <a:latin typeface="Arial" charset="0"/>
              </a:defRPr>
            </a:lvl7pPr>
            <a:lvl8pPr marL="3428497" indent="-228567" eaLnBrk="0" fontAlgn="base" hangingPunct="0">
              <a:spcBef>
                <a:spcPct val="0"/>
              </a:spcBef>
              <a:spcAft>
                <a:spcPct val="0"/>
              </a:spcAft>
              <a:defRPr sz="1300" b="1">
                <a:solidFill>
                  <a:schemeClr val="tx1"/>
                </a:solidFill>
                <a:latin typeface="Arial" charset="0"/>
              </a:defRPr>
            </a:lvl8pPr>
            <a:lvl9pPr marL="3885630" indent="-228567" eaLnBrk="0" fontAlgn="base" hangingPunct="0">
              <a:spcBef>
                <a:spcPct val="0"/>
              </a:spcBef>
              <a:spcAft>
                <a:spcPct val="0"/>
              </a:spcAft>
              <a:defRPr sz="1300" b="1">
                <a:solidFill>
                  <a:schemeClr val="tx1"/>
                </a:solidFill>
                <a:latin typeface="Arial" charset="0"/>
              </a:defRPr>
            </a:lvl9pPr>
          </a:lstStyle>
          <a:p>
            <a:pPr eaLnBrk="1" hangingPunct="1"/>
            <a:fld id="{07342238-4519-4CD6-8380-134D011DDBF5}" type="slidenum">
              <a:rPr lang="en-US" altLang="en-US"/>
              <a:pPr eaLnBrk="1" hangingPunct="1"/>
              <a:t>12</a:t>
            </a:fld>
            <a:endParaRPr lang="en-US" altLang="en-US"/>
          </a:p>
        </p:txBody>
      </p:sp>
    </p:spTree>
    <p:extLst>
      <p:ext uri="{BB962C8B-B14F-4D97-AF65-F5344CB8AC3E}">
        <p14:creationId xmlns:p14="http://schemas.microsoft.com/office/powerpoint/2010/main" val="773910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40C28"/>
                </a:solidFill>
                <a:effectLst/>
                <a:highlight>
                  <a:srgbClr val="D3E3FD"/>
                </a:highlight>
                <a:latin typeface="Google Sans"/>
              </a:rPr>
              <a:t>TP/TP+FN</a:t>
            </a:r>
          </a:p>
          <a:p>
            <a:r>
              <a:rPr lang="en-US" b="0" i="0" dirty="0">
                <a:solidFill>
                  <a:srgbClr val="040C28"/>
                </a:solidFill>
                <a:effectLst/>
                <a:highlight>
                  <a:srgbClr val="D3E3FD"/>
                </a:highlight>
                <a:latin typeface="Google Sans"/>
              </a:rPr>
              <a:t>FP/FP+TN</a:t>
            </a:r>
            <a:endParaRPr lang="en-US" dirty="0"/>
          </a:p>
        </p:txBody>
      </p:sp>
    </p:spTree>
    <p:extLst>
      <p:ext uri="{BB962C8B-B14F-4D97-AF65-F5344CB8AC3E}">
        <p14:creationId xmlns:p14="http://schemas.microsoft.com/office/powerpoint/2010/main" val="2373168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184708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208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01947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9960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1206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850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3403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46884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2207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7430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688" y="152400"/>
            <a:ext cx="2085975"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110288"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3954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able Placeholder 2"/>
          <p:cNvSpPr>
            <a:spLocks noGrp="1"/>
          </p:cNvSpPr>
          <p:nvPr>
            <p:ph type="tbl" idx="1"/>
          </p:nvPr>
        </p:nvSpPr>
        <p:spPr>
          <a:xfrm>
            <a:off x="411163" y="1143000"/>
            <a:ext cx="8318500" cy="5181600"/>
          </a:xfrm>
        </p:spPr>
        <p:txBody>
          <a:bodyPr/>
          <a:lstStyle/>
          <a:p>
            <a:pPr lvl="0"/>
            <a:endParaRPr lang="en-US" noProof="0"/>
          </a:p>
        </p:txBody>
      </p:sp>
    </p:spTree>
    <p:extLst>
      <p:ext uri="{BB962C8B-B14F-4D97-AF65-F5344CB8AC3E}">
        <p14:creationId xmlns:p14="http://schemas.microsoft.com/office/powerpoint/2010/main" val="25681365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Content Placeholder 2"/>
          <p:cNvSpPr>
            <a:spLocks noGrp="1"/>
          </p:cNvSpPr>
          <p:nvPr>
            <p:ph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661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661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5947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 Third Level</a:t>
            </a:r>
          </a:p>
        </p:txBody>
      </p:sp>
      <p:grpSp>
        <p:nvGrpSpPr>
          <p:cNvPr id="1028" name="Group 16"/>
          <p:cNvGrpSpPr>
            <a:grpSpLocks/>
          </p:cNvGrpSpPr>
          <p:nvPr userDrawn="1"/>
        </p:nvGrpSpPr>
        <p:grpSpPr bwMode="auto">
          <a:xfrm>
            <a:off x="304800" y="838200"/>
            <a:ext cx="8534400" cy="152400"/>
            <a:chOff x="264" y="788"/>
            <a:chExt cx="5232" cy="124"/>
          </a:xfrm>
        </p:grpSpPr>
        <p:sp>
          <p:nvSpPr>
            <p:cNvPr id="1030" name="Rectangle 17"/>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sp>
          <p:nvSpPr>
            <p:cNvPr id="1031" name="Rectangle 18"/>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grpSp>
      <p:sp>
        <p:nvSpPr>
          <p:cNvPr id="1029" name="Text Box 10"/>
          <p:cNvSpPr txBox="1">
            <a:spLocks noChangeArrowheads="1"/>
          </p:cNvSpPr>
          <p:nvPr userDrawn="1"/>
        </p:nvSpPr>
        <p:spPr bwMode="auto">
          <a:xfrm>
            <a:off x="457200" y="6400800"/>
            <a:ext cx="8534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defRPr/>
            </a:pPr>
            <a:r>
              <a:rPr lang="en-US" dirty="0"/>
              <a:t>2/15/2021</a:t>
            </a:r>
            <a:r>
              <a:rPr lang="en-US" dirty="0">
                <a:latin typeface="Arial" pitchFamily="34" charset="0"/>
              </a:rPr>
              <a:t>	</a:t>
            </a:r>
            <a:r>
              <a:rPr lang="en-US" baseline="0" dirty="0">
                <a:latin typeface="Arial" pitchFamily="34" charset="0"/>
              </a:rPr>
              <a:t>     </a:t>
            </a:r>
            <a:r>
              <a:rPr lang="en-US" dirty="0">
                <a:latin typeface="Arial" pitchFamily="34" charset="0"/>
              </a:rPr>
              <a:t>Introduction to Data Mining,</a:t>
            </a:r>
            <a:r>
              <a:rPr lang="en-US" baseline="0" dirty="0">
                <a:latin typeface="Arial" pitchFamily="34" charset="0"/>
              </a:rPr>
              <a:t> 2</a:t>
            </a:r>
            <a:r>
              <a:rPr lang="en-US" baseline="30000" dirty="0">
                <a:latin typeface="Arial" pitchFamily="34" charset="0"/>
              </a:rPr>
              <a:t>nd</a:t>
            </a:r>
            <a:r>
              <a:rPr lang="en-US" baseline="0" dirty="0">
                <a:latin typeface="Arial" pitchFamily="34" charset="0"/>
              </a:rPr>
              <a:t> Edition</a:t>
            </a:r>
            <a:r>
              <a:rPr lang="en-US" dirty="0">
                <a:latin typeface="Arial" pitchFamily="34" charset="0"/>
              </a:rPr>
              <a:t> </a:t>
            </a:r>
            <a:r>
              <a:rPr lang="en-US" dirty="0"/>
              <a:t> 		                         </a:t>
            </a:r>
            <a:fld id="{C1D72F0C-2BC5-41DC-B889-262B17F3F967}" type="slidenum">
              <a:rPr lang="en-US" smtClean="0"/>
              <a:pPr>
                <a:spcBef>
                  <a:spcPct val="50000"/>
                </a:spcBef>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p:titleStyle>
    <p:body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charset="0"/>
        <a:buChar char="–"/>
        <a:defRPr sz="28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itchFamily="2" charset="2"/>
        <a:buChar char="u"/>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wmf"/></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4.bin"/><Relationship Id="rId1" Type="http://schemas.openxmlformats.org/officeDocument/2006/relationships/slideLayout" Target="../slideLayouts/slideLayout12.xml"/><Relationship Id="rId5" Type="http://schemas.openxmlformats.org/officeDocument/2006/relationships/image" Target="../media/image5.wmf"/><Relationship Id="rId4"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7.wmf"/><Relationship Id="rId5" Type="http://schemas.openxmlformats.org/officeDocument/2006/relationships/oleObject" Target="../embeddings/oleObject7.bin"/><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14.wmf"/><Relationship Id="rId3" Type="http://schemas.openxmlformats.org/officeDocument/2006/relationships/image" Target="../media/image9.wmf"/><Relationship Id="rId7" Type="http://schemas.openxmlformats.org/officeDocument/2006/relationships/image" Target="../media/image11.wmf"/><Relationship Id="rId12" Type="http://schemas.openxmlformats.org/officeDocument/2006/relationships/oleObject" Target="../embeddings/oleObject13.bin"/><Relationship Id="rId2" Type="http://schemas.openxmlformats.org/officeDocument/2006/relationships/oleObject" Target="../embeddings/oleObject8.bin"/><Relationship Id="rId1" Type="http://schemas.openxmlformats.org/officeDocument/2006/relationships/slideLayout" Target="../slideLayouts/slideLayout12.xml"/><Relationship Id="rId6" Type="http://schemas.openxmlformats.org/officeDocument/2006/relationships/oleObject" Target="../embeddings/oleObject10.bin"/><Relationship Id="rId11" Type="http://schemas.openxmlformats.org/officeDocument/2006/relationships/image" Target="../media/image13.wmf"/><Relationship Id="rId5" Type="http://schemas.openxmlformats.org/officeDocument/2006/relationships/image" Target="../media/image10.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12.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22.wmf"/><Relationship Id="rId3" Type="http://schemas.openxmlformats.org/officeDocument/2006/relationships/image" Target="../media/image17.wmf"/><Relationship Id="rId7" Type="http://schemas.openxmlformats.org/officeDocument/2006/relationships/image" Target="../media/image19.wmf"/><Relationship Id="rId12" Type="http://schemas.openxmlformats.org/officeDocument/2006/relationships/oleObject" Target="../embeddings/oleObject19.bin"/><Relationship Id="rId2" Type="http://schemas.openxmlformats.org/officeDocument/2006/relationships/oleObject" Target="../embeddings/oleObject14.bin"/><Relationship Id="rId1" Type="http://schemas.openxmlformats.org/officeDocument/2006/relationships/slideLayout" Target="../slideLayouts/slideLayout12.xml"/><Relationship Id="rId6" Type="http://schemas.openxmlformats.org/officeDocument/2006/relationships/oleObject" Target="../embeddings/oleObject16.bin"/><Relationship Id="rId11" Type="http://schemas.openxmlformats.org/officeDocument/2006/relationships/image" Target="../media/image21.wmf"/><Relationship Id="rId5" Type="http://schemas.openxmlformats.org/officeDocument/2006/relationships/image" Target="../media/image18.w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20.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Rectangle 3"/>
          <p:cNvSpPr>
            <a:spLocks noChangeArrowheads="1"/>
          </p:cNvSpPr>
          <p:nvPr/>
        </p:nvSpPr>
        <p:spPr bwMode="auto">
          <a:xfrm>
            <a:off x="381000" y="3113501"/>
            <a:ext cx="8229600" cy="1483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eaLnBrk="1" hangingPunct="1">
              <a:spcBef>
                <a:spcPct val="20000"/>
              </a:spcBef>
              <a:spcAft>
                <a:spcPct val="0"/>
              </a:spcAft>
              <a:buClr>
                <a:schemeClr val="folHlink"/>
              </a:buClr>
              <a:buSzPct val="60000"/>
              <a:buFont typeface="Wingdings" pitchFamily="2" charset="2"/>
              <a:buNone/>
            </a:pPr>
            <a:r>
              <a:rPr lang="en-US" altLang="en-US" sz="3200" b="0" dirty="0"/>
              <a:t>Imbalanced Class Problem</a:t>
            </a:r>
          </a:p>
          <a:p>
            <a:pPr lvl="0" algn="ctr" eaLnBrk="1" hangingPunct="1">
              <a:spcBef>
                <a:spcPct val="20000"/>
              </a:spcBef>
              <a:spcAft>
                <a:spcPct val="0"/>
              </a:spcAft>
              <a:buClr>
                <a:srgbClr val="800080"/>
              </a:buClr>
              <a:buSzPct val="60000"/>
              <a:buNone/>
            </a:pPr>
            <a:endParaRPr lang="en-US" altLang="en-US" sz="3200" b="0" dirty="0">
              <a:solidFill>
                <a:srgbClr val="000000"/>
              </a:solidFill>
              <a:latin typeface="Arial" pitchFamily="34" charset="0"/>
            </a:endParaRPr>
          </a:p>
          <a:p>
            <a:pPr>
              <a:spcBef>
                <a:spcPct val="0"/>
              </a:spcBef>
              <a:spcAft>
                <a:spcPct val="0"/>
              </a:spcAft>
              <a:buClrTx/>
              <a:buSzTx/>
              <a:buFontTx/>
              <a:buNone/>
            </a:pPr>
            <a:endParaRPr lang="en-US" altLang="en-US" sz="2000" b="0" dirty="0"/>
          </a:p>
        </p:txBody>
      </p:sp>
      <p:grpSp>
        <p:nvGrpSpPr>
          <p:cNvPr id="2051" name="Group 7"/>
          <p:cNvGrpSpPr>
            <a:grpSpLocks/>
          </p:cNvGrpSpPr>
          <p:nvPr/>
        </p:nvGrpSpPr>
        <p:grpSpPr bwMode="auto">
          <a:xfrm>
            <a:off x="304800" y="1066800"/>
            <a:ext cx="8534400" cy="152400"/>
            <a:chOff x="264" y="788"/>
            <a:chExt cx="5232" cy="124"/>
          </a:xfrm>
        </p:grpSpPr>
        <p:sp>
          <p:nvSpPr>
            <p:cNvPr id="2053" name="Rectangle 8"/>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2054" name="Rectangle 9"/>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grpSp>
      <p:sp>
        <p:nvSpPr>
          <p:cNvPr id="2052" name="Rectangle 11"/>
          <p:cNvSpPr>
            <a:spLocks noGrp="1" noChangeArrowheads="1"/>
          </p:cNvSpPr>
          <p:nvPr>
            <p:ph type="title"/>
          </p:nvPr>
        </p:nvSpPr>
        <p:spPr>
          <a:xfrm>
            <a:off x="228600" y="152400"/>
            <a:ext cx="8763000" cy="838200"/>
          </a:xfrm>
          <a:noFill/>
        </p:spPr>
        <p:txBody>
          <a:bodyPr/>
          <a:lstStyle/>
          <a:p>
            <a:pPr algn="ctr"/>
            <a:r>
              <a:rPr lang="en-US" altLang="en-US"/>
              <a:t>Data Mining </a:t>
            </a:r>
            <a:br>
              <a:rPr lang="en-US" altLang="en-US"/>
            </a:br>
            <a:r>
              <a:rPr lang="en-US" altLang="en-US"/>
              <a:t>Classification: Alternative Techniques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ltLang="en-US"/>
              <a:t>Class Imbalance Problem</a:t>
            </a:r>
          </a:p>
        </p:txBody>
      </p:sp>
      <p:sp>
        <p:nvSpPr>
          <p:cNvPr id="3075" name="Rectangle 3"/>
          <p:cNvSpPr>
            <a:spLocks noGrp="1" noChangeArrowheads="1"/>
          </p:cNvSpPr>
          <p:nvPr>
            <p:ph type="body" idx="1"/>
          </p:nvPr>
        </p:nvSpPr>
        <p:spPr/>
        <p:txBody>
          <a:bodyPr/>
          <a:lstStyle/>
          <a:p>
            <a:r>
              <a:rPr lang="en-US" altLang="en-US" dirty="0"/>
              <a:t>Lots of classification problems where the classes are skewed (more records from one class than another)</a:t>
            </a:r>
          </a:p>
          <a:p>
            <a:pPr lvl="1"/>
            <a:r>
              <a:rPr lang="en-US" altLang="en-US" sz="2000" dirty="0"/>
              <a:t>Credit card fraud</a:t>
            </a:r>
          </a:p>
          <a:p>
            <a:pPr lvl="1"/>
            <a:r>
              <a:rPr lang="en-US" altLang="en-US" sz="2000" dirty="0"/>
              <a:t>Intrusion detection</a:t>
            </a:r>
          </a:p>
          <a:p>
            <a:pPr lvl="1"/>
            <a:r>
              <a:rPr lang="en-US" altLang="en-US" sz="2000" dirty="0"/>
              <a:t>Defective products in manufacturing assembly line</a:t>
            </a:r>
          </a:p>
          <a:p>
            <a:pPr lvl="1"/>
            <a:r>
              <a:rPr lang="en-US" altLang="en-US" sz="2000" dirty="0"/>
              <a:t>COVID-19 test results on a random sample</a:t>
            </a:r>
          </a:p>
          <a:p>
            <a:pPr marL="457200" lvl="1" indent="0">
              <a:buNone/>
            </a:pPr>
            <a:endParaRPr lang="en-US" altLang="en-US" sz="2000" dirty="0"/>
          </a:p>
          <a:p>
            <a:r>
              <a:rPr lang="en-US" altLang="en-US" b="1" dirty="0"/>
              <a:t>Key Challenge</a:t>
            </a:r>
            <a:r>
              <a:rPr lang="en-US" altLang="en-US" sz="2400" dirty="0"/>
              <a:t>: </a:t>
            </a:r>
          </a:p>
          <a:p>
            <a:pPr lvl="1"/>
            <a:r>
              <a:rPr lang="en-US" altLang="en-US" sz="2400" dirty="0"/>
              <a:t>Evaluation measures such as accuracy are not well-suited for imbalanced class</a:t>
            </a:r>
          </a:p>
          <a:p>
            <a:endParaRPr lang="en-US" altLang="en-US" sz="2000" dirty="0"/>
          </a:p>
          <a:p>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en-US"/>
              <a:t>Confusion Matrix</a:t>
            </a:r>
          </a:p>
        </p:txBody>
      </p:sp>
      <p:sp>
        <p:nvSpPr>
          <p:cNvPr id="5123" name="Rectangle 3"/>
          <p:cNvSpPr>
            <a:spLocks noGrp="1" noChangeArrowheads="1"/>
          </p:cNvSpPr>
          <p:nvPr>
            <p:ph type="body" idx="1"/>
          </p:nvPr>
        </p:nvSpPr>
        <p:spPr/>
        <p:txBody>
          <a:bodyPr/>
          <a:lstStyle/>
          <a:p>
            <a:r>
              <a:rPr lang="en-US" altLang="en-US"/>
              <a:t>Confusion Matrix:</a:t>
            </a:r>
          </a:p>
        </p:txBody>
      </p:sp>
      <p:graphicFrame>
        <p:nvGraphicFramePr>
          <p:cNvPr id="1321988" name="Group 4"/>
          <p:cNvGraphicFramePr>
            <a:graphicFrameLocks noGrp="1"/>
          </p:cNvGraphicFramePr>
          <p:nvPr/>
        </p:nvGraphicFramePr>
        <p:xfrm>
          <a:off x="1219200" y="1905000"/>
          <a:ext cx="6096000" cy="2794000"/>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660400">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a:ln>
                            <a:noFill/>
                          </a:ln>
                          <a:solidFill>
                            <a:schemeClr val="tx1"/>
                          </a:solidFill>
                          <a:effectLst/>
                          <a:latin typeface="Arial" charset="0"/>
                        </a:rPr>
                        <a:t>PREDICTED CLASS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85800">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2400" b="0" i="0" u="none" strike="noStrike" cap="none" normalizeH="0" baseline="0">
                          <a:ln>
                            <a:noFill/>
                          </a:ln>
                          <a:solidFill>
                            <a:schemeClr val="tx1"/>
                          </a:solidFill>
                          <a:effectLst/>
                          <a:latin typeface="Arial" charset="0"/>
                        </a:rPr>
                      </a:br>
                      <a:endParaRPr kumimoji="0" lang="en-US" sz="24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a:ln>
                            <a:noFill/>
                          </a:ln>
                          <a:solidFill>
                            <a:schemeClr val="tx1"/>
                          </a:solidFill>
                          <a:effectLst/>
                          <a:latin typeface="Arial" charset="0"/>
                        </a:rPr>
                        <a:t>ACTUAL</a:t>
                      </a:r>
                      <a:br>
                        <a:rPr kumimoji="0" lang="en-US" sz="2400" b="0" i="0" u="none" strike="noStrike" cap="none" normalizeH="0" baseline="0">
                          <a:ln>
                            <a:noFill/>
                          </a:ln>
                          <a:solidFill>
                            <a:schemeClr val="tx1"/>
                          </a:solidFill>
                          <a:effectLst/>
                          <a:latin typeface="Arial" charset="0"/>
                        </a:rPr>
                      </a:br>
                      <a:r>
                        <a:rPr kumimoji="0" lang="en-US" sz="2400" b="0" i="0" u="none" strike="noStrike" cap="none" normalizeH="0" baseline="0">
                          <a:ln>
                            <a:noFill/>
                          </a:ln>
                          <a:solidFill>
                            <a:schemeClr val="tx1"/>
                          </a:solidFill>
                          <a:effectLst/>
                          <a:latin typeface="Arial" charset="0"/>
                        </a:rPr>
                        <a:t>CLASS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73100">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74700">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147" name="Text Box 27"/>
          <p:cNvSpPr txBox="1">
            <a:spLocks noChangeArrowheads="1"/>
          </p:cNvSpPr>
          <p:nvPr/>
        </p:nvSpPr>
        <p:spPr bwMode="auto">
          <a:xfrm>
            <a:off x="3048000" y="4876800"/>
            <a:ext cx="2209800"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a: TP (true positive)</a:t>
            </a:r>
          </a:p>
          <a:p>
            <a:pPr>
              <a:spcBef>
                <a:spcPct val="50000"/>
              </a:spcBef>
              <a:spcAft>
                <a:spcPct val="0"/>
              </a:spcAft>
              <a:buClrTx/>
              <a:buSzTx/>
              <a:buFontTx/>
              <a:buNone/>
            </a:pPr>
            <a:r>
              <a:rPr lang="en-US" altLang="en-US" sz="1400"/>
              <a:t>b: FN (false negative)</a:t>
            </a:r>
          </a:p>
          <a:p>
            <a:pPr>
              <a:spcBef>
                <a:spcPct val="50000"/>
              </a:spcBef>
              <a:spcAft>
                <a:spcPct val="0"/>
              </a:spcAft>
              <a:buClrTx/>
              <a:buSzTx/>
              <a:buFontTx/>
              <a:buNone/>
            </a:pPr>
            <a:r>
              <a:rPr lang="en-US" altLang="en-US" sz="1400"/>
              <a:t>c: FP (false positive)</a:t>
            </a:r>
          </a:p>
          <a:p>
            <a:pPr>
              <a:spcBef>
                <a:spcPct val="50000"/>
              </a:spcBef>
              <a:spcAft>
                <a:spcPct val="0"/>
              </a:spcAft>
              <a:buClrTx/>
              <a:buSzTx/>
              <a:buFontTx/>
              <a:buNone/>
            </a:pPr>
            <a:r>
              <a:rPr lang="en-US" altLang="en-US" sz="1400"/>
              <a:t>d: TN (true negative)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a:t>Accuracy</a:t>
            </a:r>
          </a:p>
        </p:txBody>
      </p:sp>
      <p:sp>
        <p:nvSpPr>
          <p:cNvPr id="6147" name="Rectangle 3"/>
          <p:cNvSpPr>
            <a:spLocks noGrp="1" noChangeArrowheads="1"/>
          </p:cNvSpPr>
          <p:nvPr>
            <p:ph type="body" idx="1"/>
          </p:nvPr>
        </p:nvSpPr>
        <p:spPr/>
        <p:txBody>
          <a:bodyPr/>
          <a:lstStyle/>
          <a:p>
            <a:endParaRPr lang="en-US" altLang="en-US"/>
          </a:p>
          <a:p>
            <a:endParaRPr lang="en-US" altLang="en-US"/>
          </a:p>
          <a:p>
            <a:endParaRPr lang="en-US" altLang="en-US"/>
          </a:p>
          <a:p>
            <a:endParaRPr lang="en-US" altLang="en-US"/>
          </a:p>
          <a:p>
            <a:endParaRPr lang="en-US" altLang="en-US"/>
          </a:p>
          <a:p>
            <a:endParaRPr lang="en-US" altLang="en-US"/>
          </a:p>
          <a:p>
            <a:r>
              <a:rPr lang="en-US" altLang="en-US"/>
              <a:t>Most widely-used metric:</a:t>
            </a:r>
          </a:p>
          <a:p>
            <a:endParaRPr lang="en-US" altLang="en-US"/>
          </a:p>
        </p:txBody>
      </p:sp>
      <p:graphicFrame>
        <p:nvGraphicFramePr>
          <p:cNvPr id="1323012" name="Group 4"/>
          <p:cNvGraphicFramePr>
            <a:graphicFrameLocks noGrp="1"/>
          </p:cNvGraphicFramePr>
          <p:nvPr/>
        </p:nvGraphicFramePr>
        <p:xfrm>
          <a:off x="1524000" y="1219200"/>
          <a:ext cx="6096000" cy="2822575"/>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660549">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400" b="0" i="0" u="none" strike="noStrike" cap="none" normalizeH="0" baseline="0">
                        <a:ln>
                          <a:noFill/>
                        </a:ln>
                        <a:solidFill>
                          <a:schemeClr val="tx1"/>
                        </a:solidFill>
                        <a:effectLst/>
                        <a:latin typeface="Arial"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a:ln>
                            <a:noFill/>
                          </a:ln>
                          <a:solidFill>
                            <a:schemeClr val="tx1"/>
                          </a:solidFill>
                          <a:effectLst/>
                          <a:latin typeface="Arial" charset="0"/>
                        </a:rPr>
                        <a:t>PREDICTED CLASS</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85954">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2400" b="0" i="0" u="none" strike="noStrike" cap="none" normalizeH="0" baseline="0">
                          <a:ln>
                            <a:noFill/>
                          </a:ln>
                          <a:solidFill>
                            <a:schemeClr val="tx1"/>
                          </a:solidFill>
                          <a:effectLst/>
                          <a:latin typeface="Arial" charset="0"/>
                        </a:rPr>
                      </a:br>
                      <a:endParaRPr kumimoji="0" lang="en-US" sz="24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a:ln>
                            <a:noFill/>
                          </a:ln>
                          <a:solidFill>
                            <a:schemeClr val="tx1"/>
                          </a:solidFill>
                          <a:effectLst/>
                          <a:latin typeface="Arial" charset="0"/>
                        </a:rPr>
                        <a:t>ACTUAL</a:t>
                      </a:r>
                      <a:br>
                        <a:rPr kumimoji="0" lang="en-US" sz="2400" b="0" i="0" u="none" strike="noStrike" cap="none" normalizeH="0" baseline="0">
                          <a:ln>
                            <a:noFill/>
                          </a:ln>
                          <a:solidFill>
                            <a:schemeClr val="tx1"/>
                          </a:solidFill>
                          <a:effectLst/>
                          <a:latin typeface="Arial" charset="0"/>
                        </a:rPr>
                      </a:br>
                      <a:r>
                        <a:rPr kumimoji="0" lang="en-US" sz="2400" b="0" i="0" u="none" strike="noStrike" cap="none" normalizeH="0" baseline="0">
                          <a:ln>
                            <a:noFill/>
                          </a:ln>
                          <a:solidFill>
                            <a:schemeClr val="tx1"/>
                          </a:solidFill>
                          <a:effectLst/>
                          <a:latin typeface="Arial" charset="0"/>
                        </a:rPr>
                        <a:t>CLASS</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Class=Yes</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Class=No</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1198">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Class=Yes</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a</a:t>
                      </a:r>
                      <a:br>
                        <a:rPr kumimoji="0" lang="en-US" sz="2000" b="0" i="0" u="none" strike="noStrike" cap="none" normalizeH="0" baseline="0" dirty="0">
                          <a:ln>
                            <a:noFill/>
                          </a:ln>
                          <a:solidFill>
                            <a:schemeClr val="tx1"/>
                          </a:solidFill>
                          <a:effectLst/>
                          <a:latin typeface="Arial" charset="0"/>
                        </a:rPr>
                      </a:br>
                      <a:r>
                        <a:rPr kumimoji="0" lang="en-US" sz="2000" b="0" i="0" u="none" strike="noStrike" cap="none" normalizeH="0" baseline="0" dirty="0">
                          <a:ln>
                            <a:noFill/>
                          </a:ln>
                          <a:solidFill>
                            <a:srgbClr val="FF0000"/>
                          </a:solidFill>
                          <a:effectLst/>
                          <a:latin typeface="Arial" charset="0"/>
                        </a:rPr>
                        <a:t>(TP)</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b</a:t>
                      </a:r>
                      <a:br>
                        <a:rPr kumimoji="0" lang="en-US" sz="2000" b="0" i="0" u="none" strike="noStrike" cap="none" normalizeH="0" baseline="0">
                          <a:ln>
                            <a:noFill/>
                          </a:ln>
                          <a:solidFill>
                            <a:schemeClr val="tx1"/>
                          </a:solidFill>
                          <a:effectLst/>
                          <a:latin typeface="Arial" charset="0"/>
                        </a:rPr>
                      </a:br>
                      <a:r>
                        <a:rPr kumimoji="0" lang="en-US" sz="2000" b="0" i="0" u="none" strike="noStrike" cap="none" normalizeH="0" baseline="0">
                          <a:ln>
                            <a:noFill/>
                          </a:ln>
                          <a:solidFill>
                            <a:srgbClr val="FF0000"/>
                          </a:solidFill>
                          <a:effectLst/>
                          <a:latin typeface="Arial" charset="0"/>
                        </a:rPr>
                        <a:t>(FN)</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74874">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Class=No</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a:t>
                      </a:r>
                      <a:br>
                        <a:rPr kumimoji="0" lang="en-US" sz="2000" b="0" i="0" u="none" strike="noStrike" cap="none" normalizeH="0" baseline="0">
                          <a:ln>
                            <a:noFill/>
                          </a:ln>
                          <a:solidFill>
                            <a:schemeClr val="tx1"/>
                          </a:solidFill>
                          <a:effectLst/>
                          <a:latin typeface="Arial" charset="0"/>
                        </a:rPr>
                      </a:br>
                      <a:r>
                        <a:rPr kumimoji="0" lang="en-US" sz="2000" b="0" i="0" u="none" strike="noStrike" cap="none" normalizeH="0" baseline="0">
                          <a:ln>
                            <a:noFill/>
                          </a:ln>
                          <a:solidFill>
                            <a:srgbClr val="FF0000"/>
                          </a:solidFill>
                          <a:effectLst/>
                          <a:latin typeface="Arial" charset="0"/>
                        </a:rPr>
                        <a:t>(FP)</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d</a:t>
                      </a:r>
                      <a:br>
                        <a:rPr kumimoji="0" lang="en-US" sz="2000" b="0" i="0" u="none" strike="noStrike" cap="none" normalizeH="0" baseline="0" dirty="0">
                          <a:ln>
                            <a:noFill/>
                          </a:ln>
                          <a:solidFill>
                            <a:schemeClr val="tx1"/>
                          </a:solidFill>
                          <a:effectLst/>
                          <a:latin typeface="Arial" charset="0"/>
                        </a:rPr>
                      </a:br>
                      <a:r>
                        <a:rPr kumimoji="0" lang="en-US" sz="2000" b="0" i="0" u="none" strike="noStrike" cap="none" normalizeH="0" baseline="0" dirty="0">
                          <a:ln>
                            <a:noFill/>
                          </a:ln>
                          <a:solidFill>
                            <a:srgbClr val="FF0000"/>
                          </a:solidFill>
                          <a:effectLst/>
                          <a:latin typeface="Arial" charset="0"/>
                        </a:rPr>
                        <a:t>(TN)</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171" name="Object 27"/>
          <p:cNvGraphicFramePr>
            <a:graphicFrameLocks noChangeAspect="1"/>
          </p:cNvGraphicFramePr>
          <p:nvPr/>
        </p:nvGraphicFramePr>
        <p:xfrm>
          <a:off x="609600" y="5105400"/>
          <a:ext cx="7583488" cy="969963"/>
        </p:xfrm>
        <a:graphic>
          <a:graphicData uri="http://schemas.openxmlformats.org/presentationml/2006/ole">
            <mc:AlternateContent xmlns:mc="http://schemas.openxmlformats.org/markup-compatibility/2006">
              <mc:Choice xmlns:v="urn:schemas-microsoft-com:vml" Requires="v">
                <p:oleObj name="Equation" r:id="rId2" imgW="5664200" imgH="723900" progId="Equation.3">
                  <p:embed/>
                </p:oleObj>
              </mc:Choice>
              <mc:Fallback>
                <p:oleObj name="Equation" r:id="rId2" imgW="5664200" imgH="723900" progId="Equation.3">
                  <p:embed/>
                  <p:pic>
                    <p:nvPicPr>
                      <p:cNvPr id="0" name="Object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5105400"/>
                        <a:ext cx="7583488" cy="969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a:t>Problem with Accuracy</a:t>
            </a:r>
          </a:p>
        </p:txBody>
      </p:sp>
      <p:sp>
        <p:nvSpPr>
          <p:cNvPr id="8195" name="Rectangle 3"/>
          <p:cNvSpPr>
            <a:spLocks noGrp="1" noChangeArrowheads="1"/>
          </p:cNvSpPr>
          <p:nvPr>
            <p:ph type="body" idx="1"/>
          </p:nvPr>
        </p:nvSpPr>
        <p:spPr>
          <a:xfrm>
            <a:off x="411163" y="983381"/>
            <a:ext cx="8318500" cy="5188819"/>
          </a:xfrm>
        </p:spPr>
        <p:txBody>
          <a:bodyPr/>
          <a:lstStyle/>
          <a:p>
            <a:pPr>
              <a:lnSpc>
                <a:spcPct val="90000"/>
              </a:lnSpc>
            </a:pPr>
            <a:r>
              <a:rPr lang="en-US" altLang="en-US" sz="2400" dirty="0"/>
              <a:t>Consider a 2-class problem</a:t>
            </a:r>
          </a:p>
          <a:p>
            <a:pPr lvl="1">
              <a:lnSpc>
                <a:spcPct val="90000"/>
              </a:lnSpc>
            </a:pPr>
            <a:r>
              <a:rPr lang="en-US" altLang="en-US" sz="1800" dirty="0"/>
              <a:t>Number of Class NO examples = 990</a:t>
            </a:r>
          </a:p>
          <a:p>
            <a:pPr lvl="1">
              <a:lnSpc>
                <a:spcPct val="90000"/>
              </a:lnSpc>
            </a:pPr>
            <a:r>
              <a:rPr lang="en-US" altLang="en-US" sz="1800" dirty="0"/>
              <a:t>Number of Class YES examples = 10</a:t>
            </a:r>
            <a:endParaRPr lang="en-US" altLang="en-US" sz="2400" dirty="0"/>
          </a:p>
          <a:p>
            <a:pPr>
              <a:lnSpc>
                <a:spcPct val="90000"/>
              </a:lnSpc>
            </a:pPr>
            <a:r>
              <a:rPr lang="en-US" altLang="en-US" sz="2400" dirty="0"/>
              <a:t>If a model predicts everything to be class NO, accuracy is 990/1000 = 99 %</a:t>
            </a:r>
          </a:p>
          <a:p>
            <a:pPr lvl="1">
              <a:lnSpc>
                <a:spcPct val="90000"/>
              </a:lnSpc>
            </a:pPr>
            <a:r>
              <a:rPr lang="en-US" altLang="en-US" sz="1800" dirty="0"/>
              <a:t>This is misleading because this trivial model does not detect any class YES example</a:t>
            </a:r>
          </a:p>
          <a:p>
            <a:pPr lvl="1">
              <a:lnSpc>
                <a:spcPct val="90000"/>
              </a:lnSpc>
            </a:pPr>
            <a:r>
              <a:rPr lang="en-US" altLang="en-US" sz="1800" dirty="0"/>
              <a:t>Detecting the rare class is usually more interesting (e.g., frauds, intrusions, defects, </a:t>
            </a:r>
            <a:r>
              <a:rPr lang="en-US" altLang="en-US" sz="1800" dirty="0" err="1"/>
              <a:t>etc</a:t>
            </a:r>
            <a:r>
              <a:rPr lang="en-US" altLang="en-US" sz="1800" dirty="0"/>
              <a:t>)</a:t>
            </a:r>
          </a:p>
        </p:txBody>
      </p:sp>
      <p:graphicFrame>
        <p:nvGraphicFramePr>
          <p:cNvPr id="4" name="Group 4"/>
          <p:cNvGraphicFramePr>
            <a:graphicFrameLocks noGrp="1"/>
          </p:cNvGraphicFramePr>
          <p:nvPr>
            <p:extLst>
              <p:ext uri="{D42A27DB-BD31-4B8C-83A1-F6EECF244321}">
                <p14:modId xmlns:p14="http://schemas.microsoft.com/office/powerpoint/2010/main" val="3041574891"/>
              </p:ext>
            </p:extLst>
          </p:nvPr>
        </p:nvGraphicFramePr>
        <p:xfrm>
          <a:off x="1524000" y="4053695"/>
          <a:ext cx="6096000" cy="2651905"/>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620608">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400" b="0" i="0" u="none" strike="noStrike" cap="none" normalizeH="0" baseline="0">
                        <a:ln>
                          <a:noFill/>
                        </a:ln>
                        <a:solidFill>
                          <a:schemeClr val="tx1"/>
                        </a:solidFill>
                        <a:effectLst/>
                        <a:latin typeface="Arial"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dirty="0">
                          <a:ln>
                            <a:noFill/>
                          </a:ln>
                          <a:solidFill>
                            <a:schemeClr val="tx1"/>
                          </a:solidFill>
                          <a:effectLst/>
                          <a:latin typeface="Arial" charset="0"/>
                        </a:rPr>
                        <a:t>PREDICTED CLASS</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44477">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2400" b="0" i="0" u="none" strike="noStrike" cap="none" normalizeH="0" baseline="0">
                          <a:ln>
                            <a:noFill/>
                          </a:ln>
                          <a:solidFill>
                            <a:schemeClr val="tx1"/>
                          </a:solidFill>
                          <a:effectLst/>
                          <a:latin typeface="Arial" charset="0"/>
                        </a:rPr>
                      </a:br>
                      <a:endParaRPr kumimoji="0" lang="en-US" sz="24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a:ln>
                            <a:noFill/>
                          </a:ln>
                          <a:solidFill>
                            <a:schemeClr val="tx1"/>
                          </a:solidFill>
                          <a:effectLst/>
                          <a:latin typeface="Arial" charset="0"/>
                        </a:rPr>
                        <a:t>ACTUAL</a:t>
                      </a:r>
                      <a:br>
                        <a:rPr kumimoji="0" lang="en-US" sz="2400" b="0" i="0" u="none" strike="noStrike" cap="none" normalizeH="0" baseline="0">
                          <a:ln>
                            <a:noFill/>
                          </a:ln>
                          <a:solidFill>
                            <a:schemeClr val="tx1"/>
                          </a:solidFill>
                          <a:effectLst/>
                          <a:latin typeface="Arial" charset="0"/>
                        </a:rPr>
                      </a:br>
                      <a:r>
                        <a:rPr kumimoji="0" lang="en-US" sz="2400" b="0" i="0" u="none" strike="noStrike" cap="none" normalizeH="0" baseline="0">
                          <a:ln>
                            <a:noFill/>
                          </a:ln>
                          <a:solidFill>
                            <a:schemeClr val="tx1"/>
                          </a:solidFill>
                          <a:effectLst/>
                          <a:latin typeface="Arial" charset="0"/>
                        </a:rPr>
                        <a:t>CLASS</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dirty="0">
                        <a:ln>
                          <a:noFill/>
                        </a:ln>
                        <a:solidFill>
                          <a:schemeClr val="tx1"/>
                        </a:solidFill>
                        <a:effectLst/>
                        <a:latin typeface="Arial"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Class=Yes</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Class=No</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58799">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Class=Yes</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10</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28021">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Class=No</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990</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85903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Which model is better?</a:t>
            </a:r>
          </a:p>
        </p:txBody>
      </p:sp>
      <p:graphicFrame>
        <p:nvGraphicFramePr>
          <p:cNvPr id="4" name="Group 4"/>
          <p:cNvGraphicFramePr>
            <a:graphicFrameLocks noGrp="1"/>
          </p:cNvGraphicFramePr>
          <p:nvPr>
            <p:extLst>
              <p:ext uri="{D42A27DB-BD31-4B8C-83A1-F6EECF244321}">
                <p14:modId xmlns:p14="http://schemas.microsoft.com/office/powerpoint/2010/main" val="1421442092"/>
              </p:ext>
            </p:extLst>
          </p:nvPr>
        </p:nvGraphicFramePr>
        <p:xfrm>
          <a:off x="1524000" y="1143000"/>
          <a:ext cx="6096000" cy="1877289"/>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459704">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400" b="0" i="0" u="none" strike="noStrike" cap="none" normalizeH="0" baseline="0">
                        <a:ln>
                          <a:noFill/>
                        </a:ln>
                        <a:solidFill>
                          <a:schemeClr val="tx1"/>
                        </a:solidFill>
                        <a:effectLst/>
                        <a:latin typeface="Arial"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dirty="0">
                          <a:ln>
                            <a:noFill/>
                          </a:ln>
                          <a:solidFill>
                            <a:schemeClr val="tx1"/>
                          </a:solidFill>
                          <a:effectLst/>
                          <a:latin typeface="Arial" charset="0"/>
                        </a:rPr>
                        <a:t>PREDICTED </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98412">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ACTUAL</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Class=Yes</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Class=No</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12">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Class=Yes</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10</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0761">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Class=No</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990</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 name="Group 4"/>
          <p:cNvGraphicFramePr>
            <a:graphicFrameLocks noGrp="1"/>
          </p:cNvGraphicFramePr>
          <p:nvPr>
            <p:extLst>
              <p:ext uri="{D42A27DB-BD31-4B8C-83A1-F6EECF244321}">
                <p14:modId xmlns:p14="http://schemas.microsoft.com/office/powerpoint/2010/main" val="1215805315"/>
              </p:ext>
            </p:extLst>
          </p:nvPr>
        </p:nvGraphicFramePr>
        <p:xfrm>
          <a:off x="1676400" y="4038600"/>
          <a:ext cx="6096000" cy="1940938"/>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475290">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400" b="0" i="0" u="none" strike="noStrike" cap="none" normalizeH="0" baseline="0">
                        <a:ln>
                          <a:noFill/>
                        </a:ln>
                        <a:solidFill>
                          <a:schemeClr val="tx1"/>
                        </a:solidFill>
                        <a:effectLst/>
                        <a:latin typeface="Arial"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dirty="0">
                          <a:ln>
                            <a:noFill/>
                          </a:ln>
                          <a:solidFill>
                            <a:schemeClr val="tx1"/>
                          </a:solidFill>
                          <a:effectLst/>
                          <a:latin typeface="Arial" charset="0"/>
                        </a:rPr>
                        <a:t>PREDICTED </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11920">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ACTUAL</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Class=Yes</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Class=No</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1920">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Class=Yes</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10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0</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1808">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Class=No</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500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490</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 name="TextBox 2"/>
          <p:cNvSpPr txBox="1"/>
          <p:nvPr/>
        </p:nvSpPr>
        <p:spPr>
          <a:xfrm>
            <a:off x="914400" y="1752600"/>
            <a:ext cx="554960" cy="707886"/>
          </a:xfrm>
          <a:prstGeom prst="rect">
            <a:avLst/>
          </a:prstGeom>
          <a:noFill/>
        </p:spPr>
        <p:txBody>
          <a:bodyPr wrap="none" rtlCol="0">
            <a:spAutoFit/>
          </a:bodyPr>
          <a:lstStyle/>
          <a:p>
            <a:r>
              <a:rPr lang="en-US" sz="4000" dirty="0"/>
              <a:t>A</a:t>
            </a:r>
          </a:p>
        </p:txBody>
      </p:sp>
      <p:sp>
        <p:nvSpPr>
          <p:cNvPr id="6" name="TextBox 5"/>
          <p:cNvSpPr txBox="1"/>
          <p:nvPr/>
        </p:nvSpPr>
        <p:spPr>
          <a:xfrm>
            <a:off x="1066800" y="4245114"/>
            <a:ext cx="526106" cy="707886"/>
          </a:xfrm>
          <a:prstGeom prst="rect">
            <a:avLst/>
          </a:prstGeom>
          <a:noFill/>
        </p:spPr>
        <p:txBody>
          <a:bodyPr wrap="none" rtlCol="0">
            <a:spAutoFit/>
          </a:bodyPr>
          <a:lstStyle/>
          <a:p>
            <a:r>
              <a:rPr lang="en-US" sz="4000" b="0" dirty="0"/>
              <a:t>B</a:t>
            </a:r>
          </a:p>
        </p:txBody>
      </p:sp>
      <p:sp>
        <p:nvSpPr>
          <p:cNvPr id="7" name="TextBox 6"/>
          <p:cNvSpPr txBox="1"/>
          <p:nvPr/>
        </p:nvSpPr>
        <p:spPr>
          <a:xfrm>
            <a:off x="3352800" y="2971800"/>
            <a:ext cx="1826141" cy="369332"/>
          </a:xfrm>
          <a:prstGeom prst="rect">
            <a:avLst/>
          </a:prstGeom>
          <a:noFill/>
        </p:spPr>
        <p:txBody>
          <a:bodyPr wrap="square" rtlCol="0">
            <a:spAutoFit/>
          </a:bodyPr>
          <a:lstStyle/>
          <a:p>
            <a:r>
              <a:rPr lang="en-US" sz="1800" dirty="0"/>
              <a:t>Accuracy: 99%</a:t>
            </a:r>
          </a:p>
        </p:txBody>
      </p:sp>
      <p:sp>
        <p:nvSpPr>
          <p:cNvPr id="8" name="TextBox 7"/>
          <p:cNvSpPr txBox="1"/>
          <p:nvPr/>
        </p:nvSpPr>
        <p:spPr>
          <a:xfrm>
            <a:off x="3584059" y="5955268"/>
            <a:ext cx="1826141" cy="369332"/>
          </a:xfrm>
          <a:prstGeom prst="rect">
            <a:avLst/>
          </a:prstGeom>
          <a:noFill/>
        </p:spPr>
        <p:txBody>
          <a:bodyPr wrap="square" rtlCol="0">
            <a:spAutoFit/>
          </a:bodyPr>
          <a:lstStyle/>
          <a:p>
            <a:r>
              <a:rPr lang="en-US" sz="1800" dirty="0"/>
              <a:t>Accuracy: 50%</a:t>
            </a:r>
          </a:p>
        </p:txBody>
      </p:sp>
    </p:spTree>
    <p:extLst>
      <p:ext uri="{BB962C8B-B14F-4D97-AF65-F5344CB8AC3E}">
        <p14:creationId xmlns:p14="http://schemas.microsoft.com/office/powerpoint/2010/main" val="2702826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Which model is better?</a:t>
            </a:r>
          </a:p>
        </p:txBody>
      </p:sp>
      <p:graphicFrame>
        <p:nvGraphicFramePr>
          <p:cNvPr id="4" name="Group 4"/>
          <p:cNvGraphicFramePr>
            <a:graphicFrameLocks noGrp="1"/>
          </p:cNvGraphicFramePr>
          <p:nvPr>
            <p:extLst>
              <p:ext uri="{D42A27DB-BD31-4B8C-83A1-F6EECF244321}">
                <p14:modId xmlns:p14="http://schemas.microsoft.com/office/powerpoint/2010/main" val="487013316"/>
              </p:ext>
            </p:extLst>
          </p:nvPr>
        </p:nvGraphicFramePr>
        <p:xfrm>
          <a:off x="1524000" y="1600200"/>
          <a:ext cx="6096000" cy="1877289"/>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459704">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400" b="0" i="0" u="none" strike="noStrike" cap="none" normalizeH="0" baseline="0">
                        <a:ln>
                          <a:noFill/>
                        </a:ln>
                        <a:solidFill>
                          <a:schemeClr val="tx1"/>
                        </a:solidFill>
                        <a:effectLst/>
                        <a:latin typeface="Arial"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dirty="0">
                          <a:ln>
                            <a:noFill/>
                          </a:ln>
                          <a:solidFill>
                            <a:schemeClr val="tx1"/>
                          </a:solidFill>
                          <a:effectLst/>
                          <a:latin typeface="Arial" charset="0"/>
                        </a:rPr>
                        <a:t>PREDICTED </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98412">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ACTUAL</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Class=Yes</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Class=No</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12">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Class=Yes</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5</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5</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0761">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Class=No</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990</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 name="Group 4"/>
          <p:cNvGraphicFramePr>
            <a:graphicFrameLocks noGrp="1"/>
          </p:cNvGraphicFramePr>
          <p:nvPr>
            <p:extLst>
              <p:ext uri="{D42A27DB-BD31-4B8C-83A1-F6EECF244321}">
                <p14:modId xmlns:p14="http://schemas.microsoft.com/office/powerpoint/2010/main" val="1790601691"/>
              </p:ext>
            </p:extLst>
          </p:nvPr>
        </p:nvGraphicFramePr>
        <p:xfrm>
          <a:off x="1676400" y="4267200"/>
          <a:ext cx="6096000" cy="1918853"/>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469882">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400" b="0" i="0" u="none" strike="noStrike" cap="none" normalizeH="0" baseline="0">
                        <a:ln>
                          <a:noFill/>
                        </a:ln>
                        <a:solidFill>
                          <a:schemeClr val="tx1"/>
                        </a:solidFill>
                        <a:effectLst/>
                        <a:latin typeface="Arial"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dirty="0">
                          <a:ln>
                            <a:noFill/>
                          </a:ln>
                          <a:solidFill>
                            <a:schemeClr val="tx1"/>
                          </a:solidFill>
                          <a:effectLst/>
                          <a:latin typeface="Arial" charset="0"/>
                        </a:rPr>
                        <a:t>PREDICTED </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07233">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ACTUAL</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Class=Yes</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Class=No</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7233">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Class=Yes</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10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0</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4505">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Class=No</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500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rgbClr val="FF0000"/>
                          </a:solidFill>
                          <a:effectLst/>
                          <a:latin typeface="Arial" charset="0"/>
                        </a:rPr>
                        <a:t>490</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 name="TextBox 2"/>
          <p:cNvSpPr txBox="1"/>
          <p:nvPr/>
        </p:nvSpPr>
        <p:spPr>
          <a:xfrm>
            <a:off x="914400" y="1752600"/>
            <a:ext cx="554960" cy="707886"/>
          </a:xfrm>
          <a:prstGeom prst="rect">
            <a:avLst/>
          </a:prstGeom>
          <a:noFill/>
        </p:spPr>
        <p:txBody>
          <a:bodyPr wrap="none" rtlCol="0">
            <a:spAutoFit/>
          </a:bodyPr>
          <a:lstStyle/>
          <a:p>
            <a:r>
              <a:rPr lang="en-US" sz="4000" dirty="0"/>
              <a:t>A</a:t>
            </a:r>
          </a:p>
        </p:txBody>
      </p:sp>
      <p:sp>
        <p:nvSpPr>
          <p:cNvPr id="6" name="TextBox 5"/>
          <p:cNvSpPr txBox="1"/>
          <p:nvPr/>
        </p:nvSpPr>
        <p:spPr>
          <a:xfrm>
            <a:off x="1066800" y="4245114"/>
            <a:ext cx="526106" cy="707886"/>
          </a:xfrm>
          <a:prstGeom prst="rect">
            <a:avLst/>
          </a:prstGeom>
          <a:noFill/>
        </p:spPr>
        <p:txBody>
          <a:bodyPr wrap="none" rtlCol="0">
            <a:spAutoFit/>
          </a:bodyPr>
          <a:lstStyle/>
          <a:p>
            <a:r>
              <a:rPr lang="en-US" sz="4000" b="0" dirty="0"/>
              <a:t>B</a:t>
            </a:r>
          </a:p>
        </p:txBody>
      </p:sp>
    </p:spTree>
    <p:extLst>
      <p:ext uri="{BB962C8B-B14F-4D97-AF65-F5344CB8AC3E}">
        <p14:creationId xmlns:p14="http://schemas.microsoft.com/office/powerpoint/2010/main" val="3485490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a:t>Alternative Measures</a:t>
            </a:r>
          </a:p>
        </p:txBody>
      </p:sp>
      <p:graphicFrame>
        <p:nvGraphicFramePr>
          <p:cNvPr id="9219" name="Object 3"/>
          <p:cNvGraphicFramePr>
            <a:graphicFrameLocks noChangeAspect="1"/>
          </p:cNvGraphicFramePr>
          <p:nvPr>
            <p:extLst>
              <p:ext uri="{D42A27DB-BD31-4B8C-83A1-F6EECF244321}">
                <p14:modId xmlns:p14="http://schemas.microsoft.com/office/powerpoint/2010/main" val="2331042908"/>
              </p:ext>
            </p:extLst>
          </p:nvPr>
        </p:nvGraphicFramePr>
        <p:xfrm>
          <a:off x="2514600" y="3616657"/>
          <a:ext cx="4800600" cy="2680956"/>
        </p:xfrm>
        <a:graphic>
          <a:graphicData uri="http://schemas.openxmlformats.org/presentationml/2006/ole">
            <mc:AlternateContent xmlns:mc="http://schemas.openxmlformats.org/markup-compatibility/2006">
              <mc:Choice xmlns:v="urn:schemas-microsoft-com:vml" Requires="v">
                <p:oleObj name="Equation" r:id="rId3" imgW="4241800" imgH="2400300" progId="Equation.3">
                  <p:embed/>
                </p:oleObj>
              </mc:Choice>
              <mc:Fallback>
                <p:oleObj name="Equation" r:id="rId3" imgW="4241800" imgH="24003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616657"/>
                        <a:ext cx="4800600" cy="2680956"/>
                      </a:xfrm>
                      <a:prstGeom prst="rect">
                        <a:avLst/>
                      </a:prstGeom>
                      <a:noFill/>
                      <a:ln>
                        <a:noFill/>
                      </a:ln>
                      <a:effectLst/>
                    </p:spPr>
                  </p:pic>
                </p:oleObj>
              </mc:Fallback>
            </mc:AlternateContent>
          </a:graphicData>
        </a:graphic>
      </p:graphicFrame>
      <p:graphicFrame>
        <p:nvGraphicFramePr>
          <p:cNvPr id="1325060" name="Group 4"/>
          <p:cNvGraphicFramePr>
            <a:graphicFrameLocks noGrp="1"/>
          </p:cNvGraphicFramePr>
          <p:nvPr>
            <p:ph idx="1"/>
          </p:nvPr>
        </p:nvGraphicFramePr>
        <p:xfrm>
          <a:off x="1554163" y="1143000"/>
          <a:ext cx="6065837" cy="2362201"/>
        </p:xfrm>
        <a:graphic>
          <a:graphicData uri="http://schemas.openxmlformats.org/drawingml/2006/table">
            <a:tbl>
              <a:tblPr/>
              <a:tblGrid>
                <a:gridCol w="1516062">
                  <a:extLst>
                    <a:ext uri="{9D8B030D-6E8A-4147-A177-3AD203B41FA5}">
                      <a16:colId xmlns:a16="http://schemas.microsoft.com/office/drawing/2014/main" val="20000"/>
                    </a:ext>
                  </a:extLst>
                </a:gridCol>
                <a:gridCol w="1517650">
                  <a:extLst>
                    <a:ext uri="{9D8B030D-6E8A-4147-A177-3AD203B41FA5}">
                      <a16:colId xmlns:a16="http://schemas.microsoft.com/office/drawing/2014/main" val="20001"/>
                    </a:ext>
                  </a:extLst>
                </a:gridCol>
                <a:gridCol w="1516063">
                  <a:extLst>
                    <a:ext uri="{9D8B030D-6E8A-4147-A177-3AD203B41FA5}">
                      <a16:colId xmlns:a16="http://schemas.microsoft.com/office/drawing/2014/main" val="20002"/>
                    </a:ext>
                  </a:extLst>
                </a:gridCol>
                <a:gridCol w="1516062">
                  <a:extLst>
                    <a:ext uri="{9D8B030D-6E8A-4147-A177-3AD203B41FA5}">
                      <a16:colId xmlns:a16="http://schemas.microsoft.com/office/drawing/2014/main" val="20003"/>
                    </a:ext>
                  </a:extLst>
                </a:gridCol>
              </a:tblGrid>
              <a:tr h="558800">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a:ln>
                            <a:noFill/>
                          </a:ln>
                          <a:solidFill>
                            <a:schemeClr val="tx1"/>
                          </a:solidFill>
                          <a:effectLst/>
                          <a:latin typeface="Arial" charset="0"/>
                        </a:rPr>
                        <a:t>PREDICTED CLASS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79438">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2400" b="0" i="0" u="none" strike="noStrike" cap="none" normalizeH="0" baseline="0" dirty="0">
                          <a:ln>
                            <a:noFill/>
                          </a:ln>
                          <a:solidFill>
                            <a:schemeClr val="tx1"/>
                          </a:solidFill>
                          <a:effectLst/>
                          <a:latin typeface="Arial" charset="0"/>
                        </a:rPr>
                      </a:br>
                      <a:endParaRPr kumimoji="0" lang="en-US" sz="2400" b="0" i="0" u="none" strike="noStrike" cap="none" normalizeH="0" baseline="0" dirty="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400" b="0" i="0" u="none" strike="noStrike" cap="none" normalizeH="0" baseline="0" dirty="0">
                          <a:ln>
                            <a:noFill/>
                          </a:ln>
                          <a:solidFill>
                            <a:schemeClr val="tx1"/>
                          </a:solidFill>
                          <a:effectLst/>
                          <a:latin typeface="Arial" charset="0"/>
                        </a:rPr>
                        <a:t>ACTUAL</a:t>
                      </a:r>
                      <a:br>
                        <a:rPr kumimoji="0" lang="en-US" sz="2400" b="0" i="0" u="none" strike="noStrike" cap="none" normalizeH="0" baseline="0" dirty="0">
                          <a:ln>
                            <a:noFill/>
                          </a:ln>
                          <a:solidFill>
                            <a:schemeClr val="tx1"/>
                          </a:solidFill>
                          <a:effectLst/>
                          <a:latin typeface="Arial" charset="0"/>
                        </a:rPr>
                      </a:br>
                      <a:r>
                        <a:rPr kumimoji="0" lang="en-US" sz="2400" b="0" i="0" u="none" strike="noStrike" cap="none" normalizeH="0" baseline="0" dirty="0">
                          <a:ln>
                            <a:noFill/>
                          </a:ln>
                          <a:solidFill>
                            <a:schemeClr val="tx1"/>
                          </a:solidFill>
                          <a:effectLst/>
                          <a:latin typeface="Arial" charset="0"/>
                        </a:rPr>
                        <a:t>CLASS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8325">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55638">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a:t>Alternative Measures</a:t>
            </a:r>
          </a:p>
        </p:txBody>
      </p:sp>
      <p:graphicFrame>
        <p:nvGraphicFramePr>
          <p:cNvPr id="10243" name="Object 3"/>
          <p:cNvGraphicFramePr>
            <a:graphicFrameLocks noChangeAspect="1"/>
          </p:cNvGraphicFramePr>
          <p:nvPr>
            <p:extLst>
              <p:ext uri="{D42A27DB-BD31-4B8C-83A1-F6EECF244321}">
                <p14:modId xmlns:p14="http://schemas.microsoft.com/office/powerpoint/2010/main" val="3808167309"/>
              </p:ext>
            </p:extLst>
          </p:nvPr>
        </p:nvGraphicFramePr>
        <p:xfrm>
          <a:off x="5645150" y="1103313"/>
          <a:ext cx="2989263" cy="2363787"/>
        </p:xfrm>
        <a:graphic>
          <a:graphicData uri="http://schemas.openxmlformats.org/presentationml/2006/ole">
            <mc:AlternateContent xmlns:mc="http://schemas.openxmlformats.org/markup-compatibility/2006">
              <mc:Choice xmlns:v="urn:schemas-microsoft-com:vml" Requires="v">
                <p:oleObj name="Equation" r:id="rId3" imgW="2057400" imgH="1625400" progId="Equation.3">
                  <p:embed/>
                </p:oleObj>
              </mc:Choice>
              <mc:Fallback>
                <p:oleObj name="Equation" r:id="rId3" imgW="2057400" imgH="1625400" progId="Equation.3">
                  <p:embed/>
                  <p:pic>
                    <p:nvPicPr>
                      <p:cNvPr id="0" name="Object 3"/>
                      <p:cNvPicPr>
                        <a:picLocks noChangeAspect="1" noChangeArrowheads="1"/>
                      </p:cNvPicPr>
                      <p:nvPr/>
                    </p:nvPicPr>
                    <p:blipFill>
                      <a:blip r:embed="rId4"/>
                      <a:srcRect/>
                      <a:stretch>
                        <a:fillRect/>
                      </a:stretch>
                    </p:blipFill>
                    <p:spPr bwMode="auto">
                      <a:xfrm>
                        <a:off x="5645150" y="1103313"/>
                        <a:ext cx="2989263" cy="236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25060" name="Group 4"/>
          <p:cNvGraphicFramePr>
            <a:graphicFrameLocks noGrp="1"/>
          </p:cNvGraphicFramePr>
          <p:nvPr>
            <p:ph idx="1"/>
          </p:nvPr>
        </p:nvGraphicFramePr>
        <p:xfrm>
          <a:off x="304800" y="1295400"/>
          <a:ext cx="4953000" cy="1904999"/>
        </p:xfrm>
        <a:graphic>
          <a:graphicData uri="http://schemas.openxmlformats.org/drawingml/2006/table">
            <a:tbl>
              <a:tblPr/>
              <a:tblGrid>
                <a:gridCol w="1237926">
                  <a:extLst>
                    <a:ext uri="{9D8B030D-6E8A-4147-A177-3AD203B41FA5}">
                      <a16:colId xmlns:a16="http://schemas.microsoft.com/office/drawing/2014/main" val="20000"/>
                    </a:ext>
                  </a:extLst>
                </a:gridCol>
                <a:gridCol w="1239222">
                  <a:extLst>
                    <a:ext uri="{9D8B030D-6E8A-4147-A177-3AD203B41FA5}">
                      <a16:colId xmlns:a16="http://schemas.microsoft.com/office/drawing/2014/main" val="20001"/>
                    </a:ext>
                  </a:extLst>
                </a:gridCol>
                <a:gridCol w="1237926">
                  <a:extLst>
                    <a:ext uri="{9D8B030D-6E8A-4147-A177-3AD203B41FA5}">
                      <a16:colId xmlns:a16="http://schemas.microsoft.com/office/drawing/2014/main" val="20002"/>
                    </a:ext>
                  </a:extLst>
                </a:gridCol>
                <a:gridCol w="1237926">
                  <a:extLst>
                    <a:ext uri="{9D8B030D-6E8A-4147-A177-3AD203B41FA5}">
                      <a16:colId xmlns:a16="http://schemas.microsoft.com/office/drawing/2014/main" val="20003"/>
                    </a:ext>
                  </a:extLst>
                </a:gridCol>
              </a:tblGrid>
              <a:tr h="450645">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dirty="0">
                          <a:ln>
                            <a:noFill/>
                          </a:ln>
                          <a:solidFill>
                            <a:schemeClr val="tx1"/>
                          </a:solidFill>
                          <a:effectLst/>
                          <a:latin typeface="Arial" charset="0"/>
                        </a:rPr>
                        <a:t>PREDICTED CLASS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67288">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1800" b="0" i="0" u="none" strike="noStrike" cap="none" normalizeH="0" baseline="0">
                          <a:ln>
                            <a:noFill/>
                          </a:ln>
                          <a:solidFill>
                            <a:schemeClr val="tx1"/>
                          </a:solidFill>
                          <a:effectLst/>
                          <a:latin typeface="Arial" charset="0"/>
                        </a:rPr>
                      </a:br>
                      <a:endParaRPr kumimoji="0" lang="en-US" sz="18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ACTUAL</a:t>
                      </a:r>
                      <a:br>
                        <a:rPr kumimoji="0" lang="en-US" sz="1800" b="0" i="0" u="none" strike="noStrike" cap="none" normalizeH="0" baseline="0">
                          <a:ln>
                            <a:noFill/>
                          </a:ln>
                          <a:solidFill>
                            <a:schemeClr val="tx1"/>
                          </a:solidFill>
                          <a:effectLst/>
                          <a:latin typeface="Arial" charset="0"/>
                        </a:rPr>
                      </a:br>
                      <a:r>
                        <a:rPr kumimoji="0" lang="en-US" sz="1800" b="0" i="0" u="none" strike="noStrike" cap="none" normalizeH="0" baseline="0">
                          <a:ln>
                            <a:noFill/>
                          </a:ln>
                          <a:solidFill>
                            <a:schemeClr val="tx1"/>
                          </a:solidFill>
                          <a:effectLst/>
                          <a:latin typeface="Arial" charset="0"/>
                        </a:rPr>
                        <a:t>CLASS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8326">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8740">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 980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a:t>Alternative Measures</a:t>
            </a:r>
          </a:p>
        </p:txBody>
      </p:sp>
      <p:graphicFrame>
        <p:nvGraphicFramePr>
          <p:cNvPr id="11267" name="Object 3"/>
          <p:cNvGraphicFramePr>
            <a:graphicFrameLocks noChangeAspect="1"/>
          </p:cNvGraphicFramePr>
          <p:nvPr>
            <p:extLst>
              <p:ext uri="{D42A27DB-BD31-4B8C-83A1-F6EECF244321}">
                <p14:modId xmlns:p14="http://schemas.microsoft.com/office/powerpoint/2010/main" val="3070885538"/>
              </p:ext>
            </p:extLst>
          </p:nvPr>
        </p:nvGraphicFramePr>
        <p:xfrm>
          <a:off x="5645150" y="1103313"/>
          <a:ext cx="2989263" cy="2363787"/>
        </p:xfrm>
        <a:graphic>
          <a:graphicData uri="http://schemas.openxmlformats.org/presentationml/2006/ole">
            <mc:AlternateContent xmlns:mc="http://schemas.openxmlformats.org/markup-compatibility/2006">
              <mc:Choice xmlns:v="urn:schemas-microsoft-com:vml" Requires="v">
                <p:oleObj name="Equation" r:id="rId2" imgW="2057400" imgH="1625400" progId="Equation.3">
                  <p:embed/>
                </p:oleObj>
              </mc:Choice>
              <mc:Fallback>
                <p:oleObj name="Equation" r:id="rId2" imgW="2057400" imgH="1625400" progId="Equation.3">
                  <p:embed/>
                  <p:pic>
                    <p:nvPicPr>
                      <p:cNvPr id="0" name="Object 3"/>
                      <p:cNvPicPr>
                        <a:picLocks noChangeAspect="1" noChangeArrowheads="1"/>
                      </p:cNvPicPr>
                      <p:nvPr/>
                    </p:nvPicPr>
                    <p:blipFill>
                      <a:blip r:embed="rId3"/>
                      <a:srcRect/>
                      <a:stretch>
                        <a:fillRect/>
                      </a:stretch>
                    </p:blipFill>
                    <p:spPr bwMode="auto">
                      <a:xfrm>
                        <a:off x="5645150" y="1103313"/>
                        <a:ext cx="2989263" cy="236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25060" name="Group 4"/>
          <p:cNvGraphicFramePr>
            <a:graphicFrameLocks noGrp="1"/>
          </p:cNvGraphicFramePr>
          <p:nvPr>
            <p:ph idx="1"/>
          </p:nvPr>
        </p:nvGraphicFramePr>
        <p:xfrm>
          <a:off x="304800" y="1295400"/>
          <a:ext cx="4953000" cy="1904999"/>
        </p:xfrm>
        <a:graphic>
          <a:graphicData uri="http://schemas.openxmlformats.org/drawingml/2006/table">
            <a:tbl>
              <a:tblPr/>
              <a:tblGrid>
                <a:gridCol w="1237926">
                  <a:extLst>
                    <a:ext uri="{9D8B030D-6E8A-4147-A177-3AD203B41FA5}">
                      <a16:colId xmlns:a16="http://schemas.microsoft.com/office/drawing/2014/main" val="20000"/>
                    </a:ext>
                  </a:extLst>
                </a:gridCol>
                <a:gridCol w="1239222">
                  <a:extLst>
                    <a:ext uri="{9D8B030D-6E8A-4147-A177-3AD203B41FA5}">
                      <a16:colId xmlns:a16="http://schemas.microsoft.com/office/drawing/2014/main" val="20001"/>
                    </a:ext>
                  </a:extLst>
                </a:gridCol>
                <a:gridCol w="1237926">
                  <a:extLst>
                    <a:ext uri="{9D8B030D-6E8A-4147-A177-3AD203B41FA5}">
                      <a16:colId xmlns:a16="http://schemas.microsoft.com/office/drawing/2014/main" val="20002"/>
                    </a:ext>
                  </a:extLst>
                </a:gridCol>
                <a:gridCol w="1237926">
                  <a:extLst>
                    <a:ext uri="{9D8B030D-6E8A-4147-A177-3AD203B41FA5}">
                      <a16:colId xmlns:a16="http://schemas.microsoft.com/office/drawing/2014/main" val="20003"/>
                    </a:ext>
                  </a:extLst>
                </a:gridCol>
              </a:tblGrid>
              <a:tr h="450645">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dirty="0">
                          <a:ln>
                            <a:noFill/>
                          </a:ln>
                          <a:solidFill>
                            <a:schemeClr val="tx1"/>
                          </a:solidFill>
                          <a:effectLst/>
                          <a:latin typeface="Arial" charset="0"/>
                        </a:rPr>
                        <a:t>PREDICTED CLASS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67288">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1800" b="0" i="0" u="none" strike="noStrike" cap="none" normalizeH="0" baseline="0">
                          <a:ln>
                            <a:noFill/>
                          </a:ln>
                          <a:solidFill>
                            <a:schemeClr val="tx1"/>
                          </a:solidFill>
                          <a:effectLst/>
                          <a:latin typeface="Arial" charset="0"/>
                        </a:rPr>
                      </a:br>
                      <a:endParaRPr kumimoji="0" lang="en-US" sz="18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ACTUAL</a:t>
                      </a:r>
                      <a:br>
                        <a:rPr kumimoji="0" lang="en-US" sz="1800" b="0" i="0" u="none" strike="noStrike" cap="none" normalizeH="0" baseline="0">
                          <a:ln>
                            <a:noFill/>
                          </a:ln>
                          <a:solidFill>
                            <a:schemeClr val="tx1"/>
                          </a:solidFill>
                          <a:effectLst/>
                          <a:latin typeface="Arial" charset="0"/>
                        </a:rPr>
                      </a:br>
                      <a:r>
                        <a:rPr kumimoji="0" lang="en-US" sz="1800" b="0" i="0" u="none" strike="noStrike" cap="none" normalizeH="0" baseline="0">
                          <a:ln>
                            <a:noFill/>
                          </a:ln>
                          <a:solidFill>
                            <a:schemeClr val="tx1"/>
                          </a:solidFill>
                          <a:effectLst/>
                          <a:latin typeface="Arial" charset="0"/>
                        </a:rPr>
                        <a:t>CLASS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8326">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8740">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 980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 name="Group 4"/>
          <p:cNvGraphicFramePr>
            <a:graphicFrameLocks/>
          </p:cNvGraphicFramePr>
          <p:nvPr/>
        </p:nvGraphicFramePr>
        <p:xfrm>
          <a:off x="304800" y="3962400"/>
          <a:ext cx="4953000" cy="1904999"/>
        </p:xfrm>
        <a:graphic>
          <a:graphicData uri="http://schemas.openxmlformats.org/drawingml/2006/table">
            <a:tbl>
              <a:tblPr/>
              <a:tblGrid>
                <a:gridCol w="1237926">
                  <a:extLst>
                    <a:ext uri="{9D8B030D-6E8A-4147-A177-3AD203B41FA5}">
                      <a16:colId xmlns:a16="http://schemas.microsoft.com/office/drawing/2014/main" val="20000"/>
                    </a:ext>
                  </a:extLst>
                </a:gridCol>
                <a:gridCol w="1239222">
                  <a:extLst>
                    <a:ext uri="{9D8B030D-6E8A-4147-A177-3AD203B41FA5}">
                      <a16:colId xmlns:a16="http://schemas.microsoft.com/office/drawing/2014/main" val="20001"/>
                    </a:ext>
                  </a:extLst>
                </a:gridCol>
                <a:gridCol w="1237926">
                  <a:extLst>
                    <a:ext uri="{9D8B030D-6E8A-4147-A177-3AD203B41FA5}">
                      <a16:colId xmlns:a16="http://schemas.microsoft.com/office/drawing/2014/main" val="20002"/>
                    </a:ext>
                  </a:extLst>
                </a:gridCol>
                <a:gridCol w="1237926">
                  <a:extLst>
                    <a:ext uri="{9D8B030D-6E8A-4147-A177-3AD203B41FA5}">
                      <a16:colId xmlns:a16="http://schemas.microsoft.com/office/drawing/2014/main" val="20003"/>
                    </a:ext>
                  </a:extLst>
                </a:gridCol>
              </a:tblGrid>
              <a:tr h="450645">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dirty="0">
                          <a:ln>
                            <a:noFill/>
                          </a:ln>
                          <a:solidFill>
                            <a:schemeClr val="tx1"/>
                          </a:solidFill>
                          <a:effectLst/>
                          <a:latin typeface="Arial" charset="0"/>
                        </a:rPr>
                        <a:t>PREDICTED CLASS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67288">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1800" b="0" i="0" u="none" strike="noStrike" cap="none" normalizeH="0" baseline="0">
                          <a:ln>
                            <a:noFill/>
                          </a:ln>
                          <a:solidFill>
                            <a:schemeClr val="tx1"/>
                          </a:solidFill>
                          <a:effectLst/>
                          <a:latin typeface="Arial" charset="0"/>
                        </a:rPr>
                      </a:br>
                      <a:endParaRPr kumimoji="0" lang="en-US" sz="18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ACTUAL</a:t>
                      </a:r>
                      <a:br>
                        <a:rPr kumimoji="0" lang="en-US" sz="1800" b="0" i="0" u="none" strike="noStrike" cap="none" normalizeH="0" baseline="0">
                          <a:ln>
                            <a:noFill/>
                          </a:ln>
                          <a:solidFill>
                            <a:schemeClr val="tx1"/>
                          </a:solidFill>
                          <a:effectLst/>
                          <a:latin typeface="Arial" charset="0"/>
                        </a:rPr>
                      </a:br>
                      <a:r>
                        <a:rPr kumimoji="0" lang="en-US" sz="1800" b="0" i="0" u="none" strike="noStrike" cap="none" normalizeH="0" baseline="0">
                          <a:ln>
                            <a:noFill/>
                          </a:ln>
                          <a:solidFill>
                            <a:schemeClr val="tx1"/>
                          </a:solidFill>
                          <a:effectLst/>
                          <a:latin typeface="Arial" charset="0"/>
                        </a:rPr>
                        <a:t>CLASS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8326">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8740">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 990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1314" name="Object 1"/>
          <p:cNvGraphicFramePr>
            <a:graphicFrameLocks noChangeAspect="1"/>
          </p:cNvGraphicFramePr>
          <p:nvPr>
            <p:extLst>
              <p:ext uri="{D42A27DB-BD31-4B8C-83A1-F6EECF244321}">
                <p14:modId xmlns:p14="http://schemas.microsoft.com/office/powerpoint/2010/main" val="154471030"/>
              </p:ext>
            </p:extLst>
          </p:nvPr>
        </p:nvGraphicFramePr>
        <p:xfrm>
          <a:off x="5648325" y="3962400"/>
          <a:ext cx="2970213" cy="2363788"/>
        </p:xfrm>
        <a:graphic>
          <a:graphicData uri="http://schemas.openxmlformats.org/presentationml/2006/ole">
            <mc:AlternateContent xmlns:mc="http://schemas.openxmlformats.org/markup-compatibility/2006">
              <mc:Choice xmlns:v="urn:schemas-microsoft-com:vml" Requires="v">
                <p:oleObj name="Equation" r:id="rId4" imgW="2044440" imgH="1625400" progId="Equation.3">
                  <p:embed/>
                </p:oleObj>
              </mc:Choice>
              <mc:Fallback>
                <p:oleObj name="Equation" r:id="rId4" imgW="2044440" imgH="1625400" progId="Equation.3">
                  <p:embed/>
                  <p:pic>
                    <p:nvPicPr>
                      <p:cNvPr id="0" name="Object 1"/>
                      <p:cNvPicPr>
                        <a:picLocks noChangeAspect="1" noChangeArrowheads="1"/>
                      </p:cNvPicPr>
                      <p:nvPr/>
                    </p:nvPicPr>
                    <p:blipFill>
                      <a:blip r:embed="rId5"/>
                      <a:srcRect/>
                      <a:stretch>
                        <a:fillRect/>
                      </a:stretch>
                    </p:blipFill>
                    <p:spPr bwMode="auto">
                      <a:xfrm>
                        <a:off x="5648325" y="3962400"/>
                        <a:ext cx="2970213" cy="236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en-US" dirty="0"/>
              <a:t>Which of these classifiers is better?</a:t>
            </a:r>
          </a:p>
        </p:txBody>
      </p:sp>
      <p:graphicFrame>
        <p:nvGraphicFramePr>
          <p:cNvPr id="13315" name="Object 3"/>
          <p:cNvGraphicFramePr>
            <a:graphicFrameLocks noChangeAspect="1"/>
          </p:cNvGraphicFramePr>
          <p:nvPr/>
        </p:nvGraphicFramePr>
        <p:xfrm>
          <a:off x="6207125" y="1638300"/>
          <a:ext cx="1863725" cy="1292225"/>
        </p:xfrm>
        <a:graphic>
          <a:graphicData uri="http://schemas.openxmlformats.org/presentationml/2006/ole">
            <mc:AlternateContent xmlns:mc="http://schemas.openxmlformats.org/markup-compatibility/2006">
              <mc:Choice xmlns:v="urn:schemas-microsoft-com:vml" Requires="v">
                <p:oleObj name="Equation" r:id="rId3" imgW="1282700" imgH="889000" progId="Equation.3">
                  <p:embed/>
                </p:oleObj>
              </mc:Choice>
              <mc:Fallback>
                <p:oleObj name="Equation" r:id="rId3" imgW="1282700" imgH="8890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7125" y="1638300"/>
                        <a:ext cx="1863725"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25060" name="Group 4"/>
          <p:cNvGraphicFramePr>
            <a:graphicFrameLocks noGrp="1"/>
          </p:cNvGraphicFramePr>
          <p:nvPr>
            <p:ph idx="1"/>
            <p:extLst>
              <p:ext uri="{D42A27DB-BD31-4B8C-83A1-F6EECF244321}">
                <p14:modId xmlns:p14="http://schemas.microsoft.com/office/powerpoint/2010/main" val="3083074945"/>
              </p:ext>
            </p:extLst>
          </p:nvPr>
        </p:nvGraphicFramePr>
        <p:xfrm>
          <a:off x="914400" y="1295400"/>
          <a:ext cx="4953000" cy="1904999"/>
        </p:xfrm>
        <a:graphic>
          <a:graphicData uri="http://schemas.openxmlformats.org/drawingml/2006/table">
            <a:tbl>
              <a:tblPr/>
              <a:tblGrid>
                <a:gridCol w="1237926">
                  <a:extLst>
                    <a:ext uri="{9D8B030D-6E8A-4147-A177-3AD203B41FA5}">
                      <a16:colId xmlns:a16="http://schemas.microsoft.com/office/drawing/2014/main" val="20000"/>
                    </a:ext>
                  </a:extLst>
                </a:gridCol>
                <a:gridCol w="1239222">
                  <a:extLst>
                    <a:ext uri="{9D8B030D-6E8A-4147-A177-3AD203B41FA5}">
                      <a16:colId xmlns:a16="http://schemas.microsoft.com/office/drawing/2014/main" val="20001"/>
                    </a:ext>
                  </a:extLst>
                </a:gridCol>
                <a:gridCol w="1237926">
                  <a:extLst>
                    <a:ext uri="{9D8B030D-6E8A-4147-A177-3AD203B41FA5}">
                      <a16:colId xmlns:a16="http://schemas.microsoft.com/office/drawing/2014/main" val="20002"/>
                    </a:ext>
                  </a:extLst>
                </a:gridCol>
                <a:gridCol w="1237926">
                  <a:extLst>
                    <a:ext uri="{9D8B030D-6E8A-4147-A177-3AD203B41FA5}">
                      <a16:colId xmlns:a16="http://schemas.microsoft.com/office/drawing/2014/main" val="20003"/>
                    </a:ext>
                  </a:extLst>
                </a:gridCol>
              </a:tblGrid>
              <a:tr h="450645">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dirty="0">
                          <a:ln>
                            <a:noFill/>
                          </a:ln>
                          <a:solidFill>
                            <a:schemeClr val="tx1"/>
                          </a:solidFill>
                          <a:effectLst/>
                          <a:latin typeface="Arial" charset="0"/>
                        </a:rPr>
                        <a:t>PREDICTED CLASS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67288">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1800" b="0" i="0" u="none" strike="noStrike" cap="none" normalizeH="0" baseline="0">
                          <a:ln>
                            <a:noFill/>
                          </a:ln>
                          <a:solidFill>
                            <a:schemeClr val="tx1"/>
                          </a:solidFill>
                          <a:effectLst/>
                          <a:latin typeface="Arial" charset="0"/>
                        </a:rPr>
                      </a:br>
                      <a:endParaRPr kumimoji="0" lang="en-US" sz="18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ACTUAL</a:t>
                      </a:r>
                      <a:br>
                        <a:rPr kumimoji="0" lang="en-US" sz="1800" b="0" i="0" u="none" strike="noStrike" cap="none" normalizeH="0" baseline="0">
                          <a:ln>
                            <a:noFill/>
                          </a:ln>
                          <a:solidFill>
                            <a:schemeClr val="tx1"/>
                          </a:solidFill>
                          <a:effectLst/>
                          <a:latin typeface="Arial" charset="0"/>
                        </a:rPr>
                      </a:br>
                      <a:r>
                        <a:rPr kumimoji="0" lang="en-US" sz="1800" b="0" i="0" u="none" strike="noStrike" cap="none" normalizeH="0" baseline="0">
                          <a:ln>
                            <a:noFill/>
                          </a:ln>
                          <a:solidFill>
                            <a:schemeClr val="tx1"/>
                          </a:solidFill>
                          <a:effectLst/>
                          <a:latin typeface="Arial" charset="0"/>
                        </a:rPr>
                        <a:t>CLASS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8326">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8740">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 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 name="Group 4"/>
          <p:cNvGraphicFramePr>
            <a:graphicFrameLocks/>
          </p:cNvGraphicFramePr>
          <p:nvPr>
            <p:extLst>
              <p:ext uri="{D42A27DB-BD31-4B8C-83A1-F6EECF244321}">
                <p14:modId xmlns:p14="http://schemas.microsoft.com/office/powerpoint/2010/main" val="2031681268"/>
              </p:ext>
            </p:extLst>
          </p:nvPr>
        </p:nvGraphicFramePr>
        <p:xfrm>
          <a:off x="914400" y="3962400"/>
          <a:ext cx="4953000" cy="1904999"/>
        </p:xfrm>
        <a:graphic>
          <a:graphicData uri="http://schemas.openxmlformats.org/drawingml/2006/table">
            <a:tbl>
              <a:tblPr/>
              <a:tblGrid>
                <a:gridCol w="1237926">
                  <a:extLst>
                    <a:ext uri="{9D8B030D-6E8A-4147-A177-3AD203B41FA5}">
                      <a16:colId xmlns:a16="http://schemas.microsoft.com/office/drawing/2014/main" val="20000"/>
                    </a:ext>
                  </a:extLst>
                </a:gridCol>
                <a:gridCol w="1239222">
                  <a:extLst>
                    <a:ext uri="{9D8B030D-6E8A-4147-A177-3AD203B41FA5}">
                      <a16:colId xmlns:a16="http://schemas.microsoft.com/office/drawing/2014/main" val="20001"/>
                    </a:ext>
                  </a:extLst>
                </a:gridCol>
                <a:gridCol w="1237926">
                  <a:extLst>
                    <a:ext uri="{9D8B030D-6E8A-4147-A177-3AD203B41FA5}">
                      <a16:colId xmlns:a16="http://schemas.microsoft.com/office/drawing/2014/main" val="20002"/>
                    </a:ext>
                  </a:extLst>
                </a:gridCol>
                <a:gridCol w="1237926">
                  <a:extLst>
                    <a:ext uri="{9D8B030D-6E8A-4147-A177-3AD203B41FA5}">
                      <a16:colId xmlns:a16="http://schemas.microsoft.com/office/drawing/2014/main" val="20003"/>
                    </a:ext>
                  </a:extLst>
                </a:gridCol>
              </a:tblGrid>
              <a:tr h="450645">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dirty="0">
                          <a:ln>
                            <a:noFill/>
                          </a:ln>
                          <a:solidFill>
                            <a:schemeClr val="tx1"/>
                          </a:solidFill>
                          <a:effectLst/>
                          <a:latin typeface="Arial" charset="0"/>
                        </a:rPr>
                        <a:t>PREDICTED CLASS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67288">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1800" b="0" i="0" u="none" strike="noStrike" cap="none" normalizeH="0" baseline="0">
                          <a:ln>
                            <a:noFill/>
                          </a:ln>
                          <a:solidFill>
                            <a:schemeClr val="tx1"/>
                          </a:solidFill>
                          <a:effectLst/>
                          <a:latin typeface="Arial" charset="0"/>
                        </a:rPr>
                      </a:br>
                      <a:endParaRPr kumimoji="0" lang="en-US" sz="18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ACTUAL</a:t>
                      </a:r>
                      <a:br>
                        <a:rPr kumimoji="0" lang="en-US" sz="1800" b="0" i="0" u="none" strike="noStrike" cap="none" normalizeH="0" baseline="0">
                          <a:ln>
                            <a:noFill/>
                          </a:ln>
                          <a:solidFill>
                            <a:schemeClr val="tx1"/>
                          </a:solidFill>
                          <a:effectLst/>
                          <a:latin typeface="Arial" charset="0"/>
                        </a:rPr>
                      </a:br>
                      <a:r>
                        <a:rPr kumimoji="0" lang="en-US" sz="1800" b="0" i="0" u="none" strike="noStrike" cap="none" normalizeH="0" baseline="0">
                          <a:ln>
                            <a:noFill/>
                          </a:ln>
                          <a:solidFill>
                            <a:schemeClr val="tx1"/>
                          </a:solidFill>
                          <a:effectLst/>
                          <a:latin typeface="Arial" charset="0"/>
                        </a:rPr>
                        <a:t>CLASS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8326">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8740">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1000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 4000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3362" name="Object 1"/>
          <p:cNvGraphicFramePr>
            <a:graphicFrameLocks noChangeAspect="1"/>
          </p:cNvGraphicFramePr>
          <p:nvPr>
            <p:extLst>
              <p:ext uri="{D42A27DB-BD31-4B8C-83A1-F6EECF244321}">
                <p14:modId xmlns:p14="http://schemas.microsoft.com/office/powerpoint/2010/main" val="3852230510"/>
              </p:ext>
            </p:extLst>
          </p:nvPr>
        </p:nvGraphicFramePr>
        <p:xfrm>
          <a:off x="6081713" y="4497388"/>
          <a:ext cx="2103437" cy="1292225"/>
        </p:xfrm>
        <a:graphic>
          <a:graphicData uri="http://schemas.openxmlformats.org/presentationml/2006/ole">
            <mc:AlternateContent xmlns:mc="http://schemas.openxmlformats.org/markup-compatibility/2006">
              <mc:Choice xmlns:v="urn:schemas-microsoft-com:vml" Requires="v">
                <p:oleObj name="Equation" r:id="rId5" imgW="1447560" imgH="888840" progId="Equation.3">
                  <p:embed/>
                </p:oleObj>
              </mc:Choice>
              <mc:Fallback>
                <p:oleObj name="Equation" r:id="rId5" imgW="1447560" imgH="888840" progId="Equation.3">
                  <p:embed/>
                  <p:pic>
                    <p:nvPicPr>
                      <p:cNvPr id="0" name="Object 1"/>
                      <p:cNvPicPr>
                        <a:picLocks noChangeAspect="1" noChangeArrowheads="1"/>
                      </p:cNvPicPr>
                      <p:nvPr/>
                    </p:nvPicPr>
                    <p:blipFill>
                      <a:blip r:embed="rId6"/>
                      <a:srcRect/>
                      <a:stretch>
                        <a:fillRect/>
                      </a:stretch>
                    </p:blipFill>
                    <p:spPr bwMode="auto">
                      <a:xfrm>
                        <a:off x="6081713" y="4497388"/>
                        <a:ext cx="2103437"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extBox 1"/>
          <p:cNvSpPr txBox="1"/>
          <p:nvPr/>
        </p:nvSpPr>
        <p:spPr>
          <a:xfrm>
            <a:off x="381000" y="1638300"/>
            <a:ext cx="184731" cy="307777"/>
          </a:xfrm>
          <a:prstGeom prst="rect">
            <a:avLst/>
          </a:prstGeom>
          <a:noFill/>
        </p:spPr>
        <p:txBody>
          <a:bodyPr wrap="none" rtlCol="0">
            <a:spAutoFit/>
          </a:bodyPr>
          <a:lstStyle/>
          <a:p>
            <a:endParaRPr lang="en-US"/>
          </a:p>
        </p:txBody>
      </p:sp>
      <p:sp>
        <p:nvSpPr>
          <p:cNvPr id="3" name="TextBox 2"/>
          <p:cNvSpPr txBox="1"/>
          <p:nvPr/>
        </p:nvSpPr>
        <p:spPr>
          <a:xfrm>
            <a:off x="228600" y="1801092"/>
            <a:ext cx="455746" cy="646331"/>
          </a:xfrm>
          <a:prstGeom prst="rect">
            <a:avLst/>
          </a:prstGeom>
          <a:noFill/>
        </p:spPr>
        <p:txBody>
          <a:bodyPr wrap="square" rtlCol="0">
            <a:spAutoFit/>
          </a:bodyPr>
          <a:lstStyle/>
          <a:p>
            <a:r>
              <a:rPr lang="en-US" sz="3600" dirty="0"/>
              <a:t>A</a:t>
            </a:r>
          </a:p>
        </p:txBody>
      </p:sp>
      <p:sp>
        <p:nvSpPr>
          <p:cNvPr id="9" name="TextBox 8"/>
          <p:cNvSpPr txBox="1"/>
          <p:nvPr/>
        </p:nvSpPr>
        <p:spPr>
          <a:xfrm>
            <a:off x="318655" y="4078069"/>
            <a:ext cx="381432" cy="646331"/>
          </a:xfrm>
          <a:prstGeom prst="rect">
            <a:avLst/>
          </a:prstGeom>
          <a:noFill/>
        </p:spPr>
        <p:txBody>
          <a:bodyPr wrap="square" rtlCol="0">
            <a:spAutoFit/>
          </a:bodyPr>
          <a:lstStyle/>
          <a:p>
            <a:r>
              <a:rPr lang="en-US" sz="3600" dirty="0"/>
              <a:t>B</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8600" y="76200"/>
            <a:ext cx="8686800" cy="715963"/>
          </a:xfrm>
        </p:spPr>
        <p:txBody>
          <a:bodyPr/>
          <a:lstStyle/>
          <a:p>
            <a:pPr eaLnBrk="1" hangingPunct="1"/>
            <a:r>
              <a:rPr lang="en-US" altLang="en-US"/>
              <a:t>Measures of Classification Performance</a:t>
            </a:r>
          </a:p>
        </p:txBody>
      </p:sp>
      <p:graphicFrame>
        <p:nvGraphicFramePr>
          <p:cNvPr id="763908" name="Group 4"/>
          <p:cNvGraphicFramePr>
            <a:graphicFrameLocks noGrp="1"/>
          </p:cNvGraphicFramePr>
          <p:nvPr/>
        </p:nvGraphicFramePr>
        <p:xfrm>
          <a:off x="63500" y="1676400"/>
          <a:ext cx="3149600" cy="1387476"/>
        </p:xfrm>
        <a:graphic>
          <a:graphicData uri="http://schemas.openxmlformats.org/drawingml/2006/table">
            <a:tbl>
              <a:tblPr/>
              <a:tblGrid>
                <a:gridCol w="982251">
                  <a:extLst>
                    <a:ext uri="{9D8B030D-6E8A-4147-A177-3AD203B41FA5}">
                      <a16:colId xmlns:a16="http://schemas.microsoft.com/office/drawing/2014/main" val="20000"/>
                    </a:ext>
                  </a:extLst>
                </a:gridCol>
                <a:gridCol w="567907">
                  <a:extLst>
                    <a:ext uri="{9D8B030D-6E8A-4147-A177-3AD203B41FA5}">
                      <a16:colId xmlns:a16="http://schemas.microsoft.com/office/drawing/2014/main" val="20001"/>
                    </a:ext>
                  </a:extLst>
                </a:gridCol>
                <a:gridCol w="685475">
                  <a:extLst>
                    <a:ext uri="{9D8B030D-6E8A-4147-A177-3AD203B41FA5}">
                      <a16:colId xmlns:a16="http://schemas.microsoft.com/office/drawing/2014/main" val="20002"/>
                    </a:ext>
                  </a:extLst>
                </a:gridCol>
                <a:gridCol w="913967">
                  <a:extLst>
                    <a:ext uri="{9D8B030D-6E8A-4147-A177-3AD203B41FA5}">
                      <a16:colId xmlns:a16="http://schemas.microsoft.com/office/drawing/2014/main" val="20003"/>
                    </a:ext>
                  </a:extLst>
                </a:gridCol>
              </a:tblGrid>
              <a:tr h="3354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ndParaRPr>
                    </a:p>
                  </a:txBody>
                  <a:tcPr marL="91397" marR="91397" marT="45741" marB="457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rPr>
                        <a:t>PREDICTED CLASS</a:t>
                      </a:r>
                    </a:p>
                  </a:txBody>
                  <a:tcPr marL="91397" marR="91397" marT="45741" marB="457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81174">
                <a:tc row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br>
                        <a:rPr kumimoji="0" lang="en-US" sz="1600" b="0" i="0" u="none" strike="noStrike" cap="none" normalizeH="0" baseline="0" dirty="0">
                          <a:ln>
                            <a:noFill/>
                          </a:ln>
                          <a:solidFill>
                            <a:schemeClr val="tx1"/>
                          </a:solidFill>
                          <a:effectLst/>
                          <a:latin typeface="Arial" charset="0"/>
                        </a:rPr>
                      </a:br>
                      <a:r>
                        <a:rPr kumimoji="0" lang="en-US" sz="1600" b="0" i="0" u="none" strike="noStrike" cap="none" normalizeH="0" baseline="0" dirty="0">
                          <a:ln>
                            <a:noFill/>
                          </a:ln>
                          <a:solidFill>
                            <a:schemeClr val="tx1"/>
                          </a:solidFill>
                          <a:effectLst/>
                          <a:latin typeface="Arial" charset="0"/>
                        </a:rPr>
                        <a:t>ACTUAL</a:t>
                      </a:r>
                      <a:br>
                        <a:rPr kumimoji="0" lang="en-US" sz="1600" b="0" i="0" u="none" strike="noStrike" cap="none" normalizeH="0" baseline="0" dirty="0">
                          <a:ln>
                            <a:noFill/>
                          </a:ln>
                          <a:solidFill>
                            <a:schemeClr val="tx1"/>
                          </a:solidFill>
                          <a:effectLst/>
                          <a:latin typeface="Arial" charset="0"/>
                        </a:rPr>
                      </a:br>
                      <a:r>
                        <a:rPr kumimoji="0" lang="en-US" sz="1600" b="0" i="0" u="none" strike="noStrike" cap="none" normalizeH="0" baseline="0" dirty="0">
                          <a:ln>
                            <a:noFill/>
                          </a:ln>
                          <a:solidFill>
                            <a:schemeClr val="tx1"/>
                          </a:solidFill>
                          <a:effectLst/>
                          <a:latin typeface="Arial" charset="0"/>
                        </a:rPr>
                        <a:t>CLASS</a:t>
                      </a:r>
                    </a:p>
                  </a:txBody>
                  <a:tcPr marL="91397" marR="91397" marT="45741" marB="457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ndParaRPr>
                    </a:p>
                  </a:txBody>
                  <a:tcPr marL="91397" marR="91397" marT="45741" marB="457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rPr>
                        <a:t>Yes</a:t>
                      </a:r>
                    </a:p>
                  </a:txBody>
                  <a:tcPr marL="91397" marR="91397" marT="45741" marB="457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rPr>
                        <a:t>No</a:t>
                      </a:r>
                    </a:p>
                  </a:txBody>
                  <a:tcPr marL="91397" marR="91397" marT="45741" marB="457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434">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rPr>
                        <a:t>Yes</a:t>
                      </a:r>
                    </a:p>
                  </a:txBody>
                  <a:tcPr marL="91397" marR="91397" marT="45741" marB="457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FF0000"/>
                          </a:solidFill>
                          <a:effectLst/>
                          <a:latin typeface="Arial" charset="0"/>
                        </a:rPr>
                        <a:t>TP</a:t>
                      </a:r>
                    </a:p>
                  </a:txBody>
                  <a:tcPr marL="91397" marR="91397" marT="45741" marB="457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FF0000"/>
                          </a:solidFill>
                          <a:effectLst/>
                          <a:latin typeface="Arial" charset="0"/>
                        </a:rPr>
                        <a:t>FN</a:t>
                      </a:r>
                    </a:p>
                  </a:txBody>
                  <a:tcPr marL="91397" marR="91397" marT="45741" marB="457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434">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rPr>
                        <a:t>No</a:t>
                      </a:r>
                    </a:p>
                  </a:txBody>
                  <a:tcPr marL="91397" marR="91397" marT="45741" marB="457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FF0000"/>
                          </a:solidFill>
                          <a:effectLst/>
                          <a:latin typeface="Arial" charset="0"/>
                        </a:rPr>
                        <a:t>FP</a:t>
                      </a:r>
                    </a:p>
                  </a:txBody>
                  <a:tcPr marL="91397" marR="91397" marT="45741" marB="457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FF0000"/>
                          </a:solidFill>
                          <a:effectLst/>
                          <a:latin typeface="Arial" charset="0"/>
                        </a:rPr>
                        <a:t>TN</a:t>
                      </a:r>
                    </a:p>
                  </a:txBody>
                  <a:tcPr marL="91397" marR="91397" marT="45741" marB="457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 name="TextBox 4"/>
          <p:cNvSpPr txBox="1">
            <a:spLocks noRot="1" noChangeAspect="1" noMove="1" noResize="1" noEditPoints="1" noAdjustHandles="1" noChangeArrowheads="1" noChangeShapeType="1" noTextEdit="1"/>
          </p:cNvSpPr>
          <p:nvPr/>
        </p:nvSpPr>
        <p:spPr>
          <a:xfrm>
            <a:off x="3581400" y="1295400"/>
            <a:ext cx="5562600" cy="5099088"/>
          </a:xfrm>
          <a:prstGeom prst="rect">
            <a:avLst/>
          </a:prstGeom>
          <a:blipFill rotWithShape="1">
            <a:blip r:embed="rId3"/>
            <a:stretch>
              <a:fillRect/>
            </a:stretch>
          </a:blipFill>
        </p:spPr>
        <p:txBody>
          <a:bodyPr/>
          <a:lstStyle/>
          <a:p>
            <a:pPr>
              <a:defRPr/>
            </a:pPr>
            <a:r>
              <a:rPr lang="en-US">
                <a:noFill/>
              </a:rPr>
              <a:t> </a:t>
            </a:r>
          </a:p>
        </p:txBody>
      </p:sp>
      <p:sp>
        <p:nvSpPr>
          <p:cNvPr id="14363" name="TextBox 15"/>
          <p:cNvSpPr txBox="1">
            <a:spLocks noChangeArrowheads="1"/>
          </p:cNvSpPr>
          <p:nvPr/>
        </p:nvSpPr>
        <p:spPr bwMode="auto">
          <a:xfrm>
            <a:off x="152400" y="3276600"/>
            <a:ext cx="29718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dirty="0">
                <a:sym typeface="Symbol" pitchFamily="18" charset="2"/>
              </a:rPr>
              <a:t></a:t>
            </a:r>
            <a:r>
              <a:rPr lang="en-US" altLang="en-US" sz="1400" dirty="0"/>
              <a:t> is the probability that we reject the null hypothesis when it is true. This is a Type I error or a false positive (FP).</a:t>
            </a:r>
          </a:p>
          <a:p>
            <a:pPr>
              <a:spcBef>
                <a:spcPct val="0"/>
              </a:spcBef>
              <a:spcAft>
                <a:spcPct val="0"/>
              </a:spcAft>
              <a:buClrTx/>
              <a:buSzTx/>
              <a:buFontTx/>
              <a:buNone/>
            </a:pPr>
            <a:endParaRPr lang="en-US" altLang="en-US" sz="1400" dirty="0"/>
          </a:p>
          <a:p>
            <a:pPr>
              <a:spcBef>
                <a:spcPct val="0"/>
              </a:spcBef>
              <a:spcAft>
                <a:spcPct val="0"/>
              </a:spcAft>
              <a:buClrTx/>
              <a:buSzTx/>
              <a:buFontTx/>
              <a:buNone/>
            </a:pPr>
            <a:r>
              <a:rPr lang="en-US" altLang="en-US" sz="1400" dirty="0">
                <a:sym typeface="Symbol" pitchFamily="18" charset="2"/>
              </a:rPr>
              <a:t></a:t>
            </a:r>
            <a:r>
              <a:rPr lang="en-US" altLang="en-US" sz="1400" dirty="0"/>
              <a:t> is the probability that we accept the null hypothesis when it is false. This is a Type II error or a false negative (FN).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a:t>Alternative Measures</a:t>
            </a:r>
          </a:p>
        </p:txBody>
      </p:sp>
      <mc:AlternateContent xmlns:mc="http://schemas.openxmlformats.org/markup-compatibility/2006" xmlns:a14="http://schemas.microsoft.com/office/drawing/2010/main">
        <mc:Choice Requires="a14">
          <p:sp>
            <p:nvSpPr>
              <p:cNvPr id="15363" name="Object 3"/>
              <p:cNvSpPr txBox="1"/>
              <p:nvPr/>
            </p:nvSpPr>
            <p:spPr bwMode="auto">
              <a:xfrm>
                <a:off x="6132512" y="1306513"/>
                <a:ext cx="2528887" cy="1957387"/>
              </a:xfrm>
              <a:prstGeom prst="rect">
                <a:avLst/>
              </a:prstGeom>
              <a:noFill/>
              <a:ln>
                <a:noFill/>
              </a:ln>
            </p:spPr>
            <p:txBody>
              <a:bodyPr>
                <a:normAutofit/>
              </a:bodyPr>
              <a:lstStyle/>
              <a:p>
                <a:pPr>
                  <a:spcBef>
                    <a:spcPts val="300"/>
                  </a:spcBef>
                </a:pPr>
                <a14:m>
                  <m:oMathPara xmlns:m="http://schemas.openxmlformats.org/officeDocument/2006/math">
                    <m:oMathParaPr>
                      <m:jc m:val="left"/>
                    </m:oMathParaPr>
                    <m:oMath xmlns:m="http://schemas.openxmlformats.org/officeDocument/2006/math">
                      <m:r>
                        <m:rPr>
                          <m:nor/>
                        </m:rPr>
                        <a:rPr lang="en-US" sz="1600" b="0" i="0" smtClean="0">
                          <a:solidFill>
                            <a:srgbClr val="000000"/>
                          </a:solidFill>
                          <a:latin typeface="Cambria Math" panose="02040503050406030204" pitchFamily="18" charset="0"/>
                        </a:rPr>
                        <m:t>Precision</m:t>
                      </m:r>
                      <m:r>
                        <m:rPr>
                          <m:nor/>
                        </m:rPr>
                        <a:rPr lang="en-US" sz="1600" b="0" i="0" smtClean="0">
                          <a:solidFill>
                            <a:srgbClr val="000000"/>
                          </a:solidFill>
                          <a:latin typeface="Cambria Math" panose="02040503050406030204" pitchFamily="18" charset="0"/>
                        </a:rPr>
                        <m:t> </m:t>
                      </m:r>
                      <m:r>
                        <a:rPr lang="en-US" sz="1600" b="0" i="1">
                          <a:solidFill>
                            <a:srgbClr val="000000"/>
                          </a:solidFill>
                          <a:latin typeface="Cambria Math" panose="02040503050406030204" pitchFamily="18" charset="0"/>
                        </a:rPr>
                        <m:t>(</m:t>
                      </m:r>
                      <m:r>
                        <m:rPr>
                          <m:sty m:val="p"/>
                        </m:rPr>
                        <a:rPr lang="en-US" sz="1600" b="0" i="0">
                          <a:solidFill>
                            <a:srgbClr val="000000"/>
                          </a:solidFill>
                          <a:latin typeface="Cambria Math" panose="02040503050406030204" pitchFamily="18" charset="0"/>
                        </a:rPr>
                        <m:t>p</m:t>
                      </m:r>
                      <m:r>
                        <a:rPr lang="en-US" sz="1600" b="0" i="1">
                          <a:solidFill>
                            <a:srgbClr val="000000"/>
                          </a:solidFill>
                          <a:latin typeface="Cambria Math" panose="02040503050406030204" pitchFamily="18" charset="0"/>
                        </a:rPr>
                        <m:t>)</m:t>
                      </m:r>
                      <m:r>
                        <a:rPr lang="en-US" sz="1600" b="0" i="0">
                          <a:solidFill>
                            <a:srgbClr val="000000"/>
                          </a:solidFill>
                          <a:latin typeface="Cambria Math" panose="02040503050406030204" pitchFamily="18" charset="0"/>
                        </a:rPr>
                        <m:t> </m:t>
                      </m:r>
                      <m:r>
                        <a:rPr lang="en-US" sz="1600" b="0" i="1">
                          <a:solidFill>
                            <a:srgbClr val="000000"/>
                          </a:solidFill>
                          <a:latin typeface="Cambria Math" panose="02040503050406030204" pitchFamily="18" charset="0"/>
                        </a:rPr>
                        <m:t>=0.8</m:t>
                      </m:r>
                    </m:oMath>
                    <m:oMath xmlns:m="http://schemas.openxmlformats.org/officeDocument/2006/math">
                      <m:r>
                        <m:rPr>
                          <m:nor/>
                        </m:rPr>
                        <a:rPr lang="en-US" sz="1600" b="0" i="0">
                          <a:solidFill>
                            <a:srgbClr val="000000"/>
                          </a:solidFill>
                          <a:latin typeface="Cambria Math" panose="02040503050406030204" pitchFamily="18" charset="0"/>
                        </a:rPr>
                        <m:t>TPR</m:t>
                      </m:r>
                      <m:r>
                        <m:rPr>
                          <m:nor/>
                        </m:rPr>
                        <a:rPr lang="en-US" sz="1600" b="0" i="0">
                          <a:solidFill>
                            <a:srgbClr val="000000"/>
                          </a:solidFill>
                          <a:latin typeface="Cambria Math" panose="02040503050406030204" pitchFamily="18" charset="0"/>
                        </a:rPr>
                        <m:t> </m:t>
                      </m:r>
                      <m:r>
                        <a:rPr lang="en-US" sz="1600" b="0" i="1">
                          <a:solidFill>
                            <a:srgbClr val="000000"/>
                          </a:solidFill>
                          <a:latin typeface="Cambria Math" panose="02040503050406030204" pitchFamily="18" charset="0"/>
                        </a:rPr>
                        <m:t>=</m:t>
                      </m:r>
                      <m:r>
                        <m:rPr>
                          <m:nor/>
                        </m:rPr>
                        <a:rPr lang="en-US" sz="1600" b="0" i="0">
                          <a:solidFill>
                            <a:srgbClr val="000000"/>
                          </a:solidFill>
                          <a:latin typeface="Cambria Math" panose="02040503050406030204" pitchFamily="18" charset="0"/>
                        </a:rPr>
                        <m:t> </m:t>
                      </m:r>
                      <m:r>
                        <m:rPr>
                          <m:nor/>
                        </m:rPr>
                        <a:rPr lang="en-US" sz="1600" b="0" i="0">
                          <a:solidFill>
                            <a:srgbClr val="000000"/>
                          </a:solidFill>
                          <a:latin typeface="Cambria Math" panose="02040503050406030204" pitchFamily="18" charset="0"/>
                        </a:rPr>
                        <m:t>Recall</m:t>
                      </m:r>
                      <m:r>
                        <m:rPr>
                          <m:nor/>
                        </m:rPr>
                        <a:rPr lang="en-US" sz="1600" b="0" i="0">
                          <a:solidFill>
                            <a:srgbClr val="000000"/>
                          </a:solidFill>
                          <a:latin typeface="Cambria Math" panose="02040503050406030204" pitchFamily="18" charset="0"/>
                        </a:rPr>
                        <m:t> </m:t>
                      </m:r>
                      <m:r>
                        <a:rPr lang="en-US" sz="1600" b="0" i="1">
                          <a:solidFill>
                            <a:srgbClr val="000000"/>
                          </a:solidFill>
                          <a:latin typeface="Cambria Math" panose="02040503050406030204" pitchFamily="18" charset="0"/>
                        </a:rPr>
                        <m:t>(</m:t>
                      </m:r>
                      <m:r>
                        <m:rPr>
                          <m:sty m:val="p"/>
                        </m:rPr>
                        <a:rPr lang="en-US" sz="1600" b="0" i="0">
                          <a:solidFill>
                            <a:srgbClr val="000000"/>
                          </a:solidFill>
                          <a:latin typeface="Cambria Math" panose="02040503050406030204" pitchFamily="18" charset="0"/>
                        </a:rPr>
                        <m:t>r</m:t>
                      </m:r>
                      <m:r>
                        <a:rPr lang="en-US" sz="1600" b="0" i="1">
                          <a:solidFill>
                            <a:srgbClr val="000000"/>
                          </a:solidFill>
                          <a:latin typeface="Cambria Math" panose="02040503050406030204" pitchFamily="18" charset="0"/>
                        </a:rPr>
                        <m:t>)=0.8</m:t>
                      </m:r>
                    </m:oMath>
                    <m:oMath xmlns:m="http://schemas.openxmlformats.org/officeDocument/2006/math">
                      <m:r>
                        <m:rPr>
                          <m:nor/>
                        </m:rPr>
                        <a:rPr lang="en-US" sz="1600" b="0" i="0">
                          <a:solidFill>
                            <a:srgbClr val="000000"/>
                          </a:solidFill>
                          <a:latin typeface="Cambria Math" panose="02040503050406030204" pitchFamily="18" charset="0"/>
                        </a:rPr>
                        <m:t>FPR</m:t>
                      </m:r>
                      <m:r>
                        <m:rPr>
                          <m:nor/>
                        </m:rPr>
                        <a:rPr lang="en-US" sz="1600" b="0" i="0">
                          <a:solidFill>
                            <a:srgbClr val="000000"/>
                          </a:solidFill>
                          <a:latin typeface="Cambria Math" panose="02040503050406030204" pitchFamily="18" charset="0"/>
                        </a:rPr>
                        <m:t> </m:t>
                      </m:r>
                      <m:r>
                        <a:rPr lang="en-US" sz="1600" b="0" i="1">
                          <a:solidFill>
                            <a:srgbClr val="000000"/>
                          </a:solidFill>
                          <a:latin typeface="Cambria Math" panose="02040503050406030204" pitchFamily="18" charset="0"/>
                        </a:rPr>
                        <m:t>=0.2</m:t>
                      </m:r>
                    </m:oMath>
                    <m:oMath xmlns:m="http://schemas.openxmlformats.org/officeDocument/2006/math">
                      <m:r>
                        <m:rPr>
                          <m:nor/>
                        </m:rPr>
                        <a:rPr lang="en-US" sz="1600" b="0" i="0">
                          <a:solidFill>
                            <a:srgbClr val="000000"/>
                          </a:solidFill>
                          <a:latin typeface="Cambria Math" panose="02040503050406030204" pitchFamily="18" charset="0"/>
                        </a:rPr>
                        <m:t>F</m:t>
                      </m:r>
                      <m:r>
                        <m:rPr>
                          <m:nor/>
                        </m:rPr>
                        <a:rPr lang="en-US" sz="1600" b="0" i="0">
                          <a:solidFill>
                            <a:srgbClr val="000000"/>
                          </a:solidFill>
                          <a:latin typeface="Cambria Math" panose="02040503050406030204" pitchFamily="18" charset="0"/>
                        </a:rPr>
                        <m:t>−</m:t>
                      </m:r>
                      <m:r>
                        <m:rPr>
                          <m:nor/>
                        </m:rPr>
                        <a:rPr lang="en-US" sz="1600" b="0" i="0">
                          <a:solidFill>
                            <a:srgbClr val="000000"/>
                          </a:solidFill>
                          <a:latin typeface="Cambria Math" panose="02040503050406030204" pitchFamily="18" charset="0"/>
                        </a:rPr>
                        <m:t>measure</m:t>
                      </m:r>
                      <m:r>
                        <m:rPr>
                          <m:nor/>
                        </m:rPr>
                        <a:rPr lang="en-US" sz="1600" b="0" i="0">
                          <a:solidFill>
                            <a:srgbClr val="000000"/>
                          </a:solidFill>
                          <a:latin typeface="Cambria Math" panose="02040503050406030204" pitchFamily="18" charset="0"/>
                        </a:rPr>
                        <m:t> </m:t>
                      </m:r>
                      <m:r>
                        <a:rPr lang="en-US" sz="1600" b="0" i="1">
                          <a:solidFill>
                            <a:srgbClr val="000000"/>
                          </a:solidFill>
                          <a:latin typeface="Cambria Math" panose="02040503050406030204" pitchFamily="18" charset="0"/>
                        </a:rPr>
                        <m:t>(</m:t>
                      </m:r>
                      <m:r>
                        <m:rPr>
                          <m:sty m:val="p"/>
                        </m:rPr>
                        <a:rPr lang="en-US" sz="1600" b="0" i="0">
                          <a:solidFill>
                            <a:srgbClr val="000000"/>
                          </a:solidFill>
                          <a:latin typeface="Cambria Math" panose="02040503050406030204" pitchFamily="18" charset="0"/>
                        </a:rPr>
                        <m:t>F</m:t>
                      </m:r>
                      <m:r>
                        <a:rPr lang="en-US" sz="1600" b="0" i="1">
                          <a:solidFill>
                            <a:srgbClr val="000000"/>
                          </a:solidFill>
                          <a:latin typeface="Cambria Math" panose="02040503050406030204" pitchFamily="18" charset="0"/>
                        </a:rPr>
                        <m:t>)=0.8</m:t>
                      </m:r>
                    </m:oMath>
                    <m:oMath xmlns:m="http://schemas.openxmlformats.org/officeDocument/2006/math">
                      <m:r>
                        <m:rPr>
                          <m:nor/>
                        </m:rPr>
                        <a:rPr lang="en-US" sz="1600" b="0" i="0">
                          <a:solidFill>
                            <a:srgbClr val="000000"/>
                          </a:solidFill>
                          <a:latin typeface="Cambria Math" panose="02040503050406030204" pitchFamily="18" charset="0"/>
                        </a:rPr>
                        <m:t>Accuracy</m:t>
                      </m:r>
                      <m:r>
                        <m:rPr>
                          <m:nor/>
                        </m:rPr>
                        <a:rPr lang="en-US" sz="1600" b="0" i="0">
                          <a:solidFill>
                            <a:srgbClr val="000000"/>
                          </a:solidFill>
                          <a:latin typeface="Cambria Math" panose="02040503050406030204" pitchFamily="18" charset="0"/>
                        </a:rPr>
                        <m:t> </m:t>
                      </m:r>
                      <m:r>
                        <a:rPr lang="en-US" sz="1600" b="0" i="1">
                          <a:solidFill>
                            <a:srgbClr val="000000"/>
                          </a:solidFill>
                          <a:latin typeface="Cambria Math" panose="02040503050406030204" pitchFamily="18" charset="0"/>
                        </a:rPr>
                        <m:t>=0.8</m:t>
                      </m:r>
                    </m:oMath>
                  </m:oMathPara>
                </a14:m>
                <a:br>
                  <a:rPr lang="en-US" dirty="0">
                    <a:solidFill>
                      <a:srgbClr val="000000"/>
                    </a:solidFill>
                  </a:rPr>
                </a:br>
                <a:endParaRPr lang="en-US" dirty="0"/>
              </a:p>
            </p:txBody>
          </p:sp>
        </mc:Choice>
        <mc:Fallback xmlns="">
          <p:sp>
            <p:nvSpPr>
              <p:cNvPr id="15363" name="Object 3"/>
              <p:cNvSpPr txBox="1">
                <a:spLocks noRot="1" noChangeAspect="1" noMove="1" noResize="1" noEditPoints="1" noAdjustHandles="1" noChangeArrowheads="1" noChangeShapeType="1" noTextEdit="1"/>
              </p:cNvSpPr>
              <p:nvPr/>
            </p:nvSpPr>
            <p:spPr bwMode="auto">
              <a:xfrm>
                <a:off x="6132512" y="1306513"/>
                <a:ext cx="2528887" cy="1957387"/>
              </a:xfrm>
              <a:prstGeom prst="rect">
                <a:avLst/>
              </a:prstGeom>
              <a:blipFill>
                <a:blip r:embed="rId3"/>
                <a:stretch>
                  <a:fillRect/>
                </a:stretch>
              </a:blipFill>
              <a:ln>
                <a:noFill/>
              </a:ln>
              <a:extLst/>
            </p:spPr>
            <p:txBody>
              <a:bodyPr/>
              <a:lstStyle/>
              <a:p>
                <a:r>
                  <a:rPr lang="en-US">
                    <a:noFill/>
                  </a:rPr>
                  <a:t> </a:t>
                </a:r>
              </a:p>
            </p:txBody>
          </p:sp>
        </mc:Fallback>
      </mc:AlternateContent>
      <p:graphicFrame>
        <p:nvGraphicFramePr>
          <p:cNvPr id="1325060" name="Group 4"/>
          <p:cNvGraphicFramePr>
            <a:graphicFrameLocks noGrp="1"/>
          </p:cNvGraphicFramePr>
          <p:nvPr>
            <p:ph idx="1"/>
            <p:extLst>
              <p:ext uri="{D42A27DB-BD31-4B8C-83A1-F6EECF244321}">
                <p14:modId xmlns:p14="http://schemas.microsoft.com/office/powerpoint/2010/main" val="2952639839"/>
              </p:ext>
            </p:extLst>
          </p:nvPr>
        </p:nvGraphicFramePr>
        <p:xfrm>
          <a:off x="304800" y="1295400"/>
          <a:ext cx="4953000" cy="1904999"/>
        </p:xfrm>
        <a:graphic>
          <a:graphicData uri="http://schemas.openxmlformats.org/drawingml/2006/table">
            <a:tbl>
              <a:tblPr/>
              <a:tblGrid>
                <a:gridCol w="1237926">
                  <a:extLst>
                    <a:ext uri="{9D8B030D-6E8A-4147-A177-3AD203B41FA5}">
                      <a16:colId xmlns:a16="http://schemas.microsoft.com/office/drawing/2014/main" val="20000"/>
                    </a:ext>
                  </a:extLst>
                </a:gridCol>
                <a:gridCol w="1239222">
                  <a:extLst>
                    <a:ext uri="{9D8B030D-6E8A-4147-A177-3AD203B41FA5}">
                      <a16:colId xmlns:a16="http://schemas.microsoft.com/office/drawing/2014/main" val="20001"/>
                    </a:ext>
                  </a:extLst>
                </a:gridCol>
                <a:gridCol w="1237926">
                  <a:extLst>
                    <a:ext uri="{9D8B030D-6E8A-4147-A177-3AD203B41FA5}">
                      <a16:colId xmlns:a16="http://schemas.microsoft.com/office/drawing/2014/main" val="20002"/>
                    </a:ext>
                  </a:extLst>
                </a:gridCol>
                <a:gridCol w="1237926">
                  <a:extLst>
                    <a:ext uri="{9D8B030D-6E8A-4147-A177-3AD203B41FA5}">
                      <a16:colId xmlns:a16="http://schemas.microsoft.com/office/drawing/2014/main" val="20003"/>
                    </a:ext>
                  </a:extLst>
                </a:gridCol>
              </a:tblGrid>
              <a:tr h="450645">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dirty="0">
                          <a:ln>
                            <a:noFill/>
                          </a:ln>
                          <a:solidFill>
                            <a:schemeClr val="tx1"/>
                          </a:solidFill>
                          <a:effectLst/>
                          <a:latin typeface="Arial"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dirty="0">
                          <a:ln>
                            <a:noFill/>
                          </a:ln>
                          <a:solidFill>
                            <a:schemeClr val="tx1"/>
                          </a:solidFill>
                          <a:effectLst/>
                          <a:latin typeface="Arial" charset="0"/>
                        </a:rPr>
                        <a:t>PREDICTED CLASS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67288">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1800" b="0" i="0" u="none" strike="noStrike" cap="none" normalizeH="0" baseline="0">
                          <a:ln>
                            <a:noFill/>
                          </a:ln>
                          <a:solidFill>
                            <a:schemeClr val="tx1"/>
                          </a:solidFill>
                          <a:effectLst/>
                          <a:latin typeface="Arial" charset="0"/>
                        </a:rPr>
                      </a:br>
                      <a:endParaRPr kumimoji="0" lang="en-US" sz="18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ACTUAL</a:t>
                      </a:r>
                      <a:br>
                        <a:rPr kumimoji="0" lang="en-US" sz="1800" b="0" i="0" u="none" strike="noStrike" cap="none" normalizeH="0" baseline="0">
                          <a:ln>
                            <a:noFill/>
                          </a:ln>
                          <a:solidFill>
                            <a:schemeClr val="tx1"/>
                          </a:solidFill>
                          <a:effectLst/>
                          <a:latin typeface="Arial" charset="0"/>
                        </a:rPr>
                      </a:br>
                      <a:r>
                        <a:rPr kumimoji="0" lang="en-US" sz="1800" b="0" i="0" u="none" strike="noStrike" cap="none" normalizeH="0" baseline="0">
                          <a:ln>
                            <a:noFill/>
                          </a:ln>
                          <a:solidFill>
                            <a:schemeClr val="tx1"/>
                          </a:solidFill>
                          <a:effectLst/>
                          <a:latin typeface="Arial" charset="0"/>
                        </a:rPr>
                        <a:t>CLASS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8326">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8740">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 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 name="Group 4"/>
          <p:cNvGraphicFramePr>
            <a:graphicFrameLocks/>
          </p:cNvGraphicFramePr>
          <p:nvPr>
            <p:extLst>
              <p:ext uri="{D42A27DB-BD31-4B8C-83A1-F6EECF244321}">
                <p14:modId xmlns:p14="http://schemas.microsoft.com/office/powerpoint/2010/main" val="1022197603"/>
              </p:ext>
            </p:extLst>
          </p:nvPr>
        </p:nvGraphicFramePr>
        <p:xfrm>
          <a:off x="304800" y="3962400"/>
          <a:ext cx="4953000" cy="1904999"/>
        </p:xfrm>
        <a:graphic>
          <a:graphicData uri="http://schemas.openxmlformats.org/drawingml/2006/table">
            <a:tbl>
              <a:tblPr/>
              <a:tblGrid>
                <a:gridCol w="1237926">
                  <a:extLst>
                    <a:ext uri="{9D8B030D-6E8A-4147-A177-3AD203B41FA5}">
                      <a16:colId xmlns:a16="http://schemas.microsoft.com/office/drawing/2014/main" val="20000"/>
                    </a:ext>
                  </a:extLst>
                </a:gridCol>
                <a:gridCol w="1239222">
                  <a:extLst>
                    <a:ext uri="{9D8B030D-6E8A-4147-A177-3AD203B41FA5}">
                      <a16:colId xmlns:a16="http://schemas.microsoft.com/office/drawing/2014/main" val="20001"/>
                    </a:ext>
                  </a:extLst>
                </a:gridCol>
                <a:gridCol w="1237926">
                  <a:extLst>
                    <a:ext uri="{9D8B030D-6E8A-4147-A177-3AD203B41FA5}">
                      <a16:colId xmlns:a16="http://schemas.microsoft.com/office/drawing/2014/main" val="20002"/>
                    </a:ext>
                  </a:extLst>
                </a:gridCol>
                <a:gridCol w="1237926">
                  <a:extLst>
                    <a:ext uri="{9D8B030D-6E8A-4147-A177-3AD203B41FA5}">
                      <a16:colId xmlns:a16="http://schemas.microsoft.com/office/drawing/2014/main" val="20003"/>
                    </a:ext>
                  </a:extLst>
                </a:gridCol>
              </a:tblGrid>
              <a:tr h="450645">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dirty="0">
                          <a:ln>
                            <a:noFill/>
                          </a:ln>
                          <a:solidFill>
                            <a:schemeClr val="tx1"/>
                          </a:solidFill>
                          <a:effectLst/>
                          <a:latin typeface="Arial"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dirty="0">
                          <a:ln>
                            <a:noFill/>
                          </a:ln>
                          <a:solidFill>
                            <a:schemeClr val="tx1"/>
                          </a:solidFill>
                          <a:effectLst/>
                          <a:latin typeface="Arial" charset="0"/>
                        </a:rPr>
                        <a:t>PREDICTED CLASS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67288">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1800" b="0" i="0" u="none" strike="noStrike" cap="none" normalizeH="0" baseline="0">
                          <a:ln>
                            <a:noFill/>
                          </a:ln>
                          <a:solidFill>
                            <a:schemeClr val="tx1"/>
                          </a:solidFill>
                          <a:effectLst/>
                          <a:latin typeface="Arial" charset="0"/>
                        </a:rPr>
                      </a:br>
                      <a:endParaRPr kumimoji="0" lang="en-US" sz="18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ACTUAL</a:t>
                      </a:r>
                      <a:br>
                        <a:rPr kumimoji="0" lang="en-US" sz="1800" b="0" i="0" u="none" strike="noStrike" cap="none" normalizeH="0" baseline="0">
                          <a:ln>
                            <a:noFill/>
                          </a:ln>
                          <a:solidFill>
                            <a:schemeClr val="tx1"/>
                          </a:solidFill>
                          <a:effectLst/>
                          <a:latin typeface="Arial" charset="0"/>
                        </a:rPr>
                      </a:br>
                      <a:r>
                        <a:rPr kumimoji="0" lang="en-US" sz="1800" b="0" i="0" u="none" strike="noStrike" cap="none" normalizeH="0" baseline="0">
                          <a:ln>
                            <a:noFill/>
                          </a:ln>
                          <a:solidFill>
                            <a:schemeClr val="tx1"/>
                          </a:solidFill>
                          <a:effectLst/>
                          <a:latin typeface="Arial" charset="0"/>
                        </a:rPr>
                        <a:t>CLASS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8326">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8740">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1000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600" b="0" i="0" u="none" strike="noStrike" cap="none" normalizeH="0" baseline="0" dirty="0">
                          <a:ln>
                            <a:noFill/>
                          </a:ln>
                          <a:solidFill>
                            <a:schemeClr val="tx1"/>
                          </a:solidFill>
                          <a:effectLst/>
                          <a:latin typeface="Arial" charset="0"/>
                        </a:rPr>
                        <a:t> 4000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5410" name="Object 1"/>
              <p:cNvSpPr txBox="1"/>
              <p:nvPr/>
            </p:nvSpPr>
            <p:spPr bwMode="auto">
              <a:xfrm>
                <a:off x="6081713" y="3962400"/>
                <a:ext cx="2681287" cy="1625600"/>
              </a:xfrm>
              <a:prstGeom prst="rect">
                <a:avLst/>
              </a:prstGeom>
              <a:noFill/>
              <a:ln>
                <a:noFill/>
              </a:ln>
            </p:spPr>
            <p:txBody>
              <a:bodyPr>
                <a:noAutofit/>
              </a:bodyPr>
              <a:lstStyle/>
              <a:p>
                <a:pPr>
                  <a:lnSpc>
                    <a:spcPct val="120000"/>
                  </a:lnSpc>
                </a:pPr>
                <a14:m>
                  <m:oMathPara xmlns:m="http://schemas.openxmlformats.org/officeDocument/2006/math">
                    <m:oMathParaPr>
                      <m:jc m:val="left"/>
                    </m:oMathParaPr>
                    <m:oMath xmlns:m="http://schemas.openxmlformats.org/officeDocument/2006/math">
                      <m:r>
                        <m:rPr>
                          <m:nor/>
                        </m:rPr>
                        <a:rPr lang="en-US" sz="1600" b="0" i="0" smtClean="0">
                          <a:solidFill>
                            <a:srgbClr val="000000"/>
                          </a:solidFill>
                          <a:latin typeface="Cambria Math" panose="02040503050406030204" pitchFamily="18" charset="0"/>
                        </a:rPr>
                        <m:t>Precision</m:t>
                      </m:r>
                      <m:r>
                        <m:rPr>
                          <m:nor/>
                        </m:rPr>
                        <a:rPr lang="en-US" sz="1600" b="0" i="0" smtClean="0">
                          <a:solidFill>
                            <a:srgbClr val="000000"/>
                          </a:solidFill>
                          <a:latin typeface="Cambria Math" panose="02040503050406030204" pitchFamily="18" charset="0"/>
                        </a:rPr>
                        <m:t> </m:t>
                      </m:r>
                      <m:r>
                        <a:rPr lang="en-US" sz="1600" b="0" i="1">
                          <a:solidFill>
                            <a:srgbClr val="000000"/>
                          </a:solidFill>
                          <a:latin typeface="Cambria Math" panose="02040503050406030204" pitchFamily="18" charset="0"/>
                        </a:rPr>
                        <m:t>(</m:t>
                      </m:r>
                      <m:r>
                        <m:rPr>
                          <m:sty m:val="p"/>
                        </m:rPr>
                        <a:rPr lang="en-US" sz="1600" b="0" i="0">
                          <a:solidFill>
                            <a:srgbClr val="000000"/>
                          </a:solidFill>
                          <a:latin typeface="Cambria Math" panose="02040503050406030204" pitchFamily="18" charset="0"/>
                        </a:rPr>
                        <m:t>p</m:t>
                      </m:r>
                      <m:r>
                        <a:rPr lang="en-US" sz="1600" b="0" i="1">
                          <a:solidFill>
                            <a:srgbClr val="000000"/>
                          </a:solidFill>
                          <a:latin typeface="Cambria Math" panose="02040503050406030204" pitchFamily="18" charset="0"/>
                        </a:rPr>
                        <m:t>)</m:t>
                      </m:r>
                      <m:r>
                        <a:rPr lang="en-US" sz="1600" b="0" i="0">
                          <a:solidFill>
                            <a:srgbClr val="000000"/>
                          </a:solidFill>
                          <a:latin typeface="Cambria Math" panose="02040503050406030204" pitchFamily="18" charset="0"/>
                        </a:rPr>
                        <m:t> </m:t>
                      </m:r>
                      <m:r>
                        <a:rPr lang="en-US" sz="1600" b="0" i="1">
                          <a:solidFill>
                            <a:srgbClr val="000000"/>
                          </a:solidFill>
                          <a:latin typeface="Cambria Math" panose="02040503050406030204" pitchFamily="18" charset="0"/>
                        </a:rPr>
                        <m:t>=0.0</m:t>
                      </m:r>
                      <m:r>
                        <a:rPr lang="en-US" sz="1600" b="0" i="1" smtClean="0">
                          <a:solidFill>
                            <a:srgbClr val="000000"/>
                          </a:solidFill>
                          <a:latin typeface="Cambria Math" panose="02040503050406030204" pitchFamily="18" charset="0"/>
                        </a:rPr>
                        <m:t>38</m:t>
                      </m:r>
                    </m:oMath>
                    <m:oMath xmlns:m="http://schemas.openxmlformats.org/officeDocument/2006/math">
                      <m:r>
                        <m:rPr>
                          <m:nor/>
                        </m:rPr>
                        <a:rPr lang="en-US" sz="1600" b="0" i="0">
                          <a:solidFill>
                            <a:srgbClr val="000000"/>
                          </a:solidFill>
                          <a:latin typeface="Cambria Math" panose="02040503050406030204" pitchFamily="18" charset="0"/>
                        </a:rPr>
                        <m:t>TPR</m:t>
                      </m:r>
                      <m:r>
                        <m:rPr>
                          <m:nor/>
                        </m:rPr>
                        <a:rPr lang="en-US" sz="1600" b="0" i="0">
                          <a:solidFill>
                            <a:srgbClr val="000000"/>
                          </a:solidFill>
                          <a:latin typeface="Cambria Math" panose="02040503050406030204" pitchFamily="18" charset="0"/>
                        </a:rPr>
                        <m:t> </m:t>
                      </m:r>
                      <m:r>
                        <a:rPr lang="en-US" sz="1600" b="0" i="1">
                          <a:solidFill>
                            <a:srgbClr val="000000"/>
                          </a:solidFill>
                          <a:latin typeface="Cambria Math" panose="02040503050406030204" pitchFamily="18" charset="0"/>
                        </a:rPr>
                        <m:t>=</m:t>
                      </m:r>
                      <m:r>
                        <m:rPr>
                          <m:nor/>
                        </m:rPr>
                        <a:rPr lang="en-US" sz="1600" b="0" i="0">
                          <a:solidFill>
                            <a:srgbClr val="000000"/>
                          </a:solidFill>
                          <a:latin typeface="Cambria Math" panose="02040503050406030204" pitchFamily="18" charset="0"/>
                        </a:rPr>
                        <m:t> </m:t>
                      </m:r>
                      <m:r>
                        <m:rPr>
                          <m:nor/>
                        </m:rPr>
                        <a:rPr lang="en-US" sz="1600" b="0" i="0">
                          <a:solidFill>
                            <a:srgbClr val="000000"/>
                          </a:solidFill>
                          <a:latin typeface="Cambria Math" panose="02040503050406030204" pitchFamily="18" charset="0"/>
                        </a:rPr>
                        <m:t>Recall</m:t>
                      </m:r>
                      <m:r>
                        <m:rPr>
                          <m:nor/>
                        </m:rPr>
                        <a:rPr lang="en-US" sz="1600" b="0" i="0">
                          <a:solidFill>
                            <a:srgbClr val="000000"/>
                          </a:solidFill>
                          <a:latin typeface="Cambria Math" panose="02040503050406030204" pitchFamily="18" charset="0"/>
                        </a:rPr>
                        <m:t> </m:t>
                      </m:r>
                      <m:r>
                        <a:rPr lang="en-US" sz="1600" b="0" i="1">
                          <a:solidFill>
                            <a:srgbClr val="000000"/>
                          </a:solidFill>
                          <a:latin typeface="Cambria Math" panose="02040503050406030204" pitchFamily="18" charset="0"/>
                        </a:rPr>
                        <m:t>(</m:t>
                      </m:r>
                      <m:r>
                        <m:rPr>
                          <m:sty m:val="p"/>
                        </m:rPr>
                        <a:rPr lang="en-US" sz="1600" b="0" i="0">
                          <a:solidFill>
                            <a:srgbClr val="000000"/>
                          </a:solidFill>
                          <a:latin typeface="Cambria Math" panose="02040503050406030204" pitchFamily="18" charset="0"/>
                        </a:rPr>
                        <m:t>r</m:t>
                      </m:r>
                      <m:r>
                        <a:rPr lang="en-US" sz="1600" b="0" i="1">
                          <a:solidFill>
                            <a:srgbClr val="000000"/>
                          </a:solidFill>
                          <a:latin typeface="Cambria Math" panose="02040503050406030204" pitchFamily="18" charset="0"/>
                        </a:rPr>
                        <m:t>)=0.8</m:t>
                      </m:r>
                    </m:oMath>
                    <m:oMath xmlns:m="http://schemas.openxmlformats.org/officeDocument/2006/math">
                      <m:r>
                        <m:rPr>
                          <m:nor/>
                        </m:rPr>
                        <a:rPr lang="en-US" sz="1600" b="0" i="0">
                          <a:solidFill>
                            <a:srgbClr val="000000"/>
                          </a:solidFill>
                          <a:latin typeface="Cambria Math" panose="02040503050406030204" pitchFamily="18" charset="0"/>
                        </a:rPr>
                        <m:t>FPR</m:t>
                      </m:r>
                      <m:r>
                        <m:rPr>
                          <m:nor/>
                        </m:rPr>
                        <a:rPr lang="en-US" sz="1600" b="0" i="0">
                          <a:solidFill>
                            <a:srgbClr val="000000"/>
                          </a:solidFill>
                          <a:latin typeface="Cambria Math" panose="02040503050406030204" pitchFamily="18" charset="0"/>
                        </a:rPr>
                        <m:t> </m:t>
                      </m:r>
                      <m:r>
                        <a:rPr lang="en-US" sz="1600" b="0" i="1">
                          <a:solidFill>
                            <a:srgbClr val="000000"/>
                          </a:solidFill>
                          <a:latin typeface="Cambria Math" panose="02040503050406030204" pitchFamily="18" charset="0"/>
                        </a:rPr>
                        <m:t>=</m:t>
                      </m:r>
                      <m:r>
                        <m:rPr>
                          <m:nor/>
                        </m:rPr>
                        <a:rPr lang="en-US" sz="1600" b="0" i="0">
                          <a:solidFill>
                            <a:srgbClr val="000000"/>
                          </a:solidFill>
                          <a:latin typeface="Cambria Math" panose="02040503050406030204" pitchFamily="18" charset="0"/>
                        </a:rPr>
                        <m:t> 0.2</m:t>
                      </m:r>
                    </m:oMath>
                    <m:oMath xmlns:m="http://schemas.openxmlformats.org/officeDocument/2006/math">
                      <m:r>
                        <m:rPr>
                          <m:nor/>
                        </m:rPr>
                        <a:rPr lang="en-US" sz="1600" b="0" i="0">
                          <a:solidFill>
                            <a:srgbClr val="000000"/>
                          </a:solidFill>
                          <a:latin typeface="Cambria Math" panose="02040503050406030204" pitchFamily="18" charset="0"/>
                        </a:rPr>
                        <m:t>F</m:t>
                      </m:r>
                      <m:r>
                        <m:rPr>
                          <m:nor/>
                        </m:rPr>
                        <a:rPr lang="en-US" sz="1600" b="0" i="0">
                          <a:solidFill>
                            <a:srgbClr val="000000"/>
                          </a:solidFill>
                          <a:latin typeface="Cambria Math" panose="02040503050406030204" pitchFamily="18" charset="0"/>
                        </a:rPr>
                        <m:t>−</m:t>
                      </m:r>
                      <m:r>
                        <m:rPr>
                          <m:nor/>
                        </m:rPr>
                        <a:rPr lang="en-US" sz="1600" b="0" i="0">
                          <a:solidFill>
                            <a:srgbClr val="000000"/>
                          </a:solidFill>
                          <a:latin typeface="Cambria Math" panose="02040503050406030204" pitchFamily="18" charset="0"/>
                        </a:rPr>
                        <m:t>measure</m:t>
                      </m:r>
                      <m:r>
                        <m:rPr>
                          <m:nor/>
                        </m:rPr>
                        <a:rPr lang="en-US" sz="1600" b="0" i="0">
                          <a:solidFill>
                            <a:srgbClr val="000000"/>
                          </a:solidFill>
                          <a:latin typeface="Cambria Math" panose="02040503050406030204" pitchFamily="18" charset="0"/>
                        </a:rPr>
                        <m:t> </m:t>
                      </m:r>
                      <m:r>
                        <a:rPr lang="en-US" sz="1600" b="0" i="1">
                          <a:solidFill>
                            <a:srgbClr val="000000"/>
                          </a:solidFill>
                          <a:latin typeface="Cambria Math" panose="02040503050406030204" pitchFamily="18" charset="0"/>
                        </a:rPr>
                        <m:t>(</m:t>
                      </m:r>
                      <m:r>
                        <m:rPr>
                          <m:sty m:val="p"/>
                        </m:rPr>
                        <a:rPr lang="en-US" sz="1600" b="0" i="0">
                          <a:solidFill>
                            <a:srgbClr val="000000"/>
                          </a:solidFill>
                          <a:latin typeface="Cambria Math" panose="02040503050406030204" pitchFamily="18" charset="0"/>
                        </a:rPr>
                        <m:t>F</m:t>
                      </m:r>
                      <m:r>
                        <a:rPr lang="en-US" sz="1600" b="0" i="1">
                          <a:solidFill>
                            <a:srgbClr val="000000"/>
                          </a:solidFill>
                          <a:latin typeface="Cambria Math" panose="02040503050406030204" pitchFamily="18" charset="0"/>
                        </a:rPr>
                        <m:t>)=0.0</m:t>
                      </m:r>
                      <m:r>
                        <a:rPr lang="en-US" sz="1600" b="0" i="1" smtClean="0">
                          <a:solidFill>
                            <a:srgbClr val="000000"/>
                          </a:solidFill>
                          <a:latin typeface="Cambria Math" panose="02040503050406030204" pitchFamily="18" charset="0"/>
                        </a:rPr>
                        <m:t>7</m:t>
                      </m:r>
                    </m:oMath>
                    <m:oMath xmlns:m="http://schemas.openxmlformats.org/officeDocument/2006/math">
                      <m:r>
                        <m:rPr>
                          <m:nor/>
                        </m:rPr>
                        <a:rPr lang="en-US" sz="1600" b="0" i="0">
                          <a:solidFill>
                            <a:srgbClr val="000000"/>
                          </a:solidFill>
                          <a:latin typeface="Cambria Math" panose="02040503050406030204" pitchFamily="18" charset="0"/>
                        </a:rPr>
                        <m:t>Accuracy</m:t>
                      </m:r>
                      <m:r>
                        <m:rPr>
                          <m:nor/>
                        </m:rPr>
                        <a:rPr lang="en-US" sz="1600" b="0" i="0">
                          <a:solidFill>
                            <a:srgbClr val="000000"/>
                          </a:solidFill>
                          <a:latin typeface="Cambria Math" panose="02040503050406030204" pitchFamily="18" charset="0"/>
                        </a:rPr>
                        <m:t> </m:t>
                      </m:r>
                      <m:r>
                        <a:rPr lang="en-US" sz="1600" b="0" i="1">
                          <a:solidFill>
                            <a:srgbClr val="000000"/>
                          </a:solidFill>
                          <a:latin typeface="Cambria Math" panose="02040503050406030204" pitchFamily="18" charset="0"/>
                        </a:rPr>
                        <m:t>=0.8</m:t>
                      </m:r>
                    </m:oMath>
                  </m:oMathPara>
                </a14:m>
                <a:endParaRPr lang="en-US" sz="1600" b="0" dirty="0"/>
              </a:p>
            </p:txBody>
          </p:sp>
        </mc:Choice>
        <mc:Fallback xmlns="">
          <p:sp>
            <p:nvSpPr>
              <p:cNvPr id="15410" name="Object 1"/>
              <p:cNvSpPr txBox="1">
                <a:spLocks noRot="1" noChangeAspect="1" noMove="1" noResize="1" noEditPoints="1" noAdjustHandles="1" noChangeArrowheads="1" noChangeShapeType="1" noTextEdit="1"/>
              </p:cNvSpPr>
              <p:nvPr/>
            </p:nvSpPr>
            <p:spPr bwMode="auto">
              <a:xfrm>
                <a:off x="6081713" y="3962400"/>
                <a:ext cx="2681287" cy="1625600"/>
              </a:xfrm>
              <a:prstGeom prst="rect">
                <a:avLst/>
              </a:prstGeom>
              <a:blipFill>
                <a:blip r:embed="rId4"/>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6132513" y="2999446"/>
                <a:ext cx="800091" cy="4594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b="0" i="1" smtClean="0">
                              <a:latin typeface="Cambria Math" panose="02040503050406030204" pitchFamily="18" charset="0"/>
                            </a:rPr>
                          </m:ctrlPr>
                        </m:fPr>
                        <m:num>
                          <m:r>
                            <m:rPr>
                              <m:sty m:val="p"/>
                            </m:rPr>
                            <a:rPr lang="en-US" sz="1600" b="0" i="0" smtClean="0">
                              <a:latin typeface="Cambria Math" panose="02040503050406030204" pitchFamily="18" charset="0"/>
                            </a:rPr>
                            <m:t>TPR</m:t>
                          </m:r>
                        </m:num>
                        <m:den>
                          <m:r>
                            <m:rPr>
                              <m:sty m:val="p"/>
                            </m:rPr>
                            <a:rPr lang="en-US" sz="1600" b="0" i="0" smtClean="0">
                              <a:latin typeface="Cambria Math" panose="02040503050406030204" pitchFamily="18" charset="0"/>
                            </a:rPr>
                            <m:t>FPR</m:t>
                          </m:r>
                        </m:den>
                      </m:f>
                      <m:r>
                        <a:rPr lang="en-US" sz="1600" b="0" i="0" smtClean="0">
                          <a:latin typeface="Cambria Math" panose="02040503050406030204" pitchFamily="18" charset="0"/>
                        </a:rPr>
                        <m:t>=4</m:t>
                      </m:r>
                    </m:oMath>
                  </m:oMathPara>
                </a14:m>
                <a:endParaRPr lang="en-US" sz="1600" b="0" dirty="0">
                  <a:latin typeface="Times New Roman" panose="02020603050405020304" pitchFamily="18" charset="0"/>
                  <a:cs typeface="Times New Roman" panose="02020603050405020304" pitchFamily="18"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6132513" y="2999446"/>
                <a:ext cx="800091" cy="45942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6132513" y="5666446"/>
                <a:ext cx="800091" cy="4594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b="0" i="1" smtClean="0">
                              <a:latin typeface="Cambria Math" panose="02040503050406030204" pitchFamily="18" charset="0"/>
                            </a:rPr>
                          </m:ctrlPr>
                        </m:fPr>
                        <m:num>
                          <m:r>
                            <m:rPr>
                              <m:sty m:val="p"/>
                            </m:rPr>
                            <a:rPr lang="en-US" sz="1600" b="0" i="0" smtClean="0">
                              <a:latin typeface="Cambria Math" panose="02040503050406030204" pitchFamily="18" charset="0"/>
                            </a:rPr>
                            <m:t>TPR</m:t>
                          </m:r>
                        </m:num>
                        <m:den>
                          <m:r>
                            <m:rPr>
                              <m:sty m:val="p"/>
                            </m:rPr>
                            <a:rPr lang="en-US" sz="1600" b="0" i="0" smtClean="0">
                              <a:latin typeface="Cambria Math" panose="02040503050406030204" pitchFamily="18" charset="0"/>
                            </a:rPr>
                            <m:t>FPR</m:t>
                          </m:r>
                        </m:den>
                      </m:f>
                      <m:r>
                        <a:rPr lang="en-US" sz="1600" b="0" i="0" smtClean="0">
                          <a:latin typeface="Cambria Math" panose="02040503050406030204" pitchFamily="18" charset="0"/>
                        </a:rPr>
                        <m:t>=4</m:t>
                      </m:r>
                    </m:oMath>
                  </m:oMathPara>
                </a14:m>
                <a:endParaRPr lang="en-US" sz="1600" b="0" dirty="0">
                  <a:latin typeface="Times New Roman" panose="02020603050405020304" pitchFamily="18" charset="0"/>
                  <a:cs typeface="Times New Roman" panose="02020603050405020304" pitchFamily="18"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6132513" y="5666446"/>
                <a:ext cx="800091" cy="459421"/>
              </a:xfrm>
              <a:prstGeom prst="rect">
                <a:avLst/>
              </a:prstGeom>
              <a:blipFill>
                <a:blip r:embed="rId8"/>
                <a:stretch>
                  <a:fillRect/>
                </a:stretch>
              </a:blipFill>
            </p:spPr>
            <p:txBody>
              <a:bodyPr/>
              <a:lstStyle/>
              <a:p>
                <a:r>
                  <a:rPr 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dirty="0"/>
              <a:t>Which of these classifiers is better?</a:t>
            </a:r>
          </a:p>
        </p:txBody>
      </p:sp>
      <p:graphicFrame>
        <p:nvGraphicFramePr>
          <p:cNvPr id="16387" name="Object 3"/>
          <p:cNvGraphicFramePr>
            <a:graphicFrameLocks noChangeAspect="1"/>
          </p:cNvGraphicFramePr>
          <p:nvPr>
            <p:extLst>
              <p:ext uri="{D42A27DB-BD31-4B8C-83A1-F6EECF244321}">
                <p14:modId xmlns:p14="http://schemas.microsoft.com/office/powerpoint/2010/main" val="2242299901"/>
              </p:ext>
            </p:extLst>
          </p:nvPr>
        </p:nvGraphicFramePr>
        <p:xfrm>
          <a:off x="5778500" y="1536700"/>
          <a:ext cx="2420938" cy="901700"/>
        </p:xfrm>
        <a:graphic>
          <a:graphicData uri="http://schemas.openxmlformats.org/presentationml/2006/ole">
            <mc:AlternateContent xmlns:mc="http://schemas.openxmlformats.org/markup-compatibility/2006">
              <mc:Choice xmlns:v="urn:schemas-microsoft-com:vml" Requires="v">
                <p:oleObj name="Equation" r:id="rId2" imgW="1384300" imgH="635000" progId="Equation.3">
                  <p:embed/>
                </p:oleObj>
              </mc:Choice>
              <mc:Fallback>
                <p:oleObj name="Equation" r:id="rId2" imgW="1384300" imgH="6350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8500" y="1536700"/>
                        <a:ext cx="2420938"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25060" name="Group 4"/>
          <p:cNvGraphicFramePr>
            <a:graphicFrameLocks noGrp="1"/>
          </p:cNvGraphicFramePr>
          <p:nvPr>
            <p:ph idx="1"/>
            <p:extLst>
              <p:ext uri="{D42A27DB-BD31-4B8C-83A1-F6EECF244321}">
                <p14:modId xmlns:p14="http://schemas.microsoft.com/office/powerpoint/2010/main" val="2164102169"/>
              </p:ext>
            </p:extLst>
          </p:nvPr>
        </p:nvGraphicFramePr>
        <p:xfrm>
          <a:off x="762000" y="1328286"/>
          <a:ext cx="4876800" cy="1338713"/>
        </p:xfrm>
        <a:graphic>
          <a:graphicData uri="http://schemas.openxmlformats.org/drawingml/2006/table">
            <a:tbl>
              <a:tblPr/>
              <a:tblGrid>
                <a:gridCol w="1218881">
                  <a:extLst>
                    <a:ext uri="{9D8B030D-6E8A-4147-A177-3AD203B41FA5}">
                      <a16:colId xmlns:a16="http://schemas.microsoft.com/office/drawing/2014/main" val="20000"/>
                    </a:ext>
                  </a:extLst>
                </a:gridCol>
                <a:gridCol w="1220157">
                  <a:extLst>
                    <a:ext uri="{9D8B030D-6E8A-4147-A177-3AD203B41FA5}">
                      <a16:colId xmlns:a16="http://schemas.microsoft.com/office/drawing/2014/main" val="20001"/>
                    </a:ext>
                  </a:extLst>
                </a:gridCol>
                <a:gridCol w="1218881">
                  <a:extLst>
                    <a:ext uri="{9D8B030D-6E8A-4147-A177-3AD203B41FA5}">
                      <a16:colId xmlns:a16="http://schemas.microsoft.com/office/drawing/2014/main" val="20002"/>
                    </a:ext>
                  </a:extLst>
                </a:gridCol>
                <a:gridCol w="1218881">
                  <a:extLst>
                    <a:ext uri="{9D8B030D-6E8A-4147-A177-3AD203B41FA5}">
                      <a16:colId xmlns:a16="http://schemas.microsoft.com/office/drawing/2014/main" val="20003"/>
                    </a:ext>
                  </a:extLst>
                </a:gridCol>
              </a:tblGrid>
              <a:tr h="316685">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dirty="0">
                          <a:ln>
                            <a:noFill/>
                          </a:ln>
                          <a:solidFill>
                            <a:schemeClr val="tx1"/>
                          </a:solidFill>
                          <a:effectLst/>
                          <a:latin typeface="Arial"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dirty="0">
                          <a:ln>
                            <a:noFill/>
                          </a:ln>
                          <a:solidFill>
                            <a:schemeClr val="tx1"/>
                          </a:solidFill>
                          <a:effectLst/>
                          <a:latin typeface="Arial" charset="0"/>
                        </a:rPr>
                        <a:t>PREDICTED CLASS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8380">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1400" b="0" i="0" u="none" strike="noStrike" cap="none" normalizeH="0" baseline="0" dirty="0">
                          <a:ln>
                            <a:noFill/>
                          </a:ln>
                          <a:solidFill>
                            <a:schemeClr val="tx1"/>
                          </a:solidFill>
                          <a:effectLst/>
                          <a:latin typeface="Arial" charset="0"/>
                        </a:rPr>
                      </a:br>
                      <a:endParaRPr kumimoji="0" lang="en-US" sz="1400" b="0" i="0" u="none" strike="noStrike" cap="none" normalizeH="0" baseline="0" dirty="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dirty="0">
                          <a:ln>
                            <a:noFill/>
                          </a:ln>
                          <a:solidFill>
                            <a:schemeClr val="tx1"/>
                          </a:solidFill>
                          <a:effectLst/>
                          <a:latin typeface="Arial" charset="0"/>
                        </a:rPr>
                        <a:t>ACTUAL</a:t>
                      </a:r>
                      <a:br>
                        <a:rPr kumimoji="0" lang="en-US" sz="1400" b="0" i="0" u="none" strike="noStrike" cap="none" normalizeH="0" baseline="0" dirty="0">
                          <a:ln>
                            <a:noFill/>
                          </a:ln>
                          <a:solidFill>
                            <a:schemeClr val="tx1"/>
                          </a:solidFill>
                          <a:effectLst/>
                          <a:latin typeface="Arial" charset="0"/>
                        </a:rPr>
                      </a:br>
                      <a:r>
                        <a:rPr kumimoji="0" lang="en-US" sz="1400" b="0" i="0" u="none" strike="noStrike" cap="none" normalizeH="0" baseline="0" dirty="0">
                          <a:ln>
                            <a:noFill/>
                          </a:ln>
                          <a:solidFill>
                            <a:schemeClr val="tx1"/>
                          </a:solidFill>
                          <a:effectLst/>
                          <a:latin typeface="Arial" charset="0"/>
                        </a:rPr>
                        <a:t>CLASS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083">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565">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 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 name="Group 4"/>
          <p:cNvGraphicFramePr>
            <a:graphicFrameLocks/>
          </p:cNvGraphicFramePr>
          <p:nvPr>
            <p:extLst>
              <p:ext uri="{D42A27DB-BD31-4B8C-83A1-F6EECF244321}">
                <p14:modId xmlns:p14="http://schemas.microsoft.com/office/powerpoint/2010/main" val="2185361635"/>
              </p:ext>
            </p:extLst>
          </p:nvPr>
        </p:nvGraphicFramePr>
        <p:xfrm>
          <a:off x="762000" y="3126288"/>
          <a:ext cx="4876800" cy="1321888"/>
        </p:xfrm>
        <a:graphic>
          <a:graphicData uri="http://schemas.openxmlformats.org/drawingml/2006/table">
            <a:tbl>
              <a:tblPr/>
              <a:tblGrid>
                <a:gridCol w="1218881">
                  <a:extLst>
                    <a:ext uri="{9D8B030D-6E8A-4147-A177-3AD203B41FA5}">
                      <a16:colId xmlns:a16="http://schemas.microsoft.com/office/drawing/2014/main" val="20000"/>
                    </a:ext>
                  </a:extLst>
                </a:gridCol>
                <a:gridCol w="1220157">
                  <a:extLst>
                    <a:ext uri="{9D8B030D-6E8A-4147-A177-3AD203B41FA5}">
                      <a16:colId xmlns:a16="http://schemas.microsoft.com/office/drawing/2014/main" val="20001"/>
                    </a:ext>
                  </a:extLst>
                </a:gridCol>
                <a:gridCol w="1218881">
                  <a:extLst>
                    <a:ext uri="{9D8B030D-6E8A-4147-A177-3AD203B41FA5}">
                      <a16:colId xmlns:a16="http://schemas.microsoft.com/office/drawing/2014/main" val="20002"/>
                    </a:ext>
                  </a:extLst>
                </a:gridCol>
                <a:gridCol w="1218881">
                  <a:extLst>
                    <a:ext uri="{9D8B030D-6E8A-4147-A177-3AD203B41FA5}">
                      <a16:colId xmlns:a16="http://schemas.microsoft.com/office/drawing/2014/main" val="20003"/>
                    </a:ext>
                  </a:extLst>
                </a:gridCol>
              </a:tblGrid>
              <a:tr h="288915">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dirty="0">
                          <a:ln>
                            <a:noFill/>
                          </a:ln>
                          <a:solidFill>
                            <a:schemeClr val="tx1"/>
                          </a:solidFill>
                          <a:effectLst/>
                          <a:latin typeface="Arial" charset="0"/>
                        </a:rPr>
                        <a:t>B</a:t>
                      </a:r>
                    </a:p>
                  </a:txBody>
                  <a:tcPr marT="45738" marB="457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dirty="0">
                          <a:ln>
                            <a:noFill/>
                          </a:ln>
                          <a:solidFill>
                            <a:schemeClr val="tx1"/>
                          </a:solidFill>
                          <a:effectLst/>
                          <a:latin typeface="Arial" charset="0"/>
                        </a:rPr>
                        <a:t>PREDICTED CLASS</a:t>
                      </a:r>
                    </a:p>
                  </a:txBody>
                  <a:tcPr marT="45738" marB="457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99586">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1400" b="0" i="0" u="none" strike="noStrike" cap="none" normalizeH="0" baseline="0">
                          <a:ln>
                            <a:noFill/>
                          </a:ln>
                          <a:solidFill>
                            <a:schemeClr val="tx1"/>
                          </a:solidFill>
                          <a:effectLst/>
                          <a:latin typeface="Arial" charset="0"/>
                        </a:rPr>
                      </a:br>
                      <a:endParaRPr kumimoji="0" lang="en-US" sz="14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a:ln>
                            <a:noFill/>
                          </a:ln>
                          <a:solidFill>
                            <a:schemeClr val="tx1"/>
                          </a:solidFill>
                          <a:effectLst/>
                          <a:latin typeface="Arial" charset="0"/>
                        </a:rPr>
                        <a:t>ACTUAL</a:t>
                      </a:r>
                      <a:br>
                        <a:rPr kumimoji="0" lang="en-US" sz="1400" b="0" i="0" u="none" strike="noStrike" cap="none" normalizeH="0" baseline="0">
                          <a:ln>
                            <a:noFill/>
                          </a:ln>
                          <a:solidFill>
                            <a:schemeClr val="tx1"/>
                          </a:solidFill>
                          <a:effectLst/>
                          <a:latin typeface="Arial" charset="0"/>
                        </a:rPr>
                      </a:br>
                      <a:r>
                        <a:rPr kumimoji="0" lang="en-US" sz="1400" b="0" i="0" u="none" strike="noStrike" cap="none" normalizeH="0" baseline="0">
                          <a:ln>
                            <a:noFill/>
                          </a:ln>
                          <a:solidFill>
                            <a:schemeClr val="tx1"/>
                          </a:solidFill>
                          <a:effectLst/>
                          <a:latin typeface="Arial" charset="0"/>
                        </a:rPr>
                        <a:t>CLASS</a:t>
                      </a:r>
                    </a:p>
                  </a:txBody>
                  <a:tcPr marT="45738" marB="457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200" b="0" i="0" u="none" strike="noStrike" cap="none" normalizeH="0" baseline="0" dirty="0">
                        <a:ln>
                          <a:noFill/>
                        </a:ln>
                        <a:solidFill>
                          <a:schemeClr val="tx1"/>
                        </a:solidFill>
                        <a:effectLst/>
                        <a:latin typeface="Arial" charset="0"/>
                      </a:endParaRPr>
                    </a:p>
                  </a:txBody>
                  <a:tcPr marT="45738" marB="457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Class=Yes</a:t>
                      </a:r>
                    </a:p>
                  </a:txBody>
                  <a:tcPr marT="45738" marB="457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Class=No</a:t>
                      </a:r>
                    </a:p>
                  </a:txBody>
                  <a:tcPr marT="45738" marB="457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3841">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Class=Yes</a:t>
                      </a:r>
                    </a:p>
                  </a:txBody>
                  <a:tcPr marT="45738" marB="457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25</a:t>
                      </a:r>
                    </a:p>
                  </a:txBody>
                  <a:tcPr marT="45738" marB="457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25</a:t>
                      </a:r>
                    </a:p>
                  </a:txBody>
                  <a:tcPr marT="45738" marB="457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434">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Class=No</a:t>
                      </a:r>
                    </a:p>
                  </a:txBody>
                  <a:tcPr marT="45738" marB="457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25</a:t>
                      </a:r>
                    </a:p>
                  </a:txBody>
                  <a:tcPr marT="45738" marB="457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 25</a:t>
                      </a:r>
                    </a:p>
                  </a:txBody>
                  <a:tcPr marT="45738" marB="457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7" name="Group 4"/>
          <p:cNvGraphicFramePr>
            <a:graphicFrameLocks/>
          </p:cNvGraphicFramePr>
          <p:nvPr>
            <p:extLst>
              <p:ext uri="{D42A27DB-BD31-4B8C-83A1-F6EECF244321}">
                <p14:modId xmlns:p14="http://schemas.microsoft.com/office/powerpoint/2010/main" val="2592669475"/>
              </p:ext>
            </p:extLst>
          </p:nvPr>
        </p:nvGraphicFramePr>
        <p:xfrm>
          <a:off x="838200" y="4947386"/>
          <a:ext cx="4876800" cy="1377214"/>
        </p:xfrm>
        <a:graphic>
          <a:graphicData uri="http://schemas.openxmlformats.org/drawingml/2006/table">
            <a:tbl>
              <a:tblPr/>
              <a:tblGrid>
                <a:gridCol w="1218881">
                  <a:extLst>
                    <a:ext uri="{9D8B030D-6E8A-4147-A177-3AD203B41FA5}">
                      <a16:colId xmlns:a16="http://schemas.microsoft.com/office/drawing/2014/main" val="20000"/>
                    </a:ext>
                  </a:extLst>
                </a:gridCol>
                <a:gridCol w="1220157">
                  <a:extLst>
                    <a:ext uri="{9D8B030D-6E8A-4147-A177-3AD203B41FA5}">
                      <a16:colId xmlns:a16="http://schemas.microsoft.com/office/drawing/2014/main" val="20001"/>
                    </a:ext>
                  </a:extLst>
                </a:gridCol>
                <a:gridCol w="1218881">
                  <a:extLst>
                    <a:ext uri="{9D8B030D-6E8A-4147-A177-3AD203B41FA5}">
                      <a16:colId xmlns:a16="http://schemas.microsoft.com/office/drawing/2014/main" val="20002"/>
                    </a:ext>
                  </a:extLst>
                </a:gridCol>
                <a:gridCol w="1218881">
                  <a:extLst>
                    <a:ext uri="{9D8B030D-6E8A-4147-A177-3AD203B41FA5}">
                      <a16:colId xmlns:a16="http://schemas.microsoft.com/office/drawing/2014/main" val="20003"/>
                    </a:ext>
                  </a:extLst>
                </a:gridCol>
              </a:tblGrid>
              <a:tr h="325793">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dirty="0">
                          <a:ln>
                            <a:noFill/>
                          </a:ln>
                          <a:solidFill>
                            <a:schemeClr val="tx1"/>
                          </a:solidFill>
                          <a:effectLst/>
                          <a:latin typeface="Arial"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dirty="0">
                          <a:ln>
                            <a:noFill/>
                          </a:ln>
                          <a:solidFill>
                            <a:schemeClr val="tx1"/>
                          </a:solidFill>
                          <a:effectLst/>
                          <a:latin typeface="Arial" charset="0"/>
                        </a:rPr>
                        <a:t>PREDICTED CLASS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7824">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1400" b="0" i="0" u="none" strike="noStrike" cap="none" normalizeH="0" baseline="0">
                          <a:ln>
                            <a:noFill/>
                          </a:ln>
                          <a:solidFill>
                            <a:schemeClr val="tx1"/>
                          </a:solidFill>
                          <a:effectLst/>
                          <a:latin typeface="Arial" charset="0"/>
                        </a:rPr>
                      </a:br>
                      <a:endParaRPr kumimoji="0" lang="en-US" sz="14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a:ln>
                            <a:noFill/>
                          </a:ln>
                          <a:solidFill>
                            <a:schemeClr val="tx1"/>
                          </a:solidFill>
                          <a:effectLst/>
                          <a:latin typeface="Arial" charset="0"/>
                        </a:rPr>
                        <a:t>ACTUAL</a:t>
                      </a:r>
                      <a:br>
                        <a:rPr kumimoji="0" lang="en-US" sz="1400" b="0" i="0" u="none" strike="noStrike" cap="none" normalizeH="0" baseline="0">
                          <a:ln>
                            <a:noFill/>
                          </a:ln>
                          <a:solidFill>
                            <a:schemeClr val="tx1"/>
                          </a:solidFill>
                          <a:effectLst/>
                          <a:latin typeface="Arial" charset="0"/>
                        </a:rPr>
                      </a:br>
                      <a:r>
                        <a:rPr kumimoji="0" lang="en-US" sz="1400" b="0" i="0" u="none" strike="noStrike" cap="none" normalizeH="0" baseline="0">
                          <a:ln>
                            <a:noFill/>
                          </a:ln>
                          <a:solidFill>
                            <a:schemeClr val="tx1"/>
                          </a:solidFill>
                          <a:effectLst/>
                          <a:latin typeface="Arial" charset="0"/>
                        </a:rPr>
                        <a:t>CLASS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1346">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2251">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 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6457" name="Object 2"/>
          <p:cNvGraphicFramePr>
            <a:graphicFrameLocks noChangeAspect="1"/>
          </p:cNvGraphicFramePr>
          <p:nvPr>
            <p:extLst>
              <p:ext uri="{D42A27DB-BD31-4B8C-83A1-F6EECF244321}">
                <p14:modId xmlns:p14="http://schemas.microsoft.com/office/powerpoint/2010/main" val="1663541135"/>
              </p:ext>
            </p:extLst>
          </p:nvPr>
        </p:nvGraphicFramePr>
        <p:xfrm>
          <a:off x="5778500" y="3276600"/>
          <a:ext cx="2454275" cy="914400"/>
        </p:xfrm>
        <a:graphic>
          <a:graphicData uri="http://schemas.openxmlformats.org/presentationml/2006/ole">
            <mc:AlternateContent xmlns:mc="http://schemas.openxmlformats.org/markup-compatibility/2006">
              <mc:Choice xmlns:v="urn:schemas-microsoft-com:vml" Requires="v">
                <p:oleObj name="Equation" r:id="rId4" imgW="1384300" imgH="635000" progId="Equation.3">
                  <p:embed/>
                </p:oleObj>
              </mc:Choice>
              <mc:Fallback>
                <p:oleObj name="Equation" r:id="rId4" imgW="1384300" imgH="6350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78500" y="3276600"/>
                        <a:ext cx="24542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458" name="Object 3"/>
          <p:cNvGraphicFramePr>
            <a:graphicFrameLocks noChangeAspect="1"/>
          </p:cNvGraphicFramePr>
          <p:nvPr>
            <p:extLst>
              <p:ext uri="{D42A27DB-BD31-4B8C-83A1-F6EECF244321}">
                <p14:modId xmlns:p14="http://schemas.microsoft.com/office/powerpoint/2010/main" val="326213252"/>
              </p:ext>
            </p:extLst>
          </p:nvPr>
        </p:nvGraphicFramePr>
        <p:xfrm>
          <a:off x="5778500" y="5029200"/>
          <a:ext cx="2659063" cy="990600"/>
        </p:xfrm>
        <a:graphic>
          <a:graphicData uri="http://schemas.openxmlformats.org/presentationml/2006/ole">
            <mc:AlternateContent xmlns:mc="http://schemas.openxmlformats.org/markup-compatibility/2006">
              <mc:Choice xmlns:v="urn:schemas-microsoft-com:vml" Requires="v">
                <p:oleObj name="Equation" r:id="rId6" imgW="1384300" imgH="635000" progId="Equation.3">
                  <p:embed/>
                </p:oleObj>
              </mc:Choice>
              <mc:Fallback>
                <p:oleObj name="Equation" r:id="rId6" imgW="1384300" imgH="6350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78500" y="5029200"/>
                        <a:ext cx="265906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3326945112"/>
              </p:ext>
            </p:extLst>
          </p:nvPr>
        </p:nvGraphicFramePr>
        <p:xfrm>
          <a:off x="5724525" y="2438400"/>
          <a:ext cx="1957388" cy="293688"/>
        </p:xfrm>
        <a:graphic>
          <a:graphicData uri="http://schemas.openxmlformats.org/presentationml/2006/ole">
            <mc:AlternateContent xmlns:mc="http://schemas.openxmlformats.org/markup-compatibility/2006">
              <mc:Choice xmlns:v="urn:schemas-microsoft-com:vml" Requires="v">
                <p:oleObj name="Equation" r:id="rId8" imgW="1015920" imgH="152280" progId="Equation.3">
                  <p:embed/>
                </p:oleObj>
              </mc:Choice>
              <mc:Fallback>
                <p:oleObj name="Equation" r:id="rId8" imgW="1015920" imgH="152280" progId="Equation.3">
                  <p:embed/>
                  <p:pic>
                    <p:nvPicPr>
                      <p:cNvPr id="0" name=""/>
                      <p:cNvPicPr/>
                      <p:nvPr/>
                    </p:nvPicPr>
                    <p:blipFill>
                      <a:blip r:embed="rId9"/>
                      <a:stretch>
                        <a:fillRect/>
                      </a:stretch>
                    </p:blipFill>
                    <p:spPr>
                      <a:xfrm>
                        <a:off x="5724525" y="2438400"/>
                        <a:ext cx="1957388" cy="293688"/>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3145874908"/>
              </p:ext>
            </p:extLst>
          </p:nvPr>
        </p:nvGraphicFramePr>
        <p:xfrm>
          <a:off x="5777456" y="4217618"/>
          <a:ext cx="1835150" cy="293687"/>
        </p:xfrm>
        <a:graphic>
          <a:graphicData uri="http://schemas.openxmlformats.org/presentationml/2006/ole">
            <mc:AlternateContent xmlns:mc="http://schemas.openxmlformats.org/markup-compatibility/2006">
              <mc:Choice xmlns:v="urn:schemas-microsoft-com:vml" Requires="v">
                <p:oleObj name="Equation" r:id="rId10" imgW="952200" imgH="152280" progId="Equation.3">
                  <p:embed/>
                </p:oleObj>
              </mc:Choice>
              <mc:Fallback>
                <p:oleObj name="Equation" r:id="rId10" imgW="952200" imgH="152280" progId="Equation.3">
                  <p:embed/>
                  <p:pic>
                    <p:nvPicPr>
                      <p:cNvPr id="3" name="Object 2"/>
                      <p:cNvPicPr/>
                      <p:nvPr/>
                    </p:nvPicPr>
                    <p:blipFill>
                      <a:blip r:embed="rId11"/>
                      <a:stretch>
                        <a:fillRect/>
                      </a:stretch>
                    </p:blipFill>
                    <p:spPr>
                      <a:xfrm>
                        <a:off x="5777456" y="4217618"/>
                        <a:ext cx="1835150" cy="293687"/>
                      </a:xfrm>
                      <a:prstGeom prst="rect">
                        <a:avLst/>
                      </a:prstGeom>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1541354163"/>
              </p:ext>
            </p:extLst>
          </p:nvPr>
        </p:nvGraphicFramePr>
        <p:xfrm>
          <a:off x="5724525" y="6091238"/>
          <a:ext cx="1957388" cy="293687"/>
        </p:xfrm>
        <a:graphic>
          <a:graphicData uri="http://schemas.openxmlformats.org/presentationml/2006/ole">
            <mc:AlternateContent xmlns:mc="http://schemas.openxmlformats.org/markup-compatibility/2006">
              <mc:Choice xmlns:v="urn:schemas-microsoft-com:vml" Requires="v">
                <p:oleObj name="Equation" r:id="rId12" imgW="1015920" imgH="152280" progId="Equation.3">
                  <p:embed/>
                </p:oleObj>
              </mc:Choice>
              <mc:Fallback>
                <p:oleObj name="Equation" r:id="rId12" imgW="1015920" imgH="152280" progId="Equation.3">
                  <p:embed/>
                  <p:pic>
                    <p:nvPicPr>
                      <p:cNvPr id="12" name="Object 11"/>
                      <p:cNvPicPr/>
                      <p:nvPr/>
                    </p:nvPicPr>
                    <p:blipFill>
                      <a:blip r:embed="rId13"/>
                      <a:stretch>
                        <a:fillRect/>
                      </a:stretch>
                    </p:blipFill>
                    <p:spPr>
                      <a:xfrm>
                        <a:off x="5724525" y="6091238"/>
                        <a:ext cx="1957388" cy="293687"/>
                      </a:xfrm>
                      <a:prstGeom prst="rect">
                        <a:avLst/>
                      </a:prstGeom>
                    </p:spPr>
                  </p:pic>
                </p:oleObj>
              </mc:Fallback>
            </mc:AlternateContent>
          </a:graphicData>
        </a:graphic>
      </p:graphicFrame>
      <p:sp>
        <p:nvSpPr>
          <p:cNvPr id="12" name="TextBox 11"/>
          <p:cNvSpPr txBox="1"/>
          <p:nvPr/>
        </p:nvSpPr>
        <p:spPr>
          <a:xfrm>
            <a:off x="152400" y="1752600"/>
            <a:ext cx="184731" cy="707886"/>
          </a:xfrm>
          <a:prstGeom prst="rect">
            <a:avLst/>
          </a:prstGeom>
          <a:noFill/>
        </p:spPr>
        <p:txBody>
          <a:bodyPr wrap="none" rtlCol="0">
            <a:spAutoFit/>
          </a:bodyPr>
          <a:lstStyle/>
          <a:p>
            <a:endParaRPr lang="en-US" sz="4000" dirty="0"/>
          </a:p>
        </p:txBody>
      </p:sp>
      <p:sp>
        <p:nvSpPr>
          <p:cNvPr id="14" name="TextBox 13"/>
          <p:cNvSpPr txBox="1"/>
          <p:nvPr/>
        </p:nvSpPr>
        <p:spPr>
          <a:xfrm>
            <a:off x="152400" y="5464314"/>
            <a:ext cx="184731" cy="707886"/>
          </a:xfrm>
          <a:prstGeom prst="rect">
            <a:avLst/>
          </a:prstGeom>
          <a:noFill/>
        </p:spPr>
        <p:txBody>
          <a:bodyPr wrap="none" rtlCol="0">
            <a:spAutoFit/>
          </a:bodyPr>
          <a:lstStyle/>
          <a:p>
            <a:endParaRPr lang="en-US" sz="4000" dirty="0"/>
          </a:p>
        </p:txBody>
      </p:sp>
      <p:sp>
        <p:nvSpPr>
          <p:cNvPr id="15" name="TextBox 14"/>
          <p:cNvSpPr txBox="1"/>
          <p:nvPr/>
        </p:nvSpPr>
        <p:spPr>
          <a:xfrm>
            <a:off x="152400" y="3483114"/>
            <a:ext cx="184731" cy="707886"/>
          </a:xfrm>
          <a:prstGeom prst="rect">
            <a:avLst/>
          </a:prstGeom>
          <a:noFill/>
        </p:spPr>
        <p:txBody>
          <a:bodyPr wrap="none" rtlCol="0">
            <a:spAutoFit/>
          </a:bodyPr>
          <a:lstStyle/>
          <a:p>
            <a:endParaRPr lang="en-US" sz="4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6"/>
          <p:cNvSpPr>
            <a:spLocks noGrp="1" noChangeArrowheads="1"/>
          </p:cNvSpPr>
          <p:nvPr>
            <p:ph type="title"/>
          </p:nvPr>
        </p:nvSpPr>
        <p:spPr>
          <a:xfrm>
            <a:off x="381000" y="152400"/>
            <a:ext cx="8610600" cy="533400"/>
          </a:xfrm>
        </p:spPr>
        <p:txBody>
          <a:bodyPr/>
          <a:lstStyle/>
          <a:p>
            <a:r>
              <a:rPr lang="en-US" altLang="en-US"/>
              <a:t>ROC (Receiver Operating Characteristic)</a:t>
            </a:r>
          </a:p>
        </p:txBody>
      </p:sp>
      <p:sp>
        <p:nvSpPr>
          <p:cNvPr id="17411" name="Rectangle 7"/>
          <p:cNvSpPr>
            <a:spLocks noGrp="1" noChangeArrowheads="1"/>
          </p:cNvSpPr>
          <p:nvPr>
            <p:ph type="body" idx="1"/>
          </p:nvPr>
        </p:nvSpPr>
        <p:spPr/>
        <p:txBody>
          <a:bodyPr/>
          <a:lstStyle/>
          <a:p>
            <a:r>
              <a:rPr lang="en-US" altLang="en-US" dirty="0"/>
              <a:t>A graphical approach for displaying trade-off between detection rate and false alarm rate</a:t>
            </a:r>
          </a:p>
          <a:p>
            <a:r>
              <a:rPr lang="en-US" altLang="en-US" dirty="0"/>
              <a:t>Developed in 1950s for signal detection theory to analyze noisy signals </a:t>
            </a:r>
          </a:p>
          <a:p>
            <a:r>
              <a:rPr lang="en-US" altLang="en-US" dirty="0"/>
              <a:t>ROC curve plots TPR against FPR</a:t>
            </a:r>
          </a:p>
          <a:p>
            <a:pPr lvl="1"/>
            <a:r>
              <a:rPr lang="en-US" altLang="en-US" sz="2400" dirty="0"/>
              <a:t>Performance of a model represented as a point in an ROC curve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a:t>ROC Curve</a:t>
            </a:r>
          </a:p>
        </p:txBody>
      </p:sp>
      <p:sp>
        <p:nvSpPr>
          <p:cNvPr id="18435" name="Rectangle 3"/>
          <p:cNvSpPr>
            <a:spLocks noGrp="1" noChangeArrowheads="1"/>
          </p:cNvSpPr>
          <p:nvPr>
            <p:ph type="body" idx="1"/>
          </p:nvPr>
        </p:nvSpPr>
        <p:spPr>
          <a:xfrm>
            <a:off x="304800" y="1143000"/>
            <a:ext cx="4343400" cy="5181600"/>
          </a:xfrm>
        </p:spPr>
        <p:txBody>
          <a:bodyPr/>
          <a:lstStyle/>
          <a:p>
            <a:pPr>
              <a:buFont typeface="Monotype Sorts" pitchFamily="2" charset="2"/>
              <a:buNone/>
            </a:pPr>
            <a:r>
              <a:rPr lang="en-US" altLang="en-US" sz="2400" dirty="0"/>
              <a:t>(TPR,FPR):</a:t>
            </a:r>
          </a:p>
          <a:p>
            <a:r>
              <a:rPr lang="en-US" altLang="en-US" sz="2400" dirty="0"/>
              <a:t>(0,0): declare everything</a:t>
            </a:r>
            <a:br>
              <a:rPr lang="en-US" altLang="en-US" sz="2400" dirty="0"/>
            </a:br>
            <a:r>
              <a:rPr lang="en-US" altLang="en-US" sz="2400" dirty="0"/>
              <a:t>          to be negative class</a:t>
            </a:r>
          </a:p>
          <a:p>
            <a:r>
              <a:rPr lang="en-US" altLang="en-US" sz="2400" dirty="0"/>
              <a:t>(1,1): declare everything</a:t>
            </a:r>
            <a:br>
              <a:rPr lang="en-US" altLang="en-US" sz="2400" dirty="0"/>
            </a:br>
            <a:r>
              <a:rPr lang="en-US" altLang="en-US" sz="2400" dirty="0"/>
              <a:t>         to be positive class</a:t>
            </a:r>
          </a:p>
          <a:p>
            <a:r>
              <a:rPr lang="en-US" altLang="en-US" sz="2400" dirty="0"/>
              <a:t>(1,0): ideal</a:t>
            </a:r>
          </a:p>
          <a:p>
            <a:pPr>
              <a:buFont typeface="Monotype Sorts" pitchFamily="2" charset="2"/>
              <a:buNone/>
            </a:pPr>
            <a:endParaRPr lang="en-US" altLang="en-US" sz="2400" dirty="0"/>
          </a:p>
          <a:p>
            <a:r>
              <a:rPr lang="en-US" altLang="en-US" sz="2400" dirty="0"/>
              <a:t>Diagonal line:</a:t>
            </a:r>
          </a:p>
          <a:p>
            <a:pPr lvl="1"/>
            <a:r>
              <a:rPr lang="en-US" altLang="en-US" sz="2400" dirty="0"/>
              <a:t>Random guessing</a:t>
            </a:r>
          </a:p>
          <a:p>
            <a:pPr lvl="1"/>
            <a:r>
              <a:rPr lang="en-US" altLang="en-US" sz="2400" dirty="0"/>
              <a:t>Below diagonal line:</a:t>
            </a:r>
          </a:p>
          <a:p>
            <a:pPr marL="1255713" lvl="2" indent="-341313"/>
            <a:r>
              <a:rPr lang="en-US" altLang="en-US" sz="2000" dirty="0"/>
              <a:t>prediction is opposite </a:t>
            </a:r>
            <a:br>
              <a:rPr lang="en-US" altLang="en-US" sz="2000" dirty="0"/>
            </a:br>
            <a:r>
              <a:rPr lang="en-US" altLang="en-US" sz="2000" dirty="0"/>
              <a:t>of the true class</a:t>
            </a:r>
          </a:p>
        </p:txBody>
      </p:sp>
      <p:pic>
        <p:nvPicPr>
          <p:cNvPr id="18436" name="Picture 4"/>
          <p:cNvPicPr>
            <a:picLocks noChangeAspect="1" noChangeArrowheads="1"/>
          </p:cNvPicPr>
          <p:nvPr/>
        </p:nvPicPr>
        <p:blipFill>
          <a:blip r:embed="rId2">
            <a:extLst>
              <a:ext uri="{28A0092B-C50C-407E-A947-70E740481C1C}">
                <a14:useLocalDpi xmlns:a14="http://schemas.microsoft.com/office/drawing/2010/main" val="0"/>
              </a:ext>
            </a:extLst>
          </a:blip>
          <a:srcRect l="3069" r="6557"/>
          <a:stretch>
            <a:fillRect/>
          </a:stretch>
        </p:blipFill>
        <p:spPr bwMode="auto">
          <a:xfrm>
            <a:off x="4267200" y="1143000"/>
            <a:ext cx="4800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81000" y="152400"/>
            <a:ext cx="8458200" cy="533400"/>
          </a:xfrm>
        </p:spPr>
        <p:txBody>
          <a:bodyPr/>
          <a:lstStyle/>
          <a:p>
            <a:r>
              <a:rPr lang="en-US" altLang="en-US"/>
              <a:t>ROC (Receiver Operating Characteristic)</a:t>
            </a:r>
          </a:p>
        </p:txBody>
      </p:sp>
      <p:sp>
        <p:nvSpPr>
          <p:cNvPr id="19459" name="Rectangle 3"/>
          <p:cNvSpPr>
            <a:spLocks noGrp="1" noChangeArrowheads="1"/>
          </p:cNvSpPr>
          <p:nvPr>
            <p:ph type="body" idx="1"/>
          </p:nvPr>
        </p:nvSpPr>
        <p:spPr/>
        <p:txBody>
          <a:bodyPr/>
          <a:lstStyle/>
          <a:p>
            <a:r>
              <a:rPr lang="en-US" altLang="en-US" dirty="0"/>
              <a:t>To draw ROC curve, classifier must produce continuous-valued output </a:t>
            </a:r>
          </a:p>
          <a:p>
            <a:pPr lvl="1"/>
            <a:r>
              <a:rPr lang="en-US" altLang="en-US" sz="2000" dirty="0"/>
              <a:t>Outputs are used to rank test records, from the most likely positive class record to the least likely positive class record</a:t>
            </a:r>
          </a:p>
          <a:p>
            <a:pPr lvl="1"/>
            <a:r>
              <a:rPr lang="en-US" altLang="en-US" sz="2000" dirty="0"/>
              <a:t>By using different thresholds on this value, we can  create different variations of the classifier with TPR/FPR tradeoffs  </a:t>
            </a:r>
          </a:p>
          <a:p>
            <a:r>
              <a:rPr lang="en-US" altLang="en-US" sz="2400" dirty="0"/>
              <a:t>Many classifiers produce only discrete outputs (i.e., predicted class)</a:t>
            </a:r>
          </a:p>
          <a:p>
            <a:pPr lvl="1"/>
            <a:r>
              <a:rPr lang="en-US" altLang="en-US" sz="2400" dirty="0"/>
              <a:t>How to get continuous-valued outputs?</a:t>
            </a:r>
          </a:p>
          <a:p>
            <a:pPr marL="1255713" lvl="2" indent="-341313"/>
            <a:r>
              <a:rPr lang="en-US" altLang="en-US" sz="2000" dirty="0"/>
              <a:t>Decision trees, rule-based classifiers, neural networks, Bayesian classifiers, k-nearest neighbors, SVM</a:t>
            </a:r>
          </a:p>
          <a:p>
            <a:pPr lvl="1"/>
            <a:endParaRPr lang="en-US" alt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t>ROC Curve Example</a:t>
            </a:r>
          </a:p>
        </p:txBody>
      </p:sp>
      <p:pic>
        <p:nvPicPr>
          <p:cNvPr id="22531" name="Picture 3"/>
          <p:cNvPicPr>
            <a:picLocks noChangeAspect="1" noChangeArrowheads="1"/>
          </p:cNvPicPr>
          <p:nvPr/>
        </p:nvPicPr>
        <p:blipFill>
          <a:blip r:embed="rId2">
            <a:extLst>
              <a:ext uri="{28A0092B-C50C-407E-A947-70E740481C1C}">
                <a14:useLocalDpi xmlns:a14="http://schemas.microsoft.com/office/drawing/2010/main" val="0"/>
              </a:ext>
            </a:extLst>
          </a:blip>
          <a:srcRect l="4286" r="5714"/>
          <a:stretch>
            <a:fillRect/>
          </a:stretch>
        </p:blipFill>
        <p:spPr bwMode="auto">
          <a:xfrm>
            <a:off x="0" y="1828800"/>
            <a:ext cx="4343400"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2532" name="Oval 4"/>
          <p:cNvSpPr>
            <a:spLocks noChangeArrowheads="1"/>
          </p:cNvSpPr>
          <p:nvPr/>
        </p:nvSpPr>
        <p:spPr bwMode="auto">
          <a:xfrm>
            <a:off x="5273675" y="3886200"/>
            <a:ext cx="76200" cy="76200"/>
          </a:xfrm>
          <a:prstGeom prst="ellipse">
            <a:avLst/>
          </a:prstGeom>
          <a:solidFill>
            <a:srgbClr val="000000"/>
          </a:solidFill>
          <a:ln w="12700">
            <a:solidFill>
              <a:schemeClr val="tx1"/>
            </a:solidFill>
            <a:round/>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grpSp>
        <p:nvGrpSpPr>
          <p:cNvPr id="2" name="Group 5"/>
          <p:cNvGrpSpPr>
            <a:grpSpLocks/>
          </p:cNvGrpSpPr>
          <p:nvPr/>
        </p:nvGrpSpPr>
        <p:grpSpPr bwMode="auto">
          <a:xfrm>
            <a:off x="381000" y="1752600"/>
            <a:ext cx="8534400" cy="4648200"/>
            <a:chOff x="288" y="1056"/>
            <a:chExt cx="5376" cy="2928"/>
          </a:xfrm>
        </p:grpSpPr>
        <p:pic>
          <p:nvPicPr>
            <p:cNvPr id="22535" name="Picture 6"/>
            <p:cNvPicPr>
              <a:picLocks noChangeAspect="1" noChangeArrowheads="1"/>
            </p:cNvPicPr>
            <p:nvPr/>
          </p:nvPicPr>
          <p:blipFill>
            <a:blip r:embed="rId3">
              <a:extLst>
                <a:ext uri="{28A0092B-C50C-407E-A947-70E740481C1C}">
                  <a14:useLocalDpi xmlns:a14="http://schemas.microsoft.com/office/drawing/2010/main" val="0"/>
                </a:ext>
              </a:extLst>
            </a:blip>
            <a:srcRect l="3069" r="6557"/>
            <a:stretch>
              <a:fillRect/>
            </a:stretch>
          </p:blipFill>
          <p:spPr bwMode="auto">
            <a:xfrm>
              <a:off x="2736" y="1056"/>
              <a:ext cx="2928" cy="2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2536" name="Text Box 7"/>
            <p:cNvSpPr txBox="1">
              <a:spLocks noChangeArrowheads="1"/>
            </p:cNvSpPr>
            <p:nvPr/>
          </p:nvSpPr>
          <p:spPr bwMode="auto">
            <a:xfrm>
              <a:off x="288" y="3408"/>
              <a:ext cx="3360"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2000" dirty="0"/>
                <a:t>At threshold t:</a:t>
              </a:r>
            </a:p>
            <a:p>
              <a:pPr>
                <a:spcBef>
                  <a:spcPct val="50000"/>
                </a:spcBef>
                <a:spcAft>
                  <a:spcPct val="0"/>
                </a:spcAft>
                <a:buClrTx/>
                <a:buSzTx/>
                <a:buFontTx/>
                <a:buNone/>
              </a:pPr>
              <a:r>
                <a:rPr lang="en-US" altLang="en-US" sz="2000" dirty="0"/>
                <a:t>TPR=0.5, FNR=0.5, FPR=0.12, TNR=0.88</a:t>
              </a:r>
            </a:p>
          </p:txBody>
        </p:sp>
        <p:sp>
          <p:nvSpPr>
            <p:cNvPr id="22537" name="Line 8"/>
            <p:cNvSpPr>
              <a:spLocks noChangeShapeType="1"/>
            </p:cNvSpPr>
            <p:nvPr/>
          </p:nvSpPr>
          <p:spPr bwMode="auto">
            <a:xfrm flipV="1">
              <a:off x="2160" y="2544"/>
              <a:ext cx="1104" cy="1104"/>
            </a:xfrm>
            <a:prstGeom prst="line">
              <a:avLst/>
            </a:prstGeom>
            <a:noFill/>
            <a:ln w="3810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2534" name="Text Box 9"/>
          <p:cNvSpPr txBox="1">
            <a:spLocks noChangeArrowheads="1"/>
          </p:cNvSpPr>
          <p:nvPr/>
        </p:nvSpPr>
        <p:spPr bwMode="auto">
          <a:xfrm>
            <a:off x="228600" y="1066800"/>
            <a:ext cx="82296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800"/>
              <a:t>- 1-dimensional data set containing 2 classes (positive and negative)</a:t>
            </a:r>
          </a:p>
          <a:p>
            <a:pPr>
              <a:spcBef>
                <a:spcPct val="50000"/>
              </a:spcBef>
              <a:spcAft>
                <a:spcPct val="0"/>
              </a:spcAft>
              <a:buClrTx/>
              <a:buSzTx/>
              <a:buFontTx/>
              <a:buNone/>
            </a:pPr>
            <a:r>
              <a:rPr lang="en-US" altLang="en-US" sz="1800"/>
              <a:t>- Any points located at x &gt; t is classified as positive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sz="2400" dirty="0"/>
              <a:t>Dealing with Imbalanced Classes - Summary</a:t>
            </a:r>
          </a:p>
        </p:txBody>
      </p:sp>
      <p:sp>
        <p:nvSpPr>
          <p:cNvPr id="31747" name="Rectangle 3"/>
          <p:cNvSpPr>
            <a:spLocks noGrp="1" noChangeArrowheads="1"/>
          </p:cNvSpPr>
          <p:nvPr>
            <p:ph type="body" idx="1"/>
          </p:nvPr>
        </p:nvSpPr>
        <p:spPr/>
        <p:txBody>
          <a:bodyPr/>
          <a:lstStyle/>
          <a:p>
            <a:r>
              <a:rPr lang="en-US" altLang="en-US" sz="2400" dirty="0"/>
              <a:t>Many measures exists, but none of them may be ideal in all situations</a:t>
            </a:r>
          </a:p>
          <a:p>
            <a:pPr lvl="1"/>
            <a:r>
              <a:rPr lang="en-US" altLang="en-US" sz="1800" dirty="0"/>
              <a:t>Random classifiers can have high value for many of these measures</a:t>
            </a:r>
          </a:p>
          <a:p>
            <a:pPr lvl="1"/>
            <a:r>
              <a:rPr lang="en-US" altLang="en-US" sz="1800" dirty="0"/>
              <a:t>TPR/FPR provides important information but may not be sufficient by itself in many practical scenarios</a:t>
            </a:r>
          </a:p>
          <a:p>
            <a:pPr lvl="1"/>
            <a:r>
              <a:rPr lang="en-US" altLang="en-US" sz="2000" dirty="0"/>
              <a:t>Given two classifiers, sometimes you can tell that one of them is strictly better than the other</a:t>
            </a:r>
          </a:p>
          <a:p>
            <a:pPr lvl="2"/>
            <a:r>
              <a:rPr lang="en-US" altLang="en-US" sz="1400" dirty="0"/>
              <a:t>C1 is strictly better than C2 if C1 has strictly better TPR and FPR relative to C2 (or same TPR and better FPR, and vice versa)</a:t>
            </a:r>
          </a:p>
          <a:p>
            <a:pPr lvl="1"/>
            <a:r>
              <a:rPr lang="en-US" altLang="en-US" sz="1800" dirty="0"/>
              <a:t>Even if C1 is strictly better than C2, C1’s F-value can be worse than C2’s if they are evaluated on data sets with different imbalances</a:t>
            </a:r>
          </a:p>
          <a:p>
            <a:pPr lvl="1"/>
            <a:r>
              <a:rPr lang="en-US" altLang="en-US" sz="1800" dirty="0"/>
              <a:t>Classifier C1 can be better or worse than C2 depending on the scenario at hand (class imbalance, importance of TP vs FP, cost/time tradeoffs)</a:t>
            </a:r>
          </a:p>
          <a:p>
            <a:pPr marL="457200" lvl="1" indent="0">
              <a:buNone/>
            </a:pPr>
            <a:endParaRPr lang="en-US" altLang="en-US" sz="1800" dirty="0"/>
          </a:p>
          <a:p>
            <a:pPr marL="0" indent="0">
              <a:buNone/>
            </a:pPr>
            <a:endParaRPr lang="en-US" altLang="en-US" dirty="0"/>
          </a:p>
          <a:p>
            <a:endParaRPr lang="en-US" altLang="en-US" dirty="0"/>
          </a:p>
        </p:txBody>
      </p:sp>
    </p:spTree>
    <p:extLst>
      <p:ext uri="{BB962C8B-B14F-4D97-AF65-F5344CB8AC3E}">
        <p14:creationId xmlns:p14="http://schemas.microsoft.com/office/powerpoint/2010/main" val="758360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dirty="0"/>
              <a:t>Which Classifier is better? </a:t>
            </a:r>
            <a:r>
              <a:rPr lang="en-US" altLang="en-US" sz="2000" dirty="0"/>
              <a:t>High Skew case</a:t>
            </a:r>
          </a:p>
        </p:txBody>
      </p:sp>
      <p:graphicFrame>
        <p:nvGraphicFramePr>
          <p:cNvPr id="16387" name="Object 3"/>
          <p:cNvGraphicFramePr>
            <a:graphicFrameLocks noChangeAspect="1"/>
          </p:cNvGraphicFramePr>
          <p:nvPr/>
        </p:nvGraphicFramePr>
        <p:xfrm>
          <a:off x="5778500" y="1066800"/>
          <a:ext cx="2420938" cy="901700"/>
        </p:xfrm>
        <a:graphic>
          <a:graphicData uri="http://schemas.openxmlformats.org/presentationml/2006/ole">
            <mc:AlternateContent xmlns:mc="http://schemas.openxmlformats.org/markup-compatibility/2006">
              <mc:Choice xmlns:v="urn:schemas-microsoft-com:vml" Requires="v">
                <p:oleObj name="Equation" r:id="rId2" imgW="1384200" imgH="634680" progId="Equation.3">
                  <p:embed/>
                </p:oleObj>
              </mc:Choice>
              <mc:Fallback>
                <p:oleObj name="Equation" r:id="rId2" imgW="1384200" imgH="634680" progId="Equation.3">
                  <p:embed/>
                  <p:pic>
                    <p:nvPicPr>
                      <p:cNvPr id="16387" name="Object 3"/>
                      <p:cNvPicPr>
                        <a:picLocks noChangeAspect="1" noChangeArrowheads="1"/>
                      </p:cNvPicPr>
                      <p:nvPr/>
                    </p:nvPicPr>
                    <p:blipFill>
                      <a:blip r:embed="rId3"/>
                      <a:srcRect/>
                      <a:stretch>
                        <a:fillRect/>
                      </a:stretch>
                    </p:blipFill>
                    <p:spPr bwMode="auto">
                      <a:xfrm>
                        <a:off x="5778500" y="1066800"/>
                        <a:ext cx="2420938"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25060" name="Group 4"/>
          <p:cNvGraphicFramePr>
            <a:graphicFrameLocks noGrp="1"/>
          </p:cNvGraphicFramePr>
          <p:nvPr>
            <p:ph idx="1"/>
          </p:nvPr>
        </p:nvGraphicFramePr>
        <p:xfrm>
          <a:off x="304800" y="1295400"/>
          <a:ext cx="4876800" cy="1371599"/>
        </p:xfrm>
        <a:graphic>
          <a:graphicData uri="http://schemas.openxmlformats.org/drawingml/2006/table">
            <a:tbl>
              <a:tblPr/>
              <a:tblGrid>
                <a:gridCol w="1218881">
                  <a:extLst>
                    <a:ext uri="{9D8B030D-6E8A-4147-A177-3AD203B41FA5}">
                      <a16:colId xmlns:a16="http://schemas.microsoft.com/office/drawing/2014/main" val="20000"/>
                    </a:ext>
                  </a:extLst>
                </a:gridCol>
                <a:gridCol w="1220157">
                  <a:extLst>
                    <a:ext uri="{9D8B030D-6E8A-4147-A177-3AD203B41FA5}">
                      <a16:colId xmlns:a16="http://schemas.microsoft.com/office/drawing/2014/main" val="20001"/>
                    </a:ext>
                  </a:extLst>
                </a:gridCol>
                <a:gridCol w="1218881">
                  <a:extLst>
                    <a:ext uri="{9D8B030D-6E8A-4147-A177-3AD203B41FA5}">
                      <a16:colId xmlns:a16="http://schemas.microsoft.com/office/drawing/2014/main" val="20002"/>
                    </a:ext>
                  </a:extLst>
                </a:gridCol>
                <a:gridCol w="1218881">
                  <a:extLst>
                    <a:ext uri="{9D8B030D-6E8A-4147-A177-3AD203B41FA5}">
                      <a16:colId xmlns:a16="http://schemas.microsoft.com/office/drawing/2014/main" val="20003"/>
                    </a:ext>
                  </a:extLst>
                </a:gridCol>
              </a:tblGrid>
              <a:tr h="324464">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dirty="0">
                          <a:ln>
                            <a:noFill/>
                          </a:ln>
                          <a:solidFill>
                            <a:schemeClr val="tx1"/>
                          </a:solidFill>
                          <a:effectLst/>
                          <a:latin typeface="Arial" charset="0"/>
                        </a:rPr>
                        <a:t>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dirty="0">
                          <a:ln>
                            <a:noFill/>
                          </a:ln>
                          <a:solidFill>
                            <a:schemeClr val="tx1"/>
                          </a:solidFill>
                          <a:effectLst/>
                          <a:latin typeface="Arial" charset="0"/>
                        </a:rPr>
                        <a:t>PREDICTED CLASS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6447">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1400" b="0" i="0" u="none" strike="noStrike" cap="none" normalizeH="0" baseline="0">
                          <a:ln>
                            <a:noFill/>
                          </a:ln>
                          <a:solidFill>
                            <a:schemeClr val="tx1"/>
                          </a:solidFill>
                          <a:effectLst/>
                          <a:latin typeface="Arial" charset="0"/>
                        </a:rPr>
                      </a:br>
                      <a:endParaRPr kumimoji="0" lang="en-US" sz="14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a:ln>
                            <a:noFill/>
                          </a:ln>
                          <a:solidFill>
                            <a:schemeClr val="tx1"/>
                          </a:solidFill>
                          <a:effectLst/>
                          <a:latin typeface="Arial" charset="0"/>
                        </a:rPr>
                        <a:t>ACTUAL</a:t>
                      </a:r>
                      <a:br>
                        <a:rPr kumimoji="0" lang="en-US" sz="1400" b="0" i="0" u="none" strike="noStrike" cap="none" normalizeH="0" baseline="0">
                          <a:ln>
                            <a:noFill/>
                          </a:ln>
                          <a:solidFill>
                            <a:schemeClr val="tx1"/>
                          </a:solidFill>
                          <a:effectLst/>
                          <a:latin typeface="Arial" charset="0"/>
                        </a:rPr>
                      </a:br>
                      <a:r>
                        <a:rPr kumimoji="0" lang="en-US" sz="1400" b="0" i="0" u="none" strike="noStrike" cap="none" normalizeH="0" baseline="0">
                          <a:ln>
                            <a:noFill/>
                          </a:ln>
                          <a:solidFill>
                            <a:schemeClr val="tx1"/>
                          </a:solidFill>
                          <a:effectLst/>
                          <a:latin typeface="Arial" charset="0"/>
                        </a:rPr>
                        <a:t>CLASS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9995">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0693">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 9900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 name="Group 4"/>
          <p:cNvGraphicFramePr>
            <a:graphicFrameLocks/>
          </p:cNvGraphicFramePr>
          <p:nvPr/>
        </p:nvGraphicFramePr>
        <p:xfrm>
          <a:off x="304800" y="3124200"/>
          <a:ext cx="4876800" cy="1323976"/>
        </p:xfrm>
        <a:graphic>
          <a:graphicData uri="http://schemas.openxmlformats.org/drawingml/2006/table">
            <a:tbl>
              <a:tblPr/>
              <a:tblGrid>
                <a:gridCol w="1218881">
                  <a:extLst>
                    <a:ext uri="{9D8B030D-6E8A-4147-A177-3AD203B41FA5}">
                      <a16:colId xmlns:a16="http://schemas.microsoft.com/office/drawing/2014/main" val="20000"/>
                    </a:ext>
                  </a:extLst>
                </a:gridCol>
                <a:gridCol w="1220157">
                  <a:extLst>
                    <a:ext uri="{9D8B030D-6E8A-4147-A177-3AD203B41FA5}">
                      <a16:colId xmlns:a16="http://schemas.microsoft.com/office/drawing/2014/main" val="20001"/>
                    </a:ext>
                  </a:extLst>
                </a:gridCol>
                <a:gridCol w="1218881">
                  <a:extLst>
                    <a:ext uri="{9D8B030D-6E8A-4147-A177-3AD203B41FA5}">
                      <a16:colId xmlns:a16="http://schemas.microsoft.com/office/drawing/2014/main" val="20002"/>
                    </a:ext>
                  </a:extLst>
                </a:gridCol>
                <a:gridCol w="1218881">
                  <a:extLst>
                    <a:ext uri="{9D8B030D-6E8A-4147-A177-3AD203B41FA5}">
                      <a16:colId xmlns:a16="http://schemas.microsoft.com/office/drawing/2014/main" val="20003"/>
                    </a:ext>
                  </a:extLst>
                </a:gridCol>
              </a:tblGrid>
              <a:tr h="306559">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dirty="0">
                          <a:ln>
                            <a:noFill/>
                          </a:ln>
                          <a:solidFill>
                            <a:schemeClr val="tx1"/>
                          </a:solidFill>
                          <a:effectLst/>
                          <a:latin typeface="Arial" charset="0"/>
                        </a:rPr>
                        <a:t>T2</a:t>
                      </a:r>
                    </a:p>
                  </a:txBody>
                  <a:tcPr marT="45738" marB="457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dirty="0">
                          <a:ln>
                            <a:noFill/>
                          </a:ln>
                          <a:solidFill>
                            <a:schemeClr val="tx1"/>
                          </a:solidFill>
                          <a:effectLst/>
                          <a:latin typeface="Arial" charset="0"/>
                        </a:rPr>
                        <a:t>PREDICTED CLASS</a:t>
                      </a:r>
                    </a:p>
                  </a:txBody>
                  <a:tcPr marT="45738" marB="457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17881">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1400" b="0" i="0" u="none" strike="noStrike" cap="none" normalizeH="0" baseline="0">
                          <a:ln>
                            <a:noFill/>
                          </a:ln>
                          <a:solidFill>
                            <a:schemeClr val="tx1"/>
                          </a:solidFill>
                          <a:effectLst/>
                          <a:latin typeface="Arial" charset="0"/>
                        </a:rPr>
                      </a:br>
                      <a:endParaRPr kumimoji="0" lang="en-US" sz="14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a:ln>
                            <a:noFill/>
                          </a:ln>
                          <a:solidFill>
                            <a:schemeClr val="tx1"/>
                          </a:solidFill>
                          <a:effectLst/>
                          <a:latin typeface="Arial" charset="0"/>
                        </a:rPr>
                        <a:t>ACTUAL</a:t>
                      </a:r>
                      <a:br>
                        <a:rPr kumimoji="0" lang="en-US" sz="1400" b="0" i="0" u="none" strike="noStrike" cap="none" normalizeH="0" baseline="0">
                          <a:ln>
                            <a:noFill/>
                          </a:ln>
                          <a:solidFill>
                            <a:schemeClr val="tx1"/>
                          </a:solidFill>
                          <a:effectLst/>
                          <a:latin typeface="Arial" charset="0"/>
                        </a:rPr>
                      </a:br>
                      <a:r>
                        <a:rPr kumimoji="0" lang="en-US" sz="1400" b="0" i="0" u="none" strike="noStrike" cap="none" normalizeH="0" baseline="0">
                          <a:ln>
                            <a:noFill/>
                          </a:ln>
                          <a:solidFill>
                            <a:schemeClr val="tx1"/>
                          </a:solidFill>
                          <a:effectLst/>
                          <a:latin typeface="Arial" charset="0"/>
                        </a:rPr>
                        <a:t>CLASS</a:t>
                      </a:r>
                    </a:p>
                  </a:txBody>
                  <a:tcPr marT="45738" marB="457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200" b="0" i="0" u="none" strike="noStrike" cap="none" normalizeH="0" baseline="0" dirty="0">
                        <a:ln>
                          <a:noFill/>
                        </a:ln>
                        <a:solidFill>
                          <a:schemeClr val="tx1"/>
                        </a:solidFill>
                        <a:effectLst/>
                        <a:latin typeface="Arial" charset="0"/>
                      </a:endParaRPr>
                    </a:p>
                  </a:txBody>
                  <a:tcPr marT="45738" marB="457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Class=Yes</a:t>
                      </a:r>
                    </a:p>
                  </a:txBody>
                  <a:tcPr marT="45738" marB="457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Class=No</a:t>
                      </a:r>
                    </a:p>
                  </a:txBody>
                  <a:tcPr marT="45738" marB="457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1785">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Class=Yes</a:t>
                      </a:r>
                    </a:p>
                  </a:txBody>
                  <a:tcPr marT="45738" marB="457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99</a:t>
                      </a:r>
                    </a:p>
                  </a:txBody>
                  <a:tcPr marT="45738" marB="457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1</a:t>
                      </a:r>
                    </a:p>
                  </a:txBody>
                  <a:tcPr marT="45738" marB="457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7751">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Class=No</a:t>
                      </a:r>
                    </a:p>
                  </a:txBody>
                  <a:tcPr marT="45738" marB="457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1000</a:t>
                      </a:r>
                    </a:p>
                  </a:txBody>
                  <a:tcPr marT="45738" marB="457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 9000</a:t>
                      </a:r>
                    </a:p>
                  </a:txBody>
                  <a:tcPr marT="45738" marB="457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7" name="Group 4"/>
          <p:cNvGraphicFramePr>
            <a:graphicFrameLocks/>
          </p:cNvGraphicFramePr>
          <p:nvPr/>
        </p:nvGraphicFramePr>
        <p:xfrm>
          <a:off x="304800" y="4953000"/>
          <a:ext cx="4876800" cy="1371600"/>
        </p:xfrm>
        <a:graphic>
          <a:graphicData uri="http://schemas.openxmlformats.org/drawingml/2006/table">
            <a:tbl>
              <a:tblPr/>
              <a:tblGrid>
                <a:gridCol w="1218881">
                  <a:extLst>
                    <a:ext uri="{9D8B030D-6E8A-4147-A177-3AD203B41FA5}">
                      <a16:colId xmlns:a16="http://schemas.microsoft.com/office/drawing/2014/main" val="20000"/>
                    </a:ext>
                  </a:extLst>
                </a:gridCol>
                <a:gridCol w="1220157">
                  <a:extLst>
                    <a:ext uri="{9D8B030D-6E8A-4147-A177-3AD203B41FA5}">
                      <a16:colId xmlns:a16="http://schemas.microsoft.com/office/drawing/2014/main" val="20001"/>
                    </a:ext>
                  </a:extLst>
                </a:gridCol>
                <a:gridCol w="1218881">
                  <a:extLst>
                    <a:ext uri="{9D8B030D-6E8A-4147-A177-3AD203B41FA5}">
                      <a16:colId xmlns:a16="http://schemas.microsoft.com/office/drawing/2014/main" val="20002"/>
                    </a:ext>
                  </a:extLst>
                </a:gridCol>
                <a:gridCol w="1218881">
                  <a:extLst>
                    <a:ext uri="{9D8B030D-6E8A-4147-A177-3AD203B41FA5}">
                      <a16:colId xmlns:a16="http://schemas.microsoft.com/office/drawing/2014/main" val="20003"/>
                    </a:ext>
                  </a:extLst>
                </a:gridCol>
              </a:tblGrid>
              <a:tr h="324465">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dirty="0">
                          <a:ln>
                            <a:noFill/>
                          </a:ln>
                          <a:solidFill>
                            <a:schemeClr val="tx1"/>
                          </a:solidFill>
                          <a:effectLst/>
                          <a:latin typeface="Arial" charset="0"/>
                        </a:rPr>
                        <a:t>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dirty="0">
                          <a:ln>
                            <a:noFill/>
                          </a:ln>
                          <a:solidFill>
                            <a:schemeClr val="tx1"/>
                          </a:solidFill>
                          <a:effectLst/>
                          <a:latin typeface="Arial" charset="0"/>
                        </a:rPr>
                        <a:t>PREDICTED CLASS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6447">
                <a:tc rowSpan="3">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br>
                        <a:rPr kumimoji="0" lang="en-US" sz="1400" b="0" i="0" u="none" strike="noStrike" cap="none" normalizeH="0" baseline="0">
                          <a:ln>
                            <a:noFill/>
                          </a:ln>
                          <a:solidFill>
                            <a:schemeClr val="tx1"/>
                          </a:solidFill>
                          <a:effectLst/>
                          <a:latin typeface="Arial" charset="0"/>
                        </a:rPr>
                      </a:br>
                      <a:endParaRPr kumimoji="0" lang="en-US" sz="14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400" b="0" i="0" u="none" strike="noStrike" cap="none" normalizeH="0" baseline="0">
                          <a:ln>
                            <a:noFill/>
                          </a:ln>
                          <a:solidFill>
                            <a:schemeClr val="tx1"/>
                          </a:solidFill>
                          <a:effectLst/>
                          <a:latin typeface="Arial" charset="0"/>
                        </a:rPr>
                        <a:t>ACTUAL</a:t>
                      </a:r>
                      <a:br>
                        <a:rPr kumimoji="0" lang="en-US" sz="1400" b="0" i="0" u="none" strike="noStrike" cap="none" normalizeH="0" baseline="0">
                          <a:ln>
                            <a:noFill/>
                          </a:ln>
                          <a:solidFill>
                            <a:schemeClr val="tx1"/>
                          </a:solidFill>
                          <a:effectLst/>
                          <a:latin typeface="Arial" charset="0"/>
                        </a:rPr>
                      </a:br>
                      <a:r>
                        <a:rPr kumimoji="0" lang="en-US" sz="1400" b="0" i="0" u="none" strike="noStrike" cap="none" normalizeH="0" baseline="0">
                          <a:ln>
                            <a:noFill/>
                          </a:ln>
                          <a:solidFill>
                            <a:schemeClr val="tx1"/>
                          </a:solidFill>
                          <a:effectLst/>
                          <a:latin typeface="Arial" charset="0"/>
                        </a:rPr>
                        <a:t>CLASS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2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9995">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99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0693">
                <a:tc vMerge="1">
                  <a:txBody>
                    <a:bodyPr/>
                    <a:lstStyle/>
                    <a:p>
                      <a:endParaRPr lang="en-US"/>
                    </a:p>
                  </a:txBody>
                  <a:tcPr/>
                </a:tc>
                <a:tc>
                  <a:txBody>
                    <a:bodyPr/>
                    <a:lstStyle/>
                    <a:p>
                      <a:pPr marL="0" marR="0" lvl="0" indent="0" algn="l"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Class=No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200" b="0" i="0" u="none" strike="noStrike" cap="none" normalizeH="0" baseline="0" dirty="0">
                          <a:ln>
                            <a:noFill/>
                          </a:ln>
                          <a:solidFill>
                            <a:schemeClr val="tx1"/>
                          </a:solidFill>
                          <a:effectLst/>
                          <a:latin typeface="Arial" charset="0"/>
                        </a:rPr>
                        <a:t> 9900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6457" name="Object 2"/>
          <p:cNvGraphicFramePr>
            <a:graphicFrameLocks noChangeAspect="1"/>
          </p:cNvGraphicFramePr>
          <p:nvPr/>
        </p:nvGraphicFramePr>
        <p:xfrm>
          <a:off x="5711825" y="2971800"/>
          <a:ext cx="2589213" cy="914400"/>
        </p:xfrm>
        <a:graphic>
          <a:graphicData uri="http://schemas.openxmlformats.org/presentationml/2006/ole">
            <mc:AlternateContent xmlns:mc="http://schemas.openxmlformats.org/markup-compatibility/2006">
              <mc:Choice xmlns:v="urn:schemas-microsoft-com:vml" Requires="v">
                <p:oleObj name="Equation" r:id="rId4" imgW="1460160" imgH="634680" progId="Equation.3">
                  <p:embed/>
                </p:oleObj>
              </mc:Choice>
              <mc:Fallback>
                <p:oleObj name="Equation" r:id="rId4" imgW="1460160" imgH="634680" progId="Equation.3">
                  <p:embed/>
                  <p:pic>
                    <p:nvPicPr>
                      <p:cNvPr id="16457" name="Object 2"/>
                      <p:cNvPicPr>
                        <a:picLocks noChangeAspect="1" noChangeArrowheads="1"/>
                      </p:cNvPicPr>
                      <p:nvPr/>
                    </p:nvPicPr>
                    <p:blipFill>
                      <a:blip r:embed="rId5"/>
                      <a:srcRect/>
                      <a:stretch>
                        <a:fillRect/>
                      </a:stretch>
                    </p:blipFill>
                    <p:spPr bwMode="auto">
                      <a:xfrm>
                        <a:off x="5711825" y="2971800"/>
                        <a:ext cx="25892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458" name="Object 3"/>
          <p:cNvGraphicFramePr>
            <a:graphicFrameLocks noChangeAspect="1"/>
          </p:cNvGraphicFramePr>
          <p:nvPr/>
        </p:nvGraphicFramePr>
        <p:xfrm>
          <a:off x="5705475" y="4876800"/>
          <a:ext cx="2806700" cy="990600"/>
        </p:xfrm>
        <a:graphic>
          <a:graphicData uri="http://schemas.openxmlformats.org/presentationml/2006/ole">
            <mc:AlternateContent xmlns:mc="http://schemas.openxmlformats.org/markup-compatibility/2006">
              <mc:Choice xmlns:v="urn:schemas-microsoft-com:vml" Requires="v">
                <p:oleObj name="Equation" r:id="rId6" imgW="1460160" imgH="634680" progId="Equation.3">
                  <p:embed/>
                </p:oleObj>
              </mc:Choice>
              <mc:Fallback>
                <p:oleObj name="Equation" r:id="rId6" imgW="1460160" imgH="634680" progId="Equation.3">
                  <p:embed/>
                  <p:pic>
                    <p:nvPicPr>
                      <p:cNvPr id="16458" name="Object 3"/>
                      <p:cNvPicPr>
                        <a:picLocks noChangeAspect="1" noChangeArrowheads="1"/>
                      </p:cNvPicPr>
                      <p:nvPr/>
                    </p:nvPicPr>
                    <p:blipFill>
                      <a:blip r:embed="rId7"/>
                      <a:srcRect/>
                      <a:stretch>
                        <a:fillRect/>
                      </a:stretch>
                    </p:blipFill>
                    <p:spPr bwMode="auto">
                      <a:xfrm>
                        <a:off x="5705475" y="4876800"/>
                        <a:ext cx="28067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ChangeAspect="1"/>
          </p:cNvGraphicFramePr>
          <p:nvPr/>
        </p:nvGraphicFramePr>
        <p:xfrm>
          <a:off x="5665788" y="1981200"/>
          <a:ext cx="2078037" cy="660400"/>
        </p:xfrm>
        <a:graphic>
          <a:graphicData uri="http://schemas.openxmlformats.org/presentationml/2006/ole">
            <mc:AlternateContent xmlns:mc="http://schemas.openxmlformats.org/markup-compatibility/2006">
              <mc:Choice xmlns:v="urn:schemas-microsoft-com:vml" Requires="v">
                <p:oleObj name="Equation" r:id="rId8" imgW="1079280" imgH="380880" progId="Equation.3">
                  <p:embed/>
                </p:oleObj>
              </mc:Choice>
              <mc:Fallback>
                <p:oleObj name="Equation" r:id="rId8" imgW="1079280" imgH="380880" progId="Equation.3">
                  <p:embed/>
                  <p:pic>
                    <p:nvPicPr>
                      <p:cNvPr id="3" name="Object 2"/>
                      <p:cNvPicPr/>
                      <p:nvPr/>
                    </p:nvPicPr>
                    <p:blipFill>
                      <a:blip r:embed="rId9"/>
                      <a:stretch>
                        <a:fillRect/>
                      </a:stretch>
                    </p:blipFill>
                    <p:spPr>
                      <a:xfrm>
                        <a:off x="5665788" y="1981200"/>
                        <a:ext cx="2078037" cy="660400"/>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5654675" y="3810000"/>
          <a:ext cx="2081213" cy="733425"/>
        </p:xfrm>
        <a:graphic>
          <a:graphicData uri="http://schemas.openxmlformats.org/presentationml/2006/ole">
            <mc:AlternateContent xmlns:mc="http://schemas.openxmlformats.org/markup-compatibility/2006">
              <mc:Choice xmlns:v="urn:schemas-microsoft-com:vml" Requires="v">
                <p:oleObj name="Equation" r:id="rId10" imgW="1079280" imgH="380880" progId="Equation.3">
                  <p:embed/>
                </p:oleObj>
              </mc:Choice>
              <mc:Fallback>
                <p:oleObj name="Equation" r:id="rId10" imgW="1079280" imgH="380880" progId="Equation.3">
                  <p:embed/>
                  <p:pic>
                    <p:nvPicPr>
                      <p:cNvPr id="11" name="Object 10"/>
                      <p:cNvPicPr/>
                      <p:nvPr/>
                    </p:nvPicPr>
                    <p:blipFill>
                      <a:blip r:embed="rId11"/>
                      <a:stretch>
                        <a:fillRect/>
                      </a:stretch>
                    </p:blipFill>
                    <p:spPr>
                      <a:xfrm>
                        <a:off x="5654675" y="3810000"/>
                        <a:ext cx="2081213" cy="733425"/>
                      </a:xfrm>
                      <a:prstGeom prst="rect">
                        <a:avLst/>
                      </a:prstGeom>
                    </p:spPr>
                  </p:pic>
                </p:oleObj>
              </mc:Fallback>
            </mc:AlternateContent>
          </a:graphicData>
        </a:graphic>
      </p:graphicFrame>
      <p:graphicFrame>
        <p:nvGraphicFramePr>
          <p:cNvPr id="13" name="Object 12"/>
          <p:cNvGraphicFramePr>
            <a:graphicFrameLocks noChangeAspect="1"/>
          </p:cNvGraphicFramePr>
          <p:nvPr/>
        </p:nvGraphicFramePr>
        <p:xfrm>
          <a:off x="5713413" y="5872163"/>
          <a:ext cx="1981200" cy="733425"/>
        </p:xfrm>
        <a:graphic>
          <a:graphicData uri="http://schemas.openxmlformats.org/presentationml/2006/ole">
            <mc:AlternateContent xmlns:mc="http://schemas.openxmlformats.org/markup-compatibility/2006">
              <mc:Choice xmlns:v="urn:schemas-microsoft-com:vml" Requires="v">
                <p:oleObj name="Equation" r:id="rId12" imgW="1028520" imgH="380880" progId="Equation.3">
                  <p:embed/>
                </p:oleObj>
              </mc:Choice>
              <mc:Fallback>
                <p:oleObj name="Equation" r:id="rId12" imgW="1028520" imgH="380880" progId="Equation.3">
                  <p:embed/>
                  <p:pic>
                    <p:nvPicPr>
                      <p:cNvPr id="13" name="Object 12"/>
                      <p:cNvPicPr/>
                      <p:nvPr/>
                    </p:nvPicPr>
                    <p:blipFill>
                      <a:blip r:embed="rId13"/>
                      <a:stretch>
                        <a:fillRect/>
                      </a:stretch>
                    </p:blipFill>
                    <p:spPr>
                      <a:xfrm>
                        <a:off x="5713413" y="5872163"/>
                        <a:ext cx="1981200" cy="733425"/>
                      </a:xfrm>
                      <a:prstGeom prst="rect">
                        <a:avLst/>
                      </a:prstGeom>
                    </p:spPr>
                  </p:pic>
                </p:oleObj>
              </mc:Fallback>
            </mc:AlternateContent>
          </a:graphicData>
        </a:graphic>
      </p:graphicFrame>
    </p:spTree>
    <p:extLst>
      <p:ext uri="{BB962C8B-B14F-4D97-AF65-F5344CB8AC3E}">
        <p14:creationId xmlns:p14="http://schemas.microsoft.com/office/powerpoint/2010/main" val="3116613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sz="2400" dirty="0"/>
              <a:t>Building Classifiers with Imbalanced Training Set</a:t>
            </a:r>
          </a:p>
        </p:txBody>
      </p:sp>
      <p:sp>
        <p:nvSpPr>
          <p:cNvPr id="31747" name="Rectangle 3"/>
          <p:cNvSpPr>
            <a:spLocks noGrp="1" noChangeArrowheads="1"/>
          </p:cNvSpPr>
          <p:nvPr>
            <p:ph type="body" idx="1"/>
          </p:nvPr>
        </p:nvSpPr>
        <p:spPr/>
        <p:txBody>
          <a:bodyPr/>
          <a:lstStyle/>
          <a:p>
            <a:r>
              <a:rPr lang="en-US" altLang="en-US" dirty="0"/>
              <a:t>Modify the distribution of training data so that rare class is well-represented in training set</a:t>
            </a:r>
          </a:p>
          <a:p>
            <a:pPr lvl="1"/>
            <a:r>
              <a:rPr lang="en-US" altLang="en-US" dirty="0" err="1"/>
              <a:t>Undersample</a:t>
            </a:r>
            <a:r>
              <a:rPr lang="en-US" altLang="en-US" dirty="0"/>
              <a:t> the majority class</a:t>
            </a:r>
          </a:p>
          <a:p>
            <a:pPr lvl="1"/>
            <a:r>
              <a:rPr lang="en-US" altLang="en-US" dirty="0"/>
              <a:t>Oversample the rare class</a:t>
            </a:r>
          </a:p>
          <a:p>
            <a:pPr lvl="1"/>
            <a:r>
              <a:rPr lang="en-US" b="1" i="0" dirty="0">
                <a:solidFill>
                  <a:srgbClr val="222832"/>
                </a:solidFill>
                <a:effectLst/>
                <a:highlight>
                  <a:srgbClr val="FFFFFF"/>
                </a:highlight>
                <a:latin typeface="-apple-system"/>
              </a:rPr>
              <a:t>SMOTE</a:t>
            </a:r>
          </a:p>
          <a:p>
            <a:pPr lvl="1"/>
            <a:r>
              <a:rPr lang="en-US" b="1" i="0" dirty="0">
                <a:solidFill>
                  <a:srgbClr val="222832"/>
                </a:solidFill>
                <a:effectLst/>
                <a:highlight>
                  <a:srgbClr val="FFFFFF"/>
                </a:highlight>
                <a:latin typeface="-apple-system"/>
              </a:rPr>
              <a:t>SMOTENC</a:t>
            </a:r>
          </a:p>
          <a:p>
            <a:pPr lvl="1"/>
            <a:r>
              <a:rPr lang="en-US" b="1" i="0" dirty="0">
                <a:solidFill>
                  <a:srgbClr val="222832"/>
                </a:solidFill>
                <a:effectLst/>
                <a:highlight>
                  <a:srgbClr val="FFFFFF"/>
                </a:highlight>
                <a:latin typeface="-apple-system"/>
              </a:rPr>
              <a:t>SMOTEN</a:t>
            </a:r>
          </a:p>
          <a:p>
            <a:pPr lvl="1"/>
            <a:r>
              <a:rPr lang="en-US" b="1" i="0" dirty="0" err="1">
                <a:solidFill>
                  <a:srgbClr val="222832"/>
                </a:solidFill>
                <a:effectLst/>
                <a:highlight>
                  <a:srgbClr val="FFFFFF"/>
                </a:highlight>
                <a:latin typeface="-apple-system"/>
              </a:rPr>
              <a:t>BorderlineSMOTE</a:t>
            </a:r>
            <a:r>
              <a:rPr lang="en-US" b="1" i="0" dirty="0">
                <a:solidFill>
                  <a:srgbClr val="222832"/>
                </a:solidFill>
                <a:effectLst/>
                <a:highlight>
                  <a:srgbClr val="FFFFFF"/>
                </a:highlight>
                <a:latin typeface="-apple-system"/>
              </a:rPr>
              <a:t> </a:t>
            </a:r>
            <a:r>
              <a:rPr lang="en-US" b="1" i="0" dirty="0" err="1">
                <a:solidFill>
                  <a:srgbClr val="222832"/>
                </a:solidFill>
                <a:effectLst/>
                <a:highlight>
                  <a:srgbClr val="FFFFFF"/>
                </a:highlight>
                <a:latin typeface="-apple-system"/>
              </a:rPr>
              <a:t>etc</a:t>
            </a:r>
            <a:endParaRPr lang="en-US" b="1" i="0" dirty="0">
              <a:solidFill>
                <a:srgbClr val="222832"/>
              </a:solidFill>
              <a:effectLst/>
              <a:highlight>
                <a:srgbClr val="FFFFFF"/>
              </a:highlight>
              <a:latin typeface="-apple-system"/>
            </a:endParaRPr>
          </a:p>
          <a:p>
            <a:pPr marL="457200" lvl="1" indent="0">
              <a:buNone/>
            </a:pPr>
            <a:endParaRPr lang="en-US" b="1" i="0" dirty="0">
              <a:solidFill>
                <a:srgbClr val="222832"/>
              </a:solidFill>
              <a:effectLst/>
              <a:highlight>
                <a:srgbClr val="FFFFFF"/>
              </a:highlight>
              <a:latin typeface="-apple-system"/>
            </a:endParaRPr>
          </a:p>
          <a:p>
            <a:pPr marL="457200" lvl="1" indent="0">
              <a:buNone/>
            </a:pPr>
            <a:endParaRPr lang="en-US" b="1" i="0" dirty="0">
              <a:solidFill>
                <a:srgbClr val="222832"/>
              </a:solidFill>
              <a:effectLst/>
              <a:highlight>
                <a:srgbClr val="FFFFFF"/>
              </a:highlight>
              <a:latin typeface="-apple-system"/>
            </a:endParaRPr>
          </a:p>
          <a:p>
            <a:pPr marL="457200" lvl="1" indent="0">
              <a:buNone/>
            </a:pPr>
            <a:endParaRPr lang="en-US" altLang="en-US" dirty="0"/>
          </a:p>
          <a:p>
            <a:pPr marL="0" indent="0">
              <a:buNone/>
            </a:pPr>
            <a:endParaRPr lang="en-US" altLang="en-US" dirty="0"/>
          </a:p>
          <a:p>
            <a:endParaRPr lang="en-US" altLang="en-US" dirty="0"/>
          </a:p>
        </p:txBody>
      </p:sp>
    </p:spTree>
    <p:extLst>
      <p:ext uri="{BB962C8B-B14F-4D97-AF65-F5344CB8AC3E}">
        <p14:creationId xmlns:p14="http://schemas.microsoft.com/office/powerpoint/2010/main" val="537583976"/>
      </p:ext>
    </p:extLst>
  </p:cSld>
  <p:clrMapOvr>
    <a:masterClrMapping/>
  </p:clrMapOvr>
</p:sld>
</file>

<file path=ppt/theme/theme1.xml><?xml version="1.0" encoding="utf-8"?>
<a:theme xmlns:a="http://schemas.openxmlformats.org/drawingml/2006/main" name="LC.BRev.FY97">
  <a:themeElements>
    <a:clrScheme name="">
      <a:dk1>
        <a:srgbClr val="000000"/>
      </a:dk1>
      <a:lt1>
        <a:srgbClr val="FFFFFF"/>
      </a:lt1>
      <a:dk2>
        <a:srgbClr val="006B61"/>
      </a:dk2>
      <a:lt2>
        <a:srgbClr val="C0C0C0"/>
      </a:lt2>
      <a:accent1>
        <a:srgbClr val="FF00FF"/>
      </a:accent1>
      <a:accent2>
        <a:srgbClr val="00C0C0"/>
      </a:accent2>
      <a:accent3>
        <a:srgbClr val="FFFFFF"/>
      </a:accent3>
      <a:accent4>
        <a:srgbClr val="000000"/>
      </a:accent4>
      <a:accent5>
        <a:srgbClr val="FFAAFF"/>
      </a:accent5>
      <a:accent6>
        <a:srgbClr val="00AEAE"/>
      </a:accent6>
      <a:hlink>
        <a:srgbClr val="00C000"/>
      </a:hlink>
      <a:folHlink>
        <a:srgbClr val="800080"/>
      </a:folHlink>
    </a:clrScheme>
    <a:fontScheme name="LC.BRev.FY97">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Porky:Words:ASCI:PSE:Budgets FY97:LC.BRev.FY97</Template>
  <TotalTime>146486909</TotalTime>
  <Pages>3</Pages>
  <Words>1718</Words>
  <Application>Microsoft Office PowerPoint</Application>
  <PresentationFormat>On-screen Show (4:3)</PresentationFormat>
  <Paragraphs>363</Paragraphs>
  <Slides>21</Slides>
  <Notes>6</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33" baseType="lpstr">
      <vt:lpstr>-apple-system</vt:lpstr>
      <vt:lpstr>Arial</vt:lpstr>
      <vt:lpstr>Cambria Math</vt:lpstr>
      <vt:lpstr>Google Sans</vt:lpstr>
      <vt:lpstr>Inter</vt:lpstr>
      <vt:lpstr>Monotype Sorts</vt:lpstr>
      <vt:lpstr>Symbol</vt:lpstr>
      <vt:lpstr>Tahoma</vt:lpstr>
      <vt:lpstr>Times New Roman</vt:lpstr>
      <vt:lpstr>Wingdings</vt:lpstr>
      <vt:lpstr>LC.BRev.FY97</vt:lpstr>
      <vt:lpstr>Equation</vt:lpstr>
      <vt:lpstr>Data Mining  Classification: Alternative Techniques</vt:lpstr>
      <vt:lpstr>Class Imbalance Problem</vt:lpstr>
      <vt:lpstr>Confusion Matrix</vt:lpstr>
      <vt:lpstr>Accuracy</vt:lpstr>
      <vt:lpstr>Problem with Accuracy</vt:lpstr>
      <vt:lpstr>Which model is better?</vt:lpstr>
      <vt:lpstr>Which model is better?</vt:lpstr>
      <vt:lpstr>Alternative Measures</vt:lpstr>
      <vt:lpstr>Alternative Measures</vt:lpstr>
      <vt:lpstr>Alternative Measures</vt:lpstr>
      <vt:lpstr>Which of these classifiers is better?</vt:lpstr>
      <vt:lpstr>Measures of Classification Performance</vt:lpstr>
      <vt:lpstr>Alternative Measures</vt:lpstr>
      <vt:lpstr>Which of these classifiers is better?</vt:lpstr>
      <vt:lpstr>ROC (Receiver Operating Characteristic)</vt:lpstr>
      <vt:lpstr>ROC Curve</vt:lpstr>
      <vt:lpstr>ROC (Receiver Operating Characteristic)</vt:lpstr>
      <vt:lpstr>ROC Curve Example</vt:lpstr>
      <vt:lpstr>Dealing with Imbalanced Classes - Summary</vt:lpstr>
      <vt:lpstr>Which Classifier is better? High Skew case</vt:lpstr>
      <vt:lpstr>Building Classifiers with Imbalanced Training Set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Steven F. Ashby Center for Applied Scientific Computing  Month DD, 1997</dc:title>
  <dc:creator>Computations</dc:creator>
  <cp:lastModifiedBy>Eesha tur babar</cp:lastModifiedBy>
  <cp:revision>470</cp:revision>
  <cp:lastPrinted>2019-09-27T17:30:37Z</cp:lastPrinted>
  <dcterms:created xsi:type="dcterms:W3CDTF">1998-03-18T13:44:31Z</dcterms:created>
  <dcterms:modified xsi:type="dcterms:W3CDTF">2024-04-24T11:41:53Z</dcterms:modified>
</cp:coreProperties>
</file>