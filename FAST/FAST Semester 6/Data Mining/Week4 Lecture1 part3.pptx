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4"/>
  </p:notesMasterIdLst>
  <p:handoutMasterIdLst>
    <p:handoutMasterId r:id="rId25"/>
  </p:handoutMasterIdLst>
  <p:sldIdLst>
    <p:sldId id="717" r:id="rId2"/>
    <p:sldId id="687" r:id="rId3"/>
    <p:sldId id="688" r:id="rId4"/>
    <p:sldId id="689" r:id="rId5"/>
    <p:sldId id="690" r:id="rId6"/>
    <p:sldId id="691" r:id="rId7"/>
    <p:sldId id="692" r:id="rId8"/>
    <p:sldId id="693" r:id="rId9"/>
    <p:sldId id="718" r:id="rId10"/>
    <p:sldId id="694" r:id="rId11"/>
    <p:sldId id="695" r:id="rId12"/>
    <p:sldId id="702" r:id="rId13"/>
    <p:sldId id="703" r:id="rId14"/>
    <p:sldId id="715" r:id="rId15"/>
    <p:sldId id="704" r:id="rId16"/>
    <p:sldId id="716" r:id="rId17"/>
    <p:sldId id="705" r:id="rId18"/>
    <p:sldId id="713" r:id="rId19"/>
    <p:sldId id="706" r:id="rId20"/>
    <p:sldId id="707" r:id="rId21"/>
    <p:sldId id="708" r:id="rId22"/>
    <p:sldId id="714" r:id="rId23"/>
  </p:sldIdLst>
  <p:sldSz cx="9144000" cy="6858000" type="screen4x3"/>
  <p:notesSz cx="7010400" cy="92964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5pPr>
    <a:lvl6pPr marL="2286000" algn="l" defTabSz="914400" rtl="0" eaLnBrk="1" latinLnBrk="0" hangingPunct="1">
      <a:defRPr sz="1400" b="1" kern="1200">
        <a:solidFill>
          <a:schemeClr val="tx1"/>
        </a:solidFill>
        <a:latin typeface="Arial" panose="020B0604020202020204" pitchFamily="34" charset="0"/>
        <a:ea typeface="+mn-ea"/>
        <a:cs typeface="+mn-cs"/>
      </a:defRPr>
    </a:lvl6pPr>
    <a:lvl7pPr marL="2743200" algn="l" defTabSz="914400" rtl="0" eaLnBrk="1" latinLnBrk="0" hangingPunct="1">
      <a:defRPr sz="1400" b="1" kern="1200">
        <a:solidFill>
          <a:schemeClr val="tx1"/>
        </a:solidFill>
        <a:latin typeface="Arial" panose="020B0604020202020204" pitchFamily="34" charset="0"/>
        <a:ea typeface="+mn-ea"/>
        <a:cs typeface="+mn-cs"/>
      </a:defRPr>
    </a:lvl7pPr>
    <a:lvl8pPr marL="3200400" algn="l" defTabSz="914400" rtl="0" eaLnBrk="1" latinLnBrk="0" hangingPunct="1">
      <a:defRPr sz="1400" b="1" kern="1200">
        <a:solidFill>
          <a:schemeClr val="tx1"/>
        </a:solidFill>
        <a:latin typeface="Arial" panose="020B0604020202020204" pitchFamily="34" charset="0"/>
        <a:ea typeface="+mn-ea"/>
        <a:cs typeface="+mn-cs"/>
      </a:defRPr>
    </a:lvl8pPr>
    <a:lvl9pPr marL="3657600" algn="l" defTabSz="914400" rtl="0" eaLnBrk="1" latinLnBrk="0" hangingPunct="1">
      <a:defRPr sz="1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2929"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00"/>
    <a:srgbClr val="2A8487"/>
    <a:srgbClr val="1C5A61"/>
    <a:srgbClr val="0C6D9C"/>
    <a:srgbClr val="FF0000"/>
    <a:srgbClr val="CC3300"/>
    <a:srgbClr val="F5F5F5"/>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02" autoAdjust="0"/>
    <p:restoredTop sz="94551" autoAdjust="0"/>
  </p:normalViewPr>
  <p:slideViewPr>
    <p:cSldViewPr>
      <p:cViewPr varScale="1">
        <p:scale>
          <a:sx n="58" d="100"/>
          <a:sy n="58" d="100"/>
        </p:scale>
        <p:origin x="1398" y="90"/>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0"/>
    </p:cViewPr>
  </p:sorterViewPr>
  <p:notesViewPr>
    <p:cSldViewPr>
      <p:cViewPr varScale="1">
        <p:scale>
          <a:sx n="83" d="100"/>
          <a:sy n="83" d="100"/>
        </p:scale>
        <p:origin x="-840" y="-66"/>
      </p:cViewPr>
      <p:guideLst>
        <p:guide orient="horz" pos="2929"/>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32591" y="4416098"/>
            <a:ext cx="5143698" cy="4180921"/>
          </a:xfrm>
          <a:prstGeom prst="rect">
            <a:avLst/>
          </a:prstGeom>
          <a:noFill/>
          <a:ln w="12700">
            <a:noFill/>
            <a:miter lim="800000"/>
            <a:headEnd/>
            <a:tailEnd/>
          </a:ln>
          <a:effectLst/>
        </p:spPr>
        <p:txBody>
          <a:bodyPr vert="horz" wrap="square" lIns="96811" tIns="48408" rIns="96811" bIns="48408"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1" name="Rectangle 3"/>
          <p:cNvSpPr>
            <a:spLocks noGrp="1" noRot="1" noChangeAspect="1" noChangeArrowheads="1" noTextEdit="1"/>
          </p:cNvSpPr>
          <p:nvPr>
            <p:ph type="sldImg" idx="2"/>
          </p:nvPr>
        </p:nvSpPr>
        <p:spPr bwMode="auto">
          <a:xfrm>
            <a:off x="1192213" y="704850"/>
            <a:ext cx="4629150" cy="3471863"/>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Figure 5.21 shows a plot of a data set containing examples that belong to</a:t>
            </a:r>
          </a:p>
          <a:p>
            <a:pPr algn="l"/>
            <a:r>
              <a:rPr lang="en-US" sz="1800" b="0" i="0" u="none" strike="noStrike" baseline="0" dirty="0">
                <a:latin typeface="CMR10"/>
              </a:rPr>
              <a:t>two different classes, represented as squares and circles. The data set is also</a:t>
            </a:r>
          </a:p>
          <a:p>
            <a:pPr algn="l"/>
            <a:r>
              <a:rPr lang="en-US" sz="1800" b="0" i="0" u="none" strike="noStrike" baseline="0" dirty="0">
                <a:latin typeface="CMR10"/>
              </a:rPr>
              <a:t>linearly separable; i.e., we can find a hyperplane such that all the squares</a:t>
            </a:r>
          </a:p>
          <a:p>
            <a:pPr algn="l"/>
            <a:r>
              <a:rPr lang="en-US" sz="1800" b="0" i="0" u="none" strike="noStrike" baseline="0" dirty="0">
                <a:latin typeface="CMR10"/>
              </a:rPr>
              <a:t>reside on one side of the hyperplane and all the circles reside on the other</a:t>
            </a:r>
            <a:endParaRPr lang="en-US" dirty="0"/>
          </a:p>
        </p:txBody>
      </p:sp>
    </p:spTree>
    <p:extLst>
      <p:ext uri="{BB962C8B-B14F-4D97-AF65-F5344CB8AC3E}">
        <p14:creationId xmlns:p14="http://schemas.microsoft.com/office/powerpoint/2010/main" val="3448804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Although their training errors are zero, there is no guarantee</a:t>
            </a:r>
          </a:p>
          <a:p>
            <a:pPr algn="l"/>
            <a:r>
              <a:rPr lang="en-US" sz="1800" b="0" i="0" u="none" strike="noStrike" baseline="0" dirty="0">
                <a:latin typeface="CMR10"/>
              </a:rPr>
              <a:t>that the hyperplanes will perform equally well on previously unseen examples.</a:t>
            </a:r>
          </a:p>
          <a:p>
            <a:pPr algn="l"/>
            <a:r>
              <a:rPr lang="en-US" sz="1800" b="0" i="0" u="none" strike="noStrike" baseline="0" dirty="0">
                <a:latin typeface="CMR10"/>
              </a:rPr>
              <a:t>The classifier must choose one of these hyperplanes to represent its decision</a:t>
            </a:r>
          </a:p>
          <a:p>
            <a:pPr algn="l"/>
            <a:r>
              <a:rPr lang="en-US" sz="1800" b="0" i="0" u="none" strike="noStrike" baseline="0" dirty="0">
                <a:latin typeface="CMR10"/>
              </a:rPr>
              <a:t>boundary, based on how well they are expected to perform on test examples.</a:t>
            </a:r>
            <a:endParaRPr lang="en-US" dirty="0"/>
          </a:p>
        </p:txBody>
      </p:sp>
    </p:spTree>
    <p:extLst>
      <p:ext uri="{BB962C8B-B14F-4D97-AF65-F5344CB8AC3E}">
        <p14:creationId xmlns:p14="http://schemas.microsoft.com/office/powerpoint/2010/main" val="3343523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To get a clearer picture of how the different choices of hyperplanes affect the</a:t>
            </a:r>
          </a:p>
          <a:p>
            <a:pPr algn="l"/>
            <a:r>
              <a:rPr lang="en-US" sz="1800" b="0" i="0" u="none" strike="noStrike" baseline="0" dirty="0">
                <a:latin typeface="CMR10"/>
              </a:rPr>
              <a:t>generalization errors, consider the two decision boundaries, </a:t>
            </a:r>
            <a:r>
              <a:rPr lang="en-US" sz="1800" b="0" i="1" u="none" strike="noStrike" baseline="0" dirty="0">
                <a:latin typeface="CMMI10"/>
              </a:rPr>
              <a:t>B</a:t>
            </a:r>
            <a:r>
              <a:rPr lang="en-US" sz="1800" b="0" i="0" u="none" strike="noStrike" baseline="0" dirty="0">
                <a:latin typeface="CMR8"/>
              </a:rPr>
              <a:t>1 </a:t>
            </a:r>
            <a:r>
              <a:rPr lang="en-US" sz="1800" b="0" i="0" u="none" strike="noStrike" baseline="0" dirty="0">
                <a:latin typeface="CMR10"/>
              </a:rPr>
              <a:t>and </a:t>
            </a:r>
            <a:r>
              <a:rPr lang="en-US" sz="1800" b="0" i="1" u="none" strike="noStrike" baseline="0" dirty="0">
                <a:latin typeface="CMMI10"/>
              </a:rPr>
              <a:t>B</a:t>
            </a:r>
            <a:r>
              <a:rPr lang="en-US" sz="1800" b="0" i="0" u="none" strike="noStrike" baseline="0" dirty="0">
                <a:latin typeface="CMR8"/>
              </a:rPr>
              <a:t>2</a:t>
            </a:r>
            <a:r>
              <a:rPr lang="en-US" sz="1800" b="0" i="0" u="none" strike="noStrike" baseline="0" dirty="0">
                <a:latin typeface="CMR10"/>
              </a:rPr>
              <a:t>, shown</a:t>
            </a:r>
          </a:p>
          <a:p>
            <a:pPr algn="l"/>
            <a:r>
              <a:rPr lang="en-US" sz="1800" b="0" i="0" u="none" strike="noStrike" baseline="0" dirty="0">
                <a:latin typeface="CMR10"/>
              </a:rPr>
              <a:t>in Figure 5.22. Both decision boundaries can separate the training examples</a:t>
            </a:r>
          </a:p>
          <a:p>
            <a:pPr algn="l"/>
            <a:r>
              <a:rPr lang="en-US" sz="1800" b="0" i="0" u="none" strike="noStrike" baseline="0" dirty="0">
                <a:latin typeface="CMR10"/>
              </a:rPr>
              <a:t>into their respective classes without committing any misclassification errors.</a:t>
            </a:r>
          </a:p>
          <a:p>
            <a:pPr algn="l"/>
            <a:r>
              <a:rPr lang="en-US" sz="1800" b="0" i="0" u="none" strike="noStrike" baseline="0" dirty="0">
                <a:latin typeface="CMR10"/>
              </a:rPr>
              <a:t>Each decision boundary </a:t>
            </a:r>
            <a:r>
              <a:rPr lang="en-US" sz="1800" b="0" i="1" u="none" strike="noStrike" baseline="0" dirty="0">
                <a:latin typeface="CMMI10"/>
              </a:rPr>
              <a:t>B</a:t>
            </a:r>
            <a:r>
              <a:rPr lang="en-US" sz="1800" b="0" i="1" u="none" strike="noStrike" baseline="0" dirty="0">
                <a:latin typeface="CMMI8"/>
              </a:rPr>
              <a:t>i </a:t>
            </a:r>
            <a:r>
              <a:rPr lang="en-US" sz="1800" b="0" i="0" u="none" strike="noStrike" baseline="0" dirty="0">
                <a:latin typeface="CMR10"/>
              </a:rPr>
              <a:t>is associated with a pair of hyperplanes, denoted</a:t>
            </a:r>
          </a:p>
          <a:p>
            <a:pPr algn="l"/>
            <a:r>
              <a:rPr lang="en-US" sz="1800" b="0" i="0" u="none" strike="noStrike" baseline="0" dirty="0">
                <a:latin typeface="CMR10"/>
              </a:rPr>
              <a:t>as </a:t>
            </a:r>
            <a:r>
              <a:rPr lang="en-US" sz="1800" b="0" i="1" u="none" strike="noStrike" baseline="0" dirty="0">
                <a:latin typeface="CMMI10"/>
              </a:rPr>
              <a:t>b</a:t>
            </a:r>
            <a:r>
              <a:rPr lang="en-US" sz="1800" b="0" i="1" u="none" strike="noStrike" baseline="0" dirty="0">
                <a:latin typeface="CMMI8"/>
              </a:rPr>
              <a:t>i</a:t>
            </a:r>
            <a:r>
              <a:rPr lang="en-US" sz="1800" b="0" i="0" u="none" strike="noStrike" baseline="0" dirty="0">
                <a:latin typeface="CMR8"/>
              </a:rPr>
              <a:t>1 </a:t>
            </a:r>
            <a:r>
              <a:rPr lang="en-US" sz="1800" b="0" i="0" u="none" strike="noStrike" baseline="0" dirty="0">
                <a:latin typeface="CMR10"/>
              </a:rPr>
              <a:t>and </a:t>
            </a:r>
            <a:r>
              <a:rPr lang="en-US" sz="1800" b="0" i="1" u="none" strike="noStrike" baseline="0" dirty="0">
                <a:latin typeface="CMMI10"/>
              </a:rPr>
              <a:t>b</a:t>
            </a:r>
            <a:r>
              <a:rPr lang="en-US" sz="1800" b="0" i="1" u="none" strike="noStrike" baseline="0" dirty="0">
                <a:latin typeface="CMMI8"/>
              </a:rPr>
              <a:t>i</a:t>
            </a:r>
            <a:r>
              <a:rPr lang="en-US" sz="1800" b="0" i="0" u="none" strike="noStrike" baseline="0" dirty="0">
                <a:latin typeface="CMR8"/>
              </a:rPr>
              <a:t>2</a:t>
            </a:r>
            <a:r>
              <a:rPr lang="en-US" sz="1800" b="0" i="0" u="none" strike="noStrike" baseline="0" dirty="0">
                <a:latin typeface="CMR10"/>
              </a:rPr>
              <a:t>, respectively. </a:t>
            </a:r>
            <a:r>
              <a:rPr lang="en-US" sz="1800" b="0" i="1" u="none" strike="noStrike" baseline="0" dirty="0">
                <a:latin typeface="CMMI10"/>
              </a:rPr>
              <a:t>b</a:t>
            </a:r>
            <a:r>
              <a:rPr lang="en-US" sz="1800" b="0" i="1" u="none" strike="noStrike" baseline="0" dirty="0">
                <a:latin typeface="CMMI8"/>
              </a:rPr>
              <a:t>i</a:t>
            </a:r>
            <a:r>
              <a:rPr lang="en-US" sz="1800" b="0" i="0" u="none" strike="noStrike" baseline="0" dirty="0">
                <a:latin typeface="CMR8"/>
              </a:rPr>
              <a:t>1 </a:t>
            </a:r>
            <a:r>
              <a:rPr lang="en-US" sz="1800" b="0" i="0" u="none" strike="noStrike" baseline="0" dirty="0">
                <a:latin typeface="CMR10"/>
              </a:rPr>
              <a:t>is obtained by moving a parallel hyperplane</a:t>
            </a:r>
          </a:p>
          <a:p>
            <a:pPr algn="l"/>
            <a:r>
              <a:rPr lang="en-US" sz="1800" b="0" i="0" u="none" strike="noStrike" baseline="0" dirty="0">
                <a:latin typeface="CMR10"/>
              </a:rPr>
              <a:t>away from the decision boundary until it touches the closest square(s), whereas</a:t>
            </a:r>
          </a:p>
          <a:p>
            <a:pPr algn="l"/>
            <a:r>
              <a:rPr lang="en-US" sz="1800" b="0" i="1" u="none" strike="noStrike" baseline="0" dirty="0">
                <a:latin typeface="CMMI10"/>
              </a:rPr>
              <a:t>b</a:t>
            </a:r>
            <a:r>
              <a:rPr lang="en-US" sz="1800" b="0" i="1" u="none" strike="noStrike" baseline="0" dirty="0">
                <a:latin typeface="CMMI8"/>
              </a:rPr>
              <a:t>i</a:t>
            </a:r>
            <a:r>
              <a:rPr lang="en-US" sz="1800" b="0" i="0" u="none" strike="noStrike" baseline="0" dirty="0">
                <a:latin typeface="CMR8"/>
              </a:rPr>
              <a:t>2 </a:t>
            </a:r>
            <a:r>
              <a:rPr lang="en-US" sz="1800" b="0" i="0" u="none" strike="noStrike" baseline="0" dirty="0">
                <a:latin typeface="CMR10"/>
              </a:rPr>
              <a:t>is obtained by moving the hyperplane until it touches the closest circle(s).</a:t>
            </a:r>
          </a:p>
          <a:p>
            <a:pPr algn="l"/>
            <a:r>
              <a:rPr lang="en-US" sz="1800" b="0" i="0" u="none" strike="noStrike" baseline="0" dirty="0">
                <a:latin typeface="CMR10"/>
              </a:rPr>
              <a:t>The distance between these two hyperplanes is known as the margin of the</a:t>
            </a:r>
          </a:p>
          <a:p>
            <a:pPr algn="l"/>
            <a:r>
              <a:rPr lang="en-US" sz="1800" b="0" i="0" u="none" strike="noStrike" baseline="0" dirty="0">
                <a:latin typeface="CMR10"/>
              </a:rPr>
              <a:t>classifier. From the diagram shown in Figure 5.22, notice that the margin for</a:t>
            </a:r>
          </a:p>
          <a:p>
            <a:pPr algn="l"/>
            <a:r>
              <a:rPr lang="en-US" sz="1800" b="0" i="1" u="none" strike="noStrike" baseline="0" dirty="0">
                <a:latin typeface="CMMI10"/>
              </a:rPr>
              <a:t>B</a:t>
            </a:r>
            <a:r>
              <a:rPr lang="en-US" sz="1800" b="0" i="0" u="none" strike="noStrike" baseline="0" dirty="0">
                <a:latin typeface="CMR8"/>
              </a:rPr>
              <a:t>1 </a:t>
            </a:r>
            <a:r>
              <a:rPr lang="en-US" sz="1800" b="0" i="0" u="none" strike="noStrike" baseline="0" dirty="0">
                <a:latin typeface="CMR10"/>
              </a:rPr>
              <a:t>is considerably larger than that for </a:t>
            </a:r>
            <a:r>
              <a:rPr lang="en-US" sz="1800" b="0" i="1" u="none" strike="noStrike" baseline="0" dirty="0">
                <a:latin typeface="CMMI10"/>
              </a:rPr>
              <a:t>B</a:t>
            </a:r>
            <a:r>
              <a:rPr lang="en-US" sz="1800" b="0" i="0" u="none" strike="noStrike" baseline="0" dirty="0">
                <a:latin typeface="CMR8"/>
              </a:rPr>
              <a:t>2</a:t>
            </a:r>
            <a:r>
              <a:rPr lang="en-US" sz="1800" b="0" i="0" u="none" strike="noStrike" baseline="0" dirty="0">
                <a:latin typeface="CMR10"/>
              </a:rPr>
              <a:t>. In this example, </a:t>
            </a:r>
            <a:r>
              <a:rPr lang="en-US" sz="1800" b="0" i="1" u="none" strike="noStrike" baseline="0" dirty="0">
                <a:latin typeface="CMMI10"/>
              </a:rPr>
              <a:t>B</a:t>
            </a:r>
            <a:r>
              <a:rPr lang="en-US" sz="1800" b="0" i="0" u="none" strike="noStrike" baseline="0" dirty="0">
                <a:latin typeface="CMR8"/>
              </a:rPr>
              <a:t>1 </a:t>
            </a:r>
            <a:r>
              <a:rPr lang="en-US" sz="1800" b="0" i="0" u="none" strike="noStrike" baseline="0" dirty="0">
                <a:latin typeface="CMR10"/>
              </a:rPr>
              <a:t>turns out to</a:t>
            </a:r>
          </a:p>
          <a:p>
            <a:pPr algn="l"/>
            <a:r>
              <a:rPr lang="en-US" sz="1800" b="0" i="0" u="none" strike="noStrike" baseline="0" dirty="0">
                <a:latin typeface="CMR10"/>
              </a:rPr>
              <a:t>be the maximum margin hyperplane of the training instances.</a:t>
            </a:r>
            <a:endParaRPr lang="en-US" dirty="0"/>
          </a:p>
        </p:txBody>
      </p:sp>
    </p:spTree>
    <p:extLst>
      <p:ext uri="{BB962C8B-B14F-4D97-AF65-F5344CB8AC3E}">
        <p14:creationId xmlns:p14="http://schemas.microsoft.com/office/powerpoint/2010/main" val="1289516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A linear SVM is a classifier that searches for a hyperplane with the largest</a:t>
            </a:r>
          </a:p>
          <a:p>
            <a:pPr algn="l"/>
            <a:r>
              <a:rPr lang="en-US" sz="1800" b="0" i="0" u="none" strike="noStrike" baseline="0" dirty="0">
                <a:latin typeface="CMR10"/>
              </a:rPr>
              <a:t>margin, which is why it is often known as a </a:t>
            </a:r>
            <a:r>
              <a:rPr lang="en-US" sz="1800" b="1" i="0" u="none" strike="noStrike" baseline="0" dirty="0">
                <a:latin typeface="CMBX10"/>
              </a:rPr>
              <a:t>maximal margin classifier</a:t>
            </a:r>
            <a:r>
              <a:rPr lang="en-US" sz="1800" b="0" i="0" u="none" strike="noStrike" baseline="0" dirty="0">
                <a:latin typeface="CMR10"/>
              </a:rPr>
              <a:t>. To</a:t>
            </a:r>
          </a:p>
          <a:p>
            <a:pPr algn="l"/>
            <a:r>
              <a:rPr lang="en-US" sz="1800" b="0" i="0" u="none" strike="noStrike" baseline="0" dirty="0">
                <a:latin typeface="CMR10"/>
              </a:rPr>
              <a:t>understand how SVM learns such a boundary, we begin with some preliminary</a:t>
            </a:r>
          </a:p>
          <a:p>
            <a:pPr algn="l"/>
            <a:r>
              <a:rPr lang="en-US" sz="1800" b="0" i="0" u="none" strike="noStrike" baseline="0" dirty="0">
                <a:latin typeface="CMR10"/>
              </a:rPr>
              <a:t>discussion about the decision boundary and margin of a linear classifier.</a:t>
            </a:r>
            <a:endParaRPr lang="en-US" dirty="0"/>
          </a:p>
        </p:txBody>
      </p:sp>
    </p:spTree>
    <p:extLst>
      <p:ext uri="{BB962C8B-B14F-4D97-AF65-F5344CB8AC3E}">
        <p14:creationId xmlns:p14="http://schemas.microsoft.com/office/powerpoint/2010/main" val="2587860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Consider a binary classification problem consisting of </a:t>
            </a:r>
            <a:r>
              <a:rPr lang="en-US" sz="1800" b="0" i="1" u="none" strike="noStrike" baseline="0" dirty="0">
                <a:latin typeface="CMMI10"/>
              </a:rPr>
              <a:t>N </a:t>
            </a:r>
            <a:r>
              <a:rPr lang="en-US" sz="1800" b="0" i="0" u="none" strike="noStrike" baseline="0" dirty="0">
                <a:latin typeface="CMR10"/>
              </a:rPr>
              <a:t>training examples.</a:t>
            </a:r>
          </a:p>
          <a:p>
            <a:pPr algn="l"/>
            <a:r>
              <a:rPr lang="en-US" sz="1800" b="0" i="0" u="none" strike="noStrike" baseline="0" dirty="0">
                <a:latin typeface="CMR10"/>
              </a:rPr>
              <a:t>Each example is denoted by a tuple (</a:t>
            </a:r>
            <a:r>
              <a:rPr lang="en-US" sz="1800" b="1" i="0" u="none" strike="noStrike" baseline="0" dirty="0">
                <a:latin typeface="CMBX10"/>
              </a:rPr>
              <a:t>x</a:t>
            </a:r>
            <a:r>
              <a:rPr lang="en-US" sz="1800" b="1" i="0" u="none" strike="noStrike" baseline="0" dirty="0">
                <a:latin typeface="CMBX8"/>
              </a:rPr>
              <a:t>i</a:t>
            </a:r>
            <a:r>
              <a:rPr lang="en-US" sz="1800" b="0" i="1" u="none" strike="noStrike" baseline="0" dirty="0">
                <a:latin typeface="CMMI10"/>
              </a:rPr>
              <a:t>, </a:t>
            </a:r>
            <a:r>
              <a:rPr lang="en-US" sz="1800" b="0" i="1" u="none" strike="noStrike" baseline="0" dirty="0" err="1">
                <a:latin typeface="CMMI10"/>
              </a:rPr>
              <a:t>y</a:t>
            </a:r>
            <a:r>
              <a:rPr lang="en-US" sz="1800" b="0" i="1" u="none" strike="noStrike" baseline="0" dirty="0" err="1">
                <a:latin typeface="CMMI8"/>
              </a:rPr>
              <a:t>i</a:t>
            </a:r>
            <a:r>
              <a:rPr lang="en-US" sz="1800" b="0" i="0" u="none" strike="noStrike" baseline="0" dirty="0">
                <a:latin typeface="CMR10"/>
              </a:rPr>
              <a:t>) (</a:t>
            </a:r>
            <a:r>
              <a:rPr lang="en-US" sz="1800" b="0" i="1" u="none" strike="noStrike" baseline="0" dirty="0" err="1">
                <a:latin typeface="CMMI10"/>
              </a:rPr>
              <a:t>i</a:t>
            </a:r>
            <a:r>
              <a:rPr lang="en-US" sz="1800" b="0" i="1" u="none" strike="noStrike" baseline="0" dirty="0">
                <a:latin typeface="CMMI10"/>
              </a:rPr>
              <a:t> </a:t>
            </a:r>
            <a:r>
              <a:rPr lang="en-US" sz="1800" b="0" i="0" u="none" strike="noStrike" baseline="0" dirty="0">
                <a:latin typeface="CMR10"/>
              </a:rPr>
              <a:t>= 1</a:t>
            </a:r>
            <a:r>
              <a:rPr lang="en-US" sz="1800" b="0" i="1" u="none" strike="noStrike" baseline="0" dirty="0">
                <a:latin typeface="CMMI10"/>
              </a:rPr>
              <a:t>, </a:t>
            </a:r>
            <a:r>
              <a:rPr lang="en-US" sz="1800" b="0" i="0" u="none" strike="noStrike" baseline="0" dirty="0">
                <a:latin typeface="CMR10"/>
              </a:rPr>
              <a:t>2</a:t>
            </a:r>
            <a:r>
              <a:rPr lang="en-US" sz="1800" b="0" i="1" u="none" strike="noStrike" baseline="0" dirty="0">
                <a:latin typeface="CMMI10"/>
              </a:rPr>
              <a:t>, . . . , N</a:t>
            </a:r>
            <a:r>
              <a:rPr lang="en-US" sz="1800" b="0" i="0" u="none" strike="noStrike" baseline="0" dirty="0">
                <a:latin typeface="CMR10"/>
              </a:rPr>
              <a:t>), where </a:t>
            </a:r>
            <a:r>
              <a:rPr lang="en-US" sz="1800" b="1" i="0" u="none" strike="noStrike" baseline="0" dirty="0">
                <a:latin typeface="CMBX10"/>
              </a:rPr>
              <a:t>x</a:t>
            </a:r>
            <a:r>
              <a:rPr lang="en-US" sz="1800" b="0" i="1" u="none" strike="noStrike" baseline="0" dirty="0">
                <a:latin typeface="CMMI8"/>
              </a:rPr>
              <a:t>i </a:t>
            </a:r>
            <a:r>
              <a:rPr lang="en-US" sz="1800" b="0" i="0" u="none" strike="noStrike" baseline="0" dirty="0">
                <a:latin typeface="CMR10"/>
              </a:rPr>
              <a:t>=</a:t>
            </a:r>
          </a:p>
          <a:p>
            <a:pPr algn="l"/>
            <a:r>
              <a:rPr lang="en-US" sz="1800" b="0" i="0" u="none" strike="noStrike" baseline="0" dirty="0">
                <a:latin typeface="CMR10"/>
              </a:rPr>
              <a:t>(</a:t>
            </a:r>
            <a:r>
              <a:rPr lang="en-US" sz="1800" b="0" i="1" u="none" strike="noStrike" baseline="0" dirty="0">
                <a:latin typeface="CMMI10"/>
              </a:rPr>
              <a:t>x</a:t>
            </a:r>
            <a:r>
              <a:rPr lang="en-US" sz="1800" b="0" i="1" u="none" strike="noStrike" baseline="0" dirty="0">
                <a:latin typeface="CMMI8"/>
              </a:rPr>
              <a:t>i</a:t>
            </a:r>
            <a:r>
              <a:rPr lang="en-US" sz="1800" b="0" i="0" u="none" strike="noStrike" baseline="0" dirty="0">
                <a:latin typeface="CMR8"/>
              </a:rPr>
              <a:t>1</a:t>
            </a:r>
            <a:r>
              <a:rPr lang="en-US" sz="1800" b="0" i="1" u="none" strike="noStrike" baseline="0" dirty="0">
                <a:latin typeface="CMMI10"/>
              </a:rPr>
              <a:t>, x</a:t>
            </a:r>
            <a:r>
              <a:rPr lang="en-US" sz="1800" b="0" i="1" u="none" strike="noStrike" baseline="0" dirty="0">
                <a:latin typeface="CMMI8"/>
              </a:rPr>
              <a:t>i</a:t>
            </a:r>
            <a:r>
              <a:rPr lang="en-US" sz="1800" b="0" i="0" u="none" strike="noStrike" baseline="0" dirty="0">
                <a:latin typeface="CMR8"/>
              </a:rPr>
              <a:t>2</a:t>
            </a:r>
            <a:r>
              <a:rPr lang="en-US" sz="1800" b="0" i="1" u="none" strike="noStrike" baseline="0" dirty="0">
                <a:latin typeface="CMMI10"/>
              </a:rPr>
              <a:t>, . . . , </a:t>
            </a:r>
            <a:r>
              <a:rPr lang="en-US" sz="1800" b="0" i="1" u="none" strike="noStrike" baseline="0" dirty="0" err="1">
                <a:latin typeface="CMMI10"/>
              </a:rPr>
              <a:t>x</a:t>
            </a:r>
            <a:r>
              <a:rPr lang="en-US" sz="1800" b="0" i="1" u="none" strike="noStrike" baseline="0" dirty="0" err="1">
                <a:latin typeface="CMMI8"/>
              </a:rPr>
              <a:t>id</a:t>
            </a:r>
            <a:r>
              <a:rPr lang="en-US" sz="1800" b="0" i="0" u="none" strike="noStrike" baseline="0" dirty="0">
                <a:latin typeface="CMR10"/>
              </a:rPr>
              <a:t>)</a:t>
            </a:r>
            <a:r>
              <a:rPr lang="en-US" sz="1800" b="0" i="1" u="none" strike="noStrike" baseline="0" dirty="0">
                <a:latin typeface="CMMI8"/>
              </a:rPr>
              <a:t>T </a:t>
            </a:r>
            <a:r>
              <a:rPr lang="en-US" sz="1800" b="0" i="0" u="none" strike="noStrike" baseline="0" dirty="0">
                <a:latin typeface="CMR10"/>
              </a:rPr>
              <a:t>corresponds to the attribute set for the </a:t>
            </a:r>
            <a:r>
              <a:rPr lang="en-US" sz="1800" b="0" i="1" u="none" strike="noStrike" baseline="0" dirty="0" err="1">
                <a:latin typeface="CMMI10"/>
              </a:rPr>
              <a:t>i</a:t>
            </a:r>
            <a:r>
              <a:rPr lang="en-US" sz="1800" b="0" i="1" u="none" strike="noStrike" baseline="0" dirty="0" err="1">
                <a:latin typeface="CMMI8"/>
              </a:rPr>
              <a:t>th</a:t>
            </a:r>
            <a:r>
              <a:rPr lang="en-US" sz="1800" b="0" i="1" u="none" strike="noStrike" baseline="0" dirty="0">
                <a:latin typeface="CMMI8"/>
              </a:rPr>
              <a:t> </a:t>
            </a:r>
            <a:r>
              <a:rPr lang="en-US" sz="1800" b="0" i="0" u="none" strike="noStrike" baseline="0" dirty="0">
                <a:latin typeface="CMR10"/>
              </a:rPr>
              <a:t>example. By</a:t>
            </a:r>
          </a:p>
          <a:p>
            <a:pPr algn="l"/>
            <a:r>
              <a:rPr lang="en-US" sz="1800" b="0" i="0" u="none" strike="noStrike" baseline="0" dirty="0">
                <a:latin typeface="CMR10"/>
              </a:rPr>
              <a:t>convention, let </a:t>
            </a:r>
            <a:r>
              <a:rPr lang="en-US" sz="1800" b="0" i="1" u="none" strike="noStrike" baseline="0" dirty="0" err="1">
                <a:latin typeface="CMMI10"/>
              </a:rPr>
              <a:t>y</a:t>
            </a:r>
            <a:r>
              <a:rPr lang="en-US" sz="1800" b="0" i="1" u="none" strike="noStrike" baseline="0" dirty="0" err="1">
                <a:latin typeface="CMMI8"/>
              </a:rPr>
              <a:t>i</a:t>
            </a:r>
            <a:r>
              <a:rPr lang="en-US" sz="1800" b="0" i="1" u="none" strike="noStrike" baseline="0" dirty="0">
                <a:latin typeface="CMMI8"/>
              </a:rPr>
              <a:t> </a:t>
            </a:r>
            <a:r>
              <a:rPr lang="en-US" sz="1800" b="0" i="1" u="none" strike="noStrike" baseline="0" dirty="0">
                <a:latin typeface="CMSY10"/>
              </a:rPr>
              <a:t>∈ {−</a:t>
            </a:r>
            <a:r>
              <a:rPr lang="en-US" sz="1800" b="0" i="0" u="none" strike="noStrike" baseline="0" dirty="0">
                <a:latin typeface="CMR10"/>
              </a:rPr>
              <a:t>1</a:t>
            </a:r>
            <a:r>
              <a:rPr lang="en-US" sz="1800" b="0" i="1" u="none" strike="noStrike" baseline="0" dirty="0">
                <a:latin typeface="CMMI10"/>
              </a:rPr>
              <a:t>, </a:t>
            </a:r>
            <a:r>
              <a:rPr lang="en-US" sz="1800" b="0" i="0" u="none" strike="noStrike" baseline="0" dirty="0">
                <a:latin typeface="CMR10"/>
              </a:rPr>
              <a:t>1</a:t>
            </a:r>
            <a:r>
              <a:rPr lang="en-US" sz="1800" b="0" i="1" u="none" strike="noStrike" baseline="0" dirty="0">
                <a:latin typeface="CMSY10"/>
              </a:rPr>
              <a:t>} </a:t>
            </a:r>
            <a:r>
              <a:rPr lang="en-US" sz="1800" b="0" i="0" u="none" strike="noStrike" baseline="0" dirty="0">
                <a:latin typeface="CMR10"/>
              </a:rPr>
              <a:t>denote its class label. The decision boundary of a</a:t>
            </a:r>
          </a:p>
          <a:p>
            <a:pPr algn="l"/>
            <a:r>
              <a:rPr lang="en-US" sz="1800" b="0" i="0" u="none" strike="noStrike" baseline="0" dirty="0">
                <a:latin typeface="CMR10"/>
              </a:rPr>
              <a:t>linear classifier can be written in the following form:</a:t>
            </a:r>
          </a:p>
          <a:p>
            <a:pPr algn="l"/>
            <a:r>
              <a:rPr lang="pl-PL" sz="1800" b="1" i="0" u="none" strike="noStrike" baseline="0" dirty="0">
                <a:latin typeface="CMBX10"/>
              </a:rPr>
              <a:t>w </a:t>
            </a:r>
            <a:r>
              <a:rPr lang="pl-PL" sz="1800" b="0" i="1" u="none" strike="noStrike" baseline="0" dirty="0">
                <a:latin typeface="CMSY10"/>
              </a:rPr>
              <a:t>· </a:t>
            </a:r>
            <a:r>
              <a:rPr lang="pl-PL" sz="1800" b="1" i="0" u="none" strike="noStrike" baseline="0" dirty="0">
                <a:latin typeface="CMBX10"/>
              </a:rPr>
              <a:t>x </a:t>
            </a:r>
            <a:r>
              <a:rPr lang="pl-PL" sz="1800" b="0" i="0" u="none" strike="noStrike" baseline="0" dirty="0">
                <a:latin typeface="CMR10"/>
              </a:rPr>
              <a:t>+ </a:t>
            </a:r>
            <a:r>
              <a:rPr lang="pl-PL" sz="1800" b="0" i="1" u="none" strike="noStrike" baseline="0" dirty="0">
                <a:latin typeface="CMMI10"/>
              </a:rPr>
              <a:t>b </a:t>
            </a:r>
            <a:r>
              <a:rPr lang="pl-PL" sz="1800" b="0" i="0" u="none" strike="noStrike" baseline="0" dirty="0">
                <a:latin typeface="CMR10"/>
              </a:rPr>
              <a:t>= 0</a:t>
            </a:r>
            <a:r>
              <a:rPr lang="pl-PL" sz="1800" b="0" i="1" u="none" strike="noStrike" baseline="0" dirty="0">
                <a:latin typeface="CMMI10"/>
              </a:rPr>
              <a:t>, </a:t>
            </a:r>
            <a:r>
              <a:rPr lang="pl-PL" sz="1800" b="0" i="0" u="none" strike="noStrike" baseline="0" dirty="0">
                <a:latin typeface="CMR10"/>
              </a:rPr>
              <a:t>(5.28)</a:t>
            </a:r>
          </a:p>
          <a:p>
            <a:pPr algn="l"/>
            <a:r>
              <a:rPr lang="en-US" sz="1800" b="0" i="0" u="none" strike="noStrike" baseline="0" dirty="0">
                <a:latin typeface="CMR10"/>
              </a:rPr>
              <a:t>where </a:t>
            </a:r>
            <a:r>
              <a:rPr lang="en-US" sz="1800" b="1" i="0" u="none" strike="noStrike" baseline="0" dirty="0">
                <a:latin typeface="CMBX10"/>
              </a:rPr>
              <a:t>w </a:t>
            </a:r>
            <a:r>
              <a:rPr lang="en-US" sz="1800" b="0" i="0" u="none" strike="noStrike" baseline="0" dirty="0">
                <a:latin typeface="CMR10"/>
              </a:rPr>
              <a:t>and </a:t>
            </a:r>
            <a:r>
              <a:rPr lang="en-US" sz="1800" b="0" i="1" u="none" strike="noStrike" baseline="0" dirty="0">
                <a:latin typeface="CMMI10"/>
              </a:rPr>
              <a:t>b </a:t>
            </a:r>
            <a:r>
              <a:rPr lang="en-US" sz="1800" b="0" i="0" u="none" strike="noStrike" baseline="0" dirty="0">
                <a:latin typeface="CMR10"/>
              </a:rPr>
              <a:t>are parameters of the model.</a:t>
            </a:r>
            <a:endParaRPr lang="en-US" dirty="0"/>
          </a:p>
        </p:txBody>
      </p:sp>
    </p:spTree>
    <p:extLst>
      <p:ext uri="{BB962C8B-B14F-4D97-AF65-F5344CB8AC3E}">
        <p14:creationId xmlns:p14="http://schemas.microsoft.com/office/powerpoint/2010/main" val="22519853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1" u="none" strike="noStrike" baseline="0" dirty="0">
                <a:latin typeface="CMMI10"/>
              </a:rPr>
              <a:t>B</a:t>
            </a:r>
            <a:r>
              <a:rPr lang="en-US" sz="1800" b="0" i="0" u="none" strike="noStrike" baseline="0" dirty="0">
                <a:latin typeface="CMR8"/>
              </a:rPr>
              <a:t>1 </a:t>
            </a:r>
            <a:r>
              <a:rPr lang="en-US" sz="1800" b="0" i="0" u="none" strike="noStrike" baseline="0" dirty="0">
                <a:latin typeface="CMR10"/>
              </a:rPr>
              <a:t>should still be preferred over </a:t>
            </a:r>
            <a:r>
              <a:rPr lang="en-US" sz="1800" b="0" i="1" u="none" strike="noStrike" baseline="0" dirty="0">
                <a:latin typeface="CMMI10"/>
              </a:rPr>
              <a:t>B</a:t>
            </a:r>
            <a:r>
              <a:rPr lang="en-US" sz="1800" b="0" i="0" u="none" strike="noStrike" baseline="0" dirty="0">
                <a:latin typeface="CMR8"/>
              </a:rPr>
              <a:t>2 </a:t>
            </a:r>
            <a:r>
              <a:rPr lang="en-US" sz="1800" b="0" i="0" u="none" strike="noStrike" baseline="0" dirty="0">
                <a:latin typeface="CMR10"/>
              </a:rPr>
              <a:t>because it</a:t>
            </a:r>
          </a:p>
          <a:p>
            <a:pPr algn="l"/>
            <a:r>
              <a:rPr lang="en-US" sz="1800" b="0" i="0" u="none" strike="noStrike" baseline="0" dirty="0">
                <a:latin typeface="CMR10"/>
              </a:rPr>
              <a:t>has a wider margin, and thus, is less susceptible to overfitting. However, the</a:t>
            </a:r>
          </a:p>
          <a:p>
            <a:pPr algn="l"/>
            <a:r>
              <a:rPr lang="en-US" sz="1800" b="0" i="0" u="none" strike="noStrike" baseline="0" dirty="0">
                <a:latin typeface="CMR10"/>
              </a:rPr>
              <a:t>SVM formulation presented in the previous section constructs only decision</a:t>
            </a:r>
          </a:p>
          <a:p>
            <a:pPr algn="l"/>
            <a:r>
              <a:rPr lang="en-US" sz="1800" b="0" i="0" u="none" strike="noStrike" baseline="0" dirty="0">
                <a:latin typeface="CMR10"/>
              </a:rPr>
              <a:t>boundaries that are mistake-free. This section examines how the formulation</a:t>
            </a:r>
          </a:p>
          <a:p>
            <a:pPr algn="l"/>
            <a:r>
              <a:rPr lang="en-US" sz="1800" b="0" i="0" u="none" strike="noStrike" baseline="0" dirty="0">
                <a:latin typeface="CMR10"/>
              </a:rPr>
              <a:t>can be modified to learn a decision boundary that is tolerable to small training</a:t>
            </a:r>
          </a:p>
          <a:p>
            <a:pPr algn="l"/>
            <a:r>
              <a:rPr lang="en-US" sz="1800" b="0" i="0" u="none" strike="noStrike" baseline="0" dirty="0">
                <a:latin typeface="CMR10"/>
              </a:rPr>
              <a:t>errors using a method known as the </a:t>
            </a:r>
            <a:r>
              <a:rPr lang="en-US" sz="1800" b="1" i="0" u="none" strike="noStrike" baseline="0" dirty="0">
                <a:latin typeface="CMBX10"/>
              </a:rPr>
              <a:t>soft margin </a:t>
            </a:r>
            <a:r>
              <a:rPr lang="en-US" sz="1800" b="0" i="0" u="none" strike="noStrike" baseline="0" dirty="0">
                <a:latin typeface="CMR10"/>
              </a:rPr>
              <a:t>approach. More importantly,</a:t>
            </a:r>
          </a:p>
          <a:p>
            <a:pPr algn="l"/>
            <a:r>
              <a:rPr lang="en-US" sz="1800" b="0" i="0" u="none" strike="noStrike" baseline="0" dirty="0">
                <a:latin typeface="CMR10"/>
              </a:rPr>
              <a:t>the method presented in this section allows SVM to construct a linear decision</a:t>
            </a:r>
          </a:p>
          <a:p>
            <a:pPr algn="l"/>
            <a:r>
              <a:rPr lang="en-US" sz="1800" b="0" i="0" u="none" strike="noStrike" baseline="0" dirty="0">
                <a:latin typeface="CMR10"/>
              </a:rPr>
              <a:t>boundary even in situations where the classes are not linearly separable. To</a:t>
            </a:r>
          </a:p>
          <a:p>
            <a:pPr algn="l"/>
            <a:r>
              <a:rPr lang="en-US" sz="1800" b="0" i="0" u="none" strike="noStrike" baseline="0" dirty="0">
                <a:latin typeface="CMR10"/>
              </a:rPr>
              <a:t>do this, the learning algorithm in SVM must consider the trade-off between</a:t>
            </a:r>
          </a:p>
          <a:p>
            <a:pPr algn="l"/>
            <a:r>
              <a:rPr lang="en-US" sz="1800" b="0" i="0" u="none" strike="noStrike" baseline="0" dirty="0">
                <a:latin typeface="CMR10"/>
              </a:rPr>
              <a:t>the width of the margin and the number of training errors committed by the</a:t>
            </a:r>
          </a:p>
          <a:p>
            <a:pPr algn="l"/>
            <a:r>
              <a:rPr lang="en-US" sz="1800" b="0" i="0" u="none" strike="noStrike" baseline="0" dirty="0">
                <a:latin typeface="CMR10"/>
              </a:rPr>
              <a:t>linear decision boundary.</a:t>
            </a:r>
            <a:endParaRPr lang="en-US" dirty="0"/>
          </a:p>
        </p:txBody>
      </p:sp>
    </p:spTree>
    <p:extLst>
      <p:ext uri="{BB962C8B-B14F-4D97-AF65-F5344CB8AC3E}">
        <p14:creationId xmlns:p14="http://schemas.microsoft.com/office/powerpoint/2010/main" val="8424294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dirty="0">
                <a:latin typeface="CMR10"/>
              </a:rPr>
              <a:t>Thus, </a:t>
            </a:r>
            <a:r>
              <a:rPr lang="en-US" sz="1800" b="0" i="1" u="none" strike="noStrike" baseline="0" dirty="0">
                <a:latin typeface="CMMI10"/>
              </a:rPr>
              <a:t>ξ </a:t>
            </a:r>
            <a:r>
              <a:rPr lang="en-US" sz="1800" b="0" i="0" u="none" strike="noStrike" baseline="0" dirty="0">
                <a:latin typeface="CMR10"/>
              </a:rPr>
              <a:t>provides an estimate of the error of the decision boundary</a:t>
            </a:r>
          </a:p>
          <a:p>
            <a:pPr algn="l"/>
            <a:r>
              <a:rPr lang="en-US" sz="1800" b="0" i="0" u="none" strike="noStrike" baseline="0" dirty="0">
                <a:latin typeface="CMR10"/>
              </a:rPr>
              <a:t>on the training example </a:t>
            </a:r>
            <a:r>
              <a:rPr lang="en-US" sz="1800" b="1" i="0" u="none" strike="noStrike" baseline="0" dirty="0">
                <a:latin typeface="CMBX10"/>
              </a:rPr>
              <a:t>P</a:t>
            </a:r>
            <a:r>
              <a:rPr lang="en-US" sz="1800" b="0" i="0" u="none" strike="noStrike" baseline="0" dirty="0">
                <a:latin typeface="CMR10"/>
              </a:rPr>
              <a:t>.</a:t>
            </a:r>
            <a:endParaRPr lang="en-US" dirty="0"/>
          </a:p>
        </p:txBody>
      </p:sp>
    </p:spTree>
    <p:extLst>
      <p:ext uri="{BB962C8B-B14F-4D97-AF65-F5344CB8AC3E}">
        <p14:creationId xmlns:p14="http://schemas.microsoft.com/office/powerpoint/2010/main" val="3301796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Eita &gt;0 should be</a:t>
            </a:r>
          </a:p>
          <a:p>
            <a:pPr algn="l"/>
            <a:r>
              <a:rPr lang="en-US" sz="1800" b="0" i="0" u="none" strike="noStrike" baseline="0" dirty="0">
                <a:latin typeface="CMR10"/>
              </a:rPr>
              <a:t>In principle, we can apply the same objective function as before and impose</a:t>
            </a:r>
          </a:p>
          <a:p>
            <a:pPr algn="l"/>
            <a:r>
              <a:rPr lang="en-US" sz="1800" b="0" i="0" u="none" strike="noStrike" baseline="0" dirty="0">
                <a:latin typeface="CMR10"/>
              </a:rPr>
              <a:t>since there are no constraints on the number of mistakes the decision boundary</a:t>
            </a:r>
          </a:p>
          <a:p>
            <a:pPr algn="l"/>
            <a:r>
              <a:rPr lang="en-US" sz="1800" b="0" i="0" u="none" strike="noStrike" baseline="0" dirty="0">
                <a:latin typeface="CMR10"/>
              </a:rPr>
              <a:t>can make, the learning algorithm may find a decision boundary with a very</a:t>
            </a:r>
          </a:p>
          <a:p>
            <a:pPr algn="l"/>
            <a:r>
              <a:rPr lang="en-US" sz="1800" b="0" i="0" u="none" strike="noStrike" baseline="0" dirty="0">
                <a:latin typeface="CMR10"/>
              </a:rPr>
              <a:t>wide margin but misclassifies many of the training examples, as shown in</a:t>
            </a:r>
          </a:p>
          <a:p>
            <a:pPr algn="l"/>
            <a:r>
              <a:rPr lang="en-US" sz="1800" b="0" i="0" u="none" strike="noStrike" baseline="0" dirty="0">
                <a:latin typeface="CMR10"/>
              </a:rPr>
              <a:t>Figure 5.27. To avoid this problem, the objective function must be modified</a:t>
            </a:r>
          </a:p>
          <a:p>
            <a:pPr algn="l"/>
            <a:r>
              <a:rPr lang="en-US" sz="1800" b="0" i="0" u="none" strike="noStrike" baseline="0" dirty="0">
                <a:latin typeface="CMR10"/>
              </a:rPr>
              <a:t>to penalize a decision boundary with large values of slack variables. The</a:t>
            </a:r>
          </a:p>
          <a:p>
            <a:pPr algn="l"/>
            <a:r>
              <a:rPr lang="en-US" sz="1800" b="0" i="0" u="none" strike="noStrike" baseline="0" dirty="0">
                <a:latin typeface="CMR10"/>
              </a:rPr>
              <a:t>modified objective function is given by the following equation:</a:t>
            </a:r>
          </a:p>
          <a:p>
            <a:pPr algn="l"/>
            <a:r>
              <a:rPr lang="en-US" sz="1800" b="0" i="0" u="none" strike="noStrike" baseline="0" dirty="0">
                <a:latin typeface="CMR10"/>
              </a:rPr>
              <a:t>the conditions given in Equation 5.45 to find the decision boundary. However,</a:t>
            </a:r>
            <a:endParaRPr lang="en-US" dirty="0"/>
          </a:p>
        </p:txBody>
      </p:sp>
    </p:spTree>
    <p:extLst>
      <p:ext uri="{BB962C8B-B14F-4D97-AF65-F5344CB8AC3E}">
        <p14:creationId xmlns:p14="http://schemas.microsoft.com/office/powerpoint/2010/main" val="4020235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3015967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2585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126762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9004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23257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402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73004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52217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074020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6791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58402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81000" y="152400"/>
            <a:ext cx="8280400" cy="533400"/>
          </a:xfrm>
        </p:spPr>
        <p:txBody>
          <a:bodyPr/>
          <a:lstStyle/>
          <a:p>
            <a:r>
              <a:rPr lang="en-US"/>
              <a:t>Click to edit Master title style</a:t>
            </a:r>
          </a:p>
        </p:txBody>
      </p:sp>
      <p:sp>
        <p:nvSpPr>
          <p:cNvPr id="3" name="Content Placeholder 2"/>
          <p:cNvSpPr>
            <a:spLocks noGrp="1"/>
          </p:cNvSpPr>
          <p:nvPr>
            <p:ph sz="quarter" idx="1"/>
          </p:nvPr>
        </p:nvSpPr>
        <p:spPr>
          <a:xfrm>
            <a:off x="41116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1116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4034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 Third Level</a:t>
            </a:r>
          </a:p>
        </p:txBody>
      </p:sp>
      <p:grpSp>
        <p:nvGrpSpPr>
          <p:cNvPr id="1028" name="Group 16"/>
          <p:cNvGrpSpPr>
            <a:grpSpLocks/>
          </p:cNvGrpSpPr>
          <p:nvPr userDrawn="1"/>
        </p:nvGrpSpPr>
        <p:grpSpPr bwMode="auto">
          <a:xfrm>
            <a:off x="304800" y="838200"/>
            <a:ext cx="8534400" cy="152400"/>
            <a:chOff x="264" y="788"/>
            <a:chExt cx="5232" cy="124"/>
          </a:xfrm>
        </p:grpSpPr>
        <p:sp>
          <p:nvSpPr>
            <p:cNvPr id="1030" name="Rectangle 17"/>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1029" name="Text Box 10"/>
          <p:cNvSpPr txBox="1">
            <a:spLocks noChangeArrowheads="1"/>
          </p:cNvSpPr>
          <p:nvPr userDrawn="1"/>
        </p:nvSpPr>
        <p:spPr bwMode="auto">
          <a:xfrm>
            <a:off x="457200" y="6400800"/>
            <a:ext cx="8534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spcBef>
                <a:spcPct val="50000"/>
              </a:spcBef>
              <a:defRPr/>
            </a:pPr>
            <a:r>
              <a:rPr lang="en-US" altLang="en-US" dirty="0"/>
              <a:t>10/11/2021 	      Introduction to Data Mining, 2</a:t>
            </a:r>
            <a:r>
              <a:rPr lang="en-US" altLang="en-US" baseline="30000" dirty="0"/>
              <a:t>nd</a:t>
            </a:r>
            <a:r>
              <a:rPr lang="en-US" altLang="en-US" dirty="0"/>
              <a:t> Edition 		                         </a:t>
            </a:r>
            <a:fld id="{76D69139-C577-4F33-9130-DE4A162E0023}" type="slidenum">
              <a:rPr lang="en-US" altLang="en-US" smtClean="0"/>
              <a:pPr>
                <a:spcBef>
                  <a:spcPct val="50000"/>
                </a:spcBef>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emf"/></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3.bin"/><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oleObject" Target="../embeddings/oleObject4.bin"/><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emf"/></Relationships>
</file>

<file path=ppt/slides/_rels/slide8.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9.bin"/><Relationship Id="rId12" Type="http://schemas.openxmlformats.org/officeDocument/2006/relationships/image" Target="../media/image10.w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7.wmf"/><Relationship Id="rId11" Type="http://schemas.openxmlformats.org/officeDocument/2006/relationships/oleObject" Target="../embeddings/oleObject11.bin"/><Relationship Id="rId5" Type="http://schemas.openxmlformats.org/officeDocument/2006/relationships/oleObject" Target="../embeddings/oleObject8.bin"/><Relationship Id="rId10" Type="http://schemas.openxmlformats.org/officeDocument/2006/relationships/image" Target="../media/image9.wmf"/><Relationship Id="rId4" Type="http://schemas.openxmlformats.org/officeDocument/2006/relationships/image" Target="../media/image6.emf"/><Relationship Id="rId9" Type="http://schemas.openxmlformats.org/officeDocument/2006/relationships/oleObject" Target="../embeddings/oleObject10.bin"/><Relationship Id="rId14" Type="http://schemas.openxmlformats.org/officeDocument/2006/relationships/image" Target="../media/image11.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wmf"/><Relationship Id="rId5" Type="http://schemas.openxmlformats.org/officeDocument/2006/relationships/oleObject" Target="../embeddings/oleObject14.bin"/><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3" Type="http://schemas.openxmlformats.org/officeDocument/2006/relationships/image" Target="../media/image13.wmf"/><Relationship Id="rId7" Type="http://schemas.openxmlformats.org/officeDocument/2006/relationships/image" Target="../media/image15.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14.wmf"/><Relationship Id="rId4" Type="http://schemas.openxmlformats.org/officeDocument/2006/relationships/oleObject" Target="../embeddings/oleObject17.bin"/><Relationship Id="rId9"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oleObject" Target="../embeddings/oleObject19.bin"/><Relationship Id="rId1" Type="http://schemas.openxmlformats.org/officeDocument/2006/relationships/slideLayout" Target="../slideLayouts/slideLayout4.xml"/><Relationship Id="rId5" Type="http://schemas.openxmlformats.org/officeDocument/2006/relationships/image" Target="../media/image17.emf"/><Relationship Id="rId4" Type="http://schemas.openxmlformats.org/officeDocument/2006/relationships/oleObject" Target="../embeddings/oleObject20.bin"/></Relationships>
</file>

<file path=ppt/slides/_rels/slide1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3.wmf"/><Relationship Id="rId5" Type="http://schemas.openxmlformats.org/officeDocument/2006/relationships/oleObject" Target="../embeddings/oleObject24.bin"/><Relationship Id="rId4" Type="http://schemas.openxmlformats.org/officeDocument/2006/relationships/image" Target="../media/image22.wmf"/></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5.bin"/><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0.wmf"/><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0631F-BF06-8FC7-2F94-C7B5E4279699}"/>
              </a:ext>
            </a:extLst>
          </p:cNvPr>
          <p:cNvSpPr>
            <a:spLocks noGrp="1"/>
          </p:cNvSpPr>
          <p:nvPr>
            <p:ph type="ctrTitle"/>
          </p:nvPr>
        </p:nvSpPr>
        <p:spPr/>
        <p:txBody>
          <a:bodyPr/>
          <a:lstStyle/>
          <a:p>
            <a:r>
              <a:rPr lang="en-US" dirty="0"/>
              <a:t>Data Mining</a:t>
            </a:r>
          </a:p>
        </p:txBody>
      </p:sp>
      <p:sp>
        <p:nvSpPr>
          <p:cNvPr id="3" name="Subtitle 2">
            <a:extLst>
              <a:ext uri="{FF2B5EF4-FFF2-40B4-BE49-F238E27FC236}">
                <a16:creationId xmlns:a16="http://schemas.microsoft.com/office/drawing/2014/main" id="{C6FFB14D-B417-B53A-FC76-A74FB3DBB774}"/>
              </a:ext>
            </a:extLst>
          </p:cNvPr>
          <p:cNvSpPr>
            <a:spLocks noGrp="1"/>
          </p:cNvSpPr>
          <p:nvPr>
            <p:ph type="subTitle" idx="1"/>
          </p:nvPr>
        </p:nvSpPr>
        <p:spPr/>
        <p:txBody>
          <a:bodyPr/>
          <a:lstStyle/>
          <a:p>
            <a:r>
              <a:rPr lang="en-US" dirty="0"/>
              <a:t>Week4 Lecture 1 Part 3</a:t>
            </a:r>
          </a:p>
        </p:txBody>
      </p:sp>
    </p:spTree>
    <p:extLst>
      <p:ext uri="{BB962C8B-B14F-4D97-AF65-F5344CB8AC3E}">
        <p14:creationId xmlns:p14="http://schemas.microsoft.com/office/powerpoint/2010/main" val="1121371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p:cNvSpPr>
            <a:spLocks noGrp="1" noChangeArrowheads="1"/>
          </p:cNvSpPr>
          <p:nvPr>
            <p:ph type="title"/>
          </p:nvPr>
        </p:nvSpPr>
        <p:spPr/>
        <p:txBody>
          <a:bodyPr/>
          <a:lstStyle/>
          <a:p>
            <a:r>
              <a:rPr lang="en-US" altLang="en-US"/>
              <a:t>Support Vector Machines</a:t>
            </a:r>
          </a:p>
        </p:txBody>
      </p:sp>
      <p:sp>
        <p:nvSpPr>
          <p:cNvPr id="6146" name="Rectangle 4"/>
          <p:cNvSpPr>
            <a:spLocks noGrp="1" noChangeArrowheads="1"/>
          </p:cNvSpPr>
          <p:nvPr>
            <p:ph type="body" sz="half" idx="4294967295"/>
          </p:nvPr>
        </p:nvSpPr>
        <p:spPr>
          <a:xfrm>
            <a:off x="381000" y="5943600"/>
            <a:ext cx="8534400" cy="381000"/>
          </a:xfrm>
        </p:spPr>
        <p:txBody>
          <a:bodyPr/>
          <a:lstStyle/>
          <a:p>
            <a:pPr>
              <a:lnSpc>
                <a:spcPct val="90000"/>
              </a:lnSpc>
            </a:pPr>
            <a:r>
              <a:rPr lang="en-US" altLang="en-US" sz="2000" dirty="0"/>
              <a:t>Find a linear hyperplane (decision boundary) that will separate the data</a:t>
            </a:r>
          </a:p>
        </p:txBody>
      </p:sp>
      <p:graphicFrame>
        <p:nvGraphicFramePr>
          <p:cNvPr id="6147" name="Object 2"/>
          <p:cNvGraphicFramePr>
            <a:graphicFrameLocks noGrp="1" noChangeAspect="1"/>
          </p:cNvGraphicFramePr>
          <p:nvPr>
            <p:ph sz="half" idx="4294967295"/>
          </p:nvPr>
        </p:nvGraphicFramePr>
        <p:xfrm>
          <a:off x="2362200" y="1195388"/>
          <a:ext cx="4876800" cy="4602162"/>
        </p:xfrm>
        <a:graphic>
          <a:graphicData uri="http://schemas.openxmlformats.org/presentationml/2006/ole">
            <mc:AlternateContent xmlns:mc="http://schemas.openxmlformats.org/markup-compatibility/2006">
              <mc:Choice xmlns:v="urn:schemas-microsoft-com:vml" Requires="v">
                <p:oleObj name="Visio" r:id="rId3" imgW="7442200" imgH="7023100" progId="Visio.Drawing.6">
                  <p:embed/>
                </p:oleObj>
              </mc:Choice>
              <mc:Fallback>
                <p:oleObj name="Visio" r:id="rId3" imgW="7442200" imgH="7023100"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p:txBody>
          <a:bodyPr/>
          <a:lstStyle/>
          <a:p>
            <a:r>
              <a:rPr lang="en-US" altLang="en-US"/>
              <a:t>Support Vector Machines</a:t>
            </a:r>
          </a:p>
        </p:txBody>
      </p:sp>
      <p:sp>
        <p:nvSpPr>
          <p:cNvPr id="7170" name="Rectangle 3"/>
          <p:cNvSpPr>
            <a:spLocks noGrp="1" noChangeArrowheads="1"/>
          </p:cNvSpPr>
          <p:nvPr>
            <p:ph type="body" sz="half" idx="4294967295"/>
          </p:nvPr>
        </p:nvSpPr>
        <p:spPr>
          <a:xfrm>
            <a:off x="381000" y="5943600"/>
            <a:ext cx="8534400" cy="381000"/>
          </a:xfrm>
        </p:spPr>
        <p:txBody>
          <a:bodyPr/>
          <a:lstStyle/>
          <a:p>
            <a:pPr>
              <a:lnSpc>
                <a:spcPct val="90000"/>
              </a:lnSpc>
            </a:pPr>
            <a:r>
              <a:rPr lang="en-US" altLang="en-US" sz="2000"/>
              <a:t>One Possible Solution</a:t>
            </a:r>
          </a:p>
        </p:txBody>
      </p:sp>
      <p:graphicFrame>
        <p:nvGraphicFramePr>
          <p:cNvPr id="7171" name="Object 2"/>
          <p:cNvGraphicFramePr>
            <a:graphicFrameLocks noGrp="1" noChangeAspect="1"/>
          </p:cNvGraphicFramePr>
          <p:nvPr>
            <p:ph sz="half" idx="4294967295"/>
          </p:nvPr>
        </p:nvGraphicFramePr>
        <p:xfrm>
          <a:off x="2362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noChangeArrowheads="1"/>
          </p:cNvSpPr>
          <p:nvPr>
            <p:ph type="title"/>
          </p:nvPr>
        </p:nvSpPr>
        <p:spPr/>
        <p:txBody>
          <a:bodyPr/>
          <a:lstStyle/>
          <a:p>
            <a:r>
              <a:rPr lang="en-US" altLang="en-US"/>
              <a:t>Support Vector Machines</a:t>
            </a:r>
          </a:p>
        </p:txBody>
      </p:sp>
      <p:sp>
        <p:nvSpPr>
          <p:cNvPr id="8194" name="Rectangle 3"/>
          <p:cNvSpPr>
            <a:spLocks noGrp="1" noChangeArrowheads="1"/>
          </p:cNvSpPr>
          <p:nvPr>
            <p:ph type="body" sz="half" idx="4294967295"/>
          </p:nvPr>
        </p:nvSpPr>
        <p:spPr>
          <a:xfrm>
            <a:off x="381000" y="5943600"/>
            <a:ext cx="8534400" cy="381000"/>
          </a:xfrm>
        </p:spPr>
        <p:txBody>
          <a:bodyPr/>
          <a:lstStyle/>
          <a:p>
            <a:pPr>
              <a:lnSpc>
                <a:spcPct val="90000"/>
              </a:lnSpc>
            </a:pPr>
            <a:r>
              <a:rPr lang="en-US" altLang="en-US" sz="2000"/>
              <a:t>Another possible solution</a:t>
            </a:r>
          </a:p>
        </p:txBody>
      </p:sp>
      <p:graphicFrame>
        <p:nvGraphicFramePr>
          <p:cNvPr id="8195" name="Object 2"/>
          <p:cNvGraphicFramePr>
            <a:graphicFrameLocks noGrp="1" noChangeAspect="1"/>
          </p:cNvGraphicFramePr>
          <p:nvPr>
            <p:ph sz="half" idx="4294967295"/>
          </p:nvPr>
        </p:nvGraphicFramePr>
        <p:xfrm>
          <a:off x="2362200" y="118903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18903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2"/>
          <p:cNvSpPr>
            <a:spLocks noGrp="1" noChangeArrowheads="1"/>
          </p:cNvSpPr>
          <p:nvPr>
            <p:ph type="title"/>
          </p:nvPr>
        </p:nvSpPr>
        <p:spPr/>
        <p:txBody>
          <a:bodyPr/>
          <a:lstStyle/>
          <a:p>
            <a:r>
              <a:rPr lang="en-US" altLang="en-US"/>
              <a:t>Support Vector Machines</a:t>
            </a:r>
          </a:p>
        </p:txBody>
      </p:sp>
      <p:sp>
        <p:nvSpPr>
          <p:cNvPr id="9218" name="Rectangle 3"/>
          <p:cNvSpPr>
            <a:spLocks noGrp="1" noChangeArrowheads="1"/>
          </p:cNvSpPr>
          <p:nvPr>
            <p:ph type="body" sz="half" idx="4294967295"/>
          </p:nvPr>
        </p:nvSpPr>
        <p:spPr>
          <a:xfrm>
            <a:off x="381000" y="5943600"/>
            <a:ext cx="8534400" cy="381000"/>
          </a:xfrm>
        </p:spPr>
        <p:txBody>
          <a:bodyPr/>
          <a:lstStyle/>
          <a:p>
            <a:pPr>
              <a:lnSpc>
                <a:spcPct val="90000"/>
              </a:lnSpc>
            </a:pPr>
            <a:r>
              <a:rPr lang="en-US" altLang="en-US" sz="2000"/>
              <a:t>Other possible solutions</a:t>
            </a:r>
          </a:p>
        </p:txBody>
      </p:sp>
      <p:graphicFrame>
        <p:nvGraphicFramePr>
          <p:cNvPr id="9219" name="Object 2"/>
          <p:cNvGraphicFramePr>
            <a:graphicFrameLocks noGrp="1" noChangeAspect="1"/>
          </p:cNvGraphicFramePr>
          <p:nvPr>
            <p:ph sz="half" idx="4294967295"/>
          </p:nvPr>
        </p:nvGraphicFramePr>
        <p:xfrm>
          <a:off x="2362200" y="118903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18903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5797" name="Line 5"/>
          <p:cNvSpPr>
            <a:spLocks noChangeShapeType="1"/>
          </p:cNvSpPr>
          <p:nvPr/>
        </p:nvSpPr>
        <p:spPr bwMode="auto">
          <a:xfrm>
            <a:off x="2667000" y="2819400"/>
            <a:ext cx="4191000" cy="13716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798" name="Line 6"/>
          <p:cNvSpPr>
            <a:spLocks noChangeShapeType="1"/>
          </p:cNvSpPr>
          <p:nvPr/>
        </p:nvSpPr>
        <p:spPr bwMode="auto">
          <a:xfrm>
            <a:off x="2667000" y="2590800"/>
            <a:ext cx="4191000" cy="13716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799" name="Line 7"/>
          <p:cNvSpPr>
            <a:spLocks noChangeShapeType="1"/>
          </p:cNvSpPr>
          <p:nvPr/>
        </p:nvSpPr>
        <p:spPr bwMode="auto">
          <a:xfrm>
            <a:off x="2667000" y="2209800"/>
            <a:ext cx="4191000" cy="22098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800" name="Line 8"/>
          <p:cNvSpPr>
            <a:spLocks noChangeShapeType="1"/>
          </p:cNvSpPr>
          <p:nvPr/>
        </p:nvSpPr>
        <p:spPr bwMode="auto">
          <a:xfrm>
            <a:off x="2667000" y="2667000"/>
            <a:ext cx="4191000" cy="19050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
        <p:nvSpPr>
          <p:cNvPr id="1185801" name="Line 9"/>
          <p:cNvSpPr>
            <a:spLocks noChangeShapeType="1"/>
          </p:cNvSpPr>
          <p:nvPr/>
        </p:nvSpPr>
        <p:spPr bwMode="auto">
          <a:xfrm>
            <a:off x="2667000" y="2438400"/>
            <a:ext cx="4191000" cy="1600200"/>
          </a:xfrm>
          <a:prstGeom prst="line">
            <a:avLst/>
          </a:prstGeom>
          <a:noFill/>
          <a:ln w="19050">
            <a:solidFill>
              <a:srgbClr val="FF0000"/>
            </a:solidFill>
            <a:prstDash val="lgDash"/>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500"/>
                                  </p:stCondLst>
                                  <p:childTnLst>
                                    <p:set>
                                      <p:cBhvr>
                                        <p:cTn id="6" dur="1" fill="hold">
                                          <p:stCondLst>
                                            <p:cond delay="0"/>
                                          </p:stCondLst>
                                        </p:cTn>
                                        <p:tgtEl>
                                          <p:spTgt spid="1185798"/>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500"/>
                                  </p:stCondLst>
                                  <p:childTnLst>
                                    <p:set>
                                      <p:cBhvr>
                                        <p:cTn id="9" dur="1" fill="hold">
                                          <p:stCondLst>
                                            <p:cond delay="0"/>
                                          </p:stCondLst>
                                        </p:cTn>
                                        <p:tgtEl>
                                          <p:spTgt spid="1185799"/>
                                        </p:tgtEl>
                                        <p:attrNameLst>
                                          <p:attrName>style.visibility</p:attrName>
                                        </p:attrNameLst>
                                      </p:cBhvr>
                                      <p:to>
                                        <p:strVal val="visible"/>
                                      </p:to>
                                    </p:set>
                                  </p:childTnLst>
                                </p:cTn>
                              </p:par>
                            </p:childTnLst>
                          </p:cTn>
                        </p:par>
                        <p:par>
                          <p:cTn id="10" fill="hold" nodeType="afterGroup">
                            <p:stCondLst>
                              <p:cond delay="1000"/>
                            </p:stCondLst>
                            <p:childTnLst>
                              <p:par>
                                <p:cTn id="11" presetID="1" presetClass="entr" presetSubtype="0" fill="hold" nodeType="afterEffect">
                                  <p:stCondLst>
                                    <p:cond delay="500"/>
                                  </p:stCondLst>
                                  <p:childTnLst>
                                    <p:set>
                                      <p:cBhvr>
                                        <p:cTn id="12" dur="1" fill="hold">
                                          <p:stCondLst>
                                            <p:cond delay="0"/>
                                          </p:stCondLst>
                                        </p:cTn>
                                        <p:tgtEl>
                                          <p:spTgt spid="1185800"/>
                                        </p:tgtEl>
                                        <p:attrNameLst>
                                          <p:attrName>style.visibility</p:attrName>
                                        </p:attrNameLst>
                                      </p:cBhvr>
                                      <p:to>
                                        <p:strVal val="visible"/>
                                      </p:to>
                                    </p:set>
                                  </p:childTnLst>
                                </p:cTn>
                              </p:par>
                            </p:childTnLst>
                          </p:cTn>
                        </p:par>
                        <p:par>
                          <p:cTn id="13" fill="hold" nodeType="afterGroup">
                            <p:stCondLst>
                              <p:cond delay="1500"/>
                            </p:stCondLst>
                            <p:childTnLst>
                              <p:par>
                                <p:cTn id="14" presetID="1" presetClass="entr" presetSubtype="0" fill="hold" nodeType="afterEffect">
                                  <p:stCondLst>
                                    <p:cond delay="500"/>
                                  </p:stCondLst>
                                  <p:childTnLst>
                                    <p:set>
                                      <p:cBhvr>
                                        <p:cTn id="15" dur="1" fill="hold">
                                          <p:stCondLst>
                                            <p:cond delay="0"/>
                                          </p:stCondLst>
                                        </p:cTn>
                                        <p:tgtEl>
                                          <p:spTgt spid="1185797"/>
                                        </p:tgtEl>
                                        <p:attrNameLst>
                                          <p:attrName>style.visibility</p:attrName>
                                        </p:attrNameLst>
                                      </p:cBhvr>
                                      <p:to>
                                        <p:strVal val="visible"/>
                                      </p:to>
                                    </p:set>
                                  </p:childTnLst>
                                </p:cTn>
                              </p:par>
                            </p:childTnLst>
                          </p:cTn>
                        </p:par>
                        <p:par>
                          <p:cTn id="16" fill="hold" nodeType="afterGroup">
                            <p:stCondLst>
                              <p:cond delay="2000"/>
                            </p:stCondLst>
                            <p:childTnLst>
                              <p:par>
                                <p:cTn id="17" presetID="1" presetClass="entr" presetSubtype="0" fill="hold" nodeType="afterEffect">
                                  <p:stCondLst>
                                    <p:cond delay="500"/>
                                  </p:stCondLst>
                                  <p:childTnLst>
                                    <p:set>
                                      <p:cBhvr>
                                        <p:cTn id="18" dur="1" fill="hold">
                                          <p:stCondLst>
                                            <p:cond delay="0"/>
                                          </p:stCondLst>
                                        </p:cTn>
                                        <p:tgtEl>
                                          <p:spTgt spid="11858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ChangeArrowheads="1"/>
          </p:cNvSpPr>
          <p:nvPr>
            <p:ph type="title"/>
          </p:nvPr>
        </p:nvSpPr>
        <p:spPr/>
        <p:txBody>
          <a:bodyPr/>
          <a:lstStyle/>
          <a:p>
            <a:r>
              <a:rPr lang="en-US" altLang="en-US"/>
              <a:t>Support Vector Machines</a:t>
            </a:r>
          </a:p>
        </p:txBody>
      </p:sp>
      <p:sp>
        <p:nvSpPr>
          <p:cNvPr id="10242" name="Rectangle 3"/>
          <p:cNvSpPr>
            <a:spLocks noGrp="1" noChangeArrowheads="1"/>
          </p:cNvSpPr>
          <p:nvPr>
            <p:ph type="body" sz="half" idx="4294967295"/>
          </p:nvPr>
        </p:nvSpPr>
        <p:spPr>
          <a:xfrm>
            <a:off x="381000" y="5638800"/>
            <a:ext cx="8534400" cy="762000"/>
          </a:xfrm>
        </p:spPr>
        <p:txBody>
          <a:bodyPr/>
          <a:lstStyle/>
          <a:p>
            <a:pPr>
              <a:lnSpc>
                <a:spcPct val="90000"/>
              </a:lnSpc>
            </a:pPr>
            <a:r>
              <a:rPr lang="en-US" altLang="en-US" sz="2000"/>
              <a:t>Which one is better? B1 or B2?</a:t>
            </a:r>
          </a:p>
          <a:p>
            <a:pPr>
              <a:lnSpc>
                <a:spcPct val="90000"/>
              </a:lnSpc>
            </a:pPr>
            <a:r>
              <a:rPr lang="en-US" altLang="en-US" sz="2000"/>
              <a:t>How do you define better?</a:t>
            </a:r>
          </a:p>
        </p:txBody>
      </p:sp>
      <p:graphicFrame>
        <p:nvGraphicFramePr>
          <p:cNvPr id="10243" name="Object 2"/>
          <p:cNvGraphicFramePr>
            <a:graphicFrameLocks noGrp="1" noChangeAspect="1"/>
          </p:cNvGraphicFramePr>
          <p:nvPr>
            <p:ph sz="half" idx="4294967295"/>
          </p:nvPr>
        </p:nvGraphicFramePr>
        <p:xfrm>
          <a:off x="2362200" y="1195388"/>
          <a:ext cx="4876800" cy="4602162"/>
        </p:xfrm>
        <a:graphic>
          <a:graphicData uri="http://schemas.openxmlformats.org/presentationml/2006/ole">
            <mc:AlternateContent xmlns:mc="http://schemas.openxmlformats.org/markup-compatibility/2006">
              <mc:Choice xmlns:v="urn:schemas-microsoft-com:vml" Requires="v">
                <p:oleObj name="Visio" r:id="rId3" imgW="7442200" imgH="7023100" progId="Visio.Drawing.6">
                  <p:embed/>
                </p:oleObj>
              </mc:Choice>
              <mc:Fallback>
                <p:oleObj name="Visio" r:id="rId3" imgW="7442200" imgH="7023100"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p:cNvSpPr>
            <a:spLocks noGrp="1" noChangeArrowheads="1"/>
          </p:cNvSpPr>
          <p:nvPr>
            <p:ph type="title"/>
          </p:nvPr>
        </p:nvSpPr>
        <p:spPr/>
        <p:txBody>
          <a:bodyPr/>
          <a:lstStyle/>
          <a:p>
            <a:r>
              <a:rPr lang="en-US" altLang="en-US"/>
              <a:t>Support Vector Machines</a:t>
            </a:r>
          </a:p>
        </p:txBody>
      </p:sp>
      <p:sp>
        <p:nvSpPr>
          <p:cNvPr id="11266" name="Rectangle 3"/>
          <p:cNvSpPr>
            <a:spLocks noGrp="1" noChangeArrowheads="1"/>
          </p:cNvSpPr>
          <p:nvPr>
            <p:ph type="body" sz="half" idx="4294967295"/>
          </p:nvPr>
        </p:nvSpPr>
        <p:spPr>
          <a:xfrm>
            <a:off x="381000" y="5105400"/>
            <a:ext cx="8534400" cy="1219200"/>
          </a:xfrm>
        </p:spPr>
        <p:txBody>
          <a:bodyPr/>
          <a:lstStyle/>
          <a:p>
            <a:pPr>
              <a:lnSpc>
                <a:spcPct val="90000"/>
              </a:lnSpc>
            </a:pPr>
            <a:r>
              <a:rPr lang="en-US" altLang="en-US" sz="2000" dirty="0"/>
              <a:t>Find hyperplane </a:t>
            </a:r>
            <a:r>
              <a:rPr lang="en-US" altLang="en-US" sz="2000" dirty="0">
                <a:solidFill>
                  <a:srgbClr val="FF0000"/>
                </a:solidFill>
              </a:rPr>
              <a:t>maximizes</a:t>
            </a:r>
            <a:r>
              <a:rPr lang="en-US" altLang="en-US" sz="2000" dirty="0"/>
              <a:t> the margin =&gt; B1 is better than B2</a:t>
            </a:r>
          </a:p>
          <a:p>
            <a:pPr>
              <a:lnSpc>
                <a:spcPct val="90000"/>
              </a:lnSpc>
            </a:pPr>
            <a:r>
              <a:rPr lang="en-US" altLang="en-US" sz="2000" dirty="0"/>
              <a:t>Maximal margin Classifier</a:t>
            </a:r>
          </a:p>
        </p:txBody>
      </p:sp>
      <p:graphicFrame>
        <p:nvGraphicFramePr>
          <p:cNvPr id="11267" name="Object 2"/>
          <p:cNvGraphicFramePr>
            <a:graphicFrameLocks noGrp="1" noChangeAspect="1"/>
          </p:cNvGraphicFramePr>
          <p:nvPr>
            <p:ph sz="half" idx="4294967295"/>
            <p:extLst>
              <p:ext uri="{D42A27DB-BD31-4B8C-83A1-F6EECF244321}">
                <p14:modId xmlns:p14="http://schemas.microsoft.com/office/powerpoint/2010/main" val="3216701519"/>
              </p:ext>
            </p:extLst>
          </p:nvPr>
        </p:nvGraphicFramePr>
        <p:xfrm>
          <a:off x="4343400" y="739833"/>
          <a:ext cx="4303098" cy="4060768"/>
        </p:xfrm>
        <a:graphic>
          <a:graphicData uri="http://schemas.openxmlformats.org/presentationml/2006/ole">
            <mc:AlternateContent xmlns:mc="http://schemas.openxmlformats.org/markup-compatibility/2006">
              <mc:Choice xmlns:v="urn:schemas-microsoft-com:vml" Requires="v">
                <p:oleObj name="Visio" r:id="rId3" imgW="7442200" imgH="7023100" progId="Visio.Drawing.6">
                  <p:embed/>
                </p:oleObj>
              </mc:Choice>
              <mc:Fallback>
                <p:oleObj name="Visio" r:id="rId3" imgW="7442200" imgH="7023100"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739833"/>
                        <a:ext cx="4303098" cy="4060768"/>
                      </a:xfrm>
                      <a:prstGeom prst="rect">
                        <a:avLst/>
                      </a:prstGeom>
                      <a:noFill/>
                      <a:ln>
                        <a:noFill/>
                      </a:ln>
                      <a:effectLst/>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noChangeArrowheads="1"/>
          </p:cNvSpPr>
          <p:nvPr>
            <p:ph type="title"/>
          </p:nvPr>
        </p:nvSpPr>
        <p:spPr/>
        <p:txBody>
          <a:bodyPr/>
          <a:lstStyle/>
          <a:p>
            <a:r>
              <a:rPr lang="en-US" altLang="en-US"/>
              <a:t>Support Vector Machines</a:t>
            </a:r>
          </a:p>
        </p:txBody>
      </p:sp>
      <p:graphicFrame>
        <p:nvGraphicFramePr>
          <p:cNvPr id="12290" name="Object 2"/>
          <p:cNvGraphicFramePr>
            <a:graphicFrameLocks noGrp="1" noChangeAspect="1"/>
          </p:cNvGraphicFramePr>
          <p:nvPr>
            <p:ph sz="half" idx="4294967295"/>
          </p:nvPr>
        </p:nvGraphicFramePr>
        <p:xfrm>
          <a:off x="2362200" y="1195388"/>
          <a:ext cx="4876800" cy="4602162"/>
        </p:xfrm>
        <a:graphic>
          <a:graphicData uri="http://schemas.openxmlformats.org/presentationml/2006/ole">
            <mc:AlternateContent xmlns:mc="http://schemas.openxmlformats.org/markup-compatibility/2006">
              <mc:Choice xmlns:v="urn:schemas-microsoft-com:vml" Requires="v">
                <p:oleObj name="Visio" r:id="rId3" imgW="7442200" imgH="7023100" progId="Visio.Drawing.6">
                  <p:embed/>
                </p:oleObj>
              </mc:Choice>
              <mc:Fallback>
                <p:oleObj name="Visio" r:id="rId3" imgW="7442200" imgH="7023100" progId="Visio.Drawing.6">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1" name="Line 5"/>
          <p:cNvSpPr>
            <a:spLocks noChangeShapeType="1"/>
          </p:cNvSpPr>
          <p:nvPr/>
        </p:nvSpPr>
        <p:spPr bwMode="auto">
          <a:xfrm flipH="1">
            <a:off x="1828800" y="1905000"/>
            <a:ext cx="1219200" cy="7620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2" name="Object 3"/>
          <p:cNvGraphicFramePr>
            <a:graphicFrameLocks noGrp="1" noChangeAspect="1"/>
          </p:cNvGraphicFramePr>
          <p:nvPr>
            <p:ph idx="1"/>
          </p:nvPr>
        </p:nvGraphicFramePr>
        <p:xfrm>
          <a:off x="304800" y="2590800"/>
          <a:ext cx="1435100" cy="319088"/>
        </p:xfrm>
        <a:graphic>
          <a:graphicData uri="http://schemas.openxmlformats.org/presentationml/2006/ole">
            <mc:AlternateContent xmlns:mc="http://schemas.openxmlformats.org/markup-compatibility/2006">
              <mc:Choice xmlns:v="urn:schemas-microsoft-com:vml" Requires="v">
                <p:oleObj name="Equation" r:id="rId5" imgW="799753" imgH="177723" progId="Equation.3">
                  <p:embed/>
                </p:oleObj>
              </mc:Choice>
              <mc:Fallback>
                <p:oleObj name="Equation" r:id="rId5" imgW="799753" imgH="177723"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590800"/>
                        <a:ext cx="1435100"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3" name="Line 8"/>
          <p:cNvSpPr>
            <a:spLocks noChangeShapeType="1"/>
          </p:cNvSpPr>
          <p:nvPr/>
        </p:nvSpPr>
        <p:spPr bwMode="auto">
          <a:xfrm flipH="1">
            <a:off x="1828800" y="2438400"/>
            <a:ext cx="1295400" cy="823913"/>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4" name="Object 4"/>
          <p:cNvGraphicFramePr>
            <a:graphicFrameLocks noChangeAspect="1"/>
          </p:cNvGraphicFramePr>
          <p:nvPr/>
        </p:nvGraphicFramePr>
        <p:xfrm>
          <a:off x="236538" y="3186113"/>
          <a:ext cx="1571625" cy="319087"/>
        </p:xfrm>
        <a:graphic>
          <a:graphicData uri="http://schemas.openxmlformats.org/presentationml/2006/ole">
            <mc:AlternateContent xmlns:mc="http://schemas.openxmlformats.org/markup-compatibility/2006">
              <mc:Choice xmlns:v="urn:schemas-microsoft-com:vml" Requires="v">
                <p:oleObj name="Equation" r:id="rId7" imgW="875920" imgH="177723" progId="Equation.3">
                  <p:embed/>
                </p:oleObj>
              </mc:Choice>
              <mc:Fallback>
                <p:oleObj name="Equation" r:id="rId7" imgW="875920" imgH="177723"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538" y="3186113"/>
                        <a:ext cx="1571625" cy="319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295" name="Line 10"/>
          <p:cNvSpPr>
            <a:spLocks noChangeShapeType="1"/>
          </p:cNvSpPr>
          <p:nvPr/>
        </p:nvSpPr>
        <p:spPr bwMode="auto">
          <a:xfrm flipV="1">
            <a:off x="6324600" y="3505200"/>
            <a:ext cx="1219200" cy="7762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12296" name="Object 5"/>
          <p:cNvGraphicFramePr>
            <a:graphicFrameLocks noChangeAspect="1"/>
          </p:cNvGraphicFramePr>
          <p:nvPr/>
        </p:nvGraphicFramePr>
        <p:xfrm>
          <a:off x="7267575" y="3048000"/>
          <a:ext cx="1571625" cy="319088"/>
        </p:xfrm>
        <a:graphic>
          <a:graphicData uri="http://schemas.openxmlformats.org/presentationml/2006/ole">
            <mc:AlternateContent xmlns:mc="http://schemas.openxmlformats.org/markup-compatibility/2006">
              <mc:Choice xmlns:v="urn:schemas-microsoft-com:vml" Requires="v">
                <p:oleObj name="Equation" r:id="rId9" imgW="875920" imgH="177723" progId="Equation.3">
                  <p:embed/>
                </p:oleObj>
              </mc:Choice>
              <mc:Fallback>
                <p:oleObj name="Equation" r:id="rId9" imgW="875920" imgH="177723"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67575" y="3048000"/>
                        <a:ext cx="1571625" cy="319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297" name="Object 6"/>
          <p:cNvGraphicFramePr>
            <a:graphicFrameLocks noChangeAspect="1"/>
          </p:cNvGraphicFramePr>
          <p:nvPr/>
        </p:nvGraphicFramePr>
        <p:xfrm>
          <a:off x="165100" y="5562600"/>
          <a:ext cx="3937000" cy="839788"/>
        </p:xfrm>
        <a:graphic>
          <a:graphicData uri="http://schemas.openxmlformats.org/presentationml/2006/ole">
            <mc:AlternateContent xmlns:mc="http://schemas.openxmlformats.org/markup-compatibility/2006">
              <mc:Choice xmlns:v="urn:schemas-microsoft-com:vml" Requires="v">
                <p:oleObj name="Equation" r:id="rId11" imgW="1879600" imgH="457200" progId="Equation.3">
                  <p:embed/>
                </p:oleObj>
              </mc:Choice>
              <mc:Fallback>
                <p:oleObj name="Equation" r:id="rId11" imgW="1879600" imgH="457200"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5100" y="5562600"/>
                        <a:ext cx="393700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298" name="Object 7"/>
          <p:cNvGraphicFramePr>
            <a:graphicFrameLocks noChangeAspect="1"/>
          </p:cNvGraphicFramePr>
          <p:nvPr/>
        </p:nvGraphicFramePr>
        <p:xfrm>
          <a:off x="7107238" y="5575300"/>
          <a:ext cx="1684337" cy="752475"/>
        </p:xfrm>
        <a:graphic>
          <a:graphicData uri="http://schemas.openxmlformats.org/presentationml/2006/ole">
            <mc:AlternateContent xmlns:mc="http://schemas.openxmlformats.org/markup-compatibility/2006">
              <mc:Choice xmlns:v="urn:schemas-microsoft-com:vml" Requires="v">
                <p:oleObj name="Equation" r:id="rId13" imgW="939800" imgH="419100" progId="Equation.3">
                  <p:embed/>
                </p:oleObj>
              </mc:Choice>
              <mc:Fallback>
                <p:oleObj name="Equation" r:id="rId13" imgW="939800" imgH="419100" progId="Equation.3">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07238" y="5575300"/>
                        <a:ext cx="1684337"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BEBCE-F4A5-058C-002B-0EFBCAA898B6}"/>
              </a:ext>
            </a:extLst>
          </p:cNvPr>
          <p:cNvSpPr>
            <a:spLocks noGrp="1"/>
          </p:cNvSpPr>
          <p:nvPr>
            <p:ph type="title"/>
          </p:nvPr>
        </p:nvSpPr>
        <p:spPr/>
        <p:txBody>
          <a:bodyPr/>
          <a:lstStyle/>
          <a:p>
            <a:r>
              <a:rPr lang="en-US" dirty="0"/>
              <a:t>SVM Applications</a:t>
            </a:r>
          </a:p>
        </p:txBody>
      </p:sp>
      <p:sp>
        <p:nvSpPr>
          <p:cNvPr id="3" name="Content Placeholder 2">
            <a:extLst>
              <a:ext uri="{FF2B5EF4-FFF2-40B4-BE49-F238E27FC236}">
                <a16:creationId xmlns:a16="http://schemas.microsoft.com/office/drawing/2014/main" id="{7D6C3E41-41C2-ED4D-4870-2D6255DFF7DB}"/>
              </a:ext>
            </a:extLst>
          </p:cNvPr>
          <p:cNvSpPr>
            <a:spLocks noGrp="1"/>
          </p:cNvSpPr>
          <p:nvPr>
            <p:ph idx="1"/>
          </p:nvPr>
        </p:nvSpPr>
        <p:spPr/>
        <p:txBody>
          <a:bodyPr/>
          <a:lstStyle/>
          <a:p>
            <a:r>
              <a:rPr lang="en-US" b="0" i="0" dirty="0">
                <a:solidFill>
                  <a:srgbClr val="000000"/>
                </a:solidFill>
                <a:effectLst/>
                <a:latin typeface="Raleway" pitchFamily="2" charset="0"/>
              </a:rPr>
              <a:t>In its most simple type, SVM doesn’t support multiclass classification natively. It supports binary classification and separating data points into two classes. For multiclass classification, the same principle is utilized after breaking down the multiclassification problem into multiple binary classification problems.</a:t>
            </a:r>
            <a:endParaRPr lang="en-US" dirty="0"/>
          </a:p>
        </p:txBody>
      </p:sp>
    </p:spTree>
    <p:extLst>
      <p:ext uri="{BB962C8B-B14F-4D97-AF65-F5344CB8AC3E}">
        <p14:creationId xmlns:p14="http://schemas.microsoft.com/office/powerpoint/2010/main" val="1384494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title"/>
          </p:nvPr>
        </p:nvSpPr>
        <p:spPr/>
        <p:txBody>
          <a:bodyPr/>
          <a:lstStyle/>
          <a:p>
            <a:r>
              <a:rPr lang="en-US" altLang="en-US"/>
              <a:t>Linear SVM</a:t>
            </a:r>
          </a:p>
        </p:txBody>
      </p:sp>
      <p:sp>
        <p:nvSpPr>
          <p:cNvPr id="13314" name="Rectangle 3"/>
          <p:cNvSpPr>
            <a:spLocks noGrp="1" noChangeArrowheads="1"/>
          </p:cNvSpPr>
          <p:nvPr>
            <p:ph type="body" idx="1"/>
          </p:nvPr>
        </p:nvSpPr>
        <p:spPr/>
        <p:txBody>
          <a:bodyPr/>
          <a:lstStyle/>
          <a:p>
            <a:r>
              <a:rPr lang="en-US" altLang="en-US"/>
              <a:t>Linear model: </a:t>
            </a:r>
          </a:p>
          <a:p>
            <a:endParaRPr lang="en-US" altLang="en-US"/>
          </a:p>
          <a:p>
            <a:endParaRPr lang="en-US" altLang="en-US"/>
          </a:p>
          <a:p>
            <a:endParaRPr lang="en-US" altLang="en-US"/>
          </a:p>
          <a:p>
            <a:r>
              <a:rPr lang="en-US" altLang="en-US"/>
              <a:t>Learning the model is equivalent to determining the values of </a:t>
            </a:r>
          </a:p>
          <a:p>
            <a:pPr lvl="1"/>
            <a:r>
              <a:rPr lang="en-US" altLang="en-US"/>
              <a:t>How to find             from training data?</a:t>
            </a:r>
          </a:p>
        </p:txBody>
      </p:sp>
      <p:graphicFrame>
        <p:nvGraphicFramePr>
          <p:cNvPr id="13315" name="Object 2"/>
          <p:cNvGraphicFramePr>
            <a:graphicFrameLocks noGrp="1" noChangeAspect="1"/>
          </p:cNvGraphicFramePr>
          <p:nvPr>
            <p:ph sz="half" idx="4294967295"/>
          </p:nvPr>
        </p:nvGraphicFramePr>
        <p:xfrm>
          <a:off x="1524000" y="1905000"/>
          <a:ext cx="3505200" cy="852488"/>
        </p:xfrm>
        <a:graphic>
          <a:graphicData uri="http://schemas.openxmlformats.org/presentationml/2006/ole">
            <mc:AlternateContent xmlns:mc="http://schemas.openxmlformats.org/markup-compatibility/2006">
              <mc:Choice xmlns:v="urn:schemas-microsoft-com:vml" Requires="v">
                <p:oleObj name="Equation" r:id="rId3" imgW="1879600" imgH="457200" progId="Equation.3">
                  <p:embed/>
                </p:oleObj>
              </mc:Choice>
              <mc:Fallback>
                <p:oleObj name="Equation" r:id="rId3" imgW="1879600" imgH="4572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1905000"/>
                        <a:ext cx="3505200" cy="852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6" name="Object 3"/>
          <p:cNvGraphicFramePr>
            <a:graphicFrameLocks noGrp="1" noChangeAspect="1"/>
          </p:cNvGraphicFramePr>
          <p:nvPr>
            <p:ph sz="half" idx="4294967295"/>
          </p:nvPr>
        </p:nvGraphicFramePr>
        <p:xfrm>
          <a:off x="2895600" y="3733800"/>
          <a:ext cx="1295400" cy="420688"/>
        </p:xfrm>
        <a:graphic>
          <a:graphicData uri="http://schemas.openxmlformats.org/presentationml/2006/ole">
            <mc:AlternateContent xmlns:mc="http://schemas.openxmlformats.org/markup-compatibility/2006">
              <mc:Choice xmlns:v="urn:schemas-microsoft-com:vml" Requires="v">
                <p:oleObj name="Equation" r:id="rId5" imgW="545626" imgH="177646" progId="Equation.3">
                  <p:embed/>
                </p:oleObj>
              </mc:Choice>
              <mc:Fallback>
                <p:oleObj name="Equation" r:id="rId5" imgW="545626" imgH="177646"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3733800"/>
                        <a:ext cx="1295400"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317" name="Object 4"/>
          <p:cNvGraphicFramePr>
            <a:graphicFrameLocks noGrp="1" noChangeAspect="1"/>
          </p:cNvGraphicFramePr>
          <p:nvPr>
            <p:ph sz="half" idx="4294967295"/>
          </p:nvPr>
        </p:nvGraphicFramePr>
        <p:xfrm>
          <a:off x="3124200" y="4227513"/>
          <a:ext cx="1295400" cy="420687"/>
        </p:xfrm>
        <a:graphic>
          <a:graphicData uri="http://schemas.openxmlformats.org/presentationml/2006/ole">
            <mc:AlternateContent xmlns:mc="http://schemas.openxmlformats.org/markup-compatibility/2006">
              <mc:Choice xmlns:v="urn:schemas-microsoft-com:vml" Requires="v">
                <p:oleObj name="Equation" r:id="rId7" imgW="545626" imgH="177646" progId="Equation.3">
                  <p:embed/>
                </p:oleObj>
              </mc:Choice>
              <mc:Fallback>
                <p:oleObj name="Equation" r:id="rId7" imgW="545626" imgH="17764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4227513"/>
                        <a:ext cx="12954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p:cNvSpPr>
            <a:spLocks noGrp="1" noChangeArrowheads="1"/>
          </p:cNvSpPr>
          <p:nvPr>
            <p:ph type="title"/>
          </p:nvPr>
        </p:nvSpPr>
        <p:spPr/>
        <p:txBody>
          <a:bodyPr/>
          <a:lstStyle/>
          <a:p>
            <a:r>
              <a:rPr lang="en-US" altLang="en-US"/>
              <a:t>Learning Linear SVM</a:t>
            </a:r>
          </a:p>
        </p:txBody>
      </p:sp>
      <p:sp>
        <p:nvSpPr>
          <p:cNvPr id="14338" name="Rectangle 7"/>
          <p:cNvSpPr>
            <a:spLocks noGrp="1" noChangeArrowheads="1"/>
          </p:cNvSpPr>
          <p:nvPr>
            <p:ph type="body" idx="1"/>
          </p:nvPr>
        </p:nvSpPr>
        <p:spPr/>
        <p:txBody>
          <a:bodyPr/>
          <a:lstStyle/>
          <a:p>
            <a:r>
              <a:rPr lang="en-US" altLang="en-US" dirty="0"/>
              <a:t>Objective is to maximize:</a:t>
            </a:r>
          </a:p>
          <a:p>
            <a:endParaRPr lang="en-US" altLang="en-US" dirty="0"/>
          </a:p>
          <a:p>
            <a:pPr lvl="1"/>
            <a:r>
              <a:rPr lang="en-US" altLang="en-US" dirty="0"/>
              <a:t>Which is equivalent to minimizing:</a:t>
            </a:r>
          </a:p>
          <a:p>
            <a:pPr lvl="1"/>
            <a:r>
              <a:rPr lang="en-US" altLang="en-US" dirty="0"/>
              <a:t>Subject to the following constraints:</a:t>
            </a:r>
          </a:p>
          <a:p>
            <a:pPr lvl="1"/>
            <a:endParaRPr lang="en-US" altLang="en-US" dirty="0"/>
          </a:p>
          <a:p>
            <a:pPr lvl="1"/>
            <a:endParaRPr lang="en-US" altLang="en-US" dirty="0"/>
          </a:p>
          <a:p>
            <a:pPr lvl="1">
              <a:buFont typeface="Arial" panose="020B0604020202020204" pitchFamily="34" charset="0"/>
              <a:buNone/>
            </a:pPr>
            <a:r>
              <a:rPr lang="en-US" altLang="en-US" dirty="0"/>
              <a:t>   or</a:t>
            </a:r>
          </a:p>
          <a:p>
            <a:pPr lvl="1">
              <a:buFont typeface="Arial" panose="020B0604020202020204" pitchFamily="34" charset="0"/>
              <a:buNone/>
            </a:pPr>
            <a:endParaRPr lang="en-US" altLang="en-US" dirty="0"/>
          </a:p>
          <a:p>
            <a:pPr lvl="2"/>
            <a:r>
              <a:rPr lang="en-US" altLang="en-US" dirty="0"/>
              <a:t> This is a constrained optimization problem</a:t>
            </a:r>
          </a:p>
          <a:p>
            <a:pPr lvl="3"/>
            <a:r>
              <a:rPr lang="en-US" altLang="en-US" dirty="0"/>
              <a:t>Solve it using Lagrange multiplier method</a:t>
            </a:r>
          </a:p>
        </p:txBody>
      </p:sp>
      <p:graphicFrame>
        <p:nvGraphicFramePr>
          <p:cNvPr id="14339" name="Object 2"/>
          <p:cNvGraphicFramePr>
            <a:graphicFrameLocks noChangeAspect="1"/>
          </p:cNvGraphicFramePr>
          <p:nvPr/>
        </p:nvGraphicFramePr>
        <p:xfrm>
          <a:off x="4876800" y="990600"/>
          <a:ext cx="2141538" cy="955675"/>
        </p:xfrm>
        <a:graphic>
          <a:graphicData uri="http://schemas.openxmlformats.org/presentationml/2006/ole">
            <mc:AlternateContent xmlns:mc="http://schemas.openxmlformats.org/markup-compatibility/2006">
              <mc:Choice xmlns:v="urn:schemas-microsoft-com:vml" Requires="v">
                <p:oleObj name="Equation" r:id="rId2" imgW="939800" imgH="419100" progId="Equation.3">
                  <p:embed/>
                </p:oleObj>
              </mc:Choice>
              <mc:Fallback>
                <p:oleObj name="Equation" r:id="rId2" imgW="939800" imgH="4191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990600"/>
                        <a:ext cx="2141538"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340" name="Object 3"/>
          <p:cNvGraphicFramePr>
            <a:graphicFrameLocks noChangeAspect="1"/>
          </p:cNvGraphicFramePr>
          <p:nvPr/>
        </p:nvGraphicFramePr>
        <p:xfrm>
          <a:off x="1981200" y="3276600"/>
          <a:ext cx="4267200" cy="1008063"/>
        </p:xfrm>
        <a:graphic>
          <a:graphicData uri="http://schemas.openxmlformats.org/presentationml/2006/ole">
            <mc:AlternateContent xmlns:mc="http://schemas.openxmlformats.org/markup-compatibility/2006">
              <mc:Choice xmlns:v="urn:schemas-microsoft-com:vml" Requires="v">
                <p:oleObj name="Equation" r:id="rId4" imgW="1790700" imgH="482600" progId="Equation.3">
                  <p:embed/>
                </p:oleObj>
              </mc:Choice>
              <mc:Fallback>
                <p:oleObj name="Equation" r:id="rId4" imgW="1790700" imgH="482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276600"/>
                        <a:ext cx="4267200"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341" name="Object 4"/>
          <p:cNvGraphicFramePr>
            <a:graphicFrameLocks noChangeAspect="1"/>
          </p:cNvGraphicFramePr>
          <p:nvPr/>
        </p:nvGraphicFramePr>
        <p:xfrm>
          <a:off x="6858000" y="1939925"/>
          <a:ext cx="1938338" cy="955675"/>
        </p:xfrm>
        <a:graphic>
          <a:graphicData uri="http://schemas.openxmlformats.org/presentationml/2006/ole">
            <mc:AlternateContent xmlns:mc="http://schemas.openxmlformats.org/markup-compatibility/2006">
              <mc:Choice xmlns:v="urn:schemas-microsoft-com:vml" Requires="v">
                <p:oleObj name="Equation" r:id="rId6" imgW="850531" imgH="418918" progId="Equation.3">
                  <p:embed/>
                </p:oleObj>
              </mc:Choice>
              <mc:Fallback>
                <p:oleObj name="Equation" r:id="rId6" imgW="850531" imgH="418918"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0" y="1939925"/>
                        <a:ext cx="1938338" cy="955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mc:AlternateContent xmlns:mc="http://schemas.openxmlformats.org/markup-compatibility/2006" xmlns:a14="http://schemas.microsoft.com/office/drawing/2010/main">
        <mc:Choice Requires="a14">
          <p:sp>
            <p:nvSpPr>
              <p:cNvPr id="14342" name="Object 5"/>
              <p:cNvSpPr txBox="1">
                <a:spLocks noGrp="1"/>
              </p:cNvSpPr>
              <p:nvPr>
                <p:ph sz="half" idx="4294967295"/>
              </p:nvPr>
            </p:nvSpPr>
            <p:spPr bwMode="auto">
              <a:xfrm>
                <a:off x="1981200" y="4527550"/>
                <a:ext cx="4724400" cy="577850"/>
              </a:xfrm>
              <a:prstGeom prst="rect">
                <a:avLst/>
              </a:prstGeom>
              <a:noFill/>
              <a:ln>
                <a:noFill/>
              </a:ln>
              <a:effectLst/>
            </p:spPr>
            <p:txBody>
              <a:bodyPr>
                <a:normAutofit fontScale="92500"/>
              </a:bodyPr>
              <a:lstStyle/>
              <a:p>
                <a:pPr>
                  <a:buNone/>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𝑦</m:t>
                          </m:r>
                        </m:e>
                        <m:sub>
                          <m:r>
                            <a:rPr lang="en-US" sz="2400" i="1">
                              <a:solidFill>
                                <a:srgbClr val="000000"/>
                              </a:solidFill>
                              <a:latin typeface="Cambria Math" panose="02040503050406030204" pitchFamily="18" charset="0"/>
                            </a:rPr>
                            <m:t>𝑖</m:t>
                          </m:r>
                        </m:sub>
                      </m:sSub>
                      <m:r>
                        <a:rPr lang="en-US" sz="2400" i="1">
                          <a:solidFill>
                            <a:srgbClr val="000000"/>
                          </a:solidFill>
                          <a:latin typeface="Cambria Math" panose="02040503050406030204" pitchFamily="18" charset="0"/>
                        </a:rPr>
                        <m:t>(</m:t>
                      </m:r>
                      <m:r>
                        <m:rPr>
                          <m:sty m:val="p"/>
                        </m:rPr>
                        <a:rPr lang="en-US" sz="2400" i="1">
                          <a:solidFill>
                            <a:srgbClr val="000000"/>
                          </a:solidFill>
                          <a:latin typeface="Cambria Math" panose="02040503050406030204" pitchFamily="18" charset="0"/>
                        </a:rPr>
                        <m:t>w</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m:rPr>
                              <m:sty m:val="p"/>
                            </m:rPr>
                            <a:rPr lang="en-US" sz="2400" i="1">
                              <a:solidFill>
                                <a:srgbClr val="000000"/>
                              </a:solidFill>
                              <a:latin typeface="Cambria Math" panose="02040503050406030204" pitchFamily="18" charset="0"/>
                            </a:rPr>
                            <m:t>x</m:t>
                          </m:r>
                        </m:e>
                        <m:sub>
                          <m:r>
                            <a:rPr lang="en-US" sz="2400" i="1">
                              <a:solidFill>
                                <a:srgbClr val="000000"/>
                              </a:solidFill>
                              <a:latin typeface="Cambria Math" panose="02040503050406030204" pitchFamily="18" charset="0"/>
                            </a:rPr>
                            <m:t>𝑖</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𝑏</m:t>
                      </m:r>
                      <m:r>
                        <a:rPr lang="en-US" sz="2400" i="1">
                          <a:solidFill>
                            <a:srgbClr val="000000"/>
                          </a:solidFill>
                          <a:latin typeface="Cambria Math" panose="02040503050406030204" pitchFamily="18" charset="0"/>
                        </a:rPr>
                        <m:t>)≥1,</m:t>
                      </m:r>
                      <m:r>
                        <m:rPr>
                          <m:nor/>
                        </m:rPr>
                        <a:rPr lang="en-US" sz="2400" i="0">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𝑖</m:t>
                      </m:r>
                      <m:r>
                        <a:rPr lang="en-US" sz="2400" i="1">
                          <a:solidFill>
                            <a:srgbClr val="000000"/>
                          </a:solidFill>
                          <a:latin typeface="Cambria Math" panose="02040503050406030204" pitchFamily="18" charset="0"/>
                        </a:rPr>
                        <m:t>=1,2,...,</m:t>
                      </m:r>
                      <m:r>
                        <a:rPr lang="en-US" sz="2400" i="1">
                          <a:solidFill>
                            <a:srgbClr val="000000"/>
                          </a:solidFill>
                          <a:latin typeface="Cambria Math" panose="02040503050406030204" pitchFamily="18" charset="0"/>
                        </a:rPr>
                        <m:t>𝑁</m:t>
                      </m:r>
                    </m:oMath>
                  </m:oMathPara>
                </a14:m>
                <a:endParaRPr lang="en-US" sz="2400" dirty="0"/>
              </a:p>
            </p:txBody>
          </p:sp>
        </mc:Choice>
        <mc:Fallback xmlns="">
          <p:sp>
            <p:nvSpPr>
              <p:cNvPr id="14342" name="Object 5"/>
              <p:cNvSpPr txBox="1">
                <a:spLocks noRot="1" noChangeAspect="1" noMove="1" noResize="1" noEditPoints="1" noAdjustHandles="1" noChangeArrowheads="1" noChangeShapeType="1" noTextEdit="1"/>
              </p:cNvSpPr>
              <p:nvPr>
                <p:ph sz="half" idx="4294967295"/>
              </p:nvPr>
            </p:nvSpPr>
            <p:spPr bwMode="auto">
              <a:xfrm>
                <a:off x="1981200" y="4527550"/>
                <a:ext cx="4724400" cy="577850"/>
              </a:xfrm>
              <a:prstGeom prst="rect">
                <a:avLst/>
              </a:prstGeom>
              <a:blipFill>
                <a:blip r:embed="rId9"/>
                <a:stretch>
                  <a:fillRect/>
                </a:stretch>
              </a:blipFill>
              <a:ln>
                <a:noFill/>
              </a:ln>
              <a:effectLst/>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p:txBody>
          <a:bodyPr/>
          <a:lstStyle/>
          <a:p>
            <a:r>
              <a:rPr lang="en-US" altLang="en-US"/>
              <a:t>Example of Linear SVM</a:t>
            </a:r>
          </a:p>
        </p:txBody>
      </p:sp>
      <p:graphicFrame>
        <p:nvGraphicFramePr>
          <p:cNvPr id="15362" name="Object 2"/>
          <p:cNvGraphicFramePr>
            <a:graphicFrameLocks noGrp="1" noChangeAspect="1"/>
          </p:cNvGraphicFramePr>
          <p:nvPr>
            <p:ph sz="half" idx="1"/>
          </p:nvPr>
        </p:nvGraphicFramePr>
        <p:xfrm>
          <a:off x="4876800" y="3581400"/>
          <a:ext cx="4038600" cy="2339975"/>
        </p:xfrm>
        <a:graphic>
          <a:graphicData uri="http://schemas.openxmlformats.org/presentationml/2006/ole">
            <mc:AlternateContent xmlns:mc="http://schemas.openxmlformats.org/markup-compatibility/2006">
              <mc:Choice xmlns:v="urn:schemas-microsoft-com:vml" Requires="v">
                <p:oleObj name="Visio" r:id="rId2" imgW="4051300" imgH="2349500" progId="Visio.Drawing.6">
                  <p:embed/>
                </p:oleObj>
              </mc:Choice>
              <mc:Fallback>
                <p:oleObj name="Visio" r:id="rId2" imgW="4051300" imgH="23495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3581400"/>
                        <a:ext cx="4038600" cy="233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3" name="Object 3"/>
          <p:cNvGraphicFramePr>
            <a:graphicFrameLocks noGrp="1" noChangeAspect="1"/>
          </p:cNvGraphicFramePr>
          <p:nvPr>
            <p:ph sz="half" idx="2"/>
          </p:nvPr>
        </p:nvGraphicFramePr>
        <p:xfrm>
          <a:off x="228600" y="990600"/>
          <a:ext cx="4648200" cy="3598863"/>
        </p:xfrm>
        <a:graphic>
          <a:graphicData uri="http://schemas.openxmlformats.org/presentationml/2006/ole">
            <mc:AlternateContent xmlns:mc="http://schemas.openxmlformats.org/markup-compatibility/2006">
              <mc:Choice xmlns:v="urn:schemas-microsoft-com:vml" Requires="v">
                <p:oleObj name="Visio" r:id="rId4" imgW="6350000" imgH="4673600" progId="Visio.Drawing.6">
                  <p:embed/>
                </p:oleObj>
              </mc:Choice>
              <mc:Fallback>
                <p:oleObj name="Visio" r:id="rId4" imgW="6350000" imgH="4673600" progId="Visio.Drawing.6">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2985" t="4062" r="5971"/>
                      <a:stretch>
                        <a:fillRect/>
                      </a:stretch>
                    </p:blipFill>
                    <p:spPr bwMode="auto">
                      <a:xfrm>
                        <a:off x="228600" y="990600"/>
                        <a:ext cx="4648200" cy="3598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364" name="Oval 11"/>
          <p:cNvSpPr>
            <a:spLocks noChangeArrowheads="1"/>
          </p:cNvSpPr>
          <p:nvPr/>
        </p:nvSpPr>
        <p:spPr bwMode="auto">
          <a:xfrm>
            <a:off x="7924800" y="3886200"/>
            <a:ext cx="1066800" cy="609600"/>
          </a:xfrm>
          <a:prstGeom prst="ellipse">
            <a:avLst/>
          </a:prstGeom>
          <a:noFill/>
          <a:ln w="317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5365" name="Line 12"/>
          <p:cNvSpPr>
            <a:spLocks noChangeShapeType="1"/>
          </p:cNvSpPr>
          <p:nvPr/>
        </p:nvSpPr>
        <p:spPr bwMode="auto">
          <a:xfrm flipH="1" flipV="1">
            <a:off x="7924800" y="2667000"/>
            <a:ext cx="304800" cy="1219200"/>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5366" name="Text Box 13"/>
          <p:cNvSpPr txBox="1">
            <a:spLocks noChangeArrowheads="1"/>
          </p:cNvSpPr>
          <p:nvPr/>
        </p:nvSpPr>
        <p:spPr bwMode="auto">
          <a:xfrm>
            <a:off x="6324600" y="2286000"/>
            <a:ext cx="2438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a:t>Support vectors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ChangeArrowheads="1"/>
          </p:cNvSpPr>
          <p:nvPr>
            <p:ph type="title"/>
          </p:nvPr>
        </p:nvSpPr>
        <p:spPr/>
        <p:txBody>
          <a:bodyPr/>
          <a:lstStyle/>
          <a:p>
            <a:r>
              <a:rPr lang="en-US" altLang="en-US"/>
              <a:t>Learning Linear SVM</a:t>
            </a:r>
          </a:p>
        </p:txBody>
      </p:sp>
      <p:sp>
        <p:nvSpPr>
          <p:cNvPr id="16386" name="Rectangle 3"/>
          <p:cNvSpPr>
            <a:spLocks noGrp="1" noChangeArrowheads="1"/>
          </p:cNvSpPr>
          <p:nvPr>
            <p:ph type="body" idx="1"/>
          </p:nvPr>
        </p:nvSpPr>
        <p:spPr/>
        <p:txBody>
          <a:bodyPr/>
          <a:lstStyle/>
          <a:p>
            <a:r>
              <a:rPr lang="en-US" altLang="en-US"/>
              <a:t>Decision boundary depends only on support vectors</a:t>
            </a:r>
          </a:p>
          <a:p>
            <a:pPr lvl="1"/>
            <a:r>
              <a:rPr lang="en-US" altLang="en-US"/>
              <a:t> If you have data set with same support vectors, decision boundary will not change</a:t>
            </a:r>
          </a:p>
          <a:p>
            <a:pPr lvl="2"/>
            <a:endParaRPr lang="en-US" altLang="en-US"/>
          </a:p>
          <a:p>
            <a:pPr lvl="1"/>
            <a:r>
              <a:rPr lang="en-US" altLang="en-US"/>
              <a:t>How to classify using SVM once </a:t>
            </a:r>
            <a:r>
              <a:rPr lang="en-US" altLang="en-US" b="1"/>
              <a:t>w</a:t>
            </a:r>
            <a:r>
              <a:rPr lang="en-US" altLang="en-US"/>
              <a:t> and </a:t>
            </a:r>
            <a:r>
              <a:rPr lang="en-US" altLang="en-US" i="1"/>
              <a:t>b</a:t>
            </a:r>
            <a:r>
              <a:rPr lang="en-US" altLang="en-US"/>
              <a:t> are found? Given a test record, x</a:t>
            </a:r>
            <a:r>
              <a:rPr lang="en-US" altLang="en-US" baseline="-25000"/>
              <a:t>i</a:t>
            </a:r>
          </a:p>
        </p:txBody>
      </p:sp>
      <p:graphicFrame>
        <p:nvGraphicFramePr>
          <p:cNvPr id="16387" name="Object 2"/>
          <p:cNvGraphicFramePr>
            <a:graphicFrameLocks noGrp="1" noChangeAspect="1"/>
          </p:cNvGraphicFramePr>
          <p:nvPr>
            <p:ph sz="half" idx="4294967295"/>
          </p:nvPr>
        </p:nvGraphicFramePr>
        <p:xfrm>
          <a:off x="2133600" y="4724400"/>
          <a:ext cx="4191000" cy="1033463"/>
        </p:xfrm>
        <a:graphic>
          <a:graphicData uri="http://schemas.openxmlformats.org/presentationml/2006/ole">
            <mc:AlternateContent xmlns:mc="http://schemas.openxmlformats.org/markup-compatibility/2006">
              <mc:Choice xmlns:v="urn:schemas-microsoft-com:vml" Requires="v">
                <p:oleObj name="Equation" r:id="rId2" imgW="1955800" imgH="482600" progId="Equation.3">
                  <p:embed/>
                </p:oleObj>
              </mc:Choice>
              <mc:Fallback>
                <p:oleObj name="Equation" r:id="rId2" imgW="1955800" imgH="4826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724400"/>
                        <a:ext cx="4191000" cy="1033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484B3-B864-B71F-2F86-F0CC9E696E00}"/>
              </a:ext>
            </a:extLst>
          </p:cNvPr>
          <p:cNvSpPr>
            <a:spLocks noGrp="1"/>
          </p:cNvSpPr>
          <p:nvPr>
            <p:ph type="title"/>
          </p:nvPr>
        </p:nvSpPr>
        <p:spPr/>
        <p:txBody>
          <a:bodyPr/>
          <a:lstStyle/>
          <a:p>
            <a:r>
              <a:rPr lang="en-US" dirty="0"/>
              <a:t>Non-Linearly Separable</a:t>
            </a:r>
          </a:p>
        </p:txBody>
      </p:sp>
      <p:pic>
        <p:nvPicPr>
          <p:cNvPr id="5" name="Content Placeholder 4" descr="A diagram of a line with black squares and white text">
            <a:extLst>
              <a:ext uri="{FF2B5EF4-FFF2-40B4-BE49-F238E27FC236}">
                <a16:creationId xmlns:a16="http://schemas.microsoft.com/office/drawing/2014/main" id="{3B9BABB2-D86F-4D19-EF5C-AE1A90CAF66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317436" y="1928560"/>
            <a:ext cx="4505954" cy="3610479"/>
          </a:xfrm>
        </p:spPr>
      </p:pic>
    </p:spTree>
    <p:extLst>
      <p:ext uri="{BB962C8B-B14F-4D97-AF65-F5344CB8AC3E}">
        <p14:creationId xmlns:p14="http://schemas.microsoft.com/office/powerpoint/2010/main" val="3338604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p:cNvSpPr>
            <a:spLocks noGrp="1" noChangeArrowheads="1"/>
          </p:cNvSpPr>
          <p:nvPr>
            <p:ph type="title"/>
          </p:nvPr>
        </p:nvSpPr>
        <p:spPr/>
        <p:txBody>
          <a:bodyPr/>
          <a:lstStyle/>
          <a:p>
            <a:r>
              <a:rPr lang="en-US" altLang="en-US"/>
              <a:t>Support Vector Machines</a:t>
            </a:r>
          </a:p>
        </p:txBody>
      </p:sp>
      <p:sp>
        <p:nvSpPr>
          <p:cNvPr id="17410" name="Rectangle 3"/>
          <p:cNvSpPr>
            <a:spLocks noGrp="1" noChangeArrowheads="1"/>
          </p:cNvSpPr>
          <p:nvPr>
            <p:ph type="body" idx="1"/>
          </p:nvPr>
        </p:nvSpPr>
        <p:spPr/>
        <p:txBody>
          <a:bodyPr/>
          <a:lstStyle/>
          <a:p>
            <a:r>
              <a:rPr lang="en-US" altLang="en-US"/>
              <a:t>What if the problem is not linearly separable?</a:t>
            </a:r>
          </a:p>
        </p:txBody>
      </p:sp>
      <p:graphicFrame>
        <p:nvGraphicFramePr>
          <p:cNvPr id="17411" name="Object 2"/>
          <p:cNvGraphicFramePr>
            <a:graphicFrameLocks noGrp="1" noChangeAspect="1"/>
          </p:cNvGraphicFramePr>
          <p:nvPr>
            <p:ph sz="half" idx="4294967295"/>
          </p:nvPr>
        </p:nvGraphicFramePr>
        <p:xfrm>
          <a:off x="2209800" y="1917700"/>
          <a:ext cx="4724400" cy="4457700"/>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917700"/>
                        <a:ext cx="4724400" cy="445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14"/>
          <p:cNvGrpSpPr>
            <a:grpSpLocks/>
          </p:cNvGrpSpPr>
          <p:nvPr/>
        </p:nvGrpSpPr>
        <p:grpSpPr bwMode="auto">
          <a:xfrm>
            <a:off x="2514600" y="2590800"/>
            <a:ext cx="4038600" cy="3124200"/>
            <a:chOff x="1584" y="1632"/>
            <a:chExt cx="2544" cy="1968"/>
          </a:xfrm>
        </p:grpSpPr>
        <p:sp>
          <p:nvSpPr>
            <p:cNvPr id="17413" name="Oval 8"/>
            <p:cNvSpPr>
              <a:spLocks noChangeArrowheads="1"/>
            </p:cNvSpPr>
            <p:nvPr/>
          </p:nvSpPr>
          <p:spPr bwMode="auto">
            <a:xfrm>
              <a:off x="1584" y="1632"/>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4" name="Oval 9"/>
            <p:cNvSpPr>
              <a:spLocks noChangeArrowheads="1"/>
            </p:cNvSpPr>
            <p:nvPr/>
          </p:nvSpPr>
          <p:spPr bwMode="auto">
            <a:xfrm>
              <a:off x="2304" y="2208"/>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5" name="Oval 10"/>
            <p:cNvSpPr>
              <a:spLocks noChangeArrowheads="1"/>
            </p:cNvSpPr>
            <p:nvPr/>
          </p:nvSpPr>
          <p:spPr bwMode="auto">
            <a:xfrm>
              <a:off x="2208" y="1680"/>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6" name="Oval 11"/>
            <p:cNvSpPr>
              <a:spLocks noChangeArrowheads="1"/>
            </p:cNvSpPr>
            <p:nvPr/>
          </p:nvSpPr>
          <p:spPr bwMode="auto">
            <a:xfrm>
              <a:off x="2832" y="3264"/>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7" name="Oval 12"/>
            <p:cNvSpPr>
              <a:spLocks noChangeArrowheads="1"/>
            </p:cNvSpPr>
            <p:nvPr/>
          </p:nvSpPr>
          <p:spPr bwMode="auto">
            <a:xfrm>
              <a:off x="3312" y="2400"/>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7418" name="Oval 13"/>
            <p:cNvSpPr>
              <a:spLocks noChangeArrowheads="1"/>
            </p:cNvSpPr>
            <p:nvPr/>
          </p:nvSpPr>
          <p:spPr bwMode="auto">
            <a:xfrm>
              <a:off x="3792" y="2736"/>
              <a:ext cx="336" cy="336"/>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04BCA-598A-8C04-B61A-74FC1031F5B7}"/>
              </a:ext>
            </a:extLst>
          </p:cNvPr>
          <p:cNvSpPr>
            <a:spLocks noGrp="1"/>
          </p:cNvSpPr>
          <p:nvPr>
            <p:ph type="title"/>
          </p:nvPr>
        </p:nvSpPr>
        <p:spPr>
          <a:xfrm>
            <a:off x="381000" y="152400"/>
            <a:ext cx="8280400" cy="533400"/>
          </a:xfrm>
        </p:spPr>
        <p:txBody>
          <a:bodyPr wrap="square" anchor="b">
            <a:normAutofit/>
          </a:bodyPr>
          <a:lstStyle/>
          <a:p>
            <a:r>
              <a:rPr lang="en-US" sz="2700"/>
              <a:t>Soft Margin</a:t>
            </a:r>
          </a:p>
        </p:txBody>
      </p:sp>
      <p:pic>
        <p:nvPicPr>
          <p:cNvPr id="5" name="Content Placeholder 4" descr="A diagram of a graph&#10;&#10;Description automatically generated">
            <a:extLst>
              <a:ext uri="{FF2B5EF4-FFF2-40B4-BE49-F238E27FC236}">
                <a16:creationId xmlns:a16="http://schemas.microsoft.com/office/drawing/2014/main" id="{A3504F42-140F-AEAE-5BD7-CDED4B677D4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41639" y="1143000"/>
            <a:ext cx="6857547" cy="5181600"/>
          </a:xfrm>
          <a:noFill/>
        </p:spPr>
      </p:pic>
    </p:spTree>
    <p:extLst>
      <p:ext uri="{BB962C8B-B14F-4D97-AF65-F5344CB8AC3E}">
        <p14:creationId xmlns:p14="http://schemas.microsoft.com/office/powerpoint/2010/main" val="4146177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noChangeArrowheads="1"/>
          </p:cNvSpPr>
          <p:nvPr>
            <p:ph type="title"/>
          </p:nvPr>
        </p:nvSpPr>
        <p:spPr/>
        <p:txBody>
          <a:bodyPr/>
          <a:lstStyle/>
          <a:p>
            <a:r>
              <a:rPr lang="en-US" altLang="en-US"/>
              <a:t>Support Vector Machines</a:t>
            </a:r>
          </a:p>
        </p:txBody>
      </p:sp>
      <p:sp>
        <p:nvSpPr>
          <p:cNvPr id="18434" name="Rectangle 3"/>
          <p:cNvSpPr>
            <a:spLocks noGrp="1" noChangeArrowheads="1"/>
          </p:cNvSpPr>
          <p:nvPr>
            <p:ph type="body" idx="1"/>
          </p:nvPr>
        </p:nvSpPr>
        <p:spPr/>
        <p:txBody>
          <a:bodyPr/>
          <a:lstStyle/>
          <a:p>
            <a:pPr>
              <a:lnSpc>
                <a:spcPct val="90000"/>
              </a:lnSpc>
            </a:pPr>
            <a:r>
              <a:rPr lang="en-US" altLang="en-US" dirty="0"/>
              <a:t>What if the problem is not linearly separable?</a:t>
            </a:r>
          </a:p>
          <a:p>
            <a:pPr lvl="1">
              <a:lnSpc>
                <a:spcPct val="90000"/>
              </a:lnSpc>
            </a:pPr>
            <a:r>
              <a:rPr lang="en-US" altLang="en-US" dirty="0"/>
              <a:t>Introduce slack variables</a:t>
            </a:r>
          </a:p>
          <a:p>
            <a:pPr lvl="2">
              <a:lnSpc>
                <a:spcPct val="90000"/>
              </a:lnSpc>
            </a:pPr>
            <a:r>
              <a:rPr lang="en-US" altLang="en-US" dirty="0"/>
              <a:t> Need to minimize:</a:t>
            </a:r>
          </a:p>
          <a:p>
            <a:pPr lvl="2">
              <a:lnSpc>
                <a:spcPct val="90000"/>
              </a:lnSpc>
            </a:pPr>
            <a:endParaRPr lang="en-US" altLang="en-US" dirty="0"/>
          </a:p>
          <a:p>
            <a:pPr lvl="2">
              <a:lnSpc>
                <a:spcPct val="90000"/>
              </a:lnSpc>
            </a:pPr>
            <a:r>
              <a:rPr lang="en-US" altLang="en-US" dirty="0"/>
              <a:t> Subject to: </a:t>
            </a:r>
          </a:p>
          <a:p>
            <a:pPr lvl="2">
              <a:lnSpc>
                <a:spcPct val="90000"/>
              </a:lnSpc>
            </a:pPr>
            <a:endParaRPr lang="en-US" altLang="en-US" dirty="0"/>
          </a:p>
          <a:p>
            <a:pPr lvl="2">
              <a:lnSpc>
                <a:spcPct val="90000"/>
              </a:lnSpc>
            </a:pPr>
            <a:endParaRPr lang="en-US" altLang="en-US" dirty="0"/>
          </a:p>
          <a:p>
            <a:pPr lvl="2">
              <a:lnSpc>
                <a:spcPct val="90000"/>
              </a:lnSpc>
            </a:pPr>
            <a:endParaRPr lang="en-US" altLang="en-US" dirty="0"/>
          </a:p>
          <a:p>
            <a:pPr lvl="2">
              <a:lnSpc>
                <a:spcPct val="90000"/>
              </a:lnSpc>
            </a:pPr>
            <a:endParaRPr lang="en-US" altLang="en-US" dirty="0"/>
          </a:p>
          <a:p>
            <a:pPr lvl="2">
              <a:lnSpc>
                <a:spcPct val="90000"/>
              </a:lnSpc>
            </a:pPr>
            <a:r>
              <a:rPr lang="en-US" altLang="en-US" dirty="0"/>
              <a:t> If k is 1 or 2, this leads to similar objective function as linear SVM but with different constraints (see textbook)</a:t>
            </a:r>
          </a:p>
        </p:txBody>
      </p:sp>
      <p:graphicFrame>
        <p:nvGraphicFramePr>
          <p:cNvPr id="18435" name="Object 2"/>
          <p:cNvGraphicFramePr>
            <a:graphicFrameLocks noChangeAspect="1"/>
          </p:cNvGraphicFramePr>
          <p:nvPr/>
        </p:nvGraphicFramePr>
        <p:xfrm>
          <a:off x="2362200" y="3657600"/>
          <a:ext cx="5114925" cy="1085850"/>
        </p:xfrm>
        <a:graphic>
          <a:graphicData uri="http://schemas.openxmlformats.org/presentationml/2006/ole">
            <mc:AlternateContent xmlns:mc="http://schemas.openxmlformats.org/markup-compatibility/2006">
              <mc:Choice xmlns:v="urn:schemas-microsoft-com:vml" Requires="v">
                <p:oleObj name="Equation" r:id="rId3" imgW="1993900" imgH="482600" progId="Equation.3">
                  <p:embed/>
                </p:oleObj>
              </mc:Choice>
              <mc:Fallback>
                <p:oleObj name="Equation" r:id="rId3" imgW="1993900" imgH="482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3657600"/>
                        <a:ext cx="511492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436" name="Object 3"/>
          <p:cNvGraphicFramePr>
            <a:graphicFrameLocks noChangeAspect="1"/>
          </p:cNvGraphicFramePr>
          <p:nvPr/>
        </p:nvGraphicFramePr>
        <p:xfrm>
          <a:off x="4648200" y="2133600"/>
          <a:ext cx="3587750" cy="1042988"/>
        </p:xfrm>
        <a:graphic>
          <a:graphicData uri="http://schemas.openxmlformats.org/presentationml/2006/ole">
            <mc:AlternateContent xmlns:mc="http://schemas.openxmlformats.org/markup-compatibility/2006">
              <mc:Choice xmlns:v="urn:schemas-microsoft-com:vml" Requires="v">
                <p:oleObj name="Equation" r:id="rId5" imgW="1574800" imgH="457200" progId="Equation.3">
                  <p:embed/>
                </p:oleObj>
              </mc:Choice>
              <mc:Fallback>
                <p:oleObj name="Equation" r:id="rId5" imgW="1574800" imgH="457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2133600"/>
                        <a:ext cx="3587750" cy="1042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8437" name="Oval 6"/>
          <p:cNvSpPr>
            <a:spLocks noChangeArrowheads="1"/>
          </p:cNvSpPr>
          <p:nvPr/>
        </p:nvSpPr>
        <p:spPr bwMode="auto">
          <a:xfrm>
            <a:off x="6400800" y="3657600"/>
            <a:ext cx="1143000" cy="5334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18438" name="Oval 7"/>
          <p:cNvSpPr>
            <a:spLocks noChangeArrowheads="1"/>
          </p:cNvSpPr>
          <p:nvPr/>
        </p:nvSpPr>
        <p:spPr bwMode="auto">
          <a:xfrm>
            <a:off x="6324600" y="4191000"/>
            <a:ext cx="1295400" cy="5334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p:txBody>
          <a:bodyPr/>
          <a:lstStyle/>
          <a:p>
            <a:r>
              <a:rPr lang="en-US" altLang="en-US"/>
              <a:t>Support Vector Machines</a:t>
            </a:r>
          </a:p>
        </p:txBody>
      </p:sp>
      <p:sp>
        <p:nvSpPr>
          <p:cNvPr id="19458" name="Rectangle 3"/>
          <p:cNvSpPr>
            <a:spLocks noGrp="1" noChangeArrowheads="1"/>
          </p:cNvSpPr>
          <p:nvPr>
            <p:ph type="body" sz="half" idx="4294967295"/>
          </p:nvPr>
        </p:nvSpPr>
        <p:spPr>
          <a:xfrm>
            <a:off x="381000" y="5943600"/>
            <a:ext cx="8534400" cy="381000"/>
          </a:xfrm>
        </p:spPr>
        <p:txBody>
          <a:bodyPr/>
          <a:lstStyle/>
          <a:p>
            <a:pPr>
              <a:lnSpc>
                <a:spcPct val="90000"/>
              </a:lnSpc>
            </a:pPr>
            <a:r>
              <a:rPr lang="en-US" altLang="en-US" sz="2000"/>
              <a:t>Find the hyperplane that optimizes both factors</a:t>
            </a:r>
          </a:p>
        </p:txBody>
      </p:sp>
      <p:graphicFrame>
        <p:nvGraphicFramePr>
          <p:cNvPr id="19459" name="Object 2"/>
          <p:cNvGraphicFramePr>
            <a:graphicFrameLocks noGrp="1" noChangeAspect="1"/>
          </p:cNvGraphicFramePr>
          <p:nvPr>
            <p:ph sz="half" idx="4294967295"/>
          </p:nvPr>
        </p:nvGraphicFramePr>
        <p:xfrm>
          <a:off x="2362200" y="1195388"/>
          <a:ext cx="4876800" cy="4602162"/>
        </p:xfrm>
        <a:graphic>
          <a:graphicData uri="http://schemas.openxmlformats.org/presentationml/2006/ole">
            <mc:AlternateContent xmlns:mc="http://schemas.openxmlformats.org/markup-compatibility/2006">
              <mc:Choice xmlns:v="urn:schemas-microsoft-com:vml" Requires="v">
                <p:oleObj name="Visio" r:id="rId2" imgW="7442200" imgH="7023100" progId="Visio.Drawing.6">
                  <p:embed/>
                </p:oleObj>
              </mc:Choice>
              <mc:Fallback>
                <p:oleObj name="Visio" r:id="rId2" imgW="7442200" imgH="7023100" progId="Visio.Drawing.6">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195388"/>
                        <a:ext cx="4876800" cy="460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Oval 2"/>
          <p:cNvSpPr>
            <a:spLocks noChangeArrowheads="1"/>
          </p:cNvSpPr>
          <p:nvPr/>
        </p:nvSpPr>
        <p:spPr bwMode="auto">
          <a:xfrm>
            <a:off x="3048000" y="2971800"/>
            <a:ext cx="152400" cy="152400"/>
          </a:xfrm>
          <a:prstGeom prst="ellipse">
            <a:avLst/>
          </a:prstGeom>
          <a:solidFill>
            <a:schemeClr val="bg1"/>
          </a:solidFill>
          <a:ln w="12700">
            <a:solidFill>
              <a:srgbClr val="C00000"/>
            </a:solidFill>
            <a:round/>
            <a:headEnd/>
            <a:tailEnd/>
          </a:ln>
        </p:spPr>
        <p:txBody>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
        <p:nvSpPr>
          <p:cNvPr id="4" name="Rectangle 3"/>
          <p:cNvSpPr>
            <a:spLocks noChangeArrowheads="1"/>
          </p:cNvSpPr>
          <p:nvPr/>
        </p:nvSpPr>
        <p:spPr bwMode="auto">
          <a:xfrm>
            <a:off x="6350000" y="3784600"/>
            <a:ext cx="152400" cy="152400"/>
          </a:xfrm>
          <a:prstGeom prst="rect">
            <a:avLst/>
          </a:prstGeom>
          <a:solidFill>
            <a:srgbClr val="006600"/>
          </a:solidFill>
          <a:ln w="12700">
            <a:solidFill>
              <a:schemeClr val="tx1"/>
            </a:solidFill>
            <a:round/>
            <a:headEnd/>
            <a:tailEnd/>
          </a:ln>
        </p:spPr>
        <p:txBody>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0"/>
              </a:spcBef>
              <a:spcAft>
                <a:spcPct val="0"/>
              </a:spcAft>
              <a:buClrTx/>
              <a:buSzTx/>
              <a:buFontTx/>
              <a:buNone/>
            </a:pPr>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noChangeArrowheads="1"/>
          </p:cNvSpPr>
          <p:nvPr>
            <p:ph type="title"/>
          </p:nvPr>
        </p:nvSpPr>
        <p:spPr/>
        <p:txBody>
          <a:bodyPr/>
          <a:lstStyle/>
          <a:p>
            <a:r>
              <a:rPr lang="en-US" altLang="en-US"/>
              <a:t>Nonlinear Support Vector Machines</a:t>
            </a:r>
          </a:p>
        </p:txBody>
      </p:sp>
      <p:sp>
        <p:nvSpPr>
          <p:cNvPr id="20482" name="Rectangle 5"/>
          <p:cNvSpPr>
            <a:spLocks noGrp="1" noChangeArrowheads="1"/>
          </p:cNvSpPr>
          <p:nvPr>
            <p:ph type="body" idx="1"/>
          </p:nvPr>
        </p:nvSpPr>
        <p:spPr/>
        <p:txBody>
          <a:bodyPr/>
          <a:lstStyle/>
          <a:p>
            <a:r>
              <a:rPr lang="en-US" altLang="en-US"/>
              <a:t>What if decision boundary is not linear?</a:t>
            </a:r>
          </a:p>
        </p:txBody>
      </p:sp>
      <p:pic>
        <p:nvPicPr>
          <p:cNvPr id="20483" name="Picture 10"/>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rcRect t="4103" r="6154"/>
          <a:stretch>
            <a:fillRect/>
          </a:stretch>
        </p:blipFill>
        <p:spPr>
          <a:xfrm>
            <a:off x="2133600" y="1828800"/>
            <a:ext cx="4648200" cy="3562350"/>
          </a:xfrm>
          <a:noFill/>
        </p:spPr>
      </p:pic>
      <p:pic>
        <p:nvPicPr>
          <p:cNvPr id="20484" name="Picture 13"/>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a:stretch>
            <a:fillRect/>
          </a:stretch>
        </p:blipFill>
        <p:spPr>
          <a:xfrm>
            <a:off x="1752600" y="5397500"/>
            <a:ext cx="5676900" cy="1003300"/>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altLang="en-US"/>
              <a:t>Nonlinear Support Vector Machines</a:t>
            </a:r>
          </a:p>
        </p:txBody>
      </p:sp>
      <p:sp>
        <p:nvSpPr>
          <p:cNvPr id="21506" name="Rectangle 3"/>
          <p:cNvSpPr>
            <a:spLocks noGrp="1" noChangeArrowheads="1"/>
          </p:cNvSpPr>
          <p:nvPr>
            <p:ph type="body" idx="1"/>
          </p:nvPr>
        </p:nvSpPr>
        <p:spPr/>
        <p:txBody>
          <a:bodyPr/>
          <a:lstStyle/>
          <a:p>
            <a:r>
              <a:rPr lang="en-US" altLang="en-US"/>
              <a:t>Transform </a:t>
            </a:r>
            <a:r>
              <a:rPr lang="en-US" altLang="en-US" dirty="0"/>
              <a:t>data into higher dimensional space</a:t>
            </a:r>
          </a:p>
        </p:txBody>
      </p:sp>
      <p:pic>
        <p:nvPicPr>
          <p:cNvPr id="21507" name="Picture 10"/>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a:stretch>
            <a:fillRect/>
          </a:stretch>
        </p:blipFill>
        <p:spPr>
          <a:xfrm>
            <a:off x="4800600" y="3402013"/>
            <a:ext cx="4114800" cy="498475"/>
          </a:xfrm>
          <a:noFill/>
        </p:spPr>
      </p:pic>
      <p:pic>
        <p:nvPicPr>
          <p:cNvPr id="21508" name="Picture 6"/>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r="5882"/>
          <a:stretch>
            <a:fillRect/>
          </a:stretch>
        </p:blipFill>
        <p:spPr>
          <a:xfrm>
            <a:off x="0" y="2057400"/>
            <a:ext cx="4876800" cy="3886200"/>
          </a:xfrm>
          <a:noFill/>
        </p:spPr>
      </p:pic>
      <p:pic>
        <p:nvPicPr>
          <p:cNvPr id="21509" name="Picture 8"/>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a:xfrm>
            <a:off x="4800600" y="2514600"/>
            <a:ext cx="3429000" cy="627063"/>
          </a:xfrm>
          <a:noFill/>
        </p:spPr>
      </p:pic>
      <p:pic>
        <p:nvPicPr>
          <p:cNvPr id="21510" name="Picture 12"/>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a:stretch>
            <a:fillRect/>
          </a:stretch>
        </p:blipFill>
        <p:spPr>
          <a:xfrm>
            <a:off x="4800600" y="4114800"/>
            <a:ext cx="4343400" cy="523875"/>
          </a:xfrm>
          <a:noFill/>
        </p:spPr>
      </p:pic>
      <p:graphicFrame>
        <p:nvGraphicFramePr>
          <p:cNvPr id="21511" name="Object 2"/>
          <p:cNvGraphicFramePr>
            <a:graphicFrameLocks noGrp="1" noChangeAspect="1"/>
          </p:cNvGraphicFramePr>
          <p:nvPr>
            <p:ph sz="half" idx="4294967295"/>
          </p:nvPr>
        </p:nvGraphicFramePr>
        <p:xfrm>
          <a:off x="5486400" y="5508625"/>
          <a:ext cx="2971800" cy="587375"/>
        </p:xfrm>
        <a:graphic>
          <a:graphicData uri="http://schemas.openxmlformats.org/presentationml/2006/ole">
            <mc:AlternateContent xmlns:mc="http://schemas.openxmlformats.org/markup-compatibility/2006">
              <mc:Choice xmlns:v="urn:schemas-microsoft-com:vml" Requires="v">
                <p:oleObj name="Equation" r:id="rId6" imgW="1028254" imgH="203112" progId="Equation.3">
                  <p:embed/>
                </p:oleObj>
              </mc:Choice>
              <mc:Fallback>
                <p:oleObj name="Equation" r:id="rId6" imgW="1028254" imgH="203112" progId="Equation.3">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86400" y="5508625"/>
                        <a:ext cx="2971800"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512" name="Text Box 16"/>
          <p:cNvSpPr txBox="1">
            <a:spLocks noChangeArrowheads="1"/>
          </p:cNvSpPr>
          <p:nvPr/>
        </p:nvSpPr>
        <p:spPr bwMode="auto">
          <a:xfrm>
            <a:off x="5029200" y="4953000"/>
            <a:ext cx="304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anose="05010101010101010101"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spcBef>
                <a:spcPct val="50000"/>
              </a:spcBef>
              <a:spcAft>
                <a:spcPct val="0"/>
              </a:spcAft>
              <a:buClrTx/>
              <a:buSzTx/>
              <a:buFontTx/>
              <a:buNone/>
            </a:pPr>
            <a:r>
              <a:rPr lang="en-US" altLang="en-US" sz="2000"/>
              <a:t>Decision boundary: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p:txBody>
          <a:bodyPr/>
          <a:lstStyle/>
          <a:p>
            <a:r>
              <a:rPr lang="en-US" altLang="en-US"/>
              <a:t>Learning Nonlinear SVM</a:t>
            </a:r>
          </a:p>
        </p:txBody>
      </p:sp>
      <p:sp>
        <p:nvSpPr>
          <p:cNvPr id="22530" name="Rectangle 3"/>
          <p:cNvSpPr>
            <a:spLocks noGrp="1" noChangeArrowheads="1"/>
          </p:cNvSpPr>
          <p:nvPr>
            <p:ph type="body" idx="1"/>
          </p:nvPr>
        </p:nvSpPr>
        <p:spPr/>
        <p:txBody>
          <a:bodyPr/>
          <a:lstStyle/>
          <a:p>
            <a:r>
              <a:rPr lang="en-US" altLang="en-US"/>
              <a:t>Optimization problem:</a:t>
            </a:r>
          </a:p>
          <a:p>
            <a:endParaRPr lang="en-US" altLang="en-US"/>
          </a:p>
          <a:p>
            <a:endParaRPr lang="en-US" altLang="en-US"/>
          </a:p>
          <a:p>
            <a:r>
              <a:rPr lang="en-US" altLang="en-US"/>
              <a:t>Which leads to the same set of equations (but involve </a:t>
            </a:r>
            <a:r>
              <a:rPr lang="en-US" altLang="en-US">
                <a:sym typeface="Symbol" panose="05050102010706020507" pitchFamily="18" charset="2"/>
              </a:rPr>
              <a:t>(x) instead of x)</a:t>
            </a:r>
          </a:p>
        </p:txBody>
      </p:sp>
      <p:pic>
        <p:nvPicPr>
          <p:cNvPr id="22531" name="Picture 6"/>
          <p:cNvPicPr>
            <a:picLocks noGrp="1" noChangeAspect="1" noChangeArrowheads="1"/>
          </p:cNvPicPr>
          <p:nvPr>
            <p:ph sz="quarter" idx="4294967295"/>
          </p:nvPr>
        </p:nvPicPr>
        <p:blipFill>
          <a:blip r:embed="rId2">
            <a:extLst>
              <a:ext uri="{28A0092B-C50C-407E-A947-70E740481C1C}">
                <a14:useLocalDpi xmlns:a14="http://schemas.microsoft.com/office/drawing/2010/main" val="0"/>
              </a:ext>
            </a:extLst>
          </a:blip>
          <a:srcRect l="3448" r="6897"/>
          <a:stretch>
            <a:fillRect/>
          </a:stretch>
        </p:blipFill>
        <p:spPr>
          <a:xfrm>
            <a:off x="304800" y="3962400"/>
            <a:ext cx="4191000" cy="933450"/>
          </a:xfrm>
          <a:noFill/>
        </p:spPr>
      </p:pic>
      <p:pic>
        <p:nvPicPr>
          <p:cNvPr id="22532" name="Picture 4"/>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b="15195"/>
          <a:stretch>
            <a:fillRect/>
          </a:stretch>
        </p:blipFill>
        <p:spPr>
          <a:xfrm>
            <a:off x="1905000" y="1600200"/>
            <a:ext cx="4953000" cy="1143000"/>
          </a:xfrm>
          <a:noFill/>
        </p:spPr>
      </p:pic>
      <p:pic>
        <p:nvPicPr>
          <p:cNvPr id="22533" name="Picture 8"/>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l="7018" b="11021"/>
          <a:stretch>
            <a:fillRect/>
          </a:stretch>
        </p:blipFill>
        <p:spPr>
          <a:xfrm>
            <a:off x="4800600" y="4014788"/>
            <a:ext cx="4114800" cy="1254125"/>
          </a:xfrm>
          <a:noFill/>
        </p:spPr>
      </p:pic>
      <p:pic>
        <p:nvPicPr>
          <p:cNvPr id="22534" name="Picture 10"/>
          <p:cNvPicPr>
            <a:picLocks noChangeAspect="1" noChangeArrowheads="1"/>
          </p:cNvPicPr>
          <p:nvPr/>
        </p:nvPicPr>
        <p:blipFill>
          <a:blip r:embed="rId5">
            <a:extLst>
              <a:ext uri="{28A0092B-C50C-407E-A947-70E740481C1C}">
                <a14:useLocalDpi xmlns:a14="http://schemas.microsoft.com/office/drawing/2010/main" val="0"/>
              </a:ext>
            </a:extLst>
          </a:blip>
          <a:srcRect l="2802" r="3355"/>
          <a:stretch>
            <a:fillRect/>
          </a:stretch>
        </p:blipFill>
        <p:spPr bwMode="auto">
          <a:xfrm>
            <a:off x="533400" y="5518150"/>
            <a:ext cx="60198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p:txBody>
          <a:bodyPr/>
          <a:lstStyle/>
          <a:p>
            <a:r>
              <a:rPr lang="en-US" altLang="en-US"/>
              <a:t>Characteristics of SVM</a:t>
            </a:r>
          </a:p>
        </p:txBody>
      </p:sp>
      <p:sp>
        <p:nvSpPr>
          <p:cNvPr id="27650" name="Rectangle 3"/>
          <p:cNvSpPr>
            <a:spLocks noGrp="1" noChangeArrowheads="1"/>
          </p:cNvSpPr>
          <p:nvPr>
            <p:ph type="body" idx="1"/>
          </p:nvPr>
        </p:nvSpPr>
        <p:spPr>
          <a:xfrm>
            <a:off x="411162" y="1143000"/>
            <a:ext cx="8351837" cy="5181600"/>
          </a:xfrm>
        </p:spPr>
        <p:txBody>
          <a:bodyPr>
            <a:normAutofit fontScale="77500" lnSpcReduction="20000"/>
          </a:bodyPr>
          <a:lstStyle/>
          <a:p>
            <a:pPr>
              <a:lnSpc>
                <a:spcPct val="120000"/>
              </a:lnSpc>
              <a:spcAft>
                <a:spcPts val="300"/>
              </a:spcAft>
            </a:pPr>
            <a:r>
              <a:rPr lang="en-US" altLang="en-US" sz="2400" dirty="0"/>
              <a:t>The learning problem is formulated as a convex optimization problem</a:t>
            </a:r>
          </a:p>
          <a:p>
            <a:pPr lvl="1">
              <a:lnSpc>
                <a:spcPct val="120000"/>
              </a:lnSpc>
              <a:spcAft>
                <a:spcPts val="300"/>
              </a:spcAft>
            </a:pPr>
            <a:r>
              <a:rPr lang="en-US" altLang="en-US" sz="2400" dirty="0"/>
              <a:t>Efficient algorithms are available to find the global minima </a:t>
            </a:r>
          </a:p>
          <a:p>
            <a:pPr lvl="1">
              <a:lnSpc>
                <a:spcPct val="120000"/>
              </a:lnSpc>
              <a:spcAft>
                <a:spcPts val="300"/>
              </a:spcAft>
            </a:pPr>
            <a:r>
              <a:rPr lang="en-US" altLang="en-US" sz="2400" dirty="0"/>
              <a:t>Many of the other methods use greedy approaches and find locally optimal solutions</a:t>
            </a:r>
          </a:p>
          <a:p>
            <a:pPr lvl="1">
              <a:lnSpc>
                <a:spcPct val="120000"/>
              </a:lnSpc>
              <a:spcAft>
                <a:spcPts val="300"/>
              </a:spcAft>
            </a:pPr>
            <a:r>
              <a:rPr lang="en-US" altLang="en-US" sz="2400" dirty="0"/>
              <a:t>High computational complexity for building the model</a:t>
            </a:r>
          </a:p>
          <a:p>
            <a:pPr lvl="1">
              <a:lnSpc>
                <a:spcPct val="120000"/>
              </a:lnSpc>
              <a:spcAft>
                <a:spcPts val="300"/>
              </a:spcAft>
            </a:pPr>
            <a:endParaRPr lang="en-US" altLang="en-US" sz="2400" dirty="0"/>
          </a:p>
          <a:p>
            <a:pPr>
              <a:lnSpc>
                <a:spcPct val="120000"/>
              </a:lnSpc>
              <a:spcAft>
                <a:spcPts val="300"/>
              </a:spcAft>
            </a:pPr>
            <a:r>
              <a:rPr lang="en-US" altLang="en-US" sz="2400" dirty="0"/>
              <a:t>Robust to noise</a:t>
            </a:r>
          </a:p>
          <a:p>
            <a:pPr>
              <a:lnSpc>
                <a:spcPct val="120000"/>
              </a:lnSpc>
              <a:spcAft>
                <a:spcPts val="300"/>
              </a:spcAft>
            </a:pPr>
            <a:r>
              <a:rPr lang="en-US" altLang="en-US" sz="2400" dirty="0"/>
              <a:t>Overfitting is handled by maximizing the margin of the decision boundary, </a:t>
            </a:r>
          </a:p>
          <a:p>
            <a:pPr>
              <a:lnSpc>
                <a:spcPct val="120000"/>
              </a:lnSpc>
              <a:spcAft>
                <a:spcPts val="300"/>
              </a:spcAft>
            </a:pPr>
            <a:r>
              <a:rPr lang="en-US" altLang="en-US" sz="2400" dirty="0"/>
              <a:t>SVM can handle irrelevant and </a:t>
            </a:r>
            <a:r>
              <a:rPr lang="en-US" altLang="en-US" sz="2400"/>
              <a:t>redundant attributes </a:t>
            </a:r>
            <a:r>
              <a:rPr lang="en-US" altLang="en-US" sz="2400" dirty="0"/>
              <a:t>better than many other techniques</a:t>
            </a:r>
          </a:p>
          <a:p>
            <a:pPr>
              <a:lnSpc>
                <a:spcPct val="120000"/>
              </a:lnSpc>
              <a:spcAft>
                <a:spcPts val="300"/>
              </a:spcAft>
            </a:pPr>
            <a:r>
              <a:rPr lang="en-US" altLang="en-US" sz="2400" dirty="0"/>
              <a:t>The user needs to provide the type of kernel function and cost function</a:t>
            </a:r>
          </a:p>
          <a:p>
            <a:pPr>
              <a:lnSpc>
                <a:spcPct val="120000"/>
              </a:lnSpc>
              <a:spcAft>
                <a:spcPts val="300"/>
              </a:spcAft>
            </a:pPr>
            <a:r>
              <a:rPr lang="en-US" altLang="en-US" sz="2400" dirty="0"/>
              <a:t>Difficult to handle missing values</a:t>
            </a:r>
          </a:p>
          <a:p>
            <a:pPr>
              <a:lnSpc>
                <a:spcPct val="120000"/>
              </a:lnSpc>
              <a:spcAft>
                <a:spcPts val="300"/>
              </a:spcAft>
            </a:pPr>
            <a:endParaRPr lang="en-US" altLang="en-US" sz="2400" dirty="0"/>
          </a:p>
          <a:p>
            <a:pPr>
              <a:lnSpc>
                <a:spcPct val="120000"/>
              </a:lnSpc>
              <a:spcAft>
                <a:spcPts val="300"/>
              </a:spcAft>
            </a:pPr>
            <a:r>
              <a:rPr lang="en-US" altLang="en-US" sz="2400" dirty="0"/>
              <a:t>What about categorical variables?</a:t>
            </a:r>
          </a:p>
        </p:txBody>
      </p:sp>
    </p:spTree>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3938</TotalTime>
  <Pages>3</Pages>
  <Words>1172</Words>
  <Application>Microsoft Office PowerPoint</Application>
  <PresentationFormat>On-screen Show (4:3)</PresentationFormat>
  <Paragraphs>138</Paragraphs>
  <Slides>22</Slides>
  <Notes>8</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2</vt:i4>
      </vt:variant>
      <vt:variant>
        <vt:lpstr>Slide Titles</vt:lpstr>
      </vt:variant>
      <vt:variant>
        <vt:i4>22</vt:i4>
      </vt:variant>
    </vt:vector>
  </HeadingPairs>
  <TitlesOfParts>
    <vt:vector size="39" baseType="lpstr">
      <vt:lpstr>Arial</vt:lpstr>
      <vt:lpstr>Cambria Math</vt:lpstr>
      <vt:lpstr>CMBX10</vt:lpstr>
      <vt:lpstr>CMBX8</vt:lpstr>
      <vt:lpstr>CMMI10</vt:lpstr>
      <vt:lpstr>CMMI8</vt:lpstr>
      <vt:lpstr>CMR10</vt:lpstr>
      <vt:lpstr>CMR8</vt:lpstr>
      <vt:lpstr>CMSY10</vt:lpstr>
      <vt:lpstr>Raleway</vt:lpstr>
      <vt:lpstr>Symbol</vt:lpstr>
      <vt:lpstr>Tahoma</vt:lpstr>
      <vt:lpstr>Times New Roman</vt:lpstr>
      <vt:lpstr>Wingdings</vt:lpstr>
      <vt:lpstr>LC.BRev.FY97</vt:lpstr>
      <vt:lpstr>Equation</vt:lpstr>
      <vt:lpstr>Visio</vt:lpstr>
      <vt:lpstr>Data Mining</vt:lpstr>
      <vt:lpstr>Support Vector Machines</vt:lpstr>
      <vt:lpstr>Support Vector Machines</vt:lpstr>
      <vt:lpstr>Support Vector Machines</vt:lpstr>
      <vt:lpstr>Support Vector Machines</vt:lpstr>
      <vt:lpstr>Support Vector Machines</vt:lpstr>
      <vt:lpstr>Support Vector Machines</vt:lpstr>
      <vt:lpstr>Support Vector Machines</vt:lpstr>
      <vt:lpstr>SVM Applications</vt:lpstr>
      <vt:lpstr>Linear SVM</vt:lpstr>
      <vt:lpstr>Learning Linear SVM</vt:lpstr>
      <vt:lpstr>Example of Linear SVM</vt:lpstr>
      <vt:lpstr>Learning Linear SVM</vt:lpstr>
      <vt:lpstr>Non-Linearly Separable</vt:lpstr>
      <vt:lpstr>Support Vector Machines</vt:lpstr>
      <vt:lpstr>Soft Margin</vt:lpstr>
      <vt:lpstr>Support Vector Machines</vt:lpstr>
      <vt:lpstr>Support Vector Machines</vt:lpstr>
      <vt:lpstr>Nonlinear Support Vector Machines</vt:lpstr>
      <vt:lpstr>Nonlinear Support Vector Machines</vt:lpstr>
      <vt:lpstr>Learning Nonlinear SVM</vt:lpstr>
      <vt:lpstr>Characteristics of SVM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dc:creator>anujkarpatne@gmail.com</dc:creator>
  <cp:lastModifiedBy>Eesha tur babar</cp:lastModifiedBy>
  <cp:revision>20</cp:revision>
  <cp:lastPrinted>2019-09-13T15:44:45Z</cp:lastPrinted>
  <dcterms:created xsi:type="dcterms:W3CDTF">2018-02-14T20:49:18Z</dcterms:created>
  <dcterms:modified xsi:type="dcterms:W3CDTF">2024-02-18T04:16:15Z</dcterms:modified>
</cp:coreProperties>
</file>