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7"/>
  </p:notesMasterIdLst>
  <p:handoutMasterIdLst>
    <p:handoutMasterId r:id="rId18"/>
  </p:handoutMasterIdLst>
  <p:sldIdLst>
    <p:sldId id="636" r:id="rId2"/>
    <p:sldId id="763" r:id="rId3"/>
    <p:sldId id="764" r:id="rId4"/>
    <p:sldId id="766" r:id="rId5"/>
    <p:sldId id="772" r:id="rId6"/>
    <p:sldId id="768" r:id="rId7"/>
    <p:sldId id="773" r:id="rId8"/>
    <p:sldId id="774" r:id="rId9"/>
    <p:sldId id="669" r:id="rId10"/>
    <p:sldId id="776" r:id="rId11"/>
    <p:sldId id="670" r:id="rId12"/>
    <p:sldId id="777" r:id="rId13"/>
    <p:sldId id="671" r:id="rId14"/>
    <p:sldId id="672" r:id="rId15"/>
    <p:sldId id="778" r:id="rId16"/>
  </p:sldIdLst>
  <p:sldSz cx="9144000" cy="6858000" type="screen4x3"/>
  <p:notesSz cx="6934200" cy="9220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05">
          <p15:clr>
            <a:srgbClr val="A4A3A4"/>
          </p15:clr>
        </p15:guide>
        <p15:guide id="2" pos="218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2" autoAdjust="0"/>
    <p:restoredTop sz="94551" autoAdjust="0"/>
  </p:normalViewPr>
  <p:slideViewPr>
    <p:cSldViewPr>
      <p:cViewPr varScale="1">
        <p:scale>
          <a:sx n="58" d="100"/>
          <a:sy n="58" d="100"/>
        </p:scale>
        <p:origin x="1398" y="66"/>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8776"/>
    </p:cViewPr>
  </p:sorterViewPr>
  <p:notesViewPr>
    <p:cSldViewPr>
      <p:cViewPr varScale="1">
        <p:scale>
          <a:sx n="44" d="100"/>
          <a:sy n="44" d="100"/>
        </p:scale>
        <p:origin x="2328" y="56"/>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236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2338" y="4379913"/>
            <a:ext cx="5087937" cy="4146550"/>
          </a:xfrm>
          <a:prstGeom prst="rect">
            <a:avLst/>
          </a:prstGeom>
          <a:noFill/>
          <a:ln w="12700">
            <a:noFill/>
            <a:miter lim="800000"/>
            <a:headEnd/>
            <a:tailEnd/>
          </a:ln>
          <a:effectLst/>
        </p:spPr>
        <p:txBody>
          <a:bodyPr vert="horz" wrap="square" lIns="95912" tIns="47958" rIns="95912" bIns="4795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73163" y="698500"/>
            <a:ext cx="4591050" cy="3443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860120773"/>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Observational</a:t>
            </a:r>
          </a:p>
          <a:p>
            <a:r>
              <a:rPr lang="en-US" dirty="0" err="1"/>
              <a:t>Expermental</a:t>
            </a:r>
            <a:r>
              <a:rPr lang="en-US" dirty="0"/>
              <a:t> study</a:t>
            </a:r>
          </a:p>
        </p:txBody>
      </p:sp>
    </p:spTree>
    <p:extLst>
      <p:ext uri="{BB962C8B-B14F-4D97-AF65-F5344CB8AC3E}">
        <p14:creationId xmlns:p14="http://schemas.microsoft.com/office/powerpoint/2010/main" val="315215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1" u="none" strike="noStrike" baseline="0" dirty="0">
                <a:latin typeface="CMSY10"/>
              </a:rPr>
              <a:t>{</a:t>
            </a:r>
            <a:r>
              <a:rPr lang="en-US" sz="1800" b="0" i="0" u="none" strike="noStrike" baseline="0" dirty="0">
                <a:latin typeface="CMR10"/>
              </a:rPr>
              <a:t>HDTV=Yes</a:t>
            </a:r>
            <a:r>
              <a:rPr lang="en-US" sz="1800" b="0" i="1" u="none" strike="noStrike" baseline="0" dirty="0">
                <a:latin typeface="CMSY10"/>
              </a:rPr>
              <a:t>}</a:t>
            </a:r>
          </a:p>
          <a:p>
            <a:pPr algn="l"/>
            <a:r>
              <a:rPr lang="en-US" sz="1800" b="0" i="1" u="none" strike="noStrike" baseline="0" dirty="0">
                <a:latin typeface="CMSY10"/>
              </a:rPr>
              <a:t>−→ {</a:t>
            </a:r>
            <a:r>
              <a:rPr lang="en-US" sz="1800" b="0" i="0" u="none" strike="noStrike" baseline="0" dirty="0">
                <a:latin typeface="CMR10"/>
              </a:rPr>
              <a:t>Exercise machine=Yes</a:t>
            </a:r>
            <a:r>
              <a:rPr lang="en-US" sz="1800" b="0" i="1" u="none" strike="noStrike" baseline="0" dirty="0">
                <a:latin typeface="CMSY10"/>
              </a:rPr>
              <a:t>}</a:t>
            </a:r>
          </a:p>
          <a:p>
            <a:pPr algn="l"/>
            <a:r>
              <a:rPr lang="en-US" sz="1800" b="0" i="1" u="none" strike="noStrike" baseline="0" dirty="0">
                <a:latin typeface="CMSY10"/>
              </a:rPr>
              <a:t>{</a:t>
            </a:r>
            <a:r>
              <a:rPr lang="en-US" sz="1800" b="0" i="0" u="none" strike="noStrike" baseline="0" dirty="0">
                <a:latin typeface="CMR10"/>
              </a:rPr>
              <a:t>HDTV=No</a:t>
            </a:r>
            <a:r>
              <a:rPr lang="en-US" sz="1800" b="0" i="1" u="none" strike="noStrike" baseline="0" dirty="0">
                <a:latin typeface="CMSY10"/>
              </a:rPr>
              <a:t>} −→ {</a:t>
            </a:r>
            <a:r>
              <a:rPr lang="en-US" sz="1800" b="0" i="0" u="none" strike="noStrike" baseline="0" dirty="0">
                <a:latin typeface="CMR10"/>
              </a:rPr>
              <a:t>Exercise machine=Yes</a:t>
            </a:r>
            <a:r>
              <a:rPr lang="en-US" sz="1800" b="0" i="1" u="none" strike="noStrike" baseline="0" dirty="0">
                <a:latin typeface="CMSY10"/>
              </a:rPr>
              <a:t>}</a:t>
            </a:r>
          </a:p>
          <a:p>
            <a:pPr algn="l"/>
            <a:r>
              <a:rPr lang="en-US" sz="1800" b="0" i="0" u="none" strike="noStrike" baseline="0" dirty="0">
                <a:latin typeface="CMR10"/>
              </a:rPr>
              <a:t>99</a:t>
            </a:r>
            <a:r>
              <a:rPr lang="en-US" sz="1800" b="0" i="1" u="none" strike="noStrike" baseline="0" dirty="0">
                <a:latin typeface="CMMI10"/>
              </a:rPr>
              <a:t>/</a:t>
            </a:r>
            <a:r>
              <a:rPr lang="en-US" sz="1800" b="0" i="0" u="none" strike="noStrike" baseline="0" dirty="0">
                <a:latin typeface="CMR10"/>
              </a:rPr>
              <a:t>180 = 55%</a:t>
            </a:r>
          </a:p>
          <a:p>
            <a:pPr algn="l"/>
            <a:r>
              <a:rPr lang="en-US" sz="1800" b="0" i="0" u="none" strike="noStrike" baseline="0" dirty="0">
                <a:latin typeface="CMR10"/>
              </a:rPr>
              <a:t>54</a:t>
            </a:r>
            <a:r>
              <a:rPr lang="en-US" sz="1800" b="0" i="1" u="none" strike="noStrike" baseline="0" dirty="0">
                <a:latin typeface="CMMI10"/>
              </a:rPr>
              <a:t>/</a:t>
            </a:r>
            <a:r>
              <a:rPr lang="en-US" sz="1800" b="0" i="0" u="none" strike="noStrike" baseline="0" dirty="0">
                <a:latin typeface="CMR10"/>
              </a:rPr>
              <a:t>120 = 45%.</a:t>
            </a:r>
            <a:endParaRPr lang="en-US" dirty="0"/>
          </a:p>
        </p:txBody>
      </p:sp>
    </p:spTree>
    <p:extLst>
      <p:ext uri="{BB962C8B-B14F-4D97-AF65-F5344CB8AC3E}">
        <p14:creationId xmlns:p14="http://schemas.microsoft.com/office/powerpoint/2010/main" val="1870821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However, a deeper analysis reveals that the sales of these items depend</a:t>
            </a:r>
          </a:p>
          <a:p>
            <a:pPr algn="l"/>
            <a:r>
              <a:rPr lang="en-US" sz="1800" b="0" i="0" u="none" strike="noStrike" baseline="0" dirty="0">
                <a:latin typeface="CMR10"/>
              </a:rPr>
              <a:t>on whether the customer is a college student or a working adult. Table 6.20</a:t>
            </a:r>
          </a:p>
          <a:p>
            <a:pPr algn="l"/>
            <a:r>
              <a:rPr lang="en-US" sz="1800" b="0" i="0" u="none" strike="noStrike" baseline="0" dirty="0">
                <a:latin typeface="CMR10"/>
              </a:rPr>
              <a:t>summarizes the relationship between the sale of HDTVs and exercise machines</a:t>
            </a:r>
          </a:p>
          <a:p>
            <a:pPr algn="l"/>
            <a:r>
              <a:rPr lang="en-US" sz="1800" b="0" i="0" u="none" strike="noStrike" baseline="0" dirty="0">
                <a:latin typeface="CMR10"/>
              </a:rPr>
              <a:t>among college students and working adults. Notice that the support counts</a:t>
            </a:r>
          </a:p>
          <a:p>
            <a:pPr algn="l"/>
            <a:r>
              <a:rPr lang="en-US" sz="1800" b="0" i="0" u="none" strike="noStrike" baseline="0" dirty="0">
                <a:latin typeface="CMR10"/>
              </a:rPr>
              <a:t>given in the table for college students and working adults sum up to the frequencies</a:t>
            </a:r>
          </a:p>
          <a:p>
            <a:pPr algn="l"/>
            <a:r>
              <a:rPr lang="en-US" sz="1800" b="0" i="0" u="none" strike="noStrike" baseline="0" dirty="0">
                <a:latin typeface="CMR10"/>
              </a:rPr>
              <a:t>shown in Table 6.19. Furthermore, there are more working adults</a:t>
            </a:r>
          </a:p>
          <a:p>
            <a:pPr algn="l"/>
            <a:endParaRPr lang="en-US" sz="1800" b="0" i="0" u="none" strike="noStrike" baseline="0" dirty="0">
              <a:latin typeface="CMR10"/>
            </a:endParaRPr>
          </a:p>
          <a:p>
            <a:pPr algn="l"/>
            <a:r>
              <a:rPr lang="en-US" sz="1800" b="0" i="1" u="none" strike="noStrike" baseline="0" dirty="0">
                <a:latin typeface="CMMI10"/>
              </a:rPr>
              <a:t>c</a:t>
            </a:r>
          </a:p>
          <a:p>
            <a:pPr algn="l"/>
            <a:endParaRPr lang="en-US" sz="1800" b="0" i="0" u="none" strike="noStrike" baseline="0" dirty="0">
              <a:latin typeface="CMEX10"/>
            </a:endParaRPr>
          </a:p>
          <a:p>
            <a:pPr algn="l"/>
            <a:r>
              <a:rPr lang="en-US" sz="1800" b="0" i="1" u="none" strike="noStrike" baseline="0" dirty="0">
                <a:latin typeface="CMSY10"/>
              </a:rPr>
              <a:t>{</a:t>
            </a:r>
            <a:r>
              <a:rPr lang="en-US" sz="1800" b="0" i="0" u="none" strike="noStrike" baseline="0" dirty="0">
                <a:latin typeface="CMR10"/>
              </a:rPr>
              <a:t>HDTV=Yes</a:t>
            </a:r>
            <a:r>
              <a:rPr lang="en-US" sz="1800" b="0" i="1" u="none" strike="noStrike" baseline="0" dirty="0">
                <a:latin typeface="CMSY10"/>
              </a:rPr>
              <a:t>} −→ {</a:t>
            </a:r>
            <a:r>
              <a:rPr lang="en-US" sz="1800" b="0" i="0" u="none" strike="noStrike" baseline="0" dirty="0">
                <a:latin typeface="CMR10"/>
              </a:rPr>
              <a:t>Exercise machine=Yes</a:t>
            </a:r>
            <a:r>
              <a:rPr lang="en-US" sz="1800" b="0" i="1" u="none" strike="noStrike" baseline="0" dirty="0">
                <a:latin typeface="CMSY10"/>
              </a:rPr>
              <a:t>}</a:t>
            </a:r>
          </a:p>
          <a:p>
            <a:pPr algn="l"/>
            <a:endParaRPr lang="en-US" sz="1800" b="0" i="0" u="none" strike="noStrike" baseline="0" dirty="0">
              <a:latin typeface="CMEX10"/>
            </a:endParaRPr>
          </a:p>
          <a:p>
            <a:pPr algn="l"/>
            <a:r>
              <a:rPr lang="en-US" sz="1800" b="0" i="0" u="none" strike="noStrike" baseline="0" dirty="0">
                <a:latin typeface="CMR10"/>
              </a:rPr>
              <a:t>= 1</a:t>
            </a:r>
            <a:r>
              <a:rPr lang="en-US" sz="1800" b="0" i="1" u="none" strike="noStrike" baseline="0" dirty="0">
                <a:latin typeface="CMMI10"/>
              </a:rPr>
              <a:t>/</a:t>
            </a:r>
            <a:r>
              <a:rPr lang="en-US" sz="1800" b="0" i="0" u="none" strike="noStrike" baseline="0" dirty="0">
                <a:latin typeface="CMR10"/>
              </a:rPr>
              <a:t>10 = 10%</a:t>
            </a:r>
            <a:r>
              <a:rPr lang="en-US" sz="1800" b="0" i="1" u="none" strike="noStrike" baseline="0" dirty="0">
                <a:latin typeface="CMMI10"/>
              </a:rPr>
              <a:t>,</a:t>
            </a:r>
          </a:p>
          <a:p>
            <a:pPr algn="l"/>
            <a:r>
              <a:rPr lang="en-US" sz="1800" b="0" i="1" u="none" strike="noStrike" baseline="0" dirty="0">
                <a:latin typeface="CMMI10"/>
              </a:rPr>
              <a:t>c</a:t>
            </a:r>
          </a:p>
          <a:p>
            <a:pPr algn="l"/>
            <a:endParaRPr lang="en-US" sz="1800" b="0" i="0" u="none" strike="noStrike" baseline="0" dirty="0">
              <a:latin typeface="CMEX10"/>
            </a:endParaRPr>
          </a:p>
          <a:p>
            <a:pPr algn="l"/>
            <a:r>
              <a:rPr lang="en-US" sz="1800" b="0" i="1" u="none" strike="noStrike" baseline="0" dirty="0">
                <a:latin typeface="CMSY10"/>
              </a:rPr>
              <a:t>{</a:t>
            </a:r>
            <a:r>
              <a:rPr lang="en-US" sz="1800" b="0" i="0" u="none" strike="noStrike" baseline="0" dirty="0">
                <a:latin typeface="CMR10"/>
              </a:rPr>
              <a:t>HDTV=No</a:t>
            </a:r>
            <a:r>
              <a:rPr lang="en-US" sz="1800" b="0" i="1" u="none" strike="noStrike" baseline="0" dirty="0">
                <a:latin typeface="CMSY10"/>
              </a:rPr>
              <a:t>} −→ {</a:t>
            </a:r>
            <a:r>
              <a:rPr lang="en-US" sz="1800" b="0" i="0" u="none" strike="noStrike" baseline="0" dirty="0">
                <a:latin typeface="CMR10"/>
              </a:rPr>
              <a:t>Exercise machine=Yes</a:t>
            </a:r>
            <a:r>
              <a:rPr lang="en-US" sz="1800" b="0" i="1" u="none" strike="noStrike" baseline="0" dirty="0">
                <a:latin typeface="CMSY10"/>
              </a:rPr>
              <a:t>}</a:t>
            </a:r>
          </a:p>
          <a:p>
            <a:pPr algn="l"/>
            <a:endParaRPr lang="en-US" sz="1800" b="0" i="0" u="none" strike="noStrike" baseline="0" dirty="0">
              <a:latin typeface="CMEX10"/>
            </a:endParaRPr>
          </a:p>
          <a:p>
            <a:pPr algn="l"/>
            <a:r>
              <a:rPr lang="en-US" sz="1800" b="0" i="0" u="none" strike="noStrike" baseline="0" dirty="0">
                <a:latin typeface="CMR10"/>
              </a:rPr>
              <a:t>= 4</a:t>
            </a:r>
            <a:r>
              <a:rPr lang="en-US" sz="1800" b="0" i="1" u="none" strike="noStrike" baseline="0" dirty="0">
                <a:latin typeface="CMMI10"/>
              </a:rPr>
              <a:t>/</a:t>
            </a:r>
            <a:r>
              <a:rPr lang="en-US" sz="1800" b="0" i="0" u="none" strike="noStrike" baseline="0" dirty="0">
                <a:latin typeface="CMR10"/>
              </a:rPr>
              <a:t>34 = 11</a:t>
            </a:r>
            <a:r>
              <a:rPr lang="en-US" sz="1800" b="0" i="1" u="none" strike="noStrike" baseline="0" dirty="0">
                <a:latin typeface="CMMI10"/>
              </a:rPr>
              <a:t>.</a:t>
            </a:r>
            <a:r>
              <a:rPr lang="en-US" sz="1800" b="0" i="0" u="none" strike="noStrike" baseline="0" dirty="0">
                <a:latin typeface="CMR10"/>
              </a:rPr>
              <a:t>8%</a:t>
            </a:r>
            <a:r>
              <a:rPr lang="en-US" sz="1800" b="0" i="1" u="none" strike="noStrike" baseline="0" dirty="0">
                <a:latin typeface="CMMI10"/>
              </a:rPr>
              <a:t>,</a:t>
            </a:r>
            <a:endParaRPr lang="en-US" sz="1800" b="0" i="0" u="none" strike="noStrike" baseline="0" dirty="0">
              <a:latin typeface="CMR10"/>
            </a:endParaRPr>
          </a:p>
          <a:p>
            <a:pPr algn="l"/>
            <a:endParaRPr lang="en-US" sz="1800" b="0" i="0" u="none" strike="noStrike" baseline="0" dirty="0">
              <a:latin typeface="CMR10"/>
            </a:endParaRPr>
          </a:p>
          <a:p>
            <a:pPr algn="l"/>
            <a:r>
              <a:rPr lang="en-US" sz="1800" b="0" i="1" u="none" strike="noStrike" baseline="0" dirty="0">
                <a:latin typeface="CMMI10"/>
              </a:rPr>
              <a:t>c</a:t>
            </a:r>
          </a:p>
          <a:p>
            <a:pPr algn="l"/>
            <a:endParaRPr lang="en-US" sz="1800" b="0" i="0" u="none" strike="noStrike" baseline="0" dirty="0">
              <a:latin typeface="CMEX10"/>
            </a:endParaRPr>
          </a:p>
          <a:p>
            <a:pPr algn="l"/>
            <a:r>
              <a:rPr lang="en-US" sz="1800" b="0" i="1" u="none" strike="noStrike" baseline="0" dirty="0">
                <a:latin typeface="CMSY10"/>
              </a:rPr>
              <a:t>{</a:t>
            </a:r>
            <a:r>
              <a:rPr lang="en-US" sz="1800" b="0" i="0" u="none" strike="noStrike" baseline="0" dirty="0">
                <a:latin typeface="CMR10"/>
              </a:rPr>
              <a:t>HDTV=Yes</a:t>
            </a:r>
            <a:r>
              <a:rPr lang="en-US" sz="1800" b="0" i="1" u="none" strike="noStrike" baseline="0" dirty="0">
                <a:latin typeface="CMSY10"/>
              </a:rPr>
              <a:t>} −→ {</a:t>
            </a:r>
            <a:r>
              <a:rPr lang="en-US" sz="1800" b="0" i="0" u="none" strike="noStrike" baseline="0" dirty="0">
                <a:latin typeface="CMR10"/>
              </a:rPr>
              <a:t>Exercise machine=Yes</a:t>
            </a:r>
            <a:r>
              <a:rPr lang="en-US" sz="1800" b="0" i="1" u="none" strike="noStrike" baseline="0" dirty="0">
                <a:latin typeface="CMSY10"/>
              </a:rPr>
              <a:t>}</a:t>
            </a:r>
          </a:p>
          <a:p>
            <a:pPr algn="l"/>
            <a:endParaRPr lang="en-US" sz="1800" b="0" i="0" u="none" strike="noStrike" baseline="0" dirty="0">
              <a:latin typeface="CMEX10"/>
            </a:endParaRPr>
          </a:p>
          <a:p>
            <a:pPr algn="l"/>
            <a:r>
              <a:rPr lang="en-US" sz="1800" b="0" i="0" u="none" strike="noStrike" baseline="0" dirty="0">
                <a:latin typeface="CMR10"/>
              </a:rPr>
              <a:t>= 98</a:t>
            </a:r>
            <a:r>
              <a:rPr lang="en-US" sz="1800" b="0" i="1" u="none" strike="noStrike" baseline="0" dirty="0">
                <a:latin typeface="CMMI10"/>
              </a:rPr>
              <a:t>/</a:t>
            </a:r>
            <a:r>
              <a:rPr lang="en-US" sz="1800" b="0" i="0" u="none" strike="noStrike" baseline="0" dirty="0">
                <a:latin typeface="CMR10"/>
              </a:rPr>
              <a:t>170 = 57</a:t>
            </a:r>
            <a:r>
              <a:rPr lang="en-US" sz="1800" b="0" i="1" u="none" strike="noStrike" baseline="0" dirty="0">
                <a:latin typeface="CMMI10"/>
              </a:rPr>
              <a:t>.</a:t>
            </a:r>
            <a:r>
              <a:rPr lang="en-US" sz="1800" b="0" i="0" u="none" strike="noStrike" baseline="0" dirty="0">
                <a:latin typeface="CMR10"/>
              </a:rPr>
              <a:t>7%</a:t>
            </a:r>
            <a:r>
              <a:rPr lang="en-US" sz="1800" b="0" i="1" u="none" strike="noStrike" baseline="0" dirty="0">
                <a:latin typeface="CMMI10"/>
              </a:rPr>
              <a:t>,</a:t>
            </a:r>
          </a:p>
          <a:p>
            <a:pPr algn="l"/>
            <a:r>
              <a:rPr lang="en-US" sz="1800" b="0" i="1" u="none" strike="noStrike" baseline="0" dirty="0">
                <a:latin typeface="CMMI10"/>
              </a:rPr>
              <a:t>c</a:t>
            </a:r>
          </a:p>
          <a:p>
            <a:pPr algn="l"/>
            <a:endParaRPr lang="en-US" sz="1800" b="0" i="0" u="none" strike="noStrike" baseline="0" dirty="0">
              <a:latin typeface="CMEX10"/>
            </a:endParaRPr>
          </a:p>
          <a:p>
            <a:pPr algn="l"/>
            <a:r>
              <a:rPr lang="en-US" sz="1800" b="0" i="1" u="none" strike="noStrike" baseline="0" dirty="0">
                <a:latin typeface="CMSY10"/>
              </a:rPr>
              <a:t>{</a:t>
            </a:r>
            <a:r>
              <a:rPr lang="en-US" sz="1800" b="0" i="0" u="none" strike="noStrike" baseline="0" dirty="0">
                <a:latin typeface="CMR10"/>
              </a:rPr>
              <a:t>HDTV=No</a:t>
            </a:r>
            <a:r>
              <a:rPr lang="en-US" sz="1800" b="0" i="1" u="none" strike="noStrike" baseline="0" dirty="0">
                <a:latin typeface="CMSY10"/>
              </a:rPr>
              <a:t>} −→ {</a:t>
            </a:r>
            <a:r>
              <a:rPr lang="en-US" sz="1800" b="0" i="0" u="none" strike="noStrike" baseline="0" dirty="0">
                <a:latin typeface="CMR10"/>
              </a:rPr>
              <a:t>Exercise machine=Yes</a:t>
            </a:r>
            <a:r>
              <a:rPr lang="en-US" sz="1800" b="0" i="1" u="none" strike="noStrike" baseline="0" dirty="0">
                <a:latin typeface="CMSY10"/>
              </a:rPr>
              <a:t>}</a:t>
            </a:r>
          </a:p>
          <a:p>
            <a:pPr algn="l"/>
            <a:endParaRPr lang="en-US" sz="1800" b="0" i="0" u="none" strike="noStrike" baseline="0" dirty="0">
              <a:latin typeface="CMEX10"/>
            </a:endParaRPr>
          </a:p>
          <a:p>
            <a:pPr algn="l"/>
            <a:r>
              <a:rPr lang="en-US" sz="1800" b="0" i="0" u="none" strike="noStrike" baseline="0" dirty="0">
                <a:latin typeface="CMR10"/>
              </a:rPr>
              <a:t>= 50</a:t>
            </a:r>
            <a:r>
              <a:rPr lang="en-US" sz="1800" b="0" i="1" u="none" strike="noStrike" baseline="0" dirty="0">
                <a:latin typeface="CMMI10"/>
              </a:rPr>
              <a:t>/</a:t>
            </a:r>
            <a:r>
              <a:rPr lang="en-US" sz="1800" b="0" i="0" u="none" strike="noStrike" baseline="0" dirty="0">
                <a:latin typeface="CMR10"/>
              </a:rPr>
              <a:t>86 = 58</a:t>
            </a:r>
            <a:r>
              <a:rPr lang="en-US" sz="1800" b="0" i="1" u="none" strike="noStrike" baseline="0" dirty="0">
                <a:latin typeface="CMMI10"/>
              </a:rPr>
              <a:t>.</a:t>
            </a:r>
            <a:r>
              <a:rPr lang="en-US" sz="1800" b="0" i="0" u="none" strike="noStrike" baseline="0" dirty="0">
                <a:latin typeface="CMR10"/>
              </a:rPr>
              <a:t>1%</a:t>
            </a:r>
            <a:r>
              <a:rPr lang="en-US" sz="1800" b="0" i="1" u="none" strike="noStrike" baseline="0" dirty="0">
                <a:latin typeface="CMMI10"/>
              </a:rPr>
              <a:t>.</a:t>
            </a:r>
            <a:endParaRPr lang="en-US" dirty="0"/>
          </a:p>
        </p:txBody>
      </p:sp>
    </p:spTree>
    <p:extLst>
      <p:ext uri="{BB962C8B-B14F-4D97-AF65-F5344CB8AC3E}">
        <p14:creationId xmlns:p14="http://schemas.microsoft.com/office/powerpoint/2010/main" val="369543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latin typeface="CMR10"/>
              </a:rPr>
              <a:t>user-specified threshold</a:t>
            </a:r>
            <a:endParaRPr lang="en-US" dirty="0"/>
          </a:p>
        </p:txBody>
      </p:sp>
    </p:spTree>
    <p:extLst>
      <p:ext uri="{BB962C8B-B14F-4D97-AF65-F5344CB8AC3E}">
        <p14:creationId xmlns:p14="http://schemas.microsoft.com/office/powerpoint/2010/main" val="2368959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84833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8258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81166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82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2174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7952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525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5507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1091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221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8067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6613" y="1143000"/>
            <a:ext cx="4083050" cy="5181600"/>
          </a:xfrm>
        </p:spPr>
        <p:txBody>
          <a:bodyPr/>
          <a:lstStyle/>
          <a:p>
            <a:pPr lvl="0"/>
            <a:endParaRPr lang="en-US" noProof="0"/>
          </a:p>
        </p:txBody>
      </p:sp>
    </p:spTree>
    <p:extLst>
      <p:ext uri="{BB962C8B-B14F-4D97-AF65-F5344CB8AC3E}">
        <p14:creationId xmlns:p14="http://schemas.microsoft.com/office/powerpoint/2010/main" val="355188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9"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1"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dirty="0"/>
              <a:t>3/8/2021             </a:t>
            </a:r>
            <a:r>
              <a:rPr lang="en-US" baseline="0" dirty="0"/>
              <a:t>         </a:t>
            </a:r>
            <a:r>
              <a:rPr lang="en-US" dirty="0"/>
              <a:t>Introduction to Data Mining, 2</a:t>
            </a:r>
            <a:r>
              <a:rPr lang="en-US" baseline="30000" dirty="0"/>
              <a:t>nd</a:t>
            </a:r>
            <a:r>
              <a:rPr lang="en-US" dirty="0"/>
              <a:t> Edition 			</a:t>
            </a:r>
            <a:r>
              <a:rPr lang="en-US" baseline="0" dirty="0"/>
              <a:t>           </a:t>
            </a:r>
            <a:fld id="{7C9F7F48-2944-4AF0-87BF-27ECBE076434}"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66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a:t>Simpson’s Paradox</a:t>
            </a:r>
          </a:p>
        </p:txBody>
      </p:sp>
      <p:sp>
        <p:nvSpPr>
          <p:cNvPr id="97283" name="Rectangle 3"/>
          <p:cNvSpPr>
            <a:spLocks noGrp="1" noChangeArrowheads="1"/>
          </p:cNvSpPr>
          <p:nvPr>
            <p:ph type="body" idx="1"/>
          </p:nvPr>
        </p:nvSpPr>
        <p:spPr/>
        <p:txBody>
          <a:bodyPr/>
          <a:lstStyle/>
          <a:p>
            <a:r>
              <a:rPr lang="en-US" altLang="en-US" dirty="0"/>
              <a:t>Observed relationship in data may be influenced by the presence of other confounding factors (hidden variables)</a:t>
            </a:r>
          </a:p>
          <a:p>
            <a:pPr lvl="1"/>
            <a:r>
              <a:rPr lang="en-US" altLang="en-US" dirty="0"/>
              <a:t>Hidden variables may cause the observed relationship to disappear or reverse its direction!</a:t>
            </a:r>
          </a:p>
          <a:p>
            <a:pPr lvl="1"/>
            <a:endParaRPr lang="en-US" altLang="en-US" dirty="0"/>
          </a:p>
          <a:p>
            <a:r>
              <a:rPr lang="en-US" altLang="en-US" dirty="0"/>
              <a:t>Proper measures are required to avoid generating spurious patterns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r>
              <a:rPr lang="en-US" altLang="en-US" dirty="0"/>
              <a:t>Recovery rate from </a:t>
            </a:r>
            <a:r>
              <a:rPr lang="en-US" altLang="en-US" dirty="0" err="1"/>
              <a:t>Covid</a:t>
            </a:r>
            <a:endParaRPr lang="en-US" altLang="en-US" dirty="0"/>
          </a:p>
          <a:p>
            <a:pPr lvl="1"/>
            <a:r>
              <a:rPr lang="en-US" altLang="en-US" dirty="0"/>
              <a:t>Hospital A:  80%</a:t>
            </a:r>
          </a:p>
          <a:p>
            <a:pPr lvl="1"/>
            <a:r>
              <a:rPr lang="en-US" altLang="en-US" dirty="0"/>
              <a:t>Hospital B:  90%</a:t>
            </a:r>
          </a:p>
          <a:p>
            <a:r>
              <a:rPr lang="en-US" altLang="en-US" dirty="0"/>
              <a:t>Which hospital is better?</a:t>
            </a:r>
          </a:p>
        </p:txBody>
      </p:sp>
    </p:spTree>
    <p:extLst>
      <p:ext uri="{BB962C8B-B14F-4D97-AF65-F5344CB8AC3E}">
        <p14:creationId xmlns:p14="http://schemas.microsoft.com/office/powerpoint/2010/main" val="1873447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r>
              <a:rPr lang="en-US" altLang="en-US" dirty="0"/>
              <a:t>Recovery rate from </a:t>
            </a:r>
            <a:r>
              <a:rPr lang="en-US" altLang="en-US" dirty="0" err="1"/>
              <a:t>Covid</a:t>
            </a:r>
            <a:endParaRPr lang="en-US" altLang="en-US" dirty="0"/>
          </a:p>
          <a:p>
            <a:pPr lvl="1"/>
            <a:r>
              <a:rPr lang="en-US" altLang="en-US" dirty="0"/>
              <a:t>Hospital A:  80%</a:t>
            </a:r>
          </a:p>
          <a:p>
            <a:pPr lvl="1"/>
            <a:r>
              <a:rPr lang="en-US" altLang="en-US" dirty="0"/>
              <a:t>Hospital B:  90%</a:t>
            </a:r>
          </a:p>
          <a:p>
            <a:r>
              <a:rPr lang="en-US" altLang="en-US" dirty="0"/>
              <a:t>Which hospital is better?</a:t>
            </a:r>
          </a:p>
          <a:p>
            <a:r>
              <a:rPr lang="en-US" altLang="en-US" dirty="0" err="1"/>
              <a:t>Covid</a:t>
            </a:r>
            <a:r>
              <a:rPr lang="en-US" altLang="en-US" dirty="0"/>
              <a:t> recovery rate on older population</a:t>
            </a:r>
          </a:p>
          <a:p>
            <a:pPr lvl="1"/>
            <a:r>
              <a:rPr lang="en-US" altLang="en-US" dirty="0"/>
              <a:t>Hospital A:  50%</a:t>
            </a:r>
          </a:p>
          <a:p>
            <a:pPr lvl="1"/>
            <a:r>
              <a:rPr lang="en-US" altLang="en-US" dirty="0"/>
              <a:t>Hospital B:  30%</a:t>
            </a:r>
          </a:p>
          <a:p>
            <a:r>
              <a:rPr lang="en-US" altLang="en-US" dirty="0" err="1"/>
              <a:t>Covid</a:t>
            </a:r>
            <a:r>
              <a:rPr lang="en-US" altLang="en-US" dirty="0"/>
              <a:t> recovery rate on younger population</a:t>
            </a:r>
          </a:p>
          <a:p>
            <a:pPr lvl="1"/>
            <a:r>
              <a:rPr lang="en-US" altLang="en-US" dirty="0"/>
              <a:t>Hospital A:  99%</a:t>
            </a:r>
          </a:p>
          <a:p>
            <a:pPr lvl="1"/>
            <a:r>
              <a:rPr lang="en-US" altLang="en-US" dirty="0"/>
              <a:t>Hospital B:  98%</a:t>
            </a:r>
          </a:p>
          <a:p>
            <a:endParaRPr lang="en-US" altLang="en-US" dirty="0"/>
          </a:p>
        </p:txBody>
      </p:sp>
    </p:spTree>
    <p:extLst>
      <p:ext uri="{BB962C8B-B14F-4D97-AF65-F5344CB8AC3E}">
        <p14:creationId xmlns:p14="http://schemas.microsoft.com/office/powerpoint/2010/main" val="3138906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pPr marL="0" indent="0">
              <a:buNone/>
            </a:pPr>
            <a:r>
              <a:rPr lang="en-US" altLang="en-US" dirty="0"/>
              <a:t> </a:t>
            </a:r>
          </a:p>
        </p:txBody>
      </p:sp>
      <p:pic>
        <p:nvPicPr>
          <p:cNvPr id="3" name="Picture 2" descr="A table with numbers and words&#10;&#10;Description automatically generated">
            <a:extLst>
              <a:ext uri="{FF2B5EF4-FFF2-40B4-BE49-F238E27FC236}">
                <a16:creationId xmlns:a16="http://schemas.microsoft.com/office/drawing/2014/main" id="{12C4F108-AA9B-9C22-EA89-3D4DC32449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7890" y="2314419"/>
            <a:ext cx="5868219" cy="2229161"/>
          </a:xfrm>
          <a:prstGeom prst="rect">
            <a:avLst/>
          </a:prstGeom>
        </p:spPr>
      </p:pic>
    </p:spTree>
    <p:extLst>
      <p:ext uri="{BB962C8B-B14F-4D97-AF65-F5344CB8AC3E}">
        <p14:creationId xmlns:p14="http://schemas.microsoft.com/office/powerpoint/2010/main" val="1763993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r>
              <a:rPr lang="en-US" altLang="en-US" dirty="0"/>
              <a:t> Together, these rules suggest that customers who buy high-definition televisions are more likely to buy exercise machines than those who do not buy high-definition televisions</a:t>
            </a:r>
          </a:p>
        </p:txBody>
      </p:sp>
    </p:spTree>
    <p:extLst>
      <p:ext uri="{BB962C8B-B14F-4D97-AF65-F5344CB8AC3E}">
        <p14:creationId xmlns:p14="http://schemas.microsoft.com/office/powerpoint/2010/main" val="863720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Paradox-Continued</a:t>
            </a:r>
          </a:p>
        </p:txBody>
      </p:sp>
      <p:sp>
        <p:nvSpPr>
          <p:cNvPr id="97283" name="Rectangle 3"/>
          <p:cNvSpPr>
            <a:spLocks noGrp="1" noChangeArrowheads="1"/>
          </p:cNvSpPr>
          <p:nvPr>
            <p:ph type="body" idx="1"/>
          </p:nvPr>
        </p:nvSpPr>
        <p:spPr/>
        <p:txBody>
          <a:bodyPr/>
          <a:lstStyle/>
          <a:p>
            <a:pPr marL="0" indent="0">
              <a:buNone/>
            </a:pPr>
            <a:r>
              <a:rPr lang="en-US" altLang="en-US" dirty="0"/>
              <a:t> </a:t>
            </a:r>
          </a:p>
        </p:txBody>
      </p:sp>
      <p:pic>
        <p:nvPicPr>
          <p:cNvPr id="5" name="Picture 4" descr="A white rectangular table with black text&#10;&#10;Description automatically generated">
            <a:extLst>
              <a:ext uri="{FF2B5EF4-FFF2-40B4-BE49-F238E27FC236}">
                <a16:creationId xmlns:a16="http://schemas.microsoft.com/office/drawing/2014/main" id="{B01D8CBC-4D3B-920B-5418-669847364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362" y="2247735"/>
            <a:ext cx="8059275" cy="2362530"/>
          </a:xfrm>
          <a:prstGeom prst="rect">
            <a:avLst/>
          </a:prstGeom>
        </p:spPr>
      </p:pic>
    </p:spTree>
    <p:extLst>
      <p:ext uri="{BB962C8B-B14F-4D97-AF65-F5344CB8AC3E}">
        <p14:creationId xmlns:p14="http://schemas.microsoft.com/office/powerpoint/2010/main" val="1057475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r>
              <a:rPr lang="en-US" altLang="en-US" dirty="0"/>
              <a:t>The rules suggest that, for each group customers who do not buy high-definition televisions are more likely to buy exercise machines, which contradicts the previous conclusion when data from the two customer groups are pooled together. </a:t>
            </a:r>
          </a:p>
          <a:p>
            <a:r>
              <a:rPr lang="en-US" altLang="en-US" dirty="0"/>
              <a:t>The reversal in the direction of association is known as Simpson’s paradox</a:t>
            </a:r>
          </a:p>
        </p:txBody>
      </p:sp>
    </p:spTree>
    <p:extLst>
      <p:ext uri="{BB962C8B-B14F-4D97-AF65-F5344CB8AC3E}">
        <p14:creationId xmlns:p14="http://schemas.microsoft.com/office/powerpoint/2010/main" val="422331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dirty="0"/>
              <a:t>Simpson’s Paradox</a:t>
            </a:r>
          </a:p>
        </p:txBody>
      </p:sp>
      <p:sp>
        <p:nvSpPr>
          <p:cNvPr id="97283" name="Rectangle 3"/>
          <p:cNvSpPr>
            <a:spLocks noGrp="1" noChangeArrowheads="1"/>
          </p:cNvSpPr>
          <p:nvPr>
            <p:ph type="body" idx="1"/>
          </p:nvPr>
        </p:nvSpPr>
        <p:spPr/>
        <p:txBody>
          <a:bodyPr/>
          <a:lstStyle/>
          <a:p>
            <a:r>
              <a:rPr lang="en-US" altLang="en-US" dirty="0"/>
              <a:t>Notice that most customers who buy HDTVs are working adults. Working adults are also the largest group of customers who buy exercise machines. Because nearly 85% of the customers are working adults, the observed relationship between HDTV and exercise machine turns out to be stronger in the combined data than what it would have been if the data is stratified.</a:t>
            </a:r>
          </a:p>
          <a:p>
            <a:r>
              <a:rPr lang="en-US" altLang="en-US" dirty="0"/>
              <a:t>The reversal in the direction of association is known as Simpson’s paradox</a:t>
            </a:r>
          </a:p>
        </p:txBody>
      </p:sp>
    </p:spTree>
    <p:extLst>
      <p:ext uri="{BB962C8B-B14F-4D97-AF65-F5344CB8AC3E}">
        <p14:creationId xmlns:p14="http://schemas.microsoft.com/office/powerpoint/2010/main" val="1720763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noAutofit/>
          </a:bodyPr>
          <a:lstStyle/>
          <a:p>
            <a:r>
              <a:rPr lang="en-US" altLang="en-US" sz="2400" dirty="0"/>
              <a:t>Effect of Support Distribution on Association Mining</a:t>
            </a:r>
          </a:p>
        </p:txBody>
      </p:sp>
      <p:sp>
        <p:nvSpPr>
          <p:cNvPr id="72707" name="Rectangle 3"/>
          <p:cNvSpPr>
            <a:spLocks noGrp="1" noChangeArrowheads="1"/>
          </p:cNvSpPr>
          <p:nvPr>
            <p:ph type="body" idx="4294967295"/>
          </p:nvPr>
        </p:nvSpPr>
        <p:spPr/>
        <p:txBody>
          <a:bodyPr/>
          <a:lstStyle/>
          <a:p>
            <a:r>
              <a:rPr lang="en-US" altLang="en-US" dirty="0"/>
              <a:t>Many real data sets have skewed support distribution</a:t>
            </a:r>
          </a:p>
        </p:txBody>
      </p:sp>
      <p:pic>
        <p:nvPicPr>
          <p:cNvPr id="72708" name="Picture 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t="2753" b="5312"/>
          <a:stretch>
            <a:fillRect/>
          </a:stretch>
        </p:blipFill>
        <p:spPr>
          <a:xfrm>
            <a:off x="2743200" y="1905000"/>
            <a:ext cx="5562600" cy="4038600"/>
          </a:xfrm>
          <a:noFill/>
        </p:spPr>
      </p:pic>
      <p:sp>
        <p:nvSpPr>
          <p:cNvPr id="72709" name="Text Box 5"/>
          <p:cNvSpPr txBox="1">
            <a:spLocks noChangeArrowheads="1"/>
          </p:cNvSpPr>
          <p:nvPr/>
        </p:nvSpPr>
        <p:spPr bwMode="auto">
          <a:xfrm>
            <a:off x="304800" y="3657600"/>
            <a:ext cx="1905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Support distribution of a retail data set</a:t>
            </a:r>
          </a:p>
        </p:txBody>
      </p:sp>
      <p:sp>
        <p:nvSpPr>
          <p:cNvPr id="72710" name="Text Box 6"/>
          <p:cNvSpPr txBox="1">
            <a:spLocks noChangeArrowheads="1"/>
          </p:cNvSpPr>
          <p:nvPr/>
        </p:nvSpPr>
        <p:spPr bwMode="auto">
          <a:xfrm>
            <a:off x="4800600" y="601980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Rank of item (in log scale)</a:t>
            </a:r>
          </a:p>
        </p:txBody>
      </p:sp>
      <p:sp>
        <p:nvSpPr>
          <p:cNvPr id="1330183" name="AutoShape 7"/>
          <p:cNvSpPr>
            <a:spLocks noChangeArrowheads="1"/>
          </p:cNvSpPr>
          <p:nvPr/>
        </p:nvSpPr>
        <p:spPr bwMode="auto">
          <a:xfrm>
            <a:off x="3886200" y="2286000"/>
            <a:ext cx="2133600" cy="914400"/>
          </a:xfrm>
          <a:prstGeom prst="cloudCallout">
            <a:avLst>
              <a:gd name="adj1" fmla="val -43750"/>
              <a:gd name="adj2" fmla="val 70000"/>
            </a:avLst>
          </a:prstGeom>
          <a:solidFill>
            <a:schemeClr val="accent1"/>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1400">
                <a:solidFill>
                  <a:srgbClr val="FFFF00"/>
                </a:solidFill>
              </a:rPr>
              <a:t>Few items with high support</a:t>
            </a:r>
          </a:p>
        </p:txBody>
      </p:sp>
      <p:sp>
        <p:nvSpPr>
          <p:cNvPr id="1330184" name="AutoShape 8"/>
          <p:cNvSpPr>
            <a:spLocks noChangeArrowheads="1"/>
          </p:cNvSpPr>
          <p:nvPr/>
        </p:nvSpPr>
        <p:spPr bwMode="auto">
          <a:xfrm>
            <a:off x="5410200" y="3429000"/>
            <a:ext cx="1828800" cy="1066800"/>
          </a:xfrm>
          <a:prstGeom prst="cloudCallout">
            <a:avLst>
              <a:gd name="adj1" fmla="val 12500"/>
              <a:gd name="adj2" fmla="val 152528"/>
            </a:avLst>
          </a:prstGeom>
          <a:solidFill>
            <a:schemeClr val="accent1"/>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1400">
                <a:solidFill>
                  <a:srgbClr val="FFFF00"/>
                </a:solidFill>
              </a:rPr>
              <a:t>Many items with low support</a:t>
            </a:r>
          </a:p>
        </p:txBody>
      </p:sp>
    </p:spTree>
    <p:extLst>
      <p:ext uri="{BB962C8B-B14F-4D97-AF65-F5344CB8AC3E}">
        <p14:creationId xmlns:p14="http://schemas.microsoft.com/office/powerpoint/2010/main" val="4001748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01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0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183" grpId="0" animBg="1"/>
      <p:bldP spid="133018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p:txBody>
          <a:bodyPr>
            <a:noAutofit/>
          </a:bodyPr>
          <a:lstStyle/>
          <a:p>
            <a:r>
              <a:rPr lang="en-US" altLang="en-US" sz="2400" dirty="0"/>
              <a:t>Example</a:t>
            </a:r>
          </a:p>
        </p:txBody>
      </p:sp>
      <p:sp>
        <p:nvSpPr>
          <p:cNvPr id="72707" name="Rectangle 3"/>
          <p:cNvSpPr>
            <a:spLocks noGrp="1" noChangeArrowheads="1"/>
          </p:cNvSpPr>
          <p:nvPr>
            <p:ph type="body" idx="4294967295"/>
          </p:nvPr>
        </p:nvSpPr>
        <p:spPr/>
        <p:txBody>
          <a:bodyPr/>
          <a:lstStyle/>
          <a:p>
            <a:r>
              <a:rPr lang="en-US" altLang="en-US" dirty="0"/>
              <a:t>Many real data sets have skewed support distribution</a:t>
            </a:r>
          </a:p>
          <a:p>
            <a:endParaRPr lang="en-US" altLang="en-US" dirty="0"/>
          </a:p>
        </p:txBody>
      </p:sp>
      <p:pic>
        <p:nvPicPr>
          <p:cNvPr id="3" name="Picture 2" descr="A table with numbers and symbols&#10;&#10;Description automatically generated">
            <a:extLst>
              <a:ext uri="{FF2B5EF4-FFF2-40B4-BE49-F238E27FC236}">
                <a16:creationId xmlns:a16="http://schemas.microsoft.com/office/drawing/2014/main" id="{49F93971-511C-E4EE-6656-FDA1E274B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7284" y="2724051"/>
            <a:ext cx="6849431" cy="1409897"/>
          </a:xfrm>
          <a:prstGeom prst="rect">
            <a:avLst/>
          </a:prstGeom>
        </p:spPr>
      </p:pic>
    </p:spTree>
    <p:extLst>
      <p:ext uri="{BB962C8B-B14F-4D97-AF65-F5344CB8AC3E}">
        <p14:creationId xmlns:p14="http://schemas.microsoft.com/office/powerpoint/2010/main" val="1126915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r>
              <a:rPr lang="en-US" altLang="en-US" dirty="0"/>
              <a:t>Effect of Support Distribution</a:t>
            </a:r>
          </a:p>
        </p:txBody>
      </p:sp>
      <p:sp>
        <p:nvSpPr>
          <p:cNvPr id="73731" name="Rectangle 3"/>
          <p:cNvSpPr>
            <a:spLocks noGrp="1" noChangeArrowheads="1"/>
          </p:cNvSpPr>
          <p:nvPr>
            <p:ph type="body" idx="4294967295"/>
          </p:nvPr>
        </p:nvSpPr>
        <p:spPr/>
        <p:txBody>
          <a:bodyPr/>
          <a:lstStyle/>
          <a:p>
            <a:r>
              <a:rPr lang="en-US" altLang="en-US" dirty="0"/>
              <a:t>Difficult to set the appropriate </a:t>
            </a:r>
            <a:r>
              <a:rPr lang="en-US" altLang="en-US" i="1" dirty="0" err="1"/>
              <a:t>minsup</a:t>
            </a:r>
            <a:r>
              <a:rPr lang="en-US" altLang="en-US" dirty="0"/>
              <a:t> threshold</a:t>
            </a:r>
          </a:p>
          <a:p>
            <a:pPr lvl="1"/>
            <a:r>
              <a:rPr lang="en-US" altLang="en-US" dirty="0"/>
              <a:t>If </a:t>
            </a:r>
            <a:r>
              <a:rPr lang="en-US" altLang="en-US" i="1" dirty="0" err="1"/>
              <a:t>minsup</a:t>
            </a:r>
            <a:r>
              <a:rPr lang="en-US" altLang="en-US" dirty="0"/>
              <a:t> is too high, we could miss </a:t>
            </a:r>
            <a:r>
              <a:rPr lang="en-US" altLang="en-US" dirty="0" err="1"/>
              <a:t>itemsets</a:t>
            </a:r>
            <a:r>
              <a:rPr lang="en-US" altLang="en-US" dirty="0"/>
              <a:t> involving interesting rare items (e.g., {caviar, vodka})</a:t>
            </a:r>
          </a:p>
          <a:p>
            <a:pPr lvl="1">
              <a:buFont typeface="Arial" charset="0"/>
              <a:buNone/>
            </a:pPr>
            <a:endParaRPr lang="en-US" altLang="en-US" dirty="0"/>
          </a:p>
          <a:p>
            <a:pPr lvl="1"/>
            <a:r>
              <a:rPr lang="en-US" altLang="en-US" dirty="0"/>
              <a:t>If </a:t>
            </a:r>
            <a:r>
              <a:rPr lang="en-US" altLang="en-US" i="1" dirty="0" err="1"/>
              <a:t>minsup</a:t>
            </a:r>
            <a:r>
              <a:rPr lang="en-US" altLang="en-US" dirty="0"/>
              <a:t> is too low, it is computationally expensive and the number of </a:t>
            </a:r>
            <a:r>
              <a:rPr lang="en-US" altLang="en-US" dirty="0" err="1"/>
              <a:t>itemsets</a:t>
            </a:r>
            <a:r>
              <a:rPr lang="en-US" altLang="en-US" dirty="0"/>
              <a:t> is very large</a:t>
            </a:r>
          </a:p>
          <a:p>
            <a:pPr lvl="1"/>
            <a:endParaRPr lang="en-US" altLang="en-US" dirty="0"/>
          </a:p>
        </p:txBody>
      </p:sp>
    </p:spTree>
    <p:extLst>
      <p:ext uri="{BB962C8B-B14F-4D97-AF65-F5344CB8AC3E}">
        <p14:creationId xmlns:p14="http://schemas.microsoft.com/office/powerpoint/2010/main" val="2797925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r>
              <a:rPr lang="en-US" altLang="en-US" dirty="0"/>
              <a:t>Cross-Support Patterns</a:t>
            </a:r>
          </a:p>
        </p:txBody>
      </p:sp>
      <p:sp>
        <p:nvSpPr>
          <p:cNvPr id="73731" name="Rectangle 3"/>
          <p:cNvSpPr>
            <a:spLocks noGrp="1" noChangeArrowheads="1"/>
          </p:cNvSpPr>
          <p:nvPr>
            <p:ph type="body" idx="4294967295"/>
          </p:nvPr>
        </p:nvSpPr>
        <p:spPr/>
        <p:txBody>
          <a:bodyPr/>
          <a:lstStyle/>
          <a:p>
            <a:pPr lvl="1"/>
            <a:r>
              <a:rPr lang="en-US" altLang="en-US" dirty="0"/>
              <a:t>First, the computational and memory requirements of existing association analysis algorithms increase considerably with low support thresholds.</a:t>
            </a:r>
          </a:p>
          <a:p>
            <a:pPr lvl="1"/>
            <a:r>
              <a:rPr lang="en-US" altLang="en-US" dirty="0"/>
              <a:t>Second, the number of extracted patterns also increases substantially with low support thresholds.</a:t>
            </a:r>
          </a:p>
          <a:p>
            <a:pPr lvl="1"/>
            <a:r>
              <a:rPr lang="en-US" altLang="en-US" dirty="0"/>
              <a:t> Third, we may extract many spurious patterns that relate a high-frequency item such as milk to a low-frequency item such as caviar.</a:t>
            </a:r>
          </a:p>
          <a:p>
            <a:pPr lvl="1"/>
            <a:r>
              <a:rPr lang="en-US" altLang="en-US" dirty="0"/>
              <a:t>Such patterns, which are called cross-support patterns, are likely to be spurious because their correlations tend to be weak</a:t>
            </a:r>
          </a:p>
        </p:txBody>
      </p:sp>
    </p:spTree>
    <p:extLst>
      <p:ext uri="{BB962C8B-B14F-4D97-AF65-F5344CB8AC3E}">
        <p14:creationId xmlns:p14="http://schemas.microsoft.com/office/powerpoint/2010/main" val="3264140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p:txBody>
          <a:bodyPr/>
          <a:lstStyle/>
          <a:p>
            <a:r>
              <a:rPr lang="en-US" altLang="en-US" sz="2800"/>
              <a:t>Cross-Support Patterns</a:t>
            </a:r>
          </a:p>
        </p:txBody>
      </p:sp>
      <p:pic>
        <p:nvPicPr>
          <p:cNvPr id="74755" name="Picture 3" descr="suppdist"/>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t="9784"/>
          <a:stretch>
            <a:fillRect/>
          </a:stretch>
        </p:blipFill>
        <p:spPr>
          <a:xfrm>
            <a:off x="228600" y="2133600"/>
            <a:ext cx="4572000" cy="3200400"/>
          </a:xfrm>
          <a:noFill/>
        </p:spPr>
      </p:pic>
      <p:sp>
        <p:nvSpPr>
          <p:cNvPr id="74756" name="Text Box 4"/>
          <p:cNvSpPr txBox="1">
            <a:spLocks noChangeArrowheads="1"/>
          </p:cNvSpPr>
          <p:nvPr/>
        </p:nvSpPr>
        <p:spPr bwMode="auto">
          <a:xfrm>
            <a:off x="4114800" y="57150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milk</a:t>
            </a:r>
          </a:p>
        </p:txBody>
      </p:sp>
      <p:sp>
        <p:nvSpPr>
          <p:cNvPr id="74757" name="Line 5"/>
          <p:cNvSpPr>
            <a:spLocks noChangeShapeType="1"/>
          </p:cNvSpPr>
          <p:nvPr/>
        </p:nvSpPr>
        <p:spPr bwMode="auto">
          <a:xfrm flipV="1">
            <a:off x="4419600" y="5181600"/>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58" name="Line 6"/>
          <p:cNvSpPr>
            <a:spLocks noChangeShapeType="1"/>
          </p:cNvSpPr>
          <p:nvPr/>
        </p:nvSpPr>
        <p:spPr bwMode="auto">
          <a:xfrm flipV="1">
            <a:off x="1752600" y="5165725"/>
            <a:ext cx="0" cy="5334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4759" name="Text Box 7"/>
          <p:cNvSpPr txBox="1">
            <a:spLocks noChangeArrowheads="1"/>
          </p:cNvSpPr>
          <p:nvPr/>
        </p:nvSpPr>
        <p:spPr bwMode="auto">
          <a:xfrm>
            <a:off x="1295400" y="569912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a:latin typeface="Tahoma" pitchFamily="34" charset="0"/>
              </a:rPr>
              <a:t>caviar</a:t>
            </a:r>
          </a:p>
        </p:txBody>
      </p:sp>
      <p:sp>
        <p:nvSpPr>
          <p:cNvPr id="74760" name="Text Box 8"/>
          <p:cNvSpPr txBox="1">
            <a:spLocks noChangeArrowheads="1"/>
          </p:cNvSpPr>
          <p:nvPr/>
        </p:nvSpPr>
        <p:spPr bwMode="auto">
          <a:xfrm>
            <a:off x="4953000" y="2162175"/>
            <a:ext cx="4114800"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eaLnBrk="1" hangingPunct="1">
              <a:spcBef>
                <a:spcPct val="50000"/>
              </a:spcBef>
              <a:spcAft>
                <a:spcPct val="0"/>
              </a:spcAft>
              <a:buClrTx/>
              <a:buSzTx/>
              <a:buFontTx/>
              <a:buNone/>
            </a:pPr>
            <a:r>
              <a:rPr lang="en-US" altLang="en-US" sz="2000" b="0" dirty="0">
                <a:latin typeface="Tahoma" pitchFamily="34" charset="0"/>
              </a:rPr>
              <a:t>A cross-support pattern involves items with varying degree of support</a:t>
            </a:r>
          </a:p>
          <a:p>
            <a:pPr eaLnBrk="1" hangingPunct="1">
              <a:spcBef>
                <a:spcPct val="50000"/>
              </a:spcBef>
              <a:spcAft>
                <a:spcPct val="0"/>
              </a:spcAft>
              <a:buClrTx/>
              <a:buSzTx/>
              <a:buFontTx/>
              <a:buChar char="•"/>
            </a:pPr>
            <a:r>
              <a:rPr lang="en-US" altLang="en-US" sz="2000" b="0" dirty="0">
                <a:latin typeface="Tahoma" pitchFamily="34" charset="0"/>
              </a:rPr>
              <a:t> Example: {</a:t>
            </a:r>
            <a:r>
              <a:rPr lang="en-US" altLang="en-US" sz="2000" b="0" dirty="0" err="1">
                <a:latin typeface="Tahoma" pitchFamily="34" charset="0"/>
              </a:rPr>
              <a:t>caviar,milk</a:t>
            </a:r>
            <a:r>
              <a:rPr lang="en-US" altLang="en-US" sz="2000" b="0" dirty="0">
                <a:latin typeface="Tahoma" pitchFamily="34" charset="0"/>
              </a:rPr>
              <a:t>}</a:t>
            </a:r>
          </a:p>
          <a:p>
            <a:pPr eaLnBrk="1" hangingPunct="1">
              <a:spcBef>
                <a:spcPct val="50000"/>
              </a:spcBef>
              <a:spcAft>
                <a:spcPct val="0"/>
              </a:spcAft>
              <a:buClrTx/>
              <a:buSzTx/>
              <a:buFontTx/>
              <a:buChar char="•"/>
            </a:pPr>
            <a:endParaRPr lang="en-US" altLang="en-US" sz="2000" b="0" dirty="0">
              <a:latin typeface="Tahoma" pitchFamily="34" charset="0"/>
            </a:endParaRPr>
          </a:p>
          <a:p>
            <a:pPr eaLnBrk="1" hangingPunct="1">
              <a:spcBef>
                <a:spcPct val="50000"/>
              </a:spcBef>
              <a:spcAft>
                <a:spcPct val="0"/>
              </a:spcAft>
              <a:buClrTx/>
              <a:buSzTx/>
              <a:buFontTx/>
              <a:buNone/>
            </a:pPr>
            <a:endParaRPr lang="en-US" altLang="en-US" sz="2000" b="0" dirty="0">
              <a:latin typeface="Tahoma" pitchFamily="34" charset="0"/>
            </a:endParaRPr>
          </a:p>
        </p:txBody>
      </p:sp>
    </p:spTree>
    <p:extLst>
      <p:ext uri="{BB962C8B-B14F-4D97-AF65-F5344CB8AC3E}">
        <p14:creationId xmlns:p14="http://schemas.microsoft.com/office/powerpoint/2010/main" val="657938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A Measure of Cross Support</a:t>
            </a:r>
          </a:p>
        </p:txBody>
      </p:sp>
      <mc:AlternateContent xmlns:mc="http://schemas.openxmlformats.org/markup-compatibility/2006" xmlns:a14="http://schemas.microsoft.com/office/drawing/2010/main">
        <mc:Choice Requires="a14">
          <p:sp>
            <p:nvSpPr>
              <p:cNvPr id="1334275" name="Rectangle 3"/>
              <p:cNvSpPr>
                <a:spLocks noGrp="1" noChangeArrowheads="1"/>
              </p:cNvSpPr>
              <p:nvPr>
                <p:ph type="body" idx="4294967295"/>
              </p:nvPr>
            </p:nvSpPr>
            <p:spPr/>
            <p:txBody>
              <a:bodyPr>
                <a:normAutofit/>
              </a:bodyPr>
              <a:lstStyle/>
              <a:p>
                <a:pPr marL="292100" lvl="1" indent="-292100">
                  <a:lnSpc>
                    <a:spcPct val="90000"/>
                  </a:lnSpc>
                  <a:buSzPct val="75000"/>
                  <a:buFont typeface="Monotype Sorts" pitchFamily="2" charset="2"/>
                  <a:buChar char="l"/>
                </a:pPr>
                <a:r>
                  <a:rPr lang="en-US" altLang="en-US" dirty="0"/>
                  <a:t>Given an </a:t>
                </a:r>
                <a:r>
                  <a:rPr lang="en-US" altLang="en-US" dirty="0" err="1"/>
                  <a:t>itemset</a:t>
                </a:r>
                <a:r>
                  <a:rPr lang="en-US" altLang="en-US" dirty="0"/>
                  <a:t>,</a:t>
                </a:r>
                <a14:m>
                  <m:oMath xmlns:m="http://schemas.openxmlformats.org/officeDocument/2006/math">
                    <m:r>
                      <a:rPr lang="en-US" altLang="en-US" b="0" i="1" smtClean="0">
                        <a:latin typeface="Cambria Math"/>
                      </a:rPr>
                      <m:t>𝑋</m:t>
                    </m:r>
                    <m:r>
                      <a:rPr lang="en-US" altLang="en-US" b="0" i="1" smtClean="0">
                        <a:latin typeface="Cambria Math"/>
                      </a:rPr>
                      <m:t>={</m:t>
                    </m:r>
                    <m:sSub>
                      <m:sSubPr>
                        <m:ctrlPr>
                          <a:rPr lang="en-US" altLang="en-US" b="0" i="1" smtClean="0">
                            <a:latin typeface="Cambria Math" panose="02040503050406030204" pitchFamily="18" charset="0"/>
                          </a:rPr>
                        </m:ctrlPr>
                      </m:sSubPr>
                      <m:e>
                        <m:r>
                          <a:rPr lang="en-US" altLang="en-US" b="0" i="1" smtClean="0">
                            <a:latin typeface="Cambria Math"/>
                          </a:rPr>
                          <m:t>𝑥</m:t>
                        </m:r>
                      </m:e>
                      <m:sub>
                        <m:r>
                          <a:rPr lang="en-US" altLang="en-US" b="0" i="1" smtClean="0">
                            <a:latin typeface="Cambria Math"/>
                          </a:rPr>
                          <m:t>1</m:t>
                        </m:r>
                      </m:sub>
                    </m:sSub>
                    <m:r>
                      <a:rPr lang="en-US" altLang="en-US" b="0" i="1" smtClean="0">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b="0" i="1" smtClean="0">
                            <a:latin typeface="Cambria Math"/>
                          </a:rPr>
                          <m:t>2</m:t>
                        </m:r>
                      </m:sub>
                    </m:sSub>
                    <m:r>
                      <a:rPr lang="en-US" altLang="en-US" b="0" i="1" smtClean="0">
                        <a:latin typeface="Cambria Math"/>
                      </a:rPr>
                      <m:t>,…,</m:t>
                    </m:r>
                    <m:sSub>
                      <m:sSubPr>
                        <m:ctrlPr>
                          <a:rPr lang="en-US" altLang="en-US" i="1" smtClean="0">
                            <a:latin typeface="Cambria Math" panose="02040503050406030204" pitchFamily="18" charset="0"/>
                          </a:rPr>
                        </m:ctrlPr>
                      </m:sSubPr>
                      <m:e>
                        <m:r>
                          <a:rPr lang="en-US" altLang="en-US" i="1">
                            <a:latin typeface="Cambria Math"/>
                          </a:rPr>
                          <m:t>𝑥</m:t>
                        </m:r>
                      </m:e>
                      <m:sub>
                        <m:r>
                          <a:rPr lang="en-US" altLang="en-US" b="0" i="1" smtClean="0">
                            <a:latin typeface="Cambria Math"/>
                          </a:rPr>
                          <m:t>𝑑</m:t>
                        </m:r>
                      </m:sub>
                    </m:sSub>
                    <m:r>
                      <a:rPr lang="en-US" altLang="en-US" b="0" i="1" smtClean="0">
                        <a:latin typeface="Cambria Math"/>
                      </a:rPr>
                      <m:t>}</m:t>
                    </m:r>
                  </m:oMath>
                </a14:m>
                <a:r>
                  <a:rPr lang="en-US" altLang="en-US" dirty="0"/>
                  <a:t>, with </a:t>
                </a:r>
                <a14:m>
                  <m:oMath xmlns:m="http://schemas.openxmlformats.org/officeDocument/2006/math">
                    <m:r>
                      <a:rPr lang="en-US" altLang="en-US" i="1">
                        <a:latin typeface="Cambria Math"/>
                      </a:rPr>
                      <m:t>𝑑</m:t>
                    </m:r>
                  </m:oMath>
                </a14:m>
                <a:r>
                  <a:rPr lang="en-US" altLang="en-US" i="1" dirty="0">
                    <a:latin typeface="Cambria Math" panose="02040503050406030204" pitchFamily="18" charset="0"/>
                    <a:ea typeface="Cambria Math" panose="02040503050406030204" pitchFamily="18" charset="0"/>
                  </a:rPr>
                  <a:t> </a:t>
                </a:r>
                <a:r>
                  <a:rPr lang="en-US" altLang="en-US" dirty="0"/>
                  <a:t>items, we can define a measure of cross </a:t>
                </a:r>
                <a:r>
                  <a:rPr lang="en-US" altLang="en-US" dirty="0" err="1"/>
                  <a:t>support,</a:t>
                </a:r>
                <a:r>
                  <a:rPr lang="en-US" altLang="en-US" i="1" dirty="0" err="1">
                    <a:latin typeface="Cambria Math" panose="02040503050406030204" pitchFamily="18" charset="0"/>
                    <a:ea typeface="Cambria Math" panose="02040503050406030204" pitchFamily="18" charset="0"/>
                  </a:rPr>
                  <a:t>r</a:t>
                </a:r>
                <a:r>
                  <a:rPr lang="en-US" altLang="en-US" dirty="0">
                    <a:latin typeface="Cambria Math" panose="02040503050406030204" pitchFamily="18" charset="0"/>
                    <a:ea typeface="Cambria Math" panose="02040503050406030204" pitchFamily="18" charset="0"/>
                  </a:rPr>
                  <a:t>,</a:t>
                </a:r>
                <a:r>
                  <a:rPr lang="en-US" altLang="en-US" i="1" dirty="0">
                    <a:latin typeface="Cambria Math" panose="02040503050406030204" pitchFamily="18" charset="0"/>
                    <a:ea typeface="Cambria Math" panose="02040503050406030204" pitchFamily="18" charset="0"/>
                  </a:rPr>
                  <a:t> </a:t>
                </a:r>
                <a:r>
                  <a:rPr lang="en-US" altLang="en-US" dirty="0">
                    <a:latin typeface="Cambria Math" panose="02040503050406030204" pitchFamily="18" charset="0"/>
                    <a:ea typeface="Cambria Math" panose="02040503050406030204" pitchFamily="18" charset="0"/>
                  </a:rPr>
                  <a:t>for the </a:t>
                </a:r>
                <a:r>
                  <a:rPr lang="en-US" altLang="en-US" dirty="0" err="1">
                    <a:latin typeface="Cambria Math" panose="02040503050406030204" pitchFamily="18" charset="0"/>
                    <a:ea typeface="Cambria Math" panose="02040503050406030204" pitchFamily="18" charset="0"/>
                  </a:rPr>
                  <a:t>itemset</a:t>
                </a: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br>
                  <a:rPr lang="en-US" altLang="en-US" dirty="0">
                    <a:latin typeface="Cambria Math" panose="02040503050406030204" pitchFamily="18" charset="0"/>
                    <a:ea typeface="Cambria Math" panose="02040503050406030204" pitchFamily="18" charset="0"/>
                  </a:rPr>
                </a:br>
                <a:r>
                  <a:rPr lang="en-US" altLang="en-US" dirty="0"/>
                  <a:t>where </a:t>
                </a:r>
                <a14:m>
                  <m:oMath xmlns:m="http://schemas.openxmlformats.org/officeDocument/2006/math">
                    <m:r>
                      <a:rPr lang="en-US" altLang="en-US" i="1">
                        <a:latin typeface="Cambria Math"/>
                      </a:rPr>
                      <m:t>𝑠</m:t>
                    </m:r>
                    <m:r>
                      <a:rPr lang="en-US" altLang="en-US" i="1">
                        <a:latin typeface="Cambria Math"/>
                      </a:rPr>
                      <m:t>(</m:t>
                    </m:r>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𝑖</m:t>
                        </m:r>
                      </m:sub>
                    </m:sSub>
                  </m:oMath>
                </a14:m>
                <a:r>
                  <a:rPr lang="en-US" altLang="en-US" dirty="0"/>
                  <a:t>) is the support of item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a:rPr>
                          <m:t>𝑥</m:t>
                        </m:r>
                      </m:e>
                      <m:sub>
                        <m:r>
                          <a:rPr lang="en-US" altLang="en-US" i="1">
                            <a:latin typeface="Cambria Math"/>
                          </a:rPr>
                          <m:t>𝑖</m:t>
                        </m:r>
                      </m:sub>
                    </m:sSub>
                  </m:oMath>
                </a14:m>
                <a:r>
                  <a:rPr lang="en-US" altLang="en-US" dirty="0"/>
                  <a:t> </a:t>
                </a:r>
              </a:p>
              <a:p>
                <a:pPr>
                  <a:lnSpc>
                    <a:spcPct val="90000"/>
                  </a:lnSpc>
                </a:pPr>
                <a:endParaRPr lang="en-US" altLang="en-US" dirty="0"/>
              </a:p>
              <a:p>
                <a:pPr lvl="1">
                  <a:lnSpc>
                    <a:spcPct val="90000"/>
                  </a:lnSpc>
                </a:pPr>
                <a:r>
                  <a:rPr lang="en-US" altLang="en-US" dirty="0"/>
                  <a:t>Can use </a:t>
                </a:r>
                <a14:m>
                  <m:oMath xmlns:m="http://schemas.openxmlformats.org/officeDocument/2006/math">
                    <m:r>
                      <a:rPr lang="en-US" i="1">
                        <a:latin typeface="Cambria Math"/>
                      </a:rPr>
                      <m:t>𝑟</m:t>
                    </m:r>
                    <m:d>
                      <m:dPr>
                        <m:ctrlPr>
                          <a:rPr lang="en-US" i="1">
                            <a:latin typeface="Cambria Math" panose="02040503050406030204" pitchFamily="18" charset="0"/>
                          </a:rPr>
                        </m:ctrlPr>
                      </m:dPr>
                      <m:e>
                        <m:r>
                          <a:rPr lang="en-US" i="1">
                            <a:latin typeface="Cambria Math"/>
                          </a:rPr>
                          <m:t>𝑋</m:t>
                        </m:r>
                      </m:e>
                    </m:d>
                  </m:oMath>
                </a14:m>
                <a:r>
                  <a:rPr lang="en-US" altLang="en-US" dirty="0"/>
                  <a:t> to prune cross support patterns</a:t>
                </a:r>
              </a:p>
            </p:txBody>
          </p:sp>
        </mc:Choice>
        <mc:Fallback xmlns="">
          <p:sp>
            <p:nvSpPr>
              <p:cNvPr id="1334275" name="Rectangle 3"/>
              <p:cNvSpPr>
                <a:spLocks noGrp="1" noRot="1" noChangeAspect="1" noMove="1" noResize="1" noEditPoints="1" noAdjustHandles="1" noChangeArrowheads="1" noChangeShapeType="1" noTextEdit="1"/>
              </p:cNvSpPr>
              <p:nvPr>
                <p:ph type="body" idx="4294967295"/>
              </p:nvPr>
            </p:nvSpPr>
            <p:spPr>
              <a:blipFill>
                <a:blip r:embed="rId2"/>
                <a:stretch>
                  <a:fillRect l="-440" t="-1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295400" y="2438400"/>
                <a:ext cx="5758628" cy="9911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a:rPr>
                        <m:t>𝑟</m:t>
                      </m:r>
                      <m:r>
                        <a:rPr lang="en-US" sz="2800" b="0" i="1" smtClean="0">
                          <a:latin typeface="Cambria Math"/>
                        </a:rPr>
                        <m:t>(</m:t>
                      </m:r>
                      <m:r>
                        <a:rPr lang="en-US" sz="2800" b="0" i="1" smtClean="0">
                          <a:latin typeface="Cambria Math"/>
                        </a:rPr>
                        <m:t>𝑋</m:t>
                      </m:r>
                      <m:r>
                        <a:rPr lang="en-US" sz="2800" b="0" i="1" smtClean="0">
                          <a:latin typeface="Cambria Math"/>
                        </a:rPr>
                        <m:t>)= </m:t>
                      </m:r>
                      <m:f>
                        <m:fPr>
                          <m:ctrlPr>
                            <a:rPr lang="en-US" sz="2800" b="0" i="1" smtClean="0">
                              <a:latin typeface="Cambria Math" panose="02040503050406030204" pitchFamily="18" charset="0"/>
                            </a:rPr>
                          </m:ctrlPr>
                        </m:fPr>
                        <m:num>
                          <m:r>
                            <a:rPr lang="en-US" sz="2800" b="1" i="0" smtClean="0">
                              <a:latin typeface="Cambria Math"/>
                            </a:rPr>
                            <m:t>𝐦𝐢𝐧</m:t>
                          </m:r>
                          <m:r>
                            <a:rPr lang="en-US" sz="2800" b="0" i="1" smtClean="0">
                              <a:latin typeface="Cambria Math"/>
                            </a:rPr>
                            <m:t>{</m:t>
                          </m:r>
                          <m:r>
                            <a:rPr lang="en-US" sz="2800" b="0" i="1" smtClean="0">
                              <a:latin typeface="Cambria Math"/>
                            </a:rPr>
                            <m:t>𝑠</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𝑥</m:t>
                              </m:r>
                            </m:e>
                            <m:sub>
                              <m:r>
                                <a:rPr lang="en-US" sz="2800" b="0" i="1" smtClean="0">
                                  <a:latin typeface="Cambria Math"/>
                                </a:rPr>
                                <m:t>1</m:t>
                              </m:r>
                            </m:sub>
                          </m:sSub>
                          <m:r>
                            <a:rPr lang="en-US" sz="2800" b="0" i="1" smtClean="0">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smtClean="0">
                                  <a:latin typeface="Cambria Math"/>
                                </a:rPr>
                                <m:t>2</m:t>
                              </m:r>
                            </m:sub>
                          </m:sSub>
                          <m:r>
                            <a:rPr lang="en-US" sz="2800" b="0" i="1">
                              <a:latin typeface="Cambria Math"/>
                            </a:rPr>
                            <m:t>)</m:t>
                          </m:r>
                          <m:r>
                            <a:rPr lang="en-US" sz="2800" b="0" i="1" smtClean="0">
                              <a:latin typeface="Cambria Math"/>
                            </a:rPr>
                            <m:t>, …,</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smtClean="0">
                                  <a:latin typeface="Cambria Math"/>
                                </a:rPr>
                                <m:t>𝑑</m:t>
                              </m:r>
                            </m:sub>
                          </m:sSub>
                          <m:r>
                            <a:rPr lang="en-US" sz="2800" b="0" i="1">
                              <a:latin typeface="Cambria Math"/>
                            </a:rPr>
                            <m:t>)</m:t>
                          </m:r>
                          <m:r>
                            <a:rPr lang="en-US" sz="2800" b="0" i="1" smtClean="0">
                              <a:latin typeface="Cambria Math"/>
                            </a:rPr>
                            <m:t>}</m:t>
                          </m:r>
                        </m:num>
                        <m:den>
                          <m:r>
                            <a:rPr lang="en-US" sz="2800" b="1" i="0" smtClean="0">
                              <a:latin typeface="Cambria Math"/>
                            </a:rPr>
                            <m:t>𝐦𝐚𝐱</m:t>
                          </m:r>
                          <m:r>
                            <a:rPr lang="en-US" sz="2800" b="0" i="1">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1</m:t>
                              </m:r>
                            </m:sub>
                          </m:sSub>
                          <m:r>
                            <a:rPr lang="en-US" sz="2800" b="0" i="1">
                              <a:latin typeface="Cambria Math"/>
                            </a:rPr>
                            <m:t>),</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2</m:t>
                              </m:r>
                            </m:sub>
                          </m:sSub>
                          <m:r>
                            <a:rPr lang="en-US" sz="2800" b="0" i="1">
                              <a:latin typeface="Cambria Math"/>
                            </a:rPr>
                            <m:t>), …,</m:t>
                          </m:r>
                          <m:r>
                            <a:rPr lang="en-US" sz="2800" b="0" i="1">
                              <a:latin typeface="Cambria Math"/>
                            </a:rPr>
                            <m:t>𝑠</m:t>
                          </m:r>
                          <m:r>
                            <a:rPr lang="en-US" sz="2800" b="0" i="1">
                              <a:latin typeface="Cambria Math"/>
                            </a:rPr>
                            <m:t>(</m:t>
                          </m:r>
                          <m:sSub>
                            <m:sSubPr>
                              <m:ctrlPr>
                                <a:rPr lang="en-US" sz="2800" b="0" i="1">
                                  <a:latin typeface="Cambria Math" panose="02040503050406030204" pitchFamily="18" charset="0"/>
                                </a:rPr>
                              </m:ctrlPr>
                            </m:sSubPr>
                            <m:e>
                              <m:r>
                                <a:rPr lang="en-US" sz="2800" b="0" i="1">
                                  <a:latin typeface="Cambria Math"/>
                                </a:rPr>
                                <m:t>𝑥</m:t>
                              </m:r>
                            </m:e>
                            <m:sub>
                              <m:r>
                                <a:rPr lang="en-US" sz="2800" b="0" i="1">
                                  <a:latin typeface="Cambria Math"/>
                                </a:rPr>
                                <m:t>𝑑</m:t>
                              </m:r>
                            </m:sub>
                          </m:sSub>
                          <m:r>
                            <a:rPr lang="en-US" sz="2800" b="0" i="1">
                              <a:latin typeface="Cambria Math"/>
                            </a:rPr>
                            <m:t>)}</m:t>
                          </m:r>
                        </m:den>
                      </m:f>
                    </m:oMath>
                  </m:oMathPara>
                </a14:m>
                <a:endParaRPr lang="en-US" sz="2800" b="0" dirty="0"/>
              </a:p>
            </p:txBody>
          </p:sp>
        </mc:Choice>
        <mc:Fallback xmlns="">
          <p:sp>
            <p:nvSpPr>
              <p:cNvPr id="4" name="TextBox 3"/>
              <p:cNvSpPr txBox="1">
                <a:spLocks noRot="1" noChangeAspect="1" noMove="1" noResize="1" noEditPoints="1" noAdjustHandles="1" noChangeArrowheads="1" noChangeShapeType="1" noTextEdit="1"/>
              </p:cNvSpPr>
              <p:nvPr/>
            </p:nvSpPr>
            <p:spPr>
              <a:xfrm>
                <a:off x="1295400" y="2438400"/>
                <a:ext cx="5758628" cy="991169"/>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66221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81000" y="152400"/>
            <a:ext cx="8280400" cy="533400"/>
          </a:xfrm>
        </p:spPr>
        <p:txBody>
          <a:bodyPr wrap="square" anchor="b">
            <a:normAutofit/>
          </a:bodyPr>
          <a:lstStyle/>
          <a:p>
            <a:r>
              <a:rPr lang="en-US" altLang="en-US" sz="2700"/>
              <a:t>Example</a:t>
            </a:r>
          </a:p>
        </p:txBody>
      </p:sp>
      <p:pic>
        <p:nvPicPr>
          <p:cNvPr id="3" name="Picture 2" descr="A math formula with numbers and symbols">
            <a:extLst>
              <a:ext uri="{FF2B5EF4-FFF2-40B4-BE49-F238E27FC236}">
                <a16:creationId xmlns:a16="http://schemas.microsoft.com/office/drawing/2014/main" id="{35E565AC-5D11-343A-A9AC-E657FDF48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163" y="2714784"/>
            <a:ext cx="8318500" cy="2038031"/>
          </a:xfrm>
          <a:prstGeom prst="rect">
            <a:avLst/>
          </a:prstGeom>
          <a:noFill/>
        </p:spPr>
      </p:pic>
    </p:spTree>
    <p:extLst>
      <p:ext uri="{BB962C8B-B14F-4D97-AF65-F5344CB8AC3E}">
        <p14:creationId xmlns:p14="http://schemas.microsoft.com/office/powerpoint/2010/main" val="2544785185"/>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146497877</TotalTime>
  <Pages>3</Pages>
  <Words>745</Words>
  <Application>Microsoft Office PowerPoint</Application>
  <PresentationFormat>On-screen Show (4:3)</PresentationFormat>
  <Paragraphs>98</Paragraphs>
  <Slides>15</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Arial</vt:lpstr>
      <vt:lpstr>Cambria Math</vt:lpstr>
      <vt:lpstr>CMEX10</vt:lpstr>
      <vt:lpstr>CMMI10</vt:lpstr>
      <vt:lpstr>CMR10</vt:lpstr>
      <vt:lpstr>CMSY10</vt:lpstr>
      <vt:lpstr>Monotype Sorts</vt:lpstr>
      <vt:lpstr>Tahoma</vt:lpstr>
      <vt:lpstr>Times New Roman</vt:lpstr>
      <vt:lpstr>Wingdings</vt:lpstr>
      <vt:lpstr>LC.BRev.FY97</vt:lpstr>
      <vt:lpstr>Simpson’s Paradox</vt:lpstr>
      <vt:lpstr>Simpson’s Paradox</vt:lpstr>
      <vt:lpstr>Simpson’s Paradox</vt:lpstr>
      <vt:lpstr>Simpson’s Paradox</vt:lpstr>
      <vt:lpstr>Simpson’s Paradox</vt:lpstr>
      <vt:lpstr>Simpson’s Paradox-Continued</vt:lpstr>
      <vt:lpstr>Simpson’s Paradox</vt:lpstr>
      <vt:lpstr>Simpson’s Paradox</vt:lpstr>
      <vt:lpstr>Effect of Support Distribution on Association Mining</vt:lpstr>
      <vt:lpstr>Example</vt:lpstr>
      <vt:lpstr>Effect of Support Distribution</vt:lpstr>
      <vt:lpstr>Cross-Support Patterns</vt:lpstr>
      <vt:lpstr>Cross-Support Patterns</vt:lpstr>
      <vt:lpstr>A Measure of Cross Support</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Eesha tur babar</cp:lastModifiedBy>
  <cp:revision>552</cp:revision>
  <cp:lastPrinted>2018-02-04T02:18:57Z</cp:lastPrinted>
  <dcterms:created xsi:type="dcterms:W3CDTF">1998-03-18T13:44:31Z</dcterms:created>
  <dcterms:modified xsi:type="dcterms:W3CDTF">2024-03-30T00:08:05Z</dcterms:modified>
</cp:coreProperties>
</file>