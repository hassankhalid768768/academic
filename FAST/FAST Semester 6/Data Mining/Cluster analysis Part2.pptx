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6" r:id="rId1"/>
  </p:sldMasterIdLst>
  <p:notesMasterIdLst>
    <p:notesMasterId r:id="rId56"/>
  </p:notesMasterIdLst>
  <p:handoutMasterIdLst>
    <p:handoutMasterId r:id="rId57"/>
  </p:handoutMasterIdLst>
  <p:sldIdLst>
    <p:sldId id="515" r:id="rId2"/>
    <p:sldId id="516" r:id="rId3"/>
    <p:sldId id="545" r:id="rId4"/>
    <p:sldId id="518" r:id="rId5"/>
    <p:sldId id="519" r:id="rId6"/>
    <p:sldId id="520" r:id="rId7"/>
    <p:sldId id="521" r:id="rId8"/>
    <p:sldId id="522" r:id="rId9"/>
    <p:sldId id="555" r:id="rId10"/>
    <p:sldId id="556" r:id="rId11"/>
    <p:sldId id="654" r:id="rId12"/>
    <p:sldId id="658" r:id="rId13"/>
    <p:sldId id="557" r:id="rId14"/>
    <p:sldId id="697" r:id="rId15"/>
    <p:sldId id="698" r:id="rId16"/>
    <p:sldId id="699" r:id="rId17"/>
    <p:sldId id="700" r:id="rId18"/>
    <p:sldId id="701" r:id="rId19"/>
    <p:sldId id="702" r:id="rId20"/>
    <p:sldId id="703" r:id="rId21"/>
    <p:sldId id="704" r:id="rId22"/>
    <p:sldId id="705" r:id="rId23"/>
    <p:sldId id="706" r:id="rId24"/>
    <p:sldId id="707" r:id="rId25"/>
    <p:sldId id="708" r:id="rId26"/>
    <p:sldId id="709" r:id="rId27"/>
    <p:sldId id="710" r:id="rId28"/>
    <p:sldId id="711" r:id="rId29"/>
    <p:sldId id="712" r:id="rId30"/>
    <p:sldId id="713" r:id="rId31"/>
    <p:sldId id="714" r:id="rId32"/>
    <p:sldId id="715" r:id="rId33"/>
    <p:sldId id="717" r:id="rId34"/>
    <p:sldId id="720" r:id="rId35"/>
    <p:sldId id="718" r:id="rId36"/>
    <p:sldId id="716" r:id="rId37"/>
    <p:sldId id="721" r:id="rId38"/>
    <p:sldId id="722" r:id="rId39"/>
    <p:sldId id="724" r:id="rId40"/>
    <p:sldId id="690" r:id="rId41"/>
    <p:sldId id="612" r:id="rId42"/>
    <p:sldId id="725" r:id="rId43"/>
    <p:sldId id="613" r:id="rId44"/>
    <p:sldId id="691" r:id="rId45"/>
    <p:sldId id="726" r:id="rId46"/>
    <p:sldId id="683" r:id="rId47"/>
    <p:sldId id="616" r:id="rId48"/>
    <p:sldId id="617" r:id="rId49"/>
    <p:sldId id="685" r:id="rId50"/>
    <p:sldId id="619" r:id="rId51"/>
    <p:sldId id="620" r:id="rId52"/>
    <p:sldId id="622" r:id="rId53"/>
    <p:sldId id="684" r:id="rId54"/>
    <p:sldId id="636" r:id="rId55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752" autoAdjust="0"/>
  </p:normalViewPr>
  <p:slideViewPr>
    <p:cSldViewPr>
      <p:cViewPr varScale="1">
        <p:scale>
          <a:sx n="58" d="100"/>
          <a:sy n="58" d="100"/>
        </p:scale>
        <p:origin x="1530" y="42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8932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44.xml"/><Relationship Id="rId3" Type="http://schemas.openxmlformats.org/officeDocument/2006/relationships/slide" Target="slides/slide5.xml"/><Relationship Id="rId7" Type="http://schemas.openxmlformats.org/officeDocument/2006/relationships/slide" Target="slides/slide10.xml"/><Relationship Id="rId12" Type="http://schemas.openxmlformats.org/officeDocument/2006/relationships/slide" Target="slides/slide43.xml"/><Relationship Id="rId2" Type="http://schemas.openxmlformats.org/officeDocument/2006/relationships/slide" Target="slides/slide4.xml"/><Relationship Id="rId16" Type="http://schemas.openxmlformats.org/officeDocument/2006/relationships/slide" Target="slides/slide49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11" Type="http://schemas.openxmlformats.org/officeDocument/2006/relationships/slide" Target="slides/slide41.xml"/><Relationship Id="rId5" Type="http://schemas.openxmlformats.org/officeDocument/2006/relationships/slide" Target="slides/slide7.xml"/><Relationship Id="rId15" Type="http://schemas.openxmlformats.org/officeDocument/2006/relationships/slide" Target="slides/slide48.xml"/><Relationship Id="rId10" Type="http://schemas.openxmlformats.org/officeDocument/2006/relationships/slide" Target="slides/slide13.xml"/><Relationship Id="rId4" Type="http://schemas.openxmlformats.org/officeDocument/2006/relationships/slide" Target="slides/slide6.xml"/><Relationship Id="rId9" Type="http://schemas.openxmlformats.org/officeDocument/2006/relationships/slide" Target="slides/slide12.xml"/><Relationship Id="rId14" Type="http://schemas.openxmlformats.org/officeDocument/2006/relationships/slide" Target="slides/slide4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6F22A-6631-4FFB-8861-08E5156DFFF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E459B3-37E2-4E0C-8C4B-D331EA98BB54}">
      <dgm:prSet/>
      <dgm:spPr/>
      <dgm:t>
        <a:bodyPr/>
        <a:lstStyle/>
        <a:p>
          <a:r>
            <a:rPr lang="pt-BR" b="0" i="0"/>
            <a:t>A1(2, 10), A2(2, 5), A3(8, 4), A4(5, 8), A5(7, 5), A6(6, 4), A7(1, 2), A8(4, 9)</a:t>
          </a:r>
          <a:endParaRPr lang="en-US"/>
        </a:p>
      </dgm:t>
    </dgm:pt>
    <dgm:pt modelId="{03E92995-6025-4C3D-9FEB-D16BF35C6FB8}" type="parTrans" cxnId="{20A877DF-C0E5-492E-BC16-A1295186C6D0}">
      <dgm:prSet/>
      <dgm:spPr/>
      <dgm:t>
        <a:bodyPr/>
        <a:lstStyle/>
        <a:p>
          <a:endParaRPr lang="en-US"/>
        </a:p>
      </dgm:t>
    </dgm:pt>
    <dgm:pt modelId="{84A4F4E0-D117-4750-A628-1717DCCF8219}" type="sibTrans" cxnId="{20A877DF-C0E5-492E-BC16-A1295186C6D0}">
      <dgm:prSet/>
      <dgm:spPr/>
      <dgm:t>
        <a:bodyPr/>
        <a:lstStyle/>
        <a:p>
          <a:endParaRPr lang="en-US"/>
        </a:p>
      </dgm:t>
    </dgm:pt>
    <dgm:pt modelId="{6774F22D-CF4E-4621-8559-90EC8C07260C}">
      <dgm:prSet/>
      <dgm:spPr/>
      <dgm:t>
        <a:bodyPr/>
        <a:lstStyle/>
        <a:p>
          <a:r>
            <a:rPr lang="en-US" b="0" i="0"/>
            <a:t>Initial cluster centers are: A1(2, 10), A4(5, 8) and A7(1, 2)</a:t>
          </a:r>
          <a:endParaRPr lang="en-US"/>
        </a:p>
      </dgm:t>
    </dgm:pt>
    <dgm:pt modelId="{C2DDFA61-B7C5-41FB-B287-8000EBF06EB0}" type="parTrans" cxnId="{E861A41C-338C-493D-BD2B-595C922459E0}">
      <dgm:prSet/>
      <dgm:spPr/>
      <dgm:t>
        <a:bodyPr/>
        <a:lstStyle/>
        <a:p>
          <a:endParaRPr lang="en-US"/>
        </a:p>
      </dgm:t>
    </dgm:pt>
    <dgm:pt modelId="{E51B2261-7698-4603-8658-D51CEB824FA9}" type="sibTrans" cxnId="{E861A41C-338C-493D-BD2B-595C922459E0}">
      <dgm:prSet/>
      <dgm:spPr/>
      <dgm:t>
        <a:bodyPr/>
        <a:lstStyle/>
        <a:p>
          <a:endParaRPr lang="en-US"/>
        </a:p>
      </dgm:t>
    </dgm:pt>
    <dgm:pt modelId="{84C7FC81-9163-4C5F-B3E3-0BAFE4B10E9A}">
      <dgm:prSet/>
      <dgm:spPr/>
      <dgm:t>
        <a:bodyPr/>
        <a:lstStyle/>
        <a:p>
          <a:r>
            <a:rPr lang="en-US" b="0" i="0"/>
            <a:t>The distance function between two points a = (x1, y1) and b = (x2, y2) is defined as-</a:t>
          </a:r>
          <a:endParaRPr lang="en-US"/>
        </a:p>
      </dgm:t>
    </dgm:pt>
    <dgm:pt modelId="{6E16D4E6-BFC2-4F44-A3B2-E6B41F1B2F53}" type="parTrans" cxnId="{972C5C41-52AE-413D-8241-72DA5D6ACD57}">
      <dgm:prSet/>
      <dgm:spPr/>
      <dgm:t>
        <a:bodyPr/>
        <a:lstStyle/>
        <a:p>
          <a:endParaRPr lang="en-US"/>
        </a:p>
      </dgm:t>
    </dgm:pt>
    <dgm:pt modelId="{0B73A370-82D2-4BFB-B3A4-C7BA0E662D49}" type="sibTrans" cxnId="{972C5C41-52AE-413D-8241-72DA5D6ACD57}">
      <dgm:prSet/>
      <dgm:spPr/>
      <dgm:t>
        <a:bodyPr/>
        <a:lstStyle/>
        <a:p>
          <a:endParaRPr lang="en-US"/>
        </a:p>
      </dgm:t>
    </dgm:pt>
    <dgm:pt modelId="{95A8A5ED-AAA4-43FB-841D-11DDB1B406CC}">
      <dgm:prSet/>
      <dgm:spPr/>
      <dgm:t>
        <a:bodyPr/>
        <a:lstStyle/>
        <a:p>
          <a:r>
            <a:rPr lang="en-US" b="0" i="0"/>
            <a:t>Ρ(a, b) = |x2 – x1| + |y2 – y1|</a:t>
          </a:r>
          <a:endParaRPr lang="en-US"/>
        </a:p>
      </dgm:t>
    </dgm:pt>
    <dgm:pt modelId="{DC9523D3-68D2-49FE-B761-504619A76BDD}" type="parTrans" cxnId="{350DBFB4-E29E-47A8-812D-BAA40301DD5B}">
      <dgm:prSet/>
      <dgm:spPr/>
      <dgm:t>
        <a:bodyPr/>
        <a:lstStyle/>
        <a:p>
          <a:endParaRPr lang="en-US"/>
        </a:p>
      </dgm:t>
    </dgm:pt>
    <dgm:pt modelId="{524C548A-17CF-48EF-A91E-D5CAB4AAC351}" type="sibTrans" cxnId="{350DBFB4-E29E-47A8-812D-BAA40301DD5B}">
      <dgm:prSet/>
      <dgm:spPr/>
      <dgm:t>
        <a:bodyPr/>
        <a:lstStyle/>
        <a:p>
          <a:endParaRPr lang="en-US"/>
        </a:p>
      </dgm:t>
    </dgm:pt>
    <dgm:pt modelId="{E23C3070-5825-40F3-9933-4D97A1725F75}" type="pres">
      <dgm:prSet presAssocID="{2276F22A-6631-4FFB-8861-08E5156DFFF2}" presName="vert0" presStyleCnt="0">
        <dgm:presLayoutVars>
          <dgm:dir/>
          <dgm:animOne val="branch"/>
          <dgm:animLvl val="lvl"/>
        </dgm:presLayoutVars>
      </dgm:prSet>
      <dgm:spPr/>
    </dgm:pt>
    <dgm:pt modelId="{4BB27F17-34F6-42E5-ADFF-7BB835C5C9A9}" type="pres">
      <dgm:prSet presAssocID="{E4E459B3-37E2-4E0C-8C4B-D331EA98BB54}" presName="thickLine" presStyleLbl="alignNode1" presStyleIdx="0" presStyleCnt="4"/>
      <dgm:spPr/>
    </dgm:pt>
    <dgm:pt modelId="{A1F27E3C-F5FA-48D2-8C73-78600A252AD2}" type="pres">
      <dgm:prSet presAssocID="{E4E459B3-37E2-4E0C-8C4B-D331EA98BB54}" presName="horz1" presStyleCnt="0"/>
      <dgm:spPr/>
    </dgm:pt>
    <dgm:pt modelId="{E35E9EA0-49E3-4538-AF62-72C4073D104D}" type="pres">
      <dgm:prSet presAssocID="{E4E459B3-37E2-4E0C-8C4B-D331EA98BB54}" presName="tx1" presStyleLbl="revTx" presStyleIdx="0" presStyleCnt="4"/>
      <dgm:spPr/>
    </dgm:pt>
    <dgm:pt modelId="{938C51D9-EB8D-4C03-BFBB-3FE417D4C631}" type="pres">
      <dgm:prSet presAssocID="{E4E459B3-37E2-4E0C-8C4B-D331EA98BB54}" presName="vert1" presStyleCnt="0"/>
      <dgm:spPr/>
    </dgm:pt>
    <dgm:pt modelId="{C385FE5A-D045-49F6-8416-4C66461D4FBD}" type="pres">
      <dgm:prSet presAssocID="{6774F22D-CF4E-4621-8559-90EC8C07260C}" presName="thickLine" presStyleLbl="alignNode1" presStyleIdx="1" presStyleCnt="4"/>
      <dgm:spPr/>
    </dgm:pt>
    <dgm:pt modelId="{72E7C6E7-055B-428C-B0BB-47FC612C2ABB}" type="pres">
      <dgm:prSet presAssocID="{6774F22D-CF4E-4621-8559-90EC8C07260C}" presName="horz1" presStyleCnt="0"/>
      <dgm:spPr/>
    </dgm:pt>
    <dgm:pt modelId="{19CAF056-D69B-4171-879D-7DC61D1EC0C0}" type="pres">
      <dgm:prSet presAssocID="{6774F22D-CF4E-4621-8559-90EC8C07260C}" presName="tx1" presStyleLbl="revTx" presStyleIdx="1" presStyleCnt="4"/>
      <dgm:spPr/>
    </dgm:pt>
    <dgm:pt modelId="{E55EF930-0468-443F-9721-1CADDC3BADD4}" type="pres">
      <dgm:prSet presAssocID="{6774F22D-CF4E-4621-8559-90EC8C07260C}" presName="vert1" presStyleCnt="0"/>
      <dgm:spPr/>
    </dgm:pt>
    <dgm:pt modelId="{73D4665A-6C79-44D2-BB11-DF45012B29BB}" type="pres">
      <dgm:prSet presAssocID="{84C7FC81-9163-4C5F-B3E3-0BAFE4B10E9A}" presName="thickLine" presStyleLbl="alignNode1" presStyleIdx="2" presStyleCnt="4"/>
      <dgm:spPr/>
    </dgm:pt>
    <dgm:pt modelId="{A1F81A13-E242-4ECB-8F9F-66255C18EA59}" type="pres">
      <dgm:prSet presAssocID="{84C7FC81-9163-4C5F-B3E3-0BAFE4B10E9A}" presName="horz1" presStyleCnt="0"/>
      <dgm:spPr/>
    </dgm:pt>
    <dgm:pt modelId="{6A35250F-9710-45C6-837F-2936E44569BD}" type="pres">
      <dgm:prSet presAssocID="{84C7FC81-9163-4C5F-B3E3-0BAFE4B10E9A}" presName="tx1" presStyleLbl="revTx" presStyleIdx="2" presStyleCnt="4"/>
      <dgm:spPr/>
    </dgm:pt>
    <dgm:pt modelId="{86FDB9B4-C5C8-46DB-88E9-90C10B277235}" type="pres">
      <dgm:prSet presAssocID="{84C7FC81-9163-4C5F-B3E3-0BAFE4B10E9A}" presName="vert1" presStyleCnt="0"/>
      <dgm:spPr/>
    </dgm:pt>
    <dgm:pt modelId="{DEF90743-CF5A-42A6-9C43-193D20C52A4E}" type="pres">
      <dgm:prSet presAssocID="{95A8A5ED-AAA4-43FB-841D-11DDB1B406CC}" presName="thickLine" presStyleLbl="alignNode1" presStyleIdx="3" presStyleCnt="4"/>
      <dgm:spPr/>
    </dgm:pt>
    <dgm:pt modelId="{EED7F2BD-8BD5-4911-8394-E6FED17DD70F}" type="pres">
      <dgm:prSet presAssocID="{95A8A5ED-AAA4-43FB-841D-11DDB1B406CC}" presName="horz1" presStyleCnt="0"/>
      <dgm:spPr/>
    </dgm:pt>
    <dgm:pt modelId="{65EA3AC1-2BE7-453B-ABBA-5C9F2C87EB91}" type="pres">
      <dgm:prSet presAssocID="{95A8A5ED-AAA4-43FB-841D-11DDB1B406CC}" presName="tx1" presStyleLbl="revTx" presStyleIdx="3" presStyleCnt="4"/>
      <dgm:spPr/>
    </dgm:pt>
    <dgm:pt modelId="{97A14B45-C556-457F-BE9C-A9C3BED18797}" type="pres">
      <dgm:prSet presAssocID="{95A8A5ED-AAA4-43FB-841D-11DDB1B406CC}" presName="vert1" presStyleCnt="0"/>
      <dgm:spPr/>
    </dgm:pt>
  </dgm:ptLst>
  <dgm:cxnLst>
    <dgm:cxn modelId="{E861A41C-338C-493D-BD2B-595C922459E0}" srcId="{2276F22A-6631-4FFB-8861-08E5156DFFF2}" destId="{6774F22D-CF4E-4621-8559-90EC8C07260C}" srcOrd="1" destOrd="0" parTransId="{C2DDFA61-B7C5-41FB-B287-8000EBF06EB0}" sibTransId="{E51B2261-7698-4603-8658-D51CEB824FA9}"/>
    <dgm:cxn modelId="{2353E12E-4D3F-4C7F-A0F7-7EFB8868326A}" type="presOf" srcId="{95A8A5ED-AAA4-43FB-841D-11DDB1B406CC}" destId="{65EA3AC1-2BE7-453B-ABBA-5C9F2C87EB91}" srcOrd="0" destOrd="0" presId="urn:microsoft.com/office/officeart/2008/layout/LinedList"/>
    <dgm:cxn modelId="{972C5C41-52AE-413D-8241-72DA5D6ACD57}" srcId="{2276F22A-6631-4FFB-8861-08E5156DFFF2}" destId="{84C7FC81-9163-4C5F-B3E3-0BAFE4B10E9A}" srcOrd="2" destOrd="0" parTransId="{6E16D4E6-BFC2-4F44-A3B2-E6B41F1B2F53}" sibTransId="{0B73A370-82D2-4BFB-B3A4-C7BA0E662D49}"/>
    <dgm:cxn modelId="{350DBFB4-E29E-47A8-812D-BAA40301DD5B}" srcId="{2276F22A-6631-4FFB-8861-08E5156DFFF2}" destId="{95A8A5ED-AAA4-43FB-841D-11DDB1B406CC}" srcOrd="3" destOrd="0" parTransId="{DC9523D3-68D2-49FE-B761-504619A76BDD}" sibTransId="{524C548A-17CF-48EF-A91E-D5CAB4AAC351}"/>
    <dgm:cxn modelId="{06C29FB8-0FFB-4C95-A6BC-E369E9A9B13C}" type="presOf" srcId="{2276F22A-6631-4FFB-8861-08E5156DFFF2}" destId="{E23C3070-5825-40F3-9933-4D97A1725F75}" srcOrd="0" destOrd="0" presId="urn:microsoft.com/office/officeart/2008/layout/LinedList"/>
    <dgm:cxn modelId="{097D0DC6-1780-47EA-AA0C-7FADE61E5858}" type="presOf" srcId="{6774F22D-CF4E-4621-8559-90EC8C07260C}" destId="{19CAF056-D69B-4171-879D-7DC61D1EC0C0}" srcOrd="0" destOrd="0" presId="urn:microsoft.com/office/officeart/2008/layout/LinedList"/>
    <dgm:cxn modelId="{1126E7DA-BA7D-44DE-A3A8-BF07C8F78516}" type="presOf" srcId="{E4E459B3-37E2-4E0C-8C4B-D331EA98BB54}" destId="{E35E9EA0-49E3-4538-AF62-72C4073D104D}" srcOrd="0" destOrd="0" presId="urn:microsoft.com/office/officeart/2008/layout/LinedList"/>
    <dgm:cxn modelId="{20A877DF-C0E5-492E-BC16-A1295186C6D0}" srcId="{2276F22A-6631-4FFB-8861-08E5156DFFF2}" destId="{E4E459B3-37E2-4E0C-8C4B-D331EA98BB54}" srcOrd="0" destOrd="0" parTransId="{03E92995-6025-4C3D-9FEB-D16BF35C6FB8}" sibTransId="{84A4F4E0-D117-4750-A628-1717DCCF8219}"/>
    <dgm:cxn modelId="{9FB9ACF8-4219-4500-B57A-A681E617B155}" type="presOf" srcId="{84C7FC81-9163-4C5F-B3E3-0BAFE4B10E9A}" destId="{6A35250F-9710-45C6-837F-2936E44569BD}" srcOrd="0" destOrd="0" presId="urn:microsoft.com/office/officeart/2008/layout/LinedList"/>
    <dgm:cxn modelId="{8B92DA5B-2A97-4A1F-B973-653D99FA857B}" type="presParOf" srcId="{E23C3070-5825-40F3-9933-4D97A1725F75}" destId="{4BB27F17-34F6-42E5-ADFF-7BB835C5C9A9}" srcOrd="0" destOrd="0" presId="urn:microsoft.com/office/officeart/2008/layout/LinedList"/>
    <dgm:cxn modelId="{8B8BBCEF-3779-4BCD-99BD-8E487CEBD948}" type="presParOf" srcId="{E23C3070-5825-40F3-9933-4D97A1725F75}" destId="{A1F27E3C-F5FA-48D2-8C73-78600A252AD2}" srcOrd="1" destOrd="0" presId="urn:microsoft.com/office/officeart/2008/layout/LinedList"/>
    <dgm:cxn modelId="{6ACB7F9D-C221-448A-977F-D34FA5FAED5B}" type="presParOf" srcId="{A1F27E3C-F5FA-48D2-8C73-78600A252AD2}" destId="{E35E9EA0-49E3-4538-AF62-72C4073D104D}" srcOrd="0" destOrd="0" presId="urn:microsoft.com/office/officeart/2008/layout/LinedList"/>
    <dgm:cxn modelId="{F2929ED5-D841-438C-9AFC-5D24296B52A3}" type="presParOf" srcId="{A1F27E3C-F5FA-48D2-8C73-78600A252AD2}" destId="{938C51D9-EB8D-4C03-BFBB-3FE417D4C631}" srcOrd="1" destOrd="0" presId="urn:microsoft.com/office/officeart/2008/layout/LinedList"/>
    <dgm:cxn modelId="{57A70B41-C65F-4BF5-A2CC-9EB8AE716C3A}" type="presParOf" srcId="{E23C3070-5825-40F3-9933-4D97A1725F75}" destId="{C385FE5A-D045-49F6-8416-4C66461D4FBD}" srcOrd="2" destOrd="0" presId="urn:microsoft.com/office/officeart/2008/layout/LinedList"/>
    <dgm:cxn modelId="{F322C6DE-7886-4537-AB9D-61C9AAFE8FAE}" type="presParOf" srcId="{E23C3070-5825-40F3-9933-4D97A1725F75}" destId="{72E7C6E7-055B-428C-B0BB-47FC612C2ABB}" srcOrd="3" destOrd="0" presId="urn:microsoft.com/office/officeart/2008/layout/LinedList"/>
    <dgm:cxn modelId="{8B2A48AE-4521-4B63-B8D7-821A5A07DAAC}" type="presParOf" srcId="{72E7C6E7-055B-428C-B0BB-47FC612C2ABB}" destId="{19CAF056-D69B-4171-879D-7DC61D1EC0C0}" srcOrd="0" destOrd="0" presId="urn:microsoft.com/office/officeart/2008/layout/LinedList"/>
    <dgm:cxn modelId="{9241B214-4D91-4889-8925-EBAE12B5A4F5}" type="presParOf" srcId="{72E7C6E7-055B-428C-B0BB-47FC612C2ABB}" destId="{E55EF930-0468-443F-9721-1CADDC3BADD4}" srcOrd="1" destOrd="0" presId="urn:microsoft.com/office/officeart/2008/layout/LinedList"/>
    <dgm:cxn modelId="{E307354A-65FD-4ED4-87CC-5B2545F7752B}" type="presParOf" srcId="{E23C3070-5825-40F3-9933-4D97A1725F75}" destId="{73D4665A-6C79-44D2-BB11-DF45012B29BB}" srcOrd="4" destOrd="0" presId="urn:microsoft.com/office/officeart/2008/layout/LinedList"/>
    <dgm:cxn modelId="{FA52FB43-E90F-49A6-973C-668AF2DD0C88}" type="presParOf" srcId="{E23C3070-5825-40F3-9933-4D97A1725F75}" destId="{A1F81A13-E242-4ECB-8F9F-66255C18EA59}" srcOrd="5" destOrd="0" presId="urn:microsoft.com/office/officeart/2008/layout/LinedList"/>
    <dgm:cxn modelId="{0388CCD0-212C-4D46-8E8D-B316A59EE13E}" type="presParOf" srcId="{A1F81A13-E242-4ECB-8F9F-66255C18EA59}" destId="{6A35250F-9710-45C6-837F-2936E44569BD}" srcOrd="0" destOrd="0" presId="urn:microsoft.com/office/officeart/2008/layout/LinedList"/>
    <dgm:cxn modelId="{18C645D7-0957-4592-83D6-C3854CA032EF}" type="presParOf" srcId="{A1F81A13-E242-4ECB-8F9F-66255C18EA59}" destId="{86FDB9B4-C5C8-46DB-88E9-90C10B277235}" srcOrd="1" destOrd="0" presId="urn:microsoft.com/office/officeart/2008/layout/LinedList"/>
    <dgm:cxn modelId="{02C65BB0-7732-406E-B17C-C8E2FA90CD0C}" type="presParOf" srcId="{E23C3070-5825-40F3-9933-4D97A1725F75}" destId="{DEF90743-CF5A-42A6-9C43-193D20C52A4E}" srcOrd="6" destOrd="0" presId="urn:microsoft.com/office/officeart/2008/layout/LinedList"/>
    <dgm:cxn modelId="{9B890C68-890C-4C79-9CF5-5615FA5E2216}" type="presParOf" srcId="{E23C3070-5825-40F3-9933-4D97A1725F75}" destId="{EED7F2BD-8BD5-4911-8394-E6FED17DD70F}" srcOrd="7" destOrd="0" presId="urn:microsoft.com/office/officeart/2008/layout/LinedList"/>
    <dgm:cxn modelId="{5EEB070B-9FAB-4860-AD0E-05A7DDCB8DDE}" type="presParOf" srcId="{EED7F2BD-8BD5-4911-8394-E6FED17DD70F}" destId="{65EA3AC1-2BE7-453B-ABBA-5C9F2C87EB91}" srcOrd="0" destOrd="0" presId="urn:microsoft.com/office/officeart/2008/layout/LinedList"/>
    <dgm:cxn modelId="{84219D99-A286-421A-8A5F-630CD23D0C5A}" type="presParOf" srcId="{EED7F2BD-8BD5-4911-8394-E6FED17DD70F}" destId="{97A14B45-C556-457F-BE9C-A9C3BED187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27F17-34F6-42E5-ADFF-7BB835C5C9A9}">
      <dsp:nvSpPr>
        <dsp:cNvPr id="0" name=""/>
        <dsp:cNvSpPr/>
      </dsp:nvSpPr>
      <dsp:spPr>
        <a:xfrm>
          <a:off x="0" y="0"/>
          <a:ext cx="7289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E9EA0-49E3-4538-AF62-72C4073D104D}">
      <dsp:nvSpPr>
        <dsp:cNvPr id="0" name=""/>
        <dsp:cNvSpPr/>
      </dsp:nvSpPr>
      <dsp:spPr>
        <a:xfrm>
          <a:off x="0" y="0"/>
          <a:ext cx="7289800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b="0" i="0" kern="1200"/>
            <a:t>A1(2, 10), A2(2, 5), A3(8, 4), A4(5, 8), A5(7, 5), A6(6, 4), A7(1, 2), A8(4, 9)</a:t>
          </a:r>
          <a:endParaRPr lang="en-US" sz="3000" kern="1200"/>
        </a:p>
      </dsp:txBody>
      <dsp:txXfrm>
        <a:off x="0" y="0"/>
        <a:ext cx="7289800" cy="1005681"/>
      </dsp:txXfrm>
    </dsp:sp>
    <dsp:sp modelId="{C385FE5A-D045-49F6-8416-4C66461D4FBD}">
      <dsp:nvSpPr>
        <dsp:cNvPr id="0" name=""/>
        <dsp:cNvSpPr/>
      </dsp:nvSpPr>
      <dsp:spPr>
        <a:xfrm>
          <a:off x="0" y="1005681"/>
          <a:ext cx="7289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AF056-D69B-4171-879D-7DC61D1EC0C0}">
      <dsp:nvSpPr>
        <dsp:cNvPr id="0" name=""/>
        <dsp:cNvSpPr/>
      </dsp:nvSpPr>
      <dsp:spPr>
        <a:xfrm>
          <a:off x="0" y="1005681"/>
          <a:ext cx="7289800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Initial cluster centers are: A1(2, 10), A4(5, 8) and A7(1, 2)</a:t>
          </a:r>
          <a:endParaRPr lang="en-US" sz="3000" kern="1200"/>
        </a:p>
      </dsp:txBody>
      <dsp:txXfrm>
        <a:off x="0" y="1005681"/>
        <a:ext cx="7289800" cy="1005681"/>
      </dsp:txXfrm>
    </dsp:sp>
    <dsp:sp modelId="{73D4665A-6C79-44D2-BB11-DF45012B29BB}">
      <dsp:nvSpPr>
        <dsp:cNvPr id="0" name=""/>
        <dsp:cNvSpPr/>
      </dsp:nvSpPr>
      <dsp:spPr>
        <a:xfrm>
          <a:off x="0" y="2011362"/>
          <a:ext cx="7289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5250F-9710-45C6-837F-2936E44569BD}">
      <dsp:nvSpPr>
        <dsp:cNvPr id="0" name=""/>
        <dsp:cNvSpPr/>
      </dsp:nvSpPr>
      <dsp:spPr>
        <a:xfrm>
          <a:off x="0" y="2011362"/>
          <a:ext cx="7289800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The distance function between two points a = (x1, y1) and b = (x2, y2) is defined as-</a:t>
          </a:r>
          <a:endParaRPr lang="en-US" sz="3000" kern="1200"/>
        </a:p>
      </dsp:txBody>
      <dsp:txXfrm>
        <a:off x="0" y="2011362"/>
        <a:ext cx="7289800" cy="1005681"/>
      </dsp:txXfrm>
    </dsp:sp>
    <dsp:sp modelId="{DEF90743-CF5A-42A6-9C43-193D20C52A4E}">
      <dsp:nvSpPr>
        <dsp:cNvPr id="0" name=""/>
        <dsp:cNvSpPr/>
      </dsp:nvSpPr>
      <dsp:spPr>
        <a:xfrm>
          <a:off x="0" y="3017043"/>
          <a:ext cx="7289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A3AC1-2BE7-453B-ABBA-5C9F2C87EB91}">
      <dsp:nvSpPr>
        <dsp:cNvPr id="0" name=""/>
        <dsp:cNvSpPr/>
      </dsp:nvSpPr>
      <dsp:spPr>
        <a:xfrm>
          <a:off x="0" y="3017043"/>
          <a:ext cx="7289800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Ρ(a, b) = |x2 – x1| + |y2 – y1|</a:t>
          </a:r>
          <a:endParaRPr lang="en-US" sz="3000" kern="1200"/>
        </a:p>
      </dsp:txBody>
      <dsp:txXfrm>
        <a:off x="0" y="3017043"/>
        <a:ext cx="7289800" cy="1005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540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805" tIns="48406" rIns="96805" bIns="48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161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3800" y="706438"/>
            <a:ext cx="4625975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327074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solidFill>
            <a:srgbClr val="FFFFFF"/>
          </a:solidFill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572" tIns="45782" rIns="91572" bIns="45782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802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In the center-based approach, density is estimated for a particular point in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the data set by counting the number of points within a specified radius, </a:t>
            </a:r>
            <a:r>
              <a:rPr lang="en-US" sz="1800" b="0" i="1" u="none" strike="noStrike" baseline="0" dirty="0">
                <a:latin typeface="CMMI10"/>
              </a:rPr>
              <a:t>Eps</a:t>
            </a:r>
            <a:r>
              <a:rPr lang="en-US" sz="1800" b="0" i="0" u="none" strike="noStrike" baseline="0" dirty="0">
                <a:latin typeface="CMR10"/>
              </a:rPr>
              <a:t>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of that point. This includes the point itself. This technique is graphically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illustrated by Figure 8.20. The number of points within a radius of </a:t>
            </a:r>
            <a:r>
              <a:rPr lang="en-US" sz="1800" b="0" i="1" u="none" strike="noStrike" baseline="0" dirty="0">
                <a:latin typeface="CMMI10"/>
              </a:rPr>
              <a:t>Eps </a:t>
            </a:r>
            <a:r>
              <a:rPr lang="en-US" sz="1800" b="0" i="0" u="none" strike="noStrike" baseline="0" dirty="0">
                <a:latin typeface="CMR10"/>
              </a:rPr>
              <a:t>of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point </a:t>
            </a:r>
            <a:r>
              <a:rPr lang="en-US" sz="1800" b="0" i="1" u="none" strike="noStrike" baseline="0" dirty="0">
                <a:latin typeface="CMMI10"/>
              </a:rPr>
              <a:t>A </a:t>
            </a:r>
            <a:r>
              <a:rPr lang="en-US" sz="1800" b="0" i="0" u="none" strike="noStrike" baseline="0" dirty="0">
                <a:latin typeface="CMR10"/>
              </a:rPr>
              <a:t>is 7, including </a:t>
            </a:r>
            <a:r>
              <a:rPr lang="en-US" sz="1800" b="0" i="1" u="none" strike="noStrike" baseline="0" dirty="0">
                <a:latin typeface="CMMI10"/>
              </a:rPr>
              <a:t>A </a:t>
            </a:r>
            <a:r>
              <a:rPr lang="en-US" sz="1800" b="0" i="0" u="none" strike="noStrike" baseline="0" dirty="0">
                <a:latin typeface="CMR10"/>
              </a:rPr>
              <a:t>itself.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This method is simple to implement, but the density of any point will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depend on the specified radius. For instance, if the radius is large enough,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then all points will have a density of </a:t>
            </a:r>
            <a:r>
              <a:rPr lang="en-US" sz="1800" b="0" i="1" u="none" strike="noStrike" baseline="0" dirty="0">
                <a:latin typeface="CMMI10"/>
              </a:rPr>
              <a:t>m</a:t>
            </a:r>
            <a:r>
              <a:rPr lang="en-US" sz="1800" b="0" i="0" u="none" strike="noStrike" baseline="0" dirty="0">
                <a:latin typeface="CMR10"/>
              </a:rPr>
              <a:t>, the number of points in the data set.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Likewise, if the radius is too small, then all points will have a density of 1.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An approach for deciding on the appropriate radius for low-dimensional data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is given in the next section in the context of our discussion of DBSCAN.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801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 dirty="0">
                <a:latin typeface="CMBX10"/>
              </a:rPr>
              <a:t>Core points: </a:t>
            </a:r>
            <a:r>
              <a:rPr lang="en-US" sz="1800" b="0" i="0" u="none" strike="noStrike" baseline="0" dirty="0">
                <a:latin typeface="CMR10"/>
              </a:rPr>
              <a:t>These points are in the interior of a density-based cluster. A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point is a core point if the number of points within a given neighborhood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around the point as determined by the distance function and a </a:t>
            </a:r>
            <a:r>
              <a:rPr lang="en-US" sz="1800" b="0" i="0" u="none" strike="noStrike" baseline="0" dirty="0" err="1">
                <a:latin typeface="CMR10"/>
              </a:rPr>
              <a:t>userspecified</a:t>
            </a:r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0" i="0" u="none" strike="noStrike" baseline="0" dirty="0">
                <a:latin typeface="CMR10"/>
              </a:rPr>
              <a:t>distance parameter, </a:t>
            </a:r>
            <a:r>
              <a:rPr lang="en-US" sz="1800" b="0" i="1" u="none" strike="noStrike" baseline="0" dirty="0">
                <a:latin typeface="CMMI10"/>
              </a:rPr>
              <a:t>Eps</a:t>
            </a:r>
            <a:r>
              <a:rPr lang="en-US" sz="1800" b="0" i="0" u="none" strike="noStrike" baseline="0" dirty="0">
                <a:latin typeface="CMR10"/>
              </a:rPr>
              <a:t>, exceeds a certain threshold, </a:t>
            </a:r>
            <a:r>
              <a:rPr lang="en-US" sz="1800" b="0" i="1" u="none" strike="noStrike" baseline="0" dirty="0" err="1">
                <a:latin typeface="CMMI10"/>
              </a:rPr>
              <a:t>MinPts</a:t>
            </a:r>
            <a:r>
              <a:rPr lang="en-US" sz="1800" b="0" i="0" u="none" strike="noStrike" baseline="0" dirty="0">
                <a:latin typeface="CMR10"/>
              </a:rPr>
              <a:t>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which is also a user-specified parameter. In Figure 8.21, point </a:t>
            </a:r>
            <a:r>
              <a:rPr lang="en-US" sz="1800" b="0" i="1" u="none" strike="noStrike" baseline="0" dirty="0">
                <a:latin typeface="CMMI10"/>
              </a:rPr>
              <a:t>A </a:t>
            </a:r>
            <a:r>
              <a:rPr lang="en-US" sz="1800" b="0" i="0" u="none" strike="noStrike" baseline="0" dirty="0">
                <a:latin typeface="CMR10"/>
              </a:rPr>
              <a:t>is a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core point, for the indicated radius (</a:t>
            </a:r>
            <a:r>
              <a:rPr lang="en-US" sz="1800" b="0" i="1" u="none" strike="noStrike" baseline="0" dirty="0">
                <a:latin typeface="CMMI10"/>
              </a:rPr>
              <a:t>Eps</a:t>
            </a:r>
            <a:r>
              <a:rPr lang="en-US" sz="1800" b="0" i="0" u="none" strike="noStrike" baseline="0" dirty="0">
                <a:latin typeface="CMR10"/>
              </a:rPr>
              <a:t>) if </a:t>
            </a:r>
            <a:r>
              <a:rPr lang="en-US" sz="1800" b="0" i="1" u="none" strike="noStrike" baseline="0" dirty="0" err="1">
                <a:latin typeface="CMMI10"/>
              </a:rPr>
              <a:t>MinPts</a:t>
            </a:r>
            <a:r>
              <a:rPr lang="en-US" sz="1800" b="0" i="1" u="none" strike="noStrike" baseline="0" dirty="0">
                <a:latin typeface="CMMI10"/>
              </a:rPr>
              <a:t> </a:t>
            </a:r>
            <a:r>
              <a:rPr lang="en-US" sz="1800" b="0" i="1" u="none" strike="noStrike" baseline="0" dirty="0">
                <a:latin typeface="CMSY10"/>
              </a:rPr>
              <a:t>≤ </a:t>
            </a:r>
            <a:r>
              <a:rPr lang="en-US" sz="1800" b="0" i="0" u="none" strike="noStrike" baseline="0" dirty="0">
                <a:latin typeface="CMR10"/>
              </a:rPr>
              <a:t>7.</a:t>
            </a:r>
          </a:p>
          <a:p>
            <a:pPr algn="l"/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1" i="0" u="none" strike="noStrike" baseline="0" dirty="0">
                <a:latin typeface="CMBX10"/>
              </a:rPr>
              <a:t>Border points: </a:t>
            </a:r>
            <a:r>
              <a:rPr lang="en-US" sz="1800" b="0" i="0" u="none" strike="noStrike" baseline="0" dirty="0">
                <a:latin typeface="CMR10"/>
              </a:rPr>
              <a:t>A border point is not a core point, but falls within the neighborhood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of a core point. In Figure 8.21, point </a:t>
            </a:r>
            <a:r>
              <a:rPr lang="en-US" sz="1800" b="0" i="1" u="none" strike="noStrike" baseline="0" dirty="0">
                <a:latin typeface="CMMI10"/>
              </a:rPr>
              <a:t>B </a:t>
            </a:r>
            <a:r>
              <a:rPr lang="en-US" sz="1800" b="0" i="0" u="none" strike="noStrike" baseline="0" dirty="0">
                <a:latin typeface="CMR10"/>
              </a:rPr>
              <a:t>is a border point. A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border point can fall within the neighborhoods of several core points.</a:t>
            </a:r>
          </a:p>
          <a:p>
            <a:pPr algn="l"/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1" i="0" u="none" strike="noStrike" baseline="0" dirty="0">
                <a:latin typeface="CMBX10"/>
              </a:rPr>
              <a:t>Noise points: </a:t>
            </a:r>
            <a:r>
              <a:rPr lang="en-US" sz="1800" b="0" i="0" u="none" strike="noStrike" baseline="0" dirty="0">
                <a:latin typeface="CMR10"/>
              </a:rPr>
              <a:t>A noise point is any point that is neither a core point nor a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border point. In Figure 8.21, point </a:t>
            </a:r>
            <a:r>
              <a:rPr lang="en-US" sz="1800" b="0" i="1" u="none" strike="noStrike" baseline="0" dirty="0">
                <a:latin typeface="CMMI10"/>
              </a:rPr>
              <a:t>C </a:t>
            </a:r>
            <a:r>
              <a:rPr lang="en-US" sz="1800" b="0" i="0" u="none" strike="noStrike" baseline="0" dirty="0">
                <a:latin typeface="CMR10"/>
              </a:rPr>
              <a:t>is a noise point.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030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63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213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18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4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491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2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9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2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8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9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60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6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897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8176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6836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CF3069D-A226-4E58-97E8-87EF0855491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48F9057-2F96-4C6C-94B4-4F2DA76581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16">
            <a:extLst>
              <a:ext uri="{FF2B5EF4-FFF2-40B4-BE49-F238E27FC236}">
                <a16:creationId xmlns:a16="http://schemas.microsoft.com/office/drawing/2014/main" id="{0139B67C-8DAA-4C0F-F3D9-34BFB657B71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6D4582D9-5B7C-F7C8-4741-D949006CC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1C47B22B-94B5-E68E-0F9A-422DD944E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1" name="Text Box 10">
            <a:extLst>
              <a:ext uri="{FF2B5EF4-FFF2-40B4-BE49-F238E27FC236}">
                <a16:creationId xmlns:a16="http://schemas.microsoft.com/office/drawing/2014/main" id="{C21B1734-A044-DEAE-3EA0-63C5F50E89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400800"/>
            <a:ext cx="1219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/>
              <a:t>3/24/2021	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4CF87B-014B-88BD-ABC7-0DB623F4FDA9}"/>
              </a:ext>
            </a:extLst>
          </p:cNvPr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907130-F174-B770-77C3-6B07D5F947AC}"/>
              </a:ext>
            </a:extLst>
          </p:cNvPr>
          <p:cNvSpPr/>
          <p:nvPr userDrawn="1"/>
        </p:nvSpPr>
        <p:spPr>
          <a:xfrm>
            <a:off x="2514600" y="6334780"/>
            <a:ext cx="373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</p:spTree>
    <p:extLst>
      <p:ext uri="{BB962C8B-B14F-4D97-AF65-F5344CB8AC3E}">
        <p14:creationId xmlns:p14="http://schemas.microsoft.com/office/powerpoint/2010/main" val="108146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oleObject" Target="../embeddings/oleObject9.bin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50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14478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Data Mining</a:t>
            </a:r>
            <a:br>
              <a:rPr lang="en-US" altLang="en-US" dirty="0"/>
            </a:br>
            <a:r>
              <a:rPr lang="en-US" altLang="en-US" dirty="0"/>
              <a:t>Cluster Analysis: Basic Concepts </a:t>
            </a:r>
            <a:br>
              <a:rPr lang="en-US" altLang="en-US" dirty="0"/>
            </a:br>
            <a:r>
              <a:rPr lang="en-US" altLang="en-US" dirty="0"/>
              <a:t>and Algorithms</a:t>
            </a:r>
            <a:endParaRPr lang="en-US" altLang="en-US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81000" y="2573403"/>
            <a:ext cx="8229600" cy="256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3200" b="0" dirty="0"/>
              <a:t>Lecture Notes for Chapter 7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3200" b="0" dirty="0"/>
              <a:t>Introduction to Data Mining</a:t>
            </a:r>
          </a:p>
          <a:p>
            <a:pPr algn="ctr"/>
            <a:endParaRPr lang="en-US" altLang="en-US" sz="1600" b="0" dirty="0"/>
          </a:p>
          <a:p>
            <a:pPr algn="ctr"/>
            <a:endParaRPr lang="en-US" altLang="en-US" sz="1600" b="0" dirty="0"/>
          </a:p>
          <a:p>
            <a:endParaRPr lang="en-US" altLang="en-US" sz="2000" b="0" dirty="0"/>
          </a:p>
        </p:txBody>
      </p:sp>
      <p:grpSp>
        <p:nvGrpSpPr>
          <p:cNvPr id="2052" name="Group 7"/>
          <p:cNvGrpSpPr>
            <a:grpSpLocks/>
          </p:cNvGrpSpPr>
          <p:nvPr/>
        </p:nvGrpSpPr>
        <p:grpSpPr bwMode="auto">
          <a:xfrm>
            <a:off x="304800" y="1447800"/>
            <a:ext cx="8534400" cy="152400"/>
            <a:chOff x="264" y="788"/>
            <a:chExt cx="5232" cy="124"/>
          </a:xfrm>
        </p:grpSpPr>
        <p:sp>
          <p:nvSpPr>
            <p:cNvPr id="2053" name="Rectangle 8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54" name="Rectangle 9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9577"/>
            <a:ext cx="7829550" cy="968377"/>
          </a:xfrm>
        </p:spPr>
        <p:txBody>
          <a:bodyPr>
            <a:normAutofit/>
          </a:bodyPr>
          <a:lstStyle/>
          <a:p>
            <a:r>
              <a:rPr lang="en-US" altLang="en-US" dirty="0"/>
              <a:t>What is Cluster Analysis?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idx="1"/>
          </p:nvPr>
        </p:nvSpPr>
        <p:spPr>
          <a:xfrm>
            <a:off x="182563" y="1151466"/>
            <a:ext cx="8732837" cy="1286933"/>
          </a:xfrm>
        </p:spPr>
        <p:txBody>
          <a:bodyPr/>
          <a:lstStyle/>
          <a:p>
            <a:r>
              <a:rPr lang="en-US" altLang="en-US" sz="2400" dirty="0"/>
              <a:t>Given a set of objects, place them in groups such that the objects in a group are similar (or related) to one another and different from (or unrelated to) the objects in other groups</a:t>
            </a:r>
          </a:p>
        </p:txBody>
      </p:sp>
      <p:grpSp>
        <p:nvGrpSpPr>
          <p:cNvPr id="3076" name="Group 6"/>
          <p:cNvGrpSpPr>
            <a:grpSpLocks/>
          </p:cNvGrpSpPr>
          <p:nvPr/>
        </p:nvGrpSpPr>
        <p:grpSpPr bwMode="auto">
          <a:xfrm>
            <a:off x="3276600" y="3570288"/>
            <a:ext cx="3048000" cy="2678112"/>
            <a:chOff x="2160" y="2544"/>
            <a:chExt cx="1920" cy="1687"/>
          </a:xfrm>
        </p:grpSpPr>
        <p:sp>
          <p:nvSpPr>
            <p:cNvPr id="3087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8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9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0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1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2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3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4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5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6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7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8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9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0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1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2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3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4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5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7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8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9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0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1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2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5257800" y="2667000"/>
            <a:ext cx="3048000" cy="2514600"/>
            <a:chOff x="3312" y="1584"/>
            <a:chExt cx="1920" cy="1584"/>
          </a:xfrm>
        </p:grpSpPr>
        <p:sp>
          <p:nvSpPr>
            <p:cNvPr id="3085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895600" y="3657600"/>
            <a:ext cx="3276600" cy="2286000"/>
            <a:chOff x="1824" y="2208"/>
            <a:chExt cx="2064" cy="1440"/>
          </a:xfrm>
        </p:grpSpPr>
        <p:sp>
          <p:nvSpPr>
            <p:cNvPr id="3082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4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295400" y="2971800"/>
            <a:ext cx="2286000" cy="1676400"/>
            <a:chOff x="816" y="1776"/>
            <a:chExt cx="1440" cy="1056"/>
          </a:xfrm>
        </p:grpSpPr>
        <p:sp>
          <p:nvSpPr>
            <p:cNvPr id="308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Applications of Cluster Analysis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sz="2400" b="1"/>
              <a:t>Understanding</a:t>
            </a:r>
          </a:p>
          <a:p>
            <a:pPr lvl="1">
              <a:spcBef>
                <a:spcPct val="20000"/>
              </a:spcBef>
            </a:pPr>
            <a:r>
              <a:rPr lang="en-US" altLang="en-US" sz="2000"/>
              <a:t>Group related documents for browsing, group genes and proteins that have similar functionality, or group stocks with similar price fluctuations</a:t>
            </a:r>
            <a:endParaRPr lang="en-US" altLang="en-US" sz="2000" b="1"/>
          </a:p>
          <a:p>
            <a:pPr>
              <a:spcBef>
                <a:spcPct val="20000"/>
              </a:spcBef>
            </a:pPr>
            <a:endParaRPr lang="en-US" altLang="en-US" sz="2400" b="1"/>
          </a:p>
          <a:p>
            <a:pPr>
              <a:spcBef>
                <a:spcPct val="20000"/>
              </a:spcBef>
            </a:pPr>
            <a:r>
              <a:rPr lang="en-US" altLang="en-US" sz="2400" b="1"/>
              <a:t>Summarization</a:t>
            </a:r>
          </a:p>
          <a:p>
            <a:pPr lvl="1">
              <a:spcBef>
                <a:spcPct val="20000"/>
              </a:spcBef>
            </a:pPr>
            <a:r>
              <a:rPr lang="en-US" altLang="en-US" sz="2000"/>
              <a:t>Reduce the size of large data sets</a:t>
            </a:r>
          </a:p>
          <a:p>
            <a:endParaRPr lang="en-US" altLang="en-US" sz="2400"/>
          </a:p>
        </p:txBody>
      </p:sp>
      <p:graphicFrame>
        <p:nvGraphicFramePr>
          <p:cNvPr id="4100" name="Object 102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46613" y="1265238"/>
          <a:ext cx="4083050" cy="226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20181" imgH="3122232" progId="Word.Document.8">
                  <p:embed/>
                </p:oleObj>
              </mc:Choice>
              <mc:Fallback>
                <p:oleObj name="Document" r:id="rId2" imgW="5620181" imgH="3122232" progId="Word.Document.8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1265238"/>
                        <a:ext cx="4083050" cy="226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1" name="Picture 1030" descr="precip_aust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082" y="3810000"/>
            <a:ext cx="3570111" cy="2514600"/>
          </a:xfrm>
          <a:noFill/>
        </p:spPr>
      </p:pic>
      <p:sp>
        <p:nvSpPr>
          <p:cNvPr id="4102" name="Text Box 1032"/>
          <p:cNvSpPr txBox="1">
            <a:spLocks noChangeArrowheads="1"/>
          </p:cNvSpPr>
          <p:nvPr/>
        </p:nvSpPr>
        <p:spPr bwMode="auto">
          <a:xfrm>
            <a:off x="4724400" y="5654675"/>
            <a:ext cx="2209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Clustering precipitation in Australia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Notion of a Cluster can be Ambiguous</a:t>
            </a:r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685800" y="1905000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How many clusters?</a:t>
              </a:r>
              <a:endParaRPr lang="en-US" altLang="en-US" sz="1800" b="0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4960938" y="4114800"/>
            <a:ext cx="3344862" cy="1401763"/>
            <a:chOff x="3125" y="2592"/>
            <a:chExt cx="2107" cy="883"/>
          </a:xfrm>
        </p:grpSpPr>
        <p:grpSp>
          <p:nvGrpSpPr>
            <p:cNvPr id="6195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Four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685800" y="4114800"/>
            <a:ext cx="3344863" cy="1401763"/>
            <a:chOff x="432" y="2592"/>
            <a:chExt cx="2107" cy="883"/>
          </a:xfrm>
        </p:grpSpPr>
        <p:grpSp>
          <p:nvGrpSpPr>
            <p:cNvPr id="6173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Two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4960938" y="1905000"/>
            <a:ext cx="3344862" cy="1509713"/>
            <a:chOff x="3125" y="1200"/>
            <a:chExt cx="2107" cy="951"/>
          </a:xfrm>
        </p:grpSpPr>
        <p:grpSp>
          <p:nvGrpSpPr>
            <p:cNvPr id="6151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6153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4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5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6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160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1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2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3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4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5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6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7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8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9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0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1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2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52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Six Clusters</a:t>
              </a:r>
              <a:r>
                <a:rPr lang="en-US" altLang="en-US" sz="1600" b="0">
                  <a:latin typeface="Times New Roman" pitchFamily="18" charset="0"/>
                </a:rPr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Types of Clusterings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FF0000"/>
                </a:solidFill>
              </a:rPr>
              <a:t>clustering</a:t>
            </a:r>
            <a:r>
              <a:rPr lang="en-US" altLang="en-US" dirty="0"/>
              <a:t> is a set of clusters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Important distinction between </a:t>
            </a:r>
            <a:r>
              <a:rPr lang="en-US" altLang="en-US" dirty="0">
                <a:solidFill>
                  <a:srgbClr val="FF0000"/>
                </a:solidFill>
              </a:rPr>
              <a:t>hierarchical</a:t>
            </a:r>
            <a:r>
              <a:rPr lang="en-US" altLang="en-US" dirty="0"/>
              <a:t> and </a:t>
            </a:r>
            <a:r>
              <a:rPr lang="en-US" altLang="en-US" dirty="0" err="1">
                <a:solidFill>
                  <a:srgbClr val="FF0000"/>
                </a:solidFill>
              </a:rPr>
              <a:t>partitional</a:t>
            </a:r>
            <a:r>
              <a:rPr lang="en-US" altLang="en-US" dirty="0">
                <a:solidFill>
                  <a:srgbClr val="FFCC00"/>
                </a:solidFill>
              </a:rPr>
              <a:t> </a:t>
            </a:r>
            <a:r>
              <a:rPr lang="en-US" altLang="en-US" dirty="0"/>
              <a:t>sets of clusters </a:t>
            </a:r>
            <a:endParaRPr lang="en-US" altLang="en-US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 dirty="0">
              <a:solidFill>
                <a:srgbClr val="FFCC00"/>
              </a:solidFill>
            </a:endParaRPr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 err="1"/>
              <a:t>Partitional</a:t>
            </a:r>
            <a:r>
              <a:rPr lang="en-US" altLang="en-US" dirty="0"/>
              <a:t> Clustering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A division of data objects into non-overlapping subsets (clusters)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endParaRPr lang="en-US" altLang="en-US" sz="600" dirty="0">
              <a:solidFill>
                <a:srgbClr val="FFCC00"/>
              </a:solidFill>
            </a:endParaRPr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Hierarchical clustering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A set of nested clusters organized as a hierarchical tree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Partitional Clustering</a:t>
            </a:r>
          </a:p>
        </p:txBody>
      </p:sp>
      <p:sp>
        <p:nvSpPr>
          <p:cNvPr id="8195" name="Freeform 4"/>
          <p:cNvSpPr>
            <a:spLocks/>
          </p:cNvSpPr>
          <p:nvPr/>
        </p:nvSpPr>
        <p:spPr bwMode="auto">
          <a:xfrm>
            <a:off x="1254125" y="2517775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" name="Freeform 5"/>
          <p:cNvSpPr>
            <a:spLocks/>
          </p:cNvSpPr>
          <p:nvPr/>
        </p:nvSpPr>
        <p:spPr bwMode="auto">
          <a:xfrm>
            <a:off x="1254125" y="2716213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Freeform 6"/>
          <p:cNvSpPr>
            <a:spLocks/>
          </p:cNvSpPr>
          <p:nvPr/>
        </p:nvSpPr>
        <p:spPr bwMode="auto">
          <a:xfrm>
            <a:off x="1951038" y="4711700"/>
            <a:ext cx="96837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0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Freeform 7"/>
          <p:cNvSpPr>
            <a:spLocks/>
          </p:cNvSpPr>
          <p:nvPr/>
        </p:nvSpPr>
        <p:spPr bwMode="auto">
          <a:xfrm>
            <a:off x="1550988" y="26193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9" name="Freeform 8"/>
          <p:cNvSpPr>
            <a:spLocks/>
          </p:cNvSpPr>
          <p:nvPr/>
        </p:nvSpPr>
        <p:spPr bwMode="auto">
          <a:xfrm>
            <a:off x="1951038" y="39147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Freeform 9"/>
          <p:cNvSpPr>
            <a:spLocks/>
          </p:cNvSpPr>
          <p:nvPr/>
        </p:nvSpPr>
        <p:spPr bwMode="auto">
          <a:xfrm>
            <a:off x="2120900" y="182562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Freeform 10"/>
          <p:cNvSpPr>
            <a:spLocks/>
          </p:cNvSpPr>
          <p:nvPr/>
        </p:nvSpPr>
        <p:spPr bwMode="auto">
          <a:xfrm>
            <a:off x="2351088" y="2020888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Freeform 11"/>
          <p:cNvSpPr>
            <a:spLocks/>
          </p:cNvSpPr>
          <p:nvPr/>
        </p:nvSpPr>
        <p:spPr bwMode="auto">
          <a:xfrm>
            <a:off x="244792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Freeform 12"/>
          <p:cNvSpPr>
            <a:spLocks/>
          </p:cNvSpPr>
          <p:nvPr/>
        </p:nvSpPr>
        <p:spPr bwMode="auto">
          <a:xfrm>
            <a:off x="284797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Freeform 13"/>
          <p:cNvSpPr>
            <a:spLocks/>
          </p:cNvSpPr>
          <p:nvPr/>
        </p:nvSpPr>
        <p:spPr bwMode="auto">
          <a:xfrm>
            <a:off x="2647950" y="2117725"/>
            <a:ext cx="96838" cy="103188"/>
          </a:xfrm>
          <a:custGeom>
            <a:avLst/>
            <a:gdLst>
              <a:gd name="T0" fmla="*/ 2147483647 w 61"/>
              <a:gd name="T1" fmla="*/ 2147483647 h 65"/>
              <a:gd name="T2" fmla="*/ 2147483647 w 61"/>
              <a:gd name="T3" fmla="*/ 2147483647 h 65"/>
              <a:gd name="T4" fmla="*/ 2147483647 w 61"/>
              <a:gd name="T5" fmla="*/ 2147483647 h 65"/>
              <a:gd name="T6" fmla="*/ 2147483647 w 61"/>
              <a:gd name="T7" fmla="*/ 2147483647 h 65"/>
              <a:gd name="T8" fmla="*/ 2147483647 w 61"/>
              <a:gd name="T9" fmla="*/ 2147483647 h 65"/>
              <a:gd name="T10" fmla="*/ 0 w 61"/>
              <a:gd name="T11" fmla="*/ 2147483647 h 65"/>
              <a:gd name="T12" fmla="*/ 0 w 61"/>
              <a:gd name="T13" fmla="*/ 2147483647 h 65"/>
              <a:gd name="T14" fmla="*/ 2147483647 w 61"/>
              <a:gd name="T15" fmla="*/ 2147483647 h 65"/>
              <a:gd name="T16" fmla="*/ 2147483647 w 61"/>
              <a:gd name="T17" fmla="*/ 0 h 65"/>
              <a:gd name="T18" fmla="*/ 2147483647 w 61"/>
              <a:gd name="T19" fmla="*/ 2147483647 h 65"/>
              <a:gd name="T20" fmla="*/ 2147483647 w 61"/>
              <a:gd name="T21" fmla="*/ 2147483647 h 65"/>
              <a:gd name="T22" fmla="*/ 2147483647 w 61"/>
              <a:gd name="T23" fmla="*/ 2147483647 h 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5"/>
              <a:gd name="T38" fmla="*/ 61 w 61"/>
              <a:gd name="T39" fmla="*/ 65 h 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5" name="Freeform 14"/>
          <p:cNvSpPr>
            <a:spLocks/>
          </p:cNvSpPr>
          <p:nvPr/>
        </p:nvSpPr>
        <p:spPr bwMode="auto">
          <a:xfrm>
            <a:off x="2647950" y="1724025"/>
            <a:ext cx="96838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6" name="Freeform 15"/>
          <p:cNvSpPr>
            <a:spLocks/>
          </p:cNvSpPr>
          <p:nvPr/>
        </p:nvSpPr>
        <p:spPr bwMode="auto">
          <a:xfrm>
            <a:off x="3344863" y="4711700"/>
            <a:ext cx="103187" cy="98425"/>
          </a:xfrm>
          <a:custGeom>
            <a:avLst/>
            <a:gdLst>
              <a:gd name="T0" fmla="*/ 2147483647 w 65"/>
              <a:gd name="T1" fmla="*/ 2147483647 h 62"/>
              <a:gd name="T2" fmla="*/ 2147483647 w 65"/>
              <a:gd name="T3" fmla="*/ 2147483647 h 62"/>
              <a:gd name="T4" fmla="*/ 2147483647 w 65"/>
              <a:gd name="T5" fmla="*/ 2147483647 h 62"/>
              <a:gd name="T6" fmla="*/ 2147483647 w 65"/>
              <a:gd name="T7" fmla="*/ 2147483647 h 62"/>
              <a:gd name="T8" fmla="*/ 2147483647 w 65"/>
              <a:gd name="T9" fmla="*/ 2147483647 h 62"/>
              <a:gd name="T10" fmla="*/ 0 w 65"/>
              <a:gd name="T11" fmla="*/ 2147483647 h 62"/>
              <a:gd name="T12" fmla="*/ 0 w 65"/>
              <a:gd name="T13" fmla="*/ 2147483647 h 62"/>
              <a:gd name="T14" fmla="*/ 2147483647 w 65"/>
              <a:gd name="T15" fmla="*/ 2147483647 h 62"/>
              <a:gd name="T16" fmla="*/ 2147483647 w 65"/>
              <a:gd name="T17" fmla="*/ 0 h 62"/>
              <a:gd name="T18" fmla="*/ 2147483647 w 65"/>
              <a:gd name="T19" fmla="*/ 0 h 62"/>
              <a:gd name="T20" fmla="*/ 2147483647 w 65"/>
              <a:gd name="T21" fmla="*/ 2147483647 h 62"/>
              <a:gd name="T22" fmla="*/ 2147483647 w 65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5"/>
              <a:gd name="T37" fmla="*/ 0 h 62"/>
              <a:gd name="T38" fmla="*/ 65 w 65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Freeform 16"/>
          <p:cNvSpPr>
            <a:spLocks/>
          </p:cNvSpPr>
          <p:nvPr/>
        </p:nvSpPr>
        <p:spPr bwMode="auto">
          <a:xfrm>
            <a:off x="1550988" y="2220913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Freeform 17"/>
          <p:cNvSpPr>
            <a:spLocks/>
          </p:cNvSpPr>
          <p:nvPr/>
        </p:nvSpPr>
        <p:spPr bwMode="auto">
          <a:xfrm>
            <a:off x="1223963" y="441007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9" name="Freeform 18"/>
          <p:cNvSpPr>
            <a:spLocks/>
          </p:cNvSpPr>
          <p:nvPr/>
        </p:nvSpPr>
        <p:spPr bwMode="auto">
          <a:xfrm>
            <a:off x="1254125" y="5008563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Freeform 19"/>
          <p:cNvSpPr>
            <a:spLocks/>
          </p:cNvSpPr>
          <p:nvPr/>
        </p:nvSpPr>
        <p:spPr bwMode="auto">
          <a:xfrm>
            <a:off x="1720850" y="199072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990600" y="55626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4724400" y="1295400"/>
            <a:ext cx="3581400" cy="4633913"/>
            <a:chOff x="2976" y="816"/>
            <a:chExt cx="2256" cy="2919"/>
          </a:xfrm>
        </p:grpSpPr>
        <p:graphicFrame>
          <p:nvGraphicFramePr>
            <p:cNvPr id="8213" name="Object 1024"/>
            <p:cNvGraphicFramePr>
              <a:graphicFrameLocks noChangeAspect="1"/>
            </p:cNvGraphicFramePr>
            <p:nvPr/>
          </p:nvGraphicFramePr>
          <p:xfrm>
            <a:off x="2976" y="816"/>
            <a:ext cx="2125" cy="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547102" imgH="2097084" progId="Visio.Drawing.6">
                    <p:embed/>
                  </p:oleObj>
                </mc:Choice>
                <mc:Fallback>
                  <p:oleObj name="VISIO" r:id="rId2" imgW="1547102" imgH="2097084" progId="Visio.Drawing.6">
                    <p:embed/>
                    <p:pic>
                      <p:nvPicPr>
                        <p:cNvPr id="0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816"/>
                          <a:ext cx="2125" cy="2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21"/>
            <p:cNvSpPr txBox="1">
              <a:spLocks noChangeArrowheads="1"/>
            </p:cNvSpPr>
            <p:nvPr/>
          </p:nvSpPr>
          <p:spPr bwMode="auto">
            <a:xfrm>
              <a:off x="3456" y="3504"/>
              <a:ext cx="1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A Partitional  Clustering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Hierarchical Clustering</a:t>
            </a:r>
          </a:p>
        </p:txBody>
      </p:sp>
      <p:graphicFrame>
        <p:nvGraphicFramePr>
          <p:cNvPr id="9219" name="Object 1024"/>
          <p:cNvGraphicFramePr>
            <a:graphicFrameLocks noChangeAspect="1"/>
          </p:cNvGraphicFramePr>
          <p:nvPr/>
        </p:nvGraphicFramePr>
        <p:xfrm>
          <a:off x="990600" y="3962400"/>
          <a:ext cx="275272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47671" imgH="1960706" progId="Visio.Drawing.6">
                  <p:embed/>
                </p:oleObj>
              </mc:Choice>
              <mc:Fallback>
                <p:oleObj name="VISIO" r:id="rId2" imgW="2747671" imgH="1960706" progId="Visio.Drawing.6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962400"/>
                        <a:ext cx="275272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025"/>
          <p:cNvGraphicFramePr>
            <a:graphicFrameLocks noChangeAspect="1"/>
          </p:cNvGraphicFramePr>
          <p:nvPr/>
        </p:nvGraphicFramePr>
        <p:xfrm>
          <a:off x="914400" y="1447800"/>
          <a:ext cx="2760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56614" imgH="1795265" progId="Visio.Drawing.6">
                  <p:embed/>
                </p:oleObj>
              </mc:Choice>
              <mc:Fallback>
                <p:oleObj name="VISIO" r:id="rId4" imgW="2756614" imgH="1795265" progId="Visio.Drawing.6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47800"/>
                        <a:ext cx="2760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026"/>
          <p:cNvGraphicFramePr>
            <a:graphicFrameLocks noChangeAspect="1"/>
          </p:cNvGraphicFramePr>
          <p:nvPr/>
        </p:nvGraphicFramePr>
        <p:xfrm>
          <a:off x="5400675" y="1066800"/>
          <a:ext cx="1773238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379425" imgH="1779615" progId="Visio.Drawing.6">
                  <p:embed/>
                </p:oleObj>
              </mc:Choice>
              <mc:Fallback>
                <p:oleObj name="VISIO" r:id="rId6" imgW="1379425" imgH="1779615" progId="Visio.Drawing.6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1066800"/>
                        <a:ext cx="1773238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027"/>
          <p:cNvGraphicFramePr>
            <a:graphicFrameLocks noChangeAspect="1"/>
          </p:cNvGraphicFramePr>
          <p:nvPr/>
        </p:nvGraphicFramePr>
        <p:xfrm>
          <a:off x="5400675" y="3657600"/>
          <a:ext cx="1909763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71089" imgH="1761729" progId="Visio.Drawing.6">
                  <p:embed/>
                </p:oleObj>
              </mc:Choice>
              <mc:Fallback>
                <p:oleObj name="VISIO" r:id="rId8" imgW="1471089" imgH="1761729" progId="Visio.Drawing.6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3657600"/>
                        <a:ext cx="1909763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3200400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228600" y="5791200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Hierarchical Clustering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800600" y="57912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800600" y="32004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Other Distinctions Between Sets of Clusters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Exclusive versus non-exclusive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non-exclusive </a:t>
            </a:r>
            <a:r>
              <a:rPr lang="en-US" altLang="en-US" sz="2000" dirty="0" err="1"/>
              <a:t>clusterings</a:t>
            </a:r>
            <a:r>
              <a:rPr lang="en-US" altLang="en-US" sz="2000" dirty="0"/>
              <a:t>, points may belong to multiple clusters.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Can belong to multiple classes or could be ‘border’ points</a:t>
            </a:r>
          </a:p>
          <a:p>
            <a:pPr marL="850900" lvl="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Fuzzy clustering  (one type of non-exclusive) 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In fuzzy clustering, a point belongs to every cluster with some weight between 0 and 1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Weights must sum to 1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Probabilistic clustering has similar characteristics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Partial versus complete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some cases, we only want to cluster some of the data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 Algorithms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K-means and its variants</a:t>
            </a:r>
          </a:p>
          <a:p>
            <a:pPr lvl="4"/>
            <a:endParaRPr lang="en-US" altLang="en-US"/>
          </a:p>
          <a:p>
            <a:r>
              <a:rPr lang="en-US" altLang="en-US"/>
              <a:t>Hierarchical clustering</a:t>
            </a:r>
          </a:p>
          <a:p>
            <a:pPr lvl="4"/>
            <a:endParaRPr lang="en-US" altLang="en-US"/>
          </a:p>
          <a:p>
            <a:r>
              <a:rPr lang="en-US" altLang="en-US"/>
              <a:t>Density-based clustering</a:t>
            </a:r>
          </a:p>
          <a:p>
            <a:pPr lvl="4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 Clustering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39763" y="1143000"/>
            <a:ext cx="8001000" cy="2514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Number of clusters, K, must be specified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Each cluster is associated with a </a:t>
            </a:r>
            <a:r>
              <a:rPr lang="en-US" altLang="en-US" sz="2200" dirty="0">
                <a:solidFill>
                  <a:srgbClr val="FFCC00"/>
                </a:solidFill>
              </a:rPr>
              <a:t>centroid</a:t>
            </a:r>
            <a:r>
              <a:rPr lang="en-US" altLang="en-US" sz="2200" dirty="0"/>
              <a:t> (center point)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Each point is assigned to the cluster with the closest centroid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The basic algorithm is very simple</a:t>
            </a:r>
          </a:p>
        </p:txBody>
      </p:sp>
      <p:graphicFrame>
        <p:nvGraphicFramePr>
          <p:cNvPr id="21508" name="Object 1024"/>
          <p:cNvGraphicFramePr>
            <a:graphicFrameLocks noChangeAspect="1"/>
          </p:cNvGraphicFramePr>
          <p:nvPr/>
        </p:nvGraphicFramePr>
        <p:xfrm>
          <a:off x="457200" y="4133850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784928" imgH="3177815" progId="Paint.Picture">
                  <p:embed/>
                </p:oleObj>
              </mc:Choice>
              <mc:Fallback>
                <p:oleObj name="Bitmap Image" r:id="rId2" imgW="9784928" imgH="3177815" progId="Paint.Picture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457200" y="4133850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Example of K-means Clustering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 Clustering – Details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14400"/>
            <a:ext cx="8001000" cy="990600"/>
          </a:xfrm>
        </p:spPr>
        <p:txBody>
          <a:bodyPr>
            <a:noAutofit/>
          </a:bodyPr>
          <a:lstStyle/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Choose initial centroids; 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repeat {assign each point to a nearest centroid; re-compute cluster centroids} 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until centroids stop changing.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Initial centroids are often chosen randomly.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Clusters produced can vary from one run to another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The centroid is (typically) the mean of the points in the cluster, but other definitions are possible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K-means will converge for common proximity measures  with appropriately defined centroid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Most of the convergence happens in the first few iterations.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Often the stopping condition is changed to ‘Until relatively few points change clusters’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Complexity is O( n * K * I * d )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n = number of points, K = number of clusters, </a:t>
            </a:r>
            <a:br>
              <a:rPr lang="en-US" altLang="en-US" sz="2000" dirty="0"/>
            </a:br>
            <a:r>
              <a:rPr lang="en-US" altLang="en-US" sz="2000" dirty="0"/>
              <a:t>I = number of iterations, d = number of attributes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26C1-B95F-2AC3-DD4B-A122D2528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1"/>
            <a:ext cx="8210550" cy="7620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3483DA-7231-90BA-07D0-8FDC2F8776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350" y="2286000"/>
          <a:ext cx="7289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2250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DBB3-8174-BAC3-B6E5-9A3ED825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/>
              <a:t>Iteration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A4CA-44F1-9958-17D7-2A005F139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latin typeface="Arimo"/>
              </a:rPr>
              <a:t>We calculate the distance of each point from each of the center of the three clusters.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latin typeface="Arimo"/>
              </a:rPr>
              <a:t>The distance is calculated by using the given distance function.</a:t>
            </a:r>
          </a:p>
          <a:p>
            <a:r>
              <a:rPr lang="el-GR" sz="1900" b="0" i="0">
                <a:effectLst/>
                <a:latin typeface="Arimo"/>
              </a:rPr>
              <a:t>Ρ(</a:t>
            </a:r>
            <a:r>
              <a:rPr lang="en-US" sz="1900" b="0" i="0">
                <a:effectLst/>
                <a:latin typeface="Arimo"/>
              </a:rPr>
              <a:t>A1, C1)</a:t>
            </a:r>
          </a:p>
          <a:p>
            <a:r>
              <a:rPr lang="en-US" sz="1900" b="0" i="0">
                <a:effectLst/>
                <a:latin typeface="Arimo"/>
              </a:rPr>
              <a:t>= |x2 – x1| + |y2 – y1|</a:t>
            </a:r>
          </a:p>
          <a:p>
            <a:r>
              <a:rPr lang="en-US" sz="1900" b="0" i="0">
                <a:effectLst/>
                <a:latin typeface="Arimo"/>
              </a:rPr>
              <a:t>= |2 – 2| + |10 – 10|</a:t>
            </a:r>
          </a:p>
          <a:p>
            <a:r>
              <a:rPr lang="en-US" sz="1900" b="0" i="0">
                <a:effectLst/>
                <a:latin typeface="Arimo"/>
              </a:rPr>
              <a:t>= 0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137194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1B4E-E014-2B46-E202-2AC95056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400"/>
              <a:t>Iteration 1 -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1C95B-06AA-6C2A-7A70-1A575A72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l-GR" b="0" i="0">
                <a:effectLst/>
                <a:latin typeface="Arimo"/>
              </a:rPr>
              <a:t>Ρ(</a:t>
            </a:r>
            <a:r>
              <a:rPr lang="en-US" b="0" i="0">
                <a:effectLst/>
                <a:latin typeface="Arimo"/>
              </a:rPr>
              <a:t>A1, C2)</a:t>
            </a:r>
          </a:p>
          <a:p>
            <a:r>
              <a:rPr lang="en-US" b="0" i="0">
                <a:effectLst/>
                <a:latin typeface="Arimo"/>
              </a:rPr>
              <a:t>= |x2 – x1| + |y2 – y1|</a:t>
            </a:r>
          </a:p>
          <a:p>
            <a:r>
              <a:rPr lang="en-US" b="0" i="0">
                <a:effectLst/>
                <a:latin typeface="Arimo"/>
              </a:rPr>
              <a:t>= |5 – 2| + |8 – 10|</a:t>
            </a:r>
          </a:p>
          <a:p>
            <a:r>
              <a:rPr lang="en-US" b="0" i="0">
                <a:effectLst/>
                <a:latin typeface="Arimo"/>
              </a:rPr>
              <a:t>= 3 + 2</a:t>
            </a:r>
          </a:p>
          <a:p>
            <a:r>
              <a:rPr lang="en-US" b="0" i="0">
                <a:effectLst/>
                <a:latin typeface="Arimo"/>
              </a:rPr>
              <a:t>=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44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1CFF-4D6A-1173-E727-0987B6E6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Iteration 1 - Continued</a:t>
            </a:r>
          </a:p>
        </p:txBody>
      </p:sp>
      <p:pic>
        <p:nvPicPr>
          <p:cNvPr id="5" name="Content Placeholder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6EFF9FBA-F8A4-2237-3C2D-7EDFBD871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295400"/>
            <a:ext cx="7373113" cy="464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046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AFDE0-A7FE-37A7-E45F-3885111E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Centroid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E8CB-C438-9E40-A122-C9936E5A7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b="0" i="0">
                <a:effectLst/>
                <a:latin typeface="Arimo"/>
              </a:rPr>
              <a:t>First cluster contains points-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A1(2, 10)</a:t>
            </a:r>
          </a:p>
          <a:p>
            <a:r>
              <a:rPr lang="en-US" b="0" i="0">
                <a:effectLst/>
                <a:latin typeface="Arimo"/>
              </a:rPr>
              <a:t>Second cluster contains points-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A3(8, 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A4(5, 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A5(7, 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A6(6, 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A8(4, 9)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30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FFE60-0C8A-008F-A040-93863828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Centroid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3EA47-78A8-C5DF-29CE-160DBCCA9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b="0" i="0">
                <a:effectLst/>
                <a:latin typeface="Arimo"/>
              </a:rPr>
              <a:t>Third cluster contains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A2(2, 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A7(1, 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We re-compute the new cluster clusters.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The new cluster center is computed by taking mean of all the points contained in that cluster.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104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E711D-B7FE-12B5-0690-47CDB53C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Centroid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2E726-F871-E39A-1E37-4842D48E6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i="0">
                <a:effectLst/>
                <a:latin typeface="Roboto Condensed" panose="020F0502020204030204" pitchFamily="2" charset="0"/>
              </a:rPr>
              <a:t>For Cluster-01: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We have only one point A1(2, 10) in Cluster-01.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So, the cluster center remains the same.</a:t>
            </a:r>
          </a:p>
          <a:p>
            <a:pPr marL="0" indent="0">
              <a:buNone/>
            </a:pPr>
            <a:r>
              <a:rPr lang="en-US" b="1" i="0">
                <a:effectLst/>
                <a:latin typeface="Arimo"/>
              </a:rPr>
              <a:t>For Cluster-02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((8 + 5 + 7 + 6 + 4)/5, (4 + 8 + 5 + 4 + 9)/5)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(6, 6)</a:t>
            </a:r>
          </a:p>
          <a:p>
            <a:pPr marL="0" indent="0">
              <a:buNone/>
            </a:pPr>
            <a:r>
              <a:rPr lang="en-US" b="1" i="0">
                <a:effectLst/>
                <a:latin typeface="Arimo"/>
              </a:rPr>
              <a:t>For Cluster-03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((2 + 1)/2, (5 + 2)/2)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(1.5, 3.5)</a:t>
            </a:r>
          </a:p>
          <a:p>
            <a:pPr marL="0" indent="0">
              <a:buNone/>
            </a:pPr>
            <a:endParaRPr lang="en-US" b="0" i="0">
              <a:effectLst/>
              <a:latin typeface="Arimo"/>
            </a:endParaRPr>
          </a:p>
          <a:p>
            <a:pPr marL="0" indent="0">
              <a:buNone/>
            </a:pPr>
            <a:endParaRPr lang="en-US" b="0" i="0">
              <a:effectLst/>
              <a:latin typeface="Arimo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68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4732-B880-80DA-B5F1-0A39785D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Iteration 2</a:t>
            </a:r>
          </a:p>
        </p:txBody>
      </p:sp>
      <p:pic>
        <p:nvPicPr>
          <p:cNvPr id="5" name="Content Placeholder 4" descr="A table of data with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6EC7B7A3-B8DE-0C63-1EEC-63FAFAA5C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756425"/>
            <a:ext cx="7144512" cy="41109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4070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B08F-6C62-25DB-2CC0-40019684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Centroid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1B7D-42D4-3DB1-4E8E-8B9D8BAE7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/>
              <a:t>Cluster 01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A1(2, 10)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A8(4, 9)</a:t>
            </a:r>
          </a:p>
          <a:p>
            <a:r>
              <a:rPr lang="en-US"/>
              <a:t>Cluster 02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A3(8, 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A4(5, 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A5(7, 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A6(6, 4)</a:t>
            </a:r>
          </a:p>
          <a:p>
            <a:pPr marL="0" indent="0">
              <a:buNone/>
            </a:pPr>
            <a:endParaRPr lang="en-US" b="0" i="0">
              <a:effectLst/>
              <a:latin typeface="Arimo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67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A71E5-77C4-701E-AA33-9710F13E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Centroid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5D5CF-98F8-42E3-5717-17BF83555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b="0" i="0">
                <a:effectLst/>
                <a:latin typeface="Arimo"/>
              </a:rPr>
              <a:t>Third cluster contains points-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A2(2, 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A7(1, 2)</a:t>
            </a:r>
          </a:p>
          <a:p>
            <a:r>
              <a:rPr lang="en-US" b="0" i="0">
                <a:effectLst/>
                <a:latin typeface="Arimo"/>
              </a:rPr>
              <a:t>Center of Cluster-01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((2 + 4)/2, (10 + 9)/2)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(3, 9.5)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887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A6766-390B-5284-FD76-CC3B6A18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Centroid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C5EEA-3928-E8F1-63E4-4DEF3E738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b="0" i="0">
                <a:effectLst/>
                <a:latin typeface="Arimo"/>
              </a:rPr>
              <a:t>Center of Cluster-02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((8 + 5 + 7 + 6)/4, (4 + 8 + 5 + 4)/4)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(6.5, 5.25)</a:t>
            </a:r>
          </a:p>
          <a:p>
            <a:r>
              <a:rPr lang="en-US" b="0" i="0">
                <a:effectLst/>
                <a:latin typeface="Arimo"/>
              </a:rPr>
              <a:t>Center of Cluster-02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((8 + 5 + 7 + 6)/4, (4 + 8 + 5 + 4)/4)</a:t>
            </a:r>
          </a:p>
          <a:p>
            <a:pPr marL="0" indent="0">
              <a:buNone/>
            </a:pPr>
            <a:r>
              <a:rPr lang="en-US" b="0" i="0">
                <a:effectLst/>
                <a:latin typeface="Arimo"/>
              </a:rPr>
              <a:t>= (6.5, 5.25)</a:t>
            </a:r>
          </a:p>
          <a:p>
            <a:pPr marL="0" indent="0">
              <a:buNone/>
            </a:pPr>
            <a:endParaRPr lang="en-US" b="0" i="0">
              <a:effectLst/>
              <a:latin typeface="Arim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257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C30F7-76B0-697A-A811-45064B97C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Final Centers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B37E8-6950-2CAD-03B1-AF97AB3AC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rPr lang="en-US" b="0" i="0">
                <a:effectLst/>
                <a:latin typeface="Arimo"/>
              </a:rPr>
              <a:t>After second iteration, the center of the three clusters are-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C1(3, 9.5)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C2(6.5, 5.25)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Arimo"/>
              </a:rPr>
              <a:t>C3(1.5, 3.5)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796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41CD-BC00-32D1-A4F7-2A096E6B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372" y="1056640"/>
            <a:ext cx="2398245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Agglomerative Clustering Example:</a:t>
            </a:r>
            <a:b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Single Link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CCA0E96-0D5F-0A8C-8A78-CDA4E739A8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65" y="1056640"/>
            <a:ext cx="3084335" cy="51745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8364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927FF-3F84-BC32-1658-B890C329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3577456"/>
            <a:ext cx="818223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5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 Merge</a:t>
            </a:r>
            <a:br>
              <a:rPr lang="en-US" sz="5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dirty="0">
                <a:solidFill>
                  <a:schemeClr val="tx1"/>
                </a:solidFill>
              </a:rPr>
              <a:t>d(p1, p2) = sqrt( (X-a)^2 + (y-b)^2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endParaRPr lang="en-US" sz="2400" kern="1200" dirty="0">
              <a:solidFill>
                <a:schemeClr val="tx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482A427-3188-ECE7-CCE3-9847012B1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9160" y="5660607"/>
            <a:ext cx="8182233" cy="5526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Merge P6 and P3</a:t>
            </a:r>
          </a:p>
          <a:p>
            <a:pPr algn="ctr" defTabSz="914400">
              <a:spcBef>
                <a:spcPts val="1000"/>
              </a:spcBef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defTabSz="914400">
              <a:spcBef>
                <a:spcPts val="1000"/>
              </a:spcBef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number of numbers on a white background&#10;&#10;Description automatically generated">
            <a:extLst>
              <a:ext uri="{FF2B5EF4-FFF2-40B4-BE49-F238E27FC236}">
                <a16:creationId xmlns:a16="http://schemas.microsoft.com/office/drawing/2014/main" id="{170F7530-CE98-394C-931C-1A11FE3D3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431" y="755250"/>
            <a:ext cx="4829691" cy="241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04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30F7-76B0-697A-A811-45064B97C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400" dirty="0"/>
              <a:t>Recalculate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B37E8-6950-2CAD-03B1-AF97AB3AC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 lnSpcReduction="10000"/>
          </a:bodyPr>
          <a:lstStyle/>
          <a:p>
            <a:r>
              <a:rPr lang="sv-SE" b="0" i="0">
                <a:effectLst/>
                <a:latin typeface="Nunito" pitchFamily="2" charset="0"/>
              </a:rPr>
              <a:t>min ((P3,P6), P1) = min ((P3,P1), (P6,P1)) = min (0.22,0.24) = 0.22</a:t>
            </a:r>
          </a:p>
          <a:p>
            <a:r>
              <a:rPr lang="sv-SE" b="0" i="0">
                <a:effectLst/>
                <a:latin typeface="Nunito" pitchFamily="2" charset="0"/>
              </a:rPr>
              <a:t>min ((P3,P6), P2) = min ((P3,P2), (P6,P2)) = min (0.14,0.24) = 0.14</a:t>
            </a:r>
          </a:p>
          <a:p>
            <a:r>
              <a:rPr lang="sv-SE" b="0" i="0">
                <a:effectLst/>
                <a:latin typeface="Nunito" pitchFamily="2" charset="0"/>
              </a:rPr>
              <a:t>min ((P3,P6), P4) = min ((P3,P4), (P6,P4)) = min (0.13,0.22) = 0.13</a:t>
            </a:r>
          </a:p>
          <a:p>
            <a:r>
              <a:rPr lang="sv-SE" b="0" i="0">
                <a:effectLst/>
                <a:latin typeface="Nunito" pitchFamily="2" charset="0"/>
              </a:rPr>
              <a:t>min ((P3,P6), P5) = min ((P3,P5), (P6,P5)) = min (0.28,0.39) = 0.28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0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E199-9FFA-8745-26B6-C2777768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78" y="3415754"/>
            <a:ext cx="7103967" cy="1137111"/>
          </a:xfrm>
        </p:spPr>
        <p:txBody>
          <a:bodyPr>
            <a:normAutofit/>
          </a:bodyPr>
          <a:lstStyle/>
          <a:p>
            <a:r>
              <a:rPr lang="en-US" sz="4700"/>
              <a:t>Updated Distance Matrix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63D02D73-7D61-6E1B-F9F8-5CDACDA15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78" y="4612943"/>
            <a:ext cx="5809476" cy="1408222"/>
          </a:xfrm>
        </p:spPr>
        <p:txBody>
          <a:bodyPr anchor="t">
            <a:normAutofit/>
          </a:bodyPr>
          <a:lstStyle/>
          <a:p>
            <a:r>
              <a:rPr lang="en-US" sz="1700" dirty="0"/>
              <a:t>Merge P4 and P3,P6</a:t>
            </a:r>
          </a:p>
        </p:txBody>
      </p:sp>
      <p:pic>
        <p:nvPicPr>
          <p:cNvPr id="5" name="Content Placeholder 4" descr="A white sheet with numbers and letters&#10;&#10;Description automatically generated with medium confidence">
            <a:extLst>
              <a:ext uri="{FF2B5EF4-FFF2-40B4-BE49-F238E27FC236}">
                <a16:creationId xmlns:a16="http://schemas.microsoft.com/office/drawing/2014/main" id="{D3C29465-5F14-F774-6558-B86DC60E0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8" y="1173707"/>
            <a:ext cx="5241495" cy="206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92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E0801-A3A0-2A9D-BBC7-E4E0B3BF5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/>
              <a:t>Repeat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A020-BBD6-87EB-CBB8-13C5F2BC8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fontAlgn="base"/>
            <a:r>
              <a:rPr lang="en-US" b="0" i="0">
                <a:effectLst/>
                <a:latin typeface="Nunito" pitchFamily="2" charset="0"/>
              </a:rPr>
              <a:t>min (((P3,P6) P4), P1) = min (((P3,P6), P1), (P4,P1)) = min (0.22,0.37) = 0.22</a:t>
            </a:r>
          </a:p>
          <a:p>
            <a:pPr fontAlgn="base"/>
            <a:r>
              <a:rPr lang="en-US" b="0" i="0">
                <a:effectLst/>
                <a:latin typeface="Nunito" pitchFamily="2" charset="0"/>
              </a:rPr>
              <a:t>min (((P3,P6), P4), P2) = min (((P3,P6), P2), (P4,P2)) = min (0.14,0.19) = 0.14</a:t>
            </a:r>
          </a:p>
          <a:p>
            <a:pPr fontAlgn="base"/>
            <a:r>
              <a:rPr lang="en-US" b="0" i="0">
                <a:effectLst/>
                <a:latin typeface="Nunito" pitchFamily="2" charset="0"/>
              </a:rPr>
              <a:t>min (((P3,P6), P4), P5) = min (((P3,P6), P5), (P4,P5)) = min (0.28,0.23) = 0.23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284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A7B7-F9AD-5A04-A741-40F27496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78" y="3415754"/>
            <a:ext cx="7103967" cy="1137111"/>
          </a:xfrm>
        </p:spPr>
        <p:txBody>
          <a:bodyPr>
            <a:normAutofit/>
          </a:bodyPr>
          <a:lstStyle/>
          <a:p>
            <a:r>
              <a:rPr lang="en-US" sz="4700"/>
              <a:t>Update Distance Matrix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EBD47D-1DCF-3016-3A0F-CF12575D4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78" y="4612943"/>
            <a:ext cx="5809476" cy="1408222"/>
          </a:xfrm>
        </p:spPr>
        <p:txBody>
          <a:bodyPr anchor="t">
            <a:normAutofit/>
          </a:bodyPr>
          <a:lstStyle/>
          <a:p>
            <a:r>
              <a:rPr lang="en-US" sz="1700" dirty="0"/>
              <a:t>Merge P2 and P5</a:t>
            </a:r>
          </a:p>
        </p:txBody>
      </p:sp>
      <p:pic>
        <p:nvPicPr>
          <p:cNvPr id="5" name="Content Placeholder 4" descr="A number of numbers on a white background&#10;&#10;Description automatically generated">
            <a:extLst>
              <a:ext uri="{FF2B5EF4-FFF2-40B4-BE49-F238E27FC236}">
                <a16:creationId xmlns:a16="http://schemas.microsoft.com/office/drawing/2014/main" id="{69A08A95-C087-5BEC-7396-A800C1137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8" y="1173707"/>
            <a:ext cx="5604958" cy="206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1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9A6B-DA50-6F90-F9EC-755A70E1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400"/>
              <a:t>Recalculate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69BC0-4905-1E97-8F96-C5A39BDAE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fontAlgn="base"/>
            <a:r>
              <a:rPr lang="sv-SE" b="0" i="0">
                <a:effectLst/>
                <a:latin typeface="Nunito" pitchFamily="2" charset="0"/>
              </a:rPr>
              <a:t>min ((P2,P5), P1) = min ((P2,P1), (P5,P1)) = min (0.23, 0.34) = 0.23</a:t>
            </a:r>
          </a:p>
          <a:p>
            <a:pPr fontAlgn="base"/>
            <a:r>
              <a:rPr lang="sv-SE" b="0" i="0">
                <a:effectLst/>
                <a:latin typeface="Nunito" pitchFamily="2" charset="0"/>
              </a:rPr>
              <a:t>min ((P2,P5), (P3,P6,P4)) = min ((P3,P6,P4), (P3,P6,P4)) = min (0.14. 0.23) = 0.14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674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A7B7-F9AD-5A04-A741-40F27496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78" y="3415754"/>
            <a:ext cx="7103967" cy="1137111"/>
          </a:xfrm>
        </p:spPr>
        <p:txBody>
          <a:bodyPr>
            <a:normAutofit/>
          </a:bodyPr>
          <a:lstStyle/>
          <a:p>
            <a:r>
              <a:rPr lang="en-US" sz="4700"/>
              <a:t>Update Distance Matrix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CA1B6B-CE91-B161-13C8-E091FE057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78" y="4612943"/>
            <a:ext cx="5809476" cy="1408222"/>
          </a:xfrm>
        </p:spPr>
        <p:txBody>
          <a:bodyPr anchor="t">
            <a:normAutofit/>
          </a:bodyPr>
          <a:lstStyle/>
          <a:p>
            <a:r>
              <a:rPr lang="en-US" sz="1700" dirty="0"/>
              <a:t>Merge P3,P6,P4 and P2, P5</a:t>
            </a:r>
          </a:p>
        </p:txBody>
      </p:sp>
      <p:pic>
        <p:nvPicPr>
          <p:cNvPr id="4" name="Content Placeholder 3" descr="A number of numbers and letters">
            <a:extLst>
              <a:ext uri="{FF2B5EF4-FFF2-40B4-BE49-F238E27FC236}">
                <a16:creationId xmlns:a16="http://schemas.microsoft.com/office/drawing/2014/main" id="{C5920C9A-AF00-E716-8DD6-FC52676BB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8" y="1540700"/>
            <a:ext cx="5809476" cy="133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57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9A6B-DA50-6F90-F9EC-755A70E1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400"/>
              <a:t>Recalculate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69BC0-4905-1E97-8F96-C5A39BDAE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fontAlgn="base"/>
            <a:r>
              <a:rPr lang="sv-SE" b="0" i="0" dirty="0">
                <a:solidFill>
                  <a:srgbClr val="273239"/>
                </a:solidFill>
                <a:effectLst/>
                <a:latin typeface="Nunito" pitchFamily="2" charset="0"/>
              </a:rPr>
              <a:t>min ((P2,P5,P3,P6,P4), P1) = min ((P2,P5), P1), ((P3,P6,P4), P1)) = min (0.23, 0.22) = 0.22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062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0C73F-B567-DEB4-65AF-B6CD8044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78" y="3415754"/>
            <a:ext cx="7103967" cy="1137111"/>
          </a:xfrm>
        </p:spPr>
        <p:txBody>
          <a:bodyPr>
            <a:normAutofit/>
          </a:bodyPr>
          <a:lstStyle/>
          <a:p>
            <a:r>
              <a:rPr lang="en-US" sz="4700"/>
              <a:t>Final Matrix</a:t>
            </a:r>
          </a:p>
        </p:txBody>
      </p:sp>
      <p:pic>
        <p:nvPicPr>
          <p:cNvPr id="5" name="Content Placeholder 4" descr="A close-up of a number&#10;&#10;Description automatically generated">
            <a:extLst>
              <a:ext uri="{FF2B5EF4-FFF2-40B4-BE49-F238E27FC236}">
                <a16:creationId xmlns:a16="http://schemas.microsoft.com/office/drawing/2014/main" id="{B0AAE0C8-D265-91C3-8D18-E6DE1806E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8" y="1599498"/>
            <a:ext cx="5809476" cy="12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55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0C73F-B567-DEB4-65AF-B6CD8044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Dendogram</a:t>
            </a:r>
          </a:p>
        </p:txBody>
      </p:sp>
      <p:pic>
        <p:nvPicPr>
          <p:cNvPr id="5" name="Content Placeholder 4" descr="A diagram of a cluster">
            <a:extLst>
              <a:ext uri="{FF2B5EF4-FFF2-40B4-BE49-F238E27FC236}">
                <a16:creationId xmlns:a16="http://schemas.microsoft.com/office/drawing/2014/main" id="{02AD5FA3-D156-5726-1CC7-865DFF258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987" y="1444885"/>
            <a:ext cx="5085525" cy="39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92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41CD-BC00-32D1-A4F7-2A096E6B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56" y="992094"/>
            <a:ext cx="2712684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Agglomerative Clustering Example:</a:t>
            </a:r>
            <a:b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Complete Link</a:t>
            </a:r>
          </a:p>
        </p:txBody>
      </p:sp>
      <p:pic>
        <p:nvPicPr>
          <p:cNvPr id="7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AAE4E2B-B041-79ED-5CEF-87D0544F22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192" y="992094"/>
            <a:ext cx="2546728" cy="525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921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0A10-7957-6A85-EAB8-BDF43DF95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58" y="5198168"/>
            <a:ext cx="7394713" cy="6427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Distance Matrix</a:t>
            </a:r>
          </a:p>
        </p:txBody>
      </p:sp>
      <p:pic>
        <p:nvPicPr>
          <p:cNvPr id="6" name="Content Placeholder 5" descr="A number of numbers and letters&#10;&#10;Description automatically generated with medium confidence">
            <a:extLst>
              <a:ext uri="{FF2B5EF4-FFF2-40B4-BE49-F238E27FC236}">
                <a16:creationId xmlns:a16="http://schemas.microsoft.com/office/drawing/2014/main" id="{733EEF1A-DBB8-8A76-6E35-E88E07B1F3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859" y="1336458"/>
            <a:ext cx="6024282" cy="301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52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30F7-76B0-697A-A811-45064B97C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400" dirty="0"/>
              <a:t>Update Distance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B37E8-6950-2CAD-03B1-AF97AB3AC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 lnSpcReduction="10000"/>
          </a:bodyPr>
          <a:lstStyle/>
          <a:p>
            <a:pPr algn="ctr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max (d(P4,P6), P1) = max (d(P4,P1), d(P6,P1)) =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max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(3.6, 3.2) = 3.6</a:t>
            </a:r>
          </a:p>
          <a:p>
            <a:pPr algn="ctr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max (d(P4,P6), P2) = max (d(P4,P2), d(P6,P2)) = max (2.92, 2.5) = 2.92</a:t>
            </a:r>
          </a:p>
          <a:p>
            <a:pPr algn="ctr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max (d(P4,P6), P3) = max (d(P4,P3), d(P6,P3)) = max (2.24, 2.5) = 2.5</a:t>
            </a:r>
          </a:p>
          <a:p>
            <a:pPr algn="ctr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max (d(P4,P6), P5) = max (d(P4,P5), d(P6,P5)) = max (1.0, 1.12) = 1.12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674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11DB08-1669-426B-BBEB-FAD285EF8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9E4219-121F-4CD1-AA58-24746CD2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014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707" y="640080"/>
            <a:ext cx="3156492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8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Density Based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190" y="4032372"/>
            <a:ext cx="3153009" cy="23594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FFFF"/>
                </a:solidFill>
              </a:rPr>
              <a:t>Clusters are regions of high density that are separated from one another by regions on low density.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F50912-06FD-4216-BAD3-21050F595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009" y="3765314"/>
            <a:ext cx="2948940" cy="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894012"/>
            <a:ext cx="4094602" cy="307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1388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r>
              <a:rPr lang="en-US" altLang="en-US"/>
              <a:t>DBSCAN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852775" y="2198362"/>
            <a:ext cx="3719225" cy="3917773"/>
          </a:xfrm>
        </p:spPr>
        <p:txBody>
          <a:bodyPr>
            <a:normAutofit/>
          </a:bodyPr>
          <a:lstStyle/>
          <a:p>
            <a:pPr marL="533400" indent="-533400">
              <a:spcBef>
                <a:spcPct val="20000"/>
              </a:spcBef>
            </a:pPr>
            <a:r>
              <a:rPr lang="en-US" altLang="en-US" sz="2900" dirty="0"/>
              <a:t>DBSCAN is a density-based algorithm.</a:t>
            </a:r>
          </a:p>
          <a:p>
            <a:pPr marL="990600" lvl="1" indent="-533400">
              <a:spcBef>
                <a:spcPct val="20000"/>
              </a:spcBef>
            </a:pPr>
            <a:r>
              <a:rPr lang="en-US" altLang="en-US" sz="2900" dirty="0"/>
              <a:t>Density = number of points within a specified radius (Eps)</a:t>
            </a:r>
          </a:p>
          <a:p>
            <a:pPr marL="457200" lvl="1" indent="0">
              <a:spcBef>
                <a:spcPct val="20000"/>
              </a:spcBef>
              <a:buNone/>
            </a:pPr>
            <a:endParaRPr lang="en-US" altLang="en-US" sz="2900" dirty="0"/>
          </a:p>
          <a:p>
            <a:pPr marL="457200" lvl="1" indent="0">
              <a:spcBef>
                <a:spcPct val="20000"/>
              </a:spcBef>
              <a:buNone/>
            </a:pPr>
            <a:endParaRPr lang="en-US" altLang="en-US" sz="2900" dirty="0"/>
          </a:p>
          <a:p>
            <a:pPr marL="2171700" lvl="4" indent="-342900"/>
            <a:endParaRPr lang="en-US" altLang="en-US" sz="2900" dirty="0"/>
          </a:p>
          <a:p>
            <a:pPr marL="533400" indent="-533400">
              <a:spcBef>
                <a:spcPct val="20000"/>
              </a:spcBef>
            </a:pPr>
            <a:endParaRPr lang="en-US" altLang="en-US" sz="1200" dirty="0"/>
          </a:p>
        </p:txBody>
      </p:sp>
      <p:pic>
        <p:nvPicPr>
          <p:cNvPr id="3" name="Picture 2" descr="A circle with a line and arrows pointing to the right&#10;&#10;Description automatically generated with medium confidence">
            <a:extLst>
              <a:ext uri="{FF2B5EF4-FFF2-40B4-BE49-F238E27FC236}">
                <a16:creationId xmlns:a16="http://schemas.microsoft.com/office/drawing/2014/main" id="{542AC3CE-9FF7-018A-80E6-2AD8DBF48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525" y="2411221"/>
            <a:ext cx="3591379" cy="33033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7DA0-3A10-E441-7F7F-B7AB1D07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625474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C1BA3-CD34-9299-F95F-486A05324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990600" lvl="1" indent="-533400">
              <a:spcBef>
                <a:spcPct val="20000"/>
              </a:spcBef>
            </a:pPr>
            <a:r>
              <a:rPr lang="en-US" altLang="en-US" sz="2900" dirty="0"/>
              <a:t>A point is a core point if it has at least a specified number of points (</a:t>
            </a:r>
            <a:r>
              <a:rPr lang="en-US" altLang="en-US" sz="2900" dirty="0" err="1"/>
              <a:t>MinPts</a:t>
            </a:r>
            <a:r>
              <a:rPr lang="en-US" altLang="en-US" sz="2900" dirty="0"/>
              <a:t>) within Eps </a:t>
            </a:r>
          </a:p>
          <a:p>
            <a:pPr marL="1295400" lvl="2" indent="-381000"/>
            <a:r>
              <a:rPr lang="en-US" altLang="en-US" sz="2900" dirty="0"/>
              <a:t>These are points that are at the interior of a cluster</a:t>
            </a:r>
          </a:p>
          <a:p>
            <a:pPr marL="1295400" lvl="2" indent="-381000"/>
            <a:r>
              <a:rPr lang="en-US" altLang="en-US" sz="2900" dirty="0"/>
              <a:t>Counts the point itself</a:t>
            </a:r>
          </a:p>
          <a:p>
            <a:pPr marL="2171700" lvl="4" indent="-342900"/>
            <a:endParaRPr lang="en-US" altLang="en-US" sz="2900" dirty="0"/>
          </a:p>
          <a:p>
            <a:pPr marL="990600" lvl="1" indent="-533400">
              <a:spcBef>
                <a:spcPct val="20000"/>
              </a:spcBef>
            </a:pPr>
            <a:r>
              <a:rPr lang="en-US" altLang="en-US" sz="2900" dirty="0"/>
              <a:t>A border point is not a core point, but is in the neighborhood of a core point</a:t>
            </a:r>
          </a:p>
          <a:p>
            <a:pPr marL="2171700" lvl="4" indent="-342900"/>
            <a:endParaRPr lang="en-US" altLang="en-US" sz="2900" dirty="0"/>
          </a:p>
          <a:p>
            <a:pPr marL="990600" lvl="1" indent="-533400">
              <a:spcBef>
                <a:spcPct val="20000"/>
              </a:spcBef>
            </a:pPr>
            <a:r>
              <a:rPr lang="en-US" altLang="en-US" sz="2900" dirty="0"/>
              <a:t>A noise point is any point that is not a core point or a border point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96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DBSCAN: Core, Border, and Noise Points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1295400"/>
            <a:ext cx="9144000" cy="49562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322832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MinPts</a:t>
            </a:r>
            <a:r>
              <a:rPr lang="en-US" sz="1600" dirty="0"/>
              <a:t> = 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DBSCAN: Core, Border and Noise Points</a:t>
            </a: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3686"/>
            <a:ext cx="4872038" cy="3602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990600" y="5029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5257800" y="5105400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Point types: </a:t>
            </a:r>
            <a:r>
              <a:rPr lang="en-US" altLang="en-US" sz="1800">
                <a:solidFill>
                  <a:schemeClr val="hlink"/>
                </a:solidFill>
              </a:rPr>
              <a:t>core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rgbClr val="003399"/>
                </a:solidFill>
              </a:rPr>
              <a:t>border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rgbClr val="FF0000"/>
                </a:solidFill>
              </a:rPr>
              <a:t>noise</a:t>
            </a:r>
          </a:p>
        </p:txBody>
      </p:sp>
      <p:pic>
        <p:nvPicPr>
          <p:cNvPr id="849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527858"/>
            <a:ext cx="4872038" cy="357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2743200" y="5943600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Eps = 10, MinPts = 4</a:t>
            </a:r>
          </a:p>
        </p:txBody>
      </p:sp>
    </p:spTree>
    <p:extLst>
      <p:ext uri="{BB962C8B-B14F-4D97-AF65-F5344CB8AC3E}">
        <p14:creationId xmlns:p14="http://schemas.microsoft.com/office/powerpoint/2010/main" val="11077255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4E8E-FD6F-F0AD-211D-CDAC68FD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17AF1-CAB0-058B-2CBE-1ED17BA60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CMR10"/>
              </a:rPr>
              <a:t>Given the previous definitions of core points, border points, and noise points, the DBSCAN algorithm can be informally described as follows. Any two core points that are close enough—within a distance, </a:t>
            </a:r>
            <a:r>
              <a:rPr lang="en-US" sz="2000" b="0" i="1" u="none" strike="noStrike" baseline="0" dirty="0">
                <a:latin typeface="CMMI10"/>
              </a:rPr>
              <a:t>Eps </a:t>
            </a:r>
            <a:r>
              <a:rPr lang="en-US" sz="2000" b="0" i="0" u="none" strike="noStrike" baseline="0" dirty="0">
                <a:latin typeface="CMR10"/>
              </a:rPr>
              <a:t>of one another—are put in the same cluster. Likewise, any border point that is close enough to a core point is put in the same cluster as the core point. (Ties may need to be resolved if a border point is close to core points from different clusters.) Noise points are discarded.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10162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DBSCAN Algorithm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Form clusters using core points, and assign border points to one of its neighboring clusters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sz="2000" dirty="0"/>
              <a:t>1: Label all points as core, border, or noise points.</a:t>
            </a:r>
          </a:p>
          <a:p>
            <a:pPr marL="0" indent="0">
              <a:buNone/>
            </a:pPr>
            <a:r>
              <a:rPr lang="en-US" sz="2000" dirty="0"/>
              <a:t>2: Eliminate noise points.</a:t>
            </a:r>
          </a:p>
          <a:p>
            <a:pPr marL="0" indent="0">
              <a:buNone/>
            </a:pPr>
            <a:r>
              <a:rPr lang="en-US" sz="2000" dirty="0"/>
              <a:t>3: Put an edge between all core points within a distance </a:t>
            </a:r>
            <a:r>
              <a:rPr lang="en-US" sz="2000" i="1" dirty="0"/>
              <a:t>Eps </a:t>
            </a:r>
            <a:r>
              <a:rPr lang="en-US" sz="2000" dirty="0"/>
              <a:t>of each other.</a:t>
            </a:r>
          </a:p>
          <a:p>
            <a:pPr marL="0" indent="0">
              <a:buNone/>
            </a:pPr>
            <a:r>
              <a:rPr lang="en-US" sz="2000" dirty="0"/>
              <a:t>4: Make each group of connected core points into a separate cluster.</a:t>
            </a:r>
          </a:p>
          <a:p>
            <a:pPr marL="0" indent="0">
              <a:buNone/>
            </a:pPr>
            <a:r>
              <a:rPr lang="en-US" sz="2000" dirty="0"/>
              <a:t>5: Assign each border point to one of the clusters of its associated core points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560960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Works Well</a:t>
            </a:r>
          </a:p>
        </p:txBody>
      </p:sp>
      <p:pic>
        <p:nvPicPr>
          <p:cNvPr id="86019" name="Picture 20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4872038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Text Box 2052"/>
          <p:cNvSpPr txBox="1">
            <a:spLocks noChangeArrowheads="1"/>
          </p:cNvSpPr>
          <p:nvPr/>
        </p:nvSpPr>
        <p:spPr bwMode="auto">
          <a:xfrm>
            <a:off x="990600" y="443388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053"/>
          <p:cNvGrpSpPr>
            <a:grpSpLocks/>
          </p:cNvGrpSpPr>
          <p:nvPr/>
        </p:nvGrpSpPr>
        <p:grpSpPr bwMode="auto">
          <a:xfrm>
            <a:off x="4167399" y="1080599"/>
            <a:ext cx="4976602" cy="3796201"/>
            <a:chOff x="2691" y="633"/>
            <a:chExt cx="3069" cy="2360"/>
          </a:xfrm>
        </p:grpSpPr>
        <p:pic>
          <p:nvPicPr>
            <p:cNvPr id="86023" name="Picture 205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24" name="Text Box 2055"/>
            <p:cNvSpPr txBox="1">
              <a:spLocks noChangeArrowheads="1"/>
            </p:cNvSpPr>
            <p:nvPr/>
          </p:nvSpPr>
          <p:spPr bwMode="auto">
            <a:xfrm>
              <a:off x="3222" y="2763"/>
              <a:ext cx="25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dirty="0"/>
                <a:t>Clusters (</a:t>
              </a:r>
              <a:r>
                <a:rPr lang="en-US" altLang="en-US" dirty="0"/>
                <a:t>dark blue points indicate noise</a:t>
              </a:r>
              <a:r>
                <a:rPr lang="en-US" altLang="en-US" sz="1800" dirty="0"/>
                <a:t>)</a:t>
              </a:r>
            </a:p>
          </p:txBody>
        </p:sp>
      </p:grpSp>
      <p:sp>
        <p:nvSpPr>
          <p:cNvPr id="1653768" name="Text Box 2056"/>
          <p:cNvSpPr txBox="1">
            <a:spLocks noChangeArrowheads="1"/>
          </p:cNvSpPr>
          <p:nvPr/>
        </p:nvSpPr>
        <p:spPr bwMode="auto">
          <a:xfrm>
            <a:off x="609600" y="4876800"/>
            <a:ext cx="6629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800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Can handle clusters of different shapes and sizes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Resistant to noise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Does NOT Work Well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066800" y="3886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Does NOT Work Well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066800" y="3886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47" name="Object 0"/>
          <p:cNvGraphicFramePr>
            <a:graphicFrameLocks noChangeAspect="1"/>
          </p:cNvGraphicFramePr>
          <p:nvPr/>
        </p:nvGraphicFramePr>
        <p:xfrm>
          <a:off x="4648200" y="1066800"/>
          <a:ext cx="3363913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686706" imgH="3177815" progId="MSPhotoEd.3">
                  <p:embed/>
                </p:oleObj>
              </mc:Choice>
              <mc:Fallback>
                <p:oleObj r:id="rId3" imgW="4686706" imgH="3177815" progId="MSPhotoEd.3">
                  <p:embed/>
                  <p:pic>
                    <p:nvPicPr>
                      <p:cNvPr id="8704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066800"/>
                        <a:ext cx="3363913" cy="228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4800600" y="3352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1600" b="0" dirty="0" err="1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=4, Eps=9.92).</a:t>
            </a:r>
            <a:r>
              <a:rPr lang="en-US" altLang="en-US" sz="900" b="0" dirty="0">
                <a:latin typeface="Times New Roman" pitchFamily="18" charset="0"/>
              </a:rPr>
              <a:t> </a:t>
            </a:r>
            <a:endParaRPr lang="en-US" altLang="en-US" sz="2400" b="0" dirty="0">
              <a:latin typeface="Times New Roman" pitchFamily="18" charset="0"/>
            </a:endParaRPr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50" name="Object 1"/>
          <p:cNvGraphicFramePr>
            <a:graphicFrameLocks noChangeAspect="1"/>
          </p:cNvGraphicFramePr>
          <p:nvPr/>
        </p:nvGraphicFramePr>
        <p:xfrm>
          <a:off x="4724400" y="3733800"/>
          <a:ext cx="336391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86706" imgH="3177815" progId="MSPhotoEd.3">
                  <p:embed/>
                </p:oleObj>
              </mc:Choice>
              <mc:Fallback>
                <p:oleObj r:id="rId5" imgW="4686706" imgH="3177815" progId="MSPhotoEd.3">
                  <p:embed/>
                  <p:pic>
                    <p:nvPicPr>
                      <p:cNvPr id="8705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733800"/>
                        <a:ext cx="3363913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4724400" y="6019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en-US" sz="1600" b="0" dirty="0" err="1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=4, Eps=9.75)</a:t>
            </a:r>
          </a:p>
        </p:txBody>
      </p:sp>
      <p:sp>
        <p:nvSpPr>
          <p:cNvPr id="1654796" name="Text Box 12"/>
          <p:cNvSpPr txBox="1">
            <a:spLocks noChangeArrowheads="1"/>
          </p:cNvSpPr>
          <p:nvPr/>
        </p:nvSpPr>
        <p:spPr bwMode="auto">
          <a:xfrm>
            <a:off x="609600" y="5392738"/>
            <a:ext cx="3505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Varying densities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High-dimensional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410616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4796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56840" name="Rectangle 1656839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6842" name="Rectangle 1656841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 altLang="en-US">
                <a:solidFill>
                  <a:srgbClr val="FFFFFF"/>
                </a:solidFill>
              </a:rPr>
              <a:t>Cluster Validity </a:t>
            </a:r>
          </a:p>
        </p:txBody>
      </p:sp>
      <p:sp>
        <p:nvSpPr>
          <p:cNvPr id="1656835" name="Rectangle 3"/>
          <p:cNvSpPr>
            <a:spLocks noGrp="1" noChangeArrowheads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Autofit/>
          </a:bodyPr>
          <a:lstStyle/>
          <a:p>
            <a:r>
              <a:rPr lang="en-US" altLang="en-US" dirty="0"/>
              <a:t>For supervised classification we have a variety of measures to evaluate how good our model is</a:t>
            </a:r>
          </a:p>
          <a:p>
            <a:pPr lvl="1"/>
            <a:r>
              <a:rPr lang="en-US" altLang="en-US" sz="2000" dirty="0"/>
              <a:t>Accuracy, precision, recall</a:t>
            </a:r>
          </a:p>
          <a:p>
            <a:pPr lvl="1"/>
            <a:endParaRPr lang="en-US" altLang="en-US" sz="2000" dirty="0"/>
          </a:p>
          <a:p>
            <a:r>
              <a:rPr lang="en-US" altLang="en-US" dirty="0"/>
              <a:t>For cluster analysis, the analogous question is how to evaluate the “goodness” of the resulting clusters?</a:t>
            </a:r>
          </a:p>
          <a:p>
            <a:endParaRPr lang="en-US" altLang="en-US" dirty="0"/>
          </a:p>
          <a:p>
            <a:r>
              <a:rPr lang="en-US" altLang="en-US" dirty="0"/>
              <a:t>But “clusters are in the eye of the beholder”! </a:t>
            </a:r>
          </a:p>
          <a:p>
            <a:pPr lvl="1"/>
            <a:r>
              <a:rPr lang="en-US" altLang="en-US" sz="2000" dirty="0"/>
              <a:t>In practice the clusters we find are defined by the clustering algorithm</a:t>
            </a:r>
          </a:p>
          <a:p>
            <a:endParaRPr lang="en-US" altLang="en-US" dirty="0"/>
          </a:p>
          <a:p>
            <a:r>
              <a:rPr lang="en-US" altLang="en-US" dirty="0"/>
              <a:t>Then why do we want to evaluate them?</a:t>
            </a:r>
          </a:p>
          <a:p>
            <a:pPr lvl="1"/>
            <a:r>
              <a:rPr lang="en-US" altLang="en-US" sz="2000" dirty="0"/>
              <a:t>To avoid finding patterns in noise</a:t>
            </a:r>
          </a:p>
          <a:p>
            <a:pPr lvl="1"/>
            <a:r>
              <a:rPr lang="en-US" altLang="en-US" sz="2000" dirty="0"/>
              <a:t>To compare clustering algorithms</a:t>
            </a:r>
          </a:p>
          <a:p>
            <a:pPr lvl="1"/>
            <a:r>
              <a:rPr lang="en-US" altLang="en-US" sz="2000" dirty="0"/>
              <a:t>To compare two sets of clusters</a:t>
            </a:r>
          </a:p>
          <a:p>
            <a:pPr lvl="1"/>
            <a:r>
              <a:rPr lang="en-US" altLang="en-US" sz="2000" dirty="0"/>
              <a:t>To compare two clusters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Clusters found in Random Data</a:t>
            </a: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364807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152400" y="1905000"/>
            <a:ext cx="990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Random Points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52400" y="3657600"/>
            <a:ext cx="4113213" cy="2743200"/>
            <a:chOff x="96" y="2304"/>
            <a:chExt cx="2591" cy="1728"/>
          </a:xfrm>
        </p:grpSpPr>
        <p:pic>
          <p:nvPicPr>
            <p:cNvPr id="9012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5" name="Text Box 7"/>
            <p:cNvSpPr txBox="1">
              <a:spLocks noChangeArrowheads="1"/>
            </p:cNvSpPr>
            <p:nvPr/>
          </p:nvSpPr>
          <p:spPr bwMode="auto">
            <a:xfrm>
              <a:off x="96" y="264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K-means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116388" y="990600"/>
            <a:ext cx="4341812" cy="2743200"/>
            <a:chOff x="2593" y="624"/>
            <a:chExt cx="2735" cy="1728"/>
          </a:xfrm>
        </p:grpSpPr>
        <p:pic>
          <p:nvPicPr>
            <p:cNvPr id="90122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62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3" name="Text Box 10"/>
            <p:cNvSpPr txBox="1">
              <a:spLocks noChangeArrowheads="1"/>
            </p:cNvSpPr>
            <p:nvPr/>
          </p:nvSpPr>
          <p:spPr bwMode="auto">
            <a:xfrm>
              <a:off x="4704" y="120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DBSCAN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116388" y="3657600"/>
            <a:ext cx="4646612" cy="2743200"/>
            <a:chOff x="2593" y="2304"/>
            <a:chExt cx="2927" cy="1728"/>
          </a:xfrm>
        </p:grpSpPr>
        <p:pic>
          <p:nvPicPr>
            <p:cNvPr id="90120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1" name="Text Box 13"/>
            <p:cNvSpPr txBox="1">
              <a:spLocks noChangeArrowheads="1"/>
            </p:cNvSpPr>
            <p:nvPr/>
          </p:nvSpPr>
          <p:spPr bwMode="auto">
            <a:xfrm>
              <a:off x="4800" y="2640"/>
              <a:ext cx="72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Complete Link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168" name="Rectangle 9216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0" name="Rectangle 9216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 altLang="en-US">
                <a:solidFill>
                  <a:srgbClr val="FFFFFF"/>
                </a:solidFill>
              </a:rPr>
              <a:t>Measures of Cluster Validity</a:t>
            </a:r>
          </a:p>
        </p:txBody>
      </p:sp>
      <p:sp>
        <p:nvSpPr>
          <p:cNvPr id="92162" name="Rectangle 2"/>
          <p:cNvSpPr>
            <a:spLocks noGrp="1" noChangeArrowheads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 fontScale="92500" lnSpcReduction="20000"/>
          </a:bodyPr>
          <a:lstStyle/>
          <a:p>
            <a:pPr marL="342900" indent="-342900"/>
            <a:r>
              <a:rPr lang="en-US" altLang="en-US" dirty="0"/>
              <a:t>Numerical measures that are applied to judge various aspects of cluster validity, are classified into the following two types.</a:t>
            </a:r>
          </a:p>
          <a:p>
            <a:pPr marL="742950" lvl="1" indent="-285750"/>
            <a:r>
              <a:rPr lang="en-US" altLang="en-US" sz="2000" dirty="0"/>
              <a:t>Supervised: Used to measure the extent to which cluster labels match externally supplied class labels.</a:t>
            </a:r>
          </a:p>
          <a:p>
            <a:pPr marL="1143000" lvl="2" indent="-228600"/>
            <a:r>
              <a:rPr lang="en-US" altLang="en-US" sz="2000" dirty="0"/>
              <a:t>Entropy </a:t>
            </a:r>
          </a:p>
          <a:p>
            <a:pPr marL="1143000" lvl="2" indent="-228600"/>
            <a:r>
              <a:rPr lang="en-US" altLang="en-US" sz="2000" dirty="0"/>
              <a:t>Often called </a:t>
            </a:r>
            <a:r>
              <a:rPr lang="en-US" altLang="en-US" sz="2000" i="1" dirty="0"/>
              <a:t>external indices </a:t>
            </a:r>
            <a:r>
              <a:rPr lang="en-US" altLang="en-US" sz="2000" dirty="0"/>
              <a:t>because they use information external to the data</a:t>
            </a:r>
          </a:p>
          <a:p>
            <a:pPr marL="742950" lvl="1" indent="-285750"/>
            <a:r>
              <a:rPr lang="en-US" altLang="en-US" sz="2000" dirty="0"/>
              <a:t>Unsupervised:  Used to measure the goodness of a clustering structure </a:t>
            </a:r>
            <a:r>
              <a:rPr lang="en-US" altLang="en-US" sz="2000" i="1" dirty="0"/>
              <a:t>without</a:t>
            </a:r>
            <a:r>
              <a:rPr lang="en-US" altLang="en-US" sz="2000" dirty="0"/>
              <a:t> respect to external information. </a:t>
            </a:r>
          </a:p>
          <a:p>
            <a:pPr marL="1143000" lvl="2" indent="-228600"/>
            <a:r>
              <a:rPr lang="en-US" altLang="en-US" sz="2000" dirty="0"/>
              <a:t>Sum of Squared Error (SSE)</a:t>
            </a:r>
          </a:p>
          <a:p>
            <a:pPr marL="1143000" lvl="2" indent="-228600"/>
            <a:r>
              <a:rPr lang="en-US" altLang="en-US" sz="2000" dirty="0"/>
              <a:t>Often called </a:t>
            </a:r>
            <a:r>
              <a:rPr lang="en-US" altLang="en-US" sz="2000" i="1" dirty="0"/>
              <a:t>internal indices </a:t>
            </a:r>
            <a:r>
              <a:rPr lang="en-US" altLang="en-US" sz="2000" dirty="0"/>
              <a:t>because they only use information in the data</a:t>
            </a:r>
          </a:p>
          <a:p>
            <a:pPr lvl="2">
              <a:buNone/>
            </a:pPr>
            <a:endParaRPr lang="en-US" altLang="en-US" dirty="0"/>
          </a:p>
          <a:p>
            <a:pPr lvl="2">
              <a:buNone/>
            </a:pPr>
            <a:r>
              <a:rPr lang="en-US" altLang="en-US" dirty="0"/>
              <a:t>		</a:t>
            </a:r>
          </a:p>
          <a:p>
            <a:pPr marL="234950" indent="-285750"/>
            <a:r>
              <a:rPr lang="en-US" altLang="en-US" dirty="0"/>
              <a:t>You can use supervised or unsupervised measures to compare clusters or </a:t>
            </a:r>
            <a:r>
              <a:rPr lang="en-US" altLang="en-US" dirty="0" err="1"/>
              <a:t>clusterings</a:t>
            </a:r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480" name="Rectangle 105479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altLang="en-US" sz="3900"/>
              <a:t>Unsupervised Measures: Cohesion and Separation</a:t>
            </a:r>
          </a:p>
        </p:txBody>
      </p:sp>
      <p:cxnSp>
        <p:nvCxnSpPr>
          <p:cNvPr id="105482" name="Straight Connector 105481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474" name="Rectangle 2"/>
              <p:cNvSpPr>
                <a:spLocks noChangeArrowheads="1"/>
              </p:cNvSpPr>
              <p:nvPr/>
            </p:nvSpPr>
            <p:spPr>
              <a:xfrm>
                <a:off x="3749497" y="804333"/>
                <a:ext cx="4693291" cy="5249334"/>
              </a:xfrm>
              <a:prstGeom prst="rect">
                <a:avLst/>
              </a:prstGeom>
            </p:spPr>
            <p:txBody>
              <a:bodyPr vert="horz" lIns="45720" tIns="45720" rIns="45720" bIns="45720" rtlCol="0" anchor="ctr">
                <a:normAutofit/>
              </a:bodyPr>
              <a:lstStyle/>
              <a:p>
                <a:pPr marL="250317" indent="-250317" defTabSz="91440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altLang="en-US" dirty="0"/>
                  <a:t>Cluster Cohesion: Measures how closely related are objects in a cluster</a:t>
                </a:r>
              </a:p>
              <a:p>
                <a:pPr marL="542354" lvl="1" indent="-208598"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altLang="en-US" dirty="0"/>
                  <a:t>Example: SSE</a:t>
                </a:r>
              </a:p>
              <a:p>
                <a:pPr marL="250317" indent="-250317" defTabSz="91440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altLang="en-US" dirty="0"/>
                  <a:t>Cluster Separation: Measure how distinct or well-separated a cluster is from other clusters</a:t>
                </a:r>
              </a:p>
              <a:p>
                <a:pPr marL="250317" indent="-250317"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altLang="en-US" dirty="0"/>
                  <a:t>Example: Squared Error</a:t>
                </a:r>
              </a:p>
              <a:p>
                <a:pPr marL="542354" lvl="1" indent="-208598"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altLang="en-US" dirty="0"/>
                  <a:t>Cohesion is measured by the within-cluster sum of squares (SSE)</a:t>
                </a:r>
              </a:p>
              <a:p>
                <a:pPr marL="544671" lvl="1" indent="-210915"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endParaRPr lang="en-US" altLang="en-US" dirty="0"/>
              </a:p>
              <a:p>
                <a:pPr marL="542354" lvl="1" indent="-208598"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altLang="en-US" dirty="0"/>
                  <a:t>Separation is measured by the between cluster sum of squares</a:t>
                </a:r>
              </a:p>
              <a:p>
                <a:pPr marL="542354" lvl="1"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endParaRPr lang="en-US" altLang="en-US" dirty="0"/>
              </a:p>
              <a:p>
                <a:pPr marL="333756" lvl="1"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altLang="en-US" dirty="0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dirty="0"/>
                  <a:t>is the size of cluster </a:t>
                </a:r>
                <a:r>
                  <a:rPr lang="en-US" altLang="en-US" i="1" dirty="0" err="1"/>
                  <a:t>i</a:t>
                </a:r>
                <a:r>
                  <a:rPr lang="en-US" altLang="en-US" dirty="0"/>
                  <a:t> </a:t>
                </a:r>
              </a:p>
              <a:p>
                <a:pPr marL="742950" lvl="1" indent="-285750" defTabSz="914400">
                  <a:lnSpc>
                    <a:spcPct val="90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charset="0"/>
                  <a:buNone/>
                </a:pPr>
                <a:endParaRPr lang="en-US" altLang="en-US" dirty="0"/>
              </a:p>
            </p:txBody>
          </p:sp>
        </mc:Choice>
        <mc:Fallback>
          <p:sp>
            <p:nvSpPr>
              <p:cNvPr id="105474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497" y="804333"/>
                <a:ext cx="4693291" cy="5249334"/>
              </a:xfrm>
              <a:prstGeom prst="rect">
                <a:avLst/>
              </a:prstGeom>
              <a:blipFill>
                <a:blip r:embed="rId3"/>
                <a:stretch>
                  <a:fillRect l="-2078" r="-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723592" y="4464976"/>
                <a:ext cx="3725634" cy="877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altLang="en-US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en-US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en-US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en-US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en-US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en-US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en-US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en-US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en-US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92" y="4464976"/>
                <a:ext cx="3725634" cy="8776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733914" y="5079559"/>
                <a:ext cx="2543923" cy="1112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altLang="en-US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en-US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en-US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en-US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en-US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en-US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en-US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14" y="5079559"/>
                <a:ext cx="2543923" cy="11121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9876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0999" y="152400"/>
            <a:ext cx="8464889" cy="533400"/>
          </a:xfrm>
        </p:spPr>
        <p:txBody>
          <a:bodyPr/>
          <a:lstStyle/>
          <a:p>
            <a:r>
              <a:rPr lang="en-US" altLang="en-US" sz="2600" dirty="0"/>
              <a:t>Unsupervised Measures: Cohesion and Separation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 dirty="0"/>
              <a:t>Example: SSE</a:t>
            </a:r>
          </a:p>
          <a:p>
            <a:pPr lvl="1"/>
            <a:r>
              <a:rPr lang="en-US" altLang="en-US" sz="2000" dirty="0"/>
              <a:t>SSB + SSE = constant</a:t>
            </a:r>
          </a:p>
        </p:txBody>
      </p:sp>
      <p:sp>
        <p:nvSpPr>
          <p:cNvPr id="106500" name="Line 4"/>
          <p:cNvSpPr>
            <a:spLocks noChangeShapeType="1"/>
          </p:cNvSpPr>
          <p:nvPr/>
        </p:nvSpPr>
        <p:spPr bwMode="auto">
          <a:xfrm>
            <a:off x="914400" y="2681288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1" name="Line 5"/>
          <p:cNvSpPr>
            <a:spLocks noChangeShapeType="1"/>
          </p:cNvSpPr>
          <p:nvPr/>
        </p:nvSpPr>
        <p:spPr bwMode="auto">
          <a:xfrm>
            <a:off x="914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2" name="Line 6"/>
          <p:cNvSpPr>
            <a:spLocks noChangeShapeType="1"/>
          </p:cNvSpPr>
          <p:nvPr/>
        </p:nvSpPr>
        <p:spPr bwMode="auto">
          <a:xfrm>
            <a:off x="2438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3" name="Line 7"/>
          <p:cNvSpPr>
            <a:spLocks noChangeShapeType="1"/>
          </p:cNvSpPr>
          <p:nvPr/>
        </p:nvSpPr>
        <p:spPr bwMode="auto">
          <a:xfrm>
            <a:off x="3962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4" name="Line 8"/>
          <p:cNvSpPr>
            <a:spLocks noChangeShapeType="1"/>
          </p:cNvSpPr>
          <p:nvPr/>
        </p:nvSpPr>
        <p:spPr bwMode="auto">
          <a:xfrm>
            <a:off x="5486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5" name="Line 9"/>
          <p:cNvSpPr>
            <a:spLocks noChangeShapeType="1"/>
          </p:cNvSpPr>
          <p:nvPr/>
        </p:nvSpPr>
        <p:spPr bwMode="auto">
          <a:xfrm>
            <a:off x="7010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762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1</a:t>
            </a:r>
          </a:p>
        </p:txBody>
      </p:sp>
      <p:sp>
        <p:nvSpPr>
          <p:cNvPr id="106507" name="Text Box 11"/>
          <p:cNvSpPr txBox="1">
            <a:spLocks noChangeArrowheads="1"/>
          </p:cNvSpPr>
          <p:nvPr/>
        </p:nvSpPr>
        <p:spPr bwMode="auto">
          <a:xfrm>
            <a:off x="2286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2</a:t>
            </a:r>
          </a:p>
        </p:txBody>
      </p:sp>
      <p:sp>
        <p:nvSpPr>
          <p:cNvPr id="106508" name="Text Box 12"/>
          <p:cNvSpPr txBox="1">
            <a:spLocks noChangeArrowheads="1"/>
          </p:cNvSpPr>
          <p:nvPr/>
        </p:nvSpPr>
        <p:spPr bwMode="auto">
          <a:xfrm>
            <a:off x="3810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3</a:t>
            </a:r>
          </a:p>
        </p:txBody>
      </p:sp>
      <p:sp>
        <p:nvSpPr>
          <p:cNvPr id="106509" name="Text Box 13"/>
          <p:cNvSpPr txBox="1">
            <a:spLocks noChangeArrowheads="1"/>
          </p:cNvSpPr>
          <p:nvPr/>
        </p:nvSpPr>
        <p:spPr bwMode="auto">
          <a:xfrm>
            <a:off x="5334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4</a:t>
            </a:r>
          </a:p>
        </p:txBody>
      </p:sp>
      <p:sp>
        <p:nvSpPr>
          <p:cNvPr id="106510" name="Text Box 14"/>
          <p:cNvSpPr txBox="1">
            <a:spLocks noChangeArrowheads="1"/>
          </p:cNvSpPr>
          <p:nvPr/>
        </p:nvSpPr>
        <p:spPr bwMode="auto">
          <a:xfrm>
            <a:off x="6858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5</a:t>
            </a:r>
          </a:p>
        </p:txBody>
      </p:sp>
      <p:sp>
        <p:nvSpPr>
          <p:cNvPr id="106511" name="Oval 15"/>
          <p:cNvSpPr>
            <a:spLocks noChangeArrowheads="1"/>
          </p:cNvSpPr>
          <p:nvPr/>
        </p:nvSpPr>
        <p:spPr bwMode="auto">
          <a:xfrm>
            <a:off x="838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6512" name="Oval 16"/>
          <p:cNvSpPr>
            <a:spLocks noChangeArrowheads="1"/>
          </p:cNvSpPr>
          <p:nvPr/>
        </p:nvSpPr>
        <p:spPr bwMode="auto">
          <a:xfrm>
            <a:off x="2362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6513" name="Oval 17"/>
          <p:cNvSpPr>
            <a:spLocks noChangeArrowheads="1"/>
          </p:cNvSpPr>
          <p:nvPr/>
        </p:nvSpPr>
        <p:spPr bwMode="auto">
          <a:xfrm>
            <a:off x="5410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6514" name="Oval 18"/>
          <p:cNvSpPr>
            <a:spLocks noChangeArrowheads="1"/>
          </p:cNvSpPr>
          <p:nvPr/>
        </p:nvSpPr>
        <p:spPr bwMode="auto">
          <a:xfrm>
            <a:off x="6934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6515" name="Text Box 19"/>
          <p:cNvSpPr txBox="1">
            <a:spLocks noChangeArrowheads="1"/>
          </p:cNvSpPr>
          <p:nvPr/>
        </p:nvSpPr>
        <p:spPr bwMode="auto">
          <a:xfrm>
            <a:off x="13716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dirty="0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06516" name="Text Box 20"/>
          <p:cNvSpPr txBox="1">
            <a:spLocks noChangeArrowheads="1"/>
          </p:cNvSpPr>
          <p:nvPr/>
        </p:nvSpPr>
        <p:spPr bwMode="auto">
          <a:xfrm>
            <a:off x="60960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06517" name="Text Box 21"/>
          <p:cNvSpPr txBox="1">
            <a:spLocks noChangeArrowheads="1"/>
          </p:cNvSpPr>
          <p:nvPr/>
        </p:nvSpPr>
        <p:spPr bwMode="auto">
          <a:xfrm>
            <a:off x="37338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dirty="0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06518" name="Text Box 22"/>
          <p:cNvSpPr txBox="1">
            <a:spLocks noChangeArrowheads="1"/>
          </p:cNvSpPr>
          <p:nvPr/>
        </p:nvSpPr>
        <p:spPr bwMode="auto">
          <a:xfrm>
            <a:off x="1371600" y="27574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m</a:t>
            </a:r>
            <a:r>
              <a:rPr lang="en-US" altLang="en-US" sz="1800" baseline="-25000"/>
              <a:t>1</a:t>
            </a:r>
          </a:p>
        </p:txBody>
      </p:sp>
      <p:sp>
        <p:nvSpPr>
          <p:cNvPr id="106519" name="Text Box 23"/>
          <p:cNvSpPr txBox="1">
            <a:spLocks noChangeArrowheads="1"/>
          </p:cNvSpPr>
          <p:nvPr/>
        </p:nvSpPr>
        <p:spPr bwMode="auto">
          <a:xfrm>
            <a:off x="6096000" y="27574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m</a:t>
            </a:r>
            <a:r>
              <a:rPr lang="en-US" altLang="en-US" sz="1800" baseline="-25000"/>
              <a:t>2</a:t>
            </a:r>
          </a:p>
        </p:txBody>
      </p:sp>
      <p:sp>
        <p:nvSpPr>
          <p:cNvPr id="106520" name="Text Box 24"/>
          <p:cNvSpPr txBox="1">
            <a:spLocks noChangeArrowheads="1"/>
          </p:cNvSpPr>
          <p:nvPr/>
        </p:nvSpPr>
        <p:spPr bwMode="auto">
          <a:xfrm>
            <a:off x="3810000" y="20716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m</a:t>
            </a:r>
            <a:endParaRPr lang="en-US" altLang="en-US" sz="1800" baseline="-25000" dirty="0"/>
          </a:p>
        </p:txBody>
      </p:sp>
      <p:sp>
        <p:nvSpPr>
          <p:cNvPr id="106522" name="Text Box 26"/>
          <p:cNvSpPr txBox="1">
            <a:spLocks noChangeArrowheads="1"/>
          </p:cNvSpPr>
          <p:nvPr/>
        </p:nvSpPr>
        <p:spPr bwMode="auto">
          <a:xfrm>
            <a:off x="381000" y="4776529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K=2 clusters:</a:t>
            </a:r>
          </a:p>
        </p:txBody>
      </p:sp>
      <p:sp>
        <p:nvSpPr>
          <p:cNvPr id="106524" name="Text Box 28"/>
          <p:cNvSpPr txBox="1">
            <a:spLocks noChangeArrowheads="1"/>
          </p:cNvSpPr>
          <p:nvPr/>
        </p:nvSpPr>
        <p:spPr bwMode="auto">
          <a:xfrm>
            <a:off x="381000" y="349885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K=1 cluster: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121958" y="3606005"/>
                <a:ext cx="63073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3606005"/>
                <a:ext cx="6307368" cy="307777"/>
              </a:xfrm>
              <a:prstGeom prst="rect">
                <a:avLst/>
              </a:prstGeom>
              <a:blipFill>
                <a:blip r:embed="rId2"/>
                <a:stretch>
                  <a:fillRect l="-135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21958" y="3999323"/>
                <a:ext cx="2772297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=4×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3999323"/>
                <a:ext cx="2772297" cy="314766"/>
              </a:xfrm>
              <a:prstGeom prst="rect">
                <a:avLst/>
              </a:prstGeom>
              <a:blipFill>
                <a:blip r:embed="rId3"/>
                <a:stretch>
                  <a:fillRect l="-3077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560570" y="300228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21958" y="4334830"/>
                <a:ext cx="238199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=10+0=10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4334830"/>
                <a:ext cx="2381999" cy="307777"/>
              </a:xfrm>
              <a:prstGeom prst="rect">
                <a:avLst/>
              </a:prstGeom>
              <a:blipFill>
                <a:blip r:embed="rId4"/>
                <a:stretch>
                  <a:fillRect l="-3836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1958" y="4846209"/>
                <a:ext cx="67239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1−1.5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2−1.5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4−4.5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5−4.5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4846209"/>
                <a:ext cx="6723957" cy="307777"/>
              </a:xfrm>
              <a:prstGeom prst="rect">
                <a:avLst/>
              </a:prstGeom>
              <a:blipFill>
                <a:blip r:embed="rId5"/>
                <a:stretch>
                  <a:fillRect l="-1269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21958" y="5207768"/>
                <a:ext cx="49458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 ×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3−1.5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+2×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4.5−3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5207768"/>
                <a:ext cx="4945841" cy="307777"/>
              </a:xfrm>
              <a:prstGeom prst="rect">
                <a:avLst/>
              </a:prstGeom>
              <a:blipFill>
                <a:blip r:embed="rId6"/>
                <a:stretch>
                  <a:fillRect l="-1726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121958" y="5569327"/>
                <a:ext cx="22393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=1+9=10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5569327"/>
                <a:ext cx="2239331" cy="307777"/>
              </a:xfrm>
              <a:prstGeom prst="rect">
                <a:avLst/>
              </a:prstGeom>
              <a:blipFill>
                <a:blip r:embed="rId7"/>
                <a:stretch>
                  <a:fillRect l="-408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5" grpId="0"/>
      <p:bldP spid="106516" grpId="0"/>
      <p:bldP spid="106517" grpId="0"/>
      <p:bldP spid="106518" grpId="0"/>
      <p:bldP spid="106519" grpId="0"/>
      <p:bldP spid="10652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146491236</TotalTime>
  <Pages>3</Pages>
  <Words>2604</Words>
  <Application>Microsoft Office PowerPoint</Application>
  <PresentationFormat>On-screen Show (4:3)</PresentationFormat>
  <Paragraphs>313</Paragraphs>
  <Slides>54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54</vt:i4>
      </vt:variant>
    </vt:vector>
  </HeadingPairs>
  <TitlesOfParts>
    <vt:vector size="75" baseType="lpstr">
      <vt:lpstr>Arial</vt:lpstr>
      <vt:lpstr>Arimo</vt:lpstr>
      <vt:lpstr>Cambria Math</vt:lpstr>
      <vt:lpstr>CMBX10</vt:lpstr>
      <vt:lpstr>CMMI10</vt:lpstr>
      <vt:lpstr>CMR10</vt:lpstr>
      <vt:lpstr>CMSY10</vt:lpstr>
      <vt:lpstr>Nunito</vt:lpstr>
      <vt:lpstr>Roboto Condensed</vt:lpstr>
      <vt:lpstr>Symbol</vt:lpstr>
      <vt:lpstr>Tahoma</vt:lpstr>
      <vt:lpstr>Times New Roman</vt:lpstr>
      <vt:lpstr>Tw Cen MT</vt:lpstr>
      <vt:lpstr>Tw Cen MT Condensed</vt:lpstr>
      <vt:lpstr>Wingdings</vt:lpstr>
      <vt:lpstr>Wingdings 3</vt:lpstr>
      <vt:lpstr>Integral</vt:lpstr>
      <vt:lpstr>Document</vt:lpstr>
      <vt:lpstr>VISIO</vt:lpstr>
      <vt:lpstr>Bitmap Image</vt:lpstr>
      <vt:lpstr>MSPhotoEd.3</vt:lpstr>
      <vt:lpstr>Data Mining Cluster Analysis: Basic Concepts  and Algorithms</vt:lpstr>
      <vt:lpstr>What is Cluster Analysis?</vt:lpstr>
      <vt:lpstr>Applications of Cluster Analysis</vt:lpstr>
      <vt:lpstr>Notion of a Cluster can be Ambiguous</vt:lpstr>
      <vt:lpstr>Types of Clusterings</vt:lpstr>
      <vt:lpstr>Partitional Clustering</vt:lpstr>
      <vt:lpstr>Hierarchical Clustering</vt:lpstr>
      <vt:lpstr>Other Distinctions Between Sets of Clusters</vt:lpstr>
      <vt:lpstr>Clustering Algorithms</vt:lpstr>
      <vt:lpstr>K-means Clustering</vt:lpstr>
      <vt:lpstr>Example of K-means Clustering</vt:lpstr>
      <vt:lpstr>Example of K-means Clustering</vt:lpstr>
      <vt:lpstr>K-means Clustering – Details</vt:lpstr>
      <vt:lpstr>Example</vt:lpstr>
      <vt:lpstr>Iteration 1</vt:lpstr>
      <vt:lpstr>Iteration 1 - Continued</vt:lpstr>
      <vt:lpstr>Iteration 1 - Continued</vt:lpstr>
      <vt:lpstr>Centroid Update</vt:lpstr>
      <vt:lpstr>Centroid Update</vt:lpstr>
      <vt:lpstr>Centroid Update</vt:lpstr>
      <vt:lpstr>Iteration 2</vt:lpstr>
      <vt:lpstr>Centroid Update</vt:lpstr>
      <vt:lpstr>Centroid Update</vt:lpstr>
      <vt:lpstr>Centroid Update</vt:lpstr>
      <vt:lpstr>Final Centers</vt:lpstr>
      <vt:lpstr>Agglomerative Clustering Example: Single Link</vt:lpstr>
      <vt:lpstr>First Merge d(p1, p2) = sqrt( (X-a)^2 + (y-b)^2)</vt:lpstr>
      <vt:lpstr>Recalculate Distance</vt:lpstr>
      <vt:lpstr>Updated Distance Matrix</vt:lpstr>
      <vt:lpstr>Repeat</vt:lpstr>
      <vt:lpstr>Update Distance Matrix</vt:lpstr>
      <vt:lpstr>Recalculate Distance</vt:lpstr>
      <vt:lpstr>Update Distance Matrix</vt:lpstr>
      <vt:lpstr>Recalculate Distance</vt:lpstr>
      <vt:lpstr>Final Matrix</vt:lpstr>
      <vt:lpstr>Dendogram</vt:lpstr>
      <vt:lpstr>Agglomerative Clustering Example: Complete Link</vt:lpstr>
      <vt:lpstr>Distance Matrix</vt:lpstr>
      <vt:lpstr>Update Distance Matrix</vt:lpstr>
      <vt:lpstr>Density Based Clustering</vt:lpstr>
      <vt:lpstr>DBSCAN</vt:lpstr>
      <vt:lpstr>DBSCAN</vt:lpstr>
      <vt:lpstr>DBSCAN: Core, Border, and Noise Points</vt:lpstr>
      <vt:lpstr>DBSCAN: Core, Border and Noise Points</vt:lpstr>
      <vt:lpstr>DBSCAN</vt:lpstr>
      <vt:lpstr>DBSCAN Algorithm</vt:lpstr>
      <vt:lpstr>When DBSCAN Works Well</vt:lpstr>
      <vt:lpstr>When DBSCAN Does NOT Work Well</vt:lpstr>
      <vt:lpstr>When DBSCAN Does NOT Work Well</vt:lpstr>
      <vt:lpstr>Cluster Validity </vt:lpstr>
      <vt:lpstr>Clusters found in Random Data</vt:lpstr>
      <vt:lpstr>Measures of Cluster Validity</vt:lpstr>
      <vt:lpstr>Unsupervised Measures: Cohesion and Separation</vt:lpstr>
      <vt:lpstr>Unsupervised Measures: Cohesion and Separation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Eesha tur babar</cp:lastModifiedBy>
  <cp:revision>671</cp:revision>
  <cp:lastPrinted>2017-03-24T21:43:53Z</cp:lastPrinted>
  <dcterms:created xsi:type="dcterms:W3CDTF">1998-03-18T13:44:31Z</dcterms:created>
  <dcterms:modified xsi:type="dcterms:W3CDTF">2024-04-01T08:11:31Z</dcterms:modified>
</cp:coreProperties>
</file>