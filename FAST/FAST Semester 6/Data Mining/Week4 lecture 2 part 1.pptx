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handoutMasterIdLst>
    <p:handoutMasterId r:id="rId17"/>
  </p:handoutMasterIdLst>
  <p:sldIdLst>
    <p:sldId id="665" r:id="rId2"/>
    <p:sldId id="717" r:id="rId3"/>
    <p:sldId id="718" r:id="rId4"/>
    <p:sldId id="719" r:id="rId5"/>
    <p:sldId id="720" r:id="rId6"/>
    <p:sldId id="721" r:id="rId7"/>
    <p:sldId id="722" r:id="rId8"/>
    <p:sldId id="724" r:id="rId9"/>
    <p:sldId id="725" r:id="rId10"/>
    <p:sldId id="726" r:id="rId11"/>
    <p:sldId id="727" r:id="rId12"/>
    <p:sldId id="728" r:id="rId13"/>
    <p:sldId id="730" r:id="rId14"/>
    <p:sldId id="723" r:id="rId15"/>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2A8487"/>
    <a:srgbClr val="1C5A61"/>
    <a:srgbClr val="0C6D9C"/>
    <a:srgbClr val="FF0000"/>
    <a:srgbClr val="CC3300"/>
    <a:srgbClr val="F5F5F5"/>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02" autoAdjust="0"/>
    <p:restoredTop sz="94551" autoAdjust="0"/>
  </p:normalViewPr>
  <p:slideViewPr>
    <p:cSldViewPr>
      <p:cViewPr varScale="1">
        <p:scale>
          <a:sx n="58" d="100"/>
          <a:sy n="58" d="100"/>
        </p:scale>
        <p:origin x="1398" y="90"/>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2591" y="4416098"/>
            <a:ext cx="5143698" cy="4180921"/>
          </a:xfrm>
          <a:prstGeom prst="rect">
            <a:avLst/>
          </a:prstGeom>
          <a:noFill/>
          <a:ln w="12700">
            <a:noFill/>
            <a:miter lim="800000"/>
            <a:headEnd/>
            <a:tailEnd/>
          </a:ln>
          <a:effectLst/>
        </p:spPr>
        <p:txBody>
          <a:bodyPr vert="horz" wrap="square" lIns="96811" tIns="48408" rIns="96811" bIns="4840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92213" y="704850"/>
            <a:ext cx="4629150" cy="34718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Rot="1" noChangeAspect="1" noChangeArrowheads="1" noTextEdit="1"/>
          </p:cNvSpPr>
          <p:nvPr>
            <p:ph type="sldImg"/>
          </p:nvPr>
        </p:nvSpPr>
        <p:spPr>
          <a:xfrm>
            <a:off x="1185863" y="700088"/>
            <a:ext cx="4643437" cy="3482975"/>
          </a:xfrm>
          <a:solidFill>
            <a:srgbClr val="FFFFFF"/>
          </a:solidFill>
          <a:ln/>
        </p:spPr>
      </p:sp>
      <p:sp>
        <p:nvSpPr>
          <p:cNvPr id="5122" name="Rectangle 3"/>
          <p:cNvSpPr>
            <a:spLocks noGrp="1" noChangeArrowheads="1"/>
          </p:cNvSpPr>
          <p:nvPr>
            <p:ph type="body" idx="1"/>
          </p:nvPr>
        </p:nvSpPr>
        <p:spPr>
          <a:xfrm>
            <a:off x="934112" y="4416098"/>
            <a:ext cx="5142177" cy="4180921"/>
          </a:xfrm>
          <a:solidFill>
            <a:srgbClr val="FFFFFF"/>
          </a:solidFill>
          <a:ln>
            <a:solidFill>
              <a:srgbClr val="000000"/>
            </a:solidFill>
          </a:ln>
        </p:spPr>
        <p:txBody>
          <a:bodyPr lIns="91570" tIns="45780" rIns="91570" bIns="45780"/>
          <a:lstStyle/>
          <a:p>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refers to a test's ability to designate an individual with disease as positive. A highly sensitive test means that there are few false negative results, and thus fewer cases of disease are missed. The specificity of a test is its ability to designate an individual who does not have a disease as negative.</a:t>
            </a:r>
          </a:p>
        </p:txBody>
      </p:sp>
    </p:spTree>
    <p:extLst>
      <p:ext uri="{BB962C8B-B14F-4D97-AF65-F5344CB8AC3E}">
        <p14:creationId xmlns:p14="http://schemas.microsoft.com/office/powerpoint/2010/main" val="3021887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It is often possible to construct baseline models that maximize one metric</a:t>
            </a:r>
          </a:p>
          <a:p>
            <a:pPr algn="l"/>
            <a:r>
              <a:rPr lang="en-US" sz="1800" b="0" i="0" u="none" strike="noStrike" baseline="0" dirty="0">
                <a:latin typeface="CMR10"/>
              </a:rPr>
              <a:t>but not the other. For example, a model that declares every record to be the</a:t>
            </a:r>
          </a:p>
          <a:p>
            <a:pPr algn="l"/>
            <a:r>
              <a:rPr lang="en-US" sz="1800" b="0" i="0" u="none" strike="noStrike" baseline="0" dirty="0">
                <a:latin typeface="CMR10"/>
              </a:rPr>
              <a:t>positive class will have a perfect recall, but very poor precision. Conversely,</a:t>
            </a:r>
          </a:p>
          <a:p>
            <a:pPr algn="l"/>
            <a:r>
              <a:rPr lang="en-US" sz="1800" b="0" i="0" u="none" strike="noStrike" baseline="0" dirty="0">
                <a:latin typeface="CMR10"/>
              </a:rPr>
              <a:t>a model that assigns a positive class to every test record that matches one of</a:t>
            </a:r>
          </a:p>
          <a:p>
            <a:pPr algn="l"/>
            <a:r>
              <a:rPr lang="en-US" sz="1800" b="0" i="0" u="none" strike="noStrike" baseline="0" dirty="0">
                <a:latin typeface="CMR10"/>
              </a:rPr>
              <a:t>the positive records in the training set has very high precision, but low recall.</a:t>
            </a:r>
          </a:p>
          <a:p>
            <a:pPr algn="l"/>
            <a:r>
              <a:rPr lang="en-US" sz="1800" b="0" i="0" u="none" strike="noStrike" baseline="0" dirty="0">
                <a:latin typeface="CMR10"/>
              </a:rPr>
              <a:t>Building a model that maximizes both precision and recall is the key challenge</a:t>
            </a:r>
          </a:p>
          <a:p>
            <a:pPr algn="l"/>
            <a:r>
              <a:rPr lang="en-US" sz="1800" b="0" i="0" u="none" strike="noStrike" baseline="0" dirty="0">
                <a:latin typeface="CMR10"/>
              </a:rPr>
              <a:t>of classification algorithms.</a:t>
            </a:r>
            <a:endParaRPr lang="en-US" dirty="0"/>
          </a:p>
        </p:txBody>
      </p:sp>
    </p:spTree>
    <p:extLst>
      <p:ext uri="{BB962C8B-B14F-4D97-AF65-F5344CB8AC3E}">
        <p14:creationId xmlns:p14="http://schemas.microsoft.com/office/powerpoint/2010/main" val="3917080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015967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258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26762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900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2325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02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73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5221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0740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6791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8402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034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altLang="en-US" dirty="0"/>
              <a:t>10/11/2021 	      Introduction to Data Mining, 2</a:t>
            </a:r>
            <a:r>
              <a:rPr lang="en-US" altLang="en-US" baseline="30000" dirty="0"/>
              <a:t>nd</a:t>
            </a:r>
            <a:r>
              <a:rPr lang="en-US" altLang="en-US" dirty="0"/>
              <a:t> Edition 		                         </a:t>
            </a:r>
            <a:fld id="{76D69139-C577-4F33-9130-DE4A162E0023}" type="slidenum">
              <a:rPr lang="en-US" altLang="en-US" smtClean="0"/>
              <a:pPr>
                <a:spcBef>
                  <a:spcPct val="50000"/>
                </a:spcBef>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026"/>
          <p:cNvSpPr>
            <a:spLocks noGrp="1" noChangeArrowheads="1"/>
          </p:cNvSpPr>
          <p:nvPr>
            <p:ph type="title"/>
          </p:nvPr>
        </p:nvSpPr>
        <p:spPr>
          <a:xfrm>
            <a:off x="228600" y="-152400"/>
            <a:ext cx="8763000" cy="838200"/>
          </a:xfrm>
        </p:spPr>
        <p:txBody>
          <a:bodyPr/>
          <a:lstStyle/>
          <a:p>
            <a:r>
              <a:rPr lang="en-US" altLang="en-US"/>
              <a:t>Data Mining</a:t>
            </a:r>
            <a:endParaRPr lang="en-US" altLang="en-US" sz="2800"/>
          </a:p>
        </p:txBody>
      </p:sp>
      <p:sp>
        <p:nvSpPr>
          <p:cNvPr id="4098" name="Rectangle 1027"/>
          <p:cNvSpPr>
            <a:spLocks noChangeArrowheads="1"/>
          </p:cNvSpPr>
          <p:nvPr/>
        </p:nvSpPr>
        <p:spPr bwMode="auto">
          <a:xfrm>
            <a:off x="381000" y="2805936"/>
            <a:ext cx="82296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dirty="0"/>
              <a:t>Week4 Lecture 2 Part1</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dirty="0"/>
              <a:t>Evaluation Metrics</a:t>
            </a:r>
          </a:p>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dirty="0"/>
              <a:t>By Eesha Tur Razia Babar</a:t>
            </a:r>
          </a:p>
          <a:p>
            <a:pPr algn="ctr" eaLnBrk="1" hangingPunct="1">
              <a:spcBef>
                <a:spcPct val="20000"/>
              </a:spcBef>
              <a:spcAft>
                <a:spcPct val="0"/>
              </a:spcAft>
              <a:buClr>
                <a:srgbClr val="800080"/>
              </a:buClr>
              <a:buSzPct val="60000"/>
              <a:buFont typeface="Monotype Sorts" panose="05010101010101010101" pitchFamily="2" charset="2"/>
              <a:buNone/>
            </a:pPr>
            <a:endParaRPr lang="en-US" altLang="en-US" sz="1600" b="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6F64-209C-5A7D-8443-1E86723A6281}"/>
              </a:ext>
            </a:extLst>
          </p:cNvPr>
          <p:cNvSpPr>
            <a:spLocks noGrp="1"/>
          </p:cNvSpPr>
          <p:nvPr>
            <p:ph type="title"/>
          </p:nvPr>
        </p:nvSpPr>
        <p:spPr>
          <a:xfrm>
            <a:off x="381000" y="152400"/>
            <a:ext cx="8280400" cy="533400"/>
          </a:xfrm>
        </p:spPr>
        <p:txBody>
          <a:bodyPr wrap="square" anchor="b">
            <a:normAutofit/>
          </a:bodyPr>
          <a:lstStyle/>
          <a:p>
            <a:r>
              <a:rPr lang="en-US" sz="2700"/>
              <a:t>Confusion Matrix</a:t>
            </a:r>
          </a:p>
        </p:txBody>
      </p:sp>
      <p:pic>
        <p:nvPicPr>
          <p:cNvPr id="5" name="Content Placeholder 4" descr="A table with numbers and equations&#10;&#10;Description automatically generated with medium confidence">
            <a:extLst>
              <a:ext uri="{FF2B5EF4-FFF2-40B4-BE49-F238E27FC236}">
                <a16:creationId xmlns:a16="http://schemas.microsoft.com/office/drawing/2014/main" id="{FACFE33A-1EEE-E904-771A-01E94F2686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163" y="1591786"/>
            <a:ext cx="8318500" cy="4284027"/>
          </a:xfrm>
          <a:noFill/>
        </p:spPr>
      </p:pic>
    </p:spTree>
    <p:extLst>
      <p:ext uri="{BB962C8B-B14F-4D97-AF65-F5344CB8AC3E}">
        <p14:creationId xmlns:p14="http://schemas.microsoft.com/office/powerpoint/2010/main" val="1445394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E8CA-DAE0-4E7B-F6CF-4BAB5778505E}"/>
              </a:ext>
            </a:extLst>
          </p:cNvPr>
          <p:cNvSpPr>
            <a:spLocks noGrp="1"/>
          </p:cNvSpPr>
          <p:nvPr>
            <p:ph type="title"/>
          </p:nvPr>
        </p:nvSpPr>
        <p:spPr/>
        <p:txBody>
          <a:bodyPr/>
          <a:lstStyle/>
          <a:p>
            <a:r>
              <a:rPr lang="en-US" dirty="0"/>
              <a:t>Evaluation Metrics</a:t>
            </a:r>
          </a:p>
        </p:txBody>
      </p:sp>
      <p:sp>
        <p:nvSpPr>
          <p:cNvPr id="3" name="Content Placeholder 2">
            <a:extLst>
              <a:ext uri="{FF2B5EF4-FFF2-40B4-BE49-F238E27FC236}">
                <a16:creationId xmlns:a16="http://schemas.microsoft.com/office/drawing/2014/main" id="{38F4A90C-46A0-A86C-D509-14C3A3A2C9D5}"/>
              </a:ext>
            </a:extLst>
          </p:cNvPr>
          <p:cNvSpPr>
            <a:spLocks noGrp="1"/>
          </p:cNvSpPr>
          <p:nvPr>
            <p:ph idx="1"/>
          </p:nvPr>
        </p:nvSpPr>
        <p:spPr/>
        <p:txBody>
          <a:bodyPr/>
          <a:lstStyle/>
          <a:p>
            <a:r>
              <a:rPr lang="en-US" sz="1800" dirty="0"/>
              <a:t>True positive (TP) or f++, which corresponds to the number of positive</a:t>
            </a:r>
          </a:p>
          <a:p>
            <a:pPr marL="0" indent="0">
              <a:buNone/>
            </a:pPr>
            <a:r>
              <a:rPr lang="en-US" sz="1800" dirty="0"/>
              <a:t>examples correctly predicted by the classification model.</a:t>
            </a:r>
          </a:p>
          <a:p>
            <a:r>
              <a:rPr lang="en-US" sz="1800" dirty="0"/>
              <a:t>False negative (FN) or f+−, which corresponds to the number of positive</a:t>
            </a:r>
          </a:p>
          <a:p>
            <a:pPr marL="0" indent="0">
              <a:buNone/>
            </a:pPr>
            <a:r>
              <a:rPr lang="en-US" sz="1800" dirty="0"/>
              <a:t>examples wrongly predicted as negative by the classification model.</a:t>
            </a:r>
          </a:p>
          <a:p>
            <a:r>
              <a:rPr lang="en-US" sz="1800" dirty="0"/>
              <a:t>False positive (FP) or f−+, which corresponds to the number of negative</a:t>
            </a:r>
          </a:p>
          <a:p>
            <a:pPr marL="0" indent="0">
              <a:buNone/>
            </a:pPr>
            <a:r>
              <a:rPr lang="en-US" sz="1800" dirty="0"/>
              <a:t>examples wrongly predicted as positive by the classification model.</a:t>
            </a:r>
          </a:p>
          <a:p>
            <a:r>
              <a:rPr lang="en-US" sz="1800" dirty="0"/>
              <a:t>True negative (TN) or f−−, which corresponds to the number of negative</a:t>
            </a:r>
          </a:p>
          <a:p>
            <a:pPr marL="0" indent="0">
              <a:buNone/>
            </a:pPr>
            <a:r>
              <a:rPr lang="en-US" sz="1800" dirty="0"/>
              <a:t>examples correctly predicted by the classification model.</a:t>
            </a:r>
          </a:p>
        </p:txBody>
      </p:sp>
    </p:spTree>
    <p:extLst>
      <p:ext uri="{BB962C8B-B14F-4D97-AF65-F5344CB8AC3E}">
        <p14:creationId xmlns:p14="http://schemas.microsoft.com/office/powerpoint/2010/main" val="1673954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4214-8CD8-E83B-369F-556B56FB6399}"/>
              </a:ext>
            </a:extLst>
          </p:cNvPr>
          <p:cNvSpPr>
            <a:spLocks noGrp="1"/>
          </p:cNvSpPr>
          <p:nvPr>
            <p:ph type="title"/>
          </p:nvPr>
        </p:nvSpPr>
        <p:spPr/>
        <p:txBody>
          <a:bodyPr/>
          <a:lstStyle/>
          <a:p>
            <a:r>
              <a:rPr lang="en-US" b="1" i="0" u="none" strike="noStrike" baseline="0" dirty="0">
                <a:latin typeface="CMBX10"/>
              </a:rPr>
              <a:t>Sensitivity and Specificity </a:t>
            </a:r>
            <a:endParaRPr lang="en-US" dirty="0"/>
          </a:p>
        </p:txBody>
      </p:sp>
      <p:sp>
        <p:nvSpPr>
          <p:cNvPr id="3" name="Content Placeholder 2">
            <a:extLst>
              <a:ext uri="{FF2B5EF4-FFF2-40B4-BE49-F238E27FC236}">
                <a16:creationId xmlns:a16="http://schemas.microsoft.com/office/drawing/2014/main" id="{C65551FB-853A-CFA3-284A-8AA99B675453}"/>
              </a:ext>
            </a:extLst>
          </p:cNvPr>
          <p:cNvSpPr>
            <a:spLocks noGrp="1"/>
          </p:cNvSpPr>
          <p:nvPr>
            <p:ph idx="1"/>
          </p:nvPr>
        </p:nvSpPr>
        <p:spPr/>
        <p:txBody>
          <a:bodyPr/>
          <a:lstStyle/>
          <a:p>
            <a:pPr algn="l"/>
            <a:r>
              <a:rPr lang="en-US" sz="1800" b="0" u="none" strike="noStrike" baseline="0" dirty="0"/>
              <a:t>The counts in a confusion matrix can also be expressed in terms of percentages.</a:t>
            </a:r>
          </a:p>
          <a:p>
            <a:pPr algn="l"/>
            <a:r>
              <a:rPr lang="en-US" sz="1800" b="0" u="none" strike="noStrike" baseline="0" dirty="0"/>
              <a:t>The </a:t>
            </a:r>
            <a:r>
              <a:rPr lang="en-US" sz="1800" b="1" u="none" strike="noStrike" baseline="0" dirty="0"/>
              <a:t>true positive rate </a:t>
            </a:r>
            <a:r>
              <a:rPr lang="en-US" sz="1800" b="0" u="none" strike="noStrike" baseline="0" dirty="0"/>
              <a:t>(TPR) or </a:t>
            </a:r>
            <a:r>
              <a:rPr lang="en-US" sz="1800" b="1" u="none" strike="noStrike" baseline="0" dirty="0"/>
              <a:t>sensitivity </a:t>
            </a:r>
            <a:r>
              <a:rPr lang="en-US" sz="1800" b="0" u="none" strike="noStrike" baseline="0" dirty="0"/>
              <a:t>is defined as the fraction of</a:t>
            </a:r>
          </a:p>
          <a:p>
            <a:pPr marL="0" indent="0" algn="l">
              <a:buNone/>
            </a:pPr>
            <a:r>
              <a:rPr lang="en-US" sz="1800" b="0" u="none" strike="noStrike" baseline="0" dirty="0"/>
              <a:t>positive examples predicted correctly by the model, i.e.,</a:t>
            </a:r>
          </a:p>
          <a:p>
            <a:pPr algn="l"/>
            <a:r>
              <a:rPr lang="en-US" sz="1800" b="0" u="none" strike="noStrike" baseline="0" dirty="0"/>
              <a:t>TPR = TP/(TP + FN).</a:t>
            </a:r>
          </a:p>
          <a:p>
            <a:pPr algn="l"/>
            <a:r>
              <a:rPr lang="en-US" sz="1800" b="0" u="none" strike="noStrike" baseline="0" dirty="0"/>
              <a:t>Similarly, the </a:t>
            </a:r>
            <a:r>
              <a:rPr lang="en-US" sz="1800" b="1" u="none" strike="noStrike" baseline="0" dirty="0"/>
              <a:t>true negative rate </a:t>
            </a:r>
            <a:r>
              <a:rPr lang="en-US" sz="1800" b="0" u="none" strike="noStrike" baseline="0" dirty="0"/>
              <a:t>(TNR) or </a:t>
            </a:r>
            <a:r>
              <a:rPr lang="en-US" sz="1800" b="1" u="none" strike="noStrike" baseline="0" dirty="0"/>
              <a:t>specificity </a:t>
            </a:r>
            <a:r>
              <a:rPr lang="en-US" sz="1800" b="0" u="none" strike="noStrike" baseline="0" dirty="0"/>
              <a:t>is defined as the</a:t>
            </a:r>
          </a:p>
          <a:p>
            <a:pPr marL="0" indent="0" algn="l">
              <a:buNone/>
            </a:pPr>
            <a:r>
              <a:rPr lang="en-US" sz="1800" b="0" u="none" strike="noStrike" baseline="0" dirty="0"/>
              <a:t>fraction of negative examples predicted correctly by the model, i.e.,</a:t>
            </a:r>
          </a:p>
          <a:p>
            <a:pPr algn="l"/>
            <a:r>
              <a:rPr lang="en-US" sz="1800" b="0" u="none" strike="noStrike" baseline="0" dirty="0"/>
              <a:t>TNR = TN/(TN + FP).</a:t>
            </a:r>
            <a:endParaRPr lang="en-US" dirty="0"/>
          </a:p>
        </p:txBody>
      </p:sp>
    </p:spTree>
    <p:extLst>
      <p:ext uri="{BB962C8B-B14F-4D97-AF65-F5344CB8AC3E}">
        <p14:creationId xmlns:p14="http://schemas.microsoft.com/office/powerpoint/2010/main" val="2267075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F174F-DBBD-3FC1-5499-A51D8F0B7DD0}"/>
              </a:ext>
            </a:extLst>
          </p:cNvPr>
          <p:cNvSpPr>
            <a:spLocks noGrp="1"/>
          </p:cNvSpPr>
          <p:nvPr>
            <p:ph type="title"/>
          </p:nvPr>
        </p:nvSpPr>
        <p:spPr/>
        <p:txBody>
          <a:bodyPr/>
          <a:lstStyle/>
          <a:p>
            <a:r>
              <a:rPr lang="en-US" dirty="0"/>
              <a:t>FPR,FNR</a:t>
            </a:r>
          </a:p>
        </p:txBody>
      </p:sp>
      <p:sp>
        <p:nvSpPr>
          <p:cNvPr id="3" name="Content Placeholder 2">
            <a:extLst>
              <a:ext uri="{FF2B5EF4-FFF2-40B4-BE49-F238E27FC236}">
                <a16:creationId xmlns:a16="http://schemas.microsoft.com/office/drawing/2014/main" id="{E9B64B00-852E-0FC4-5BBC-F1811B6F700D}"/>
              </a:ext>
            </a:extLst>
          </p:cNvPr>
          <p:cNvSpPr>
            <a:spLocks noGrp="1"/>
          </p:cNvSpPr>
          <p:nvPr>
            <p:ph idx="1"/>
          </p:nvPr>
        </p:nvSpPr>
        <p:spPr/>
        <p:txBody>
          <a:bodyPr/>
          <a:lstStyle/>
          <a:p>
            <a:r>
              <a:rPr lang="en-US" dirty="0"/>
              <a:t>Finally, the false positive rate (FPR) is the fraction of negative examples predicted as a positive class, i.e.,</a:t>
            </a:r>
          </a:p>
          <a:p>
            <a:r>
              <a:rPr lang="en-US" dirty="0"/>
              <a:t>FPR = FP/(TN + FP)</a:t>
            </a:r>
          </a:p>
          <a:p>
            <a:r>
              <a:rPr lang="en-US" dirty="0"/>
              <a:t>while the false negative rate (FNR) is the fraction of positive examples predicted as a negative class, i.e.,</a:t>
            </a:r>
          </a:p>
          <a:p>
            <a:r>
              <a:rPr lang="en-US" dirty="0"/>
              <a:t>FNR = FN/(TP + FN)</a:t>
            </a:r>
          </a:p>
        </p:txBody>
      </p:sp>
    </p:spTree>
    <p:extLst>
      <p:ext uri="{BB962C8B-B14F-4D97-AF65-F5344CB8AC3E}">
        <p14:creationId xmlns:p14="http://schemas.microsoft.com/office/powerpoint/2010/main" val="5951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BD9F-EFDF-C554-A440-738AC2B8E602}"/>
              </a:ext>
            </a:extLst>
          </p:cNvPr>
          <p:cNvSpPr>
            <a:spLocks noGrp="1"/>
          </p:cNvSpPr>
          <p:nvPr>
            <p:ph type="title"/>
          </p:nvPr>
        </p:nvSpPr>
        <p:spPr/>
        <p:txBody>
          <a:bodyPr/>
          <a:lstStyle/>
          <a:p>
            <a:r>
              <a:rPr lang="en-US" dirty="0"/>
              <a:t>Precision</a:t>
            </a:r>
          </a:p>
        </p:txBody>
      </p:sp>
      <p:sp>
        <p:nvSpPr>
          <p:cNvPr id="3" name="Content Placeholder 2">
            <a:extLst>
              <a:ext uri="{FF2B5EF4-FFF2-40B4-BE49-F238E27FC236}">
                <a16:creationId xmlns:a16="http://schemas.microsoft.com/office/drawing/2014/main" id="{D44A5D13-B376-885A-F2B4-46724FE9A798}"/>
              </a:ext>
            </a:extLst>
          </p:cNvPr>
          <p:cNvSpPr>
            <a:spLocks noGrp="1"/>
          </p:cNvSpPr>
          <p:nvPr>
            <p:ph idx="1"/>
          </p:nvPr>
        </p:nvSpPr>
        <p:spPr/>
        <p:txBody>
          <a:bodyPr/>
          <a:lstStyle/>
          <a:p>
            <a:r>
              <a:rPr lang="en-US" dirty="0"/>
              <a:t>Recall and precision are two widely used metrics employed in applications where successful detection of one of the classes is considered more significant than detection of the other classes. A formal definition of these metrics is given below.</a:t>
            </a:r>
          </a:p>
          <a:p>
            <a:r>
              <a:rPr lang="en-US" dirty="0"/>
              <a:t>Precision, p = TP/(TP + FP)</a:t>
            </a:r>
          </a:p>
        </p:txBody>
      </p:sp>
    </p:spTree>
    <p:extLst>
      <p:ext uri="{BB962C8B-B14F-4D97-AF65-F5344CB8AC3E}">
        <p14:creationId xmlns:p14="http://schemas.microsoft.com/office/powerpoint/2010/main" val="1815540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9C7E5-4812-08F1-0D43-923CB80C4E7A}"/>
              </a:ext>
            </a:extLst>
          </p:cNvPr>
          <p:cNvSpPr>
            <a:spLocks noGrp="1"/>
          </p:cNvSpPr>
          <p:nvPr>
            <p:ph type="title"/>
          </p:nvPr>
        </p:nvSpPr>
        <p:spPr/>
        <p:txBody>
          <a:bodyPr/>
          <a:lstStyle/>
          <a:p>
            <a:r>
              <a:rPr lang="en-US" dirty="0"/>
              <a:t>Recall</a:t>
            </a:r>
          </a:p>
        </p:txBody>
      </p:sp>
      <p:sp>
        <p:nvSpPr>
          <p:cNvPr id="3" name="Content Placeholder 2">
            <a:extLst>
              <a:ext uri="{FF2B5EF4-FFF2-40B4-BE49-F238E27FC236}">
                <a16:creationId xmlns:a16="http://schemas.microsoft.com/office/drawing/2014/main" id="{84880A9C-8FE8-E234-E46B-CD60B34B5CE4}"/>
              </a:ext>
            </a:extLst>
          </p:cNvPr>
          <p:cNvSpPr>
            <a:spLocks noGrp="1"/>
          </p:cNvSpPr>
          <p:nvPr>
            <p:ph idx="1"/>
          </p:nvPr>
        </p:nvSpPr>
        <p:spPr/>
        <p:txBody>
          <a:bodyPr/>
          <a:lstStyle/>
          <a:p>
            <a:r>
              <a:rPr lang="en-US" dirty="0"/>
              <a:t>Recall measures the fraction of positive examples correctly predicted by the classifier. Classifiers with large recall have very few positive examples misclassified as the negative class. In fact, the value of recall is equivalent to the true positive rate.</a:t>
            </a:r>
          </a:p>
          <a:p>
            <a:r>
              <a:rPr lang="en-US" dirty="0"/>
              <a:t>Recall, r = TP/(TP + FN)</a:t>
            </a:r>
          </a:p>
        </p:txBody>
      </p:sp>
    </p:spTree>
    <p:extLst>
      <p:ext uri="{BB962C8B-B14F-4D97-AF65-F5344CB8AC3E}">
        <p14:creationId xmlns:p14="http://schemas.microsoft.com/office/powerpoint/2010/main" val="1787449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35BE3-37D3-AB4B-C7E1-073B37BCD902}"/>
              </a:ext>
            </a:extLst>
          </p:cNvPr>
          <p:cNvSpPr>
            <a:spLocks noGrp="1"/>
          </p:cNvSpPr>
          <p:nvPr>
            <p:ph type="title"/>
          </p:nvPr>
        </p:nvSpPr>
        <p:spPr/>
        <p:txBody>
          <a:bodyPr/>
          <a:lstStyle/>
          <a:p>
            <a:r>
              <a:rPr lang="en-US" dirty="0"/>
              <a:t>Precision Vs Recall</a:t>
            </a:r>
          </a:p>
        </p:txBody>
      </p:sp>
      <p:sp>
        <p:nvSpPr>
          <p:cNvPr id="3" name="Content Placeholder 2">
            <a:extLst>
              <a:ext uri="{FF2B5EF4-FFF2-40B4-BE49-F238E27FC236}">
                <a16:creationId xmlns:a16="http://schemas.microsoft.com/office/drawing/2014/main" id="{5D992C6F-80B1-428F-57FD-6883928410B2}"/>
              </a:ext>
            </a:extLst>
          </p:cNvPr>
          <p:cNvSpPr>
            <a:spLocks noGrp="1"/>
          </p:cNvSpPr>
          <p:nvPr>
            <p:ph idx="1"/>
          </p:nvPr>
        </p:nvSpPr>
        <p:spPr/>
        <p:txBody>
          <a:bodyPr/>
          <a:lstStyle/>
          <a:p>
            <a:pPr algn="l"/>
            <a:r>
              <a:rPr lang="en-US" b="0" i="0" dirty="0">
                <a:solidFill>
                  <a:srgbClr val="080A13"/>
                </a:solidFill>
                <a:effectLst/>
                <a:latin typeface="Inter"/>
              </a:rPr>
              <a:t>There’s a trade-off between precision and recall, i.e., one comes at the cost of another. Trying to increase precision lowers recall and vice-versa.</a:t>
            </a:r>
          </a:p>
          <a:p>
            <a:pPr algn="l"/>
            <a:r>
              <a:rPr lang="en-US" b="0" i="0" dirty="0">
                <a:solidFill>
                  <a:srgbClr val="080A13"/>
                </a:solidFill>
                <a:effectLst/>
                <a:latin typeface="Inter"/>
              </a:rPr>
              <a:t>With precision, we try to make sure that what we are classifying as the positive class is a positive class sample indeed, which in turn reduces recall. With recall, we are trying not to miss out on any positive class samples, which allows many false positives to creep in, thus reducing precision.</a:t>
            </a:r>
          </a:p>
          <a:p>
            <a:endParaRPr lang="en-US" dirty="0"/>
          </a:p>
        </p:txBody>
      </p:sp>
    </p:spTree>
    <p:extLst>
      <p:ext uri="{BB962C8B-B14F-4D97-AF65-F5344CB8AC3E}">
        <p14:creationId xmlns:p14="http://schemas.microsoft.com/office/powerpoint/2010/main" val="1886823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F1571-86E6-C84A-B863-CE9C687E2A46}"/>
              </a:ext>
            </a:extLst>
          </p:cNvPr>
          <p:cNvSpPr>
            <a:spLocks noGrp="1"/>
          </p:cNvSpPr>
          <p:nvPr>
            <p:ph type="title"/>
          </p:nvPr>
        </p:nvSpPr>
        <p:spPr>
          <a:xfrm>
            <a:off x="381000" y="152400"/>
            <a:ext cx="8280400" cy="533400"/>
          </a:xfrm>
        </p:spPr>
        <p:txBody>
          <a:bodyPr wrap="square" anchor="b">
            <a:normAutofit/>
          </a:bodyPr>
          <a:lstStyle/>
          <a:p>
            <a:r>
              <a:rPr lang="en-US" sz="2700"/>
              <a:t>Example</a:t>
            </a:r>
          </a:p>
        </p:txBody>
      </p:sp>
      <p:pic>
        <p:nvPicPr>
          <p:cNvPr id="8" name="Content Placeholder 7" descr="A graph showing a number of blue and orange squares&#10;&#10;Description automatically generated">
            <a:extLst>
              <a:ext uri="{FF2B5EF4-FFF2-40B4-BE49-F238E27FC236}">
                <a16:creationId xmlns:a16="http://schemas.microsoft.com/office/drawing/2014/main" id="{19C42456-0A85-831C-5FF3-D95D715B5D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1163" y="1144079"/>
            <a:ext cx="8318500" cy="5179442"/>
          </a:xfrm>
          <a:noFill/>
        </p:spPr>
      </p:pic>
    </p:spTree>
    <p:extLst>
      <p:ext uri="{BB962C8B-B14F-4D97-AF65-F5344CB8AC3E}">
        <p14:creationId xmlns:p14="http://schemas.microsoft.com/office/powerpoint/2010/main" val="50732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760A-6501-5AA3-091F-ABD5736F97AD}"/>
              </a:ext>
            </a:extLst>
          </p:cNvPr>
          <p:cNvSpPr>
            <a:spLocks noGrp="1"/>
          </p:cNvSpPr>
          <p:nvPr>
            <p:ph type="title"/>
          </p:nvPr>
        </p:nvSpPr>
        <p:spPr/>
        <p:txBody>
          <a:bodyPr/>
          <a:lstStyle/>
          <a:p>
            <a:r>
              <a:rPr lang="en-US" dirty="0"/>
              <a:t>Precision</a:t>
            </a:r>
          </a:p>
        </p:txBody>
      </p:sp>
      <p:sp>
        <p:nvSpPr>
          <p:cNvPr id="3" name="Content Placeholder 2">
            <a:extLst>
              <a:ext uri="{FF2B5EF4-FFF2-40B4-BE49-F238E27FC236}">
                <a16:creationId xmlns:a16="http://schemas.microsoft.com/office/drawing/2014/main" id="{EE7D12D0-7419-2F40-9E8A-E90836A3B945}"/>
              </a:ext>
            </a:extLst>
          </p:cNvPr>
          <p:cNvSpPr>
            <a:spLocks noGrp="1"/>
          </p:cNvSpPr>
          <p:nvPr>
            <p:ph idx="1"/>
          </p:nvPr>
        </p:nvSpPr>
        <p:spPr/>
        <p:txBody>
          <a:bodyPr/>
          <a:lstStyle/>
          <a:p>
            <a:r>
              <a:rPr lang="en-US" dirty="0"/>
              <a:t>Precision is the ratio between the True Positives and all the Positives. For our problem statement, that would be the measure of patients that we correctly identify as having a heart disease out of all the patients actually having it. </a:t>
            </a:r>
          </a:p>
          <a:p>
            <a:endParaRPr lang="en-US" dirty="0"/>
          </a:p>
          <a:p>
            <a:r>
              <a:rPr lang="en-US" dirty="0"/>
              <a:t>Precision also gives us a measure of the relevant data points. It is important that we don’t start treating a patient who actually doesn’t have a heart ailment but our model predicted it as having it.</a:t>
            </a:r>
          </a:p>
        </p:txBody>
      </p:sp>
    </p:spTree>
    <p:extLst>
      <p:ext uri="{BB962C8B-B14F-4D97-AF65-F5344CB8AC3E}">
        <p14:creationId xmlns:p14="http://schemas.microsoft.com/office/powerpoint/2010/main" val="1913837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7F443-2D65-065B-B782-BAEB599D2E6A}"/>
              </a:ext>
            </a:extLst>
          </p:cNvPr>
          <p:cNvSpPr>
            <a:spLocks noGrp="1"/>
          </p:cNvSpPr>
          <p:nvPr>
            <p:ph type="title"/>
          </p:nvPr>
        </p:nvSpPr>
        <p:spPr/>
        <p:txBody>
          <a:bodyPr/>
          <a:lstStyle/>
          <a:p>
            <a:r>
              <a:rPr lang="en-US" dirty="0"/>
              <a:t>Recall</a:t>
            </a:r>
          </a:p>
        </p:txBody>
      </p:sp>
      <p:sp>
        <p:nvSpPr>
          <p:cNvPr id="3" name="Content Placeholder 2">
            <a:extLst>
              <a:ext uri="{FF2B5EF4-FFF2-40B4-BE49-F238E27FC236}">
                <a16:creationId xmlns:a16="http://schemas.microsoft.com/office/drawing/2014/main" id="{153BCC80-23E5-1279-8650-42C2688D85D7}"/>
              </a:ext>
            </a:extLst>
          </p:cNvPr>
          <p:cNvSpPr>
            <a:spLocks noGrp="1"/>
          </p:cNvSpPr>
          <p:nvPr>
            <p:ph idx="1"/>
          </p:nvPr>
        </p:nvSpPr>
        <p:spPr/>
        <p:txBody>
          <a:bodyPr/>
          <a:lstStyle/>
          <a:p>
            <a:r>
              <a:rPr lang="en-US" dirty="0"/>
              <a:t>The recall is the measure of our model correctly identifying True Positives. Thus, for all the patients who actually have heart disease, recall tells us how many we correctly identified as having a heart disease</a:t>
            </a:r>
          </a:p>
          <a:p>
            <a:r>
              <a:rPr lang="en-US" b="0" i="0" dirty="0">
                <a:solidFill>
                  <a:srgbClr val="383838"/>
                </a:solidFill>
                <a:effectLst/>
                <a:latin typeface="Inter"/>
              </a:rPr>
              <a:t>We refer to it as Sensitivity or True Positive Rate. What if a patient has heart disease, but no treatment is given to him/her because our model predicted so? That is a situation we would like to avoid!</a:t>
            </a:r>
            <a:endParaRPr lang="en-US" dirty="0"/>
          </a:p>
        </p:txBody>
      </p:sp>
    </p:spTree>
    <p:extLst>
      <p:ext uri="{BB962C8B-B14F-4D97-AF65-F5344CB8AC3E}">
        <p14:creationId xmlns:p14="http://schemas.microsoft.com/office/powerpoint/2010/main" val="13386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C4302-6140-F542-7F16-7B1858D7DDA2}"/>
              </a:ext>
            </a:extLst>
          </p:cNvPr>
          <p:cNvSpPr>
            <a:spLocks noGrp="1"/>
          </p:cNvSpPr>
          <p:nvPr>
            <p:ph type="title"/>
          </p:nvPr>
        </p:nvSpPr>
        <p:spPr/>
        <p:txBody>
          <a:bodyPr/>
          <a:lstStyle/>
          <a:p>
            <a:r>
              <a:rPr lang="en-US" dirty="0"/>
              <a:t>Trade-off</a:t>
            </a:r>
          </a:p>
        </p:txBody>
      </p:sp>
      <p:sp>
        <p:nvSpPr>
          <p:cNvPr id="3" name="Content Placeholder 2">
            <a:extLst>
              <a:ext uri="{FF2B5EF4-FFF2-40B4-BE49-F238E27FC236}">
                <a16:creationId xmlns:a16="http://schemas.microsoft.com/office/drawing/2014/main" id="{1CF8C148-D594-132C-84EA-6CBC8655ADF7}"/>
              </a:ext>
            </a:extLst>
          </p:cNvPr>
          <p:cNvSpPr>
            <a:spLocks noGrp="1"/>
          </p:cNvSpPr>
          <p:nvPr>
            <p:ph idx="1"/>
          </p:nvPr>
        </p:nvSpPr>
        <p:spPr/>
        <p:txBody>
          <a:bodyPr/>
          <a:lstStyle/>
          <a:p>
            <a:r>
              <a:rPr lang="en-US" dirty="0"/>
              <a:t>Ideally, for our model, we would like to avoid any situations where the patient has heart disease completely, but our model classifies as him not having it, i.e., aim for high recall.</a:t>
            </a:r>
          </a:p>
          <a:p>
            <a:r>
              <a:rPr lang="en-US" dirty="0"/>
              <a:t>On the other hand, for the cases where the patient is not suffering from heart disease and our model predicts the opposite, we would also like to avoid treating a patient with no heart disease (crucial when the input parameters could indicate a different ailment, but we end up treating him/her for a heart ailment).</a:t>
            </a:r>
          </a:p>
        </p:txBody>
      </p:sp>
    </p:spTree>
    <p:extLst>
      <p:ext uri="{BB962C8B-B14F-4D97-AF65-F5344CB8AC3E}">
        <p14:creationId xmlns:p14="http://schemas.microsoft.com/office/powerpoint/2010/main" val="1780509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7E5C-47CA-06C4-4AF0-64E3037F5BEE}"/>
              </a:ext>
            </a:extLst>
          </p:cNvPr>
          <p:cNvSpPr>
            <a:spLocks noGrp="1"/>
          </p:cNvSpPr>
          <p:nvPr>
            <p:ph type="title"/>
          </p:nvPr>
        </p:nvSpPr>
        <p:spPr/>
        <p:txBody>
          <a:bodyPr/>
          <a:lstStyle/>
          <a:p>
            <a:r>
              <a:rPr lang="en-US" dirty="0"/>
              <a:t>F1 Score</a:t>
            </a:r>
          </a:p>
        </p:txBody>
      </p:sp>
      <p:sp>
        <p:nvSpPr>
          <p:cNvPr id="3" name="Content Placeholder 2">
            <a:extLst>
              <a:ext uri="{FF2B5EF4-FFF2-40B4-BE49-F238E27FC236}">
                <a16:creationId xmlns:a16="http://schemas.microsoft.com/office/drawing/2014/main" id="{C8A6BDAF-D544-AE0A-ED80-901A5F7A10DD}"/>
              </a:ext>
            </a:extLst>
          </p:cNvPr>
          <p:cNvSpPr>
            <a:spLocks noGrp="1"/>
          </p:cNvSpPr>
          <p:nvPr>
            <p:ph idx="1"/>
          </p:nvPr>
        </p:nvSpPr>
        <p:spPr/>
        <p:txBody>
          <a:bodyPr/>
          <a:lstStyle/>
          <a:p>
            <a:r>
              <a:rPr lang="en-US" dirty="0"/>
              <a:t>Precision and recall can be summarized into another metric known as the</a:t>
            </a:r>
          </a:p>
          <a:p>
            <a:r>
              <a:rPr lang="en-US" dirty="0"/>
              <a:t>F1 measure.</a:t>
            </a:r>
          </a:p>
          <a:p>
            <a:r>
              <a:rPr lang="en-US" dirty="0"/>
              <a:t>F1 = 2rp/r + p</a:t>
            </a:r>
          </a:p>
          <a:p>
            <a:r>
              <a:rPr lang="en-US" dirty="0"/>
              <a:t>= 2 × TP/2 × TP + FP + FN</a:t>
            </a:r>
          </a:p>
          <a:p>
            <a:r>
              <a:rPr lang="en-US" dirty="0"/>
              <a:t>The harmonic mean of two numbers x and y tends to be closer to the smaller of the two numbers. Hence, a high value of the F1 measure ensures that both precision and recall are reasonably high</a:t>
            </a:r>
          </a:p>
        </p:txBody>
      </p:sp>
    </p:spTree>
    <p:extLst>
      <p:ext uri="{BB962C8B-B14F-4D97-AF65-F5344CB8AC3E}">
        <p14:creationId xmlns:p14="http://schemas.microsoft.com/office/powerpoint/2010/main" val="124685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19D84-5AF9-821D-DFE7-CEC1F02955E0}"/>
              </a:ext>
            </a:extLst>
          </p:cNvPr>
          <p:cNvSpPr>
            <a:spLocks noGrp="1"/>
          </p:cNvSpPr>
          <p:nvPr>
            <p:ph type="title"/>
          </p:nvPr>
        </p:nvSpPr>
        <p:spPr/>
        <p:txBody>
          <a:bodyPr/>
          <a:lstStyle/>
          <a:p>
            <a:r>
              <a:rPr lang="en-US" b="1" i="0" u="none" strike="noStrike" baseline="0" dirty="0">
                <a:latin typeface="CMBX12"/>
              </a:rPr>
              <a:t>The Receiver Operating Characteristic Curve</a:t>
            </a:r>
            <a:endParaRPr lang="en-US" dirty="0"/>
          </a:p>
        </p:txBody>
      </p:sp>
      <p:pic>
        <p:nvPicPr>
          <p:cNvPr id="5" name="Content Placeholder 4" descr="A diagram of a function">
            <a:extLst>
              <a:ext uri="{FF2B5EF4-FFF2-40B4-BE49-F238E27FC236}">
                <a16:creationId xmlns:a16="http://schemas.microsoft.com/office/drawing/2014/main" id="{1C689106-DC22-741C-C392-7220B24E5A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3303" y="1976192"/>
            <a:ext cx="6954220" cy="3515216"/>
          </a:xfrm>
        </p:spPr>
      </p:pic>
    </p:spTree>
    <p:extLst>
      <p:ext uri="{BB962C8B-B14F-4D97-AF65-F5344CB8AC3E}">
        <p14:creationId xmlns:p14="http://schemas.microsoft.com/office/powerpoint/2010/main" val="2467101409"/>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2338</TotalTime>
  <Pages>3</Pages>
  <Words>970</Words>
  <Application>Microsoft Office PowerPoint</Application>
  <PresentationFormat>On-screen Show (4:3)</PresentationFormat>
  <Paragraphs>62</Paragraphs>
  <Slides>14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CMBX10</vt:lpstr>
      <vt:lpstr>CMBX12</vt:lpstr>
      <vt:lpstr>CMR10</vt:lpstr>
      <vt:lpstr>Inter</vt:lpstr>
      <vt:lpstr>Monotype Sorts</vt:lpstr>
      <vt:lpstr>Tahoma</vt:lpstr>
      <vt:lpstr>Times New Roman</vt:lpstr>
      <vt:lpstr>Wingdings</vt:lpstr>
      <vt:lpstr>LC.BRev.FY97</vt:lpstr>
      <vt:lpstr>Data Mining</vt:lpstr>
      <vt:lpstr>Confusion Matrix</vt:lpstr>
      <vt:lpstr>Evaluation Metrics</vt:lpstr>
      <vt:lpstr>Sensitivity and Specificity </vt:lpstr>
      <vt:lpstr>FPR,FNR</vt:lpstr>
      <vt:lpstr>Precision</vt:lpstr>
      <vt:lpstr>Recall</vt:lpstr>
      <vt:lpstr>Precision Vs Recall</vt:lpstr>
      <vt:lpstr>Example</vt:lpstr>
      <vt:lpstr>Precision</vt:lpstr>
      <vt:lpstr>Recall</vt:lpstr>
      <vt:lpstr>Trade-off</vt:lpstr>
      <vt:lpstr>F1 Score</vt:lpstr>
      <vt:lpstr>The Receiver Operating Characteristic Curve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anujkarpatne@gmail.com</dc:creator>
  <cp:lastModifiedBy>Eesha tur babar</cp:lastModifiedBy>
  <cp:revision>23</cp:revision>
  <cp:lastPrinted>2019-09-13T15:44:45Z</cp:lastPrinted>
  <dcterms:created xsi:type="dcterms:W3CDTF">2018-02-14T20:49:18Z</dcterms:created>
  <dcterms:modified xsi:type="dcterms:W3CDTF">2024-02-18T04:12:15Z</dcterms:modified>
</cp:coreProperties>
</file>