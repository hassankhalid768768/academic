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51" r:id="rId2"/>
    <p:sldMasterId id="2147483650" r:id="rId3"/>
    <p:sldMasterId id="2147483649" r:id="rId4"/>
  </p:sldMasterIdLst>
  <p:notesMasterIdLst>
    <p:notesMasterId r:id="rId31"/>
  </p:notesMasterIdLst>
  <p:handoutMasterIdLst>
    <p:handoutMasterId r:id="rId32"/>
  </p:handoutMasterIdLst>
  <p:sldIdLst>
    <p:sldId id="543" r:id="rId5"/>
    <p:sldId id="524" r:id="rId6"/>
    <p:sldId id="555" r:id="rId7"/>
    <p:sldId id="527" r:id="rId8"/>
    <p:sldId id="559" r:id="rId9"/>
    <p:sldId id="544" r:id="rId10"/>
    <p:sldId id="558" r:id="rId11"/>
    <p:sldId id="528" r:id="rId12"/>
    <p:sldId id="546" r:id="rId13"/>
    <p:sldId id="529" r:id="rId14"/>
    <p:sldId id="530" r:id="rId15"/>
    <p:sldId id="531" r:id="rId16"/>
    <p:sldId id="532" r:id="rId17"/>
    <p:sldId id="556" r:id="rId18"/>
    <p:sldId id="552" r:id="rId19"/>
    <p:sldId id="547" r:id="rId20"/>
    <p:sldId id="533" r:id="rId21"/>
    <p:sldId id="534" r:id="rId22"/>
    <p:sldId id="535" r:id="rId23"/>
    <p:sldId id="537" r:id="rId24"/>
    <p:sldId id="539" r:id="rId25"/>
    <p:sldId id="540" r:id="rId26"/>
    <p:sldId id="541" r:id="rId27"/>
    <p:sldId id="538" r:id="rId28"/>
    <p:sldId id="542" r:id="rId29"/>
    <p:sldId id="571" r:id="rId30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CC3300"/>
    <a:srgbClr val="2A8487"/>
    <a:srgbClr val="1C5A61"/>
    <a:srgbClr val="0C6D9C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3910" autoAdjust="0"/>
  </p:normalViewPr>
  <p:slideViewPr>
    <p:cSldViewPr>
      <p:cViewPr varScale="1">
        <p:scale>
          <a:sx n="58" d="100"/>
          <a:sy n="58" d="100"/>
        </p:scale>
        <p:origin x="1524" y="90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474" y="4416111"/>
            <a:ext cx="5143848" cy="418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814" tIns="48409" rIns="96814" bIns="484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2213" y="704850"/>
            <a:ext cx="4629150" cy="3471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2975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078" y="4416111"/>
            <a:ext cx="5142244" cy="4180819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573" tIns="45781" rIns="91573" bIns="45781"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175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9971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13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733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070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589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536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38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60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7897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865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785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0795A9-3B41-4BE2-BC0F-536FD5F4D9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6353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425A68-0A55-4530-BBFF-31B96EF60E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0568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3E3E67-D976-45F2-95DB-E7A1A803F0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6806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2E3168-0615-474F-B96D-868E502288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8474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EDE3E1-1641-4430-99B4-C93B48743B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017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1725DE-011F-43C2-9AA1-FC4E5761C0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1548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841DC2-0C76-4BB5-B3A7-AED543E839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42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9D2832-5EFD-4718-816B-47DA45C2D0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229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4A027C-1BC9-46AF-AD99-5BBC18BA5B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61798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6DD663-02E3-4F26-A24C-94117D81A9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09515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FB5861-97CA-47B0-9CDE-99F7DBE912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4880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00830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7663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55141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 marL="457200" indent="-4572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91538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33530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59942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2394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62393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04723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93415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59040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309409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2167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5406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011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207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98101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2684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60079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43831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92100" indent="-2921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26434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>
            <a:lvl1pPr marL="292100" indent="-292100">
              <a:buFont typeface="Arial" panose="020B0604020202020204" pitchFamily="34" charset="0"/>
              <a:buChar char="•"/>
              <a:defRPr/>
            </a:lvl1pPr>
            <a:lvl2pPr marL="800100" indent="-342900">
              <a:buFont typeface="Arial" panose="020B0604020202020204" pitchFamily="34" charset="0"/>
              <a:buChar char="•"/>
              <a:defRPr/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1471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dirty="0"/>
              <a:t>2/08/2021		      Introduction to Data Mining, 2</a:t>
            </a:r>
            <a:r>
              <a:rPr lang="en-US" altLang="en-US" baseline="30000" dirty="0"/>
              <a:t>nd</a:t>
            </a:r>
            <a:r>
              <a:rPr lang="en-US" altLang="en-US" dirty="0"/>
              <a:t> Edition 			              </a:t>
            </a:r>
            <a:fld id="{70796CB9-48A6-4F46-B2DF-D224D7212798}" type="slidenum">
              <a:rPr lang="en-US" alt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2052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2056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057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133578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133579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b="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</a:p>
        </p:txBody>
      </p:sp>
      <p:sp>
        <p:nvSpPr>
          <p:cNvPr id="1133580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 New Roman" panose="02020603050405020304" pitchFamily="18" charset="0"/>
              </a:defRPr>
            </a:lvl1pPr>
          </a:lstStyle>
          <a:p>
            <a:fld id="{6BA5FE14-EE4A-4F30-AF7B-A4F087ED91C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4340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4344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4345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grpSp>
        <p:nvGrpSpPr>
          <p:cNvPr id="14341" name="Group 19"/>
          <p:cNvGrpSpPr>
            <a:grpSpLocks/>
          </p:cNvGrpSpPr>
          <p:nvPr userDrawn="1"/>
        </p:nvGrpSpPr>
        <p:grpSpPr bwMode="auto">
          <a:xfrm>
            <a:off x="381000" y="6400800"/>
            <a:ext cx="8382000" cy="304800"/>
            <a:chOff x="288" y="3408"/>
            <a:chExt cx="5280" cy="192"/>
          </a:xfrm>
        </p:grpSpPr>
        <p:sp>
          <p:nvSpPr>
            <p:cNvPr id="14342" name="Rectangle 20"/>
            <p:cNvSpPr>
              <a:spLocks noChangeArrowheads="1"/>
            </p:cNvSpPr>
            <p:nvPr userDrawn="1"/>
          </p:nvSpPr>
          <p:spPr bwMode="auto">
            <a:xfrm>
              <a:off x="288" y="3408"/>
              <a:ext cx="5280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4343" name="Rectangle 21"/>
            <p:cNvSpPr>
              <a:spLocks noChangeArrowheads="1"/>
            </p:cNvSpPr>
            <p:nvPr userDrawn="1"/>
          </p:nvSpPr>
          <p:spPr bwMode="auto">
            <a:xfrm>
              <a:off x="288" y="3453"/>
              <a:ext cx="526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defRPr/>
              </a:pPr>
              <a:r>
                <a:rPr lang="en-US" altLang="en-US" sz="1200" b="0"/>
                <a:t>© Tan,Steinbach, Kumar 	    	Introduction to Data Mining        		      02/26/2006               </a:t>
              </a:r>
              <a:fld id="{C013E0B9-DE7F-43DD-87A4-668E8C547D42}" type="slidenum">
                <a:rPr lang="en-US" altLang="en-US" sz="1200" b="0" smtClean="0"/>
                <a:pPr>
                  <a:defRPr/>
                </a:pPr>
                <a:t>‹#›</a:t>
              </a:fld>
              <a:r>
                <a:rPr lang="en-US" altLang="en-US" sz="1200" b="0"/>
                <a:t> </a:t>
              </a: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5364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5368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5369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grpSp>
        <p:nvGrpSpPr>
          <p:cNvPr id="15365" name="Group 19"/>
          <p:cNvGrpSpPr>
            <a:grpSpLocks/>
          </p:cNvGrpSpPr>
          <p:nvPr userDrawn="1"/>
        </p:nvGrpSpPr>
        <p:grpSpPr bwMode="auto">
          <a:xfrm>
            <a:off x="381000" y="6400800"/>
            <a:ext cx="8382000" cy="304800"/>
            <a:chOff x="288" y="3408"/>
            <a:chExt cx="5280" cy="192"/>
          </a:xfrm>
        </p:grpSpPr>
        <p:sp>
          <p:nvSpPr>
            <p:cNvPr id="15366" name="Rectangle 20"/>
            <p:cNvSpPr>
              <a:spLocks noChangeArrowheads="1"/>
            </p:cNvSpPr>
            <p:nvPr userDrawn="1"/>
          </p:nvSpPr>
          <p:spPr bwMode="auto">
            <a:xfrm>
              <a:off x="288" y="3408"/>
              <a:ext cx="5280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5367" name="Rectangle 21"/>
            <p:cNvSpPr>
              <a:spLocks noChangeArrowheads="1"/>
            </p:cNvSpPr>
            <p:nvPr userDrawn="1"/>
          </p:nvSpPr>
          <p:spPr bwMode="auto">
            <a:xfrm>
              <a:off x="288" y="3453"/>
              <a:ext cx="526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defRPr/>
              </a:pPr>
              <a:r>
                <a:rPr lang="en-US" altLang="en-US" sz="1200" b="0"/>
                <a:t>© Tan,Steinbach, Kumar 	    	Introduction to Data Mining        		      02/26/2006               </a:t>
              </a:r>
              <a:fld id="{5F450A06-25A0-44A7-95AC-B155A1AFB3D2}" type="slidenum">
                <a:rPr lang="en-US" altLang="en-US" sz="1200" b="0" smtClean="0"/>
                <a:pPr>
                  <a:defRPr/>
                </a:pPr>
                <a:t>‹#›</a:t>
              </a:fld>
              <a:r>
                <a:rPr lang="en-US" altLang="en-US" sz="1200" b="0"/>
                <a:t> </a:t>
              </a: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w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7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ChangeArrowheads="1"/>
          </p:cNvSpPr>
          <p:nvPr/>
        </p:nvSpPr>
        <p:spPr bwMode="auto">
          <a:xfrm>
            <a:off x="381000" y="2448705"/>
            <a:ext cx="8229600" cy="2813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Week4 Lecture1 part1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By Eesha Tur Razia Babar 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 dirty="0"/>
          </a:p>
        </p:txBody>
      </p:sp>
      <p:grpSp>
        <p:nvGrpSpPr>
          <p:cNvPr id="18434" name="Group 6"/>
          <p:cNvGrpSpPr>
            <a:grpSpLocks/>
          </p:cNvGrpSpPr>
          <p:nvPr/>
        </p:nvGrpSpPr>
        <p:grpSpPr bwMode="auto">
          <a:xfrm>
            <a:off x="304800" y="1143000"/>
            <a:ext cx="8534400" cy="152400"/>
            <a:chOff x="264" y="788"/>
            <a:chExt cx="5232" cy="124"/>
          </a:xfrm>
        </p:grpSpPr>
        <p:sp>
          <p:nvSpPr>
            <p:cNvPr id="18436" name="Rectangle 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anose="05010101010101010101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8437" name="Rectangle 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anose="05010101010101010101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512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763000" cy="838200"/>
          </a:xfrm>
        </p:spPr>
        <p:txBody>
          <a:bodyPr/>
          <a:lstStyle/>
          <a:p>
            <a:pPr algn="ctr">
              <a:defRPr/>
            </a:pPr>
            <a:r>
              <a:rPr lang="en-US" dirty="0">
                <a:cs typeface="+mj-cs"/>
              </a:rPr>
              <a:t>Data Mining </a:t>
            </a:r>
            <a:br>
              <a:rPr lang="en-US" dirty="0">
                <a:cs typeface="+mj-cs"/>
              </a:rPr>
            </a:br>
            <a:r>
              <a:rPr lang="en-US" dirty="0">
                <a:cs typeface="+mj-cs"/>
              </a:rPr>
              <a:t>Classification: Alternative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Bayes Classifier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A probabilistic framework for solving classification problems</a:t>
            </a:r>
          </a:p>
          <a:p>
            <a:pPr>
              <a:defRPr/>
            </a:pPr>
            <a:r>
              <a:rPr lang="en-US" dirty="0">
                <a:cs typeface="+mn-cs"/>
              </a:rPr>
              <a:t>Conditional Probability:</a:t>
            </a: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 Bayes theorem:</a:t>
            </a:r>
          </a:p>
        </p:txBody>
      </p:sp>
      <p:graphicFrame>
        <p:nvGraphicFramePr>
          <p:cNvPr id="20483" name="Object 4"/>
          <p:cNvGraphicFramePr>
            <a:graphicFrameLocks noChangeAspect="1"/>
          </p:cNvGraphicFramePr>
          <p:nvPr/>
        </p:nvGraphicFramePr>
        <p:xfrm>
          <a:off x="2644775" y="4770438"/>
          <a:ext cx="4365625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419100" progId="Equation.3">
                  <p:embed/>
                </p:oleObj>
              </mc:Choice>
              <mc:Fallback>
                <p:oleObj name="Equation" r:id="rId2" imgW="16002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775" y="4770438"/>
                        <a:ext cx="4365625" cy="114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5"/>
          <p:cNvGraphicFramePr>
            <a:graphicFrameLocks noChangeAspect="1"/>
          </p:cNvGraphicFramePr>
          <p:nvPr/>
        </p:nvGraphicFramePr>
        <p:xfrm>
          <a:off x="4953000" y="2057400"/>
          <a:ext cx="3048000" cy="209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6755" imgH="863225" progId="Equation.3">
                  <p:embed/>
                </p:oleObj>
              </mc:Choice>
              <mc:Fallback>
                <p:oleObj name="Equation" r:id="rId4" imgW="1256755" imgH="86322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057400"/>
                        <a:ext cx="3048000" cy="209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2705"/>
            <a:ext cx="82804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Using Bayes Theorem for Classification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5486400" cy="51054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Consider each attribute and class label as random variables</a:t>
            </a:r>
          </a:p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Given a record with attributes (X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dirty="0">
                <a:ea typeface="ＭＳ Ｐゴシック" pitchFamily="34" charset="-128"/>
              </a:rPr>
              <a:t>), the goal  is to predict class Y</a:t>
            </a:r>
          </a:p>
          <a:p>
            <a:pPr>
              <a:defRPr/>
            </a:pPr>
            <a:endParaRPr lang="en-US" altLang="en-US" sz="2000" dirty="0">
              <a:ea typeface="ＭＳ Ｐゴシック" pitchFamily="34" charset="-128"/>
            </a:endParaRPr>
          </a:p>
          <a:p>
            <a:pPr lvl="1">
              <a:defRPr/>
            </a:pPr>
            <a:r>
              <a:rPr lang="en-US" altLang="en-US" sz="2000" dirty="0">
                <a:ea typeface="ＭＳ Ｐゴシック" pitchFamily="34" charset="-128"/>
              </a:rPr>
              <a:t>Specifically, we want to find the value of Y that maximizes P(Y| X</a:t>
            </a:r>
            <a:r>
              <a:rPr lang="en-US" altLang="en-US" sz="2000" baseline="-25000" dirty="0">
                <a:ea typeface="ＭＳ Ｐゴシック" pitchFamily="34" charset="-128"/>
              </a:rPr>
              <a:t>1</a:t>
            </a:r>
            <a:r>
              <a:rPr lang="en-US" altLang="en-US" sz="2000" dirty="0">
                <a:ea typeface="ＭＳ Ｐゴシック" pitchFamily="34" charset="-128"/>
              </a:rPr>
              <a:t>, X</a:t>
            </a:r>
            <a:r>
              <a:rPr lang="en-US" altLang="en-US" sz="2000" baseline="-25000" dirty="0">
                <a:ea typeface="ＭＳ Ｐゴシック" pitchFamily="34" charset="-128"/>
              </a:rPr>
              <a:t>2</a:t>
            </a:r>
            <a:r>
              <a:rPr lang="en-US" altLang="en-US" sz="2000" dirty="0">
                <a:ea typeface="ＭＳ Ｐゴシック" pitchFamily="34" charset="-128"/>
              </a:rPr>
              <a:t>,…, </a:t>
            </a:r>
            <a:r>
              <a:rPr lang="en-US" altLang="en-US" sz="2000" dirty="0" err="1">
                <a:ea typeface="ＭＳ Ｐゴシック" pitchFamily="34" charset="-128"/>
              </a:rPr>
              <a:t>X</a:t>
            </a:r>
            <a:r>
              <a:rPr lang="en-US" altLang="en-US" sz="2000" baseline="-25000" dirty="0" err="1">
                <a:ea typeface="ＭＳ Ｐゴシック" pitchFamily="34" charset="-128"/>
              </a:rPr>
              <a:t>d</a:t>
            </a:r>
            <a:r>
              <a:rPr lang="en-US" altLang="en-US" sz="2000" baseline="-25000" dirty="0">
                <a:ea typeface="ＭＳ Ｐゴシック" pitchFamily="34" charset="-128"/>
              </a:rPr>
              <a:t> </a:t>
            </a:r>
            <a:r>
              <a:rPr lang="en-US" altLang="en-US" sz="2000" dirty="0">
                <a:ea typeface="ＭＳ Ｐゴシック" pitchFamily="34" charset="-128"/>
              </a:rPr>
              <a:t>)</a:t>
            </a:r>
          </a:p>
          <a:p>
            <a:pPr lvl="1"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Can we estimate P(Y| 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baseline="-25000" dirty="0">
                <a:ea typeface="ＭＳ Ｐゴシック" pitchFamily="34" charset="-128"/>
              </a:rPr>
              <a:t> </a:t>
            </a:r>
            <a:r>
              <a:rPr lang="en-US" altLang="en-US" sz="2400" dirty="0">
                <a:ea typeface="ＭＳ Ｐゴシック" pitchFamily="34" charset="-128"/>
              </a:rPr>
              <a:t>) directly from data?</a:t>
            </a: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840436"/>
              </p:ext>
            </p:extLst>
          </p:nvPr>
        </p:nvGraphicFramePr>
        <p:xfrm>
          <a:off x="5943600" y="2895600"/>
          <a:ext cx="2971800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392168" imgH="5334000" progId="Visio.Drawing.6">
                  <p:embed/>
                </p:oleObj>
              </mc:Choice>
              <mc:Fallback>
                <p:oleObj name="VISIO" r:id="rId3" imgW="4392168" imgH="5334000" progId="Visio.Drawing.6">
                  <p:embed/>
                  <p:pic>
                    <p:nvPicPr>
                      <p:cNvPr id="2355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5943600" y="2895600"/>
                        <a:ext cx="2971800" cy="353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9022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Using Bayes Theorem for Classification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80437" cy="5181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en-US" sz="2400" dirty="0">
                <a:ea typeface="ＭＳ Ｐゴシック" pitchFamily="34" charset="-128"/>
              </a:rPr>
              <a:t>Approach: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ea typeface="ＭＳ Ｐゴシック" pitchFamily="34" charset="-128"/>
              </a:rPr>
              <a:t>compute posterior probability P(Y | 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 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dirty="0">
                <a:ea typeface="ＭＳ Ｐゴシック" pitchFamily="34" charset="-128"/>
              </a:rPr>
              <a:t>) using the Bayes theorem</a:t>
            </a:r>
          </a:p>
          <a:p>
            <a:pPr lvl="1">
              <a:lnSpc>
                <a:spcPct val="90000"/>
              </a:lnSpc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 lvl="1">
              <a:lnSpc>
                <a:spcPct val="90000"/>
              </a:lnSpc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400" i="1" dirty="0">
                <a:ea typeface="ＭＳ Ｐゴシック" pitchFamily="34" charset="-128"/>
              </a:rPr>
              <a:t>Maximum a-posteriori</a:t>
            </a:r>
            <a:r>
              <a:rPr lang="en-US" altLang="en-US" sz="2400" dirty="0">
                <a:ea typeface="ＭＳ Ｐゴシック" pitchFamily="34" charset="-128"/>
              </a:rPr>
              <a:t>: Choose Y that maximizes </a:t>
            </a:r>
            <a:br>
              <a:rPr lang="en-US" altLang="en-US" sz="2400" dirty="0">
                <a:ea typeface="ＭＳ Ｐゴシック" pitchFamily="34" charset="-128"/>
              </a:rPr>
            </a:br>
            <a:r>
              <a:rPr lang="en-US" altLang="en-US" sz="2400" dirty="0">
                <a:ea typeface="ＭＳ Ｐゴシック" pitchFamily="34" charset="-128"/>
              </a:rPr>
              <a:t>		P(Y | 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 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dirty="0">
                <a:ea typeface="ＭＳ Ｐゴシック" pitchFamily="34" charset="-128"/>
              </a:rPr>
              <a:t>)</a:t>
            </a:r>
            <a:br>
              <a:rPr lang="en-US" altLang="en-US" sz="2400" dirty="0">
                <a:ea typeface="ＭＳ Ｐゴシック" pitchFamily="34" charset="-128"/>
              </a:rPr>
            </a:br>
            <a:r>
              <a:rPr lang="en-US" altLang="en-US" sz="2400" dirty="0">
                <a:ea typeface="ＭＳ Ｐゴシック" pitchFamily="34" charset="-128"/>
              </a:rPr>
              <a:t> 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ea typeface="ＭＳ Ｐゴシック" pitchFamily="34" charset="-128"/>
              </a:rPr>
              <a:t>Equivalent to choosing value of Y that maximizes</a:t>
            </a:r>
            <a:br>
              <a:rPr lang="en-US" altLang="en-US" sz="2400" dirty="0">
                <a:ea typeface="ＭＳ Ｐゴシック" pitchFamily="34" charset="-128"/>
              </a:rPr>
            </a:br>
            <a:r>
              <a:rPr lang="en-US" altLang="en-US" sz="2400" dirty="0">
                <a:ea typeface="ＭＳ Ｐゴシック" pitchFamily="34" charset="-128"/>
              </a:rPr>
              <a:t>     	P(X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 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dirty="0" err="1">
                <a:ea typeface="ＭＳ Ｐゴシック" pitchFamily="34" charset="-128"/>
              </a:rPr>
              <a:t>|Y</a:t>
            </a:r>
            <a:r>
              <a:rPr lang="en-US" altLang="en-US" sz="2400" dirty="0">
                <a:ea typeface="ＭＳ Ｐゴシック" pitchFamily="34" charset="-128"/>
              </a:rPr>
              <a:t>) P(Y)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sz="2400" dirty="0">
                <a:ea typeface="ＭＳ Ｐゴシック" pitchFamily="34" charset="-128"/>
              </a:rPr>
              <a:t>How to estimate P(X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 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baseline="-25000" dirty="0">
                <a:ea typeface="ＭＳ Ｐゴシック" pitchFamily="34" charset="-128"/>
              </a:rPr>
              <a:t> </a:t>
            </a:r>
            <a:r>
              <a:rPr lang="en-US" altLang="en-US" sz="2400" dirty="0">
                <a:ea typeface="ＭＳ Ｐゴシック" pitchFamily="34" charset="-128"/>
              </a:rPr>
              <a:t>| Y )?</a:t>
            </a:r>
          </a:p>
        </p:txBody>
      </p:sp>
      <p:graphicFrame>
        <p:nvGraphicFramePr>
          <p:cNvPr id="24579" name="Object 4"/>
          <p:cNvGraphicFramePr>
            <a:graphicFrameLocks noChangeAspect="1"/>
          </p:cNvGraphicFramePr>
          <p:nvPr/>
        </p:nvGraphicFramePr>
        <p:xfrm>
          <a:off x="2057400" y="2522538"/>
          <a:ext cx="61722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800" imgH="431800" progId="Equation.3">
                  <p:embed/>
                </p:oleObj>
              </mc:Choice>
              <mc:Fallback>
                <p:oleObj name="Equation" r:id="rId2" imgW="2717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522538"/>
                        <a:ext cx="6172200" cy="820737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Example Data</a:t>
            </a:r>
          </a:p>
        </p:txBody>
      </p:sp>
      <p:graphicFrame>
        <p:nvGraphicFramePr>
          <p:cNvPr id="23554" name="Object 5"/>
          <p:cNvGraphicFramePr>
            <a:graphicFrameLocks noChangeAspect="1"/>
          </p:cNvGraphicFramePr>
          <p:nvPr/>
        </p:nvGraphicFramePr>
        <p:xfrm>
          <a:off x="228600" y="2057400"/>
          <a:ext cx="2971800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92168" imgH="5334000" progId="Visio.Drawing.6">
                  <p:embed/>
                </p:oleObj>
              </mc:Choice>
              <mc:Fallback>
                <p:oleObj name="VISIO" r:id="rId2" imgW="4392168" imgH="5334000" progId="Visio.Drawing.6">
                  <p:embed/>
                  <p:pic>
                    <p:nvPicPr>
                      <p:cNvPr id="2355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228600" y="2057400"/>
                        <a:ext cx="2971800" cy="353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4"/>
          <p:cNvGraphicFramePr>
            <a:graphicFrameLocks noChangeAspect="1"/>
          </p:cNvGraphicFramePr>
          <p:nvPr/>
        </p:nvGraphicFramePr>
        <p:xfrm>
          <a:off x="1981200" y="1447800"/>
          <a:ext cx="52276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32100" imgH="203200" progId="Equation.3">
                  <p:embed/>
                </p:oleObj>
              </mc:Choice>
              <mc:Fallback>
                <p:oleObj name="Equation" r:id="rId4" imgW="2832100" imgH="203200" progId="Equation.3">
                  <p:embed/>
                  <p:pic>
                    <p:nvPicPr>
                      <p:cNvPr id="2355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447800"/>
                        <a:ext cx="522763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971800" y="2057400"/>
            <a:ext cx="6172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b="0" dirty="0"/>
              <a:t>We need to estimate</a:t>
            </a:r>
          </a:p>
          <a:p>
            <a:pPr marL="457200" lvl="1" indent="0">
              <a:buNone/>
              <a:defRPr/>
            </a:pPr>
            <a:r>
              <a:rPr lang="en-US" altLang="en-US" sz="2200" b="0" dirty="0"/>
              <a:t>P(Evade = Yes | X) and P(Evade = No | X)</a:t>
            </a:r>
          </a:p>
          <a:p>
            <a:pPr lvl="1">
              <a:buFont typeface="Arial" charset="0"/>
              <a:buNone/>
              <a:defRPr/>
            </a:pPr>
            <a:endParaRPr lang="en-US" altLang="en-US" sz="2200" b="0" dirty="0"/>
          </a:p>
          <a:p>
            <a:pPr lvl="1">
              <a:buFont typeface="Arial" charset="0"/>
              <a:buNone/>
              <a:defRPr/>
            </a:pPr>
            <a:r>
              <a:rPr lang="en-US" altLang="en-US" sz="2200" b="0" dirty="0"/>
              <a:t>In the following we will replace </a:t>
            </a:r>
          </a:p>
          <a:p>
            <a:pPr lvl="1">
              <a:buFont typeface="Arial" charset="0"/>
              <a:buNone/>
              <a:defRPr/>
            </a:pPr>
            <a:r>
              <a:rPr lang="en-US" altLang="en-US" sz="2200" b="0" dirty="0"/>
              <a:t>	Evade = Yes by Yes, and </a:t>
            </a:r>
          </a:p>
          <a:p>
            <a:pPr lvl="1">
              <a:buFont typeface="Arial" charset="0"/>
              <a:buNone/>
              <a:defRPr/>
            </a:pPr>
            <a:r>
              <a:rPr lang="en-US" altLang="en-US" sz="2200" b="0" dirty="0"/>
              <a:t>	Evade = No by No</a:t>
            </a:r>
          </a:p>
          <a:p>
            <a:pPr>
              <a:lnSpc>
                <a:spcPct val="200000"/>
              </a:lnSpc>
              <a:buFont typeface="Arial" charset="0"/>
              <a:buNone/>
              <a:defRPr/>
            </a:pPr>
            <a:r>
              <a:rPr lang="en-US" altLang="en-US" sz="2400" dirty="0"/>
              <a:t>	</a:t>
            </a:r>
            <a:endParaRPr lang="en-US" alt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3716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Example Data</a:t>
            </a:r>
          </a:p>
        </p:txBody>
      </p:sp>
      <p:graphicFrame>
        <p:nvGraphicFramePr>
          <p:cNvPr id="25602" name="Object 5"/>
          <p:cNvGraphicFramePr>
            <a:graphicFrameLocks noChangeAspect="1"/>
          </p:cNvGraphicFramePr>
          <p:nvPr/>
        </p:nvGraphicFramePr>
        <p:xfrm>
          <a:off x="228600" y="2057400"/>
          <a:ext cx="2971800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92168" imgH="5334000" progId="Visio.Drawing.6">
                  <p:embed/>
                </p:oleObj>
              </mc:Choice>
              <mc:Fallback>
                <p:oleObj name="VISIO" r:id="rId2" imgW="4392168" imgH="53340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228600" y="2057400"/>
                        <a:ext cx="2971800" cy="353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4"/>
          <p:cNvGraphicFramePr>
            <a:graphicFrameLocks noChangeAspect="1"/>
          </p:cNvGraphicFramePr>
          <p:nvPr/>
        </p:nvGraphicFramePr>
        <p:xfrm>
          <a:off x="2057400" y="1447800"/>
          <a:ext cx="52276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32100" imgH="203200" progId="Equation.3">
                  <p:embed/>
                </p:oleObj>
              </mc:Choice>
              <mc:Fallback>
                <p:oleObj name="Equation" r:id="rId4" imgW="28321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447800"/>
                        <a:ext cx="522763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9" name="Rectangle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971800" y="2057400"/>
            <a:ext cx="6172200" cy="5105400"/>
          </a:xfrm>
          <a:prstGeom prst="rect">
            <a:avLst/>
          </a:prstGeom>
          <a:blipFill rotWithShape="1">
            <a:blip r:embed="rId6"/>
            <a:stretch>
              <a:fillRect l="-692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Conditional Independence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cs typeface="+mn-cs"/>
              </a:rPr>
              <a:t>X</a:t>
            </a:r>
            <a:r>
              <a:rPr lang="en-US" dirty="0">
                <a:cs typeface="+mn-cs"/>
              </a:rPr>
              <a:t> and </a:t>
            </a:r>
            <a:r>
              <a:rPr lang="en-US" b="1" dirty="0">
                <a:cs typeface="+mn-cs"/>
              </a:rPr>
              <a:t>Y</a:t>
            </a:r>
            <a:r>
              <a:rPr lang="en-US" dirty="0">
                <a:cs typeface="+mn-cs"/>
              </a:rPr>
              <a:t> are conditionally independent given </a:t>
            </a:r>
            <a:r>
              <a:rPr lang="en-US" b="1" dirty="0">
                <a:cs typeface="+mn-cs"/>
              </a:rPr>
              <a:t>Z</a:t>
            </a:r>
            <a:r>
              <a:rPr lang="en-US" dirty="0">
                <a:cs typeface="+mn-cs"/>
              </a:rPr>
              <a:t> if P(</a:t>
            </a:r>
            <a:r>
              <a:rPr lang="en-US" b="1" dirty="0">
                <a:cs typeface="+mn-cs"/>
              </a:rPr>
              <a:t>X</a:t>
            </a:r>
            <a:r>
              <a:rPr lang="en-US" dirty="0">
                <a:cs typeface="+mn-cs"/>
              </a:rPr>
              <a:t>|</a:t>
            </a:r>
            <a:r>
              <a:rPr lang="en-US" b="1" dirty="0">
                <a:cs typeface="+mn-cs"/>
              </a:rPr>
              <a:t>YZ</a:t>
            </a:r>
            <a:r>
              <a:rPr lang="en-US" dirty="0">
                <a:cs typeface="+mn-cs"/>
              </a:rPr>
              <a:t>) = P(</a:t>
            </a:r>
            <a:r>
              <a:rPr lang="en-US" b="1" dirty="0">
                <a:cs typeface="+mn-cs"/>
              </a:rPr>
              <a:t>X</a:t>
            </a:r>
            <a:r>
              <a:rPr lang="en-US" dirty="0">
                <a:cs typeface="+mn-cs"/>
              </a:rPr>
              <a:t>|</a:t>
            </a:r>
            <a:r>
              <a:rPr lang="en-US" b="1" dirty="0">
                <a:cs typeface="+mn-cs"/>
              </a:rPr>
              <a:t>Z</a:t>
            </a:r>
            <a:r>
              <a:rPr lang="en-US" dirty="0">
                <a:cs typeface="+mn-cs"/>
              </a:rPr>
              <a:t>)</a:t>
            </a: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Example: Arm length and reading skills 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Young child has shorter arm length and limited reading skills, compared to adults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If age is fixed, no apparent relationship between arm length and reading skills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Arm length and reading skills are conditionally independent given age</a:t>
            </a:r>
          </a:p>
        </p:txBody>
      </p:sp>
    </p:spTree>
    <p:extLst>
      <p:ext uri="{BB962C8B-B14F-4D97-AF65-F5344CB8AC3E}">
        <p14:creationId xmlns:p14="http://schemas.microsoft.com/office/powerpoint/2010/main" val="3827656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ＭＳ Ｐゴシック" pitchFamily="34" charset="-128"/>
              </a:rPr>
              <a:t>Naïve Bayes Classifier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Assume independence among attributes X</a:t>
            </a:r>
            <a:r>
              <a:rPr lang="en-US" altLang="en-US" baseline="-25000" dirty="0">
                <a:ea typeface="ＭＳ Ｐゴシック" pitchFamily="34" charset="-128"/>
              </a:rPr>
              <a:t>i</a:t>
            </a:r>
            <a:r>
              <a:rPr lang="en-US" altLang="en-US" sz="2400" dirty="0">
                <a:ea typeface="ＭＳ Ｐゴシック" pitchFamily="34" charset="-128"/>
              </a:rPr>
              <a:t> when class is given:    </a:t>
            </a:r>
          </a:p>
          <a:p>
            <a:pPr lvl="1">
              <a:defRPr/>
            </a:pPr>
            <a:r>
              <a:rPr lang="en-US" altLang="en-US" sz="2400" dirty="0">
                <a:ea typeface="ＭＳ Ｐゴシック" pitchFamily="34" charset="-128"/>
              </a:rPr>
              <a:t>P(X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, 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, …, 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baseline="-25000" dirty="0">
                <a:ea typeface="ＭＳ Ｐゴシック" pitchFamily="34" charset="-128"/>
              </a:rPr>
              <a:t> </a:t>
            </a:r>
            <a:r>
              <a:rPr lang="en-US" altLang="en-US" sz="2400" dirty="0">
                <a:ea typeface="ＭＳ Ｐゴシック" pitchFamily="34" charset="-128"/>
              </a:rPr>
              <a:t>|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 = P(X</a:t>
            </a:r>
            <a:r>
              <a:rPr lang="en-US" altLang="en-US" sz="2400" baseline="-25000" dirty="0">
                <a:ea typeface="ＭＳ Ｐゴシック" pitchFamily="34" charset="-128"/>
              </a:rPr>
              <a:t>1</a:t>
            </a:r>
            <a:r>
              <a:rPr lang="en-US" altLang="en-US" sz="2400" dirty="0">
                <a:ea typeface="ＭＳ Ｐゴシック" pitchFamily="34" charset="-128"/>
              </a:rPr>
              <a:t>|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 P(X</a:t>
            </a:r>
            <a:r>
              <a:rPr lang="en-US" altLang="en-US" sz="2400" baseline="-25000" dirty="0">
                <a:ea typeface="ＭＳ Ｐゴシック" pitchFamily="34" charset="-128"/>
              </a:rPr>
              <a:t>2</a:t>
            </a:r>
            <a:r>
              <a:rPr lang="en-US" altLang="en-US" sz="2400" dirty="0">
                <a:ea typeface="ＭＳ Ｐゴシック" pitchFamily="34" charset="-128"/>
              </a:rPr>
              <a:t>|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)… P(</a:t>
            </a:r>
            <a:r>
              <a:rPr lang="en-US" altLang="en-US" sz="2400" dirty="0" err="1">
                <a:ea typeface="ＭＳ Ｐゴシック" pitchFamily="34" charset="-128"/>
              </a:rPr>
              <a:t>X</a:t>
            </a:r>
            <a:r>
              <a:rPr lang="en-US" altLang="en-US" sz="2400" baseline="-25000" dirty="0" err="1">
                <a:ea typeface="ＭＳ Ｐゴシック" pitchFamily="34" charset="-128"/>
              </a:rPr>
              <a:t>d</a:t>
            </a:r>
            <a:r>
              <a:rPr lang="en-US" altLang="en-US" sz="2400" dirty="0">
                <a:ea typeface="ＭＳ Ｐゴシック" pitchFamily="34" charset="-128"/>
              </a:rPr>
              <a:t>|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</a:t>
            </a:r>
          </a:p>
          <a:p>
            <a:pPr lvl="1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ea typeface="ＭＳ Ｐゴシック" pitchFamily="34" charset="-128"/>
              </a:rPr>
              <a:t> </a:t>
            </a:r>
          </a:p>
          <a:p>
            <a:pPr lvl="1">
              <a:defRPr/>
            </a:pPr>
            <a:r>
              <a:rPr lang="en-US" altLang="en-US" sz="2400" dirty="0">
                <a:ea typeface="ＭＳ Ｐゴシック" pitchFamily="34" charset="-128"/>
              </a:rPr>
              <a:t>Now we can estimate P(X</a:t>
            </a:r>
            <a:r>
              <a:rPr lang="en-US" altLang="en-US" baseline="-25000" dirty="0">
                <a:ea typeface="ＭＳ Ｐゴシック" pitchFamily="34" charset="-128"/>
              </a:rPr>
              <a:t>i</a:t>
            </a:r>
            <a:r>
              <a:rPr lang="en-US" altLang="en-US" sz="2400" dirty="0">
                <a:ea typeface="ＭＳ Ｐゴシック" pitchFamily="34" charset="-128"/>
              </a:rPr>
              <a:t>|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 for all X</a:t>
            </a:r>
            <a:r>
              <a:rPr lang="en-US" altLang="en-US" baseline="-25000" dirty="0">
                <a:ea typeface="ＭＳ Ｐゴシック" pitchFamily="34" charset="-128"/>
              </a:rPr>
              <a:t>i</a:t>
            </a:r>
            <a:r>
              <a:rPr lang="en-US" altLang="en-US" sz="2400" dirty="0">
                <a:ea typeface="ＭＳ Ｐゴシック" pitchFamily="34" charset="-128"/>
              </a:rPr>
              <a:t> and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 combinations from the training data</a:t>
            </a:r>
          </a:p>
          <a:p>
            <a:pPr lvl="1">
              <a:buFont typeface="Arial" panose="020B0604020202020204" pitchFamily="34" charset="0"/>
              <a:buNone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 lvl="1">
              <a:defRPr/>
            </a:pPr>
            <a:r>
              <a:rPr lang="en-US" altLang="en-US" sz="2400" dirty="0">
                <a:ea typeface="ＭＳ Ｐゴシック" pitchFamily="34" charset="-128"/>
              </a:rPr>
              <a:t>New point is classified to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 if  P(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 </a:t>
            </a:r>
            <a:r>
              <a:rPr lang="en-US" altLang="en-US" sz="2400" dirty="0">
                <a:ea typeface="ＭＳ Ｐゴシック" pitchFamily="34" charset="-128"/>
                <a:sym typeface="Symbol" pitchFamily="18" charset="2"/>
              </a:rPr>
              <a:t></a:t>
            </a:r>
            <a:r>
              <a:rPr lang="en-US" altLang="en-US" sz="2400" dirty="0">
                <a:ea typeface="ＭＳ Ｐゴシック" pitchFamily="34" charset="-128"/>
              </a:rPr>
              <a:t> P(X</a:t>
            </a:r>
            <a:r>
              <a:rPr lang="en-US" altLang="en-US" sz="2400" baseline="-25000" dirty="0">
                <a:ea typeface="ＭＳ Ｐゴシック" pitchFamily="34" charset="-128"/>
              </a:rPr>
              <a:t>i</a:t>
            </a:r>
            <a:r>
              <a:rPr lang="en-US" altLang="en-US" sz="2400" dirty="0">
                <a:ea typeface="ＭＳ Ｐゴシック" pitchFamily="34" charset="-128"/>
              </a:rPr>
              <a:t>| </a:t>
            </a:r>
            <a:r>
              <a:rPr lang="en-US" altLang="en-US" sz="2400" dirty="0" err="1">
                <a:ea typeface="ＭＳ Ｐゴシック" pitchFamily="34" charset="-128"/>
              </a:rPr>
              <a:t>Y</a:t>
            </a:r>
            <a:r>
              <a:rPr lang="en-US" altLang="en-US" sz="2400" baseline="-25000" dirty="0" err="1">
                <a:ea typeface="ＭＳ Ｐゴシック" pitchFamily="34" charset="-128"/>
              </a:rPr>
              <a:t>j</a:t>
            </a:r>
            <a:r>
              <a:rPr lang="en-US" altLang="en-US" sz="2400" dirty="0">
                <a:ea typeface="ＭＳ Ｐゴシック" pitchFamily="34" charset="-128"/>
              </a:rPr>
              <a:t>)  is maximal.</a:t>
            </a:r>
            <a:endParaRPr lang="en-US" altLang="en-US" dirty="0">
              <a:ea typeface="ＭＳ Ｐゴシック" pitchFamily="34" charset="-128"/>
            </a:endParaRPr>
          </a:p>
          <a:p>
            <a:pPr>
              <a:buFont typeface="Monotype Sorts" pitchFamily="-84" charset="2"/>
              <a:buNone/>
              <a:defRPr/>
            </a:pPr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Naïve Bayes on Example Data</a:t>
            </a:r>
          </a:p>
        </p:txBody>
      </p:sp>
      <p:graphicFrame>
        <p:nvGraphicFramePr>
          <p:cNvPr id="28674" name="Object 5"/>
          <p:cNvGraphicFramePr>
            <a:graphicFrameLocks noChangeAspect="1"/>
          </p:cNvGraphicFramePr>
          <p:nvPr/>
        </p:nvGraphicFramePr>
        <p:xfrm>
          <a:off x="228600" y="2057400"/>
          <a:ext cx="2971800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92168" imgH="5334000" progId="Visio.Drawing.6">
                  <p:embed/>
                </p:oleObj>
              </mc:Choice>
              <mc:Fallback>
                <p:oleObj name="VISIO" r:id="rId2" imgW="4392168" imgH="53340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228600" y="2057400"/>
                        <a:ext cx="2971800" cy="353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4"/>
          <p:cNvGraphicFramePr>
            <a:graphicFrameLocks noChangeAspect="1"/>
          </p:cNvGraphicFramePr>
          <p:nvPr/>
        </p:nvGraphicFramePr>
        <p:xfrm>
          <a:off x="1981200" y="1447800"/>
          <a:ext cx="52276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32100" imgH="203200" progId="Equation.3">
                  <p:embed/>
                </p:oleObj>
              </mc:Choice>
              <mc:Fallback>
                <p:oleObj name="Equation" r:id="rId4" imgW="28321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447800"/>
                        <a:ext cx="522763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429000" y="2209800"/>
            <a:ext cx="4876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lvl="1" indent="0">
              <a:buSzPct val="75000"/>
              <a:buNone/>
              <a:defRPr/>
            </a:pPr>
            <a:r>
              <a:rPr lang="en-US" altLang="en-US" sz="2000" b="0" dirty="0"/>
              <a:t>P(X | Yes) =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P(Refund = No | Yes) x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P(Divorced | Yes) x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P(Income = 120K | Yes)</a:t>
            </a:r>
          </a:p>
          <a:p>
            <a:pPr lvl="1">
              <a:buSzPct val="75000"/>
              <a:buFont typeface="Arial" charset="0"/>
              <a:buNone/>
              <a:defRPr/>
            </a:pPr>
            <a:endParaRPr lang="en-US" altLang="en-US" sz="2000" b="0" dirty="0"/>
          </a:p>
          <a:p>
            <a:pPr marL="0" lvl="1" indent="0">
              <a:buSzPct val="75000"/>
              <a:buNone/>
              <a:defRPr/>
            </a:pPr>
            <a:r>
              <a:rPr lang="en-US" altLang="en-US" sz="2000" b="0" dirty="0"/>
              <a:t>P(X | No) =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P(Refund = No | No) x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P(Divorced | No) x </a:t>
            </a:r>
          </a:p>
          <a:p>
            <a:pPr lvl="1">
              <a:buSzPct val="75000"/>
              <a:buFont typeface="Arial" charset="0"/>
              <a:buNone/>
              <a:defRPr/>
            </a:pPr>
            <a:r>
              <a:rPr lang="en-US" altLang="en-US" sz="2000" b="0" dirty="0"/>
              <a:t>		P(Income = 120K | No)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Estimate Probabilities from Data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8600" y="990600"/>
            <a:ext cx="4876800" cy="5181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 P(y) = </a:t>
            </a:r>
            <a:r>
              <a:rPr lang="en-US" sz="1800" dirty="0">
                <a:cs typeface="+mn-cs"/>
              </a:rPr>
              <a:t>fraction of instances of class y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000" dirty="0"/>
              <a:t>e.g.,  P(No) = 7/10, </a:t>
            </a:r>
            <a:br>
              <a:rPr lang="en-US" sz="2000" dirty="0"/>
            </a:br>
            <a:r>
              <a:rPr lang="en-US" sz="2000" dirty="0"/>
              <a:t>	        P(Yes) = 3/10</a:t>
            </a:r>
          </a:p>
          <a:p>
            <a:pPr lvl="1">
              <a:lnSpc>
                <a:spcPct val="90000"/>
              </a:lnSpc>
              <a:buFont typeface="Arial" charset="0"/>
              <a:buNone/>
              <a:defRPr/>
            </a:pPr>
            <a:endParaRPr lang="en-US" sz="2000" dirty="0"/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For categorical attributes:</a:t>
            </a:r>
            <a:br>
              <a:rPr lang="en-US" dirty="0">
                <a:cs typeface="+mn-cs"/>
              </a:rPr>
            </a:br>
            <a:r>
              <a:rPr lang="en-US" sz="900" dirty="0">
                <a:cs typeface="+mn-cs"/>
              </a:rPr>
              <a:t>  </a:t>
            </a:r>
            <a:br>
              <a:rPr lang="en-US" sz="900" dirty="0">
                <a:cs typeface="+mn-cs"/>
              </a:rPr>
            </a:br>
            <a:r>
              <a:rPr lang="en-US" dirty="0">
                <a:cs typeface="+mn-cs"/>
              </a:rPr>
              <a:t>     P(X</a:t>
            </a:r>
            <a:r>
              <a:rPr lang="en-US" baseline="-25000" dirty="0">
                <a:cs typeface="+mn-cs"/>
              </a:rPr>
              <a:t>i</a:t>
            </a:r>
            <a:r>
              <a:rPr lang="en-US" dirty="0">
                <a:cs typeface="+mn-cs"/>
              </a:rPr>
              <a:t> =c| y) = n</a:t>
            </a:r>
            <a:r>
              <a:rPr lang="en-US" baseline="-25000" dirty="0">
                <a:cs typeface="+mn-cs"/>
              </a:rPr>
              <a:t>c</a:t>
            </a:r>
            <a:r>
              <a:rPr lang="en-US" dirty="0">
                <a:cs typeface="+mn-cs"/>
              </a:rPr>
              <a:t>/ n</a:t>
            </a:r>
            <a:r>
              <a:rPr lang="en-US" baseline="-25000" dirty="0">
                <a:cs typeface="+mn-cs"/>
              </a:rPr>
              <a:t> 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endParaRPr lang="en-US" sz="800" dirty="0"/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400" dirty="0"/>
              <a:t>where |X</a:t>
            </a:r>
            <a:r>
              <a:rPr lang="en-US" sz="2400" baseline="-25000" dirty="0"/>
              <a:t>i</a:t>
            </a:r>
            <a:r>
              <a:rPr lang="en-US" sz="2400" dirty="0"/>
              <a:t> =c| is number of instances having attribute value X</a:t>
            </a:r>
            <a:r>
              <a:rPr lang="en-US" sz="2400" baseline="-25000" dirty="0"/>
              <a:t>i</a:t>
            </a:r>
            <a:r>
              <a:rPr lang="en-US" sz="2400" dirty="0"/>
              <a:t> =c and belonging to class y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400" dirty="0"/>
              <a:t>Examples:</a:t>
            </a:r>
            <a:br>
              <a:rPr lang="en-US" sz="2400" dirty="0"/>
            </a:br>
            <a:endParaRPr lang="en-US" sz="800" dirty="0"/>
          </a:p>
          <a:p>
            <a:pPr lvl="1">
              <a:lnSpc>
                <a:spcPct val="90000"/>
              </a:lnSpc>
              <a:buFont typeface="Arial" charset="0"/>
              <a:buNone/>
              <a:defRPr/>
            </a:pPr>
            <a:r>
              <a:rPr lang="en-US" sz="2000" dirty="0"/>
              <a:t>	P(Status=</a:t>
            </a:r>
            <a:r>
              <a:rPr lang="en-US" sz="2000" dirty="0" err="1"/>
              <a:t>Married|No</a:t>
            </a:r>
            <a:r>
              <a:rPr lang="en-US" sz="2000" dirty="0"/>
              <a:t>) = 4/7</a:t>
            </a:r>
            <a:br>
              <a:rPr lang="en-US" sz="2000" baseline="-25000" dirty="0"/>
            </a:br>
            <a:r>
              <a:rPr lang="en-US" sz="2000" dirty="0"/>
              <a:t>P(Refund=</a:t>
            </a:r>
            <a:r>
              <a:rPr lang="en-US" sz="2000" dirty="0" err="1"/>
              <a:t>Yes|Yes</a:t>
            </a:r>
            <a:r>
              <a:rPr lang="en-US" sz="2000" dirty="0"/>
              <a:t>)=0</a:t>
            </a:r>
            <a:endParaRPr lang="en-US" sz="2000" baseline="-25000" dirty="0"/>
          </a:p>
        </p:txBody>
      </p:sp>
      <p:graphicFrame>
        <p:nvGraphicFramePr>
          <p:cNvPr id="2970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188767"/>
              </p:ext>
            </p:extLst>
          </p:nvPr>
        </p:nvGraphicFramePr>
        <p:xfrm>
          <a:off x="76200" y="1524000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92168" imgH="5334000" progId="Visio.Drawing.6">
                  <p:embed/>
                </p:oleObj>
              </mc:Choice>
              <mc:Fallback>
                <p:oleObj name="VISIO" r:id="rId2" imgW="4392168" imgH="53340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76200" y="1524000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Estimate Probabilities from Data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For continuous attributes: </a:t>
            </a:r>
          </a:p>
          <a:p>
            <a:pPr marL="990600" lvl="1" indent="-533400">
              <a:buFont typeface="Arial" charset="0"/>
              <a:buChar char="–"/>
              <a:defRPr/>
            </a:pPr>
            <a:r>
              <a:rPr lang="en-US" dirty="0">
                <a:solidFill>
                  <a:srgbClr val="FF0000"/>
                </a:solidFill>
              </a:rPr>
              <a:t>Discretization:</a:t>
            </a:r>
            <a:r>
              <a:rPr lang="en-US" dirty="0"/>
              <a:t> Partition the range into bins:</a:t>
            </a:r>
          </a:p>
          <a:p>
            <a:pPr marL="1371600" lvl="2" indent="-457200">
              <a:buFont typeface="Wingdings" charset="0"/>
              <a:buChar char="u"/>
              <a:defRPr/>
            </a:pPr>
            <a:r>
              <a:rPr lang="en-US" dirty="0"/>
              <a:t>Replace continuous value with bin value</a:t>
            </a:r>
          </a:p>
          <a:p>
            <a:pPr marL="1752600" lvl="3" indent="-381000">
              <a:defRPr/>
            </a:pPr>
            <a:r>
              <a:rPr lang="en-US" dirty="0">
                <a:latin typeface="Times New Roman" charset="0"/>
              </a:rPr>
              <a:t>Attribute changed from continuous to ordinal</a:t>
            </a:r>
          </a:p>
          <a:p>
            <a:pPr marL="1752600" lvl="3" indent="-381000">
              <a:defRPr/>
            </a:pPr>
            <a:endParaRPr lang="en-US" dirty="0">
              <a:latin typeface="Times New Roman" charset="0"/>
            </a:endParaRPr>
          </a:p>
          <a:p>
            <a:pPr marL="990600" lvl="1" indent="-533400">
              <a:buFont typeface="Arial" charset="0"/>
              <a:buChar char="–"/>
              <a:defRPr/>
            </a:pPr>
            <a:r>
              <a:rPr lang="en-US" dirty="0">
                <a:solidFill>
                  <a:srgbClr val="FF0000"/>
                </a:solidFill>
              </a:rPr>
              <a:t>Probability density estimation:</a:t>
            </a:r>
          </a:p>
          <a:p>
            <a:pPr marL="1371600" lvl="2" indent="-457200">
              <a:buFont typeface="Wingdings" charset="0"/>
              <a:buChar char="u"/>
              <a:defRPr/>
            </a:pPr>
            <a:r>
              <a:rPr lang="en-US" dirty="0"/>
              <a:t>Assume attribute follows a normal distribution</a:t>
            </a:r>
          </a:p>
          <a:p>
            <a:pPr marL="1371600" lvl="2" indent="-457200">
              <a:buFont typeface="Wingdings" charset="0"/>
              <a:buChar char="u"/>
              <a:defRPr/>
            </a:pPr>
            <a:r>
              <a:rPr lang="en-US" dirty="0"/>
              <a:t>Use data to estimate parameters of distribution </a:t>
            </a:r>
            <a:br>
              <a:rPr lang="en-US" dirty="0"/>
            </a:br>
            <a:r>
              <a:rPr lang="en-US" dirty="0"/>
              <a:t>   (e.g., mean and standard deviation)</a:t>
            </a:r>
          </a:p>
          <a:p>
            <a:pPr marL="1371600" lvl="2" indent="-457200">
              <a:buFont typeface="Wingdings" charset="0"/>
              <a:buChar char="u"/>
              <a:defRPr/>
            </a:pPr>
            <a:r>
              <a:rPr lang="en-US" dirty="0"/>
              <a:t>Once probability distribution is known, use it to estimate the conditional probability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Estimate Probabilities from Data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5800" y="1066800"/>
            <a:ext cx="4419600" cy="51816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cs typeface="+mn-cs"/>
              </a:rPr>
              <a:t>Normal distribution:</a:t>
            </a:r>
          </a:p>
          <a:p>
            <a:pPr lvl="1">
              <a:buFont typeface="Arial" charset="0"/>
              <a:buChar char="–"/>
              <a:defRPr/>
            </a:pPr>
            <a:endParaRPr lang="en-US" sz="2400" dirty="0"/>
          </a:p>
          <a:p>
            <a:pPr lvl="1">
              <a:buFont typeface="Arial" charset="0"/>
              <a:buChar char="–"/>
              <a:defRPr/>
            </a:pPr>
            <a:endParaRPr lang="en-US" sz="2400" dirty="0"/>
          </a:p>
          <a:p>
            <a:pPr lvl="1">
              <a:buFont typeface="Arial" charset="0"/>
              <a:buChar char="–"/>
              <a:defRPr/>
            </a:pPr>
            <a:endParaRPr lang="en-US" sz="1000" dirty="0"/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One for each (</a:t>
            </a:r>
            <a:r>
              <a:rPr lang="en-US" sz="2400" dirty="0" err="1"/>
              <a:t>X</a:t>
            </a:r>
            <a:r>
              <a:rPr lang="en-US" sz="2400" baseline="-25000" dirty="0" err="1"/>
              <a:t>i</a:t>
            </a:r>
            <a:r>
              <a:rPr lang="en-US" sz="2400" dirty="0" err="1"/>
              <a:t>,Y</a:t>
            </a:r>
            <a:r>
              <a:rPr lang="en-US" sz="2400" baseline="-25000" dirty="0" err="1"/>
              <a:t>i</a:t>
            </a:r>
            <a:r>
              <a:rPr lang="en-US" sz="2400" dirty="0"/>
              <a:t>) pair</a:t>
            </a:r>
          </a:p>
          <a:p>
            <a:pPr lvl="1">
              <a:buFont typeface="Arial" charset="0"/>
              <a:buChar char="–"/>
              <a:defRPr/>
            </a:pPr>
            <a:endParaRPr lang="en-US" sz="800" dirty="0"/>
          </a:p>
          <a:p>
            <a:pPr>
              <a:defRPr/>
            </a:pPr>
            <a:r>
              <a:rPr lang="en-US" sz="2400" dirty="0">
                <a:cs typeface="+mn-cs"/>
              </a:rPr>
              <a:t>For (Income, Class=No):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If Class=No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sz="2000" dirty="0"/>
              <a:t> sample mean = 110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sz="2000" dirty="0"/>
              <a:t> sample variance = 2975</a:t>
            </a:r>
          </a:p>
          <a:p>
            <a:pPr lvl="1">
              <a:buFont typeface="Arial" charset="0"/>
              <a:buNone/>
              <a:defRPr/>
            </a:pPr>
            <a:endParaRPr lang="en-US" sz="2400" dirty="0"/>
          </a:p>
        </p:txBody>
      </p:sp>
      <p:graphicFrame>
        <p:nvGraphicFramePr>
          <p:cNvPr id="31747" name="Object 4"/>
          <p:cNvGraphicFramePr>
            <a:graphicFrameLocks noChangeAspect="1"/>
          </p:cNvGraphicFramePr>
          <p:nvPr/>
        </p:nvGraphicFramePr>
        <p:xfrm>
          <a:off x="304800" y="1143000"/>
          <a:ext cx="4195763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92168" imgH="5334000" progId="Visio.Drawing.6">
                  <p:embed/>
                </p:oleObj>
              </mc:Choice>
              <mc:Fallback>
                <p:oleObj name="VISIO" r:id="rId2" imgW="4392168" imgH="53340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895"/>
                      <a:stretch>
                        <a:fillRect/>
                      </a:stretch>
                    </p:blipFill>
                    <p:spPr bwMode="auto">
                      <a:xfrm>
                        <a:off x="304800" y="1143000"/>
                        <a:ext cx="4195763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5"/>
          <p:cNvGraphicFramePr>
            <a:graphicFrameLocks noChangeAspect="1"/>
          </p:cNvGraphicFramePr>
          <p:nvPr/>
        </p:nvGraphicFramePr>
        <p:xfrm>
          <a:off x="5181600" y="1512888"/>
          <a:ext cx="3352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400" imgH="584200" progId="Equation.3">
                  <p:embed/>
                </p:oleObj>
              </mc:Choice>
              <mc:Fallback>
                <p:oleObj name="Equation" r:id="rId4" imgW="1803400" imgH="584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512888"/>
                        <a:ext cx="33528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6"/>
          <p:cNvGraphicFramePr>
            <a:graphicFrameLocks noChangeAspect="1"/>
          </p:cNvGraphicFramePr>
          <p:nvPr/>
        </p:nvGraphicFramePr>
        <p:xfrm>
          <a:off x="236538" y="5257800"/>
          <a:ext cx="8520112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50000" imgH="787400" progId="Equation.3">
                  <p:embed/>
                </p:oleObj>
              </mc:Choice>
              <mc:Fallback>
                <p:oleObj name="Equation" r:id="rId6" imgW="6350000" imgH="787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5257800"/>
                        <a:ext cx="8520112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ＭＳ Ｐゴシック" pitchFamily="34" charset="-128"/>
              </a:rPr>
              <a:t>Example of Naïve Bayes Classifier</a:t>
            </a:r>
          </a:p>
        </p:txBody>
      </p:sp>
      <p:graphicFrame>
        <p:nvGraphicFramePr>
          <p:cNvPr id="32770" name="Object 4"/>
          <p:cNvGraphicFramePr>
            <a:graphicFrameLocks noChangeAspect="1"/>
          </p:cNvGraphicFramePr>
          <p:nvPr/>
        </p:nvGraphicFramePr>
        <p:xfrm>
          <a:off x="1143000" y="1357313"/>
          <a:ext cx="73548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32100" imgH="203200" progId="Equation.3">
                  <p:embed/>
                </p:oleObj>
              </mc:Choice>
              <mc:Fallback>
                <p:oleObj name="Equation" r:id="rId2" imgW="28321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357313"/>
                        <a:ext cx="73548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733800" y="2590800"/>
            <a:ext cx="49530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b="0" dirty="0"/>
              <a:t>P(X | No) = P(Refund=No | No)</a:t>
            </a:r>
            <a:br>
              <a:rPr lang="en-US" altLang="en-US" sz="1600" b="0" dirty="0"/>
            </a:br>
            <a:r>
              <a:rPr lang="en-US" altLang="en-US" sz="1600" b="0" dirty="0"/>
              <a:t>		 </a:t>
            </a:r>
            <a:r>
              <a:rPr lang="en-US" altLang="en-US" sz="1600" b="0" dirty="0">
                <a:sym typeface="Symbol" charset="2"/>
              </a:rPr>
              <a:t> P(Divorced | </a:t>
            </a:r>
            <a:r>
              <a:rPr lang="en-US" altLang="en-US" sz="1600" b="0" dirty="0"/>
              <a:t>No)</a:t>
            </a:r>
            <a:br>
              <a:rPr lang="en-US" altLang="en-US" sz="1600" b="0" dirty="0"/>
            </a:br>
            <a:r>
              <a:rPr lang="en-US" altLang="en-US" sz="1600" b="0" dirty="0"/>
              <a:t>		 </a:t>
            </a:r>
            <a:r>
              <a:rPr lang="en-US" altLang="en-US" sz="1600" b="0" dirty="0">
                <a:sym typeface="Symbol" charset="2"/>
              </a:rPr>
              <a:t></a:t>
            </a:r>
            <a:r>
              <a:rPr lang="en-US" altLang="en-US" sz="1600" b="0" dirty="0"/>
              <a:t> P(Income=120K | No)</a:t>
            </a:r>
            <a:br>
              <a:rPr lang="en-US" altLang="en-US" sz="1600" b="0" dirty="0"/>
            </a:br>
            <a:r>
              <a:rPr lang="en-US" altLang="en-US" sz="1600" b="0" dirty="0"/>
              <a:t>	              = 4/7 </a:t>
            </a:r>
            <a:r>
              <a:rPr lang="en-US" altLang="en-US" sz="1600" b="0" dirty="0">
                <a:sym typeface="Symbol" charset="2"/>
              </a:rPr>
              <a:t> 1/7  0.0072 = 0.0006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  <a:defRPr/>
            </a:pPr>
            <a:endParaRPr lang="en-US" altLang="en-US" sz="800" b="0" dirty="0">
              <a:sym typeface="Symbol" charset="2"/>
            </a:endParaRPr>
          </a:p>
          <a:p>
            <a: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b="0" dirty="0"/>
              <a:t>P(X | Yes) = P(Refund=No | Yes)</a:t>
            </a:r>
            <a:br>
              <a:rPr lang="en-US" altLang="en-US" sz="1600" b="0" dirty="0"/>
            </a:br>
            <a:r>
              <a:rPr lang="en-US" altLang="en-US" sz="1600" b="0" dirty="0"/>
              <a:t>   	                  </a:t>
            </a:r>
            <a:r>
              <a:rPr lang="en-US" altLang="en-US" sz="1600" b="0" dirty="0">
                <a:sym typeface="Symbol" charset="2"/>
              </a:rPr>
              <a:t> P(Divorced | </a:t>
            </a:r>
            <a:r>
              <a:rPr lang="en-US" altLang="en-US" sz="1600" b="0" dirty="0"/>
              <a:t>Yes)</a:t>
            </a:r>
            <a:br>
              <a:rPr lang="en-US" altLang="en-US" sz="1600" b="0" dirty="0"/>
            </a:br>
            <a:r>
              <a:rPr lang="en-US" altLang="en-US" sz="1600" b="0" dirty="0"/>
              <a:t>   	                  </a:t>
            </a:r>
            <a:r>
              <a:rPr lang="en-US" altLang="en-US" sz="1600" b="0" dirty="0">
                <a:sym typeface="Symbol" charset="2"/>
              </a:rPr>
              <a:t></a:t>
            </a:r>
            <a:r>
              <a:rPr lang="en-US" altLang="en-US" sz="1600" b="0" dirty="0"/>
              <a:t> P(Income=120K | Yes)</a:t>
            </a:r>
            <a:br>
              <a:rPr lang="en-US" altLang="en-US" sz="1600" b="0" dirty="0"/>
            </a:br>
            <a:r>
              <a:rPr lang="en-US" altLang="en-US" sz="1600" b="0" dirty="0"/>
              <a:t>	               = 1 </a:t>
            </a:r>
            <a:r>
              <a:rPr lang="en-US" altLang="en-US" sz="1600" b="0" dirty="0">
                <a:sym typeface="Symbol" charset="2"/>
              </a:rPr>
              <a:t> 1/3  1.2  10</a:t>
            </a:r>
            <a:r>
              <a:rPr lang="en-US" altLang="en-US" sz="1600" b="0" baseline="30000" dirty="0">
                <a:sym typeface="Symbol" charset="2"/>
              </a:rPr>
              <a:t>-9</a:t>
            </a:r>
            <a:r>
              <a:rPr lang="en-US" altLang="en-US" sz="1600" b="0" dirty="0">
                <a:sym typeface="Symbol" charset="2"/>
              </a:rPr>
              <a:t> = 4  10</a:t>
            </a:r>
            <a:r>
              <a:rPr lang="en-US" altLang="en-US" sz="1600" b="0" baseline="30000" dirty="0">
                <a:sym typeface="Symbol" charset="2"/>
              </a:rPr>
              <a:t>-10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  <a:defRPr/>
            </a:pPr>
            <a:endParaRPr lang="en-US" altLang="en-US" sz="800" b="0" dirty="0">
              <a:sym typeface="Symbol" charset="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  <a:defRPr/>
            </a:pPr>
            <a:r>
              <a:rPr lang="en-US" altLang="en-US" sz="1800" b="0" dirty="0"/>
              <a:t>Since P(</a:t>
            </a:r>
            <a:r>
              <a:rPr lang="en-US" altLang="en-US" sz="1800" b="0" dirty="0" err="1"/>
              <a:t>X|No</a:t>
            </a:r>
            <a:r>
              <a:rPr lang="en-US" altLang="en-US" sz="1800" b="0" dirty="0"/>
              <a:t>)P(No) &gt; P(</a:t>
            </a:r>
            <a:r>
              <a:rPr lang="en-US" altLang="en-US" sz="1800" b="0" dirty="0" err="1"/>
              <a:t>X|Yes</a:t>
            </a:r>
            <a:r>
              <a:rPr lang="en-US" altLang="en-US" sz="1800" b="0" dirty="0"/>
              <a:t>)P(Yes)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  <a:defRPr/>
            </a:pPr>
            <a:r>
              <a:rPr lang="en-US" altLang="en-US" sz="1800" b="0" dirty="0"/>
              <a:t>Therefore P(</a:t>
            </a:r>
            <a:r>
              <a:rPr lang="en-US" altLang="en-US" sz="1800" b="0" dirty="0" err="1"/>
              <a:t>No|X</a:t>
            </a:r>
            <a:r>
              <a:rPr lang="en-US" altLang="en-US" sz="1800" b="0" dirty="0"/>
              <a:t>) &gt; P(</a:t>
            </a:r>
            <a:r>
              <a:rPr lang="en-US" altLang="en-US" sz="1800" b="0" dirty="0" err="1"/>
              <a:t>Yes|X</a:t>
            </a:r>
            <a:r>
              <a:rPr lang="en-US" altLang="en-US" sz="1800" b="0" dirty="0"/>
              <a:t>)</a:t>
            </a:r>
            <a:br>
              <a:rPr lang="en-US" altLang="en-US" sz="1800" b="0" dirty="0"/>
            </a:br>
            <a:r>
              <a:rPr lang="en-US" altLang="en-US" sz="1800" b="0" dirty="0"/>
              <a:t>      </a:t>
            </a:r>
            <a:r>
              <a:rPr lang="en-US" altLang="en-US" sz="2000" b="0" dirty="0">
                <a:sym typeface="Symbol" charset="2"/>
              </a:rPr>
              <a:t>=&gt; Class = No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32773" name="TextBox 1"/>
          <p:cNvSpPr txBox="1">
            <a:spLocks noChangeArrowheads="1"/>
          </p:cNvSpPr>
          <p:nvPr/>
        </p:nvSpPr>
        <p:spPr bwMode="auto">
          <a:xfrm>
            <a:off x="228600" y="1981200"/>
            <a:ext cx="3316288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Naïve  Bayes Classifier: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No) = 3/7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Yes) = 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No) = 2/7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No) = 1/7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Yes) = 2/3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Yes) = 1/3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For Taxable Income: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No: sample mean = 110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2975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Yes: sample mean = 90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25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763000" cy="5334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Naïve Bayes Classifier can make decisions with partial information about attributes in the test record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733800" y="1143000"/>
            <a:ext cx="54102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P(Yes) = 3/10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P(No) = 7/10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5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dirty="0"/>
              <a:t>If we only know that marital status is Divorced, then</a:t>
            </a:r>
            <a:r>
              <a:rPr lang="en-US" altLang="en-US" sz="1600" b="0" dirty="0"/>
              <a:t>:</a:t>
            </a:r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P(Yes | Divorced) = 1/3 x 3/10 / P(Divorced)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P(No | Divorced) = 1/7 x 7/10 / P(Divorced)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5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dirty="0">
                <a:sym typeface="Symbol" charset="2"/>
              </a:rPr>
              <a:t>If we also know that Refund = No, then</a:t>
            </a:r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P(Yes | Refund = No, Divorced) = 1 x 1/3 x 3/10 / 		          P(Divorced, Refund = No)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>
                <a:solidFill>
                  <a:srgbClr val="000000"/>
                </a:solidFill>
              </a:rPr>
              <a:t>     P(No | Refund = No, Divorced) = 4/7 x 1/7 x 7/10 /    		          </a:t>
            </a:r>
            <a:r>
              <a:rPr lang="en-US" altLang="en-US" sz="1600" b="0" dirty="0"/>
              <a:t>P(Divorced, Refund = No)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dirty="0">
                <a:sym typeface="Symbol" charset="2"/>
              </a:rPr>
              <a:t>If we also know that Taxable Income = 120, then</a:t>
            </a:r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P(Yes | Refund = No, Divorced, Income = 120) =</a:t>
            </a:r>
            <a:br>
              <a:rPr lang="en-US" altLang="en-US" sz="1600" b="0" dirty="0"/>
            </a:br>
            <a:r>
              <a:rPr lang="en-US" altLang="en-US" sz="1600" b="0" dirty="0"/>
              <a:t>                                              1.2 x10</a:t>
            </a:r>
            <a:r>
              <a:rPr lang="en-US" altLang="en-US" sz="1600" b="0" baseline="30000" dirty="0"/>
              <a:t>-9</a:t>
            </a:r>
            <a:r>
              <a:rPr lang="en-US" altLang="en-US" sz="1600" b="0" dirty="0"/>
              <a:t> x  1 x 1/3 x 3/10 /     	P(Divorced, Refund = No,  Income = 120 )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>
                <a:solidFill>
                  <a:srgbClr val="000000"/>
                </a:solidFill>
              </a:rPr>
              <a:t>     P(No | Refund = No, Divorced Income = 120) = </a:t>
            </a:r>
            <a:br>
              <a:rPr lang="en-US" altLang="en-US" sz="1600" b="0" dirty="0">
                <a:solidFill>
                  <a:srgbClr val="000000"/>
                </a:solidFill>
              </a:rPr>
            </a:br>
            <a:r>
              <a:rPr lang="en-US" altLang="en-US" sz="1600" b="0" dirty="0">
                <a:solidFill>
                  <a:srgbClr val="000000"/>
                </a:solidFill>
              </a:rPr>
              <a:t>                                       0.0072  x 4/7 x 1/7 x 7/10 /                	</a:t>
            </a:r>
            <a:r>
              <a:rPr lang="en-US" altLang="en-US" sz="1600" b="0" dirty="0"/>
              <a:t>P(Divorced, Refund = No, Income = 120)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1600" b="0" dirty="0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3316288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FF0000"/>
                </a:solidFill>
              </a:rPr>
              <a:t>Even in absence of information about any attributes, we can use </a:t>
            </a:r>
            <a:r>
              <a:rPr lang="en-US" dirty="0" err="1">
                <a:solidFill>
                  <a:srgbClr val="FF0000"/>
                </a:solidFill>
              </a:rPr>
              <a:t>Apriori</a:t>
            </a:r>
            <a:r>
              <a:rPr lang="en-US" dirty="0">
                <a:solidFill>
                  <a:srgbClr val="FF0000"/>
                </a:solidFill>
              </a:rPr>
              <a:t> Probabilities of Class Variable:</a:t>
            </a:r>
          </a:p>
          <a:p>
            <a:pPr>
              <a:spcBef>
                <a:spcPct val="50000"/>
              </a:spcBef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797" name="TextBox 1"/>
          <p:cNvSpPr txBox="1">
            <a:spLocks noChangeArrowheads="1"/>
          </p:cNvSpPr>
          <p:nvPr/>
        </p:nvSpPr>
        <p:spPr bwMode="auto">
          <a:xfrm>
            <a:off x="228600" y="1955800"/>
            <a:ext cx="3316288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Naïve  Bayes Classifier: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No) = 3/7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Yes) = 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No) = 2/7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No) = 1/7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Yes) = 2/3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Yes) = 1/3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For Taxable Income: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No: sample mean = 110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2975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Yes: sample mean = 90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166313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Issues with Naïve Bayes Classifier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886200" y="2133600"/>
            <a:ext cx="54102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P(Yes) = 3/10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P(No) = 7/10</a:t>
            </a:r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</a:t>
            </a:r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P(Yes | Married) = 0 x 3/10 / P(Married)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P(No | Married) = 4/7 x 7/10 / P(Married)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900" b="0" dirty="0">
              <a:sym typeface="Symbol" charset="2"/>
            </a:endParaRPr>
          </a:p>
        </p:txBody>
      </p:sp>
      <p:sp>
        <p:nvSpPr>
          <p:cNvPr id="34819" name="TextBox 1"/>
          <p:cNvSpPr txBox="1">
            <a:spLocks noChangeArrowheads="1"/>
          </p:cNvSpPr>
          <p:nvPr/>
        </p:nvSpPr>
        <p:spPr bwMode="auto">
          <a:xfrm>
            <a:off x="228600" y="1955800"/>
            <a:ext cx="3316288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Naïve  Bayes Classifier: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No) = 3/7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Yes) = 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No) = 2/7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No) = 1/7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No) = 4/7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Yes) = 2/3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Yes) = 1/3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For Taxable Income: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No: sample mean = 110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2975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Yes: sample mean = 90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</p:txBody>
      </p:sp>
      <p:sp>
        <p:nvSpPr>
          <p:cNvPr id="2" name="TextBox 1"/>
          <p:cNvSpPr txBox="1"/>
          <p:nvPr/>
        </p:nvSpPr>
        <p:spPr>
          <a:xfrm>
            <a:off x="1752600" y="1292423"/>
            <a:ext cx="2686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  X = (Married)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Issues with Naïve Bayes Classifier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buFont typeface="Monotype Sorts" pitchFamily="-84" charset="2"/>
              <a:buNone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>
              <a:lnSpc>
                <a:spcPct val="130000"/>
              </a:lnSpc>
              <a:buFont typeface="Monotype Sorts" pitchFamily="-84" charset="2"/>
              <a:buChar char="l"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>
              <a:lnSpc>
                <a:spcPct val="130000"/>
              </a:lnSpc>
              <a:buFont typeface="Monotype Sorts" pitchFamily="-84" charset="2"/>
              <a:buChar char="l"/>
              <a:defRPr/>
            </a:pPr>
            <a:endParaRPr lang="en-US" altLang="en-US" sz="2400" dirty="0">
              <a:ea typeface="ＭＳ Ｐゴシック" pitchFamily="34" charset="-128"/>
            </a:endParaRPr>
          </a:p>
          <a:p>
            <a:pPr>
              <a:lnSpc>
                <a:spcPct val="130000"/>
              </a:lnSpc>
              <a:buFont typeface="Monotype Sorts" pitchFamily="-84" charset="2"/>
              <a:buChar char="l"/>
              <a:defRPr/>
            </a:pPr>
            <a:endParaRPr lang="en-US" altLang="en-US" sz="2400" dirty="0">
              <a:ea typeface="ＭＳ Ｐゴシック" pitchFamily="34" charset="-128"/>
            </a:endParaRPr>
          </a:p>
        </p:txBody>
      </p:sp>
      <p:graphicFrame>
        <p:nvGraphicFramePr>
          <p:cNvPr id="35843" name="Object 1"/>
          <p:cNvGraphicFramePr>
            <a:graphicFrameLocks noChangeAspect="1"/>
          </p:cNvGraphicFramePr>
          <p:nvPr/>
        </p:nvGraphicFramePr>
        <p:xfrm>
          <a:off x="409575" y="1441450"/>
          <a:ext cx="3681413" cy="354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92168" imgH="5334000" progId="Visio.Drawing.6">
                  <p:embed/>
                </p:oleObj>
              </mc:Choice>
              <mc:Fallback>
                <p:oleObj name="VISIO" r:id="rId2" imgW="4392168" imgH="5334000" progId="Visio.Drawing.6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895"/>
                      <a:stretch>
                        <a:fillRect/>
                      </a:stretch>
                    </p:blipFill>
                    <p:spPr bwMode="auto">
                      <a:xfrm>
                        <a:off x="409575" y="1441450"/>
                        <a:ext cx="3681413" cy="354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4419600" y="1062038"/>
            <a:ext cx="3316288" cy="400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Naïve  Bayes Classifier: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No) = 2/6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No) = 4/6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Yes)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Yes) = 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No) = 2/6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No)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No) = 4/6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Yes) = 2/3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Yes) = 1/3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Yes) = 0/3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For Taxable Income: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No: sample mean = 91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685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No: sample mean = 90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25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28600" y="1090613"/>
            <a:ext cx="36576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600" b="0" dirty="0"/>
              <a:t>Consider the table with </a:t>
            </a:r>
            <a:r>
              <a:rPr lang="en-US" sz="1600" b="0" dirty="0" err="1"/>
              <a:t>Tid</a:t>
            </a:r>
            <a:r>
              <a:rPr lang="en-US" sz="1600" b="0" dirty="0"/>
              <a:t> = 7 deleted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19100" y="5064125"/>
            <a:ext cx="4506913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Given X = (Refund = Yes, Divorced, 120K)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P(X | No) = 2/6 X 0 X 0.0083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P(X | Yes) = 0 X 1/3 X 1.2 X 10</a:t>
            </a:r>
            <a:r>
              <a:rPr lang="en-US" altLang="en-US" sz="2000" b="0" baseline="30000"/>
              <a:t>-9</a:t>
            </a:r>
            <a:r>
              <a:rPr lang="en-US" altLang="en-US" sz="2000" b="0"/>
              <a:t> = 0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964113" y="5181600"/>
            <a:ext cx="38100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Naïve Bayes will not be able to classify X as Yes or No!</a:t>
            </a:r>
          </a:p>
        </p:txBody>
      </p: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>
            <a:off x="3886200" y="2082800"/>
            <a:ext cx="6096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>
            <a:cxnSpLocks noChangeShapeType="1"/>
          </p:cNvCxnSpPr>
          <p:nvPr/>
        </p:nvCxnSpPr>
        <p:spPr bwMode="auto">
          <a:xfrm>
            <a:off x="3886200" y="2743200"/>
            <a:ext cx="6096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5850" name="Rectangle 1"/>
          <p:cNvSpPr>
            <a:spLocks noChangeArrowheads="1"/>
          </p:cNvSpPr>
          <p:nvPr/>
        </p:nvSpPr>
        <p:spPr bwMode="auto">
          <a:xfrm>
            <a:off x="457200" y="3733800"/>
            <a:ext cx="3314700" cy="2286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ＭＳ Ｐゴシック" pitchFamily="34" charset="-128"/>
              </a:rPr>
              <a:t>Issues with Naïve Bayes Classifier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If one of the conditional probabilities is zero, then the entire expression becomes zero</a:t>
            </a:r>
            <a:endParaRPr lang="en-US" altLang="en-US" sz="2400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Need to use other estimates of conditional probabilities than simple fractions</a:t>
            </a:r>
          </a:p>
          <a:p>
            <a:pPr>
              <a:defRPr/>
            </a:pPr>
            <a:r>
              <a:rPr lang="en-US" altLang="en-US" sz="2400" dirty="0">
                <a:ea typeface="ＭＳ Ｐゴシック" pitchFamily="34" charset="-128"/>
              </a:rPr>
              <a:t>Probability estimation: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867400" y="2590800"/>
            <a:ext cx="274320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charset="0"/>
              </a:rPr>
              <a:t>n</a:t>
            </a:r>
            <a:r>
              <a:rPr lang="en-US" altLang="en-US" sz="1700" b="0" dirty="0">
                <a:latin typeface="Times New Roman" charset="0"/>
              </a:rPr>
              <a:t>: number of training instances belonging to class </a:t>
            </a:r>
            <a:r>
              <a:rPr lang="en-US" altLang="en-US" sz="1700" b="0" i="1" dirty="0">
                <a:latin typeface="Times New Roman" charset="0"/>
              </a:rPr>
              <a:t>y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 sz="1700" b="0" i="1" dirty="0">
                <a:latin typeface="Times New Roman" charset="0"/>
              </a:rPr>
              <a:t>n</a:t>
            </a:r>
            <a:r>
              <a:rPr lang="en-US" altLang="en-US" sz="1700" b="0" i="1" baseline="-25000" dirty="0">
                <a:latin typeface="Times New Roman" charset="0"/>
              </a:rPr>
              <a:t>c</a:t>
            </a:r>
            <a:r>
              <a:rPr lang="en-US" altLang="en-US" sz="1700" b="0" dirty="0">
                <a:latin typeface="Times New Roman" charset="0"/>
              </a:rPr>
              <a:t>: number of instances with </a:t>
            </a:r>
            <a:r>
              <a:rPr lang="en-US" altLang="en-US" sz="1700" b="0" i="1" dirty="0">
                <a:latin typeface="Times New Roman" charset="0"/>
              </a:rPr>
              <a:t>X</a:t>
            </a:r>
            <a:r>
              <a:rPr lang="en-US" altLang="en-US" sz="1700" b="0" i="1" baseline="-25000" dirty="0">
                <a:latin typeface="Times New Roman" charset="0"/>
              </a:rPr>
              <a:t>i</a:t>
            </a:r>
            <a:r>
              <a:rPr lang="en-US" altLang="en-US" sz="1700" b="0" i="1" dirty="0">
                <a:latin typeface="Times New Roman" charset="0"/>
              </a:rPr>
              <a:t> = c </a:t>
            </a:r>
            <a:r>
              <a:rPr lang="en-US" altLang="en-US" sz="1700" b="0" dirty="0">
                <a:latin typeface="Times New Roman" charset="0"/>
              </a:rPr>
              <a:t>and </a:t>
            </a:r>
            <a:r>
              <a:rPr lang="en-US" altLang="en-US" sz="1700" b="0" i="1" dirty="0">
                <a:latin typeface="Times New Roman" charset="0"/>
              </a:rPr>
              <a:t>Y = y</a:t>
            </a:r>
            <a:endParaRPr lang="en-US" altLang="en-US" sz="1700" b="0" i="1" baseline="-25000" dirty="0">
              <a:latin typeface="Times New Roman" charset="0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charset="0"/>
              </a:rPr>
              <a:t>v</a:t>
            </a:r>
            <a:r>
              <a:rPr lang="en-US" altLang="en-US" sz="1700" b="0" dirty="0">
                <a:latin typeface="Times New Roman" charset="0"/>
              </a:rPr>
              <a:t>: total number of attribute values that </a:t>
            </a:r>
            <a:r>
              <a:rPr lang="en-US" altLang="en-US" sz="1700" b="0" i="1" dirty="0">
                <a:latin typeface="Times New Roman" charset="0"/>
              </a:rPr>
              <a:t>X</a:t>
            </a:r>
            <a:r>
              <a:rPr lang="en-US" altLang="en-US" sz="1700" b="0" i="1" baseline="-25000" dirty="0">
                <a:latin typeface="Times New Roman" charset="0"/>
              </a:rPr>
              <a:t>i</a:t>
            </a:r>
            <a:r>
              <a:rPr lang="en-US" altLang="en-US" sz="1700" b="0" i="1" dirty="0">
                <a:latin typeface="Times New Roman" charset="0"/>
              </a:rPr>
              <a:t> </a:t>
            </a:r>
            <a:r>
              <a:rPr lang="en-US" altLang="en-US" sz="1700" b="0" dirty="0">
                <a:latin typeface="Times New Roman" charset="0"/>
              </a:rPr>
              <a:t>can take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charset="0"/>
              </a:rPr>
              <a:t>p</a:t>
            </a:r>
            <a:r>
              <a:rPr lang="en-US" altLang="en-US" sz="1700" b="0" dirty="0">
                <a:latin typeface="Times New Roman" charset="0"/>
              </a:rPr>
              <a:t>: initial estimate of </a:t>
            </a:r>
            <a:br>
              <a:rPr lang="en-US" altLang="en-US" sz="1700" b="0" i="1" dirty="0">
                <a:latin typeface="Times New Roman" charset="0"/>
              </a:rPr>
            </a:br>
            <a:r>
              <a:rPr lang="en-US" altLang="en-US" sz="1700" b="0" dirty="0">
                <a:latin typeface="Times New Roman" charset="0"/>
              </a:rPr>
              <a:t>(P(</a:t>
            </a:r>
            <a:r>
              <a:rPr lang="en-US" altLang="en-US" sz="1700" b="0" i="1" dirty="0">
                <a:latin typeface="Times New Roman" charset="0"/>
              </a:rPr>
              <a:t>X</a:t>
            </a:r>
            <a:r>
              <a:rPr lang="en-US" altLang="en-US" sz="1700" b="0" i="1" baseline="-25000" dirty="0">
                <a:latin typeface="Times New Roman" charset="0"/>
              </a:rPr>
              <a:t>i</a:t>
            </a:r>
            <a:r>
              <a:rPr lang="en-US" altLang="en-US" sz="1700" b="0" dirty="0">
                <a:latin typeface="Times New Roman" charset="0"/>
              </a:rPr>
              <a:t> </a:t>
            </a:r>
            <a:r>
              <a:rPr lang="en-US" altLang="en-US" sz="1700" b="0" i="1" dirty="0">
                <a:latin typeface="Times New Roman" charset="0"/>
              </a:rPr>
              <a:t>= </a:t>
            </a:r>
            <a:r>
              <a:rPr lang="en-US" altLang="en-US" sz="1700" b="0" i="1" dirty="0" err="1">
                <a:latin typeface="Times New Roman" charset="0"/>
              </a:rPr>
              <a:t>c|y</a:t>
            </a:r>
            <a:r>
              <a:rPr lang="en-US" altLang="en-US" sz="1700" b="0" i="1" dirty="0">
                <a:latin typeface="Times New Roman" charset="0"/>
              </a:rPr>
              <a:t>) </a:t>
            </a:r>
            <a:r>
              <a:rPr lang="en-US" altLang="en-US" sz="1700" b="0" dirty="0">
                <a:latin typeface="Times New Roman" charset="0"/>
              </a:rPr>
              <a:t>known </a:t>
            </a:r>
            <a:r>
              <a:rPr lang="en-US" altLang="en-US" sz="1700" b="0" dirty="0" err="1">
                <a:latin typeface="Times New Roman" charset="0"/>
              </a:rPr>
              <a:t>apriori</a:t>
            </a:r>
            <a:endParaRPr lang="en-US" altLang="en-US" sz="1700" b="0" baseline="-25000" dirty="0">
              <a:latin typeface="Times New Roman" charset="0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charset="0"/>
              </a:rPr>
              <a:t>m</a:t>
            </a:r>
            <a:r>
              <a:rPr lang="en-US" altLang="en-US" sz="1700" b="0" dirty="0">
                <a:latin typeface="Times New Roman" charset="0"/>
              </a:rPr>
              <a:t>: hyper-parameter for our confidence in </a:t>
            </a:r>
            <a:r>
              <a:rPr lang="en-US" altLang="en-US" sz="1700" b="0" i="1" dirty="0">
                <a:latin typeface="Times New Roman" charset="0"/>
              </a:rPr>
              <a:t>p</a:t>
            </a:r>
            <a:endParaRPr lang="en-US" altLang="en-US" sz="1700" b="0" i="1" baseline="-25000" dirty="0">
              <a:latin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9600" y="4515575"/>
                <a:ext cx="4589911" cy="583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Laplace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Estimate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515575"/>
                <a:ext cx="4589911" cy="5833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9600" y="5379407"/>
                <a:ext cx="4376775" cy="5641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estimate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𝑚𝑝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379407"/>
                <a:ext cx="4376775" cy="5641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09600" y="3810000"/>
                <a:ext cx="3094180" cy="5271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original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810000"/>
                <a:ext cx="3094180" cy="5271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ＭＳ Ｐゴシック" pitchFamily="34" charset="-128"/>
              </a:rPr>
              <a:t>Example of Naïve Bayes Classifier</a:t>
            </a:r>
          </a:p>
        </p:txBody>
      </p:sp>
      <p:graphicFrame>
        <p:nvGraphicFramePr>
          <p:cNvPr id="37890" name="Object 3"/>
          <p:cNvGraphicFramePr>
            <a:graphicFrameLocks noChangeAspect="1"/>
          </p:cNvGraphicFramePr>
          <p:nvPr/>
        </p:nvGraphicFramePr>
        <p:xfrm>
          <a:off x="152400" y="1295400"/>
          <a:ext cx="51816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057900" imgH="4241800" progId="Excel.Sheet.8">
                  <p:embed/>
                </p:oleObj>
              </mc:Choice>
              <mc:Fallback>
                <p:oleObj name="Worksheet" r:id="rId2" imgW="6057900" imgH="42418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95400"/>
                        <a:ext cx="5181600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4"/>
          <p:cNvGraphicFramePr>
            <a:graphicFrameLocks noChangeAspect="1"/>
          </p:cNvGraphicFramePr>
          <p:nvPr/>
        </p:nvGraphicFramePr>
        <p:xfrm>
          <a:off x="304800" y="5410200"/>
          <a:ext cx="51530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876800" imgH="393700" progId="Excel.Sheet.8">
                  <p:embed/>
                </p:oleObj>
              </mc:Choice>
              <mc:Fallback>
                <p:oleObj name="Worksheet" r:id="rId4" imgW="4876800" imgH="3937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410200"/>
                        <a:ext cx="51530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5"/>
          <p:cNvGraphicFramePr>
            <a:graphicFrameLocks noChangeAspect="1"/>
          </p:cNvGraphicFramePr>
          <p:nvPr/>
        </p:nvGraphicFramePr>
        <p:xfrm>
          <a:off x="5487988" y="2362200"/>
          <a:ext cx="3656012" cy="258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57700" imgH="3149600" progId="Equation.3">
                  <p:embed/>
                </p:oleObj>
              </mc:Choice>
              <mc:Fallback>
                <p:oleObj name="Equation" r:id="rId6" imgW="4457700" imgH="314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88" y="2362200"/>
                        <a:ext cx="3656012" cy="258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5867400" y="1295400"/>
            <a:ext cx="274320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/>
              <a:t>A: attributes</a:t>
            </a:r>
          </a:p>
          <a:p>
            <a:pPr>
              <a:spcBef>
                <a:spcPct val="50000"/>
              </a:spcBef>
              <a:defRPr/>
            </a:pPr>
            <a:r>
              <a:rPr lang="en-US"/>
              <a:t>M: mammals</a:t>
            </a:r>
          </a:p>
          <a:p>
            <a:pPr>
              <a:spcBef>
                <a:spcPct val="50000"/>
              </a:spcBef>
              <a:defRPr/>
            </a:pPr>
            <a:r>
              <a:rPr lang="en-US"/>
              <a:t>N: non-mammals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5791200" y="5257800"/>
            <a:ext cx="27432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/>
              <a:t>P(A|M)P(M) &gt; P(A|N)P(N)</a:t>
            </a:r>
          </a:p>
          <a:p>
            <a:pPr>
              <a:spcBef>
                <a:spcPct val="50000"/>
              </a:spcBef>
              <a:defRPr/>
            </a:pPr>
            <a:r>
              <a:rPr lang="en-US"/>
              <a:t>=&gt; Mammals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ＭＳ Ｐゴシック" pitchFamily="34" charset="-128"/>
              </a:rPr>
              <a:t>Naïve Bayes (Summary)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18500" cy="5181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Robust to isolated noise points</a:t>
            </a:r>
          </a:p>
          <a:p>
            <a:pPr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Handle missing values by ignoring the instance during probability estimate calculations</a:t>
            </a:r>
          </a:p>
          <a:p>
            <a:pPr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Robust to irrelevant attributes</a:t>
            </a:r>
          </a:p>
          <a:p>
            <a:pPr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Redundant and correlated attributes will violate class conditional assumption</a:t>
            </a:r>
          </a:p>
          <a:p>
            <a:pPr lvl="2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/>
              <a:t>Use other techniques such as Bayesian Belief Networks (BBN)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Bayesian Belief Networks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Provides graphical representation of probabilistic relationships among a set of random variables</a:t>
            </a:r>
          </a:p>
          <a:p>
            <a:pPr>
              <a:defRPr/>
            </a:pPr>
            <a:r>
              <a:rPr lang="en-US" dirty="0">
                <a:cs typeface="+mn-cs"/>
              </a:rPr>
              <a:t>Consists of: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A directed acyclic graph (dag)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Node corresponds to a variable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Arc corresponds to dependence </a:t>
            </a:r>
            <a:br>
              <a:rPr lang="en-US" dirty="0"/>
            </a:br>
            <a:r>
              <a:rPr lang="en-US" dirty="0"/>
              <a:t>relationship between a pair of variables</a:t>
            </a:r>
          </a:p>
          <a:p>
            <a:pPr lvl="2">
              <a:buFont typeface="Wingdings" charset="0"/>
              <a:buChar char="u"/>
              <a:defRPr/>
            </a:pPr>
            <a:endParaRPr lang="en-US" dirty="0"/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A probability table associating each node to its immediate parent</a:t>
            </a:r>
          </a:p>
        </p:txBody>
      </p:sp>
      <p:graphicFrame>
        <p:nvGraphicFramePr>
          <p:cNvPr id="43011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13665154"/>
              </p:ext>
            </p:extLst>
          </p:nvPr>
        </p:nvGraphicFramePr>
        <p:xfrm>
          <a:off x="6651625" y="2609850"/>
          <a:ext cx="2127250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190839" imgH="1685895" progId="Visio.Drawing.11">
                  <p:embed/>
                </p:oleObj>
              </mc:Choice>
              <mc:Fallback>
                <p:oleObj name="Visio" r:id="rId2" imgW="2190839" imgH="168589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2609850"/>
                        <a:ext cx="2127250" cy="163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Conditional Independence</a:t>
            </a:r>
          </a:p>
        </p:txBody>
      </p:sp>
      <p:sp>
        <p:nvSpPr>
          <p:cNvPr id="111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4953000"/>
            <a:ext cx="8318500" cy="13716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A node in a Bayesian network is conditionally independent of all of its </a:t>
            </a:r>
            <a:r>
              <a:rPr lang="en-US" dirty="0" err="1">
                <a:cs typeface="+mn-cs"/>
              </a:rPr>
              <a:t>nondescendants</a:t>
            </a:r>
            <a:r>
              <a:rPr lang="en-US" dirty="0">
                <a:cs typeface="+mn-cs"/>
              </a:rPr>
              <a:t>, if its parents are known</a:t>
            </a:r>
          </a:p>
        </p:txBody>
      </p:sp>
      <p:graphicFrame>
        <p:nvGraphicFramePr>
          <p:cNvPr id="44035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143000" y="1219200"/>
          <a:ext cx="2649538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209800" imgH="2794000" progId="Visio.Drawing.6">
                  <p:embed/>
                </p:oleObj>
              </mc:Choice>
              <mc:Fallback>
                <p:oleObj name="Visio" r:id="rId2" imgW="2209800" imgH="27940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219200"/>
                        <a:ext cx="2649538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4800600" y="1752600"/>
            <a:ext cx="36576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2400"/>
              <a:t>D is parent of C</a:t>
            </a:r>
          </a:p>
          <a:p>
            <a:pPr>
              <a:spcBef>
                <a:spcPct val="50000"/>
              </a:spcBef>
              <a:defRPr/>
            </a:pPr>
            <a:r>
              <a:rPr lang="en-US" sz="2400"/>
              <a:t>A is child of C</a:t>
            </a:r>
          </a:p>
          <a:p>
            <a:pPr>
              <a:spcBef>
                <a:spcPct val="50000"/>
              </a:spcBef>
              <a:defRPr/>
            </a:pPr>
            <a:r>
              <a:rPr lang="en-US" sz="2400"/>
              <a:t>B is descendant of D</a:t>
            </a:r>
          </a:p>
          <a:p>
            <a:pPr>
              <a:spcBef>
                <a:spcPct val="50000"/>
              </a:spcBef>
              <a:defRPr/>
            </a:pPr>
            <a:r>
              <a:rPr lang="en-US" sz="2400"/>
              <a:t>D is ancestor of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513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Conditional Independence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Naïve Bayes assumption:</a:t>
            </a:r>
          </a:p>
        </p:txBody>
      </p:sp>
      <p:graphicFrame>
        <p:nvGraphicFramePr>
          <p:cNvPr id="45059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524000" y="2362200"/>
          <a:ext cx="5486400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94200" imgH="1727200" progId="Visio.Drawing.6">
                  <p:embed/>
                </p:oleObj>
              </mc:Choice>
              <mc:Fallback>
                <p:oleObj name="Visio" r:id="rId2" imgW="4394200" imgH="172720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362200"/>
                        <a:ext cx="5486400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Probability Tables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If X does not have any parents, table contains prior probability P(X)</a:t>
            </a:r>
          </a:p>
          <a:p>
            <a:pPr>
              <a:buFont typeface="Monotype Sorts" pitchFamily="-84" charset="2"/>
              <a:buChar char="l"/>
              <a:defRPr/>
            </a:pPr>
            <a:endParaRPr lang="en-US" altLang="en-US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If X has only one parent (Y), table contains conditional probability P(X|Y)</a:t>
            </a:r>
          </a:p>
          <a:p>
            <a:pPr>
              <a:buFont typeface="Monotype Sorts" pitchFamily="-84" charset="2"/>
              <a:buChar char="l"/>
              <a:defRPr/>
            </a:pPr>
            <a:endParaRPr lang="en-US" altLang="en-US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en-US" dirty="0">
                <a:ea typeface="ＭＳ Ｐゴシック" pitchFamily="34" charset="-128"/>
              </a:rPr>
              <a:t>If X has multiple parents (Y</a:t>
            </a:r>
            <a:r>
              <a:rPr lang="en-US" altLang="en-US" baseline="-25000" dirty="0">
                <a:ea typeface="ＭＳ Ｐゴシック" pitchFamily="34" charset="-128"/>
              </a:rPr>
              <a:t>1</a:t>
            </a:r>
            <a:r>
              <a:rPr lang="en-US" altLang="en-US" dirty="0">
                <a:ea typeface="ＭＳ Ｐゴシック" pitchFamily="34" charset="-128"/>
              </a:rPr>
              <a:t>, Y</a:t>
            </a:r>
            <a:r>
              <a:rPr lang="en-US" altLang="en-US" baseline="-25000" dirty="0">
                <a:ea typeface="ＭＳ Ｐゴシック" pitchFamily="34" charset="-128"/>
              </a:rPr>
              <a:t>2</a:t>
            </a:r>
            <a:r>
              <a:rPr lang="en-US" altLang="en-US" dirty="0">
                <a:ea typeface="ＭＳ Ｐゴシック" pitchFamily="34" charset="-128"/>
              </a:rPr>
              <a:t>,…, </a:t>
            </a:r>
            <a:r>
              <a:rPr lang="en-US" altLang="en-US" dirty="0" err="1">
                <a:ea typeface="ＭＳ Ｐゴシック" pitchFamily="34" charset="-128"/>
              </a:rPr>
              <a:t>Y</a:t>
            </a:r>
            <a:r>
              <a:rPr lang="en-US" altLang="en-US" baseline="-25000" dirty="0" err="1">
                <a:ea typeface="ＭＳ Ｐゴシック" pitchFamily="34" charset="-128"/>
              </a:rPr>
              <a:t>k</a:t>
            </a:r>
            <a:r>
              <a:rPr lang="en-US" altLang="en-US" dirty="0">
                <a:ea typeface="ＭＳ Ｐゴシック" pitchFamily="34" charset="-128"/>
              </a:rPr>
              <a:t>), table contains conditional probability P(X|Y</a:t>
            </a:r>
            <a:r>
              <a:rPr lang="en-US" altLang="en-US" baseline="-25000" dirty="0">
                <a:ea typeface="ＭＳ Ｐゴシック" pitchFamily="34" charset="-128"/>
              </a:rPr>
              <a:t>1</a:t>
            </a:r>
            <a:r>
              <a:rPr lang="en-US" altLang="en-US" dirty="0">
                <a:ea typeface="ＭＳ Ｐゴシック" pitchFamily="34" charset="-128"/>
              </a:rPr>
              <a:t>, Y</a:t>
            </a:r>
            <a:r>
              <a:rPr lang="en-US" altLang="en-US" baseline="-25000" dirty="0">
                <a:ea typeface="ＭＳ Ｐゴシック" pitchFamily="34" charset="-128"/>
              </a:rPr>
              <a:t>2</a:t>
            </a:r>
            <a:r>
              <a:rPr lang="en-US" altLang="en-US" dirty="0">
                <a:ea typeface="ＭＳ Ｐゴシック" pitchFamily="34" charset="-128"/>
              </a:rPr>
              <a:t>,…, </a:t>
            </a:r>
            <a:r>
              <a:rPr lang="en-US" altLang="en-US" dirty="0" err="1">
                <a:ea typeface="ＭＳ Ｐゴシック" pitchFamily="34" charset="-128"/>
              </a:rPr>
              <a:t>Y</a:t>
            </a:r>
            <a:r>
              <a:rPr lang="en-US" altLang="en-US" baseline="-25000" dirty="0" err="1">
                <a:ea typeface="ＭＳ Ｐゴシック" pitchFamily="34" charset="-128"/>
              </a:rPr>
              <a:t>k</a:t>
            </a:r>
            <a:r>
              <a:rPr lang="en-US" altLang="en-US" dirty="0">
                <a:ea typeface="ＭＳ Ｐゴシック" pitchFamily="34" charset="-128"/>
              </a:rPr>
              <a:t>)</a:t>
            </a:r>
          </a:p>
        </p:txBody>
      </p:sp>
      <p:graphicFrame>
        <p:nvGraphicFramePr>
          <p:cNvPr id="46083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7772400" y="1905000"/>
          <a:ext cx="517525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20700" imgH="1727200" progId="Visio.Drawing.6">
                  <p:embed/>
                </p:oleObj>
              </mc:Choice>
              <mc:Fallback>
                <p:oleObj name="Visio" r:id="rId2" imgW="520700" imgH="17272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905000"/>
                        <a:ext cx="517525" cy="171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Bayesian Belief Network</a:t>
            </a:r>
          </a:p>
        </p:txBody>
      </p:sp>
      <p:graphicFrame>
        <p:nvGraphicFramePr>
          <p:cNvPr id="47106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2826640"/>
              </p:ext>
            </p:extLst>
          </p:nvPr>
        </p:nvGraphicFramePr>
        <p:xfrm>
          <a:off x="588963" y="1152525"/>
          <a:ext cx="7962900" cy="516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887216" imgH="6410453" progId="Visio.Drawing.11">
                  <p:embed/>
                </p:oleObj>
              </mc:Choice>
              <mc:Fallback>
                <p:oleObj name="Visio" r:id="rId2" imgW="9887216" imgH="6410453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1152525"/>
                        <a:ext cx="7962900" cy="516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Inferencing using BBN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>
                <a:cs typeface="+mn-cs"/>
              </a:rPr>
              <a:t>Given: X = (E=No, D=Yes, CP=Yes, BP=High)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400" dirty="0"/>
              <a:t>Compute P(HD|E,D,CP,BP)?</a:t>
            </a:r>
          </a:p>
          <a:p>
            <a:pPr lvl="4">
              <a:defRPr/>
            </a:pPr>
            <a:endParaRPr lang="en-US" sz="700" dirty="0">
              <a:latin typeface="Times New Roman" charset="0"/>
            </a:endParaRPr>
          </a:p>
          <a:p>
            <a:pPr>
              <a:defRPr/>
            </a:pPr>
            <a:r>
              <a:rPr lang="en-US" sz="2400" dirty="0">
                <a:cs typeface="+mn-cs"/>
              </a:rPr>
              <a:t>P(HD=Yes| E=No,D=Yes) = 0.55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P(CP=Yes| HD=Yes) = 0.8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P(BP=High| HD=Yes) = 0.85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P(HD=Yes|E=No,D=Yes,CP=Yes,BP=High) </a:t>
            </a:r>
            <a:br>
              <a:rPr lang="en-US" sz="2000" dirty="0"/>
            </a:br>
            <a:r>
              <a:rPr lang="en-US" sz="2000" dirty="0">
                <a:sym typeface="Symbol" charset="0"/>
              </a:rPr>
              <a:t> 0.55  0.8  0.85 = 0.374</a:t>
            </a:r>
          </a:p>
          <a:p>
            <a:pPr lvl="4">
              <a:defRPr/>
            </a:pPr>
            <a:endParaRPr lang="en-US" sz="700" dirty="0">
              <a:latin typeface="Times New Roman" charset="0"/>
              <a:sym typeface="Symbol" charset="0"/>
            </a:endParaRPr>
          </a:p>
          <a:p>
            <a:pPr>
              <a:defRPr/>
            </a:pPr>
            <a:r>
              <a:rPr lang="en-US" sz="2400" dirty="0">
                <a:cs typeface="+mn-cs"/>
              </a:rPr>
              <a:t>P(HD=No| E=No,D=Yes) = 0.45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P(CP=Yes| HD=No) = 0.01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P(BP=High| HD=No) = 0.2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P(HD=No|E=No,D=Yes,CP=Yes,BP=High) </a:t>
            </a:r>
            <a:br>
              <a:rPr lang="en-US" sz="2000" dirty="0"/>
            </a:br>
            <a:r>
              <a:rPr lang="en-US" sz="2000" dirty="0">
                <a:sym typeface="Symbol" charset="0"/>
              </a:rPr>
              <a:t> 0.45  0.01  0.2 = 0.0009</a:t>
            </a:r>
          </a:p>
        </p:txBody>
      </p:sp>
      <p:sp>
        <p:nvSpPr>
          <p:cNvPr id="24580" name="AutoShape 4"/>
          <p:cNvSpPr>
            <a:spLocks/>
          </p:cNvSpPr>
          <p:nvPr/>
        </p:nvSpPr>
        <p:spPr bwMode="auto">
          <a:xfrm>
            <a:off x="6324600" y="2362200"/>
            <a:ext cx="609600" cy="3657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7086600" y="3749675"/>
            <a:ext cx="1828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2400"/>
              <a:t>Classify X as Yes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Classifiers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Basic idea:</a:t>
            </a:r>
          </a:p>
          <a:p>
            <a:pPr lvl="1"/>
            <a:r>
              <a:rPr lang="en-US" altLang="en-US"/>
              <a:t>If it walks like a duck, quacks like a duck, then it’s probably a duck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2819400"/>
            <a:ext cx="8229600" cy="3429000"/>
            <a:chOff x="192" y="1776"/>
            <a:chExt cx="5184" cy="2160"/>
          </a:xfrm>
        </p:grpSpPr>
        <p:pic>
          <p:nvPicPr>
            <p:cNvPr id="38930" name="Picture 5" descr="j034580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160"/>
              <a:ext cx="528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1" name="Picture 6" descr="j023958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6" y="2640"/>
              <a:ext cx="720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2" name="Picture 7" descr="j035038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1968"/>
              <a:ext cx="444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3" name="Picture 8" descr="j033063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2976"/>
              <a:ext cx="373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4" name="Picture 9" descr="j035038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168"/>
              <a:ext cx="624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5" name="Picture 10" descr="j035035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2448"/>
              <a:ext cx="720" cy="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36" name="Oval 11"/>
            <p:cNvSpPr>
              <a:spLocks noChangeArrowheads="1"/>
            </p:cNvSpPr>
            <p:nvPr/>
          </p:nvSpPr>
          <p:spPr bwMode="auto">
            <a:xfrm>
              <a:off x="816" y="1776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37" name="Text Box 12"/>
            <p:cNvSpPr txBox="1">
              <a:spLocks noChangeArrowheads="1"/>
            </p:cNvSpPr>
            <p:nvPr/>
          </p:nvSpPr>
          <p:spPr bwMode="auto">
            <a:xfrm>
              <a:off x="192" y="3312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Training Records</a:t>
              </a:r>
            </a:p>
          </p:txBody>
        </p:sp>
        <p:sp>
          <p:nvSpPr>
            <p:cNvPr id="38938" name="Text Box 13"/>
            <p:cNvSpPr txBox="1">
              <a:spLocks noChangeArrowheads="1"/>
            </p:cNvSpPr>
            <p:nvPr/>
          </p:nvSpPr>
          <p:spPr bwMode="auto">
            <a:xfrm>
              <a:off x="4512" y="2064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/>
                <a:t>Test Record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2667000" y="3048000"/>
            <a:ext cx="4572000" cy="2286000"/>
            <a:chOff x="1680" y="1920"/>
            <a:chExt cx="2880" cy="1440"/>
          </a:xfrm>
        </p:grpSpPr>
        <p:sp>
          <p:nvSpPr>
            <p:cNvPr id="38923" name="Text Box 15"/>
            <p:cNvSpPr txBox="1">
              <a:spLocks noChangeArrowheads="1"/>
            </p:cNvSpPr>
            <p:nvPr/>
          </p:nvSpPr>
          <p:spPr bwMode="auto">
            <a:xfrm>
              <a:off x="3312" y="1920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Compute Distance</a:t>
              </a:r>
            </a:p>
          </p:txBody>
        </p:sp>
        <p:grpSp>
          <p:nvGrpSpPr>
            <p:cNvPr id="38924" name="Group 16"/>
            <p:cNvGrpSpPr>
              <a:grpSpLocks/>
            </p:cNvGrpSpPr>
            <p:nvPr/>
          </p:nvGrpSpPr>
          <p:grpSpPr bwMode="auto">
            <a:xfrm>
              <a:off x="1680" y="2256"/>
              <a:ext cx="2880" cy="1104"/>
              <a:chOff x="1680" y="2256"/>
              <a:chExt cx="2880" cy="1104"/>
            </a:xfrm>
          </p:grpSpPr>
          <p:sp>
            <p:nvSpPr>
              <p:cNvPr id="38925" name="Line 17"/>
              <p:cNvSpPr>
                <a:spLocks noChangeShapeType="1"/>
              </p:cNvSpPr>
              <p:nvPr/>
            </p:nvSpPr>
            <p:spPr bwMode="auto">
              <a:xfrm>
                <a:off x="2832" y="2256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6" name="Line 18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7" name="Line 19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8" name="Line 2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9" name="Line 21"/>
              <p:cNvSpPr>
                <a:spLocks noChangeShapeType="1"/>
              </p:cNvSpPr>
              <p:nvPr/>
            </p:nvSpPr>
            <p:spPr bwMode="auto">
              <a:xfrm>
                <a:off x="1920" y="2352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4038600" y="4572000"/>
            <a:ext cx="3352800" cy="1327150"/>
            <a:chOff x="2544" y="2880"/>
            <a:chExt cx="2112" cy="836"/>
          </a:xfrm>
        </p:grpSpPr>
        <p:sp>
          <p:nvSpPr>
            <p:cNvPr id="38919" name="Text Box 23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Choose k of the “nearest” records</a:t>
              </a:r>
            </a:p>
          </p:txBody>
        </p:sp>
        <p:grpSp>
          <p:nvGrpSpPr>
            <p:cNvPr id="38920" name="Group 24"/>
            <p:cNvGrpSpPr>
              <a:grpSpLocks/>
            </p:cNvGrpSpPr>
            <p:nvPr/>
          </p:nvGrpSpPr>
          <p:grpSpPr bwMode="auto">
            <a:xfrm>
              <a:off x="2544" y="2880"/>
              <a:ext cx="2016" cy="480"/>
              <a:chOff x="2544" y="2880"/>
              <a:chExt cx="2016" cy="480"/>
            </a:xfrm>
          </p:grpSpPr>
          <p:sp>
            <p:nvSpPr>
              <p:cNvPr id="38921" name="Line 25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2" name="Line 26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3_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3_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2_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1_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7120</TotalTime>
  <Pages>3</Pages>
  <Words>2408</Words>
  <Application>Microsoft Office PowerPoint</Application>
  <PresentationFormat>On-screen Show (4:3)</PresentationFormat>
  <Paragraphs>274</Paragraphs>
  <Slides>26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42" baseType="lpstr">
      <vt:lpstr>ＭＳ Ｐゴシック</vt:lpstr>
      <vt:lpstr>Arial</vt:lpstr>
      <vt:lpstr>Cambria Math</vt:lpstr>
      <vt:lpstr>Monotype Sorts</vt:lpstr>
      <vt:lpstr>Symbol</vt:lpstr>
      <vt:lpstr>Tahoma</vt:lpstr>
      <vt:lpstr>Times New Roman</vt:lpstr>
      <vt:lpstr>Wingdings</vt:lpstr>
      <vt:lpstr>LC.BRev.FY97</vt:lpstr>
      <vt:lpstr>3_LC.BRev.FY97</vt:lpstr>
      <vt:lpstr>2_LC.BRev.FY97</vt:lpstr>
      <vt:lpstr>1_LC.BRev.FY97</vt:lpstr>
      <vt:lpstr>Equation</vt:lpstr>
      <vt:lpstr>VISIO</vt:lpstr>
      <vt:lpstr>Worksheet</vt:lpstr>
      <vt:lpstr>Visio</vt:lpstr>
      <vt:lpstr>Data Mining  Classification: Alternative Techniques</vt:lpstr>
      <vt:lpstr>Bayes Classifier</vt:lpstr>
      <vt:lpstr>Using Bayes Theorem for Classification</vt:lpstr>
      <vt:lpstr>Using Bayes Theorem for Classification</vt:lpstr>
      <vt:lpstr>Example Data</vt:lpstr>
      <vt:lpstr>Example Data</vt:lpstr>
      <vt:lpstr>Conditional Independence</vt:lpstr>
      <vt:lpstr>Naïve Bayes Classifier</vt:lpstr>
      <vt:lpstr>Naïve Bayes on Example Data</vt:lpstr>
      <vt:lpstr>Estimate Probabilities from Data</vt:lpstr>
      <vt:lpstr>Estimate Probabilities from Data</vt:lpstr>
      <vt:lpstr>Estimate Probabilities from Data</vt:lpstr>
      <vt:lpstr>Example of Naïve Bayes Classifier</vt:lpstr>
      <vt:lpstr>Naïve Bayes Classifier can make decisions with partial information about attributes in the test record</vt:lpstr>
      <vt:lpstr>Issues with Naïve Bayes Classifier</vt:lpstr>
      <vt:lpstr>Issues with Naïve Bayes Classifier</vt:lpstr>
      <vt:lpstr>Issues with Naïve Bayes Classifier</vt:lpstr>
      <vt:lpstr>Example of Naïve Bayes Classifier</vt:lpstr>
      <vt:lpstr>Naïve Bayes (Summary)</vt:lpstr>
      <vt:lpstr>Bayesian Belief Networks</vt:lpstr>
      <vt:lpstr>Conditional Independence</vt:lpstr>
      <vt:lpstr>Conditional Independence</vt:lpstr>
      <vt:lpstr>Probability Tables</vt:lpstr>
      <vt:lpstr>Example of Bayesian Belief Network</vt:lpstr>
      <vt:lpstr>Example of Inferencing using BBN</vt:lpstr>
      <vt:lpstr>Nearest Neighbor Classifiers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 Classification: Alternative Techniques</dc:title>
  <dc:creator>anujkarpatne@gmail.com</dc:creator>
  <cp:lastModifiedBy>Eesha tur babar</cp:lastModifiedBy>
  <cp:revision>44</cp:revision>
  <cp:lastPrinted>2019-09-13T15:48:11Z</cp:lastPrinted>
  <dcterms:created xsi:type="dcterms:W3CDTF">2018-02-14T20:49:24Z</dcterms:created>
  <dcterms:modified xsi:type="dcterms:W3CDTF">2024-02-18T03:56:51Z</dcterms:modified>
</cp:coreProperties>
</file>