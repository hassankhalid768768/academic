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0"/>
  </p:notesMasterIdLst>
  <p:handoutMasterIdLst>
    <p:handoutMasterId r:id="rId51"/>
  </p:handoutMasterIdLst>
  <p:sldIdLst>
    <p:sldId id="687" r:id="rId2"/>
    <p:sldId id="716" r:id="rId3"/>
    <p:sldId id="717" r:id="rId4"/>
    <p:sldId id="718" r:id="rId5"/>
    <p:sldId id="719" r:id="rId6"/>
    <p:sldId id="720" r:id="rId7"/>
    <p:sldId id="721" r:id="rId8"/>
    <p:sldId id="722" r:id="rId9"/>
    <p:sldId id="723" r:id="rId10"/>
    <p:sldId id="724" r:id="rId11"/>
    <p:sldId id="725" r:id="rId12"/>
    <p:sldId id="726" r:id="rId13"/>
    <p:sldId id="727" r:id="rId14"/>
    <p:sldId id="728" r:id="rId15"/>
    <p:sldId id="729" r:id="rId16"/>
    <p:sldId id="730" r:id="rId17"/>
    <p:sldId id="755" r:id="rId18"/>
    <p:sldId id="759" r:id="rId19"/>
    <p:sldId id="756" r:id="rId20"/>
    <p:sldId id="757" r:id="rId21"/>
    <p:sldId id="758" r:id="rId22"/>
    <p:sldId id="731" r:id="rId23"/>
    <p:sldId id="777" r:id="rId24"/>
    <p:sldId id="776" r:id="rId25"/>
    <p:sldId id="733" r:id="rId26"/>
    <p:sldId id="769" r:id="rId27"/>
    <p:sldId id="770" r:id="rId28"/>
    <p:sldId id="771" r:id="rId29"/>
    <p:sldId id="735" r:id="rId30"/>
    <p:sldId id="736" r:id="rId31"/>
    <p:sldId id="737" r:id="rId32"/>
    <p:sldId id="738" r:id="rId33"/>
    <p:sldId id="739" r:id="rId34"/>
    <p:sldId id="740" r:id="rId35"/>
    <p:sldId id="767" r:id="rId36"/>
    <p:sldId id="741" r:id="rId37"/>
    <p:sldId id="742" r:id="rId38"/>
    <p:sldId id="772" r:id="rId39"/>
    <p:sldId id="743" r:id="rId40"/>
    <p:sldId id="744" r:id="rId41"/>
    <p:sldId id="745" r:id="rId42"/>
    <p:sldId id="746" r:id="rId43"/>
    <p:sldId id="747" r:id="rId44"/>
    <p:sldId id="773" r:id="rId45"/>
    <p:sldId id="774" r:id="rId46"/>
    <p:sldId id="775" r:id="rId47"/>
    <p:sldId id="750" r:id="rId48"/>
    <p:sldId id="778" r:id="rId49"/>
  </p:sldIdLst>
  <p:sldSz cx="9144000" cy="6858000" type="screen4x3"/>
  <p:notesSz cx="6934200" cy="9220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charset="0"/>
        <a:ea typeface="+mn-ea"/>
        <a:cs typeface="+mn-cs"/>
      </a:defRPr>
    </a:lvl1pPr>
    <a:lvl2pPr marL="457200" algn="l" rtl="0" eaLnBrk="0" fontAlgn="base" hangingPunct="0">
      <a:spcBef>
        <a:spcPct val="0"/>
      </a:spcBef>
      <a:spcAft>
        <a:spcPct val="0"/>
      </a:spcAft>
      <a:defRPr sz="1400" b="1" kern="1200">
        <a:solidFill>
          <a:schemeClr val="tx1"/>
        </a:solidFill>
        <a:latin typeface="Arial" charset="0"/>
        <a:ea typeface="+mn-ea"/>
        <a:cs typeface="+mn-cs"/>
      </a:defRPr>
    </a:lvl2pPr>
    <a:lvl3pPr marL="914400" algn="l" rtl="0" eaLnBrk="0" fontAlgn="base" hangingPunct="0">
      <a:spcBef>
        <a:spcPct val="0"/>
      </a:spcBef>
      <a:spcAft>
        <a:spcPct val="0"/>
      </a:spcAft>
      <a:defRPr sz="1400" b="1" kern="1200">
        <a:solidFill>
          <a:schemeClr val="tx1"/>
        </a:solidFill>
        <a:latin typeface="Arial" charset="0"/>
        <a:ea typeface="+mn-ea"/>
        <a:cs typeface="+mn-cs"/>
      </a:defRPr>
    </a:lvl3pPr>
    <a:lvl4pPr marL="1371600" algn="l" rtl="0" eaLnBrk="0" fontAlgn="base" hangingPunct="0">
      <a:spcBef>
        <a:spcPct val="0"/>
      </a:spcBef>
      <a:spcAft>
        <a:spcPct val="0"/>
      </a:spcAft>
      <a:defRPr sz="1400" b="1" kern="1200">
        <a:solidFill>
          <a:schemeClr val="tx1"/>
        </a:solidFill>
        <a:latin typeface="Arial" charset="0"/>
        <a:ea typeface="+mn-ea"/>
        <a:cs typeface="+mn-cs"/>
      </a:defRPr>
    </a:lvl4pPr>
    <a:lvl5pPr marL="1828800" algn="l" rtl="0" eaLnBrk="0" fontAlgn="base" hangingPunct="0">
      <a:spcBef>
        <a:spcPct val="0"/>
      </a:spcBef>
      <a:spcAft>
        <a:spcPct val="0"/>
      </a:spcAft>
      <a:defRPr sz="1400" b="1" kern="1200">
        <a:solidFill>
          <a:schemeClr val="tx1"/>
        </a:solidFill>
        <a:latin typeface="Arial" charset="0"/>
        <a:ea typeface="+mn-ea"/>
        <a:cs typeface="+mn-cs"/>
      </a:defRPr>
    </a:lvl5pPr>
    <a:lvl6pPr marL="2286000" algn="l" defTabSz="914400" rtl="0" eaLnBrk="1" latinLnBrk="0" hangingPunct="1">
      <a:defRPr sz="1400" b="1" kern="1200">
        <a:solidFill>
          <a:schemeClr val="tx1"/>
        </a:solidFill>
        <a:latin typeface="Arial" charset="0"/>
        <a:ea typeface="+mn-ea"/>
        <a:cs typeface="+mn-cs"/>
      </a:defRPr>
    </a:lvl6pPr>
    <a:lvl7pPr marL="2743200" algn="l" defTabSz="914400" rtl="0" eaLnBrk="1" latinLnBrk="0" hangingPunct="1">
      <a:defRPr sz="1400" b="1" kern="1200">
        <a:solidFill>
          <a:schemeClr val="tx1"/>
        </a:solidFill>
        <a:latin typeface="Arial" charset="0"/>
        <a:ea typeface="+mn-ea"/>
        <a:cs typeface="+mn-cs"/>
      </a:defRPr>
    </a:lvl7pPr>
    <a:lvl8pPr marL="3200400" algn="l" defTabSz="914400" rtl="0" eaLnBrk="1" latinLnBrk="0" hangingPunct="1">
      <a:defRPr sz="1400" b="1" kern="1200">
        <a:solidFill>
          <a:schemeClr val="tx1"/>
        </a:solidFill>
        <a:latin typeface="Arial" charset="0"/>
        <a:ea typeface="+mn-ea"/>
        <a:cs typeface="+mn-cs"/>
      </a:defRPr>
    </a:lvl8pPr>
    <a:lvl9pPr marL="3657600" algn="l" defTabSz="914400" rtl="0" eaLnBrk="1" latinLnBrk="0" hangingPunct="1">
      <a:defRPr sz="1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2905">
          <p15:clr>
            <a:srgbClr val="A4A3A4"/>
          </p15:clr>
        </p15:guide>
        <p15:guide id="2" pos="218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A8487"/>
    <a:srgbClr val="1C5A61"/>
    <a:srgbClr val="0C6D9C"/>
    <a:srgbClr val="FF0000"/>
    <a:srgbClr val="CC3300"/>
    <a:srgbClr val="F5F5F5"/>
    <a:srgbClr val="F4F4F4"/>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02" autoAdjust="0"/>
    <p:restoredTop sz="94551" autoAdjust="0"/>
  </p:normalViewPr>
  <p:slideViewPr>
    <p:cSldViewPr>
      <p:cViewPr varScale="1">
        <p:scale>
          <a:sx n="58" d="100"/>
          <a:sy n="58" d="100"/>
        </p:scale>
        <p:origin x="1398" y="90"/>
      </p:cViewPr>
      <p:guideLst>
        <p:guide orient="horz" pos="2160"/>
        <p:guide pos="2736"/>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11094"/>
    </p:cViewPr>
  </p:sorterViewPr>
  <p:notesViewPr>
    <p:cSldViewPr>
      <p:cViewPr varScale="1">
        <p:scale>
          <a:sx n="44" d="100"/>
          <a:sy n="44" d="100"/>
        </p:scale>
        <p:origin x="2328" y="56"/>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22369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22338" y="4379913"/>
            <a:ext cx="5087937" cy="4146550"/>
          </a:xfrm>
          <a:prstGeom prst="rect">
            <a:avLst/>
          </a:prstGeom>
          <a:noFill/>
          <a:ln w="12700">
            <a:noFill/>
            <a:miter lim="800000"/>
            <a:headEnd/>
            <a:tailEnd/>
          </a:ln>
          <a:effectLst/>
        </p:spPr>
        <p:txBody>
          <a:bodyPr vert="horz" wrap="square" lIns="95912" tIns="47958" rIns="95912" bIns="47958"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1" name="Rectangle 3"/>
          <p:cNvSpPr>
            <a:spLocks noGrp="1" noRot="1" noChangeAspect="1" noChangeArrowheads="1" noTextEdit="1"/>
          </p:cNvSpPr>
          <p:nvPr>
            <p:ph type="sldImg" idx="2"/>
          </p:nvPr>
        </p:nvSpPr>
        <p:spPr bwMode="auto">
          <a:xfrm>
            <a:off x="1173163" y="698500"/>
            <a:ext cx="4591050" cy="3443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860120773"/>
      </p:ext>
    </p:extLst>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xfrm>
            <a:off x="1166813" y="693738"/>
            <a:ext cx="4605337" cy="3454400"/>
          </a:xfrm>
          <a:solidFill>
            <a:srgbClr val="FFFFFF"/>
          </a:solidFill>
          <a:ln/>
        </p:spPr>
      </p:sp>
      <p:sp>
        <p:nvSpPr>
          <p:cNvPr id="4099" name="Rectangle 3"/>
          <p:cNvSpPr>
            <a:spLocks noGrp="1" noChangeArrowheads="1"/>
          </p:cNvSpPr>
          <p:nvPr>
            <p:ph type="body" idx="1"/>
          </p:nvPr>
        </p:nvSpPr>
        <p:spPr>
          <a:xfrm>
            <a:off x="923925" y="4379913"/>
            <a:ext cx="5086350" cy="4146550"/>
          </a:xfrm>
          <a:solidFill>
            <a:srgbClr val="FFFFFF"/>
          </a:solidFill>
          <a:ln>
            <a:solidFill>
              <a:srgbClr val="000000"/>
            </a:solidFill>
          </a:ln>
        </p:spPr>
        <p:txBody>
          <a:bodyPr lIns="90727" tIns="45359" rIns="90727" bIns="45359"/>
          <a:lstStyle/>
          <a:p>
            <a:endParaRPr lang="en-US" altLang="en-US"/>
          </a:p>
        </p:txBody>
      </p:sp>
    </p:spTree>
    <p:extLst>
      <p:ext uri="{BB962C8B-B14F-4D97-AF65-F5344CB8AC3E}">
        <p14:creationId xmlns:p14="http://schemas.microsoft.com/office/powerpoint/2010/main" val="1166411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1166813" y="693738"/>
            <a:ext cx="4605337" cy="3454400"/>
          </a:xfrm>
          <a:ln/>
        </p:spPr>
      </p:sp>
      <p:sp>
        <p:nvSpPr>
          <p:cNvPr id="44035" name="Rectangle 3"/>
          <p:cNvSpPr>
            <a:spLocks noGrp="1" noChangeArrowheads="1"/>
          </p:cNvSpPr>
          <p:nvPr>
            <p:ph type="body" idx="1"/>
          </p:nvPr>
        </p:nvSpPr>
        <p:spPr>
          <a:xfrm>
            <a:off x="923925" y="4379913"/>
            <a:ext cx="5086350" cy="414655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06" tIns="45348" rIns="90706" bIns="45348"/>
          <a:lstStyle/>
          <a:p>
            <a:endParaRPr lang="en-US" altLang="en-US"/>
          </a:p>
        </p:txBody>
      </p:sp>
    </p:spTree>
    <p:extLst>
      <p:ext uri="{BB962C8B-B14F-4D97-AF65-F5344CB8AC3E}">
        <p14:creationId xmlns:p14="http://schemas.microsoft.com/office/powerpoint/2010/main" val="813916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CMR10"/>
              </a:rPr>
              <a:t>Among the </a:t>
            </a:r>
            <a:r>
              <a:rPr lang="en-US" sz="1800" b="0" i="0" u="none" strike="noStrike" baseline="0" dirty="0" err="1">
                <a:latin typeface="CMR10"/>
              </a:rPr>
              <a:t>itemsets</a:t>
            </a:r>
            <a:r>
              <a:rPr lang="en-US" sz="1800" b="0" i="0" u="none" strike="noStrike" baseline="0" dirty="0">
                <a:latin typeface="CMR10"/>
              </a:rPr>
              <a:t> residing near the border,</a:t>
            </a:r>
          </a:p>
          <a:p>
            <a:pPr algn="l"/>
            <a:r>
              <a:rPr lang="en-US" sz="1800" b="0" i="1" u="none" strike="noStrike" baseline="0" dirty="0">
                <a:latin typeface="CMSY10"/>
              </a:rPr>
              <a:t>{</a:t>
            </a:r>
            <a:r>
              <a:rPr lang="en-US" sz="1800" b="0" i="1" u="none" strike="noStrike" baseline="0" dirty="0">
                <a:latin typeface="CMMI10"/>
              </a:rPr>
              <a:t>a, d</a:t>
            </a:r>
            <a:r>
              <a:rPr lang="en-US" sz="1800" b="0" i="1" u="none" strike="noStrike" baseline="0" dirty="0">
                <a:latin typeface="CMSY10"/>
              </a:rPr>
              <a:t>}</a:t>
            </a:r>
            <a:r>
              <a:rPr lang="en-US" sz="1800" b="0" i="0" u="none" strike="noStrike" baseline="0" dirty="0">
                <a:latin typeface="CMR10"/>
              </a:rPr>
              <a:t>, </a:t>
            </a:r>
            <a:r>
              <a:rPr lang="en-US" sz="1800" b="0" i="1" u="none" strike="noStrike" baseline="0" dirty="0">
                <a:latin typeface="CMSY10"/>
              </a:rPr>
              <a:t>{</a:t>
            </a:r>
            <a:r>
              <a:rPr lang="en-US" sz="1800" b="0" i="1" u="none" strike="noStrike" baseline="0" dirty="0">
                <a:latin typeface="CMMI10"/>
              </a:rPr>
              <a:t>a, c, e</a:t>
            </a:r>
            <a:r>
              <a:rPr lang="en-US" sz="1800" b="0" i="1" u="none" strike="noStrike" baseline="0" dirty="0">
                <a:latin typeface="CMSY10"/>
              </a:rPr>
              <a:t>}</a:t>
            </a:r>
            <a:r>
              <a:rPr lang="en-US" sz="1800" b="0" i="0" u="none" strike="noStrike" baseline="0" dirty="0">
                <a:latin typeface="CMR10"/>
              </a:rPr>
              <a:t>, and </a:t>
            </a:r>
            <a:r>
              <a:rPr lang="en-US" sz="1800" b="0" i="1" u="none" strike="noStrike" baseline="0" dirty="0">
                <a:latin typeface="CMSY10"/>
              </a:rPr>
              <a:t>{</a:t>
            </a:r>
            <a:r>
              <a:rPr lang="en-US" sz="1800" b="0" i="1" u="none" strike="noStrike" baseline="0" dirty="0">
                <a:latin typeface="CMMI10"/>
              </a:rPr>
              <a:t>b, c, d, e</a:t>
            </a:r>
            <a:r>
              <a:rPr lang="en-US" sz="1800" b="0" i="1" u="none" strike="noStrike" baseline="0" dirty="0">
                <a:latin typeface="CMSY10"/>
              </a:rPr>
              <a:t>} </a:t>
            </a:r>
            <a:r>
              <a:rPr lang="en-US" sz="1800" b="0" i="0" u="none" strike="noStrike" baseline="0" dirty="0">
                <a:latin typeface="CMR10"/>
              </a:rPr>
              <a:t>are considered to be maximal frequent </a:t>
            </a:r>
            <a:r>
              <a:rPr lang="en-US" sz="1800" b="0" i="0" u="none" strike="noStrike" baseline="0" dirty="0" err="1">
                <a:latin typeface="CMR10"/>
              </a:rPr>
              <a:t>itemsets</a:t>
            </a:r>
            <a:endParaRPr lang="en-US" sz="1800" b="0" i="0" u="none" strike="noStrike" baseline="0" dirty="0">
              <a:latin typeface="CMR10"/>
            </a:endParaRPr>
          </a:p>
          <a:p>
            <a:pPr algn="l"/>
            <a:r>
              <a:rPr lang="en-US" sz="1800" b="0" i="0" u="none" strike="noStrike" baseline="0" dirty="0">
                <a:latin typeface="CMR10"/>
              </a:rPr>
              <a:t>because their immediate supersets are infrequent. An itemset such as </a:t>
            </a:r>
            <a:r>
              <a:rPr lang="en-US" sz="1800" b="0" i="1" u="none" strike="noStrike" baseline="0" dirty="0">
                <a:latin typeface="CMSY10"/>
              </a:rPr>
              <a:t>{</a:t>
            </a:r>
            <a:r>
              <a:rPr lang="en-US" sz="1800" b="0" i="1" u="none" strike="noStrike" baseline="0" dirty="0">
                <a:latin typeface="CMMI10"/>
              </a:rPr>
              <a:t>a, d</a:t>
            </a:r>
            <a:r>
              <a:rPr lang="en-US" sz="1800" b="0" i="1" u="none" strike="noStrike" baseline="0" dirty="0">
                <a:latin typeface="CMSY10"/>
              </a:rPr>
              <a:t>}</a:t>
            </a:r>
          </a:p>
          <a:p>
            <a:pPr algn="l"/>
            <a:r>
              <a:rPr lang="en-US" sz="1800" b="0" i="0" u="none" strike="noStrike" baseline="0" dirty="0">
                <a:latin typeface="CMR10"/>
              </a:rPr>
              <a:t>is maximal frequent because all of its immediate supersets, </a:t>
            </a:r>
            <a:r>
              <a:rPr lang="en-US" sz="1800" b="0" i="1" u="none" strike="noStrike" baseline="0" dirty="0">
                <a:latin typeface="CMSY10"/>
              </a:rPr>
              <a:t>{</a:t>
            </a:r>
            <a:r>
              <a:rPr lang="en-US" sz="1800" b="0" i="1" u="none" strike="noStrike" baseline="0" dirty="0">
                <a:latin typeface="CMMI10"/>
              </a:rPr>
              <a:t>a, b, d</a:t>
            </a:r>
            <a:r>
              <a:rPr lang="en-US" sz="1800" b="0" i="1" u="none" strike="noStrike" baseline="0" dirty="0">
                <a:latin typeface="CMSY10"/>
              </a:rPr>
              <a:t>}</a:t>
            </a:r>
            <a:r>
              <a:rPr lang="en-US" sz="1800" b="0" i="0" u="none" strike="noStrike" baseline="0" dirty="0">
                <a:latin typeface="CMR10"/>
              </a:rPr>
              <a:t>, </a:t>
            </a:r>
            <a:r>
              <a:rPr lang="en-US" sz="1800" b="0" i="1" u="none" strike="noStrike" baseline="0" dirty="0">
                <a:latin typeface="CMSY10"/>
              </a:rPr>
              <a:t>{</a:t>
            </a:r>
            <a:r>
              <a:rPr lang="en-US" sz="1800" b="0" i="1" u="none" strike="noStrike" baseline="0" dirty="0">
                <a:latin typeface="CMMI10"/>
              </a:rPr>
              <a:t>a, c, d</a:t>
            </a:r>
            <a:r>
              <a:rPr lang="en-US" sz="1800" b="0" i="1" u="none" strike="noStrike" baseline="0" dirty="0">
                <a:latin typeface="CMSY10"/>
              </a:rPr>
              <a:t>}</a:t>
            </a:r>
            <a:r>
              <a:rPr lang="en-US" sz="1800" b="0" i="0" u="none" strike="noStrike" baseline="0" dirty="0">
                <a:latin typeface="CMR10"/>
              </a:rPr>
              <a:t>,</a:t>
            </a:r>
          </a:p>
          <a:p>
            <a:pPr algn="l"/>
            <a:r>
              <a:rPr lang="en-US" sz="1800" b="0" i="0" u="none" strike="noStrike" baseline="0" dirty="0">
                <a:latin typeface="CMR10"/>
              </a:rPr>
              <a:t>and </a:t>
            </a:r>
            <a:r>
              <a:rPr lang="en-US" sz="1800" b="0" i="1" u="none" strike="noStrike" baseline="0" dirty="0">
                <a:latin typeface="CMSY10"/>
              </a:rPr>
              <a:t>{</a:t>
            </a:r>
            <a:r>
              <a:rPr lang="en-US" sz="1800" b="0" i="1" u="none" strike="noStrike" baseline="0" dirty="0">
                <a:latin typeface="CMMI10"/>
              </a:rPr>
              <a:t>a, d, e</a:t>
            </a:r>
            <a:r>
              <a:rPr lang="en-US" sz="1800" b="0" i="1" u="none" strike="noStrike" baseline="0" dirty="0">
                <a:latin typeface="CMSY10"/>
              </a:rPr>
              <a:t>}</a:t>
            </a:r>
            <a:r>
              <a:rPr lang="en-US" sz="1800" b="0" i="0" u="none" strike="noStrike" baseline="0" dirty="0">
                <a:latin typeface="CMR10"/>
              </a:rPr>
              <a:t>, are infrequent. In contrast, </a:t>
            </a:r>
            <a:r>
              <a:rPr lang="en-US" sz="1800" b="0" i="1" u="none" strike="noStrike" baseline="0" dirty="0">
                <a:latin typeface="CMSY10"/>
              </a:rPr>
              <a:t>{</a:t>
            </a:r>
            <a:r>
              <a:rPr lang="en-US" sz="1800" b="0" i="1" u="none" strike="noStrike" baseline="0" dirty="0">
                <a:latin typeface="CMMI10"/>
              </a:rPr>
              <a:t>a, c</a:t>
            </a:r>
            <a:r>
              <a:rPr lang="en-US" sz="1800" b="0" i="1" u="none" strike="noStrike" baseline="0" dirty="0">
                <a:latin typeface="CMSY10"/>
              </a:rPr>
              <a:t>} </a:t>
            </a:r>
            <a:r>
              <a:rPr lang="en-US" sz="1800" b="0" i="0" u="none" strike="noStrike" baseline="0" dirty="0">
                <a:latin typeface="CMR10"/>
              </a:rPr>
              <a:t>is non-maximal because one</a:t>
            </a:r>
          </a:p>
          <a:p>
            <a:pPr algn="l"/>
            <a:r>
              <a:rPr lang="en-US" sz="1800" b="0" i="0" u="none" strike="noStrike" baseline="0" dirty="0">
                <a:latin typeface="CMR10"/>
              </a:rPr>
              <a:t>of its immediate supersets, </a:t>
            </a:r>
            <a:r>
              <a:rPr lang="en-US" sz="1800" b="0" i="1" u="none" strike="noStrike" baseline="0" dirty="0">
                <a:latin typeface="CMSY10"/>
              </a:rPr>
              <a:t>{</a:t>
            </a:r>
            <a:r>
              <a:rPr lang="en-US" sz="1800" b="0" i="1" u="none" strike="noStrike" baseline="0" dirty="0">
                <a:latin typeface="CMMI10"/>
              </a:rPr>
              <a:t>a, c, e</a:t>
            </a:r>
            <a:r>
              <a:rPr lang="en-US" sz="1800" b="0" i="1" u="none" strike="noStrike" baseline="0" dirty="0">
                <a:latin typeface="CMSY10"/>
              </a:rPr>
              <a:t>}</a:t>
            </a:r>
            <a:r>
              <a:rPr lang="en-US" sz="1800" b="0" i="0" u="none" strike="noStrike" baseline="0" dirty="0">
                <a:latin typeface="CMR10"/>
              </a:rPr>
              <a:t>, is frequent.</a:t>
            </a:r>
            <a:endParaRPr lang="en-US" dirty="0"/>
          </a:p>
        </p:txBody>
      </p:sp>
    </p:spTree>
    <p:extLst>
      <p:ext uri="{BB962C8B-B14F-4D97-AF65-F5344CB8AC3E}">
        <p14:creationId xmlns:p14="http://schemas.microsoft.com/office/powerpoint/2010/main" val="1855533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CMR10"/>
              </a:rPr>
              <a:t>From the transactions</a:t>
            </a:r>
          </a:p>
          <a:p>
            <a:pPr algn="l"/>
            <a:r>
              <a:rPr lang="en-US" sz="1800" b="0" i="0" u="none" strike="noStrike" baseline="0" dirty="0">
                <a:latin typeface="CMR10"/>
              </a:rPr>
              <a:t>given in this diagram, notice that every transaction that contains </a:t>
            </a:r>
            <a:r>
              <a:rPr lang="en-US" sz="1800" b="0" i="1" u="none" strike="noStrike" baseline="0" dirty="0">
                <a:latin typeface="CMMI10"/>
              </a:rPr>
              <a:t>b </a:t>
            </a:r>
            <a:r>
              <a:rPr lang="en-US" sz="1800" b="0" i="0" u="none" strike="noStrike" baseline="0" dirty="0">
                <a:latin typeface="CMR10"/>
              </a:rPr>
              <a:t>also contains</a:t>
            </a:r>
          </a:p>
          <a:p>
            <a:pPr algn="l"/>
            <a:r>
              <a:rPr lang="en-US" sz="1800" b="0" i="1" u="none" strike="noStrike" baseline="0" dirty="0">
                <a:latin typeface="CMMI10"/>
              </a:rPr>
              <a:t>c</a:t>
            </a:r>
            <a:r>
              <a:rPr lang="en-US" sz="1800" b="0" i="0" u="none" strike="noStrike" baseline="0" dirty="0">
                <a:latin typeface="CMR10"/>
              </a:rPr>
              <a:t>. Consequently, the support for </a:t>
            </a:r>
            <a:r>
              <a:rPr lang="en-US" sz="1800" b="0" i="1" u="none" strike="noStrike" baseline="0" dirty="0">
                <a:latin typeface="CMSY10"/>
              </a:rPr>
              <a:t>{</a:t>
            </a:r>
            <a:r>
              <a:rPr lang="en-US" sz="1800" b="0" i="1" u="none" strike="noStrike" baseline="0" dirty="0">
                <a:latin typeface="CMMI10"/>
              </a:rPr>
              <a:t>b</a:t>
            </a:r>
            <a:r>
              <a:rPr lang="en-US" sz="1800" b="0" i="1" u="none" strike="noStrike" baseline="0" dirty="0">
                <a:latin typeface="CMSY10"/>
              </a:rPr>
              <a:t>} </a:t>
            </a:r>
            <a:r>
              <a:rPr lang="en-US" sz="1800" b="0" i="0" u="none" strike="noStrike" baseline="0" dirty="0">
                <a:latin typeface="CMR10"/>
              </a:rPr>
              <a:t>is identical to </a:t>
            </a:r>
            <a:r>
              <a:rPr lang="en-US" sz="1800" b="0" i="1" u="none" strike="noStrike" baseline="0" dirty="0">
                <a:latin typeface="CMSY10"/>
              </a:rPr>
              <a:t>{</a:t>
            </a:r>
            <a:r>
              <a:rPr lang="en-US" sz="1800" b="0" i="1" u="none" strike="noStrike" baseline="0" dirty="0">
                <a:latin typeface="CMMI10"/>
              </a:rPr>
              <a:t>b, c</a:t>
            </a:r>
            <a:r>
              <a:rPr lang="en-US" sz="1800" b="0" i="1" u="none" strike="noStrike" baseline="0" dirty="0">
                <a:latin typeface="CMSY10"/>
              </a:rPr>
              <a:t>} </a:t>
            </a:r>
            <a:r>
              <a:rPr lang="en-US" sz="1800" b="0" i="0" u="none" strike="noStrike" baseline="0" dirty="0">
                <a:latin typeface="CMR10"/>
              </a:rPr>
              <a:t>and </a:t>
            </a:r>
            <a:r>
              <a:rPr lang="en-US" sz="1800" b="0" i="1" u="none" strike="noStrike" baseline="0" dirty="0">
                <a:latin typeface="CMSY10"/>
              </a:rPr>
              <a:t>{</a:t>
            </a:r>
            <a:r>
              <a:rPr lang="en-US" sz="1800" b="0" i="1" u="none" strike="noStrike" baseline="0" dirty="0">
                <a:latin typeface="CMMI10"/>
              </a:rPr>
              <a:t>b</a:t>
            </a:r>
            <a:r>
              <a:rPr lang="en-US" sz="1800" b="0" i="1" u="none" strike="noStrike" baseline="0" dirty="0">
                <a:latin typeface="CMSY10"/>
              </a:rPr>
              <a:t>} </a:t>
            </a:r>
            <a:r>
              <a:rPr lang="en-US" sz="1800" b="0" i="0" u="none" strike="noStrike" baseline="0" dirty="0">
                <a:latin typeface="CMR10"/>
              </a:rPr>
              <a:t>should</a:t>
            </a:r>
          </a:p>
          <a:p>
            <a:pPr algn="l"/>
            <a:r>
              <a:rPr lang="en-US" sz="1800" b="0" i="0" u="none" strike="noStrike" baseline="0" dirty="0">
                <a:latin typeface="CMR10"/>
              </a:rPr>
              <a:t>not be considered a closed itemset. Similarly, since </a:t>
            </a:r>
            <a:r>
              <a:rPr lang="en-US" sz="1800" b="0" i="1" u="none" strike="noStrike" baseline="0" dirty="0">
                <a:latin typeface="CMMI10"/>
              </a:rPr>
              <a:t>c </a:t>
            </a:r>
            <a:r>
              <a:rPr lang="en-US" sz="1800" b="0" i="0" u="none" strike="noStrike" baseline="0" dirty="0">
                <a:latin typeface="CMR10"/>
              </a:rPr>
              <a:t>occurs in every transaction</a:t>
            </a:r>
          </a:p>
          <a:p>
            <a:pPr algn="l"/>
            <a:r>
              <a:rPr lang="en-US" sz="1800" b="0" i="0" u="none" strike="noStrike" baseline="0" dirty="0">
                <a:latin typeface="CMR10"/>
              </a:rPr>
              <a:t>that contains both </a:t>
            </a:r>
            <a:r>
              <a:rPr lang="en-US" sz="1800" b="0" i="1" u="none" strike="noStrike" baseline="0" dirty="0">
                <a:latin typeface="CMMI10"/>
              </a:rPr>
              <a:t>a </a:t>
            </a:r>
            <a:r>
              <a:rPr lang="en-US" sz="1800" b="0" i="0" u="none" strike="noStrike" baseline="0" dirty="0">
                <a:latin typeface="CMR10"/>
              </a:rPr>
              <a:t>and </a:t>
            </a:r>
            <a:r>
              <a:rPr lang="en-US" sz="1800" b="0" i="1" u="none" strike="noStrike" baseline="0" dirty="0">
                <a:latin typeface="CMMI10"/>
              </a:rPr>
              <a:t>d</a:t>
            </a:r>
            <a:r>
              <a:rPr lang="en-US" sz="1800" b="0" i="0" u="none" strike="noStrike" baseline="0" dirty="0">
                <a:latin typeface="CMR10"/>
              </a:rPr>
              <a:t>, the itemset </a:t>
            </a:r>
            <a:r>
              <a:rPr lang="en-US" sz="1800" b="0" i="1" u="none" strike="noStrike" baseline="0" dirty="0">
                <a:latin typeface="CMSY10"/>
              </a:rPr>
              <a:t>{</a:t>
            </a:r>
            <a:r>
              <a:rPr lang="en-US" sz="1800" b="0" i="1" u="none" strike="noStrike" baseline="0" dirty="0">
                <a:latin typeface="CMMI10"/>
              </a:rPr>
              <a:t>a, d</a:t>
            </a:r>
            <a:r>
              <a:rPr lang="en-US" sz="1800" b="0" i="1" u="none" strike="noStrike" baseline="0" dirty="0">
                <a:latin typeface="CMSY10"/>
              </a:rPr>
              <a:t>} </a:t>
            </a:r>
            <a:r>
              <a:rPr lang="en-US" sz="1800" b="0" i="0" u="none" strike="noStrike" baseline="0" dirty="0">
                <a:latin typeface="CMR10"/>
              </a:rPr>
              <a:t>is not closed</a:t>
            </a:r>
          </a:p>
          <a:p>
            <a:pPr algn="l"/>
            <a:r>
              <a:rPr lang="en-US" sz="1800" b="0" i="0" u="none" strike="noStrike" baseline="0" dirty="0">
                <a:latin typeface="CMR10"/>
              </a:rPr>
              <a:t>On the other</a:t>
            </a:r>
          </a:p>
          <a:p>
            <a:pPr algn="l"/>
            <a:r>
              <a:rPr lang="en-US" sz="1800" b="0" i="0" u="none" strike="noStrike" baseline="0" dirty="0">
                <a:latin typeface="CMR10"/>
              </a:rPr>
              <a:t>hand, </a:t>
            </a:r>
            <a:r>
              <a:rPr lang="en-US" sz="1800" b="0" i="1" u="none" strike="noStrike" baseline="0" dirty="0">
                <a:latin typeface="CMSY10"/>
              </a:rPr>
              <a:t>{</a:t>
            </a:r>
            <a:r>
              <a:rPr lang="en-US" sz="1800" b="0" i="1" u="none" strike="noStrike" baseline="0" dirty="0">
                <a:latin typeface="CMMI10"/>
              </a:rPr>
              <a:t>b, c</a:t>
            </a:r>
            <a:r>
              <a:rPr lang="en-US" sz="1800" b="0" i="1" u="none" strike="noStrike" baseline="0" dirty="0">
                <a:latin typeface="CMSY10"/>
              </a:rPr>
              <a:t>} </a:t>
            </a:r>
            <a:r>
              <a:rPr lang="en-US" sz="1800" b="0" i="0" u="none" strike="noStrike" baseline="0" dirty="0">
                <a:latin typeface="CMR10"/>
              </a:rPr>
              <a:t>is a closed itemset because it does not have the same support</a:t>
            </a:r>
          </a:p>
          <a:p>
            <a:pPr algn="l"/>
            <a:r>
              <a:rPr lang="en-US" sz="1800" b="0" i="0" u="none" strike="noStrike" baseline="0" dirty="0">
                <a:latin typeface="CMR10"/>
              </a:rPr>
              <a:t>count as any of its supersets.</a:t>
            </a:r>
            <a:endParaRPr lang="en-US" dirty="0"/>
          </a:p>
        </p:txBody>
      </p:sp>
    </p:spTree>
    <p:extLst>
      <p:ext uri="{BB962C8B-B14F-4D97-AF65-F5344CB8AC3E}">
        <p14:creationId xmlns:p14="http://schemas.microsoft.com/office/powerpoint/2010/main" val="1950555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c, d, e, ac, </a:t>
            </a:r>
            <a:r>
              <a:rPr lang="en-US" dirty="0" err="1"/>
              <a:t>bc</a:t>
            </a:r>
            <a:r>
              <a:rPr lang="en-US" dirty="0"/>
              <a:t>, </a:t>
            </a:r>
            <a:r>
              <a:rPr lang="en-US" dirty="0" err="1"/>
              <a:t>ce</a:t>
            </a:r>
            <a:r>
              <a:rPr lang="en-US" dirty="0"/>
              <a:t>, de, </a:t>
            </a:r>
            <a:r>
              <a:rPr lang="en-US" dirty="0" err="1"/>
              <a:t>abc</a:t>
            </a:r>
            <a:r>
              <a:rPr lang="en-US" dirty="0"/>
              <a:t>, </a:t>
            </a:r>
            <a:r>
              <a:rPr lang="en-US" dirty="0" err="1"/>
              <a:t>acd</a:t>
            </a:r>
            <a:r>
              <a:rPr lang="en-US" dirty="0"/>
              <a:t>,</a:t>
            </a:r>
          </a:p>
        </p:txBody>
      </p:sp>
    </p:spTree>
    <p:extLst>
      <p:ext uri="{BB962C8B-B14F-4D97-AF65-F5344CB8AC3E}">
        <p14:creationId xmlns:p14="http://schemas.microsoft.com/office/powerpoint/2010/main" val="2972693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CMR10"/>
              </a:rPr>
              <a:t>Assuming the support threshold is 20%, the total</a:t>
            </a:r>
          </a:p>
          <a:p>
            <a:pPr algn="l"/>
            <a:r>
              <a:rPr lang="en-US" sz="1800" b="0" i="0" u="none" strike="noStrike" baseline="0" dirty="0">
                <a:latin typeface="CMR10"/>
              </a:rPr>
              <a:t>number of frequent </a:t>
            </a:r>
            <a:r>
              <a:rPr lang="en-US" sz="1800" b="0" i="0" u="none" strike="noStrike" baseline="0" dirty="0" err="1">
                <a:latin typeface="CMR10"/>
              </a:rPr>
              <a:t>itemsets</a:t>
            </a:r>
            <a:r>
              <a:rPr lang="en-US" sz="1800" b="0" i="0" u="none" strike="noStrike" baseline="0" dirty="0">
                <a:latin typeface="CMR10"/>
              </a:rPr>
              <a:t> is 3</a:t>
            </a:r>
            <a:r>
              <a:rPr lang="en-US" sz="1800" b="0" i="1" u="none" strike="noStrike" baseline="0" dirty="0">
                <a:latin typeface="CMSY10"/>
              </a:rPr>
              <a:t>×</a:t>
            </a:r>
            <a:r>
              <a:rPr lang="en-US" sz="1800" b="0" i="0" u="none" strike="noStrike" baseline="0" dirty="0">
                <a:latin typeface="CMR10"/>
              </a:rPr>
              <a:t>(2</a:t>
            </a:r>
            <a:r>
              <a:rPr lang="en-US" sz="1800" b="0" i="0" u="none" strike="noStrike" baseline="0" dirty="0">
                <a:latin typeface="CMR8"/>
              </a:rPr>
              <a:t>5</a:t>
            </a:r>
            <a:r>
              <a:rPr lang="en-US" sz="1800" b="0" i="1" u="none" strike="noStrike" baseline="0" dirty="0">
                <a:latin typeface="CMSY10"/>
              </a:rPr>
              <a:t>−</a:t>
            </a:r>
            <a:r>
              <a:rPr lang="en-US" sz="1800" b="0" i="0" u="none" strike="noStrike" baseline="0" dirty="0">
                <a:latin typeface="CMR10"/>
              </a:rPr>
              <a:t>1) = 93. However, there are only three</a:t>
            </a:r>
          </a:p>
          <a:p>
            <a:pPr algn="l"/>
            <a:r>
              <a:rPr lang="en-US" sz="1800" b="0" i="0" u="none" strike="noStrike" baseline="0" dirty="0">
                <a:latin typeface="CMR10"/>
              </a:rPr>
              <a:t>closed frequent </a:t>
            </a:r>
            <a:r>
              <a:rPr lang="en-US" sz="1800" b="0" i="0" u="none" strike="noStrike" baseline="0" dirty="0" err="1">
                <a:latin typeface="CMR10"/>
              </a:rPr>
              <a:t>itemsets</a:t>
            </a:r>
            <a:r>
              <a:rPr lang="en-US" sz="1800" b="0" i="0" u="none" strike="noStrike" baseline="0" dirty="0">
                <a:latin typeface="CMR10"/>
              </a:rPr>
              <a:t> in the data: (</a:t>
            </a:r>
            <a:r>
              <a:rPr lang="en-US" sz="1800" b="0" i="1" u="none" strike="noStrike" baseline="0" dirty="0">
                <a:latin typeface="CMSY10"/>
              </a:rPr>
              <a:t>{</a:t>
            </a:r>
            <a:r>
              <a:rPr lang="en-US" sz="1800" b="0" i="1" u="none" strike="noStrike" baseline="0" dirty="0">
                <a:latin typeface="CMMI10"/>
              </a:rPr>
              <a:t>a</a:t>
            </a:r>
            <a:r>
              <a:rPr lang="en-US" sz="1800" b="0" i="0" u="none" strike="noStrike" baseline="0" dirty="0">
                <a:latin typeface="CMR8"/>
              </a:rPr>
              <a:t>1</a:t>
            </a:r>
            <a:r>
              <a:rPr lang="en-US" sz="1800" b="0" i="1" u="none" strike="noStrike" baseline="0" dirty="0">
                <a:latin typeface="CMMI10"/>
              </a:rPr>
              <a:t>, a</a:t>
            </a:r>
            <a:r>
              <a:rPr lang="en-US" sz="1800" b="0" i="0" u="none" strike="noStrike" baseline="0" dirty="0">
                <a:latin typeface="CMR8"/>
              </a:rPr>
              <a:t>2</a:t>
            </a:r>
            <a:r>
              <a:rPr lang="en-US" sz="1800" b="0" i="1" u="none" strike="noStrike" baseline="0" dirty="0">
                <a:latin typeface="CMMI10"/>
              </a:rPr>
              <a:t>, a</a:t>
            </a:r>
            <a:r>
              <a:rPr lang="en-US" sz="1800" b="0" i="0" u="none" strike="noStrike" baseline="0" dirty="0">
                <a:latin typeface="CMR8"/>
              </a:rPr>
              <a:t>3</a:t>
            </a:r>
            <a:r>
              <a:rPr lang="en-US" sz="1800" b="0" i="1" u="none" strike="noStrike" baseline="0" dirty="0">
                <a:latin typeface="CMMI10"/>
              </a:rPr>
              <a:t>, a</a:t>
            </a:r>
            <a:r>
              <a:rPr lang="en-US" sz="1800" b="0" i="0" u="none" strike="noStrike" baseline="0" dirty="0">
                <a:latin typeface="CMR8"/>
              </a:rPr>
              <a:t>4</a:t>
            </a:r>
            <a:r>
              <a:rPr lang="en-US" sz="1800" b="0" i="1" u="none" strike="noStrike" baseline="0" dirty="0">
                <a:latin typeface="CMMI10"/>
              </a:rPr>
              <a:t>, a</a:t>
            </a:r>
            <a:r>
              <a:rPr lang="en-US" sz="1800" b="0" i="0" u="none" strike="noStrike" baseline="0" dirty="0">
                <a:latin typeface="CMR8"/>
              </a:rPr>
              <a:t>5</a:t>
            </a:r>
            <a:r>
              <a:rPr lang="en-US" sz="1800" b="0" i="1" u="none" strike="noStrike" baseline="0" dirty="0">
                <a:latin typeface="CMSY10"/>
              </a:rPr>
              <a:t>}</a:t>
            </a:r>
            <a:r>
              <a:rPr lang="en-US" sz="1800" b="0" i="0" u="none" strike="noStrike" baseline="0" dirty="0">
                <a:latin typeface="CMR10"/>
              </a:rPr>
              <a:t>, </a:t>
            </a:r>
            <a:r>
              <a:rPr lang="en-US" sz="1800" b="0" i="1" u="none" strike="noStrike" baseline="0" dirty="0">
                <a:latin typeface="CMSY10"/>
              </a:rPr>
              <a:t>{</a:t>
            </a:r>
            <a:r>
              <a:rPr lang="en-US" sz="1800" b="0" i="1" u="none" strike="noStrike" baseline="0" dirty="0">
                <a:latin typeface="CMMI10"/>
              </a:rPr>
              <a:t>b</a:t>
            </a:r>
            <a:r>
              <a:rPr lang="en-US" sz="1800" b="0" i="0" u="none" strike="noStrike" baseline="0" dirty="0">
                <a:latin typeface="CMR8"/>
              </a:rPr>
              <a:t>1</a:t>
            </a:r>
            <a:r>
              <a:rPr lang="en-US" sz="1800" b="0" i="1" u="none" strike="noStrike" baseline="0" dirty="0">
                <a:latin typeface="CMMI10"/>
              </a:rPr>
              <a:t>, b</a:t>
            </a:r>
            <a:r>
              <a:rPr lang="en-US" sz="1800" b="0" i="0" u="none" strike="noStrike" baseline="0" dirty="0">
                <a:latin typeface="CMR8"/>
              </a:rPr>
              <a:t>2</a:t>
            </a:r>
            <a:r>
              <a:rPr lang="en-US" sz="1800" b="0" i="1" u="none" strike="noStrike" baseline="0" dirty="0">
                <a:latin typeface="CMMI10"/>
              </a:rPr>
              <a:t>, b</a:t>
            </a:r>
            <a:r>
              <a:rPr lang="en-US" sz="1800" b="0" i="0" u="none" strike="noStrike" baseline="0" dirty="0">
                <a:latin typeface="CMR8"/>
              </a:rPr>
              <a:t>3</a:t>
            </a:r>
            <a:r>
              <a:rPr lang="en-US" sz="1800" b="0" i="1" u="none" strike="noStrike" baseline="0" dirty="0">
                <a:latin typeface="CMMI10"/>
              </a:rPr>
              <a:t>, b</a:t>
            </a:r>
            <a:r>
              <a:rPr lang="en-US" sz="1800" b="0" i="0" u="none" strike="noStrike" baseline="0" dirty="0">
                <a:latin typeface="CMR8"/>
              </a:rPr>
              <a:t>4</a:t>
            </a:r>
            <a:r>
              <a:rPr lang="en-US" sz="1800" b="0" i="1" u="none" strike="noStrike" baseline="0" dirty="0">
                <a:latin typeface="CMMI10"/>
              </a:rPr>
              <a:t>, b</a:t>
            </a:r>
            <a:r>
              <a:rPr lang="en-US" sz="1800" b="0" i="0" u="none" strike="noStrike" baseline="0" dirty="0">
                <a:latin typeface="CMR8"/>
              </a:rPr>
              <a:t>5</a:t>
            </a:r>
            <a:r>
              <a:rPr lang="en-US" sz="1800" b="0" i="1" u="none" strike="noStrike" baseline="0" dirty="0">
                <a:latin typeface="CMSY10"/>
              </a:rPr>
              <a:t>}</a:t>
            </a:r>
            <a:r>
              <a:rPr lang="en-US" sz="1800" b="0" i="0" u="none" strike="noStrike" baseline="0" dirty="0">
                <a:latin typeface="CMR10"/>
              </a:rPr>
              <a:t>, and</a:t>
            </a:r>
          </a:p>
          <a:p>
            <a:pPr algn="l"/>
            <a:r>
              <a:rPr lang="en-US" sz="1800" b="0" i="1" u="none" strike="noStrike" baseline="0" dirty="0">
                <a:latin typeface="CMSY10"/>
              </a:rPr>
              <a:t>{</a:t>
            </a:r>
            <a:r>
              <a:rPr lang="en-US" sz="1800" b="0" i="1" u="none" strike="noStrike" baseline="0" dirty="0">
                <a:latin typeface="CMMI10"/>
              </a:rPr>
              <a:t>c</a:t>
            </a:r>
            <a:r>
              <a:rPr lang="en-US" sz="1800" b="0" i="0" u="none" strike="noStrike" baseline="0" dirty="0">
                <a:latin typeface="CMR8"/>
              </a:rPr>
              <a:t>1</a:t>
            </a:r>
            <a:r>
              <a:rPr lang="en-US" sz="1800" b="0" i="1" u="none" strike="noStrike" baseline="0" dirty="0">
                <a:latin typeface="CMMI10"/>
              </a:rPr>
              <a:t>, c</a:t>
            </a:r>
            <a:r>
              <a:rPr lang="en-US" sz="1800" b="0" i="0" u="none" strike="noStrike" baseline="0" dirty="0">
                <a:latin typeface="CMR8"/>
              </a:rPr>
              <a:t>2</a:t>
            </a:r>
            <a:r>
              <a:rPr lang="en-US" sz="1800" b="0" i="1" u="none" strike="noStrike" baseline="0" dirty="0">
                <a:latin typeface="CMMI10"/>
              </a:rPr>
              <a:t>, c</a:t>
            </a:r>
            <a:r>
              <a:rPr lang="en-US" sz="1800" b="0" i="0" u="none" strike="noStrike" baseline="0" dirty="0">
                <a:latin typeface="CMR8"/>
              </a:rPr>
              <a:t>3</a:t>
            </a:r>
            <a:r>
              <a:rPr lang="en-US" sz="1800" b="0" i="1" u="none" strike="noStrike" baseline="0" dirty="0">
                <a:latin typeface="CMMI10"/>
              </a:rPr>
              <a:t>, c</a:t>
            </a:r>
            <a:r>
              <a:rPr lang="en-US" sz="1800" b="0" i="0" u="none" strike="noStrike" baseline="0" dirty="0">
                <a:latin typeface="CMR8"/>
              </a:rPr>
              <a:t>4</a:t>
            </a:r>
            <a:r>
              <a:rPr lang="en-US" sz="1800" b="0" i="1" u="none" strike="noStrike" baseline="0" dirty="0">
                <a:latin typeface="CMMI10"/>
              </a:rPr>
              <a:t>, c</a:t>
            </a:r>
            <a:r>
              <a:rPr lang="en-US" sz="1800" b="0" i="0" u="none" strike="noStrike" baseline="0" dirty="0">
                <a:latin typeface="CMR8"/>
              </a:rPr>
              <a:t>5</a:t>
            </a:r>
            <a:r>
              <a:rPr lang="en-US" sz="1800" b="0" i="1" u="none" strike="noStrike" baseline="0" dirty="0">
                <a:latin typeface="CMSY10"/>
              </a:rPr>
              <a:t>}</a:t>
            </a:r>
            <a:r>
              <a:rPr lang="en-US" sz="1800" b="0" i="0" u="none" strike="noStrike" baseline="0" dirty="0">
                <a:latin typeface="CMR10"/>
              </a:rPr>
              <a:t>). It is often sufficient to present only the closed frequent</a:t>
            </a:r>
          </a:p>
          <a:p>
            <a:pPr algn="l"/>
            <a:r>
              <a:rPr lang="en-US" sz="1800" b="0" i="0" u="none" strike="noStrike" baseline="0" dirty="0" err="1">
                <a:latin typeface="CMR10"/>
              </a:rPr>
              <a:t>itemsets</a:t>
            </a:r>
            <a:r>
              <a:rPr lang="en-US" sz="1800" b="0" i="0" u="none" strike="noStrike" baseline="0" dirty="0">
                <a:latin typeface="CMR10"/>
              </a:rPr>
              <a:t> to the analysts instead of the entire set of frequent </a:t>
            </a:r>
            <a:r>
              <a:rPr lang="en-US" sz="1800" b="0" i="0" u="none" strike="noStrike" baseline="0" dirty="0" err="1">
                <a:latin typeface="CMR10"/>
              </a:rPr>
              <a:t>itemsets</a:t>
            </a:r>
            <a:r>
              <a:rPr lang="en-US" sz="1800" b="0" i="0" u="none" strike="noStrike" baseline="0" dirty="0">
                <a:latin typeface="CMR10"/>
              </a:rPr>
              <a:t>.</a:t>
            </a:r>
            <a:endParaRPr lang="en-US" dirty="0"/>
          </a:p>
        </p:txBody>
      </p:sp>
    </p:spTree>
    <p:extLst>
      <p:ext uri="{BB962C8B-B14F-4D97-AF65-F5344CB8AC3E}">
        <p14:creationId xmlns:p14="http://schemas.microsoft.com/office/powerpoint/2010/main" val="2650299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note that all maximal frequent </a:t>
            </a:r>
            <a:r>
              <a:rPr lang="en-US" dirty="0" err="1"/>
              <a:t>itemsets</a:t>
            </a:r>
            <a:r>
              <a:rPr lang="en-US" dirty="0"/>
              <a:t> are closed because none</a:t>
            </a:r>
          </a:p>
          <a:p>
            <a:r>
              <a:rPr lang="en-US" dirty="0"/>
              <a:t>of the maximal frequent </a:t>
            </a:r>
            <a:r>
              <a:rPr lang="en-US" dirty="0" err="1"/>
              <a:t>itemsets</a:t>
            </a:r>
            <a:r>
              <a:rPr lang="en-US" dirty="0"/>
              <a:t> can have the same support count as their</a:t>
            </a:r>
          </a:p>
          <a:p>
            <a:r>
              <a:rPr lang="en-US" dirty="0"/>
              <a:t>immediate supersets.</a:t>
            </a:r>
          </a:p>
          <a:p>
            <a:endParaRPr lang="en-US" dirty="0"/>
          </a:p>
        </p:txBody>
      </p:sp>
    </p:spTree>
    <p:extLst>
      <p:ext uri="{BB962C8B-B14F-4D97-AF65-F5344CB8AC3E}">
        <p14:creationId xmlns:p14="http://schemas.microsoft.com/office/powerpoint/2010/main" val="3204634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984833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8258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81166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9827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2174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7952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3525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55071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10913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2213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8067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6613" y="1143000"/>
            <a:ext cx="4083050" cy="5181600"/>
          </a:xfrm>
        </p:spPr>
        <p:txBody>
          <a:bodyPr/>
          <a:lstStyle/>
          <a:p>
            <a:pPr lvl="0"/>
            <a:endParaRPr lang="en-US" noProof="0"/>
          </a:p>
        </p:txBody>
      </p:sp>
    </p:spTree>
    <p:extLst>
      <p:ext uri="{BB962C8B-B14F-4D97-AF65-F5344CB8AC3E}">
        <p14:creationId xmlns:p14="http://schemas.microsoft.com/office/powerpoint/2010/main" val="3551883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 Third Level</a:t>
            </a:r>
          </a:p>
        </p:txBody>
      </p:sp>
      <p:grpSp>
        <p:nvGrpSpPr>
          <p:cNvPr id="1029" name="Group 16"/>
          <p:cNvGrpSpPr>
            <a:grpSpLocks/>
          </p:cNvGrpSpPr>
          <p:nvPr userDrawn="1"/>
        </p:nvGrpSpPr>
        <p:grpSpPr bwMode="auto">
          <a:xfrm>
            <a:off x="304800" y="838200"/>
            <a:ext cx="8534400" cy="152400"/>
            <a:chOff x="264" y="788"/>
            <a:chExt cx="5232" cy="124"/>
          </a:xfrm>
        </p:grpSpPr>
        <p:sp>
          <p:nvSpPr>
            <p:cNvPr id="1030" name="Rectangle 17"/>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sp>
          <p:nvSpPr>
            <p:cNvPr id="1031" name="Rectangle 18"/>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grpSp>
      <p:sp>
        <p:nvSpPr>
          <p:cNvPr id="11" name="Text Box 10"/>
          <p:cNvSpPr txBox="1">
            <a:spLocks noChangeArrowheads="1"/>
          </p:cNvSpPr>
          <p:nvPr userDrawn="1"/>
        </p:nvSpPr>
        <p:spPr bwMode="auto">
          <a:xfrm>
            <a:off x="457200" y="6400800"/>
            <a:ext cx="8534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defRPr/>
            </a:pPr>
            <a:r>
              <a:rPr lang="en-US" dirty="0"/>
              <a:t>3/8/2021             </a:t>
            </a:r>
            <a:r>
              <a:rPr lang="en-US" baseline="0" dirty="0"/>
              <a:t>         </a:t>
            </a:r>
            <a:r>
              <a:rPr lang="en-US" dirty="0"/>
              <a:t>Introduction to Data Mining, 2</a:t>
            </a:r>
            <a:r>
              <a:rPr lang="en-US" baseline="30000" dirty="0"/>
              <a:t>nd</a:t>
            </a:r>
            <a:r>
              <a:rPr lang="en-US" dirty="0"/>
              <a:t> Edition 			</a:t>
            </a:r>
            <a:r>
              <a:rPr lang="en-US" baseline="0" dirty="0"/>
              <a:t>           </a:t>
            </a:r>
            <a:fld id="{7C9F7F48-2944-4AF0-87BF-27ECBE076434}" type="slidenum">
              <a:rPr lang="en-US" smtClean="0"/>
              <a:pPr>
                <a:spcBef>
                  <a:spcPct val="50000"/>
                </a:spcBef>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4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0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5.bin"/><Relationship Id="rId1" Type="http://schemas.openxmlformats.org/officeDocument/2006/relationships/slideLayout" Target="../slideLayouts/slideLayout6.xml"/><Relationship Id="rId5" Type="http://schemas.openxmlformats.org/officeDocument/2006/relationships/image" Target="../media/image6.emf"/><Relationship Id="rId4"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7.bin"/><Relationship Id="rId1" Type="http://schemas.openxmlformats.org/officeDocument/2006/relationships/slideLayout" Target="../slideLayouts/slideLayout6.xml"/><Relationship Id="rId5" Type="http://schemas.openxmlformats.org/officeDocument/2006/relationships/image" Target="../media/image7.emf"/><Relationship Id="rId4" Type="http://schemas.openxmlformats.org/officeDocument/2006/relationships/oleObject" Target="../embeddings/oleObject8.bin"/></Relationships>
</file>

<file path=ppt/slides/_rels/slide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0.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emf"/><Relationship Id="rId7" Type="http://schemas.openxmlformats.org/officeDocument/2006/relationships/image" Target="../media/image14.e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6.wmf"/><Relationship Id="rId5" Type="http://schemas.openxmlformats.org/officeDocument/2006/relationships/oleObject" Target="../embeddings/oleObject14.bin"/><Relationship Id="rId4" Type="http://schemas.openxmlformats.org/officeDocument/2006/relationships/image" Target="../media/image15.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8.emf"/><Relationship Id="rId5" Type="http://schemas.openxmlformats.org/officeDocument/2006/relationships/oleObject" Target="../embeddings/oleObject16.bin"/><Relationship Id="rId4" Type="http://schemas.openxmlformats.org/officeDocument/2006/relationships/image" Target="../media/image17.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6"/>
          <p:cNvSpPr>
            <a:spLocks noGrp="1" noChangeArrowheads="1"/>
          </p:cNvSpPr>
          <p:nvPr>
            <p:ph type="title"/>
          </p:nvPr>
        </p:nvSpPr>
        <p:spPr>
          <a:xfrm>
            <a:off x="228600" y="-152400"/>
            <a:ext cx="8763000" cy="838200"/>
          </a:xfrm>
        </p:spPr>
        <p:txBody>
          <a:bodyPr/>
          <a:lstStyle/>
          <a:p>
            <a:r>
              <a:rPr lang="en-US" altLang="en-US" dirty="0"/>
              <a:t>Data Mining</a:t>
            </a:r>
            <a:endParaRPr lang="en-US" altLang="en-US" sz="2800" dirty="0"/>
          </a:p>
        </p:txBody>
      </p:sp>
      <p:sp>
        <p:nvSpPr>
          <p:cNvPr id="3075" name="Rectangle 1027"/>
          <p:cNvSpPr>
            <a:spLocks noChangeArrowheads="1"/>
          </p:cNvSpPr>
          <p:nvPr/>
        </p:nvSpPr>
        <p:spPr bwMode="auto">
          <a:xfrm>
            <a:off x="0" y="2405617"/>
            <a:ext cx="8991600" cy="2899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eaLnBrk="1" hangingPunct="1">
              <a:spcBef>
                <a:spcPct val="20000"/>
              </a:spcBef>
              <a:spcAft>
                <a:spcPct val="0"/>
              </a:spcAft>
              <a:buClr>
                <a:schemeClr val="folHlink"/>
              </a:buClr>
              <a:buSzPct val="60000"/>
              <a:buFont typeface="Wingdings" pitchFamily="2" charset="2"/>
              <a:buNone/>
            </a:pPr>
            <a:r>
              <a:rPr lang="en-US" altLang="en-US" sz="3200" b="0" dirty="0"/>
              <a:t>Chapter 5 </a:t>
            </a:r>
          </a:p>
          <a:p>
            <a:pPr algn="ctr" eaLnBrk="1" hangingPunct="1">
              <a:spcBef>
                <a:spcPct val="20000"/>
              </a:spcBef>
              <a:spcAft>
                <a:spcPct val="0"/>
              </a:spcAft>
              <a:buClr>
                <a:schemeClr val="folHlink"/>
              </a:buClr>
              <a:buSzPct val="60000"/>
              <a:buFont typeface="Wingdings" pitchFamily="2" charset="2"/>
              <a:buNone/>
            </a:pPr>
            <a:r>
              <a:rPr lang="en-US" altLang="en-US" sz="3200" b="0" dirty="0"/>
              <a:t>Association Analysis</a:t>
            </a:r>
            <a:r>
              <a:rPr lang="en-US" altLang="en-US" sz="1600" b="0" dirty="0"/>
              <a:t>: </a:t>
            </a:r>
            <a:r>
              <a:rPr lang="en-US" altLang="en-US" sz="3200" b="0" dirty="0"/>
              <a:t>Basic Concepts</a:t>
            </a:r>
          </a:p>
          <a:p>
            <a:pPr algn="ctr">
              <a:spcBef>
                <a:spcPct val="0"/>
              </a:spcBef>
              <a:spcAft>
                <a:spcPct val="0"/>
              </a:spcAft>
              <a:buClrTx/>
              <a:buSzTx/>
              <a:buFontTx/>
              <a:buNone/>
            </a:pPr>
            <a:endParaRPr lang="en-US" altLang="en-US" sz="3200" b="0" dirty="0"/>
          </a:p>
          <a:p>
            <a:pPr algn="ctr">
              <a:spcBef>
                <a:spcPct val="0"/>
              </a:spcBef>
              <a:spcAft>
                <a:spcPct val="0"/>
              </a:spcAft>
              <a:buClrTx/>
              <a:buSzTx/>
              <a:buFontTx/>
              <a:buNone/>
            </a:pPr>
            <a:endParaRPr lang="en-US" altLang="en-US" sz="4000" b="0" dirty="0"/>
          </a:p>
          <a:p>
            <a:pPr algn="ctr">
              <a:spcBef>
                <a:spcPct val="0"/>
              </a:spcBef>
              <a:spcAft>
                <a:spcPct val="0"/>
              </a:spcAft>
              <a:buClrTx/>
              <a:buSzTx/>
              <a:buFontTx/>
              <a:buNone/>
            </a:pPr>
            <a:endParaRPr lang="en-US" altLang="en-US" sz="4000" b="0" dirty="0"/>
          </a:p>
        </p:txBody>
      </p:sp>
    </p:spTree>
    <p:extLst>
      <p:ext uri="{BB962C8B-B14F-4D97-AF65-F5344CB8AC3E}">
        <p14:creationId xmlns:p14="http://schemas.microsoft.com/office/powerpoint/2010/main" val="3926944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sz="2800"/>
              <a:t>Support Counting of Candidate Itemsets</a:t>
            </a:r>
          </a:p>
        </p:txBody>
      </p:sp>
      <p:sp>
        <p:nvSpPr>
          <p:cNvPr id="29699" name="Rectangle 3"/>
          <p:cNvSpPr>
            <a:spLocks noGrp="1" noChangeArrowheads="1"/>
          </p:cNvSpPr>
          <p:nvPr>
            <p:ph type="body" idx="1"/>
          </p:nvPr>
        </p:nvSpPr>
        <p:spPr>
          <a:xfrm>
            <a:off x="411163" y="1066800"/>
            <a:ext cx="8318500" cy="1752600"/>
          </a:xfrm>
        </p:spPr>
        <p:txBody>
          <a:bodyPr/>
          <a:lstStyle/>
          <a:p>
            <a:pPr>
              <a:lnSpc>
                <a:spcPct val="90000"/>
              </a:lnSpc>
            </a:pPr>
            <a:r>
              <a:rPr lang="en-US" altLang="en-US" sz="2400"/>
              <a:t>Scan the database of transactions to determine the support of each candidate itemset</a:t>
            </a:r>
          </a:p>
          <a:p>
            <a:pPr lvl="1">
              <a:lnSpc>
                <a:spcPct val="90000"/>
              </a:lnSpc>
            </a:pPr>
            <a:r>
              <a:rPr lang="en-US" altLang="en-US" sz="2000"/>
              <a:t>Must match every candidate itemset against every transaction, which is an expensive operation</a:t>
            </a:r>
          </a:p>
        </p:txBody>
      </p:sp>
      <p:graphicFrame>
        <p:nvGraphicFramePr>
          <p:cNvPr id="29700" name="Object 21"/>
          <p:cNvGraphicFramePr>
            <a:graphicFrameLocks noGrp="1" noChangeAspect="1"/>
          </p:cNvGraphicFramePr>
          <p:nvPr/>
        </p:nvGraphicFramePr>
        <p:xfrm>
          <a:off x="762000" y="3200400"/>
          <a:ext cx="3568700" cy="2146300"/>
        </p:xfrm>
        <a:graphic>
          <a:graphicData uri="http://schemas.openxmlformats.org/presentationml/2006/ole">
            <mc:AlternateContent xmlns:mc="http://schemas.openxmlformats.org/markup-compatibility/2006">
              <mc:Choice xmlns:v="urn:schemas-microsoft-com:vml" Requires="v">
                <p:oleObj name="Document" r:id="rId2" imgW="3352666" imgH="2016134" progId="Word.Document.8">
                  <p:embed/>
                </p:oleObj>
              </mc:Choice>
              <mc:Fallback>
                <p:oleObj name="Document" r:id="rId2" imgW="3352666" imgH="2016134" progId="Word.Document.8">
                  <p:embed/>
                  <p:pic>
                    <p:nvPicPr>
                      <p:cNvPr id="29700" name="Object 2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200400"/>
                        <a:ext cx="3568700" cy="214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1" name="Object 5"/>
          <p:cNvGraphicFramePr>
            <a:graphicFrameLocks noChangeAspect="1"/>
          </p:cNvGraphicFramePr>
          <p:nvPr/>
        </p:nvGraphicFramePr>
        <p:xfrm>
          <a:off x="5287963" y="3429000"/>
          <a:ext cx="3094037" cy="1508125"/>
        </p:xfrm>
        <a:graphic>
          <a:graphicData uri="http://schemas.openxmlformats.org/presentationml/2006/ole">
            <mc:AlternateContent xmlns:mc="http://schemas.openxmlformats.org/markup-compatibility/2006">
              <mc:Choice xmlns:v="urn:schemas-microsoft-com:vml" Requires="v">
                <p:oleObj name="Document" r:id="rId4" imgW="3122634" imgH="1524623" progId="Word.Document.8">
                  <p:embed/>
                </p:oleObj>
              </mc:Choice>
              <mc:Fallback>
                <p:oleObj name="Document" r:id="rId4" imgW="3122634" imgH="1524623" progId="Word.Document.8">
                  <p:embed/>
                  <p:pic>
                    <p:nvPicPr>
                      <p:cNvPr id="29701" name="Object 5"/>
                      <p:cNvPicPr>
                        <a:picLocks noChangeAspect="1" noChangeArrowheads="1"/>
                      </p:cNvPicPr>
                      <p:nvPr/>
                    </p:nvPicPr>
                    <p:blipFill>
                      <a:blip r:embed="rId5"/>
                      <a:srcRect/>
                      <a:stretch>
                        <a:fillRect/>
                      </a:stretch>
                    </p:blipFill>
                    <p:spPr bwMode="auto">
                      <a:xfrm>
                        <a:off x="5287963" y="3429000"/>
                        <a:ext cx="3094037" cy="1508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30318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sz="2800"/>
              <a:t>Support Counting of Candidate Itemsets</a:t>
            </a:r>
          </a:p>
        </p:txBody>
      </p:sp>
      <p:sp>
        <p:nvSpPr>
          <p:cNvPr id="30723" name="Rectangle 3"/>
          <p:cNvSpPr>
            <a:spLocks noGrp="1" noChangeArrowheads="1"/>
          </p:cNvSpPr>
          <p:nvPr>
            <p:ph type="body" idx="1"/>
          </p:nvPr>
        </p:nvSpPr>
        <p:spPr>
          <a:xfrm>
            <a:off x="411163" y="1066800"/>
            <a:ext cx="8318500" cy="2819400"/>
          </a:xfrm>
        </p:spPr>
        <p:txBody>
          <a:bodyPr/>
          <a:lstStyle/>
          <a:p>
            <a:pPr>
              <a:lnSpc>
                <a:spcPct val="90000"/>
              </a:lnSpc>
            </a:pPr>
            <a:r>
              <a:rPr lang="en-US" altLang="en-US" sz="2400"/>
              <a:t>To reduce number of comparisons, store the candidate itemsets in a hash structure</a:t>
            </a:r>
          </a:p>
          <a:p>
            <a:pPr lvl="1">
              <a:lnSpc>
                <a:spcPct val="90000"/>
              </a:lnSpc>
            </a:pPr>
            <a:r>
              <a:rPr lang="en-US" altLang="en-US" sz="2000"/>
              <a:t>Instead of matching each transaction against every candidate, match it against candidates contained in the hashed buckets</a:t>
            </a:r>
          </a:p>
        </p:txBody>
      </p:sp>
      <p:graphicFrame>
        <p:nvGraphicFramePr>
          <p:cNvPr id="30724" name="Object 4"/>
          <p:cNvGraphicFramePr>
            <a:graphicFrameLocks noChangeAspect="1"/>
          </p:cNvGraphicFramePr>
          <p:nvPr/>
        </p:nvGraphicFramePr>
        <p:xfrm>
          <a:off x="1066800" y="3124200"/>
          <a:ext cx="6477000" cy="2763838"/>
        </p:xfrm>
        <a:graphic>
          <a:graphicData uri="http://schemas.openxmlformats.org/presentationml/2006/ole">
            <mc:AlternateContent xmlns:mc="http://schemas.openxmlformats.org/markup-compatibility/2006">
              <mc:Choice xmlns:v="urn:schemas-microsoft-com:vml" Requires="v">
                <p:oleObj name="Visio" r:id="rId2" imgW="7643978" imgH="3191008" progId="Visio.Drawing.6">
                  <p:embed/>
                </p:oleObj>
              </mc:Choice>
              <mc:Fallback>
                <p:oleObj name="Visio" r:id="rId2" imgW="7643978" imgH="3191008" progId="Visio.Drawing.6">
                  <p:embed/>
                  <p:pic>
                    <p:nvPicPr>
                      <p:cNvPr id="3072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3124200"/>
                        <a:ext cx="6477000" cy="276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28207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330200" y="152400"/>
            <a:ext cx="8280400" cy="533400"/>
          </a:xfrm>
        </p:spPr>
        <p:txBody>
          <a:bodyPr/>
          <a:lstStyle/>
          <a:p>
            <a:r>
              <a:rPr lang="en-US" altLang="en-US"/>
              <a:t>Support Counting: An Example</a:t>
            </a:r>
          </a:p>
        </p:txBody>
      </p:sp>
      <p:sp>
        <p:nvSpPr>
          <p:cNvPr id="31747" name="Text Box 34"/>
          <p:cNvSpPr txBox="1">
            <a:spLocks noChangeArrowheads="1"/>
          </p:cNvSpPr>
          <p:nvPr/>
        </p:nvSpPr>
        <p:spPr bwMode="auto">
          <a:xfrm>
            <a:off x="457200" y="1066800"/>
            <a:ext cx="83058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a:t>Suppose you have 15 candidate itemsets of length 3: </a:t>
            </a:r>
          </a:p>
          <a:p>
            <a:pPr>
              <a:spcBef>
                <a:spcPct val="50000"/>
              </a:spcBef>
              <a:spcAft>
                <a:spcPct val="0"/>
              </a:spcAft>
              <a:buClrTx/>
              <a:buSzTx/>
              <a:buFontTx/>
              <a:buNone/>
            </a:pPr>
            <a:r>
              <a:rPr lang="en-US" altLang="en-US" sz="1800"/>
              <a:t>{1 4 5}, {1 2 4}, {4 5 7}, {1 2 5}, {4 5 8}, {1 5 9}, {1 3 6}, {2 3 4}, {5 6 7}, {3 4 5}, {3 5 6}, {3 5 7}, {6 8 9}, {3 6 7}, {3 6 8}</a:t>
            </a:r>
            <a:endParaRPr lang="en-US" altLang="en-US" sz="800"/>
          </a:p>
          <a:p>
            <a:pPr>
              <a:spcBef>
                <a:spcPct val="50000"/>
              </a:spcBef>
              <a:spcAft>
                <a:spcPct val="0"/>
              </a:spcAft>
              <a:buClrTx/>
              <a:buSzTx/>
              <a:buFontTx/>
              <a:buNone/>
            </a:pPr>
            <a:endParaRPr lang="en-US" altLang="en-US" sz="1800"/>
          </a:p>
        </p:txBody>
      </p:sp>
      <p:sp>
        <p:nvSpPr>
          <p:cNvPr id="31748" name="TextBox 34"/>
          <p:cNvSpPr txBox="1">
            <a:spLocks noChangeArrowheads="1"/>
          </p:cNvSpPr>
          <p:nvPr/>
        </p:nvSpPr>
        <p:spPr bwMode="auto">
          <a:xfrm>
            <a:off x="304800" y="2209800"/>
            <a:ext cx="822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a:t>How many of these itemsets are supported by transaction  (1,2,3,5,6)?</a:t>
            </a:r>
          </a:p>
        </p:txBody>
      </p:sp>
      <p:graphicFrame>
        <p:nvGraphicFramePr>
          <p:cNvPr id="64514" name="Object 3"/>
          <p:cNvGraphicFramePr>
            <a:graphicFrameLocks noChangeAspect="1"/>
          </p:cNvGraphicFramePr>
          <p:nvPr/>
        </p:nvGraphicFramePr>
        <p:xfrm>
          <a:off x="3505200" y="2754313"/>
          <a:ext cx="5334000" cy="3646487"/>
        </p:xfrm>
        <a:graphic>
          <a:graphicData uri="http://schemas.openxmlformats.org/presentationml/2006/ole">
            <mc:AlternateContent xmlns:mc="http://schemas.openxmlformats.org/markup-compatibility/2006">
              <mc:Choice xmlns:v="urn:schemas-microsoft-com:vml" Requires="v">
                <p:oleObj name="Visio" r:id="rId2" imgW="9765132" imgH="7372400" progId="Visio.Drawing.6">
                  <p:embed/>
                </p:oleObj>
              </mc:Choice>
              <mc:Fallback>
                <p:oleObj name="Visio" r:id="rId2" imgW="9765132" imgH="7372400" progId="Visio.Drawing.6">
                  <p:embed/>
                  <p:pic>
                    <p:nvPicPr>
                      <p:cNvPr id="6451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2754313"/>
                        <a:ext cx="5334000" cy="364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481434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4514"/>
                                        </p:tgtEl>
                                        <p:attrNameLst>
                                          <p:attrName>style.visibility</p:attrName>
                                        </p:attrNameLst>
                                      </p:cBhvr>
                                      <p:to>
                                        <p:strVal val="visible"/>
                                      </p:to>
                                    </p:set>
                                    <p:animEffect transition="in" filter="blinds(horizontal)">
                                      <p:cBhvr>
                                        <p:cTn id="7" dur="500"/>
                                        <p:tgtEl>
                                          <p:spTgt spid="64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330200" y="152400"/>
            <a:ext cx="8280400" cy="533400"/>
          </a:xfrm>
        </p:spPr>
        <p:txBody>
          <a:bodyPr/>
          <a:lstStyle/>
          <a:p>
            <a:r>
              <a:rPr lang="en-US" altLang="en-US"/>
              <a:t>Support Counting Using a Hash Tree</a:t>
            </a:r>
          </a:p>
        </p:txBody>
      </p:sp>
      <p:grpSp>
        <p:nvGrpSpPr>
          <p:cNvPr id="32771" name="Group 3"/>
          <p:cNvGrpSpPr>
            <a:grpSpLocks/>
          </p:cNvGrpSpPr>
          <p:nvPr/>
        </p:nvGrpSpPr>
        <p:grpSpPr bwMode="auto">
          <a:xfrm>
            <a:off x="3810000" y="3886200"/>
            <a:ext cx="4681538" cy="2446338"/>
            <a:chOff x="1632" y="1536"/>
            <a:chExt cx="3143" cy="1750"/>
          </a:xfrm>
        </p:grpSpPr>
        <p:sp>
          <p:nvSpPr>
            <p:cNvPr id="32782" name="Line 4"/>
            <p:cNvSpPr>
              <a:spLocks noChangeShapeType="1"/>
            </p:cNvSpPr>
            <p:nvPr/>
          </p:nvSpPr>
          <p:spPr bwMode="auto">
            <a:xfrm flipH="1">
              <a:off x="2496" y="1536"/>
              <a:ext cx="672" cy="336"/>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783" name="Line 5"/>
            <p:cNvSpPr>
              <a:spLocks noChangeShapeType="1"/>
            </p:cNvSpPr>
            <p:nvPr/>
          </p:nvSpPr>
          <p:spPr bwMode="auto">
            <a:xfrm>
              <a:off x="3168" y="1536"/>
              <a:ext cx="816" cy="288"/>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784" name="Line 6"/>
            <p:cNvSpPr>
              <a:spLocks noChangeShapeType="1"/>
            </p:cNvSpPr>
            <p:nvPr/>
          </p:nvSpPr>
          <p:spPr bwMode="auto">
            <a:xfrm>
              <a:off x="3168" y="1536"/>
              <a:ext cx="0" cy="24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785" name="Text Box 7"/>
            <p:cNvSpPr txBox="1">
              <a:spLocks noChangeArrowheads="1"/>
            </p:cNvSpPr>
            <p:nvPr/>
          </p:nvSpPr>
          <p:spPr bwMode="auto">
            <a:xfrm>
              <a:off x="2976" y="1728"/>
              <a:ext cx="465"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2 3 4</a:t>
              </a:r>
            </a:p>
            <a:p>
              <a:pPr>
                <a:spcBef>
                  <a:spcPct val="0"/>
                </a:spcBef>
                <a:spcAft>
                  <a:spcPct val="0"/>
                </a:spcAft>
                <a:buClrTx/>
                <a:buSzTx/>
                <a:buFontTx/>
                <a:buNone/>
              </a:pPr>
              <a:r>
                <a:rPr lang="en-US" altLang="en-US" sz="2000" b="0">
                  <a:latin typeface="Times New Roman" pitchFamily="18" charset="0"/>
                </a:rPr>
                <a:t>5 6 7</a:t>
              </a:r>
            </a:p>
          </p:txBody>
        </p:sp>
        <p:sp>
          <p:nvSpPr>
            <p:cNvPr id="32786" name="Line 8"/>
            <p:cNvSpPr>
              <a:spLocks noChangeShapeType="1"/>
            </p:cNvSpPr>
            <p:nvPr/>
          </p:nvSpPr>
          <p:spPr bwMode="auto">
            <a:xfrm flipH="1">
              <a:off x="1917" y="1871"/>
              <a:ext cx="576" cy="288"/>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787" name="Text Box 9"/>
            <p:cNvSpPr txBox="1">
              <a:spLocks noChangeArrowheads="1"/>
            </p:cNvSpPr>
            <p:nvPr/>
          </p:nvSpPr>
          <p:spPr bwMode="auto">
            <a:xfrm>
              <a:off x="1728" y="2159"/>
              <a:ext cx="46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1 4 5</a:t>
              </a:r>
            </a:p>
          </p:txBody>
        </p:sp>
        <p:sp>
          <p:nvSpPr>
            <p:cNvPr id="32788" name="Line 10"/>
            <p:cNvSpPr>
              <a:spLocks noChangeShapeType="1"/>
            </p:cNvSpPr>
            <p:nvPr/>
          </p:nvSpPr>
          <p:spPr bwMode="auto">
            <a:xfrm>
              <a:off x="2493" y="1871"/>
              <a:ext cx="3" cy="481"/>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789" name="Line 11"/>
            <p:cNvSpPr>
              <a:spLocks noChangeShapeType="1"/>
            </p:cNvSpPr>
            <p:nvPr/>
          </p:nvSpPr>
          <p:spPr bwMode="auto">
            <a:xfrm>
              <a:off x="2493" y="1871"/>
              <a:ext cx="576" cy="386"/>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790" name="Text Box 12"/>
            <p:cNvSpPr txBox="1">
              <a:spLocks noChangeArrowheads="1"/>
            </p:cNvSpPr>
            <p:nvPr/>
          </p:nvSpPr>
          <p:spPr bwMode="auto">
            <a:xfrm>
              <a:off x="2870" y="2265"/>
              <a:ext cx="46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1 3 6</a:t>
              </a:r>
            </a:p>
          </p:txBody>
        </p:sp>
        <p:sp>
          <p:nvSpPr>
            <p:cNvPr id="32791" name="Line 13"/>
            <p:cNvSpPr>
              <a:spLocks noChangeShapeType="1"/>
            </p:cNvSpPr>
            <p:nvPr/>
          </p:nvSpPr>
          <p:spPr bwMode="auto">
            <a:xfrm flipH="1">
              <a:off x="1824" y="2352"/>
              <a:ext cx="672" cy="336"/>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792" name="Text Box 14"/>
            <p:cNvSpPr txBox="1">
              <a:spLocks noChangeArrowheads="1"/>
            </p:cNvSpPr>
            <p:nvPr/>
          </p:nvSpPr>
          <p:spPr bwMode="auto">
            <a:xfrm>
              <a:off x="1632" y="2640"/>
              <a:ext cx="465"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1 2 4</a:t>
              </a:r>
            </a:p>
            <a:p>
              <a:pPr>
                <a:spcBef>
                  <a:spcPct val="0"/>
                </a:spcBef>
                <a:spcAft>
                  <a:spcPct val="0"/>
                </a:spcAft>
                <a:buClrTx/>
                <a:buSzTx/>
                <a:buFontTx/>
                <a:buNone/>
              </a:pPr>
              <a:r>
                <a:rPr lang="en-US" altLang="en-US" sz="2000" b="0">
                  <a:latin typeface="Times New Roman" pitchFamily="18" charset="0"/>
                </a:rPr>
                <a:t>4 5 7</a:t>
              </a:r>
            </a:p>
          </p:txBody>
        </p:sp>
        <p:sp>
          <p:nvSpPr>
            <p:cNvPr id="32793" name="Line 15"/>
            <p:cNvSpPr>
              <a:spLocks noChangeShapeType="1"/>
            </p:cNvSpPr>
            <p:nvPr/>
          </p:nvSpPr>
          <p:spPr bwMode="auto">
            <a:xfrm>
              <a:off x="2496" y="2352"/>
              <a:ext cx="0" cy="432"/>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794" name="Text Box 16"/>
            <p:cNvSpPr txBox="1">
              <a:spLocks noChangeArrowheads="1"/>
            </p:cNvSpPr>
            <p:nvPr/>
          </p:nvSpPr>
          <p:spPr bwMode="auto">
            <a:xfrm>
              <a:off x="2255" y="2784"/>
              <a:ext cx="465"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1 2 5</a:t>
              </a:r>
            </a:p>
            <a:p>
              <a:pPr>
                <a:spcBef>
                  <a:spcPct val="0"/>
                </a:spcBef>
                <a:spcAft>
                  <a:spcPct val="0"/>
                </a:spcAft>
                <a:buClrTx/>
                <a:buSzTx/>
                <a:buFontTx/>
                <a:buNone/>
              </a:pPr>
              <a:r>
                <a:rPr lang="en-US" altLang="en-US" sz="2000" b="0">
                  <a:latin typeface="Times New Roman" pitchFamily="18" charset="0"/>
                </a:rPr>
                <a:t>4 5 8</a:t>
              </a:r>
            </a:p>
          </p:txBody>
        </p:sp>
        <p:sp>
          <p:nvSpPr>
            <p:cNvPr id="32795" name="Line 17"/>
            <p:cNvSpPr>
              <a:spLocks noChangeShapeType="1"/>
            </p:cNvSpPr>
            <p:nvPr/>
          </p:nvSpPr>
          <p:spPr bwMode="auto">
            <a:xfrm>
              <a:off x="2496" y="2352"/>
              <a:ext cx="576" cy="432"/>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796" name="Text Box 18"/>
            <p:cNvSpPr txBox="1">
              <a:spLocks noChangeArrowheads="1"/>
            </p:cNvSpPr>
            <p:nvPr/>
          </p:nvSpPr>
          <p:spPr bwMode="auto">
            <a:xfrm>
              <a:off x="2832" y="2784"/>
              <a:ext cx="46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1 5 9</a:t>
              </a:r>
            </a:p>
          </p:txBody>
        </p:sp>
        <p:sp>
          <p:nvSpPr>
            <p:cNvPr id="32797" name="Line 19"/>
            <p:cNvSpPr>
              <a:spLocks noChangeShapeType="1"/>
            </p:cNvSpPr>
            <p:nvPr/>
          </p:nvSpPr>
          <p:spPr bwMode="auto">
            <a:xfrm flipH="1">
              <a:off x="3456" y="1824"/>
              <a:ext cx="528" cy="336"/>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798" name="Text Box 20"/>
            <p:cNvSpPr txBox="1">
              <a:spLocks noChangeArrowheads="1"/>
            </p:cNvSpPr>
            <p:nvPr/>
          </p:nvSpPr>
          <p:spPr bwMode="auto">
            <a:xfrm>
              <a:off x="3254" y="2169"/>
              <a:ext cx="46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3 4 5</a:t>
              </a:r>
            </a:p>
          </p:txBody>
        </p:sp>
        <p:sp>
          <p:nvSpPr>
            <p:cNvPr id="32799" name="Line 21"/>
            <p:cNvSpPr>
              <a:spLocks noChangeShapeType="1"/>
            </p:cNvSpPr>
            <p:nvPr/>
          </p:nvSpPr>
          <p:spPr bwMode="auto">
            <a:xfrm>
              <a:off x="3984" y="1824"/>
              <a:ext cx="0" cy="336"/>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800" name="Text Box 22"/>
            <p:cNvSpPr txBox="1">
              <a:spLocks noChangeArrowheads="1"/>
            </p:cNvSpPr>
            <p:nvPr/>
          </p:nvSpPr>
          <p:spPr bwMode="auto">
            <a:xfrm>
              <a:off x="3792" y="2160"/>
              <a:ext cx="465"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3 5 6</a:t>
              </a:r>
            </a:p>
            <a:p>
              <a:pPr>
                <a:spcBef>
                  <a:spcPct val="0"/>
                </a:spcBef>
                <a:spcAft>
                  <a:spcPct val="0"/>
                </a:spcAft>
                <a:buClrTx/>
                <a:buSzTx/>
                <a:buFontTx/>
                <a:buNone/>
              </a:pPr>
              <a:r>
                <a:rPr lang="en-US" altLang="en-US" sz="2000" b="0">
                  <a:latin typeface="Times New Roman" pitchFamily="18" charset="0"/>
                </a:rPr>
                <a:t>3 5 7</a:t>
              </a:r>
            </a:p>
            <a:p>
              <a:pPr>
                <a:spcBef>
                  <a:spcPct val="0"/>
                </a:spcBef>
                <a:spcAft>
                  <a:spcPct val="0"/>
                </a:spcAft>
                <a:buClrTx/>
                <a:buSzTx/>
                <a:buFontTx/>
                <a:buNone/>
              </a:pPr>
              <a:r>
                <a:rPr lang="en-US" altLang="en-US" sz="2000" b="0">
                  <a:latin typeface="Times New Roman" pitchFamily="18" charset="0"/>
                </a:rPr>
                <a:t>6 8 9</a:t>
              </a:r>
            </a:p>
          </p:txBody>
        </p:sp>
        <p:sp>
          <p:nvSpPr>
            <p:cNvPr id="32801" name="Line 23"/>
            <p:cNvSpPr>
              <a:spLocks noChangeShapeType="1"/>
            </p:cNvSpPr>
            <p:nvPr/>
          </p:nvSpPr>
          <p:spPr bwMode="auto">
            <a:xfrm>
              <a:off x="3984" y="1824"/>
              <a:ext cx="528" cy="336"/>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2802" name="Text Box 24"/>
            <p:cNvSpPr txBox="1">
              <a:spLocks noChangeArrowheads="1"/>
            </p:cNvSpPr>
            <p:nvPr/>
          </p:nvSpPr>
          <p:spPr bwMode="auto">
            <a:xfrm>
              <a:off x="4310" y="2121"/>
              <a:ext cx="465"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3 6 7</a:t>
              </a:r>
            </a:p>
            <a:p>
              <a:pPr>
                <a:spcBef>
                  <a:spcPct val="0"/>
                </a:spcBef>
                <a:spcAft>
                  <a:spcPct val="0"/>
                </a:spcAft>
                <a:buClrTx/>
                <a:buSzTx/>
                <a:buFontTx/>
                <a:buNone/>
              </a:pPr>
              <a:r>
                <a:rPr lang="en-US" altLang="en-US" sz="2000" b="0">
                  <a:latin typeface="Times New Roman" pitchFamily="18" charset="0"/>
                </a:rPr>
                <a:t>3 6 8</a:t>
              </a:r>
            </a:p>
          </p:txBody>
        </p:sp>
      </p:grpSp>
      <p:grpSp>
        <p:nvGrpSpPr>
          <p:cNvPr id="32772" name="Group 25"/>
          <p:cNvGrpSpPr>
            <a:grpSpLocks/>
          </p:cNvGrpSpPr>
          <p:nvPr/>
        </p:nvGrpSpPr>
        <p:grpSpPr bwMode="auto">
          <a:xfrm>
            <a:off x="533400" y="4237038"/>
            <a:ext cx="2286000" cy="1249362"/>
            <a:chOff x="144" y="912"/>
            <a:chExt cx="1440" cy="787"/>
          </a:xfrm>
        </p:grpSpPr>
        <p:sp>
          <p:nvSpPr>
            <p:cNvPr id="32774" name="Line 26"/>
            <p:cNvSpPr>
              <a:spLocks noChangeShapeType="1"/>
            </p:cNvSpPr>
            <p:nvPr/>
          </p:nvSpPr>
          <p:spPr bwMode="auto">
            <a:xfrm flipH="1">
              <a:off x="480" y="1200"/>
              <a:ext cx="384"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5" name="Line 27"/>
            <p:cNvSpPr>
              <a:spLocks noChangeShapeType="1"/>
            </p:cNvSpPr>
            <p:nvPr/>
          </p:nvSpPr>
          <p:spPr bwMode="auto">
            <a:xfrm>
              <a:off x="864" y="120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6" name="Text Box 28"/>
            <p:cNvSpPr txBox="1">
              <a:spLocks noChangeArrowheads="1"/>
            </p:cNvSpPr>
            <p:nvPr/>
          </p:nvSpPr>
          <p:spPr bwMode="auto">
            <a:xfrm>
              <a:off x="240" y="1200"/>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1,4,7</a:t>
              </a:r>
            </a:p>
          </p:txBody>
        </p:sp>
        <p:sp>
          <p:nvSpPr>
            <p:cNvPr id="32777" name="Text Box 29"/>
            <p:cNvSpPr txBox="1">
              <a:spLocks noChangeArrowheads="1"/>
            </p:cNvSpPr>
            <p:nvPr/>
          </p:nvSpPr>
          <p:spPr bwMode="auto">
            <a:xfrm>
              <a:off x="662" y="1449"/>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2,5,8</a:t>
              </a:r>
            </a:p>
          </p:txBody>
        </p:sp>
        <p:sp>
          <p:nvSpPr>
            <p:cNvPr id="32778" name="Line 30"/>
            <p:cNvSpPr>
              <a:spLocks noChangeShapeType="1"/>
            </p:cNvSpPr>
            <p:nvPr/>
          </p:nvSpPr>
          <p:spPr bwMode="auto">
            <a:xfrm>
              <a:off x="864" y="1200"/>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9" name="Text Box 31"/>
            <p:cNvSpPr txBox="1">
              <a:spLocks noChangeArrowheads="1"/>
            </p:cNvSpPr>
            <p:nvPr/>
          </p:nvSpPr>
          <p:spPr bwMode="auto">
            <a:xfrm>
              <a:off x="998" y="1113"/>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3,6,9</a:t>
              </a:r>
            </a:p>
          </p:txBody>
        </p:sp>
        <p:sp>
          <p:nvSpPr>
            <p:cNvPr id="32780" name="Text Box 32"/>
            <p:cNvSpPr txBox="1">
              <a:spLocks noChangeArrowheads="1"/>
            </p:cNvSpPr>
            <p:nvPr/>
          </p:nvSpPr>
          <p:spPr bwMode="auto">
            <a:xfrm>
              <a:off x="336" y="912"/>
              <a:ext cx="10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chemeClr val="hlink"/>
                  </a:solidFill>
                  <a:latin typeface="Times New Roman" pitchFamily="18" charset="0"/>
                </a:rPr>
                <a:t>Hash function</a:t>
              </a:r>
            </a:p>
          </p:txBody>
        </p:sp>
        <p:sp>
          <p:nvSpPr>
            <p:cNvPr id="32781" name="Rectangle 33"/>
            <p:cNvSpPr>
              <a:spLocks noChangeArrowheads="1"/>
            </p:cNvSpPr>
            <p:nvPr/>
          </p:nvSpPr>
          <p:spPr bwMode="auto">
            <a:xfrm>
              <a:off x="144" y="912"/>
              <a:ext cx="1440" cy="768"/>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grpSp>
      <p:sp>
        <p:nvSpPr>
          <p:cNvPr id="32773" name="Text Box 34"/>
          <p:cNvSpPr txBox="1">
            <a:spLocks noChangeArrowheads="1"/>
          </p:cNvSpPr>
          <p:nvPr/>
        </p:nvSpPr>
        <p:spPr bwMode="auto">
          <a:xfrm>
            <a:off x="457200" y="1066800"/>
            <a:ext cx="8305800" cy="256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a:t>Suppose you have 15 candidate itemsets of length 3: </a:t>
            </a:r>
          </a:p>
          <a:p>
            <a:pPr>
              <a:spcBef>
                <a:spcPct val="50000"/>
              </a:spcBef>
              <a:spcAft>
                <a:spcPct val="0"/>
              </a:spcAft>
              <a:buClrTx/>
              <a:buSzTx/>
              <a:buFontTx/>
              <a:buNone/>
            </a:pPr>
            <a:r>
              <a:rPr lang="en-US" altLang="en-US" sz="1800"/>
              <a:t>{1 4 5}, {1 2 4}, {4 5 7}, {1 2 5}, {4 5 8}, {1 5 9}, {1 3 6}, {2 3 4}, {5 6 7}, {3 4 5}, {3 5 6}, {3 5 7}, {6 8 9}, {3 6 7}, {3 6 8}</a:t>
            </a:r>
            <a:endParaRPr lang="en-US" altLang="en-US" sz="800"/>
          </a:p>
          <a:p>
            <a:pPr>
              <a:spcBef>
                <a:spcPct val="50000"/>
              </a:spcBef>
              <a:spcAft>
                <a:spcPct val="0"/>
              </a:spcAft>
              <a:buClrTx/>
              <a:buSzTx/>
              <a:buFontTx/>
              <a:buNone/>
            </a:pPr>
            <a:r>
              <a:rPr lang="en-US" altLang="en-US" sz="1800"/>
              <a:t>You need:</a:t>
            </a:r>
          </a:p>
          <a:p>
            <a:pPr>
              <a:spcBef>
                <a:spcPct val="50000"/>
              </a:spcBef>
              <a:spcAft>
                <a:spcPct val="0"/>
              </a:spcAft>
              <a:buClrTx/>
              <a:buSzTx/>
              <a:buFontTx/>
              <a:buChar char="•"/>
            </a:pPr>
            <a:r>
              <a:rPr lang="en-US" altLang="en-US" sz="1800"/>
              <a:t> Hash function </a:t>
            </a:r>
          </a:p>
          <a:p>
            <a:pPr>
              <a:spcBef>
                <a:spcPct val="50000"/>
              </a:spcBef>
              <a:spcAft>
                <a:spcPct val="0"/>
              </a:spcAft>
              <a:buClrTx/>
              <a:buSzTx/>
              <a:buFontTx/>
              <a:buChar char="•"/>
            </a:pPr>
            <a:r>
              <a:rPr lang="en-US" altLang="en-US" sz="1800"/>
              <a:t> Max leaf size: max number of itemsets stored in a leaf node (if number of candidate itemsets exceeds max leaf size, split the node)</a:t>
            </a:r>
          </a:p>
        </p:txBody>
      </p:sp>
    </p:spTree>
    <p:extLst>
      <p:ext uri="{BB962C8B-B14F-4D97-AF65-F5344CB8AC3E}">
        <p14:creationId xmlns:p14="http://schemas.microsoft.com/office/powerpoint/2010/main" val="2297816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3"/>
          <p:cNvSpPr>
            <a:spLocks noGrp="1" noChangeArrowheads="1"/>
          </p:cNvSpPr>
          <p:nvPr>
            <p:ph type="title"/>
          </p:nvPr>
        </p:nvSpPr>
        <p:spPr>
          <a:xfrm>
            <a:off x="533400" y="152400"/>
            <a:ext cx="8280400" cy="533400"/>
          </a:xfrm>
        </p:spPr>
        <p:txBody>
          <a:bodyPr/>
          <a:lstStyle/>
          <a:p>
            <a:r>
              <a:rPr lang="en-US" altLang="en-US"/>
              <a:t>Support Counting Using a Hash Tree</a:t>
            </a:r>
          </a:p>
        </p:txBody>
      </p:sp>
      <p:sp>
        <p:nvSpPr>
          <p:cNvPr id="33795" name="Text Box 3"/>
          <p:cNvSpPr txBox="1">
            <a:spLocks noChangeArrowheads="1"/>
          </p:cNvSpPr>
          <p:nvPr/>
        </p:nvSpPr>
        <p:spPr bwMode="auto">
          <a:xfrm>
            <a:off x="593725" y="1268413"/>
            <a:ext cx="184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b="0">
              <a:latin typeface="Wingdings" pitchFamily="2" charset="2"/>
            </a:endParaRPr>
          </a:p>
        </p:txBody>
      </p:sp>
      <p:grpSp>
        <p:nvGrpSpPr>
          <p:cNvPr id="33796" name="Group 4"/>
          <p:cNvGrpSpPr>
            <a:grpSpLocks/>
          </p:cNvGrpSpPr>
          <p:nvPr/>
        </p:nvGrpSpPr>
        <p:grpSpPr bwMode="auto">
          <a:xfrm>
            <a:off x="1981200" y="1736725"/>
            <a:ext cx="6553200" cy="4206875"/>
            <a:chOff x="1296" y="1056"/>
            <a:chExt cx="4128" cy="2650"/>
          </a:xfrm>
        </p:grpSpPr>
        <p:grpSp>
          <p:nvGrpSpPr>
            <p:cNvPr id="33812" name="Group 5"/>
            <p:cNvGrpSpPr>
              <a:grpSpLocks/>
            </p:cNvGrpSpPr>
            <p:nvPr/>
          </p:nvGrpSpPr>
          <p:grpSpPr bwMode="auto">
            <a:xfrm>
              <a:off x="2160" y="1344"/>
              <a:ext cx="2160" cy="528"/>
              <a:chOff x="2160" y="1344"/>
              <a:chExt cx="1056" cy="576"/>
            </a:xfrm>
          </p:grpSpPr>
          <p:sp>
            <p:nvSpPr>
              <p:cNvPr id="33892" name="Line 6"/>
              <p:cNvSpPr>
                <a:spLocks noChangeShapeType="1"/>
              </p:cNvSpPr>
              <p:nvPr/>
            </p:nvSpPr>
            <p:spPr bwMode="auto">
              <a:xfrm flipH="1">
                <a:off x="2160" y="1344"/>
                <a:ext cx="528"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93" name="Line 7"/>
              <p:cNvSpPr>
                <a:spLocks noChangeShapeType="1"/>
              </p:cNvSpPr>
              <p:nvPr/>
            </p:nvSpPr>
            <p:spPr bwMode="auto">
              <a:xfrm>
                <a:off x="2688" y="134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94" name="Line 8"/>
              <p:cNvSpPr>
                <a:spLocks noChangeShapeType="1"/>
              </p:cNvSpPr>
              <p:nvPr/>
            </p:nvSpPr>
            <p:spPr bwMode="auto">
              <a:xfrm>
                <a:off x="2688" y="1344"/>
                <a:ext cx="528"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3813" name="Group 9"/>
            <p:cNvGrpSpPr>
              <a:grpSpLocks/>
            </p:cNvGrpSpPr>
            <p:nvPr/>
          </p:nvGrpSpPr>
          <p:grpSpPr bwMode="auto">
            <a:xfrm>
              <a:off x="1536" y="2112"/>
              <a:ext cx="1104" cy="384"/>
              <a:chOff x="1680" y="2160"/>
              <a:chExt cx="864" cy="432"/>
            </a:xfrm>
          </p:grpSpPr>
          <p:sp>
            <p:nvSpPr>
              <p:cNvPr id="33889" name="Line 10"/>
              <p:cNvSpPr>
                <a:spLocks noChangeShapeType="1"/>
              </p:cNvSpPr>
              <p:nvPr/>
            </p:nvSpPr>
            <p:spPr bwMode="auto">
              <a:xfrm flipH="1">
                <a:off x="1680" y="2160"/>
                <a:ext cx="48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90" name="Line 11"/>
              <p:cNvSpPr>
                <a:spLocks noChangeShapeType="1"/>
              </p:cNvSpPr>
              <p:nvPr/>
            </p:nvSpPr>
            <p:spPr bwMode="auto">
              <a:xfrm>
                <a:off x="2160" y="2160"/>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91" name="Line 12"/>
              <p:cNvSpPr>
                <a:spLocks noChangeShapeType="1"/>
              </p:cNvSpPr>
              <p:nvPr/>
            </p:nvSpPr>
            <p:spPr bwMode="auto">
              <a:xfrm>
                <a:off x="2160" y="2160"/>
                <a:ext cx="38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3814" name="Group 13"/>
            <p:cNvGrpSpPr>
              <a:grpSpLocks/>
            </p:cNvGrpSpPr>
            <p:nvPr/>
          </p:nvGrpSpPr>
          <p:grpSpPr bwMode="auto">
            <a:xfrm>
              <a:off x="3552" y="2112"/>
              <a:ext cx="1632" cy="528"/>
              <a:chOff x="2832" y="2160"/>
              <a:chExt cx="816" cy="432"/>
            </a:xfrm>
          </p:grpSpPr>
          <p:sp>
            <p:nvSpPr>
              <p:cNvPr id="33886" name="Line 14"/>
              <p:cNvSpPr>
                <a:spLocks noChangeShapeType="1"/>
              </p:cNvSpPr>
              <p:nvPr/>
            </p:nvSpPr>
            <p:spPr bwMode="auto">
              <a:xfrm flipH="1">
                <a:off x="2832" y="2160"/>
                <a:ext cx="384"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87" name="Line 15"/>
              <p:cNvSpPr>
                <a:spLocks noChangeShapeType="1"/>
              </p:cNvSpPr>
              <p:nvPr/>
            </p:nvSpPr>
            <p:spPr bwMode="auto">
              <a:xfrm>
                <a:off x="3216" y="2160"/>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88" name="Line 16"/>
              <p:cNvSpPr>
                <a:spLocks noChangeShapeType="1"/>
              </p:cNvSpPr>
              <p:nvPr/>
            </p:nvSpPr>
            <p:spPr bwMode="auto">
              <a:xfrm>
                <a:off x="3216" y="2160"/>
                <a:ext cx="432"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3815" name="Group 17"/>
            <p:cNvGrpSpPr>
              <a:grpSpLocks/>
            </p:cNvGrpSpPr>
            <p:nvPr/>
          </p:nvGrpSpPr>
          <p:grpSpPr bwMode="auto">
            <a:xfrm>
              <a:off x="1584" y="2784"/>
              <a:ext cx="1104" cy="432"/>
              <a:chOff x="1584" y="2880"/>
              <a:chExt cx="1104" cy="432"/>
            </a:xfrm>
          </p:grpSpPr>
          <p:sp>
            <p:nvSpPr>
              <p:cNvPr id="33883" name="Line 18"/>
              <p:cNvSpPr>
                <a:spLocks noChangeShapeType="1"/>
              </p:cNvSpPr>
              <p:nvPr/>
            </p:nvSpPr>
            <p:spPr bwMode="auto">
              <a:xfrm flipH="1">
                <a:off x="1584" y="2880"/>
                <a:ext cx="576"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84" name="Line 19"/>
              <p:cNvSpPr>
                <a:spLocks noChangeShapeType="1"/>
              </p:cNvSpPr>
              <p:nvPr/>
            </p:nvSpPr>
            <p:spPr bwMode="auto">
              <a:xfrm>
                <a:off x="2160" y="2880"/>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85" name="Line 20"/>
              <p:cNvSpPr>
                <a:spLocks noChangeShapeType="1"/>
              </p:cNvSpPr>
              <p:nvPr/>
            </p:nvSpPr>
            <p:spPr bwMode="auto">
              <a:xfrm>
                <a:off x="2160" y="2880"/>
                <a:ext cx="52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3816" name="Group 21"/>
            <p:cNvGrpSpPr>
              <a:grpSpLocks/>
            </p:cNvGrpSpPr>
            <p:nvPr/>
          </p:nvGrpSpPr>
          <p:grpSpPr bwMode="auto">
            <a:xfrm>
              <a:off x="2064" y="1824"/>
              <a:ext cx="192" cy="288"/>
              <a:chOff x="2064" y="1872"/>
              <a:chExt cx="192" cy="288"/>
            </a:xfrm>
          </p:grpSpPr>
          <p:sp>
            <p:nvSpPr>
              <p:cNvPr id="33880" name="Rectangle 22"/>
              <p:cNvSpPr>
                <a:spLocks noChangeArrowheads="1"/>
              </p:cNvSpPr>
              <p:nvPr/>
            </p:nvSpPr>
            <p:spPr bwMode="auto">
              <a:xfrm>
                <a:off x="2064"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81" name="Line 23"/>
              <p:cNvSpPr>
                <a:spLocks noChangeShapeType="1"/>
              </p:cNvSpPr>
              <p:nvPr/>
            </p:nvSpPr>
            <p:spPr bwMode="auto">
              <a:xfrm>
                <a:off x="2064"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82" name="Line 24"/>
              <p:cNvSpPr>
                <a:spLocks noChangeShapeType="1"/>
              </p:cNvSpPr>
              <p:nvPr/>
            </p:nvSpPr>
            <p:spPr bwMode="auto">
              <a:xfrm>
                <a:off x="2064"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3817" name="Group 25"/>
            <p:cNvGrpSpPr>
              <a:grpSpLocks/>
            </p:cNvGrpSpPr>
            <p:nvPr/>
          </p:nvGrpSpPr>
          <p:grpSpPr bwMode="auto">
            <a:xfrm>
              <a:off x="4224" y="1824"/>
              <a:ext cx="192" cy="288"/>
              <a:chOff x="3120" y="1872"/>
              <a:chExt cx="192" cy="288"/>
            </a:xfrm>
          </p:grpSpPr>
          <p:sp>
            <p:nvSpPr>
              <p:cNvPr id="33877" name="Rectangle 26"/>
              <p:cNvSpPr>
                <a:spLocks noChangeArrowheads="1"/>
              </p:cNvSpPr>
              <p:nvPr/>
            </p:nvSpPr>
            <p:spPr bwMode="auto">
              <a:xfrm>
                <a:off x="3120"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78" name="Line 27"/>
              <p:cNvSpPr>
                <a:spLocks noChangeShapeType="1"/>
              </p:cNvSpPr>
              <p:nvPr/>
            </p:nvSpPr>
            <p:spPr bwMode="auto">
              <a:xfrm>
                <a:off x="3120"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79" name="Line 28"/>
              <p:cNvSpPr>
                <a:spLocks noChangeShapeType="1"/>
              </p:cNvSpPr>
              <p:nvPr/>
            </p:nvSpPr>
            <p:spPr bwMode="auto">
              <a:xfrm>
                <a:off x="3120"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3818" name="Group 29"/>
            <p:cNvGrpSpPr>
              <a:grpSpLocks/>
            </p:cNvGrpSpPr>
            <p:nvPr/>
          </p:nvGrpSpPr>
          <p:grpSpPr bwMode="auto">
            <a:xfrm>
              <a:off x="2064" y="2496"/>
              <a:ext cx="192" cy="288"/>
              <a:chOff x="2064" y="2592"/>
              <a:chExt cx="192" cy="288"/>
            </a:xfrm>
          </p:grpSpPr>
          <p:sp>
            <p:nvSpPr>
              <p:cNvPr id="33874" name="Rectangle 30"/>
              <p:cNvSpPr>
                <a:spLocks noChangeArrowheads="1"/>
              </p:cNvSpPr>
              <p:nvPr/>
            </p:nvSpPr>
            <p:spPr bwMode="auto">
              <a:xfrm>
                <a:off x="2064" y="259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75" name="Line 31"/>
              <p:cNvSpPr>
                <a:spLocks noChangeShapeType="1"/>
              </p:cNvSpPr>
              <p:nvPr/>
            </p:nvSpPr>
            <p:spPr bwMode="auto">
              <a:xfrm>
                <a:off x="2064" y="278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76" name="Line 32"/>
              <p:cNvSpPr>
                <a:spLocks noChangeShapeType="1"/>
              </p:cNvSpPr>
              <p:nvPr/>
            </p:nvSpPr>
            <p:spPr bwMode="auto">
              <a:xfrm>
                <a:off x="2064" y="268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3819" name="Group 33"/>
            <p:cNvGrpSpPr>
              <a:grpSpLocks/>
            </p:cNvGrpSpPr>
            <p:nvPr/>
          </p:nvGrpSpPr>
          <p:grpSpPr bwMode="auto">
            <a:xfrm>
              <a:off x="2544" y="3168"/>
              <a:ext cx="480" cy="250"/>
              <a:chOff x="432" y="3408"/>
              <a:chExt cx="480" cy="250"/>
            </a:xfrm>
          </p:grpSpPr>
          <p:sp>
            <p:nvSpPr>
              <p:cNvPr id="33872" name="Rectangle 34"/>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73" name="Text Box 35"/>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1</a:t>
                </a:r>
                <a:r>
                  <a:rPr lang="en-US" altLang="en-US" sz="2000" b="0">
                    <a:latin typeface="Times New Roman" pitchFamily="18" charset="0"/>
                  </a:rPr>
                  <a:t> 5 9</a:t>
                </a:r>
              </a:p>
            </p:txBody>
          </p:sp>
        </p:grpSp>
        <p:grpSp>
          <p:nvGrpSpPr>
            <p:cNvPr id="33820" name="Group 36"/>
            <p:cNvGrpSpPr>
              <a:grpSpLocks/>
            </p:cNvGrpSpPr>
            <p:nvPr/>
          </p:nvGrpSpPr>
          <p:grpSpPr bwMode="auto">
            <a:xfrm>
              <a:off x="1296" y="2448"/>
              <a:ext cx="480" cy="250"/>
              <a:chOff x="432" y="3408"/>
              <a:chExt cx="480" cy="250"/>
            </a:xfrm>
          </p:grpSpPr>
          <p:sp>
            <p:nvSpPr>
              <p:cNvPr id="33870" name="Rectangle 37"/>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71" name="Text Box 38"/>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1</a:t>
                </a:r>
                <a:r>
                  <a:rPr lang="en-US" altLang="en-US" sz="2000" b="0">
                    <a:latin typeface="Times New Roman" pitchFamily="18" charset="0"/>
                  </a:rPr>
                  <a:t> </a:t>
                </a:r>
                <a:r>
                  <a:rPr lang="en-US" altLang="en-US" sz="2000" b="0">
                    <a:solidFill>
                      <a:srgbClr val="FF0000"/>
                    </a:solidFill>
                    <a:latin typeface="Times New Roman" pitchFamily="18" charset="0"/>
                  </a:rPr>
                  <a:t>4</a:t>
                </a:r>
                <a:r>
                  <a:rPr lang="en-US" altLang="en-US" sz="2000" b="0">
                    <a:latin typeface="Times New Roman" pitchFamily="18" charset="0"/>
                  </a:rPr>
                  <a:t> 5</a:t>
                </a:r>
              </a:p>
            </p:txBody>
          </p:sp>
        </p:grpSp>
        <p:grpSp>
          <p:nvGrpSpPr>
            <p:cNvPr id="33821" name="Group 39"/>
            <p:cNvGrpSpPr>
              <a:grpSpLocks/>
            </p:cNvGrpSpPr>
            <p:nvPr/>
          </p:nvGrpSpPr>
          <p:grpSpPr bwMode="auto">
            <a:xfrm>
              <a:off x="2448" y="2448"/>
              <a:ext cx="480" cy="250"/>
              <a:chOff x="432" y="3408"/>
              <a:chExt cx="480" cy="250"/>
            </a:xfrm>
          </p:grpSpPr>
          <p:sp>
            <p:nvSpPr>
              <p:cNvPr id="33868" name="Rectangle 40"/>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69" name="Text Box 41"/>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1</a:t>
                </a:r>
                <a:r>
                  <a:rPr lang="en-US" altLang="en-US" sz="2000" b="0">
                    <a:latin typeface="Times New Roman" pitchFamily="18" charset="0"/>
                  </a:rPr>
                  <a:t> 3 6</a:t>
                </a:r>
              </a:p>
            </p:txBody>
          </p:sp>
        </p:grpSp>
        <p:grpSp>
          <p:nvGrpSpPr>
            <p:cNvPr id="33822" name="Group 42"/>
            <p:cNvGrpSpPr>
              <a:grpSpLocks/>
            </p:cNvGrpSpPr>
            <p:nvPr/>
          </p:nvGrpSpPr>
          <p:grpSpPr bwMode="auto">
            <a:xfrm>
              <a:off x="3312" y="2640"/>
              <a:ext cx="480" cy="250"/>
              <a:chOff x="432" y="3408"/>
              <a:chExt cx="480" cy="250"/>
            </a:xfrm>
          </p:grpSpPr>
          <p:sp>
            <p:nvSpPr>
              <p:cNvPr id="33866" name="Rectangle 43"/>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67" name="Text Box 44"/>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a:t>
                </a:r>
                <a:r>
                  <a:rPr lang="en-US" altLang="en-US" sz="2000" b="0">
                    <a:solidFill>
                      <a:srgbClr val="FF0000"/>
                    </a:solidFill>
                    <a:latin typeface="Times New Roman" pitchFamily="18" charset="0"/>
                  </a:rPr>
                  <a:t>4</a:t>
                </a:r>
                <a:r>
                  <a:rPr lang="en-US" altLang="en-US" sz="2000" b="0">
                    <a:latin typeface="Times New Roman" pitchFamily="18" charset="0"/>
                  </a:rPr>
                  <a:t> 5</a:t>
                </a:r>
              </a:p>
            </p:txBody>
          </p:sp>
        </p:grpSp>
        <p:grpSp>
          <p:nvGrpSpPr>
            <p:cNvPr id="33823" name="Group 45"/>
            <p:cNvGrpSpPr>
              <a:grpSpLocks/>
            </p:cNvGrpSpPr>
            <p:nvPr/>
          </p:nvGrpSpPr>
          <p:grpSpPr bwMode="auto">
            <a:xfrm>
              <a:off x="4944" y="2640"/>
              <a:ext cx="480" cy="490"/>
              <a:chOff x="3792" y="3312"/>
              <a:chExt cx="480" cy="490"/>
            </a:xfrm>
          </p:grpSpPr>
          <p:grpSp>
            <p:nvGrpSpPr>
              <p:cNvPr id="33860" name="Group 46"/>
              <p:cNvGrpSpPr>
                <a:grpSpLocks/>
              </p:cNvGrpSpPr>
              <p:nvPr/>
            </p:nvGrpSpPr>
            <p:grpSpPr bwMode="auto">
              <a:xfrm>
                <a:off x="3792" y="3312"/>
                <a:ext cx="480" cy="250"/>
                <a:chOff x="432" y="3408"/>
                <a:chExt cx="480" cy="250"/>
              </a:xfrm>
            </p:grpSpPr>
            <p:sp>
              <p:nvSpPr>
                <p:cNvPr id="33864" name="Rectangle 47"/>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65" name="Text Box 48"/>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3 6 7</a:t>
                  </a:r>
                </a:p>
              </p:txBody>
            </p:sp>
          </p:grpSp>
          <p:grpSp>
            <p:nvGrpSpPr>
              <p:cNvPr id="33861" name="Group 49"/>
              <p:cNvGrpSpPr>
                <a:grpSpLocks/>
              </p:cNvGrpSpPr>
              <p:nvPr/>
            </p:nvGrpSpPr>
            <p:grpSpPr bwMode="auto">
              <a:xfrm>
                <a:off x="3792" y="3552"/>
                <a:ext cx="480" cy="250"/>
                <a:chOff x="432" y="3408"/>
                <a:chExt cx="480" cy="250"/>
              </a:xfrm>
            </p:grpSpPr>
            <p:sp>
              <p:nvSpPr>
                <p:cNvPr id="33862" name="Rectangle 50"/>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63" name="Text Box 51"/>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3 6 8</a:t>
                  </a:r>
                </a:p>
              </p:txBody>
            </p:sp>
          </p:grpSp>
        </p:grpSp>
        <p:grpSp>
          <p:nvGrpSpPr>
            <p:cNvPr id="33824" name="Group 52"/>
            <p:cNvGrpSpPr>
              <a:grpSpLocks/>
            </p:cNvGrpSpPr>
            <p:nvPr/>
          </p:nvGrpSpPr>
          <p:grpSpPr bwMode="auto">
            <a:xfrm>
              <a:off x="4080" y="2640"/>
              <a:ext cx="480" cy="730"/>
              <a:chOff x="4800" y="3216"/>
              <a:chExt cx="480" cy="730"/>
            </a:xfrm>
          </p:grpSpPr>
          <p:grpSp>
            <p:nvGrpSpPr>
              <p:cNvPr id="33850" name="Group 53"/>
              <p:cNvGrpSpPr>
                <a:grpSpLocks/>
              </p:cNvGrpSpPr>
              <p:nvPr/>
            </p:nvGrpSpPr>
            <p:grpSpPr bwMode="auto">
              <a:xfrm>
                <a:off x="4800" y="3216"/>
                <a:ext cx="480" cy="490"/>
                <a:chOff x="3792" y="3312"/>
                <a:chExt cx="480" cy="490"/>
              </a:xfrm>
            </p:grpSpPr>
            <p:grpSp>
              <p:nvGrpSpPr>
                <p:cNvPr id="33854" name="Group 54"/>
                <p:cNvGrpSpPr>
                  <a:grpSpLocks/>
                </p:cNvGrpSpPr>
                <p:nvPr/>
              </p:nvGrpSpPr>
              <p:grpSpPr bwMode="auto">
                <a:xfrm>
                  <a:off x="3792" y="3312"/>
                  <a:ext cx="480" cy="250"/>
                  <a:chOff x="432" y="3408"/>
                  <a:chExt cx="480" cy="250"/>
                </a:xfrm>
              </p:grpSpPr>
              <p:sp>
                <p:nvSpPr>
                  <p:cNvPr id="33858" name="Rectangle 55"/>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59" name="Text Box 56"/>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3 5 6</a:t>
                    </a:r>
                  </a:p>
                </p:txBody>
              </p:sp>
            </p:grpSp>
            <p:grpSp>
              <p:nvGrpSpPr>
                <p:cNvPr id="33855" name="Group 57"/>
                <p:cNvGrpSpPr>
                  <a:grpSpLocks/>
                </p:cNvGrpSpPr>
                <p:nvPr/>
              </p:nvGrpSpPr>
              <p:grpSpPr bwMode="auto">
                <a:xfrm>
                  <a:off x="3792" y="3552"/>
                  <a:ext cx="480" cy="250"/>
                  <a:chOff x="432" y="3408"/>
                  <a:chExt cx="480" cy="250"/>
                </a:xfrm>
              </p:grpSpPr>
              <p:sp>
                <p:nvSpPr>
                  <p:cNvPr id="33856" name="Rectangle 58"/>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57" name="Text Box 59"/>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3 5 7</a:t>
                    </a:r>
                  </a:p>
                </p:txBody>
              </p:sp>
            </p:grpSp>
          </p:grpSp>
          <p:grpSp>
            <p:nvGrpSpPr>
              <p:cNvPr id="33851" name="Group 60"/>
              <p:cNvGrpSpPr>
                <a:grpSpLocks/>
              </p:cNvGrpSpPr>
              <p:nvPr/>
            </p:nvGrpSpPr>
            <p:grpSpPr bwMode="auto">
              <a:xfrm>
                <a:off x="4800" y="3696"/>
                <a:ext cx="480" cy="250"/>
                <a:chOff x="432" y="3408"/>
                <a:chExt cx="480" cy="250"/>
              </a:xfrm>
            </p:grpSpPr>
            <p:sp>
              <p:nvSpPr>
                <p:cNvPr id="33852" name="Rectangle 61"/>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53" name="Text Box 62"/>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6 8 9</a:t>
                  </a:r>
                </a:p>
              </p:txBody>
            </p:sp>
          </p:grpSp>
        </p:grpSp>
        <p:grpSp>
          <p:nvGrpSpPr>
            <p:cNvPr id="33825" name="Group 63"/>
            <p:cNvGrpSpPr>
              <a:grpSpLocks/>
            </p:cNvGrpSpPr>
            <p:nvPr/>
          </p:nvGrpSpPr>
          <p:grpSpPr bwMode="auto">
            <a:xfrm>
              <a:off x="3024" y="1872"/>
              <a:ext cx="480" cy="490"/>
              <a:chOff x="3792" y="3312"/>
              <a:chExt cx="480" cy="490"/>
            </a:xfrm>
          </p:grpSpPr>
          <p:grpSp>
            <p:nvGrpSpPr>
              <p:cNvPr id="33844" name="Group 64"/>
              <p:cNvGrpSpPr>
                <a:grpSpLocks/>
              </p:cNvGrpSpPr>
              <p:nvPr/>
            </p:nvGrpSpPr>
            <p:grpSpPr bwMode="auto">
              <a:xfrm>
                <a:off x="3792" y="3312"/>
                <a:ext cx="480" cy="250"/>
                <a:chOff x="432" y="3408"/>
                <a:chExt cx="480" cy="250"/>
              </a:xfrm>
            </p:grpSpPr>
            <p:sp>
              <p:nvSpPr>
                <p:cNvPr id="33848" name="Rectangle 65"/>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49" name="Text Box 66"/>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2 3 4</a:t>
                  </a:r>
                </a:p>
              </p:txBody>
            </p:sp>
          </p:grpSp>
          <p:grpSp>
            <p:nvGrpSpPr>
              <p:cNvPr id="33845" name="Group 67"/>
              <p:cNvGrpSpPr>
                <a:grpSpLocks/>
              </p:cNvGrpSpPr>
              <p:nvPr/>
            </p:nvGrpSpPr>
            <p:grpSpPr bwMode="auto">
              <a:xfrm>
                <a:off x="3792" y="3552"/>
                <a:ext cx="480" cy="250"/>
                <a:chOff x="432" y="3408"/>
                <a:chExt cx="480" cy="250"/>
              </a:xfrm>
            </p:grpSpPr>
            <p:sp>
              <p:nvSpPr>
                <p:cNvPr id="33846" name="Rectangle 68"/>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47" name="Text Box 69"/>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5 6 7</a:t>
                  </a:r>
                </a:p>
              </p:txBody>
            </p:sp>
          </p:grpSp>
        </p:grpSp>
        <p:grpSp>
          <p:nvGrpSpPr>
            <p:cNvPr id="33826" name="Group 70"/>
            <p:cNvGrpSpPr>
              <a:grpSpLocks/>
            </p:cNvGrpSpPr>
            <p:nvPr/>
          </p:nvGrpSpPr>
          <p:grpSpPr bwMode="auto">
            <a:xfrm>
              <a:off x="1344" y="3168"/>
              <a:ext cx="480" cy="490"/>
              <a:chOff x="3792" y="3312"/>
              <a:chExt cx="480" cy="490"/>
            </a:xfrm>
          </p:grpSpPr>
          <p:grpSp>
            <p:nvGrpSpPr>
              <p:cNvPr id="33838" name="Group 71"/>
              <p:cNvGrpSpPr>
                <a:grpSpLocks/>
              </p:cNvGrpSpPr>
              <p:nvPr/>
            </p:nvGrpSpPr>
            <p:grpSpPr bwMode="auto">
              <a:xfrm>
                <a:off x="3792" y="3312"/>
                <a:ext cx="480" cy="250"/>
                <a:chOff x="432" y="3408"/>
                <a:chExt cx="480" cy="250"/>
              </a:xfrm>
            </p:grpSpPr>
            <p:sp>
              <p:nvSpPr>
                <p:cNvPr id="33842" name="Rectangle 72"/>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43" name="Text Box 73"/>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1</a:t>
                  </a:r>
                  <a:r>
                    <a:rPr lang="en-US" altLang="en-US" sz="2000" b="0">
                      <a:latin typeface="Times New Roman" pitchFamily="18" charset="0"/>
                    </a:rPr>
                    <a:t> 2 </a:t>
                  </a:r>
                  <a:r>
                    <a:rPr lang="en-US" altLang="en-US" sz="2000" b="0">
                      <a:solidFill>
                        <a:srgbClr val="FF0000"/>
                      </a:solidFill>
                      <a:latin typeface="Times New Roman" pitchFamily="18" charset="0"/>
                    </a:rPr>
                    <a:t>4</a:t>
                  </a:r>
                </a:p>
              </p:txBody>
            </p:sp>
          </p:grpSp>
          <p:grpSp>
            <p:nvGrpSpPr>
              <p:cNvPr id="33839" name="Group 74"/>
              <p:cNvGrpSpPr>
                <a:grpSpLocks/>
              </p:cNvGrpSpPr>
              <p:nvPr/>
            </p:nvGrpSpPr>
            <p:grpSpPr bwMode="auto">
              <a:xfrm>
                <a:off x="3792" y="3552"/>
                <a:ext cx="480" cy="250"/>
                <a:chOff x="432" y="3408"/>
                <a:chExt cx="480" cy="250"/>
              </a:xfrm>
            </p:grpSpPr>
            <p:sp>
              <p:nvSpPr>
                <p:cNvPr id="33840" name="Rectangle 75"/>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41" name="Text Box 76"/>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4</a:t>
                  </a:r>
                  <a:r>
                    <a:rPr lang="en-US" altLang="en-US" sz="2000" b="0">
                      <a:latin typeface="Times New Roman" pitchFamily="18" charset="0"/>
                    </a:rPr>
                    <a:t> 5 </a:t>
                  </a:r>
                  <a:r>
                    <a:rPr lang="en-US" altLang="en-US" sz="2000" b="0">
                      <a:solidFill>
                        <a:srgbClr val="FF0000"/>
                      </a:solidFill>
                      <a:latin typeface="Times New Roman" pitchFamily="18" charset="0"/>
                    </a:rPr>
                    <a:t>7</a:t>
                  </a:r>
                </a:p>
              </p:txBody>
            </p:sp>
          </p:grpSp>
        </p:grpSp>
        <p:grpSp>
          <p:nvGrpSpPr>
            <p:cNvPr id="33827" name="Group 77"/>
            <p:cNvGrpSpPr>
              <a:grpSpLocks/>
            </p:cNvGrpSpPr>
            <p:nvPr/>
          </p:nvGrpSpPr>
          <p:grpSpPr bwMode="auto">
            <a:xfrm>
              <a:off x="1920" y="3216"/>
              <a:ext cx="480" cy="490"/>
              <a:chOff x="3792" y="3312"/>
              <a:chExt cx="480" cy="490"/>
            </a:xfrm>
          </p:grpSpPr>
          <p:grpSp>
            <p:nvGrpSpPr>
              <p:cNvPr id="33832" name="Group 78"/>
              <p:cNvGrpSpPr>
                <a:grpSpLocks/>
              </p:cNvGrpSpPr>
              <p:nvPr/>
            </p:nvGrpSpPr>
            <p:grpSpPr bwMode="auto">
              <a:xfrm>
                <a:off x="3792" y="3312"/>
                <a:ext cx="480" cy="250"/>
                <a:chOff x="432" y="3408"/>
                <a:chExt cx="480" cy="250"/>
              </a:xfrm>
            </p:grpSpPr>
            <p:sp>
              <p:nvSpPr>
                <p:cNvPr id="33836" name="Rectangle 79"/>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37" name="Text Box 80"/>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1</a:t>
                  </a:r>
                  <a:r>
                    <a:rPr lang="en-US" altLang="en-US" sz="2000" b="0">
                      <a:latin typeface="Times New Roman" pitchFamily="18" charset="0"/>
                    </a:rPr>
                    <a:t> 2 5</a:t>
                  </a:r>
                </a:p>
              </p:txBody>
            </p:sp>
          </p:grpSp>
          <p:grpSp>
            <p:nvGrpSpPr>
              <p:cNvPr id="33833" name="Group 81"/>
              <p:cNvGrpSpPr>
                <a:grpSpLocks/>
              </p:cNvGrpSpPr>
              <p:nvPr/>
            </p:nvGrpSpPr>
            <p:grpSpPr bwMode="auto">
              <a:xfrm>
                <a:off x="3792" y="3552"/>
                <a:ext cx="480" cy="250"/>
                <a:chOff x="432" y="3408"/>
                <a:chExt cx="480" cy="250"/>
              </a:xfrm>
            </p:grpSpPr>
            <p:sp>
              <p:nvSpPr>
                <p:cNvPr id="33834" name="Rectangle 82"/>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35" name="Text Box 83"/>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4</a:t>
                  </a:r>
                  <a:r>
                    <a:rPr lang="en-US" altLang="en-US" sz="2000" b="0">
                      <a:latin typeface="Times New Roman" pitchFamily="18" charset="0"/>
                    </a:rPr>
                    <a:t> 5 8</a:t>
                  </a:r>
                </a:p>
              </p:txBody>
            </p:sp>
          </p:grpSp>
        </p:grpSp>
        <p:grpSp>
          <p:nvGrpSpPr>
            <p:cNvPr id="33828" name="Group 84"/>
            <p:cNvGrpSpPr>
              <a:grpSpLocks/>
            </p:cNvGrpSpPr>
            <p:nvPr/>
          </p:nvGrpSpPr>
          <p:grpSpPr bwMode="auto">
            <a:xfrm>
              <a:off x="3120" y="1056"/>
              <a:ext cx="192" cy="288"/>
              <a:chOff x="2064" y="1872"/>
              <a:chExt cx="192" cy="288"/>
            </a:xfrm>
          </p:grpSpPr>
          <p:sp>
            <p:nvSpPr>
              <p:cNvPr id="33829" name="Rectangle 85"/>
              <p:cNvSpPr>
                <a:spLocks noChangeArrowheads="1"/>
              </p:cNvSpPr>
              <p:nvPr/>
            </p:nvSpPr>
            <p:spPr bwMode="auto">
              <a:xfrm>
                <a:off x="2064"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30" name="Line 86"/>
              <p:cNvSpPr>
                <a:spLocks noChangeShapeType="1"/>
              </p:cNvSpPr>
              <p:nvPr/>
            </p:nvSpPr>
            <p:spPr bwMode="auto">
              <a:xfrm>
                <a:off x="2064"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31" name="Line 87"/>
              <p:cNvSpPr>
                <a:spLocks noChangeShapeType="1"/>
              </p:cNvSpPr>
              <p:nvPr/>
            </p:nvSpPr>
            <p:spPr bwMode="auto">
              <a:xfrm>
                <a:off x="2064"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3797" name="Group 88"/>
          <p:cNvGrpSpPr>
            <a:grpSpLocks/>
          </p:cNvGrpSpPr>
          <p:nvPr/>
        </p:nvGrpSpPr>
        <p:grpSpPr bwMode="auto">
          <a:xfrm>
            <a:off x="1212850" y="1736725"/>
            <a:ext cx="381000" cy="609600"/>
            <a:chOff x="2064" y="1872"/>
            <a:chExt cx="192" cy="288"/>
          </a:xfrm>
        </p:grpSpPr>
        <p:sp>
          <p:nvSpPr>
            <p:cNvPr id="33809" name="Rectangle 89"/>
            <p:cNvSpPr>
              <a:spLocks noChangeArrowheads="1"/>
            </p:cNvSpPr>
            <p:nvPr/>
          </p:nvSpPr>
          <p:spPr bwMode="auto">
            <a:xfrm>
              <a:off x="2064"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10" name="Line 90"/>
            <p:cNvSpPr>
              <a:spLocks noChangeShapeType="1"/>
            </p:cNvSpPr>
            <p:nvPr/>
          </p:nvSpPr>
          <p:spPr bwMode="auto">
            <a:xfrm>
              <a:off x="2064"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11" name="Line 91"/>
            <p:cNvSpPr>
              <a:spLocks noChangeShapeType="1"/>
            </p:cNvSpPr>
            <p:nvPr/>
          </p:nvSpPr>
          <p:spPr bwMode="auto">
            <a:xfrm>
              <a:off x="2064"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3798" name="Line 92"/>
          <p:cNvSpPr>
            <a:spLocks noChangeShapeType="1"/>
          </p:cNvSpPr>
          <p:nvPr/>
        </p:nvSpPr>
        <p:spPr bwMode="auto">
          <a:xfrm flipH="1">
            <a:off x="603250" y="2346325"/>
            <a:ext cx="769938"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799" name="Line 93"/>
          <p:cNvSpPr>
            <a:spLocks noChangeShapeType="1"/>
          </p:cNvSpPr>
          <p:nvPr/>
        </p:nvSpPr>
        <p:spPr bwMode="auto">
          <a:xfrm>
            <a:off x="1365250" y="23463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0" name="Line 94"/>
          <p:cNvSpPr>
            <a:spLocks noChangeShapeType="1"/>
          </p:cNvSpPr>
          <p:nvPr/>
        </p:nvSpPr>
        <p:spPr bwMode="auto">
          <a:xfrm>
            <a:off x="1373188" y="2346325"/>
            <a:ext cx="677862"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1" name="Text Box 95"/>
          <p:cNvSpPr txBox="1">
            <a:spLocks noChangeArrowheads="1"/>
          </p:cNvSpPr>
          <p:nvPr/>
        </p:nvSpPr>
        <p:spPr bwMode="auto">
          <a:xfrm>
            <a:off x="527050" y="2346325"/>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solidFill>
                  <a:srgbClr val="FF0000"/>
                </a:solidFill>
                <a:latin typeface="Times New Roman" pitchFamily="18" charset="0"/>
              </a:rPr>
              <a:t>1,4,7</a:t>
            </a:r>
            <a:endParaRPr lang="en-US" altLang="en-US" sz="1400" b="0">
              <a:solidFill>
                <a:srgbClr val="FF0000"/>
              </a:solidFill>
              <a:latin typeface="Times New Roman" pitchFamily="18" charset="0"/>
            </a:endParaRPr>
          </a:p>
        </p:txBody>
      </p:sp>
      <p:sp>
        <p:nvSpPr>
          <p:cNvPr id="33802" name="Text Box 96"/>
          <p:cNvSpPr txBox="1">
            <a:spLocks noChangeArrowheads="1"/>
          </p:cNvSpPr>
          <p:nvPr/>
        </p:nvSpPr>
        <p:spPr bwMode="auto">
          <a:xfrm>
            <a:off x="831850" y="2727325"/>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2,5,8</a:t>
            </a:r>
            <a:endParaRPr lang="en-US" altLang="en-US" sz="1400" b="0">
              <a:latin typeface="Times New Roman" pitchFamily="18" charset="0"/>
            </a:endParaRPr>
          </a:p>
        </p:txBody>
      </p:sp>
      <p:sp>
        <p:nvSpPr>
          <p:cNvPr id="33803" name="Text Box 97"/>
          <p:cNvSpPr txBox="1">
            <a:spLocks noChangeArrowheads="1"/>
          </p:cNvSpPr>
          <p:nvPr/>
        </p:nvSpPr>
        <p:spPr bwMode="auto">
          <a:xfrm>
            <a:off x="1746250" y="2346325"/>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3,6,9</a:t>
            </a:r>
          </a:p>
        </p:txBody>
      </p:sp>
      <p:sp>
        <p:nvSpPr>
          <p:cNvPr id="33804" name="Text Box 98"/>
          <p:cNvSpPr txBox="1">
            <a:spLocks noChangeArrowheads="1"/>
          </p:cNvSpPr>
          <p:nvPr/>
        </p:nvSpPr>
        <p:spPr bwMode="auto">
          <a:xfrm>
            <a:off x="679450" y="1355725"/>
            <a:ext cx="1376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b="0">
                <a:latin typeface="Times New Roman" pitchFamily="18" charset="0"/>
              </a:rPr>
              <a:t>Hash Function</a:t>
            </a:r>
            <a:endParaRPr lang="en-US" altLang="en-US" b="0">
              <a:latin typeface="Times New Roman" pitchFamily="18" charset="0"/>
            </a:endParaRPr>
          </a:p>
        </p:txBody>
      </p:sp>
      <p:sp>
        <p:nvSpPr>
          <p:cNvPr id="33805" name="Text Box 99"/>
          <p:cNvSpPr txBox="1">
            <a:spLocks noChangeArrowheads="1"/>
          </p:cNvSpPr>
          <p:nvPr/>
        </p:nvSpPr>
        <p:spPr bwMode="auto">
          <a:xfrm>
            <a:off x="3810000" y="1355725"/>
            <a:ext cx="2279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a:latin typeface="Times New Roman" pitchFamily="18" charset="0"/>
              </a:rPr>
              <a:t>Candidate Hash Tree</a:t>
            </a:r>
            <a:endParaRPr lang="en-US" altLang="en-US" b="0">
              <a:latin typeface="Times New Roman" pitchFamily="18" charset="0"/>
            </a:endParaRPr>
          </a:p>
        </p:txBody>
      </p:sp>
      <p:sp>
        <p:nvSpPr>
          <p:cNvPr id="33806" name="Text Box 100"/>
          <p:cNvSpPr txBox="1">
            <a:spLocks noChangeArrowheads="1"/>
          </p:cNvSpPr>
          <p:nvPr/>
        </p:nvSpPr>
        <p:spPr bwMode="auto">
          <a:xfrm>
            <a:off x="304800" y="4495800"/>
            <a:ext cx="1143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b="0">
                <a:solidFill>
                  <a:srgbClr val="0C6D9C"/>
                </a:solidFill>
              </a:rPr>
              <a:t>Hash on 1, 4 or 7</a:t>
            </a:r>
            <a:endParaRPr lang="en-US" altLang="en-US" sz="2000" b="0">
              <a:solidFill>
                <a:srgbClr val="0C6D9C"/>
              </a:solidFill>
              <a:sym typeface="Symbol" pitchFamily="18" charset="2"/>
            </a:endParaRPr>
          </a:p>
        </p:txBody>
      </p:sp>
      <p:sp>
        <p:nvSpPr>
          <p:cNvPr id="33807" name="Rectangle 101"/>
          <p:cNvSpPr>
            <a:spLocks noChangeArrowheads="1"/>
          </p:cNvSpPr>
          <p:nvPr/>
        </p:nvSpPr>
        <p:spPr bwMode="auto">
          <a:xfrm>
            <a:off x="1676400" y="3810000"/>
            <a:ext cx="3124200" cy="2286000"/>
          </a:xfrm>
          <a:prstGeom prst="rect">
            <a:avLst/>
          </a:prstGeom>
          <a:noFill/>
          <a:ln w="12700">
            <a:solidFill>
              <a:srgbClr val="008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3808" name="Rectangle 102"/>
          <p:cNvSpPr>
            <a:spLocks noChangeArrowheads="1"/>
          </p:cNvSpPr>
          <p:nvPr/>
        </p:nvSpPr>
        <p:spPr bwMode="auto">
          <a:xfrm>
            <a:off x="5029200" y="4038600"/>
            <a:ext cx="1143000" cy="762000"/>
          </a:xfrm>
          <a:prstGeom prst="rect">
            <a:avLst/>
          </a:prstGeom>
          <a:noFill/>
          <a:ln w="12700">
            <a:solidFill>
              <a:srgbClr val="008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Tree>
    <p:extLst>
      <p:ext uri="{BB962C8B-B14F-4D97-AF65-F5344CB8AC3E}">
        <p14:creationId xmlns:p14="http://schemas.microsoft.com/office/powerpoint/2010/main" val="903805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4"/>
          <p:cNvSpPr>
            <a:spLocks noGrp="1" noChangeArrowheads="1"/>
          </p:cNvSpPr>
          <p:nvPr>
            <p:ph type="title"/>
          </p:nvPr>
        </p:nvSpPr>
        <p:spPr/>
        <p:txBody>
          <a:bodyPr/>
          <a:lstStyle/>
          <a:p>
            <a:r>
              <a:rPr lang="en-US" altLang="en-US"/>
              <a:t>Support Counting Using a Hash Tree</a:t>
            </a:r>
          </a:p>
        </p:txBody>
      </p:sp>
      <p:sp>
        <p:nvSpPr>
          <p:cNvPr id="34819" name="Text Box 3"/>
          <p:cNvSpPr txBox="1">
            <a:spLocks noChangeArrowheads="1"/>
          </p:cNvSpPr>
          <p:nvPr/>
        </p:nvSpPr>
        <p:spPr bwMode="auto">
          <a:xfrm>
            <a:off x="593725" y="1268413"/>
            <a:ext cx="184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b="0">
              <a:latin typeface="Wingdings" pitchFamily="2" charset="2"/>
            </a:endParaRPr>
          </a:p>
        </p:txBody>
      </p:sp>
      <p:grpSp>
        <p:nvGrpSpPr>
          <p:cNvPr id="34820" name="Group 4"/>
          <p:cNvGrpSpPr>
            <a:grpSpLocks/>
          </p:cNvGrpSpPr>
          <p:nvPr/>
        </p:nvGrpSpPr>
        <p:grpSpPr bwMode="auto">
          <a:xfrm>
            <a:off x="1981200" y="1736725"/>
            <a:ext cx="6553200" cy="4206875"/>
            <a:chOff x="1296" y="1056"/>
            <a:chExt cx="4128" cy="2650"/>
          </a:xfrm>
        </p:grpSpPr>
        <p:grpSp>
          <p:nvGrpSpPr>
            <p:cNvPr id="34837" name="Group 5"/>
            <p:cNvGrpSpPr>
              <a:grpSpLocks/>
            </p:cNvGrpSpPr>
            <p:nvPr/>
          </p:nvGrpSpPr>
          <p:grpSpPr bwMode="auto">
            <a:xfrm>
              <a:off x="2160" y="1344"/>
              <a:ext cx="2160" cy="528"/>
              <a:chOff x="2160" y="1344"/>
              <a:chExt cx="1056" cy="576"/>
            </a:xfrm>
          </p:grpSpPr>
          <p:sp>
            <p:nvSpPr>
              <p:cNvPr id="34917" name="Line 6"/>
              <p:cNvSpPr>
                <a:spLocks noChangeShapeType="1"/>
              </p:cNvSpPr>
              <p:nvPr/>
            </p:nvSpPr>
            <p:spPr bwMode="auto">
              <a:xfrm flipH="1">
                <a:off x="2160" y="1344"/>
                <a:ext cx="528"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918" name="Line 7"/>
              <p:cNvSpPr>
                <a:spLocks noChangeShapeType="1"/>
              </p:cNvSpPr>
              <p:nvPr/>
            </p:nvSpPr>
            <p:spPr bwMode="auto">
              <a:xfrm>
                <a:off x="2688" y="134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919" name="Line 8"/>
              <p:cNvSpPr>
                <a:spLocks noChangeShapeType="1"/>
              </p:cNvSpPr>
              <p:nvPr/>
            </p:nvSpPr>
            <p:spPr bwMode="auto">
              <a:xfrm>
                <a:off x="2688" y="1344"/>
                <a:ext cx="528"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4838" name="Group 9"/>
            <p:cNvGrpSpPr>
              <a:grpSpLocks/>
            </p:cNvGrpSpPr>
            <p:nvPr/>
          </p:nvGrpSpPr>
          <p:grpSpPr bwMode="auto">
            <a:xfrm>
              <a:off x="1536" y="2112"/>
              <a:ext cx="1104" cy="384"/>
              <a:chOff x="1680" y="2160"/>
              <a:chExt cx="864" cy="432"/>
            </a:xfrm>
          </p:grpSpPr>
          <p:sp>
            <p:nvSpPr>
              <p:cNvPr id="34914" name="Line 10"/>
              <p:cNvSpPr>
                <a:spLocks noChangeShapeType="1"/>
              </p:cNvSpPr>
              <p:nvPr/>
            </p:nvSpPr>
            <p:spPr bwMode="auto">
              <a:xfrm flipH="1">
                <a:off x="1680" y="2160"/>
                <a:ext cx="48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915" name="Line 11"/>
              <p:cNvSpPr>
                <a:spLocks noChangeShapeType="1"/>
              </p:cNvSpPr>
              <p:nvPr/>
            </p:nvSpPr>
            <p:spPr bwMode="auto">
              <a:xfrm>
                <a:off x="2160" y="2160"/>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916" name="Line 12"/>
              <p:cNvSpPr>
                <a:spLocks noChangeShapeType="1"/>
              </p:cNvSpPr>
              <p:nvPr/>
            </p:nvSpPr>
            <p:spPr bwMode="auto">
              <a:xfrm>
                <a:off x="2160" y="2160"/>
                <a:ext cx="38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4839" name="Group 13"/>
            <p:cNvGrpSpPr>
              <a:grpSpLocks/>
            </p:cNvGrpSpPr>
            <p:nvPr/>
          </p:nvGrpSpPr>
          <p:grpSpPr bwMode="auto">
            <a:xfrm>
              <a:off x="3552" y="2112"/>
              <a:ext cx="1632" cy="528"/>
              <a:chOff x="2832" y="2160"/>
              <a:chExt cx="816" cy="432"/>
            </a:xfrm>
          </p:grpSpPr>
          <p:sp>
            <p:nvSpPr>
              <p:cNvPr id="34911" name="Line 14"/>
              <p:cNvSpPr>
                <a:spLocks noChangeShapeType="1"/>
              </p:cNvSpPr>
              <p:nvPr/>
            </p:nvSpPr>
            <p:spPr bwMode="auto">
              <a:xfrm flipH="1">
                <a:off x="2832" y="2160"/>
                <a:ext cx="384"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912" name="Line 15"/>
              <p:cNvSpPr>
                <a:spLocks noChangeShapeType="1"/>
              </p:cNvSpPr>
              <p:nvPr/>
            </p:nvSpPr>
            <p:spPr bwMode="auto">
              <a:xfrm>
                <a:off x="3216" y="2160"/>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913" name="Line 16"/>
              <p:cNvSpPr>
                <a:spLocks noChangeShapeType="1"/>
              </p:cNvSpPr>
              <p:nvPr/>
            </p:nvSpPr>
            <p:spPr bwMode="auto">
              <a:xfrm>
                <a:off x="3216" y="2160"/>
                <a:ext cx="432"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4840" name="Group 17"/>
            <p:cNvGrpSpPr>
              <a:grpSpLocks/>
            </p:cNvGrpSpPr>
            <p:nvPr/>
          </p:nvGrpSpPr>
          <p:grpSpPr bwMode="auto">
            <a:xfrm>
              <a:off x="1584" y="2784"/>
              <a:ext cx="1104" cy="432"/>
              <a:chOff x="1584" y="2880"/>
              <a:chExt cx="1104" cy="432"/>
            </a:xfrm>
          </p:grpSpPr>
          <p:sp>
            <p:nvSpPr>
              <p:cNvPr id="34908" name="Line 18"/>
              <p:cNvSpPr>
                <a:spLocks noChangeShapeType="1"/>
              </p:cNvSpPr>
              <p:nvPr/>
            </p:nvSpPr>
            <p:spPr bwMode="auto">
              <a:xfrm flipH="1">
                <a:off x="1584" y="2880"/>
                <a:ext cx="576"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909" name="Line 19"/>
              <p:cNvSpPr>
                <a:spLocks noChangeShapeType="1"/>
              </p:cNvSpPr>
              <p:nvPr/>
            </p:nvSpPr>
            <p:spPr bwMode="auto">
              <a:xfrm>
                <a:off x="2160" y="2880"/>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910" name="Line 20"/>
              <p:cNvSpPr>
                <a:spLocks noChangeShapeType="1"/>
              </p:cNvSpPr>
              <p:nvPr/>
            </p:nvSpPr>
            <p:spPr bwMode="auto">
              <a:xfrm>
                <a:off x="2160" y="2880"/>
                <a:ext cx="52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4841" name="Group 21"/>
            <p:cNvGrpSpPr>
              <a:grpSpLocks/>
            </p:cNvGrpSpPr>
            <p:nvPr/>
          </p:nvGrpSpPr>
          <p:grpSpPr bwMode="auto">
            <a:xfrm>
              <a:off x="2064" y="1824"/>
              <a:ext cx="192" cy="288"/>
              <a:chOff x="2064" y="1872"/>
              <a:chExt cx="192" cy="288"/>
            </a:xfrm>
          </p:grpSpPr>
          <p:sp>
            <p:nvSpPr>
              <p:cNvPr id="34905" name="Rectangle 22"/>
              <p:cNvSpPr>
                <a:spLocks noChangeArrowheads="1"/>
              </p:cNvSpPr>
              <p:nvPr/>
            </p:nvSpPr>
            <p:spPr bwMode="auto">
              <a:xfrm>
                <a:off x="2064"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906" name="Line 23"/>
              <p:cNvSpPr>
                <a:spLocks noChangeShapeType="1"/>
              </p:cNvSpPr>
              <p:nvPr/>
            </p:nvSpPr>
            <p:spPr bwMode="auto">
              <a:xfrm>
                <a:off x="2064"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907" name="Line 24"/>
              <p:cNvSpPr>
                <a:spLocks noChangeShapeType="1"/>
              </p:cNvSpPr>
              <p:nvPr/>
            </p:nvSpPr>
            <p:spPr bwMode="auto">
              <a:xfrm>
                <a:off x="2064"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4842" name="Group 25"/>
            <p:cNvGrpSpPr>
              <a:grpSpLocks/>
            </p:cNvGrpSpPr>
            <p:nvPr/>
          </p:nvGrpSpPr>
          <p:grpSpPr bwMode="auto">
            <a:xfrm>
              <a:off x="4224" y="1824"/>
              <a:ext cx="192" cy="288"/>
              <a:chOff x="3120" y="1872"/>
              <a:chExt cx="192" cy="288"/>
            </a:xfrm>
          </p:grpSpPr>
          <p:sp>
            <p:nvSpPr>
              <p:cNvPr id="34902" name="Rectangle 26"/>
              <p:cNvSpPr>
                <a:spLocks noChangeArrowheads="1"/>
              </p:cNvSpPr>
              <p:nvPr/>
            </p:nvSpPr>
            <p:spPr bwMode="auto">
              <a:xfrm>
                <a:off x="3120"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903" name="Line 27"/>
              <p:cNvSpPr>
                <a:spLocks noChangeShapeType="1"/>
              </p:cNvSpPr>
              <p:nvPr/>
            </p:nvSpPr>
            <p:spPr bwMode="auto">
              <a:xfrm>
                <a:off x="3120"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904" name="Line 28"/>
              <p:cNvSpPr>
                <a:spLocks noChangeShapeType="1"/>
              </p:cNvSpPr>
              <p:nvPr/>
            </p:nvSpPr>
            <p:spPr bwMode="auto">
              <a:xfrm>
                <a:off x="3120"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4843" name="Group 29"/>
            <p:cNvGrpSpPr>
              <a:grpSpLocks/>
            </p:cNvGrpSpPr>
            <p:nvPr/>
          </p:nvGrpSpPr>
          <p:grpSpPr bwMode="auto">
            <a:xfrm>
              <a:off x="2064" y="2496"/>
              <a:ext cx="192" cy="288"/>
              <a:chOff x="2064" y="2592"/>
              <a:chExt cx="192" cy="288"/>
            </a:xfrm>
          </p:grpSpPr>
          <p:sp>
            <p:nvSpPr>
              <p:cNvPr id="34899" name="Rectangle 30"/>
              <p:cNvSpPr>
                <a:spLocks noChangeArrowheads="1"/>
              </p:cNvSpPr>
              <p:nvPr/>
            </p:nvSpPr>
            <p:spPr bwMode="auto">
              <a:xfrm>
                <a:off x="2064" y="259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900" name="Line 31"/>
              <p:cNvSpPr>
                <a:spLocks noChangeShapeType="1"/>
              </p:cNvSpPr>
              <p:nvPr/>
            </p:nvSpPr>
            <p:spPr bwMode="auto">
              <a:xfrm>
                <a:off x="2064" y="278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901" name="Line 32"/>
              <p:cNvSpPr>
                <a:spLocks noChangeShapeType="1"/>
              </p:cNvSpPr>
              <p:nvPr/>
            </p:nvSpPr>
            <p:spPr bwMode="auto">
              <a:xfrm>
                <a:off x="2064" y="268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4844" name="Group 33"/>
            <p:cNvGrpSpPr>
              <a:grpSpLocks/>
            </p:cNvGrpSpPr>
            <p:nvPr/>
          </p:nvGrpSpPr>
          <p:grpSpPr bwMode="auto">
            <a:xfrm>
              <a:off x="2544" y="3168"/>
              <a:ext cx="480" cy="250"/>
              <a:chOff x="432" y="3408"/>
              <a:chExt cx="480" cy="250"/>
            </a:xfrm>
          </p:grpSpPr>
          <p:sp>
            <p:nvSpPr>
              <p:cNvPr id="34897" name="Rectangle 34"/>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98" name="Text Box 35"/>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a:t>
                </a:r>
                <a:r>
                  <a:rPr lang="en-US" altLang="en-US" sz="2000" b="0">
                    <a:solidFill>
                      <a:srgbClr val="FF0000"/>
                    </a:solidFill>
                    <a:latin typeface="Times New Roman" pitchFamily="18" charset="0"/>
                  </a:rPr>
                  <a:t>5</a:t>
                </a:r>
                <a:r>
                  <a:rPr lang="en-US" altLang="en-US" sz="2000" b="0">
                    <a:latin typeface="Times New Roman" pitchFamily="18" charset="0"/>
                  </a:rPr>
                  <a:t> 9</a:t>
                </a:r>
              </a:p>
            </p:txBody>
          </p:sp>
        </p:grpSp>
        <p:grpSp>
          <p:nvGrpSpPr>
            <p:cNvPr id="34845" name="Group 36"/>
            <p:cNvGrpSpPr>
              <a:grpSpLocks/>
            </p:cNvGrpSpPr>
            <p:nvPr/>
          </p:nvGrpSpPr>
          <p:grpSpPr bwMode="auto">
            <a:xfrm>
              <a:off x="1296" y="2448"/>
              <a:ext cx="480" cy="250"/>
              <a:chOff x="432" y="3408"/>
              <a:chExt cx="480" cy="250"/>
            </a:xfrm>
          </p:grpSpPr>
          <p:sp>
            <p:nvSpPr>
              <p:cNvPr id="34895" name="Rectangle 37"/>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96" name="Text Box 38"/>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1 4 5</a:t>
                </a:r>
              </a:p>
            </p:txBody>
          </p:sp>
        </p:grpSp>
        <p:grpSp>
          <p:nvGrpSpPr>
            <p:cNvPr id="34846" name="Group 39"/>
            <p:cNvGrpSpPr>
              <a:grpSpLocks/>
            </p:cNvGrpSpPr>
            <p:nvPr/>
          </p:nvGrpSpPr>
          <p:grpSpPr bwMode="auto">
            <a:xfrm>
              <a:off x="2448" y="2448"/>
              <a:ext cx="480" cy="250"/>
              <a:chOff x="432" y="3408"/>
              <a:chExt cx="480" cy="250"/>
            </a:xfrm>
          </p:grpSpPr>
          <p:sp>
            <p:nvSpPr>
              <p:cNvPr id="34893" name="Rectangle 40"/>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94" name="Text Box 41"/>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1 3 6</a:t>
                </a:r>
              </a:p>
            </p:txBody>
          </p:sp>
        </p:grpSp>
        <p:grpSp>
          <p:nvGrpSpPr>
            <p:cNvPr id="34847" name="Group 42"/>
            <p:cNvGrpSpPr>
              <a:grpSpLocks/>
            </p:cNvGrpSpPr>
            <p:nvPr/>
          </p:nvGrpSpPr>
          <p:grpSpPr bwMode="auto">
            <a:xfrm>
              <a:off x="3312" y="2640"/>
              <a:ext cx="480" cy="250"/>
              <a:chOff x="432" y="3408"/>
              <a:chExt cx="480" cy="250"/>
            </a:xfrm>
          </p:grpSpPr>
          <p:sp>
            <p:nvSpPr>
              <p:cNvPr id="34891" name="Rectangle 43"/>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92" name="Text Box 44"/>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3 4 5</a:t>
                </a:r>
              </a:p>
            </p:txBody>
          </p:sp>
        </p:grpSp>
        <p:grpSp>
          <p:nvGrpSpPr>
            <p:cNvPr id="34848" name="Group 45"/>
            <p:cNvGrpSpPr>
              <a:grpSpLocks/>
            </p:cNvGrpSpPr>
            <p:nvPr/>
          </p:nvGrpSpPr>
          <p:grpSpPr bwMode="auto">
            <a:xfrm>
              <a:off x="4944" y="2640"/>
              <a:ext cx="480" cy="490"/>
              <a:chOff x="3792" y="3312"/>
              <a:chExt cx="480" cy="490"/>
            </a:xfrm>
          </p:grpSpPr>
          <p:grpSp>
            <p:nvGrpSpPr>
              <p:cNvPr id="34885" name="Group 46"/>
              <p:cNvGrpSpPr>
                <a:grpSpLocks/>
              </p:cNvGrpSpPr>
              <p:nvPr/>
            </p:nvGrpSpPr>
            <p:grpSpPr bwMode="auto">
              <a:xfrm>
                <a:off x="3792" y="3312"/>
                <a:ext cx="480" cy="250"/>
                <a:chOff x="432" y="3408"/>
                <a:chExt cx="480" cy="250"/>
              </a:xfrm>
            </p:grpSpPr>
            <p:sp>
              <p:nvSpPr>
                <p:cNvPr id="34889" name="Rectangle 47"/>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90" name="Text Box 48"/>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3 6 7</a:t>
                  </a:r>
                </a:p>
              </p:txBody>
            </p:sp>
          </p:grpSp>
          <p:grpSp>
            <p:nvGrpSpPr>
              <p:cNvPr id="34886" name="Group 49"/>
              <p:cNvGrpSpPr>
                <a:grpSpLocks/>
              </p:cNvGrpSpPr>
              <p:nvPr/>
            </p:nvGrpSpPr>
            <p:grpSpPr bwMode="auto">
              <a:xfrm>
                <a:off x="3792" y="3552"/>
                <a:ext cx="480" cy="250"/>
                <a:chOff x="432" y="3408"/>
                <a:chExt cx="480" cy="250"/>
              </a:xfrm>
            </p:grpSpPr>
            <p:sp>
              <p:nvSpPr>
                <p:cNvPr id="34887" name="Rectangle 50"/>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88" name="Text Box 51"/>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3 6 8</a:t>
                  </a:r>
                </a:p>
              </p:txBody>
            </p:sp>
          </p:grpSp>
        </p:grpSp>
        <p:grpSp>
          <p:nvGrpSpPr>
            <p:cNvPr id="34849" name="Group 52"/>
            <p:cNvGrpSpPr>
              <a:grpSpLocks/>
            </p:cNvGrpSpPr>
            <p:nvPr/>
          </p:nvGrpSpPr>
          <p:grpSpPr bwMode="auto">
            <a:xfrm>
              <a:off x="4080" y="2640"/>
              <a:ext cx="480" cy="730"/>
              <a:chOff x="4800" y="3216"/>
              <a:chExt cx="480" cy="730"/>
            </a:xfrm>
          </p:grpSpPr>
          <p:grpSp>
            <p:nvGrpSpPr>
              <p:cNvPr id="34875" name="Group 53"/>
              <p:cNvGrpSpPr>
                <a:grpSpLocks/>
              </p:cNvGrpSpPr>
              <p:nvPr/>
            </p:nvGrpSpPr>
            <p:grpSpPr bwMode="auto">
              <a:xfrm>
                <a:off x="4800" y="3216"/>
                <a:ext cx="480" cy="490"/>
                <a:chOff x="3792" y="3312"/>
                <a:chExt cx="480" cy="490"/>
              </a:xfrm>
            </p:grpSpPr>
            <p:grpSp>
              <p:nvGrpSpPr>
                <p:cNvPr id="34879" name="Group 54"/>
                <p:cNvGrpSpPr>
                  <a:grpSpLocks/>
                </p:cNvGrpSpPr>
                <p:nvPr/>
              </p:nvGrpSpPr>
              <p:grpSpPr bwMode="auto">
                <a:xfrm>
                  <a:off x="3792" y="3312"/>
                  <a:ext cx="480" cy="250"/>
                  <a:chOff x="432" y="3408"/>
                  <a:chExt cx="480" cy="250"/>
                </a:xfrm>
              </p:grpSpPr>
              <p:sp>
                <p:nvSpPr>
                  <p:cNvPr id="34883" name="Rectangle 55"/>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84" name="Text Box 56"/>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a:t>
                    </a:r>
                    <a:r>
                      <a:rPr lang="en-US" altLang="en-US" sz="2000" b="0">
                        <a:solidFill>
                          <a:srgbClr val="FF0000"/>
                        </a:solidFill>
                        <a:latin typeface="Times New Roman" pitchFamily="18" charset="0"/>
                      </a:rPr>
                      <a:t>5</a:t>
                    </a:r>
                    <a:r>
                      <a:rPr lang="en-US" altLang="en-US" sz="2000" b="0">
                        <a:latin typeface="Times New Roman" pitchFamily="18" charset="0"/>
                      </a:rPr>
                      <a:t> 6</a:t>
                    </a:r>
                  </a:p>
                </p:txBody>
              </p:sp>
            </p:grpSp>
            <p:grpSp>
              <p:nvGrpSpPr>
                <p:cNvPr id="34880" name="Group 57"/>
                <p:cNvGrpSpPr>
                  <a:grpSpLocks/>
                </p:cNvGrpSpPr>
                <p:nvPr/>
              </p:nvGrpSpPr>
              <p:grpSpPr bwMode="auto">
                <a:xfrm>
                  <a:off x="3792" y="3552"/>
                  <a:ext cx="480" cy="250"/>
                  <a:chOff x="432" y="3408"/>
                  <a:chExt cx="480" cy="250"/>
                </a:xfrm>
              </p:grpSpPr>
              <p:sp>
                <p:nvSpPr>
                  <p:cNvPr id="34881" name="Rectangle 58"/>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82" name="Text Box 59"/>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a:t>
                    </a:r>
                    <a:r>
                      <a:rPr lang="en-US" altLang="en-US" sz="2000" b="0">
                        <a:solidFill>
                          <a:srgbClr val="FF0000"/>
                        </a:solidFill>
                        <a:latin typeface="Times New Roman" pitchFamily="18" charset="0"/>
                      </a:rPr>
                      <a:t>5</a:t>
                    </a:r>
                    <a:r>
                      <a:rPr lang="en-US" altLang="en-US" sz="2000" b="0">
                        <a:latin typeface="Times New Roman" pitchFamily="18" charset="0"/>
                      </a:rPr>
                      <a:t> 7</a:t>
                    </a:r>
                  </a:p>
                </p:txBody>
              </p:sp>
            </p:grpSp>
          </p:grpSp>
          <p:grpSp>
            <p:nvGrpSpPr>
              <p:cNvPr id="34876" name="Group 60"/>
              <p:cNvGrpSpPr>
                <a:grpSpLocks/>
              </p:cNvGrpSpPr>
              <p:nvPr/>
            </p:nvGrpSpPr>
            <p:grpSpPr bwMode="auto">
              <a:xfrm>
                <a:off x="4800" y="3696"/>
                <a:ext cx="480" cy="250"/>
                <a:chOff x="432" y="3408"/>
                <a:chExt cx="480" cy="250"/>
              </a:xfrm>
            </p:grpSpPr>
            <p:sp>
              <p:nvSpPr>
                <p:cNvPr id="34877" name="Rectangle 61"/>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78" name="Text Box 62"/>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6 </a:t>
                  </a:r>
                  <a:r>
                    <a:rPr lang="en-US" altLang="en-US" sz="2000" b="0">
                      <a:solidFill>
                        <a:srgbClr val="FF0000"/>
                      </a:solidFill>
                      <a:latin typeface="Times New Roman" pitchFamily="18" charset="0"/>
                    </a:rPr>
                    <a:t>8</a:t>
                  </a:r>
                  <a:r>
                    <a:rPr lang="en-US" altLang="en-US" sz="2000" b="0">
                      <a:latin typeface="Times New Roman" pitchFamily="18" charset="0"/>
                    </a:rPr>
                    <a:t> 9</a:t>
                  </a:r>
                </a:p>
              </p:txBody>
            </p:sp>
          </p:grpSp>
        </p:grpSp>
        <p:grpSp>
          <p:nvGrpSpPr>
            <p:cNvPr id="34850" name="Group 63"/>
            <p:cNvGrpSpPr>
              <a:grpSpLocks/>
            </p:cNvGrpSpPr>
            <p:nvPr/>
          </p:nvGrpSpPr>
          <p:grpSpPr bwMode="auto">
            <a:xfrm>
              <a:off x="3024" y="1872"/>
              <a:ext cx="480" cy="490"/>
              <a:chOff x="3792" y="3312"/>
              <a:chExt cx="480" cy="490"/>
            </a:xfrm>
          </p:grpSpPr>
          <p:grpSp>
            <p:nvGrpSpPr>
              <p:cNvPr id="34869" name="Group 64"/>
              <p:cNvGrpSpPr>
                <a:grpSpLocks/>
              </p:cNvGrpSpPr>
              <p:nvPr/>
            </p:nvGrpSpPr>
            <p:grpSpPr bwMode="auto">
              <a:xfrm>
                <a:off x="3792" y="3312"/>
                <a:ext cx="480" cy="250"/>
                <a:chOff x="432" y="3408"/>
                <a:chExt cx="480" cy="250"/>
              </a:xfrm>
            </p:grpSpPr>
            <p:sp>
              <p:nvSpPr>
                <p:cNvPr id="34873" name="Rectangle 65"/>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74" name="Text Box 66"/>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2</a:t>
                  </a:r>
                  <a:r>
                    <a:rPr lang="en-US" altLang="en-US" sz="2000" b="0">
                      <a:latin typeface="Times New Roman" pitchFamily="18" charset="0"/>
                    </a:rPr>
                    <a:t> 3 4</a:t>
                  </a:r>
                </a:p>
              </p:txBody>
            </p:sp>
          </p:grpSp>
          <p:grpSp>
            <p:nvGrpSpPr>
              <p:cNvPr id="34870" name="Group 67"/>
              <p:cNvGrpSpPr>
                <a:grpSpLocks/>
              </p:cNvGrpSpPr>
              <p:nvPr/>
            </p:nvGrpSpPr>
            <p:grpSpPr bwMode="auto">
              <a:xfrm>
                <a:off x="3792" y="3552"/>
                <a:ext cx="480" cy="250"/>
                <a:chOff x="432" y="3408"/>
                <a:chExt cx="480" cy="250"/>
              </a:xfrm>
            </p:grpSpPr>
            <p:sp>
              <p:nvSpPr>
                <p:cNvPr id="34871" name="Rectangle 68"/>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72" name="Text Box 69"/>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5</a:t>
                  </a:r>
                  <a:r>
                    <a:rPr lang="en-US" altLang="en-US" sz="2000" b="0">
                      <a:latin typeface="Times New Roman" pitchFamily="18" charset="0"/>
                    </a:rPr>
                    <a:t> 6 7</a:t>
                  </a:r>
                </a:p>
              </p:txBody>
            </p:sp>
          </p:grpSp>
        </p:grpSp>
        <p:grpSp>
          <p:nvGrpSpPr>
            <p:cNvPr id="34851" name="Group 70"/>
            <p:cNvGrpSpPr>
              <a:grpSpLocks/>
            </p:cNvGrpSpPr>
            <p:nvPr/>
          </p:nvGrpSpPr>
          <p:grpSpPr bwMode="auto">
            <a:xfrm>
              <a:off x="1344" y="3168"/>
              <a:ext cx="480" cy="490"/>
              <a:chOff x="3792" y="3312"/>
              <a:chExt cx="480" cy="490"/>
            </a:xfrm>
          </p:grpSpPr>
          <p:grpSp>
            <p:nvGrpSpPr>
              <p:cNvPr id="34863" name="Group 71"/>
              <p:cNvGrpSpPr>
                <a:grpSpLocks/>
              </p:cNvGrpSpPr>
              <p:nvPr/>
            </p:nvGrpSpPr>
            <p:grpSpPr bwMode="auto">
              <a:xfrm>
                <a:off x="3792" y="3312"/>
                <a:ext cx="480" cy="250"/>
                <a:chOff x="432" y="3408"/>
                <a:chExt cx="480" cy="250"/>
              </a:xfrm>
            </p:grpSpPr>
            <p:sp>
              <p:nvSpPr>
                <p:cNvPr id="34867" name="Rectangle 72"/>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68" name="Text Box 73"/>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a:t>
                  </a:r>
                  <a:r>
                    <a:rPr lang="en-US" altLang="en-US" sz="2000" b="0">
                      <a:solidFill>
                        <a:srgbClr val="FF0000"/>
                      </a:solidFill>
                      <a:latin typeface="Times New Roman" pitchFamily="18" charset="0"/>
                    </a:rPr>
                    <a:t>2</a:t>
                  </a:r>
                  <a:r>
                    <a:rPr lang="en-US" altLang="en-US" sz="2000" b="0">
                      <a:latin typeface="Times New Roman" pitchFamily="18" charset="0"/>
                    </a:rPr>
                    <a:t> 4</a:t>
                  </a:r>
                </a:p>
              </p:txBody>
            </p:sp>
          </p:grpSp>
          <p:grpSp>
            <p:nvGrpSpPr>
              <p:cNvPr id="34864" name="Group 74"/>
              <p:cNvGrpSpPr>
                <a:grpSpLocks/>
              </p:cNvGrpSpPr>
              <p:nvPr/>
            </p:nvGrpSpPr>
            <p:grpSpPr bwMode="auto">
              <a:xfrm>
                <a:off x="3792" y="3552"/>
                <a:ext cx="480" cy="250"/>
                <a:chOff x="432" y="3408"/>
                <a:chExt cx="480" cy="250"/>
              </a:xfrm>
            </p:grpSpPr>
            <p:sp>
              <p:nvSpPr>
                <p:cNvPr id="34865" name="Rectangle 75"/>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66" name="Text Box 76"/>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4 </a:t>
                  </a:r>
                  <a:r>
                    <a:rPr lang="en-US" altLang="en-US" sz="2000" b="0">
                      <a:solidFill>
                        <a:srgbClr val="FF0000"/>
                      </a:solidFill>
                      <a:latin typeface="Times New Roman" pitchFamily="18" charset="0"/>
                    </a:rPr>
                    <a:t>5</a:t>
                  </a:r>
                  <a:r>
                    <a:rPr lang="en-US" altLang="en-US" sz="2000" b="0">
                      <a:latin typeface="Times New Roman" pitchFamily="18" charset="0"/>
                    </a:rPr>
                    <a:t> 7</a:t>
                  </a:r>
                </a:p>
              </p:txBody>
            </p:sp>
          </p:grpSp>
        </p:grpSp>
        <p:grpSp>
          <p:nvGrpSpPr>
            <p:cNvPr id="34852" name="Group 77"/>
            <p:cNvGrpSpPr>
              <a:grpSpLocks/>
            </p:cNvGrpSpPr>
            <p:nvPr/>
          </p:nvGrpSpPr>
          <p:grpSpPr bwMode="auto">
            <a:xfrm>
              <a:off x="1920" y="3216"/>
              <a:ext cx="480" cy="490"/>
              <a:chOff x="3792" y="3312"/>
              <a:chExt cx="480" cy="490"/>
            </a:xfrm>
          </p:grpSpPr>
          <p:grpSp>
            <p:nvGrpSpPr>
              <p:cNvPr id="34857" name="Group 78"/>
              <p:cNvGrpSpPr>
                <a:grpSpLocks/>
              </p:cNvGrpSpPr>
              <p:nvPr/>
            </p:nvGrpSpPr>
            <p:grpSpPr bwMode="auto">
              <a:xfrm>
                <a:off x="3792" y="3312"/>
                <a:ext cx="480" cy="250"/>
                <a:chOff x="432" y="3408"/>
                <a:chExt cx="480" cy="250"/>
              </a:xfrm>
            </p:grpSpPr>
            <p:sp>
              <p:nvSpPr>
                <p:cNvPr id="34861" name="Rectangle 79"/>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62" name="Text Box 80"/>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a:t>
                  </a:r>
                  <a:r>
                    <a:rPr lang="en-US" altLang="en-US" sz="2000" b="0">
                      <a:solidFill>
                        <a:srgbClr val="FF0000"/>
                      </a:solidFill>
                      <a:latin typeface="Times New Roman" pitchFamily="18" charset="0"/>
                    </a:rPr>
                    <a:t>2</a:t>
                  </a:r>
                  <a:r>
                    <a:rPr lang="en-US" altLang="en-US" sz="2000" b="0">
                      <a:latin typeface="Times New Roman" pitchFamily="18" charset="0"/>
                    </a:rPr>
                    <a:t> </a:t>
                  </a:r>
                  <a:r>
                    <a:rPr lang="en-US" altLang="en-US" sz="2000" b="0">
                      <a:solidFill>
                        <a:srgbClr val="FF0000"/>
                      </a:solidFill>
                      <a:latin typeface="Times New Roman" pitchFamily="18" charset="0"/>
                    </a:rPr>
                    <a:t>5</a:t>
                  </a:r>
                </a:p>
              </p:txBody>
            </p:sp>
          </p:grpSp>
          <p:grpSp>
            <p:nvGrpSpPr>
              <p:cNvPr id="34858" name="Group 81"/>
              <p:cNvGrpSpPr>
                <a:grpSpLocks/>
              </p:cNvGrpSpPr>
              <p:nvPr/>
            </p:nvGrpSpPr>
            <p:grpSpPr bwMode="auto">
              <a:xfrm>
                <a:off x="3792" y="3552"/>
                <a:ext cx="480" cy="250"/>
                <a:chOff x="432" y="3408"/>
                <a:chExt cx="480" cy="250"/>
              </a:xfrm>
            </p:grpSpPr>
            <p:sp>
              <p:nvSpPr>
                <p:cNvPr id="34859" name="Rectangle 82"/>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60" name="Text Box 83"/>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4 </a:t>
                  </a:r>
                  <a:r>
                    <a:rPr lang="en-US" altLang="en-US" sz="2000" b="0">
                      <a:solidFill>
                        <a:srgbClr val="FF0000"/>
                      </a:solidFill>
                      <a:latin typeface="Times New Roman" pitchFamily="18" charset="0"/>
                    </a:rPr>
                    <a:t>5</a:t>
                  </a:r>
                  <a:r>
                    <a:rPr lang="en-US" altLang="en-US" sz="2000" b="0">
                      <a:latin typeface="Times New Roman" pitchFamily="18" charset="0"/>
                    </a:rPr>
                    <a:t> </a:t>
                  </a:r>
                  <a:r>
                    <a:rPr lang="en-US" altLang="en-US" sz="2000" b="0">
                      <a:solidFill>
                        <a:srgbClr val="FF0000"/>
                      </a:solidFill>
                      <a:latin typeface="Times New Roman" pitchFamily="18" charset="0"/>
                    </a:rPr>
                    <a:t>8</a:t>
                  </a:r>
                </a:p>
              </p:txBody>
            </p:sp>
          </p:grpSp>
        </p:grpSp>
        <p:grpSp>
          <p:nvGrpSpPr>
            <p:cNvPr id="34853" name="Group 84"/>
            <p:cNvGrpSpPr>
              <a:grpSpLocks/>
            </p:cNvGrpSpPr>
            <p:nvPr/>
          </p:nvGrpSpPr>
          <p:grpSpPr bwMode="auto">
            <a:xfrm>
              <a:off x="3120" y="1056"/>
              <a:ext cx="192" cy="288"/>
              <a:chOff x="2064" y="1872"/>
              <a:chExt cx="192" cy="288"/>
            </a:xfrm>
          </p:grpSpPr>
          <p:sp>
            <p:nvSpPr>
              <p:cNvPr id="34854" name="Rectangle 85"/>
              <p:cNvSpPr>
                <a:spLocks noChangeArrowheads="1"/>
              </p:cNvSpPr>
              <p:nvPr/>
            </p:nvSpPr>
            <p:spPr bwMode="auto">
              <a:xfrm>
                <a:off x="2064"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55" name="Line 86"/>
              <p:cNvSpPr>
                <a:spLocks noChangeShapeType="1"/>
              </p:cNvSpPr>
              <p:nvPr/>
            </p:nvSpPr>
            <p:spPr bwMode="auto">
              <a:xfrm>
                <a:off x="2064"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6" name="Line 87"/>
              <p:cNvSpPr>
                <a:spLocks noChangeShapeType="1"/>
              </p:cNvSpPr>
              <p:nvPr/>
            </p:nvSpPr>
            <p:spPr bwMode="auto">
              <a:xfrm>
                <a:off x="2064"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4821" name="Group 88"/>
          <p:cNvGrpSpPr>
            <a:grpSpLocks/>
          </p:cNvGrpSpPr>
          <p:nvPr/>
        </p:nvGrpSpPr>
        <p:grpSpPr bwMode="auto">
          <a:xfrm>
            <a:off x="1212850" y="1736725"/>
            <a:ext cx="381000" cy="609600"/>
            <a:chOff x="2064" y="1872"/>
            <a:chExt cx="192" cy="288"/>
          </a:xfrm>
        </p:grpSpPr>
        <p:sp>
          <p:nvSpPr>
            <p:cNvPr id="34834" name="Rectangle 89"/>
            <p:cNvSpPr>
              <a:spLocks noChangeArrowheads="1"/>
            </p:cNvSpPr>
            <p:nvPr/>
          </p:nvSpPr>
          <p:spPr bwMode="auto">
            <a:xfrm>
              <a:off x="2064"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35" name="Line 90"/>
            <p:cNvSpPr>
              <a:spLocks noChangeShapeType="1"/>
            </p:cNvSpPr>
            <p:nvPr/>
          </p:nvSpPr>
          <p:spPr bwMode="auto">
            <a:xfrm>
              <a:off x="2064"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6" name="Line 91"/>
            <p:cNvSpPr>
              <a:spLocks noChangeShapeType="1"/>
            </p:cNvSpPr>
            <p:nvPr/>
          </p:nvSpPr>
          <p:spPr bwMode="auto">
            <a:xfrm>
              <a:off x="2064"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4822" name="Line 92"/>
          <p:cNvSpPr>
            <a:spLocks noChangeShapeType="1"/>
          </p:cNvSpPr>
          <p:nvPr/>
        </p:nvSpPr>
        <p:spPr bwMode="auto">
          <a:xfrm flipH="1">
            <a:off x="603250" y="2346325"/>
            <a:ext cx="769938"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3" name="Line 93"/>
          <p:cNvSpPr>
            <a:spLocks noChangeShapeType="1"/>
          </p:cNvSpPr>
          <p:nvPr/>
        </p:nvSpPr>
        <p:spPr bwMode="auto">
          <a:xfrm>
            <a:off x="1365250" y="23463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4" name="Line 94"/>
          <p:cNvSpPr>
            <a:spLocks noChangeShapeType="1"/>
          </p:cNvSpPr>
          <p:nvPr/>
        </p:nvSpPr>
        <p:spPr bwMode="auto">
          <a:xfrm>
            <a:off x="1373188" y="2346325"/>
            <a:ext cx="677862"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5" name="Text Box 95"/>
          <p:cNvSpPr txBox="1">
            <a:spLocks noChangeArrowheads="1"/>
          </p:cNvSpPr>
          <p:nvPr/>
        </p:nvSpPr>
        <p:spPr bwMode="auto">
          <a:xfrm>
            <a:off x="527050" y="2346325"/>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1,4,7</a:t>
            </a:r>
            <a:endParaRPr lang="en-US" altLang="en-US" sz="1400" b="0">
              <a:latin typeface="Times New Roman" pitchFamily="18" charset="0"/>
            </a:endParaRPr>
          </a:p>
        </p:txBody>
      </p:sp>
      <p:sp>
        <p:nvSpPr>
          <p:cNvPr id="34826" name="Text Box 96"/>
          <p:cNvSpPr txBox="1">
            <a:spLocks noChangeArrowheads="1"/>
          </p:cNvSpPr>
          <p:nvPr/>
        </p:nvSpPr>
        <p:spPr bwMode="auto">
          <a:xfrm>
            <a:off x="831850" y="2727325"/>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solidFill>
                  <a:srgbClr val="FF0000"/>
                </a:solidFill>
                <a:latin typeface="Times New Roman" pitchFamily="18" charset="0"/>
              </a:rPr>
              <a:t>2,5,8</a:t>
            </a:r>
            <a:endParaRPr lang="en-US" altLang="en-US" sz="1400" b="0">
              <a:solidFill>
                <a:srgbClr val="FF0000"/>
              </a:solidFill>
              <a:latin typeface="Times New Roman" pitchFamily="18" charset="0"/>
            </a:endParaRPr>
          </a:p>
        </p:txBody>
      </p:sp>
      <p:sp>
        <p:nvSpPr>
          <p:cNvPr id="34827" name="Text Box 97"/>
          <p:cNvSpPr txBox="1">
            <a:spLocks noChangeArrowheads="1"/>
          </p:cNvSpPr>
          <p:nvPr/>
        </p:nvSpPr>
        <p:spPr bwMode="auto">
          <a:xfrm>
            <a:off x="1746250" y="2346325"/>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3,6,9</a:t>
            </a:r>
          </a:p>
        </p:txBody>
      </p:sp>
      <p:sp>
        <p:nvSpPr>
          <p:cNvPr id="34828" name="Text Box 98"/>
          <p:cNvSpPr txBox="1">
            <a:spLocks noChangeArrowheads="1"/>
          </p:cNvSpPr>
          <p:nvPr/>
        </p:nvSpPr>
        <p:spPr bwMode="auto">
          <a:xfrm>
            <a:off x="679450" y="1355725"/>
            <a:ext cx="1376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b="0">
                <a:latin typeface="Times New Roman" pitchFamily="18" charset="0"/>
              </a:rPr>
              <a:t>Hash Function</a:t>
            </a:r>
            <a:endParaRPr lang="en-US" altLang="en-US" b="0">
              <a:latin typeface="Times New Roman" pitchFamily="18" charset="0"/>
            </a:endParaRPr>
          </a:p>
        </p:txBody>
      </p:sp>
      <p:sp>
        <p:nvSpPr>
          <p:cNvPr id="34829" name="Text Box 99"/>
          <p:cNvSpPr txBox="1">
            <a:spLocks noChangeArrowheads="1"/>
          </p:cNvSpPr>
          <p:nvPr/>
        </p:nvSpPr>
        <p:spPr bwMode="auto">
          <a:xfrm>
            <a:off x="3810000" y="1355725"/>
            <a:ext cx="2279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a:latin typeface="Times New Roman" pitchFamily="18" charset="0"/>
              </a:rPr>
              <a:t>Candidate Hash Tree</a:t>
            </a:r>
            <a:endParaRPr lang="en-US" altLang="en-US" b="0">
              <a:latin typeface="Times New Roman" pitchFamily="18" charset="0"/>
            </a:endParaRPr>
          </a:p>
        </p:txBody>
      </p:sp>
      <p:sp>
        <p:nvSpPr>
          <p:cNvPr id="34830" name="Rectangle 100"/>
          <p:cNvSpPr>
            <a:spLocks noChangeArrowheads="1"/>
          </p:cNvSpPr>
          <p:nvPr/>
        </p:nvSpPr>
        <p:spPr bwMode="auto">
          <a:xfrm>
            <a:off x="1828800" y="4953000"/>
            <a:ext cx="3048000" cy="1066800"/>
          </a:xfrm>
          <a:prstGeom prst="rect">
            <a:avLst/>
          </a:prstGeom>
          <a:noFill/>
          <a:ln w="12700">
            <a:solidFill>
              <a:srgbClr val="008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31" name="Rectangle 101"/>
          <p:cNvSpPr>
            <a:spLocks noChangeArrowheads="1"/>
          </p:cNvSpPr>
          <p:nvPr/>
        </p:nvSpPr>
        <p:spPr bwMode="auto">
          <a:xfrm>
            <a:off x="4495800" y="2895600"/>
            <a:ext cx="1143000" cy="990600"/>
          </a:xfrm>
          <a:prstGeom prst="rect">
            <a:avLst/>
          </a:prstGeom>
          <a:noFill/>
          <a:ln w="12700">
            <a:solidFill>
              <a:srgbClr val="008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4832" name="Text Box 102"/>
          <p:cNvSpPr txBox="1">
            <a:spLocks noChangeArrowheads="1"/>
          </p:cNvSpPr>
          <p:nvPr/>
        </p:nvSpPr>
        <p:spPr bwMode="auto">
          <a:xfrm>
            <a:off x="304800" y="4495800"/>
            <a:ext cx="1143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b="0">
                <a:solidFill>
                  <a:srgbClr val="0C6D9C"/>
                </a:solidFill>
              </a:rPr>
              <a:t>Hash on 2, 5 or 8</a:t>
            </a:r>
            <a:endParaRPr lang="en-US" altLang="en-US" sz="2000" b="0">
              <a:solidFill>
                <a:srgbClr val="0C6D9C"/>
              </a:solidFill>
              <a:sym typeface="Symbol" pitchFamily="18" charset="2"/>
            </a:endParaRPr>
          </a:p>
        </p:txBody>
      </p:sp>
      <p:sp>
        <p:nvSpPr>
          <p:cNvPr id="34833" name="Rectangle 103"/>
          <p:cNvSpPr>
            <a:spLocks noChangeArrowheads="1"/>
          </p:cNvSpPr>
          <p:nvPr/>
        </p:nvSpPr>
        <p:spPr bwMode="auto">
          <a:xfrm>
            <a:off x="6172200" y="4114800"/>
            <a:ext cx="1143000" cy="1447800"/>
          </a:xfrm>
          <a:prstGeom prst="rect">
            <a:avLst/>
          </a:prstGeom>
          <a:noFill/>
          <a:ln w="12700">
            <a:solidFill>
              <a:srgbClr val="008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Tree>
    <p:extLst>
      <p:ext uri="{BB962C8B-B14F-4D97-AF65-F5344CB8AC3E}">
        <p14:creationId xmlns:p14="http://schemas.microsoft.com/office/powerpoint/2010/main" val="2695918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4"/>
          <p:cNvSpPr>
            <a:spLocks noGrp="1" noChangeArrowheads="1"/>
          </p:cNvSpPr>
          <p:nvPr>
            <p:ph type="title"/>
          </p:nvPr>
        </p:nvSpPr>
        <p:spPr/>
        <p:txBody>
          <a:bodyPr/>
          <a:lstStyle/>
          <a:p>
            <a:r>
              <a:rPr lang="en-US" altLang="en-US"/>
              <a:t>Support Counting Using a Hash Tree</a:t>
            </a:r>
          </a:p>
        </p:txBody>
      </p:sp>
      <p:sp>
        <p:nvSpPr>
          <p:cNvPr id="35843" name="Text Box 3"/>
          <p:cNvSpPr txBox="1">
            <a:spLocks noChangeArrowheads="1"/>
          </p:cNvSpPr>
          <p:nvPr/>
        </p:nvSpPr>
        <p:spPr bwMode="auto">
          <a:xfrm>
            <a:off x="593725" y="1268413"/>
            <a:ext cx="184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b="0">
              <a:latin typeface="Wingdings" pitchFamily="2" charset="2"/>
            </a:endParaRPr>
          </a:p>
        </p:txBody>
      </p:sp>
      <p:grpSp>
        <p:nvGrpSpPr>
          <p:cNvPr id="35844" name="Group 4"/>
          <p:cNvGrpSpPr>
            <a:grpSpLocks/>
          </p:cNvGrpSpPr>
          <p:nvPr/>
        </p:nvGrpSpPr>
        <p:grpSpPr bwMode="auto">
          <a:xfrm>
            <a:off x="1981200" y="1736725"/>
            <a:ext cx="6553200" cy="4206875"/>
            <a:chOff x="1296" y="1056"/>
            <a:chExt cx="4128" cy="2650"/>
          </a:xfrm>
        </p:grpSpPr>
        <p:grpSp>
          <p:nvGrpSpPr>
            <p:cNvPr id="35861" name="Group 5"/>
            <p:cNvGrpSpPr>
              <a:grpSpLocks/>
            </p:cNvGrpSpPr>
            <p:nvPr/>
          </p:nvGrpSpPr>
          <p:grpSpPr bwMode="auto">
            <a:xfrm>
              <a:off x="2160" y="1344"/>
              <a:ext cx="2160" cy="528"/>
              <a:chOff x="2160" y="1344"/>
              <a:chExt cx="1056" cy="576"/>
            </a:xfrm>
          </p:grpSpPr>
          <p:sp>
            <p:nvSpPr>
              <p:cNvPr id="35941" name="Line 6"/>
              <p:cNvSpPr>
                <a:spLocks noChangeShapeType="1"/>
              </p:cNvSpPr>
              <p:nvPr/>
            </p:nvSpPr>
            <p:spPr bwMode="auto">
              <a:xfrm flipH="1">
                <a:off x="2160" y="1344"/>
                <a:ext cx="528"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42" name="Line 7"/>
              <p:cNvSpPr>
                <a:spLocks noChangeShapeType="1"/>
              </p:cNvSpPr>
              <p:nvPr/>
            </p:nvSpPr>
            <p:spPr bwMode="auto">
              <a:xfrm>
                <a:off x="2688" y="134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43" name="Line 8"/>
              <p:cNvSpPr>
                <a:spLocks noChangeShapeType="1"/>
              </p:cNvSpPr>
              <p:nvPr/>
            </p:nvSpPr>
            <p:spPr bwMode="auto">
              <a:xfrm>
                <a:off x="2688" y="1344"/>
                <a:ext cx="528"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862" name="Group 9"/>
            <p:cNvGrpSpPr>
              <a:grpSpLocks/>
            </p:cNvGrpSpPr>
            <p:nvPr/>
          </p:nvGrpSpPr>
          <p:grpSpPr bwMode="auto">
            <a:xfrm>
              <a:off x="1536" y="2112"/>
              <a:ext cx="1104" cy="384"/>
              <a:chOff x="1680" y="2160"/>
              <a:chExt cx="864" cy="432"/>
            </a:xfrm>
          </p:grpSpPr>
          <p:sp>
            <p:nvSpPr>
              <p:cNvPr id="35938" name="Line 10"/>
              <p:cNvSpPr>
                <a:spLocks noChangeShapeType="1"/>
              </p:cNvSpPr>
              <p:nvPr/>
            </p:nvSpPr>
            <p:spPr bwMode="auto">
              <a:xfrm flipH="1">
                <a:off x="1680" y="2160"/>
                <a:ext cx="48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39" name="Line 11"/>
              <p:cNvSpPr>
                <a:spLocks noChangeShapeType="1"/>
              </p:cNvSpPr>
              <p:nvPr/>
            </p:nvSpPr>
            <p:spPr bwMode="auto">
              <a:xfrm>
                <a:off x="2160" y="2160"/>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40" name="Line 12"/>
              <p:cNvSpPr>
                <a:spLocks noChangeShapeType="1"/>
              </p:cNvSpPr>
              <p:nvPr/>
            </p:nvSpPr>
            <p:spPr bwMode="auto">
              <a:xfrm>
                <a:off x="2160" y="2160"/>
                <a:ext cx="38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863" name="Group 13"/>
            <p:cNvGrpSpPr>
              <a:grpSpLocks/>
            </p:cNvGrpSpPr>
            <p:nvPr/>
          </p:nvGrpSpPr>
          <p:grpSpPr bwMode="auto">
            <a:xfrm>
              <a:off x="3552" y="2112"/>
              <a:ext cx="1632" cy="528"/>
              <a:chOff x="2832" y="2160"/>
              <a:chExt cx="816" cy="432"/>
            </a:xfrm>
          </p:grpSpPr>
          <p:sp>
            <p:nvSpPr>
              <p:cNvPr id="35935" name="Line 14"/>
              <p:cNvSpPr>
                <a:spLocks noChangeShapeType="1"/>
              </p:cNvSpPr>
              <p:nvPr/>
            </p:nvSpPr>
            <p:spPr bwMode="auto">
              <a:xfrm flipH="1">
                <a:off x="2832" y="2160"/>
                <a:ext cx="384"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36" name="Line 15"/>
              <p:cNvSpPr>
                <a:spLocks noChangeShapeType="1"/>
              </p:cNvSpPr>
              <p:nvPr/>
            </p:nvSpPr>
            <p:spPr bwMode="auto">
              <a:xfrm>
                <a:off x="3216" y="2160"/>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37" name="Line 16"/>
              <p:cNvSpPr>
                <a:spLocks noChangeShapeType="1"/>
              </p:cNvSpPr>
              <p:nvPr/>
            </p:nvSpPr>
            <p:spPr bwMode="auto">
              <a:xfrm>
                <a:off x="3216" y="2160"/>
                <a:ext cx="432"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864" name="Group 17"/>
            <p:cNvGrpSpPr>
              <a:grpSpLocks/>
            </p:cNvGrpSpPr>
            <p:nvPr/>
          </p:nvGrpSpPr>
          <p:grpSpPr bwMode="auto">
            <a:xfrm>
              <a:off x="1584" y="2784"/>
              <a:ext cx="1104" cy="432"/>
              <a:chOff x="1584" y="2880"/>
              <a:chExt cx="1104" cy="432"/>
            </a:xfrm>
          </p:grpSpPr>
          <p:sp>
            <p:nvSpPr>
              <p:cNvPr id="35932" name="Line 18"/>
              <p:cNvSpPr>
                <a:spLocks noChangeShapeType="1"/>
              </p:cNvSpPr>
              <p:nvPr/>
            </p:nvSpPr>
            <p:spPr bwMode="auto">
              <a:xfrm flipH="1">
                <a:off x="1584" y="2880"/>
                <a:ext cx="576"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33" name="Line 19"/>
              <p:cNvSpPr>
                <a:spLocks noChangeShapeType="1"/>
              </p:cNvSpPr>
              <p:nvPr/>
            </p:nvSpPr>
            <p:spPr bwMode="auto">
              <a:xfrm>
                <a:off x="2160" y="2880"/>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34" name="Line 20"/>
              <p:cNvSpPr>
                <a:spLocks noChangeShapeType="1"/>
              </p:cNvSpPr>
              <p:nvPr/>
            </p:nvSpPr>
            <p:spPr bwMode="auto">
              <a:xfrm>
                <a:off x="2160" y="2880"/>
                <a:ext cx="52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865" name="Group 21"/>
            <p:cNvGrpSpPr>
              <a:grpSpLocks/>
            </p:cNvGrpSpPr>
            <p:nvPr/>
          </p:nvGrpSpPr>
          <p:grpSpPr bwMode="auto">
            <a:xfrm>
              <a:off x="2064" y="1824"/>
              <a:ext cx="192" cy="288"/>
              <a:chOff x="2064" y="1872"/>
              <a:chExt cx="192" cy="288"/>
            </a:xfrm>
          </p:grpSpPr>
          <p:sp>
            <p:nvSpPr>
              <p:cNvPr id="35929" name="Rectangle 22"/>
              <p:cNvSpPr>
                <a:spLocks noChangeArrowheads="1"/>
              </p:cNvSpPr>
              <p:nvPr/>
            </p:nvSpPr>
            <p:spPr bwMode="auto">
              <a:xfrm>
                <a:off x="2064"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930" name="Line 23"/>
              <p:cNvSpPr>
                <a:spLocks noChangeShapeType="1"/>
              </p:cNvSpPr>
              <p:nvPr/>
            </p:nvSpPr>
            <p:spPr bwMode="auto">
              <a:xfrm>
                <a:off x="2064"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31" name="Line 24"/>
              <p:cNvSpPr>
                <a:spLocks noChangeShapeType="1"/>
              </p:cNvSpPr>
              <p:nvPr/>
            </p:nvSpPr>
            <p:spPr bwMode="auto">
              <a:xfrm>
                <a:off x="2064"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866" name="Group 25"/>
            <p:cNvGrpSpPr>
              <a:grpSpLocks/>
            </p:cNvGrpSpPr>
            <p:nvPr/>
          </p:nvGrpSpPr>
          <p:grpSpPr bwMode="auto">
            <a:xfrm>
              <a:off x="4224" y="1824"/>
              <a:ext cx="192" cy="288"/>
              <a:chOff x="3120" y="1872"/>
              <a:chExt cx="192" cy="288"/>
            </a:xfrm>
          </p:grpSpPr>
          <p:sp>
            <p:nvSpPr>
              <p:cNvPr id="35926" name="Rectangle 26"/>
              <p:cNvSpPr>
                <a:spLocks noChangeArrowheads="1"/>
              </p:cNvSpPr>
              <p:nvPr/>
            </p:nvSpPr>
            <p:spPr bwMode="auto">
              <a:xfrm>
                <a:off x="3120"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927" name="Line 27"/>
              <p:cNvSpPr>
                <a:spLocks noChangeShapeType="1"/>
              </p:cNvSpPr>
              <p:nvPr/>
            </p:nvSpPr>
            <p:spPr bwMode="auto">
              <a:xfrm>
                <a:off x="3120"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28" name="Line 28"/>
              <p:cNvSpPr>
                <a:spLocks noChangeShapeType="1"/>
              </p:cNvSpPr>
              <p:nvPr/>
            </p:nvSpPr>
            <p:spPr bwMode="auto">
              <a:xfrm>
                <a:off x="3120"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867" name="Group 29"/>
            <p:cNvGrpSpPr>
              <a:grpSpLocks/>
            </p:cNvGrpSpPr>
            <p:nvPr/>
          </p:nvGrpSpPr>
          <p:grpSpPr bwMode="auto">
            <a:xfrm>
              <a:off x="2064" y="2496"/>
              <a:ext cx="192" cy="288"/>
              <a:chOff x="2064" y="2592"/>
              <a:chExt cx="192" cy="288"/>
            </a:xfrm>
          </p:grpSpPr>
          <p:sp>
            <p:nvSpPr>
              <p:cNvPr id="35923" name="Rectangle 30"/>
              <p:cNvSpPr>
                <a:spLocks noChangeArrowheads="1"/>
              </p:cNvSpPr>
              <p:nvPr/>
            </p:nvSpPr>
            <p:spPr bwMode="auto">
              <a:xfrm>
                <a:off x="2064" y="259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924" name="Line 31"/>
              <p:cNvSpPr>
                <a:spLocks noChangeShapeType="1"/>
              </p:cNvSpPr>
              <p:nvPr/>
            </p:nvSpPr>
            <p:spPr bwMode="auto">
              <a:xfrm>
                <a:off x="2064" y="278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25" name="Line 32"/>
              <p:cNvSpPr>
                <a:spLocks noChangeShapeType="1"/>
              </p:cNvSpPr>
              <p:nvPr/>
            </p:nvSpPr>
            <p:spPr bwMode="auto">
              <a:xfrm>
                <a:off x="2064" y="268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5868" name="Group 33"/>
            <p:cNvGrpSpPr>
              <a:grpSpLocks/>
            </p:cNvGrpSpPr>
            <p:nvPr/>
          </p:nvGrpSpPr>
          <p:grpSpPr bwMode="auto">
            <a:xfrm>
              <a:off x="2544" y="3168"/>
              <a:ext cx="480" cy="250"/>
              <a:chOff x="432" y="3408"/>
              <a:chExt cx="480" cy="250"/>
            </a:xfrm>
          </p:grpSpPr>
          <p:sp>
            <p:nvSpPr>
              <p:cNvPr id="35921" name="Rectangle 34"/>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922" name="Text Box 35"/>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1 5 </a:t>
                </a:r>
                <a:r>
                  <a:rPr lang="en-US" altLang="en-US" sz="2000" b="0">
                    <a:solidFill>
                      <a:srgbClr val="FF0000"/>
                    </a:solidFill>
                    <a:latin typeface="Times New Roman" pitchFamily="18" charset="0"/>
                  </a:rPr>
                  <a:t>9</a:t>
                </a:r>
              </a:p>
            </p:txBody>
          </p:sp>
        </p:grpSp>
        <p:grpSp>
          <p:nvGrpSpPr>
            <p:cNvPr id="35869" name="Group 36"/>
            <p:cNvGrpSpPr>
              <a:grpSpLocks/>
            </p:cNvGrpSpPr>
            <p:nvPr/>
          </p:nvGrpSpPr>
          <p:grpSpPr bwMode="auto">
            <a:xfrm>
              <a:off x="1296" y="2448"/>
              <a:ext cx="480" cy="250"/>
              <a:chOff x="432" y="3408"/>
              <a:chExt cx="480" cy="250"/>
            </a:xfrm>
          </p:grpSpPr>
          <p:sp>
            <p:nvSpPr>
              <p:cNvPr id="35919" name="Rectangle 37"/>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920" name="Text Box 38"/>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1 4 5</a:t>
                </a:r>
              </a:p>
            </p:txBody>
          </p:sp>
        </p:grpSp>
        <p:grpSp>
          <p:nvGrpSpPr>
            <p:cNvPr id="35870" name="Group 39"/>
            <p:cNvGrpSpPr>
              <a:grpSpLocks/>
            </p:cNvGrpSpPr>
            <p:nvPr/>
          </p:nvGrpSpPr>
          <p:grpSpPr bwMode="auto">
            <a:xfrm>
              <a:off x="2448" y="2448"/>
              <a:ext cx="480" cy="250"/>
              <a:chOff x="432" y="3408"/>
              <a:chExt cx="480" cy="250"/>
            </a:xfrm>
          </p:grpSpPr>
          <p:sp>
            <p:nvSpPr>
              <p:cNvPr id="35917" name="Rectangle 40"/>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918" name="Text Box 41"/>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1 3 </a:t>
                </a:r>
                <a:r>
                  <a:rPr lang="en-US" altLang="en-US" sz="2000" b="0">
                    <a:solidFill>
                      <a:srgbClr val="FF0000"/>
                    </a:solidFill>
                    <a:latin typeface="Times New Roman" pitchFamily="18" charset="0"/>
                  </a:rPr>
                  <a:t>6</a:t>
                </a:r>
              </a:p>
            </p:txBody>
          </p:sp>
        </p:grpSp>
        <p:grpSp>
          <p:nvGrpSpPr>
            <p:cNvPr id="35871" name="Group 42"/>
            <p:cNvGrpSpPr>
              <a:grpSpLocks/>
            </p:cNvGrpSpPr>
            <p:nvPr/>
          </p:nvGrpSpPr>
          <p:grpSpPr bwMode="auto">
            <a:xfrm>
              <a:off x="3312" y="2640"/>
              <a:ext cx="480" cy="250"/>
              <a:chOff x="432" y="3408"/>
              <a:chExt cx="480" cy="250"/>
            </a:xfrm>
          </p:grpSpPr>
          <p:sp>
            <p:nvSpPr>
              <p:cNvPr id="35915" name="Rectangle 43"/>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916" name="Text Box 44"/>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3</a:t>
                </a:r>
                <a:r>
                  <a:rPr lang="en-US" altLang="en-US" sz="2000" b="0">
                    <a:latin typeface="Times New Roman" pitchFamily="18" charset="0"/>
                  </a:rPr>
                  <a:t> 4 5</a:t>
                </a:r>
              </a:p>
            </p:txBody>
          </p:sp>
        </p:grpSp>
        <p:grpSp>
          <p:nvGrpSpPr>
            <p:cNvPr id="35872" name="Group 45"/>
            <p:cNvGrpSpPr>
              <a:grpSpLocks/>
            </p:cNvGrpSpPr>
            <p:nvPr/>
          </p:nvGrpSpPr>
          <p:grpSpPr bwMode="auto">
            <a:xfrm>
              <a:off x="4944" y="2640"/>
              <a:ext cx="480" cy="490"/>
              <a:chOff x="3792" y="3312"/>
              <a:chExt cx="480" cy="490"/>
            </a:xfrm>
          </p:grpSpPr>
          <p:grpSp>
            <p:nvGrpSpPr>
              <p:cNvPr id="35909" name="Group 46"/>
              <p:cNvGrpSpPr>
                <a:grpSpLocks/>
              </p:cNvGrpSpPr>
              <p:nvPr/>
            </p:nvGrpSpPr>
            <p:grpSpPr bwMode="auto">
              <a:xfrm>
                <a:off x="3792" y="3312"/>
                <a:ext cx="480" cy="250"/>
                <a:chOff x="432" y="3408"/>
                <a:chExt cx="480" cy="250"/>
              </a:xfrm>
            </p:grpSpPr>
            <p:sp>
              <p:nvSpPr>
                <p:cNvPr id="35913" name="Rectangle 47"/>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914" name="Text Box 48"/>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3</a:t>
                  </a:r>
                  <a:r>
                    <a:rPr lang="en-US" altLang="en-US" sz="2000" b="0">
                      <a:latin typeface="Times New Roman" pitchFamily="18" charset="0"/>
                    </a:rPr>
                    <a:t> </a:t>
                  </a:r>
                  <a:r>
                    <a:rPr lang="en-US" altLang="en-US" sz="2000" b="0">
                      <a:solidFill>
                        <a:srgbClr val="FF0000"/>
                      </a:solidFill>
                      <a:latin typeface="Times New Roman" pitchFamily="18" charset="0"/>
                    </a:rPr>
                    <a:t>6</a:t>
                  </a:r>
                  <a:r>
                    <a:rPr lang="en-US" altLang="en-US" sz="2000" b="0">
                      <a:latin typeface="Times New Roman" pitchFamily="18" charset="0"/>
                    </a:rPr>
                    <a:t> 7</a:t>
                  </a:r>
                </a:p>
              </p:txBody>
            </p:sp>
          </p:grpSp>
          <p:grpSp>
            <p:nvGrpSpPr>
              <p:cNvPr id="35910" name="Group 49"/>
              <p:cNvGrpSpPr>
                <a:grpSpLocks/>
              </p:cNvGrpSpPr>
              <p:nvPr/>
            </p:nvGrpSpPr>
            <p:grpSpPr bwMode="auto">
              <a:xfrm>
                <a:off x="3792" y="3552"/>
                <a:ext cx="480" cy="250"/>
                <a:chOff x="432" y="3408"/>
                <a:chExt cx="480" cy="250"/>
              </a:xfrm>
            </p:grpSpPr>
            <p:sp>
              <p:nvSpPr>
                <p:cNvPr id="35911" name="Rectangle 50"/>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912" name="Text Box 51"/>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3</a:t>
                  </a:r>
                  <a:r>
                    <a:rPr lang="en-US" altLang="en-US" sz="2000" b="0">
                      <a:latin typeface="Times New Roman" pitchFamily="18" charset="0"/>
                    </a:rPr>
                    <a:t> </a:t>
                  </a:r>
                  <a:r>
                    <a:rPr lang="en-US" altLang="en-US" sz="2000" b="0">
                      <a:solidFill>
                        <a:srgbClr val="FF0000"/>
                      </a:solidFill>
                      <a:latin typeface="Times New Roman" pitchFamily="18" charset="0"/>
                    </a:rPr>
                    <a:t>6</a:t>
                  </a:r>
                  <a:r>
                    <a:rPr lang="en-US" altLang="en-US" sz="2000" b="0">
                      <a:latin typeface="Times New Roman" pitchFamily="18" charset="0"/>
                    </a:rPr>
                    <a:t> 8</a:t>
                  </a:r>
                </a:p>
              </p:txBody>
            </p:sp>
          </p:grpSp>
        </p:grpSp>
        <p:grpSp>
          <p:nvGrpSpPr>
            <p:cNvPr id="35873" name="Group 52"/>
            <p:cNvGrpSpPr>
              <a:grpSpLocks/>
            </p:cNvGrpSpPr>
            <p:nvPr/>
          </p:nvGrpSpPr>
          <p:grpSpPr bwMode="auto">
            <a:xfrm>
              <a:off x="4080" y="2640"/>
              <a:ext cx="480" cy="730"/>
              <a:chOff x="4800" y="3216"/>
              <a:chExt cx="480" cy="730"/>
            </a:xfrm>
          </p:grpSpPr>
          <p:grpSp>
            <p:nvGrpSpPr>
              <p:cNvPr id="35899" name="Group 53"/>
              <p:cNvGrpSpPr>
                <a:grpSpLocks/>
              </p:cNvGrpSpPr>
              <p:nvPr/>
            </p:nvGrpSpPr>
            <p:grpSpPr bwMode="auto">
              <a:xfrm>
                <a:off x="4800" y="3216"/>
                <a:ext cx="480" cy="490"/>
                <a:chOff x="3792" y="3312"/>
                <a:chExt cx="480" cy="490"/>
              </a:xfrm>
            </p:grpSpPr>
            <p:grpSp>
              <p:nvGrpSpPr>
                <p:cNvPr id="35903" name="Group 54"/>
                <p:cNvGrpSpPr>
                  <a:grpSpLocks/>
                </p:cNvGrpSpPr>
                <p:nvPr/>
              </p:nvGrpSpPr>
              <p:grpSpPr bwMode="auto">
                <a:xfrm>
                  <a:off x="3792" y="3312"/>
                  <a:ext cx="480" cy="250"/>
                  <a:chOff x="432" y="3408"/>
                  <a:chExt cx="480" cy="250"/>
                </a:xfrm>
              </p:grpSpPr>
              <p:sp>
                <p:nvSpPr>
                  <p:cNvPr id="35907" name="Rectangle 55"/>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908" name="Text Box 56"/>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3</a:t>
                    </a:r>
                    <a:r>
                      <a:rPr lang="en-US" altLang="en-US" sz="2000" b="0">
                        <a:latin typeface="Times New Roman" pitchFamily="18" charset="0"/>
                      </a:rPr>
                      <a:t> 5 6</a:t>
                    </a:r>
                  </a:p>
                </p:txBody>
              </p:sp>
            </p:grpSp>
            <p:grpSp>
              <p:nvGrpSpPr>
                <p:cNvPr id="35904" name="Group 57"/>
                <p:cNvGrpSpPr>
                  <a:grpSpLocks/>
                </p:cNvGrpSpPr>
                <p:nvPr/>
              </p:nvGrpSpPr>
              <p:grpSpPr bwMode="auto">
                <a:xfrm>
                  <a:off x="3792" y="3552"/>
                  <a:ext cx="480" cy="250"/>
                  <a:chOff x="432" y="3408"/>
                  <a:chExt cx="480" cy="250"/>
                </a:xfrm>
              </p:grpSpPr>
              <p:sp>
                <p:nvSpPr>
                  <p:cNvPr id="35905" name="Rectangle 58"/>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906" name="Text Box 59"/>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3</a:t>
                    </a:r>
                    <a:r>
                      <a:rPr lang="en-US" altLang="en-US" sz="2000" b="0">
                        <a:latin typeface="Times New Roman" pitchFamily="18" charset="0"/>
                      </a:rPr>
                      <a:t> 5 7</a:t>
                    </a:r>
                  </a:p>
                </p:txBody>
              </p:sp>
            </p:grpSp>
          </p:grpSp>
          <p:grpSp>
            <p:nvGrpSpPr>
              <p:cNvPr id="35900" name="Group 60"/>
              <p:cNvGrpSpPr>
                <a:grpSpLocks/>
              </p:cNvGrpSpPr>
              <p:nvPr/>
            </p:nvGrpSpPr>
            <p:grpSpPr bwMode="auto">
              <a:xfrm>
                <a:off x="4800" y="3696"/>
                <a:ext cx="480" cy="250"/>
                <a:chOff x="432" y="3408"/>
                <a:chExt cx="480" cy="250"/>
              </a:xfrm>
            </p:grpSpPr>
            <p:sp>
              <p:nvSpPr>
                <p:cNvPr id="35901" name="Rectangle 61"/>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902" name="Text Box 62"/>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solidFill>
                        <a:srgbClr val="FF0000"/>
                      </a:solidFill>
                      <a:latin typeface="Times New Roman" pitchFamily="18" charset="0"/>
                    </a:rPr>
                    <a:t>6</a:t>
                  </a:r>
                  <a:r>
                    <a:rPr lang="en-US" altLang="en-US" sz="2000" b="0">
                      <a:latin typeface="Times New Roman" pitchFamily="18" charset="0"/>
                    </a:rPr>
                    <a:t> 8 9</a:t>
                  </a:r>
                </a:p>
              </p:txBody>
            </p:sp>
          </p:grpSp>
        </p:grpSp>
        <p:grpSp>
          <p:nvGrpSpPr>
            <p:cNvPr id="35874" name="Group 63"/>
            <p:cNvGrpSpPr>
              <a:grpSpLocks/>
            </p:cNvGrpSpPr>
            <p:nvPr/>
          </p:nvGrpSpPr>
          <p:grpSpPr bwMode="auto">
            <a:xfrm>
              <a:off x="3024" y="1872"/>
              <a:ext cx="480" cy="490"/>
              <a:chOff x="3792" y="3312"/>
              <a:chExt cx="480" cy="490"/>
            </a:xfrm>
          </p:grpSpPr>
          <p:grpSp>
            <p:nvGrpSpPr>
              <p:cNvPr id="35893" name="Group 64"/>
              <p:cNvGrpSpPr>
                <a:grpSpLocks/>
              </p:cNvGrpSpPr>
              <p:nvPr/>
            </p:nvGrpSpPr>
            <p:grpSpPr bwMode="auto">
              <a:xfrm>
                <a:off x="3792" y="3312"/>
                <a:ext cx="480" cy="250"/>
                <a:chOff x="432" y="3408"/>
                <a:chExt cx="480" cy="250"/>
              </a:xfrm>
            </p:grpSpPr>
            <p:sp>
              <p:nvSpPr>
                <p:cNvPr id="35897" name="Rectangle 65"/>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898" name="Text Box 66"/>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2 3 4</a:t>
                  </a:r>
                </a:p>
              </p:txBody>
            </p:sp>
          </p:grpSp>
          <p:grpSp>
            <p:nvGrpSpPr>
              <p:cNvPr id="35894" name="Group 67"/>
              <p:cNvGrpSpPr>
                <a:grpSpLocks/>
              </p:cNvGrpSpPr>
              <p:nvPr/>
            </p:nvGrpSpPr>
            <p:grpSpPr bwMode="auto">
              <a:xfrm>
                <a:off x="3792" y="3552"/>
                <a:ext cx="480" cy="250"/>
                <a:chOff x="432" y="3408"/>
                <a:chExt cx="480" cy="250"/>
              </a:xfrm>
            </p:grpSpPr>
            <p:sp>
              <p:nvSpPr>
                <p:cNvPr id="35895" name="Rectangle 68"/>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896" name="Text Box 69"/>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5 6 7</a:t>
                  </a:r>
                </a:p>
              </p:txBody>
            </p:sp>
          </p:grpSp>
        </p:grpSp>
        <p:grpSp>
          <p:nvGrpSpPr>
            <p:cNvPr id="35875" name="Group 70"/>
            <p:cNvGrpSpPr>
              <a:grpSpLocks/>
            </p:cNvGrpSpPr>
            <p:nvPr/>
          </p:nvGrpSpPr>
          <p:grpSpPr bwMode="auto">
            <a:xfrm>
              <a:off x="1344" y="3168"/>
              <a:ext cx="480" cy="490"/>
              <a:chOff x="3792" y="3312"/>
              <a:chExt cx="480" cy="490"/>
            </a:xfrm>
          </p:grpSpPr>
          <p:grpSp>
            <p:nvGrpSpPr>
              <p:cNvPr id="35887" name="Group 71"/>
              <p:cNvGrpSpPr>
                <a:grpSpLocks/>
              </p:cNvGrpSpPr>
              <p:nvPr/>
            </p:nvGrpSpPr>
            <p:grpSpPr bwMode="auto">
              <a:xfrm>
                <a:off x="3792" y="3312"/>
                <a:ext cx="480" cy="250"/>
                <a:chOff x="432" y="3408"/>
                <a:chExt cx="480" cy="250"/>
              </a:xfrm>
            </p:grpSpPr>
            <p:sp>
              <p:nvSpPr>
                <p:cNvPr id="35891" name="Rectangle 72"/>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892" name="Text Box 73"/>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1 2 4</a:t>
                  </a:r>
                </a:p>
              </p:txBody>
            </p:sp>
          </p:grpSp>
          <p:grpSp>
            <p:nvGrpSpPr>
              <p:cNvPr id="35888" name="Group 74"/>
              <p:cNvGrpSpPr>
                <a:grpSpLocks/>
              </p:cNvGrpSpPr>
              <p:nvPr/>
            </p:nvGrpSpPr>
            <p:grpSpPr bwMode="auto">
              <a:xfrm>
                <a:off x="3792" y="3552"/>
                <a:ext cx="480" cy="250"/>
                <a:chOff x="432" y="3408"/>
                <a:chExt cx="480" cy="250"/>
              </a:xfrm>
            </p:grpSpPr>
            <p:sp>
              <p:nvSpPr>
                <p:cNvPr id="35889" name="Rectangle 75"/>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890" name="Text Box 76"/>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4 5 7</a:t>
                  </a:r>
                </a:p>
              </p:txBody>
            </p:sp>
          </p:grpSp>
        </p:grpSp>
        <p:grpSp>
          <p:nvGrpSpPr>
            <p:cNvPr id="35876" name="Group 77"/>
            <p:cNvGrpSpPr>
              <a:grpSpLocks/>
            </p:cNvGrpSpPr>
            <p:nvPr/>
          </p:nvGrpSpPr>
          <p:grpSpPr bwMode="auto">
            <a:xfrm>
              <a:off x="1920" y="3216"/>
              <a:ext cx="480" cy="490"/>
              <a:chOff x="3792" y="3312"/>
              <a:chExt cx="480" cy="490"/>
            </a:xfrm>
          </p:grpSpPr>
          <p:grpSp>
            <p:nvGrpSpPr>
              <p:cNvPr id="35881" name="Group 78"/>
              <p:cNvGrpSpPr>
                <a:grpSpLocks/>
              </p:cNvGrpSpPr>
              <p:nvPr/>
            </p:nvGrpSpPr>
            <p:grpSpPr bwMode="auto">
              <a:xfrm>
                <a:off x="3792" y="3312"/>
                <a:ext cx="480" cy="250"/>
                <a:chOff x="432" y="3408"/>
                <a:chExt cx="480" cy="250"/>
              </a:xfrm>
            </p:grpSpPr>
            <p:sp>
              <p:nvSpPr>
                <p:cNvPr id="35885" name="Rectangle 79"/>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886" name="Text Box 80"/>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1 2 5</a:t>
                  </a:r>
                </a:p>
              </p:txBody>
            </p:sp>
          </p:grpSp>
          <p:grpSp>
            <p:nvGrpSpPr>
              <p:cNvPr id="35882" name="Group 81"/>
              <p:cNvGrpSpPr>
                <a:grpSpLocks/>
              </p:cNvGrpSpPr>
              <p:nvPr/>
            </p:nvGrpSpPr>
            <p:grpSpPr bwMode="auto">
              <a:xfrm>
                <a:off x="3792" y="3552"/>
                <a:ext cx="480" cy="250"/>
                <a:chOff x="432" y="3408"/>
                <a:chExt cx="480" cy="250"/>
              </a:xfrm>
            </p:grpSpPr>
            <p:sp>
              <p:nvSpPr>
                <p:cNvPr id="35883" name="Rectangle 82"/>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884" name="Text Box 83"/>
                <p:cNvSpPr txBox="1">
                  <a:spLocks noChangeArrowheads="1"/>
                </p:cNvSpPr>
                <p:nvPr/>
              </p:nvSpPr>
              <p:spPr bwMode="auto">
                <a:xfrm>
                  <a:off x="432" y="340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4 5 8</a:t>
                  </a:r>
                </a:p>
              </p:txBody>
            </p:sp>
          </p:grpSp>
        </p:grpSp>
        <p:grpSp>
          <p:nvGrpSpPr>
            <p:cNvPr id="35877" name="Group 84"/>
            <p:cNvGrpSpPr>
              <a:grpSpLocks/>
            </p:cNvGrpSpPr>
            <p:nvPr/>
          </p:nvGrpSpPr>
          <p:grpSpPr bwMode="auto">
            <a:xfrm>
              <a:off x="3120" y="1056"/>
              <a:ext cx="192" cy="288"/>
              <a:chOff x="2064" y="1872"/>
              <a:chExt cx="192" cy="288"/>
            </a:xfrm>
          </p:grpSpPr>
          <p:sp>
            <p:nvSpPr>
              <p:cNvPr id="35878" name="Rectangle 85"/>
              <p:cNvSpPr>
                <a:spLocks noChangeArrowheads="1"/>
              </p:cNvSpPr>
              <p:nvPr/>
            </p:nvSpPr>
            <p:spPr bwMode="auto">
              <a:xfrm>
                <a:off x="2064"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879" name="Line 86"/>
              <p:cNvSpPr>
                <a:spLocks noChangeShapeType="1"/>
              </p:cNvSpPr>
              <p:nvPr/>
            </p:nvSpPr>
            <p:spPr bwMode="auto">
              <a:xfrm>
                <a:off x="2064"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80" name="Line 87"/>
              <p:cNvSpPr>
                <a:spLocks noChangeShapeType="1"/>
              </p:cNvSpPr>
              <p:nvPr/>
            </p:nvSpPr>
            <p:spPr bwMode="auto">
              <a:xfrm>
                <a:off x="2064"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grpSp>
        <p:nvGrpSpPr>
          <p:cNvPr id="35845" name="Group 88"/>
          <p:cNvGrpSpPr>
            <a:grpSpLocks/>
          </p:cNvGrpSpPr>
          <p:nvPr/>
        </p:nvGrpSpPr>
        <p:grpSpPr bwMode="auto">
          <a:xfrm>
            <a:off x="1212850" y="1736725"/>
            <a:ext cx="381000" cy="609600"/>
            <a:chOff x="2064" y="1872"/>
            <a:chExt cx="192" cy="288"/>
          </a:xfrm>
        </p:grpSpPr>
        <p:sp>
          <p:nvSpPr>
            <p:cNvPr id="35858" name="Rectangle 89"/>
            <p:cNvSpPr>
              <a:spLocks noChangeArrowheads="1"/>
            </p:cNvSpPr>
            <p:nvPr/>
          </p:nvSpPr>
          <p:spPr bwMode="auto">
            <a:xfrm>
              <a:off x="2064"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859" name="Line 90"/>
            <p:cNvSpPr>
              <a:spLocks noChangeShapeType="1"/>
            </p:cNvSpPr>
            <p:nvPr/>
          </p:nvSpPr>
          <p:spPr bwMode="auto">
            <a:xfrm>
              <a:off x="2064"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60" name="Line 91"/>
            <p:cNvSpPr>
              <a:spLocks noChangeShapeType="1"/>
            </p:cNvSpPr>
            <p:nvPr/>
          </p:nvSpPr>
          <p:spPr bwMode="auto">
            <a:xfrm>
              <a:off x="2064"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5846" name="Line 92"/>
          <p:cNvSpPr>
            <a:spLocks noChangeShapeType="1"/>
          </p:cNvSpPr>
          <p:nvPr/>
        </p:nvSpPr>
        <p:spPr bwMode="auto">
          <a:xfrm flipH="1">
            <a:off x="603250" y="2346325"/>
            <a:ext cx="769938"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7" name="Line 93"/>
          <p:cNvSpPr>
            <a:spLocks noChangeShapeType="1"/>
          </p:cNvSpPr>
          <p:nvPr/>
        </p:nvSpPr>
        <p:spPr bwMode="auto">
          <a:xfrm>
            <a:off x="1365250" y="234632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8" name="Line 94"/>
          <p:cNvSpPr>
            <a:spLocks noChangeShapeType="1"/>
          </p:cNvSpPr>
          <p:nvPr/>
        </p:nvSpPr>
        <p:spPr bwMode="auto">
          <a:xfrm>
            <a:off x="1373188" y="2346325"/>
            <a:ext cx="677862"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9" name="Text Box 95"/>
          <p:cNvSpPr txBox="1">
            <a:spLocks noChangeArrowheads="1"/>
          </p:cNvSpPr>
          <p:nvPr/>
        </p:nvSpPr>
        <p:spPr bwMode="auto">
          <a:xfrm>
            <a:off x="527050" y="2346325"/>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1,4,7</a:t>
            </a:r>
            <a:endParaRPr lang="en-US" altLang="en-US" sz="1400" b="0">
              <a:latin typeface="Times New Roman" pitchFamily="18" charset="0"/>
            </a:endParaRPr>
          </a:p>
        </p:txBody>
      </p:sp>
      <p:sp>
        <p:nvSpPr>
          <p:cNvPr id="35850" name="Text Box 96"/>
          <p:cNvSpPr txBox="1">
            <a:spLocks noChangeArrowheads="1"/>
          </p:cNvSpPr>
          <p:nvPr/>
        </p:nvSpPr>
        <p:spPr bwMode="auto">
          <a:xfrm>
            <a:off x="831850" y="2727325"/>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2,5,8</a:t>
            </a:r>
            <a:endParaRPr lang="en-US" altLang="en-US" sz="1400" b="0">
              <a:latin typeface="Times New Roman" pitchFamily="18" charset="0"/>
            </a:endParaRPr>
          </a:p>
        </p:txBody>
      </p:sp>
      <p:sp>
        <p:nvSpPr>
          <p:cNvPr id="35851" name="Text Box 97"/>
          <p:cNvSpPr txBox="1">
            <a:spLocks noChangeArrowheads="1"/>
          </p:cNvSpPr>
          <p:nvPr/>
        </p:nvSpPr>
        <p:spPr bwMode="auto">
          <a:xfrm>
            <a:off x="1746250" y="2346325"/>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solidFill>
                  <a:srgbClr val="FF0000"/>
                </a:solidFill>
                <a:latin typeface="Times New Roman" pitchFamily="18" charset="0"/>
              </a:rPr>
              <a:t>3,6,9</a:t>
            </a:r>
          </a:p>
        </p:txBody>
      </p:sp>
      <p:sp>
        <p:nvSpPr>
          <p:cNvPr id="35852" name="Text Box 98"/>
          <p:cNvSpPr txBox="1">
            <a:spLocks noChangeArrowheads="1"/>
          </p:cNvSpPr>
          <p:nvPr/>
        </p:nvSpPr>
        <p:spPr bwMode="auto">
          <a:xfrm>
            <a:off x="679450" y="1355725"/>
            <a:ext cx="1376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b="0">
                <a:latin typeface="Times New Roman" pitchFamily="18" charset="0"/>
              </a:rPr>
              <a:t>Hash Function</a:t>
            </a:r>
            <a:endParaRPr lang="en-US" altLang="en-US" b="0">
              <a:latin typeface="Times New Roman" pitchFamily="18" charset="0"/>
            </a:endParaRPr>
          </a:p>
        </p:txBody>
      </p:sp>
      <p:sp>
        <p:nvSpPr>
          <p:cNvPr id="35853" name="Text Box 99"/>
          <p:cNvSpPr txBox="1">
            <a:spLocks noChangeArrowheads="1"/>
          </p:cNvSpPr>
          <p:nvPr/>
        </p:nvSpPr>
        <p:spPr bwMode="auto">
          <a:xfrm>
            <a:off x="3810000" y="1355725"/>
            <a:ext cx="2279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a:latin typeface="Times New Roman" pitchFamily="18" charset="0"/>
              </a:rPr>
              <a:t>Candidate Hash Tree</a:t>
            </a:r>
            <a:endParaRPr lang="en-US" altLang="en-US" b="0">
              <a:latin typeface="Times New Roman" pitchFamily="18" charset="0"/>
            </a:endParaRPr>
          </a:p>
        </p:txBody>
      </p:sp>
      <p:sp>
        <p:nvSpPr>
          <p:cNvPr id="35854" name="Rectangle 100"/>
          <p:cNvSpPr>
            <a:spLocks noChangeArrowheads="1"/>
          </p:cNvSpPr>
          <p:nvPr/>
        </p:nvSpPr>
        <p:spPr bwMode="auto">
          <a:xfrm>
            <a:off x="3810000" y="4953000"/>
            <a:ext cx="1066800" cy="685800"/>
          </a:xfrm>
          <a:prstGeom prst="rect">
            <a:avLst/>
          </a:prstGeom>
          <a:noFill/>
          <a:ln w="12700">
            <a:solidFill>
              <a:srgbClr val="008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855" name="Rectangle 101"/>
          <p:cNvSpPr>
            <a:spLocks noChangeArrowheads="1"/>
          </p:cNvSpPr>
          <p:nvPr/>
        </p:nvSpPr>
        <p:spPr bwMode="auto">
          <a:xfrm>
            <a:off x="5105400" y="4038600"/>
            <a:ext cx="3657600" cy="1524000"/>
          </a:xfrm>
          <a:prstGeom prst="rect">
            <a:avLst/>
          </a:prstGeom>
          <a:noFill/>
          <a:ln w="12700">
            <a:solidFill>
              <a:srgbClr val="008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5856" name="Text Box 102"/>
          <p:cNvSpPr txBox="1">
            <a:spLocks noChangeArrowheads="1"/>
          </p:cNvSpPr>
          <p:nvPr/>
        </p:nvSpPr>
        <p:spPr bwMode="auto">
          <a:xfrm>
            <a:off x="304800" y="4495800"/>
            <a:ext cx="1143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b="0">
                <a:solidFill>
                  <a:srgbClr val="0C6D9C"/>
                </a:solidFill>
              </a:rPr>
              <a:t>Hash on 3, 6 or 9</a:t>
            </a:r>
            <a:endParaRPr lang="en-US" altLang="en-US" sz="2000" b="0">
              <a:solidFill>
                <a:srgbClr val="0C6D9C"/>
              </a:solidFill>
              <a:sym typeface="Symbol" pitchFamily="18" charset="2"/>
            </a:endParaRPr>
          </a:p>
        </p:txBody>
      </p:sp>
      <p:sp>
        <p:nvSpPr>
          <p:cNvPr id="35857" name="Rectangle 103"/>
          <p:cNvSpPr>
            <a:spLocks noChangeArrowheads="1"/>
          </p:cNvSpPr>
          <p:nvPr/>
        </p:nvSpPr>
        <p:spPr bwMode="auto">
          <a:xfrm>
            <a:off x="3657600" y="3810000"/>
            <a:ext cx="990600" cy="609600"/>
          </a:xfrm>
          <a:prstGeom prst="rect">
            <a:avLst/>
          </a:prstGeom>
          <a:noFill/>
          <a:ln w="12700">
            <a:solidFill>
              <a:srgbClr val="008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Tree>
    <p:extLst>
      <p:ext uri="{BB962C8B-B14F-4D97-AF65-F5344CB8AC3E}">
        <p14:creationId xmlns:p14="http://schemas.microsoft.com/office/powerpoint/2010/main" val="1923232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14"/>
          <p:cNvSpPr>
            <a:spLocks noGrp="1" noChangeArrowheads="1"/>
          </p:cNvSpPr>
          <p:nvPr>
            <p:ph type="title"/>
          </p:nvPr>
        </p:nvSpPr>
        <p:spPr/>
        <p:txBody>
          <a:bodyPr/>
          <a:lstStyle/>
          <a:p>
            <a:r>
              <a:rPr lang="en-US" altLang="en-US"/>
              <a:t>Support Counting Using a Hash Tree</a:t>
            </a:r>
          </a:p>
        </p:txBody>
      </p:sp>
      <p:grpSp>
        <p:nvGrpSpPr>
          <p:cNvPr id="36867" name="Group 3"/>
          <p:cNvGrpSpPr>
            <a:grpSpLocks/>
          </p:cNvGrpSpPr>
          <p:nvPr/>
        </p:nvGrpSpPr>
        <p:grpSpPr bwMode="auto">
          <a:xfrm>
            <a:off x="914400" y="2286000"/>
            <a:ext cx="5457825" cy="3744913"/>
            <a:chOff x="1248" y="1392"/>
            <a:chExt cx="4134" cy="2678"/>
          </a:xfrm>
        </p:grpSpPr>
        <p:sp>
          <p:nvSpPr>
            <p:cNvPr id="36911" name="Line 4"/>
            <p:cNvSpPr>
              <a:spLocks noChangeShapeType="1"/>
            </p:cNvSpPr>
            <p:nvPr/>
          </p:nvSpPr>
          <p:spPr bwMode="auto">
            <a:xfrm flipH="1">
              <a:off x="2112" y="1680"/>
              <a:ext cx="1080" cy="4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12" name="Line 5"/>
            <p:cNvSpPr>
              <a:spLocks noChangeShapeType="1"/>
            </p:cNvSpPr>
            <p:nvPr/>
          </p:nvSpPr>
          <p:spPr bwMode="auto">
            <a:xfrm>
              <a:off x="3192" y="1680"/>
              <a:ext cx="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13" name="Line 6"/>
            <p:cNvSpPr>
              <a:spLocks noChangeShapeType="1"/>
            </p:cNvSpPr>
            <p:nvPr/>
          </p:nvSpPr>
          <p:spPr bwMode="auto">
            <a:xfrm>
              <a:off x="3192" y="1680"/>
              <a:ext cx="1080" cy="4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14" name="Line 7"/>
            <p:cNvSpPr>
              <a:spLocks noChangeShapeType="1"/>
            </p:cNvSpPr>
            <p:nvPr/>
          </p:nvSpPr>
          <p:spPr bwMode="auto">
            <a:xfrm flipH="1">
              <a:off x="1488" y="2448"/>
              <a:ext cx="613" cy="3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15" name="Line 8"/>
            <p:cNvSpPr>
              <a:spLocks noChangeShapeType="1"/>
            </p:cNvSpPr>
            <p:nvPr/>
          </p:nvSpPr>
          <p:spPr bwMode="auto">
            <a:xfrm>
              <a:off x="2101" y="2448"/>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16" name="Line 9"/>
            <p:cNvSpPr>
              <a:spLocks noChangeShapeType="1"/>
            </p:cNvSpPr>
            <p:nvPr/>
          </p:nvSpPr>
          <p:spPr bwMode="auto">
            <a:xfrm>
              <a:off x="2101" y="2448"/>
              <a:ext cx="491" cy="3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17" name="Line 10"/>
            <p:cNvSpPr>
              <a:spLocks noChangeShapeType="1"/>
            </p:cNvSpPr>
            <p:nvPr/>
          </p:nvSpPr>
          <p:spPr bwMode="auto">
            <a:xfrm flipH="1">
              <a:off x="3504" y="2448"/>
              <a:ext cx="768"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18" name="Line 11"/>
            <p:cNvSpPr>
              <a:spLocks noChangeShapeType="1"/>
            </p:cNvSpPr>
            <p:nvPr/>
          </p:nvSpPr>
          <p:spPr bwMode="auto">
            <a:xfrm>
              <a:off x="4272" y="2448"/>
              <a:ext cx="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19" name="Line 12"/>
            <p:cNvSpPr>
              <a:spLocks noChangeShapeType="1"/>
            </p:cNvSpPr>
            <p:nvPr/>
          </p:nvSpPr>
          <p:spPr bwMode="auto">
            <a:xfrm>
              <a:off x="4272" y="2448"/>
              <a:ext cx="864"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20" name="Line 13"/>
            <p:cNvSpPr>
              <a:spLocks noChangeShapeType="1"/>
            </p:cNvSpPr>
            <p:nvPr/>
          </p:nvSpPr>
          <p:spPr bwMode="auto">
            <a:xfrm flipH="1">
              <a:off x="1536" y="3120"/>
              <a:ext cx="576"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21" name="Line 14"/>
            <p:cNvSpPr>
              <a:spLocks noChangeShapeType="1"/>
            </p:cNvSpPr>
            <p:nvPr/>
          </p:nvSpPr>
          <p:spPr bwMode="auto">
            <a:xfrm>
              <a:off x="2112" y="3120"/>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22" name="Line 15"/>
            <p:cNvSpPr>
              <a:spLocks noChangeShapeType="1"/>
            </p:cNvSpPr>
            <p:nvPr/>
          </p:nvSpPr>
          <p:spPr bwMode="auto">
            <a:xfrm>
              <a:off x="2112" y="3120"/>
              <a:ext cx="52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23" name="Rectangle 16"/>
            <p:cNvSpPr>
              <a:spLocks noChangeArrowheads="1"/>
            </p:cNvSpPr>
            <p:nvPr/>
          </p:nvSpPr>
          <p:spPr bwMode="auto">
            <a:xfrm>
              <a:off x="2016" y="2160"/>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24" name="Line 17"/>
            <p:cNvSpPr>
              <a:spLocks noChangeShapeType="1"/>
            </p:cNvSpPr>
            <p:nvPr/>
          </p:nvSpPr>
          <p:spPr bwMode="auto">
            <a:xfrm>
              <a:off x="2016" y="2256"/>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25" name="Line 18"/>
            <p:cNvSpPr>
              <a:spLocks noChangeShapeType="1"/>
            </p:cNvSpPr>
            <p:nvPr/>
          </p:nvSpPr>
          <p:spPr bwMode="auto">
            <a:xfrm>
              <a:off x="2016" y="2352"/>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26" name="Rectangle 19"/>
            <p:cNvSpPr>
              <a:spLocks noChangeArrowheads="1"/>
            </p:cNvSpPr>
            <p:nvPr/>
          </p:nvSpPr>
          <p:spPr bwMode="auto">
            <a:xfrm>
              <a:off x="4176" y="2160"/>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27" name="Line 20"/>
            <p:cNvSpPr>
              <a:spLocks noChangeShapeType="1"/>
            </p:cNvSpPr>
            <p:nvPr/>
          </p:nvSpPr>
          <p:spPr bwMode="auto">
            <a:xfrm>
              <a:off x="4176" y="2256"/>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28" name="Line 21"/>
            <p:cNvSpPr>
              <a:spLocks noChangeShapeType="1"/>
            </p:cNvSpPr>
            <p:nvPr/>
          </p:nvSpPr>
          <p:spPr bwMode="auto">
            <a:xfrm>
              <a:off x="4176" y="2352"/>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29" name="Rectangle 22"/>
            <p:cNvSpPr>
              <a:spLocks noChangeArrowheads="1"/>
            </p:cNvSpPr>
            <p:nvPr/>
          </p:nvSpPr>
          <p:spPr bwMode="auto">
            <a:xfrm>
              <a:off x="2016" y="283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30" name="Line 23"/>
            <p:cNvSpPr>
              <a:spLocks noChangeShapeType="1"/>
            </p:cNvSpPr>
            <p:nvPr/>
          </p:nvSpPr>
          <p:spPr bwMode="auto">
            <a:xfrm>
              <a:off x="2016" y="302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31" name="Line 24"/>
            <p:cNvSpPr>
              <a:spLocks noChangeShapeType="1"/>
            </p:cNvSpPr>
            <p:nvPr/>
          </p:nvSpPr>
          <p:spPr bwMode="auto">
            <a:xfrm>
              <a:off x="2016" y="292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32" name="Rectangle 25"/>
            <p:cNvSpPr>
              <a:spLocks noChangeArrowheads="1"/>
            </p:cNvSpPr>
            <p:nvPr/>
          </p:nvSpPr>
          <p:spPr bwMode="auto">
            <a:xfrm>
              <a:off x="2496" y="3504"/>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33" name="Text Box 26"/>
            <p:cNvSpPr txBox="1">
              <a:spLocks noChangeArrowheads="1"/>
            </p:cNvSpPr>
            <p:nvPr/>
          </p:nvSpPr>
          <p:spPr bwMode="auto">
            <a:xfrm>
              <a:off x="2496" y="3521"/>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1 5 9</a:t>
              </a:r>
              <a:endParaRPr lang="en-US" altLang="en-US" sz="2000" b="0">
                <a:latin typeface="Times New Roman" pitchFamily="18" charset="0"/>
              </a:endParaRPr>
            </a:p>
          </p:txBody>
        </p:sp>
        <p:grpSp>
          <p:nvGrpSpPr>
            <p:cNvPr id="36934" name="Group 27"/>
            <p:cNvGrpSpPr>
              <a:grpSpLocks/>
            </p:cNvGrpSpPr>
            <p:nvPr/>
          </p:nvGrpSpPr>
          <p:grpSpPr bwMode="auto">
            <a:xfrm>
              <a:off x="1248" y="2784"/>
              <a:ext cx="486" cy="279"/>
              <a:chOff x="1248" y="2784"/>
              <a:chExt cx="486" cy="279"/>
            </a:xfrm>
          </p:grpSpPr>
          <p:sp>
            <p:nvSpPr>
              <p:cNvPr id="36976" name="Rectangle 28"/>
              <p:cNvSpPr>
                <a:spLocks noChangeArrowheads="1"/>
              </p:cNvSpPr>
              <p:nvPr/>
            </p:nvSpPr>
            <p:spPr bwMode="auto">
              <a:xfrm>
                <a:off x="1248" y="2784"/>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77" name="Text Box 29"/>
              <p:cNvSpPr txBox="1">
                <a:spLocks noChangeArrowheads="1"/>
              </p:cNvSpPr>
              <p:nvPr/>
            </p:nvSpPr>
            <p:spPr bwMode="auto">
              <a:xfrm>
                <a:off x="1248" y="2801"/>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1 4 5</a:t>
                </a:r>
                <a:endParaRPr lang="en-US" altLang="en-US" sz="2000" b="0">
                  <a:latin typeface="Times New Roman" pitchFamily="18" charset="0"/>
                </a:endParaRPr>
              </a:p>
            </p:txBody>
          </p:sp>
        </p:grpSp>
        <p:sp>
          <p:nvSpPr>
            <p:cNvPr id="36935" name="Rectangle 30"/>
            <p:cNvSpPr>
              <a:spLocks noChangeArrowheads="1"/>
            </p:cNvSpPr>
            <p:nvPr/>
          </p:nvSpPr>
          <p:spPr bwMode="auto">
            <a:xfrm>
              <a:off x="2400" y="2784"/>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36" name="Text Box 31"/>
            <p:cNvSpPr txBox="1">
              <a:spLocks noChangeArrowheads="1"/>
            </p:cNvSpPr>
            <p:nvPr/>
          </p:nvSpPr>
          <p:spPr bwMode="auto">
            <a:xfrm>
              <a:off x="2400" y="2801"/>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1 3 6</a:t>
              </a:r>
              <a:endParaRPr lang="en-US" altLang="en-US" sz="2000" b="0">
                <a:latin typeface="Times New Roman" pitchFamily="18" charset="0"/>
              </a:endParaRPr>
            </a:p>
          </p:txBody>
        </p:sp>
        <p:sp>
          <p:nvSpPr>
            <p:cNvPr id="36937" name="Rectangle 32"/>
            <p:cNvSpPr>
              <a:spLocks noChangeArrowheads="1"/>
            </p:cNvSpPr>
            <p:nvPr/>
          </p:nvSpPr>
          <p:spPr bwMode="auto">
            <a:xfrm>
              <a:off x="3264" y="2976"/>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38" name="Text Box 33"/>
            <p:cNvSpPr txBox="1">
              <a:spLocks noChangeArrowheads="1"/>
            </p:cNvSpPr>
            <p:nvPr/>
          </p:nvSpPr>
          <p:spPr bwMode="auto">
            <a:xfrm>
              <a:off x="3264" y="2993"/>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3 4 5</a:t>
              </a:r>
              <a:endParaRPr lang="en-US" altLang="en-US" sz="2000" b="0">
                <a:latin typeface="Times New Roman" pitchFamily="18" charset="0"/>
              </a:endParaRPr>
            </a:p>
          </p:txBody>
        </p:sp>
        <p:grpSp>
          <p:nvGrpSpPr>
            <p:cNvPr id="36939" name="Group 34"/>
            <p:cNvGrpSpPr>
              <a:grpSpLocks/>
            </p:cNvGrpSpPr>
            <p:nvPr/>
          </p:nvGrpSpPr>
          <p:grpSpPr bwMode="auto">
            <a:xfrm>
              <a:off x="4896" y="2976"/>
              <a:ext cx="486" cy="279"/>
              <a:chOff x="432" y="3408"/>
              <a:chExt cx="486" cy="279"/>
            </a:xfrm>
          </p:grpSpPr>
          <p:sp>
            <p:nvSpPr>
              <p:cNvPr id="36974" name="Rectangle 35"/>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75" name="Text Box 36"/>
              <p:cNvSpPr txBox="1">
                <a:spLocks noChangeArrowheads="1"/>
              </p:cNvSpPr>
              <p:nvPr/>
            </p:nvSpPr>
            <p:spPr bwMode="auto">
              <a:xfrm>
                <a:off x="432"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3 6 7</a:t>
                </a:r>
                <a:endParaRPr lang="en-US" altLang="en-US" sz="2000" b="0">
                  <a:latin typeface="Times New Roman" pitchFamily="18" charset="0"/>
                </a:endParaRPr>
              </a:p>
            </p:txBody>
          </p:sp>
        </p:grpSp>
        <p:grpSp>
          <p:nvGrpSpPr>
            <p:cNvPr id="36940" name="Group 37"/>
            <p:cNvGrpSpPr>
              <a:grpSpLocks/>
            </p:cNvGrpSpPr>
            <p:nvPr/>
          </p:nvGrpSpPr>
          <p:grpSpPr bwMode="auto">
            <a:xfrm>
              <a:off x="4896" y="3216"/>
              <a:ext cx="486" cy="280"/>
              <a:chOff x="432" y="3408"/>
              <a:chExt cx="486" cy="280"/>
            </a:xfrm>
          </p:grpSpPr>
          <p:sp>
            <p:nvSpPr>
              <p:cNvPr id="36972" name="Rectangle 38"/>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73" name="Text Box 39"/>
              <p:cNvSpPr txBox="1">
                <a:spLocks noChangeArrowheads="1"/>
              </p:cNvSpPr>
              <p:nvPr/>
            </p:nvSpPr>
            <p:spPr bwMode="auto">
              <a:xfrm>
                <a:off x="432" y="3425"/>
                <a:ext cx="48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3 6 8</a:t>
                </a:r>
                <a:endParaRPr lang="en-US" altLang="en-US" sz="2000" b="0">
                  <a:latin typeface="Times New Roman" pitchFamily="18" charset="0"/>
                </a:endParaRPr>
              </a:p>
            </p:txBody>
          </p:sp>
        </p:grpSp>
        <p:grpSp>
          <p:nvGrpSpPr>
            <p:cNvPr id="36941" name="Group 40"/>
            <p:cNvGrpSpPr>
              <a:grpSpLocks/>
            </p:cNvGrpSpPr>
            <p:nvPr/>
          </p:nvGrpSpPr>
          <p:grpSpPr bwMode="auto">
            <a:xfrm>
              <a:off x="4032" y="2976"/>
              <a:ext cx="488" cy="519"/>
              <a:chOff x="3792" y="3312"/>
              <a:chExt cx="488" cy="519"/>
            </a:xfrm>
          </p:grpSpPr>
          <p:grpSp>
            <p:nvGrpSpPr>
              <p:cNvPr id="36966" name="Group 41"/>
              <p:cNvGrpSpPr>
                <a:grpSpLocks/>
              </p:cNvGrpSpPr>
              <p:nvPr/>
            </p:nvGrpSpPr>
            <p:grpSpPr bwMode="auto">
              <a:xfrm>
                <a:off x="3792" y="3312"/>
                <a:ext cx="488" cy="279"/>
                <a:chOff x="432" y="3408"/>
                <a:chExt cx="488" cy="279"/>
              </a:xfrm>
            </p:grpSpPr>
            <p:sp>
              <p:nvSpPr>
                <p:cNvPr id="36970" name="Rectangle 42"/>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71" name="Text Box 43"/>
                <p:cNvSpPr txBox="1">
                  <a:spLocks noChangeArrowheads="1"/>
                </p:cNvSpPr>
                <p:nvPr/>
              </p:nvSpPr>
              <p:spPr bwMode="auto">
                <a:xfrm>
                  <a:off x="434"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3 5 6</a:t>
                  </a:r>
                  <a:endParaRPr lang="en-US" altLang="en-US" sz="2000" b="0">
                    <a:latin typeface="Times New Roman" pitchFamily="18" charset="0"/>
                  </a:endParaRPr>
                </a:p>
              </p:txBody>
            </p:sp>
          </p:grpSp>
          <p:grpSp>
            <p:nvGrpSpPr>
              <p:cNvPr id="36967" name="Group 44"/>
              <p:cNvGrpSpPr>
                <a:grpSpLocks/>
              </p:cNvGrpSpPr>
              <p:nvPr/>
            </p:nvGrpSpPr>
            <p:grpSpPr bwMode="auto">
              <a:xfrm>
                <a:off x="3792" y="3552"/>
                <a:ext cx="488" cy="279"/>
                <a:chOff x="432" y="3408"/>
                <a:chExt cx="488" cy="279"/>
              </a:xfrm>
            </p:grpSpPr>
            <p:sp>
              <p:nvSpPr>
                <p:cNvPr id="36968" name="Rectangle 45"/>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69" name="Text Box 46"/>
                <p:cNvSpPr txBox="1">
                  <a:spLocks noChangeArrowheads="1"/>
                </p:cNvSpPr>
                <p:nvPr/>
              </p:nvSpPr>
              <p:spPr bwMode="auto">
                <a:xfrm>
                  <a:off x="434"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3 5 7</a:t>
                  </a:r>
                  <a:endParaRPr lang="en-US" altLang="en-US" sz="2000" b="0">
                    <a:latin typeface="Times New Roman" pitchFamily="18" charset="0"/>
                  </a:endParaRPr>
                </a:p>
              </p:txBody>
            </p:sp>
          </p:grpSp>
        </p:grpSp>
        <p:grpSp>
          <p:nvGrpSpPr>
            <p:cNvPr id="36942" name="Group 47"/>
            <p:cNvGrpSpPr>
              <a:grpSpLocks/>
            </p:cNvGrpSpPr>
            <p:nvPr/>
          </p:nvGrpSpPr>
          <p:grpSpPr bwMode="auto">
            <a:xfrm>
              <a:off x="4032" y="3456"/>
              <a:ext cx="488" cy="279"/>
              <a:chOff x="432" y="3408"/>
              <a:chExt cx="488" cy="279"/>
            </a:xfrm>
          </p:grpSpPr>
          <p:sp>
            <p:nvSpPr>
              <p:cNvPr id="36964" name="Rectangle 48"/>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65" name="Text Box 49"/>
              <p:cNvSpPr txBox="1">
                <a:spLocks noChangeArrowheads="1"/>
              </p:cNvSpPr>
              <p:nvPr/>
            </p:nvSpPr>
            <p:spPr bwMode="auto">
              <a:xfrm>
                <a:off x="434"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6 8 9</a:t>
                </a:r>
                <a:endParaRPr lang="en-US" altLang="en-US" sz="2000" b="0">
                  <a:latin typeface="Times New Roman" pitchFamily="18" charset="0"/>
                </a:endParaRPr>
              </a:p>
            </p:txBody>
          </p:sp>
        </p:grpSp>
        <p:grpSp>
          <p:nvGrpSpPr>
            <p:cNvPr id="36943" name="Group 50"/>
            <p:cNvGrpSpPr>
              <a:grpSpLocks/>
            </p:cNvGrpSpPr>
            <p:nvPr/>
          </p:nvGrpSpPr>
          <p:grpSpPr bwMode="auto">
            <a:xfrm>
              <a:off x="2976" y="2208"/>
              <a:ext cx="486" cy="279"/>
              <a:chOff x="432" y="3408"/>
              <a:chExt cx="486" cy="279"/>
            </a:xfrm>
          </p:grpSpPr>
          <p:sp>
            <p:nvSpPr>
              <p:cNvPr id="36962" name="Rectangle 51"/>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63" name="Text Box 52"/>
              <p:cNvSpPr txBox="1">
                <a:spLocks noChangeArrowheads="1"/>
              </p:cNvSpPr>
              <p:nvPr/>
            </p:nvSpPr>
            <p:spPr bwMode="auto">
              <a:xfrm>
                <a:off x="432"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2 3 4</a:t>
                </a:r>
              </a:p>
            </p:txBody>
          </p:sp>
        </p:grpSp>
        <p:grpSp>
          <p:nvGrpSpPr>
            <p:cNvPr id="36944" name="Group 53"/>
            <p:cNvGrpSpPr>
              <a:grpSpLocks/>
            </p:cNvGrpSpPr>
            <p:nvPr/>
          </p:nvGrpSpPr>
          <p:grpSpPr bwMode="auto">
            <a:xfrm>
              <a:off x="2976" y="2448"/>
              <a:ext cx="486" cy="280"/>
              <a:chOff x="432" y="3408"/>
              <a:chExt cx="486" cy="280"/>
            </a:xfrm>
          </p:grpSpPr>
          <p:sp>
            <p:nvSpPr>
              <p:cNvPr id="36960" name="Rectangle 54"/>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61" name="Text Box 55"/>
              <p:cNvSpPr txBox="1">
                <a:spLocks noChangeArrowheads="1"/>
              </p:cNvSpPr>
              <p:nvPr/>
            </p:nvSpPr>
            <p:spPr bwMode="auto">
              <a:xfrm>
                <a:off x="432" y="3426"/>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5 6 7</a:t>
                </a:r>
                <a:endParaRPr lang="en-US" altLang="en-US" sz="2000" b="0">
                  <a:latin typeface="Times New Roman" pitchFamily="18" charset="0"/>
                </a:endParaRPr>
              </a:p>
            </p:txBody>
          </p:sp>
        </p:grpSp>
        <p:grpSp>
          <p:nvGrpSpPr>
            <p:cNvPr id="36945" name="Group 56"/>
            <p:cNvGrpSpPr>
              <a:grpSpLocks/>
            </p:cNvGrpSpPr>
            <p:nvPr/>
          </p:nvGrpSpPr>
          <p:grpSpPr bwMode="auto">
            <a:xfrm>
              <a:off x="1296" y="3504"/>
              <a:ext cx="486" cy="279"/>
              <a:chOff x="432" y="3408"/>
              <a:chExt cx="486" cy="279"/>
            </a:xfrm>
          </p:grpSpPr>
          <p:sp>
            <p:nvSpPr>
              <p:cNvPr id="36958" name="Rectangle 57"/>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59" name="Text Box 58"/>
              <p:cNvSpPr txBox="1">
                <a:spLocks noChangeArrowheads="1"/>
              </p:cNvSpPr>
              <p:nvPr/>
            </p:nvSpPr>
            <p:spPr bwMode="auto">
              <a:xfrm>
                <a:off x="432"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1 2 4</a:t>
                </a:r>
                <a:endParaRPr lang="en-US" altLang="en-US" sz="2000" b="0">
                  <a:latin typeface="Times New Roman" pitchFamily="18" charset="0"/>
                </a:endParaRPr>
              </a:p>
            </p:txBody>
          </p:sp>
        </p:grpSp>
        <p:grpSp>
          <p:nvGrpSpPr>
            <p:cNvPr id="36946" name="Group 59"/>
            <p:cNvGrpSpPr>
              <a:grpSpLocks/>
            </p:cNvGrpSpPr>
            <p:nvPr/>
          </p:nvGrpSpPr>
          <p:grpSpPr bwMode="auto">
            <a:xfrm>
              <a:off x="1296" y="3744"/>
              <a:ext cx="486" cy="281"/>
              <a:chOff x="432" y="3408"/>
              <a:chExt cx="486" cy="281"/>
            </a:xfrm>
          </p:grpSpPr>
          <p:sp>
            <p:nvSpPr>
              <p:cNvPr id="36956" name="Rectangle 60"/>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57" name="Text Box 61"/>
              <p:cNvSpPr txBox="1">
                <a:spLocks noChangeArrowheads="1"/>
              </p:cNvSpPr>
              <p:nvPr/>
            </p:nvSpPr>
            <p:spPr bwMode="auto">
              <a:xfrm>
                <a:off x="432" y="3426"/>
                <a:ext cx="48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4 5 7</a:t>
                </a:r>
                <a:endParaRPr lang="en-US" altLang="en-US" sz="2000" b="0">
                  <a:latin typeface="Times New Roman" pitchFamily="18" charset="0"/>
                </a:endParaRPr>
              </a:p>
            </p:txBody>
          </p:sp>
        </p:grpSp>
        <p:grpSp>
          <p:nvGrpSpPr>
            <p:cNvPr id="36947" name="Group 62"/>
            <p:cNvGrpSpPr>
              <a:grpSpLocks/>
            </p:cNvGrpSpPr>
            <p:nvPr/>
          </p:nvGrpSpPr>
          <p:grpSpPr bwMode="auto">
            <a:xfrm>
              <a:off x="1872" y="3552"/>
              <a:ext cx="486" cy="280"/>
              <a:chOff x="432" y="3408"/>
              <a:chExt cx="486" cy="280"/>
            </a:xfrm>
          </p:grpSpPr>
          <p:sp>
            <p:nvSpPr>
              <p:cNvPr id="36954" name="Rectangle 63"/>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55" name="Text Box 64"/>
              <p:cNvSpPr txBox="1">
                <a:spLocks noChangeArrowheads="1"/>
              </p:cNvSpPr>
              <p:nvPr/>
            </p:nvSpPr>
            <p:spPr bwMode="auto">
              <a:xfrm>
                <a:off x="432" y="3425"/>
                <a:ext cx="48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1 2 5</a:t>
                </a:r>
                <a:endParaRPr lang="en-US" altLang="en-US" sz="2000" b="0">
                  <a:latin typeface="Times New Roman" pitchFamily="18" charset="0"/>
                </a:endParaRPr>
              </a:p>
            </p:txBody>
          </p:sp>
        </p:grpSp>
        <p:grpSp>
          <p:nvGrpSpPr>
            <p:cNvPr id="36948" name="Group 65"/>
            <p:cNvGrpSpPr>
              <a:grpSpLocks/>
            </p:cNvGrpSpPr>
            <p:nvPr/>
          </p:nvGrpSpPr>
          <p:grpSpPr bwMode="auto">
            <a:xfrm>
              <a:off x="1872" y="3792"/>
              <a:ext cx="486" cy="278"/>
              <a:chOff x="432" y="3408"/>
              <a:chExt cx="486" cy="278"/>
            </a:xfrm>
          </p:grpSpPr>
          <p:sp>
            <p:nvSpPr>
              <p:cNvPr id="36952" name="Rectangle 66"/>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53" name="Text Box 67"/>
              <p:cNvSpPr txBox="1">
                <a:spLocks noChangeArrowheads="1"/>
              </p:cNvSpPr>
              <p:nvPr/>
            </p:nvSpPr>
            <p:spPr bwMode="auto">
              <a:xfrm>
                <a:off x="432" y="3424"/>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4 5 8</a:t>
                </a:r>
                <a:endParaRPr lang="en-US" altLang="en-US" sz="2000" b="0">
                  <a:latin typeface="Times New Roman" pitchFamily="18" charset="0"/>
                </a:endParaRPr>
              </a:p>
            </p:txBody>
          </p:sp>
        </p:grpSp>
        <p:sp>
          <p:nvSpPr>
            <p:cNvPr id="36949" name="Rectangle 68"/>
            <p:cNvSpPr>
              <a:spLocks noChangeArrowheads="1"/>
            </p:cNvSpPr>
            <p:nvPr/>
          </p:nvSpPr>
          <p:spPr bwMode="auto">
            <a:xfrm>
              <a:off x="3072" y="139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950" name="Line 69"/>
            <p:cNvSpPr>
              <a:spLocks noChangeShapeType="1"/>
            </p:cNvSpPr>
            <p:nvPr/>
          </p:nvSpPr>
          <p:spPr bwMode="auto">
            <a:xfrm>
              <a:off x="3072" y="148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951" name="Line 70"/>
            <p:cNvSpPr>
              <a:spLocks noChangeShapeType="1"/>
            </p:cNvSpPr>
            <p:nvPr/>
          </p:nvSpPr>
          <p:spPr bwMode="auto">
            <a:xfrm>
              <a:off x="3072" y="158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6868" name="Group 71"/>
          <p:cNvGrpSpPr>
            <a:grpSpLocks/>
          </p:cNvGrpSpPr>
          <p:nvPr/>
        </p:nvGrpSpPr>
        <p:grpSpPr bwMode="auto">
          <a:xfrm>
            <a:off x="2895600" y="1371600"/>
            <a:ext cx="1073150" cy="396875"/>
            <a:chOff x="4416" y="1440"/>
            <a:chExt cx="676" cy="250"/>
          </a:xfrm>
        </p:grpSpPr>
        <p:sp>
          <p:nvSpPr>
            <p:cNvPr id="36909" name="Rectangle 72"/>
            <p:cNvSpPr>
              <a:spLocks noChangeArrowheads="1"/>
            </p:cNvSpPr>
            <p:nvPr/>
          </p:nvSpPr>
          <p:spPr bwMode="auto">
            <a:xfrm>
              <a:off x="4416" y="1440"/>
              <a:ext cx="672" cy="213"/>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6910" name="Text Box 73"/>
            <p:cNvSpPr txBox="1">
              <a:spLocks noChangeArrowheads="1"/>
            </p:cNvSpPr>
            <p:nvPr/>
          </p:nvSpPr>
          <p:spPr bwMode="auto">
            <a:xfrm>
              <a:off x="4416" y="1440"/>
              <a:ext cx="6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1 2 3 5 6</a:t>
              </a:r>
            </a:p>
          </p:txBody>
        </p:sp>
      </p:grpSp>
      <p:sp>
        <p:nvSpPr>
          <p:cNvPr id="36869" name="Line 74"/>
          <p:cNvSpPr>
            <a:spLocks noChangeShapeType="1"/>
          </p:cNvSpPr>
          <p:nvPr/>
        </p:nvSpPr>
        <p:spPr bwMode="auto">
          <a:xfrm>
            <a:off x="3429000" y="1752600"/>
            <a:ext cx="0" cy="4572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870" name="Line 75"/>
          <p:cNvSpPr>
            <a:spLocks noChangeShapeType="1"/>
          </p:cNvSpPr>
          <p:nvPr/>
        </p:nvSpPr>
        <p:spPr bwMode="auto">
          <a:xfrm>
            <a:off x="1981200" y="2514600"/>
            <a:ext cx="76200" cy="7620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871" name="Line 76"/>
          <p:cNvSpPr>
            <a:spLocks noChangeShapeType="1"/>
          </p:cNvSpPr>
          <p:nvPr/>
        </p:nvSpPr>
        <p:spPr bwMode="auto">
          <a:xfrm flipH="1">
            <a:off x="3505200" y="2590800"/>
            <a:ext cx="990600" cy="7620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872" name="Line 77"/>
          <p:cNvSpPr>
            <a:spLocks noChangeShapeType="1"/>
          </p:cNvSpPr>
          <p:nvPr/>
        </p:nvSpPr>
        <p:spPr bwMode="auto">
          <a:xfrm flipH="1">
            <a:off x="4876800" y="3124200"/>
            <a:ext cx="762000" cy="152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36873" name="Group 78"/>
          <p:cNvGrpSpPr>
            <a:grpSpLocks/>
          </p:cNvGrpSpPr>
          <p:nvPr/>
        </p:nvGrpSpPr>
        <p:grpSpPr bwMode="auto">
          <a:xfrm>
            <a:off x="1295400" y="2057400"/>
            <a:ext cx="1371600" cy="396875"/>
            <a:chOff x="1344" y="1536"/>
            <a:chExt cx="863" cy="226"/>
          </a:xfrm>
        </p:grpSpPr>
        <p:grpSp>
          <p:nvGrpSpPr>
            <p:cNvPr id="36903" name="Group 79"/>
            <p:cNvGrpSpPr>
              <a:grpSpLocks/>
            </p:cNvGrpSpPr>
            <p:nvPr/>
          </p:nvGrpSpPr>
          <p:grpSpPr bwMode="auto">
            <a:xfrm>
              <a:off x="1344" y="1536"/>
              <a:ext cx="432" cy="226"/>
              <a:chOff x="336" y="1440"/>
              <a:chExt cx="432" cy="226"/>
            </a:xfrm>
          </p:grpSpPr>
          <p:sp>
            <p:nvSpPr>
              <p:cNvPr id="36907" name="Rectangle 80"/>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6908" name="Text Box 81"/>
              <p:cNvSpPr txBox="1">
                <a:spLocks noChangeArrowheads="1"/>
              </p:cNvSpPr>
              <p:nvPr/>
            </p:nvSpPr>
            <p:spPr bwMode="auto">
              <a:xfrm>
                <a:off x="336" y="1440"/>
                <a:ext cx="32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a:t>
                </a:r>
              </a:p>
            </p:txBody>
          </p:sp>
        </p:grpSp>
        <p:grpSp>
          <p:nvGrpSpPr>
            <p:cNvPr id="36904" name="Group 82"/>
            <p:cNvGrpSpPr>
              <a:grpSpLocks/>
            </p:cNvGrpSpPr>
            <p:nvPr/>
          </p:nvGrpSpPr>
          <p:grpSpPr bwMode="auto">
            <a:xfrm>
              <a:off x="1632" y="1536"/>
              <a:ext cx="575" cy="226"/>
              <a:chOff x="432" y="1728"/>
              <a:chExt cx="432" cy="226"/>
            </a:xfrm>
          </p:grpSpPr>
          <p:sp>
            <p:nvSpPr>
              <p:cNvPr id="36905" name="Rectangle 83"/>
              <p:cNvSpPr>
                <a:spLocks noChangeArrowheads="1"/>
              </p:cNvSpPr>
              <p:nvPr/>
            </p:nvSpPr>
            <p:spPr bwMode="auto">
              <a:xfrm>
                <a:off x="432" y="1728"/>
                <a:ext cx="432" cy="205"/>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6906" name="Text Box 84"/>
              <p:cNvSpPr txBox="1">
                <a:spLocks noChangeArrowheads="1"/>
              </p:cNvSpPr>
              <p:nvPr/>
            </p:nvSpPr>
            <p:spPr bwMode="auto">
              <a:xfrm>
                <a:off x="432" y="1728"/>
                <a:ext cx="417"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2 3 5 6</a:t>
                </a:r>
              </a:p>
            </p:txBody>
          </p:sp>
        </p:grpSp>
      </p:grpSp>
      <p:grpSp>
        <p:nvGrpSpPr>
          <p:cNvPr id="36874" name="Group 85"/>
          <p:cNvGrpSpPr>
            <a:grpSpLocks/>
          </p:cNvGrpSpPr>
          <p:nvPr/>
        </p:nvGrpSpPr>
        <p:grpSpPr bwMode="auto">
          <a:xfrm>
            <a:off x="4038600" y="2209800"/>
            <a:ext cx="1149350" cy="396875"/>
            <a:chOff x="2880" y="1632"/>
            <a:chExt cx="724" cy="250"/>
          </a:xfrm>
        </p:grpSpPr>
        <p:grpSp>
          <p:nvGrpSpPr>
            <p:cNvPr id="36897" name="Group 86"/>
            <p:cNvGrpSpPr>
              <a:grpSpLocks/>
            </p:cNvGrpSpPr>
            <p:nvPr/>
          </p:nvGrpSpPr>
          <p:grpSpPr bwMode="auto">
            <a:xfrm>
              <a:off x="3168" y="1632"/>
              <a:ext cx="436" cy="250"/>
              <a:chOff x="4416" y="1440"/>
              <a:chExt cx="678" cy="260"/>
            </a:xfrm>
          </p:grpSpPr>
          <p:sp>
            <p:nvSpPr>
              <p:cNvPr id="36901" name="Rectangle 87"/>
              <p:cNvSpPr>
                <a:spLocks noChangeArrowheads="1"/>
              </p:cNvSpPr>
              <p:nvPr/>
            </p:nvSpPr>
            <p:spPr bwMode="auto">
              <a:xfrm>
                <a:off x="4416" y="1440"/>
                <a:ext cx="672" cy="213"/>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6902" name="Text Box 88"/>
              <p:cNvSpPr txBox="1">
                <a:spLocks noChangeArrowheads="1"/>
              </p:cNvSpPr>
              <p:nvPr/>
            </p:nvSpPr>
            <p:spPr bwMode="auto">
              <a:xfrm>
                <a:off x="4416" y="1440"/>
                <a:ext cx="67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3 5 6</a:t>
                </a:r>
              </a:p>
            </p:txBody>
          </p:sp>
        </p:grpSp>
        <p:grpSp>
          <p:nvGrpSpPr>
            <p:cNvPr id="36898" name="Group 89"/>
            <p:cNvGrpSpPr>
              <a:grpSpLocks/>
            </p:cNvGrpSpPr>
            <p:nvPr/>
          </p:nvGrpSpPr>
          <p:grpSpPr bwMode="auto">
            <a:xfrm>
              <a:off x="2880" y="1632"/>
              <a:ext cx="326" cy="250"/>
              <a:chOff x="336" y="1440"/>
              <a:chExt cx="489" cy="250"/>
            </a:xfrm>
          </p:grpSpPr>
          <p:sp>
            <p:nvSpPr>
              <p:cNvPr id="36899" name="Rectangle 90"/>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6900" name="Text Box 91"/>
              <p:cNvSpPr txBox="1">
                <a:spLocks noChangeArrowheads="1"/>
              </p:cNvSpPr>
              <p:nvPr/>
            </p:nvSpPr>
            <p:spPr bwMode="auto">
              <a:xfrm>
                <a:off x="336" y="1440"/>
                <a:ext cx="4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2 +</a:t>
                </a:r>
              </a:p>
            </p:txBody>
          </p:sp>
        </p:grpSp>
      </p:grpSp>
      <p:grpSp>
        <p:nvGrpSpPr>
          <p:cNvPr id="36875" name="Group 92"/>
          <p:cNvGrpSpPr>
            <a:grpSpLocks/>
          </p:cNvGrpSpPr>
          <p:nvPr/>
        </p:nvGrpSpPr>
        <p:grpSpPr bwMode="auto">
          <a:xfrm>
            <a:off x="5334000" y="2743200"/>
            <a:ext cx="958850" cy="396875"/>
            <a:chOff x="3792" y="2064"/>
            <a:chExt cx="604" cy="250"/>
          </a:xfrm>
        </p:grpSpPr>
        <p:grpSp>
          <p:nvGrpSpPr>
            <p:cNvPr id="36891" name="Group 93"/>
            <p:cNvGrpSpPr>
              <a:grpSpLocks/>
            </p:cNvGrpSpPr>
            <p:nvPr/>
          </p:nvGrpSpPr>
          <p:grpSpPr bwMode="auto">
            <a:xfrm>
              <a:off x="4080" y="2064"/>
              <a:ext cx="316" cy="250"/>
              <a:chOff x="4416" y="1440"/>
              <a:chExt cx="737" cy="260"/>
            </a:xfrm>
          </p:grpSpPr>
          <p:sp>
            <p:nvSpPr>
              <p:cNvPr id="36895" name="Rectangle 94"/>
              <p:cNvSpPr>
                <a:spLocks noChangeArrowheads="1"/>
              </p:cNvSpPr>
              <p:nvPr/>
            </p:nvSpPr>
            <p:spPr bwMode="auto">
              <a:xfrm>
                <a:off x="4416" y="1440"/>
                <a:ext cx="672" cy="213"/>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6896" name="Text Box 95"/>
              <p:cNvSpPr txBox="1">
                <a:spLocks noChangeArrowheads="1"/>
              </p:cNvSpPr>
              <p:nvPr/>
            </p:nvSpPr>
            <p:spPr bwMode="auto">
              <a:xfrm>
                <a:off x="4416" y="1440"/>
                <a:ext cx="737"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5 6</a:t>
                </a:r>
              </a:p>
            </p:txBody>
          </p:sp>
        </p:grpSp>
        <p:grpSp>
          <p:nvGrpSpPr>
            <p:cNvPr id="36892" name="Group 96"/>
            <p:cNvGrpSpPr>
              <a:grpSpLocks/>
            </p:cNvGrpSpPr>
            <p:nvPr/>
          </p:nvGrpSpPr>
          <p:grpSpPr bwMode="auto">
            <a:xfrm>
              <a:off x="3792" y="2064"/>
              <a:ext cx="326" cy="250"/>
              <a:chOff x="336" y="1440"/>
              <a:chExt cx="489" cy="250"/>
            </a:xfrm>
          </p:grpSpPr>
          <p:sp>
            <p:nvSpPr>
              <p:cNvPr id="36893" name="Rectangle 97"/>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6894" name="Text Box 98"/>
              <p:cNvSpPr txBox="1">
                <a:spLocks noChangeArrowheads="1"/>
              </p:cNvSpPr>
              <p:nvPr/>
            </p:nvSpPr>
            <p:spPr bwMode="auto">
              <a:xfrm>
                <a:off x="336" y="1440"/>
                <a:ext cx="4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a:t>
                </a:r>
              </a:p>
            </p:txBody>
          </p:sp>
        </p:grpSp>
      </p:grpSp>
      <p:grpSp>
        <p:nvGrpSpPr>
          <p:cNvPr id="36876" name="Group 99"/>
          <p:cNvGrpSpPr>
            <a:grpSpLocks/>
          </p:cNvGrpSpPr>
          <p:nvPr/>
        </p:nvGrpSpPr>
        <p:grpSpPr bwMode="auto">
          <a:xfrm>
            <a:off x="6477000" y="1219200"/>
            <a:ext cx="1654175" cy="1692275"/>
            <a:chOff x="96" y="1097"/>
            <a:chExt cx="1141" cy="1122"/>
          </a:xfrm>
        </p:grpSpPr>
        <p:sp>
          <p:nvSpPr>
            <p:cNvPr id="36878" name="Text Box 100"/>
            <p:cNvSpPr txBox="1">
              <a:spLocks noChangeArrowheads="1"/>
            </p:cNvSpPr>
            <p:nvPr/>
          </p:nvSpPr>
          <p:spPr bwMode="auto">
            <a:xfrm>
              <a:off x="96" y="1776"/>
              <a:ext cx="3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1,4,7</a:t>
              </a:r>
              <a:endParaRPr lang="en-US" altLang="en-US" sz="1400" b="0">
                <a:latin typeface="Times New Roman" pitchFamily="18" charset="0"/>
              </a:endParaRPr>
            </a:p>
          </p:txBody>
        </p:sp>
        <p:grpSp>
          <p:nvGrpSpPr>
            <p:cNvPr id="36879" name="Group 101"/>
            <p:cNvGrpSpPr>
              <a:grpSpLocks/>
            </p:cNvGrpSpPr>
            <p:nvPr/>
          </p:nvGrpSpPr>
          <p:grpSpPr bwMode="auto">
            <a:xfrm>
              <a:off x="144" y="1097"/>
              <a:ext cx="1093" cy="1122"/>
              <a:chOff x="144" y="1097"/>
              <a:chExt cx="1093" cy="1122"/>
            </a:xfrm>
          </p:grpSpPr>
          <p:sp>
            <p:nvSpPr>
              <p:cNvPr id="36880" name="Text Box 102"/>
              <p:cNvSpPr txBox="1">
                <a:spLocks noChangeArrowheads="1"/>
              </p:cNvSpPr>
              <p:nvPr/>
            </p:nvSpPr>
            <p:spPr bwMode="auto">
              <a:xfrm>
                <a:off x="369" y="1097"/>
                <a:ext cx="127"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b="0">
                  <a:latin typeface="Wingdings" pitchFamily="2" charset="2"/>
                </a:endParaRPr>
              </a:p>
            </p:txBody>
          </p:sp>
          <p:grpSp>
            <p:nvGrpSpPr>
              <p:cNvPr id="36881" name="Group 103"/>
              <p:cNvGrpSpPr>
                <a:grpSpLocks/>
              </p:cNvGrpSpPr>
              <p:nvPr/>
            </p:nvGrpSpPr>
            <p:grpSpPr bwMode="auto">
              <a:xfrm>
                <a:off x="528" y="1392"/>
                <a:ext cx="240" cy="384"/>
                <a:chOff x="2064" y="1872"/>
                <a:chExt cx="192" cy="288"/>
              </a:xfrm>
            </p:grpSpPr>
            <p:sp>
              <p:nvSpPr>
                <p:cNvPr id="36888" name="Rectangle 104"/>
                <p:cNvSpPr>
                  <a:spLocks noChangeArrowheads="1"/>
                </p:cNvSpPr>
                <p:nvPr/>
              </p:nvSpPr>
              <p:spPr bwMode="auto">
                <a:xfrm>
                  <a:off x="2064"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6889" name="Line 105"/>
                <p:cNvSpPr>
                  <a:spLocks noChangeShapeType="1"/>
                </p:cNvSpPr>
                <p:nvPr/>
              </p:nvSpPr>
              <p:spPr bwMode="auto">
                <a:xfrm>
                  <a:off x="2064"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90" name="Line 106"/>
                <p:cNvSpPr>
                  <a:spLocks noChangeShapeType="1"/>
                </p:cNvSpPr>
                <p:nvPr/>
              </p:nvSpPr>
              <p:spPr bwMode="auto">
                <a:xfrm>
                  <a:off x="2064"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6882" name="Line 107"/>
              <p:cNvSpPr>
                <a:spLocks noChangeShapeType="1"/>
              </p:cNvSpPr>
              <p:nvPr/>
            </p:nvSpPr>
            <p:spPr bwMode="auto">
              <a:xfrm flipH="1">
                <a:off x="144" y="1776"/>
                <a:ext cx="485"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83" name="Line 108"/>
              <p:cNvSpPr>
                <a:spLocks noChangeShapeType="1"/>
              </p:cNvSpPr>
              <p:nvPr/>
            </p:nvSpPr>
            <p:spPr bwMode="auto">
              <a:xfrm>
                <a:off x="624" y="1776"/>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84" name="Line 109"/>
              <p:cNvSpPr>
                <a:spLocks noChangeShapeType="1"/>
              </p:cNvSpPr>
              <p:nvPr/>
            </p:nvSpPr>
            <p:spPr bwMode="auto">
              <a:xfrm>
                <a:off x="629" y="1776"/>
                <a:ext cx="427"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85" name="Text Box 110"/>
              <p:cNvSpPr txBox="1">
                <a:spLocks noChangeArrowheads="1"/>
              </p:cNvSpPr>
              <p:nvPr/>
            </p:nvSpPr>
            <p:spPr bwMode="auto">
              <a:xfrm>
                <a:off x="289" y="2017"/>
                <a:ext cx="3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2,5,8</a:t>
                </a:r>
                <a:endParaRPr lang="en-US" altLang="en-US" sz="1400" b="0">
                  <a:latin typeface="Times New Roman" pitchFamily="18" charset="0"/>
                </a:endParaRPr>
              </a:p>
            </p:txBody>
          </p:sp>
          <p:sp>
            <p:nvSpPr>
              <p:cNvPr id="36886" name="Text Box 111"/>
              <p:cNvSpPr txBox="1">
                <a:spLocks noChangeArrowheads="1"/>
              </p:cNvSpPr>
              <p:nvPr/>
            </p:nvSpPr>
            <p:spPr bwMode="auto">
              <a:xfrm>
                <a:off x="865" y="1776"/>
                <a:ext cx="3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3,6,9</a:t>
                </a:r>
              </a:p>
            </p:txBody>
          </p:sp>
          <p:sp>
            <p:nvSpPr>
              <p:cNvPr id="36887" name="Text Box 112"/>
              <p:cNvSpPr txBox="1">
                <a:spLocks noChangeArrowheads="1"/>
              </p:cNvSpPr>
              <p:nvPr/>
            </p:nvSpPr>
            <p:spPr bwMode="auto">
              <a:xfrm>
                <a:off x="192" y="1152"/>
                <a:ext cx="950"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b="0">
                    <a:latin typeface="Times New Roman" pitchFamily="18" charset="0"/>
                  </a:rPr>
                  <a:t>Hash Function</a:t>
                </a:r>
                <a:endParaRPr lang="en-US" altLang="en-US" b="0">
                  <a:latin typeface="Times New Roman" pitchFamily="18" charset="0"/>
                </a:endParaRPr>
              </a:p>
            </p:txBody>
          </p:sp>
        </p:grpSp>
      </p:grpSp>
      <p:sp>
        <p:nvSpPr>
          <p:cNvPr id="36877" name="Text Box 113"/>
          <p:cNvSpPr txBox="1">
            <a:spLocks noChangeArrowheads="1"/>
          </p:cNvSpPr>
          <p:nvPr/>
        </p:nvSpPr>
        <p:spPr bwMode="auto">
          <a:xfrm>
            <a:off x="3962400" y="1371600"/>
            <a:ext cx="1187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transaction</a:t>
            </a:r>
          </a:p>
        </p:txBody>
      </p:sp>
    </p:spTree>
    <p:extLst>
      <p:ext uri="{BB962C8B-B14F-4D97-AF65-F5344CB8AC3E}">
        <p14:creationId xmlns:p14="http://schemas.microsoft.com/office/powerpoint/2010/main" val="1258407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en-US"/>
              <a:t>Support Counting Using a Hash Tree</a:t>
            </a:r>
          </a:p>
        </p:txBody>
      </p:sp>
      <p:sp>
        <p:nvSpPr>
          <p:cNvPr id="37891" name="Line 3"/>
          <p:cNvSpPr>
            <a:spLocks noChangeShapeType="1"/>
          </p:cNvSpPr>
          <p:nvPr/>
        </p:nvSpPr>
        <p:spPr bwMode="auto">
          <a:xfrm flipH="1">
            <a:off x="2763838" y="2765425"/>
            <a:ext cx="1425575" cy="676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2" name="Line 4"/>
          <p:cNvSpPr>
            <a:spLocks noChangeShapeType="1"/>
          </p:cNvSpPr>
          <p:nvPr/>
        </p:nvSpPr>
        <p:spPr bwMode="auto">
          <a:xfrm>
            <a:off x="4189413" y="2765425"/>
            <a:ext cx="0" cy="738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3" name="Line 5"/>
          <p:cNvSpPr>
            <a:spLocks noChangeShapeType="1"/>
          </p:cNvSpPr>
          <p:nvPr/>
        </p:nvSpPr>
        <p:spPr bwMode="auto">
          <a:xfrm>
            <a:off x="4189413" y="2765425"/>
            <a:ext cx="1425575" cy="676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4" name="Line 6"/>
          <p:cNvSpPr>
            <a:spLocks noChangeShapeType="1"/>
          </p:cNvSpPr>
          <p:nvPr/>
        </p:nvSpPr>
        <p:spPr bwMode="auto">
          <a:xfrm flipH="1">
            <a:off x="1939925" y="3838575"/>
            <a:ext cx="808038" cy="477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5" name="Line 7"/>
          <p:cNvSpPr>
            <a:spLocks noChangeShapeType="1"/>
          </p:cNvSpPr>
          <p:nvPr/>
        </p:nvSpPr>
        <p:spPr bwMode="auto">
          <a:xfrm>
            <a:off x="2747963" y="3838575"/>
            <a:ext cx="0" cy="5365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6" name="Line 8"/>
          <p:cNvSpPr>
            <a:spLocks noChangeShapeType="1"/>
          </p:cNvSpPr>
          <p:nvPr/>
        </p:nvSpPr>
        <p:spPr bwMode="auto">
          <a:xfrm>
            <a:off x="2747963" y="3838575"/>
            <a:ext cx="649287" cy="477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7" name="Line 9"/>
          <p:cNvSpPr>
            <a:spLocks noChangeShapeType="1"/>
          </p:cNvSpPr>
          <p:nvPr/>
        </p:nvSpPr>
        <p:spPr bwMode="auto">
          <a:xfrm flipH="1">
            <a:off x="4600575" y="3838575"/>
            <a:ext cx="1014413" cy="738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8" name="Line 10"/>
          <p:cNvSpPr>
            <a:spLocks noChangeShapeType="1"/>
          </p:cNvSpPr>
          <p:nvPr/>
        </p:nvSpPr>
        <p:spPr bwMode="auto">
          <a:xfrm>
            <a:off x="5614988" y="3838575"/>
            <a:ext cx="0" cy="738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9" name="Line 11"/>
          <p:cNvSpPr>
            <a:spLocks noChangeShapeType="1"/>
          </p:cNvSpPr>
          <p:nvPr/>
        </p:nvSpPr>
        <p:spPr bwMode="auto">
          <a:xfrm>
            <a:off x="5614988" y="3838575"/>
            <a:ext cx="1139825" cy="738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0" name="Line 12"/>
          <p:cNvSpPr>
            <a:spLocks noChangeShapeType="1"/>
          </p:cNvSpPr>
          <p:nvPr/>
        </p:nvSpPr>
        <p:spPr bwMode="auto">
          <a:xfrm flipH="1">
            <a:off x="2003425" y="4778375"/>
            <a:ext cx="760413" cy="5365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1" name="Line 13"/>
          <p:cNvSpPr>
            <a:spLocks noChangeShapeType="1"/>
          </p:cNvSpPr>
          <p:nvPr/>
        </p:nvSpPr>
        <p:spPr bwMode="auto">
          <a:xfrm>
            <a:off x="2763838" y="4778375"/>
            <a:ext cx="0" cy="604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2" name="Line 14"/>
          <p:cNvSpPr>
            <a:spLocks noChangeShapeType="1"/>
          </p:cNvSpPr>
          <p:nvPr/>
        </p:nvSpPr>
        <p:spPr bwMode="auto">
          <a:xfrm>
            <a:off x="2763838" y="4778375"/>
            <a:ext cx="696912" cy="5365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3" name="Rectangle 15"/>
          <p:cNvSpPr>
            <a:spLocks noChangeArrowheads="1"/>
          </p:cNvSpPr>
          <p:nvPr/>
        </p:nvSpPr>
        <p:spPr bwMode="auto">
          <a:xfrm>
            <a:off x="2636838" y="3436938"/>
            <a:ext cx="252412" cy="401637"/>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7904" name="Line 16"/>
          <p:cNvSpPr>
            <a:spLocks noChangeShapeType="1"/>
          </p:cNvSpPr>
          <p:nvPr/>
        </p:nvSpPr>
        <p:spPr bwMode="auto">
          <a:xfrm>
            <a:off x="2636838" y="3570288"/>
            <a:ext cx="2524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5" name="Line 17"/>
          <p:cNvSpPr>
            <a:spLocks noChangeShapeType="1"/>
          </p:cNvSpPr>
          <p:nvPr/>
        </p:nvSpPr>
        <p:spPr bwMode="auto">
          <a:xfrm>
            <a:off x="2636838" y="3705225"/>
            <a:ext cx="2524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6" name="Rectangle 18"/>
          <p:cNvSpPr>
            <a:spLocks noChangeArrowheads="1"/>
          </p:cNvSpPr>
          <p:nvPr/>
        </p:nvSpPr>
        <p:spPr bwMode="auto">
          <a:xfrm>
            <a:off x="5487988" y="3436938"/>
            <a:ext cx="254000" cy="401637"/>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7907" name="Line 19"/>
          <p:cNvSpPr>
            <a:spLocks noChangeShapeType="1"/>
          </p:cNvSpPr>
          <p:nvPr/>
        </p:nvSpPr>
        <p:spPr bwMode="auto">
          <a:xfrm>
            <a:off x="5487988" y="3570288"/>
            <a:ext cx="25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8" name="Line 20"/>
          <p:cNvSpPr>
            <a:spLocks noChangeShapeType="1"/>
          </p:cNvSpPr>
          <p:nvPr/>
        </p:nvSpPr>
        <p:spPr bwMode="auto">
          <a:xfrm>
            <a:off x="5487988" y="3705225"/>
            <a:ext cx="25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09" name="Rectangle 21"/>
          <p:cNvSpPr>
            <a:spLocks noChangeArrowheads="1"/>
          </p:cNvSpPr>
          <p:nvPr/>
        </p:nvSpPr>
        <p:spPr bwMode="auto">
          <a:xfrm>
            <a:off x="2636838" y="4375150"/>
            <a:ext cx="252412" cy="403225"/>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7910" name="Line 22"/>
          <p:cNvSpPr>
            <a:spLocks noChangeShapeType="1"/>
          </p:cNvSpPr>
          <p:nvPr/>
        </p:nvSpPr>
        <p:spPr bwMode="auto">
          <a:xfrm>
            <a:off x="2636838" y="4645025"/>
            <a:ext cx="2524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1" name="Line 23"/>
          <p:cNvSpPr>
            <a:spLocks noChangeShapeType="1"/>
          </p:cNvSpPr>
          <p:nvPr/>
        </p:nvSpPr>
        <p:spPr bwMode="auto">
          <a:xfrm>
            <a:off x="2636838" y="4510088"/>
            <a:ext cx="2524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2" name="Rectangle 24"/>
          <p:cNvSpPr>
            <a:spLocks noChangeArrowheads="1"/>
          </p:cNvSpPr>
          <p:nvPr/>
        </p:nvSpPr>
        <p:spPr bwMode="auto">
          <a:xfrm>
            <a:off x="3270250" y="5314950"/>
            <a:ext cx="633413" cy="33655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7913" name="Text Box 25"/>
          <p:cNvSpPr txBox="1">
            <a:spLocks noChangeArrowheads="1"/>
          </p:cNvSpPr>
          <p:nvPr/>
        </p:nvSpPr>
        <p:spPr bwMode="auto">
          <a:xfrm>
            <a:off x="3270250" y="5338763"/>
            <a:ext cx="641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1 5 9</a:t>
            </a:r>
            <a:endParaRPr lang="en-US" altLang="en-US" sz="2000" b="0">
              <a:latin typeface="Times New Roman" pitchFamily="18" charset="0"/>
            </a:endParaRPr>
          </a:p>
        </p:txBody>
      </p:sp>
      <p:grpSp>
        <p:nvGrpSpPr>
          <p:cNvPr id="37914" name="Group 26"/>
          <p:cNvGrpSpPr>
            <a:grpSpLocks/>
          </p:cNvGrpSpPr>
          <p:nvPr/>
        </p:nvGrpSpPr>
        <p:grpSpPr bwMode="auto">
          <a:xfrm>
            <a:off x="1622425" y="4308475"/>
            <a:ext cx="641350" cy="390525"/>
            <a:chOff x="1248" y="2784"/>
            <a:chExt cx="486" cy="279"/>
          </a:xfrm>
        </p:grpSpPr>
        <p:sp>
          <p:nvSpPr>
            <p:cNvPr id="38023" name="Rectangle 27"/>
            <p:cNvSpPr>
              <a:spLocks noChangeArrowheads="1"/>
            </p:cNvSpPr>
            <p:nvPr/>
          </p:nvSpPr>
          <p:spPr bwMode="auto">
            <a:xfrm>
              <a:off x="1248" y="2784"/>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024" name="Text Box 28"/>
            <p:cNvSpPr txBox="1">
              <a:spLocks noChangeArrowheads="1"/>
            </p:cNvSpPr>
            <p:nvPr/>
          </p:nvSpPr>
          <p:spPr bwMode="auto">
            <a:xfrm>
              <a:off x="1248" y="2801"/>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1 4 5</a:t>
              </a:r>
              <a:endParaRPr lang="en-US" altLang="en-US" sz="2000" b="0">
                <a:latin typeface="Times New Roman" pitchFamily="18" charset="0"/>
              </a:endParaRPr>
            </a:p>
          </p:txBody>
        </p:sp>
      </p:grpSp>
      <p:sp>
        <p:nvSpPr>
          <p:cNvPr id="37915" name="Rectangle 29"/>
          <p:cNvSpPr>
            <a:spLocks noChangeArrowheads="1"/>
          </p:cNvSpPr>
          <p:nvPr/>
        </p:nvSpPr>
        <p:spPr bwMode="auto">
          <a:xfrm>
            <a:off x="3143250" y="4308475"/>
            <a:ext cx="633413" cy="33655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7916" name="Text Box 30"/>
          <p:cNvSpPr txBox="1">
            <a:spLocks noChangeArrowheads="1"/>
          </p:cNvSpPr>
          <p:nvPr/>
        </p:nvSpPr>
        <p:spPr bwMode="auto">
          <a:xfrm>
            <a:off x="3143250" y="4332288"/>
            <a:ext cx="641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1 3 6</a:t>
            </a:r>
            <a:endParaRPr lang="en-US" altLang="en-US" sz="2000" b="0">
              <a:latin typeface="Times New Roman" pitchFamily="18" charset="0"/>
            </a:endParaRPr>
          </a:p>
        </p:txBody>
      </p:sp>
      <p:sp>
        <p:nvSpPr>
          <p:cNvPr id="37917" name="Rectangle 31"/>
          <p:cNvSpPr>
            <a:spLocks noChangeArrowheads="1"/>
          </p:cNvSpPr>
          <p:nvPr/>
        </p:nvSpPr>
        <p:spPr bwMode="auto">
          <a:xfrm>
            <a:off x="4284663" y="4576763"/>
            <a:ext cx="633412" cy="33655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7918" name="Text Box 32"/>
          <p:cNvSpPr txBox="1">
            <a:spLocks noChangeArrowheads="1"/>
          </p:cNvSpPr>
          <p:nvPr/>
        </p:nvSpPr>
        <p:spPr bwMode="auto">
          <a:xfrm>
            <a:off x="4284663" y="4600575"/>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3 4 5</a:t>
            </a:r>
            <a:endParaRPr lang="en-US" altLang="en-US" sz="2000" b="0">
              <a:latin typeface="Times New Roman" pitchFamily="18" charset="0"/>
            </a:endParaRPr>
          </a:p>
        </p:txBody>
      </p:sp>
      <p:grpSp>
        <p:nvGrpSpPr>
          <p:cNvPr id="37919" name="Group 33"/>
          <p:cNvGrpSpPr>
            <a:grpSpLocks/>
          </p:cNvGrpSpPr>
          <p:nvPr/>
        </p:nvGrpSpPr>
        <p:grpSpPr bwMode="auto">
          <a:xfrm>
            <a:off x="6438900" y="4576763"/>
            <a:ext cx="641350" cy="390525"/>
            <a:chOff x="432" y="3408"/>
            <a:chExt cx="486" cy="279"/>
          </a:xfrm>
        </p:grpSpPr>
        <p:sp>
          <p:nvSpPr>
            <p:cNvPr id="38021" name="Rectangle 34"/>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022" name="Text Box 35"/>
            <p:cNvSpPr txBox="1">
              <a:spLocks noChangeArrowheads="1"/>
            </p:cNvSpPr>
            <p:nvPr/>
          </p:nvSpPr>
          <p:spPr bwMode="auto">
            <a:xfrm>
              <a:off x="432"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3 6 7</a:t>
              </a:r>
              <a:endParaRPr lang="en-US" altLang="en-US" sz="2000" b="0">
                <a:latin typeface="Times New Roman" pitchFamily="18" charset="0"/>
              </a:endParaRPr>
            </a:p>
          </p:txBody>
        </p:sp>
      </p:grpSp>
      <p:grpSp>
        <p:nvGrpSpPr>
          <p:cNvPr id="37920" name="Group 36"/>
          <p:cNvGrpSpPr>
            <a:grpSpLocks/>
          </p:cNvGrpSpPr>
          <p:nvPr/>
        </p:nvGrpSpPr>
        <p:grpSpPr bwMode="auto">
          <a:xfrm>
            <a:off x="6438900" y="4913313"/>
            <a:ext cx="641350" cy="390525"/>
            <a:chOff x="432" y="3408"/>
            <a:chExt cx="486" cy="280"/>
          </a:xfrm>
        </p:grpSpPr>
        <p:sp>
          <p:nvSpPr>
            <p:cNvPr id="38019" name="Rectangle 37"/>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020" name="Text Box 38"/>
            <p:cNvSpPr txBox="1">
              <a:spLocks noChangeArrowheads="1"/>
            </p:cNvSpPr>
            <p:nvPr/>
          </p:nvSpPr>
          <p:spPr bwMode="auto">
            <a:xfrm>
              <a:off x="432" y="3425"/>
              <a:ext cx="48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3 6 8</a:t>
              </a:r>
              <a:endParaRPr lang="en-US" altLang="en-US" sz="2000" b="0">
                <a:latin typeface="Times New Roman" pitchFamily="18" charset="0"/>
              </a:endParaRPr>
            </a:p>
          </p:txBody>
        </p:sp>
      </p:grpSp>
      <p:grpSp>
        <p:nvGrpSpPr>
          <p:cNvPr id="37921" name="Group 39"/>
          <p:cNvGrpSpPr>
            <a:grpSpLocks/>
          </p:cNvGrpSpPr>
          <p:nvPr/>
        </p:nvGrpSpPr>
        <p:grpSpPr bwMode="auto">
          <a:xfrm>
            <a:off x="5297488" y="4576763"/>
            <a:ext cx="644525" cy="725487"/>
            <a:chOff x="3792" y="3312"/>
            <a:chExt cx="488" cy="519"/>
          </a:xfrm>
        </p:grpSpPr>
        <p:grpSp>
          <p:nvGrpSpPr>
            <p:cNvPr id="38013" name="Group 40"/>
            <p:cNvGrpSpPr>
              <a:grpSpLocks/>
            </p:cNvGrpSpPr>
            <p:nvPr/>
          </p:nvGrpSpPr>
          <p:grpSpPr bwMode="auto">
            <a:xfrm>
              <a:off x="3792" y="3312"/>
              <a:ext cx="488" cy="279"/>
              <a:chOff x="432" y="3408"/>
              <a:chExt cx="488" cy="279"/>
            </a:xfrm>
          </p:grpSpPr>
          <p:sp>
            <p:nvSpPr>
              <p:cNvPr id="38017" name="Rectangle 41"/>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018" name="Text Box 42"/>
              <p:cNvSpPr txBox="1">
                <a:spLocks noChangeArrowheads="1"/>
              </p:cNvSpPr>
              <p:nvPr/>
            </p:nvSpPr>
            <p:spPr bwMode="auto">
              <a:xfrm>
                <a:off x="434"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3 5 6</a:t>
                </a:r>
                <a:endParaRPr lang="en-US" altLang="en-US" sz="2000" b="0">
                  <a:latin typeface="Times New Roman" pitchFamily="18" charset="0"/>
                </a:endParaRPr>
              </a:p>
            </p:txBody>
          </p:sp>
        </p:grpSp>
        <p:grpSp>
          <p:nvGrpSpPr>
            <p:cNvPr id="38014" name="Group 43"/>
            <p:cNvGrpSpPr>
              <a:grpSpLocks/>
            </p:cNvGrpSpPr>
            <p:nvPr/>
          </p:nvGrpSpPr>
          <p:grpSpPr bwMode="auto">
            <a:xfrm>
              <a:off x="3792" y="3552"/>
              <a:ext cx="488" cy="279"/>
              <a:chOff x="432" y="3408"/>
              <a:chExt cx="488" cy="279"/>
            </a:xfrm>
          </p:grpSpPr>
          <p:sp>
            <p:nvSpPr>
              <p:cNvPr id="38015" name="Rectangle 44"/>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016" name="Text Box 45"/>
              <p:cNvSpPr txBox="1">
                <a:spLocks noChangeArrowheads="1"/>
              </p:cNvSpPr>
              <p:nvPr/>
            </p:nvSpPr>
            <p:spPr bwMode="auto">
              <a:xfrm>
                <a:off x="434"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3 5 7</a:t>
                </a:r>
                <a:endParaRPr lang="en-US" altLang="en-US" sz="2000" b="0">
                  <a:latin typeface="Times New Roman" pitchFamily="18" charset="0"/>
                </a:endParaRPr>
              </a:p>
            </p:txBody>
          </p:sp>
        </p:grpSp>
      </p:grpSp>
      <p:grpSp>
        <p:nvGrpSpPr>
          <p:cNvPr id="37922" name="Group 46"/>
          <p:cNvGrpSpPr>
            <a:grpSpLocks/>
          </p:cNvGrpSpPr>
          <p:nvPr/>
        </p:nvGrpSpPr>
        <p:grpSpPr bwMode="auto">
          <a:xfrm>
            <a:off x="5297488" y="5248275"/>
            <a:ext cx="644525" cy="390525"/>
            <a:chOff x="432" y="3408"/>
            <a:chExt cx="488" cy="279"/>
          </a:xfrm>
        </p:grpSpPr>
        <p:sp>
          <p:nvSpPr>
            <p:cNvPr id="38011" name="Rectangle 47"/>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012" name="Text Box 48"/>
            <p:cNvSpPr txBox="1">
              <a:spLocks noChangeArrowheads="1"/>
            </p:cNvSpPr>
            <p:nvPr/>
          </p:nvSpPr>
          <p:spPr bwMode="auto">
            <a:xfrm>
              <a:off x="434"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6 8 9</a:t>
              </a:r>
              <a:endParaRPr lang="en-US" altLang="en-US" sz="2000" b="0">
                <a:latin typeface="Times New Roman" pitchFamily="18" charset="0"/>
              </a:endParaRPr>
            </a:p>
          </p:txBody>
        </p:sp>
      </p:grpSp>
      <p:grpSp>
        <p:nvGrpSpPr>
          <p:cNvPr id="37923" name="Group 49"/>
          <p:cNvGrpSpPr>
            <a:grpSpLocks/>
          </p:cNvGrpSpPr>
          <p:nvPr/>
        </p:nvGrpSpPr>
        <p:grpSpPr bwMode="auto">
          <a:xfrm>
            <a:off x="3903663" y="3503613"/>
            <a:ext cx="641350" cy="390525"/>
            <a:chOff x="432" y="3408"/>
            <a:chExt cx="486" cy="279"/>
          </a:xfrm>
        </p:grpSpPr>
        <p:sp>
          <p:nvSpPr>
            <p:cNvPr id="38009" name="Rectangle 50"/>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010" name="Text Box 51"/>
            <p:cNvSpPr txBox="1">
              <a:spLocks noChangeArrowheads="1"/>
            </p:cNvSpPr>
            <p:nvPr/>
          </p:nvSpPr>
          <p:spPr bwMode="auto">
            <a:xfrm>
              <a:off x="432"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2 3 4</a:t>
              </a:r>
            </a:p>
          </p:txBody>
        </p:sp>
      </p:grpSp>
      <p:grpSp>
        <p:nvGrpSpPr>
          <p:cNvPr id="37924" name="Group 52"/>
          <p:cNvGrpSpPr>
            <a:grpSpLocks/>
          </p:cNvGrpSpPr>
          <p:nvPr/>
        </p:nvGrpSpPr>
        <p:grpSpPr bwMode="auto">
          <a:xfrm>
            <a:off x="3903663" y="3838575"/>
            <a:ext cx="641350" cy="392113"/>
            <a:chOff x="432" y="3408"/>
            <a:chExt cx="486" cy="280"/>
          </a:xfrm>
        </p:grpSpPr>
        <p:sp>
          <p:nvSpPr>
            <p:cNvPr id="38007" name="Rectangle 53"/>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008" name="Text Box 54"/>
            <p:cNvSpPr txBox="1">
              <a:spLocks noChangeArrowheads="1"/>
            </p:cNvSpPr>
            <p:nvPr/>
          </p:nvSpPr>
          <p:spPr bwMode="auto">
            <a:xfrm>
              <a:off x="432" y="3426"/>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5 6 7</a:t>
              </a:r>
              <a:endParaRPr lang="en-US" altLang="en-US" sz="2000" b="0">
                <a:latin typeface="Times New Roman" pitchFamily="18" charset="0"/>
              </a:endParaRPr>
            </a:p>
          </p:txBody>
        </p:sp>
      </p:grpSp>
      <p:grpSp>
        <p:nvGrpSpPr>
          <p:cNvPr id="37925" name="Group 55"/>
          <p:cNvGrpSpPr>
            <a:grpSpLocks/>
          </p:cNvGrpSpPr>
          <p:nvPr/>
        </p:nvGrpSpPr>
        <p:grpSpPr bwMode="auto">
          <a:xfrm>
            <a:off x="1685925" y="5314950"/>
            <a:ext cx="641350" cy="390525"/>
            <a:chOff x="432" y="3408"/>
            <a:chExt cx="486" cy="279"/>
          </a:xfrm>
        </p:grpSpPr>
        <p:sp>
          <p:nvSpPr>
            <p:cNvPr id="38005" name="Rectangle 56"/>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006" name="Text Box 57"/>
            <p:cNvSpPr txBox="1">
              <a:spLocks noChangeArrowheads="1"/>
            </p:cNvSpPr>
            <p:nvPr/>
          </p:nvSpPr>
          <p:spPr bwMode="auto">
            <a:xfrm>
              <a:off x="432"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1 2 4</a:t>
              </a:r>
              <a:endParaRPr lang="en-US" altLang="en-US" sz="2000" b="0">
                <a:latin typeface="Times New Roman" pitchFamily="18" charset="0"/>
              </a:endParaRPr>
            </a:p>
          </p:txBody>
        </p:sp>
      </p:grpSp>
      <p:grpSp>
        <p:nvGrpSpPr>
          <p:cNvPr id="37926" name="Group 58"/>
          <p:cNvGrpSpPr>
            <a:grpSpLocks/>
          </p:cNvGrpSpPr>
          <p:nvPr/>
        </p:nvGrpSpPr>
        <p:grpSpPr bwMode="auto">
          <a:xfrm>
            <a:off x="1685925" y="5651500"/>
            <a:ext cx="641350" cy="392113"/>
            <a:chOff x="432" y="3408"/>
            <a:chExt cx="486" cy="281"/>
          </a:xfrm>
        </p:grpSpPr>
        <p:sp>
          <p:nvSpPr>
            <p:cNvPr id="38003" name="Rectangle 59"/>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004" name="Text Box 60"/>
            <p:cNvSpPr txBox="1">
              <a:spLocks noChangeArrowheads="1"/>
            </p:cNvSpPr>
            <p:nvPr/>
          </p:nvSpPr>
          <p:spPr bwMode="auto">
            <a:xfrm>
              <a:off x="432" y="3426"/>
              <a:ext cx="48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4 5 7</a:t>
              </a:r>
              <a:endParaRPr lang="en-US" altLang="en-US" sz="2000" b="0">
                <a:latin typeface="Times New Roman" pitchFamily="18" charset="0"/>
              </a:endParaRPr>
            </a:p>
          </p:txBody>
        </p:sp>
      </p:grpSp>
      <p:grpSp>
        <p:nvGrpSpPr>
          <p:cNvPr id="37927" name="Group 61"/>
          <p:cNvGrpSpPr>
            <a:grpSpLocks/>
          </p:cNvGrpSpPr>
          <p:nvPr/>
        </p:nvGrpSpPr>
        <p:grpSpPr bwMode="auto">
          <a:xfrm>
            <a:off x="2446338" y="5383213"/>
            <a:ext cx="641350" cy="390525"/>
            <a:chOff x="432" y="3408"/>
            <a:chExt cx="486" cy="280"/>
          </a:xfrm>
        </p:grpSpPr>
        <p:sp>
          <p:nvSpPr>
            <p:cNvPr id="38001" name="Rectangle 62"/>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002" name="Text Box 63"/>
            <p:cNvSpPr txBox="1">
              <a:spLocks noChangeArrowheads="1"/>
            </p:cNvSpPr>
            <p:nvPr/>
          </p:nvSpPr>
          <p:spPr bwMode="auto">
            <a:xfrm>
              <a:off x="432" y="3425"/>
              <a:ext cx="48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1 2 5</a:t>
              </a:r>
              <a:endParaRPr lang="en-US" altLang="en-US" sz="2000" b="0">
                <a:latin typeface="Times New Roman" pitchFamily="18" charset="0"/>
              </a:endParaRPr>
            </a:p>
          </p:txBody>
        </p:sp>
      </p:grpSp>
      <p:grpSp>
        <p:nvGrpSpPr>
          <p:cNvPr id="37928" name="Group 64"/>
          <p:cNvGrpSpPr>
            <a:grpSpLocks/>
          </p:cNvGrpSpPr>
          <p:nvPr/>
        </p:nvGrpSpPr>
        <p:grpSpPr bwMode="auto">
          <a:xfrm>
            <a:off x="2446338" y="5718175"/>
            <a:ext cx="641350" cy="388938"/>
            <a:chOff x="432" y="3408"/>
            <a:chExt cx="486" cy="278"/>
          </a:xfrm>
        </p:grpSpPr>
        <p:sp>
          <p:nvSpPr>
            <p:cNvPr id="37999" name="Rectangle 65"/>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000" name="Text Box 66"/>
            <p:cNvSpPr txBox="1">
              <a:spLocks noChangeArrowheads="1"/>
            </p:cNvSpPr>
            <p:nvPr/>
          </p:nvSpPr>
          <p:spPr bwMode="auto">
            <a:xfrm>
              <a:off x="432" y="3424"/>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4 5 8</a:t>
              </a:r>
              <a:endParaRPr lang="en-US" altLang="en-US" sz="2000" b="0">
                <a:latin typeface="Times New Roman" pitchFamily="18" charset="0"/>
              </a:endParaRPr>
            </a:p>
          </p:txBody>
        </p:sp>
      </p:grpSp>
      <p:sp>
        <p:nvSpPr>
          <p:cNvPr id="37929" name="Rectangle 67"/>
          <p:cNvSpPr>
            <a:spLocks noChangeArrowheads="1"/>
          </p:cNvSpPr>
          <p:nvPr/>
        </p:nvSpPr>
        <p:spPr bwMode="auto">
          <a:xfrm>
            <a:off x="4030663" y="2362200"/>
            <a:ext cx="254000" cy="403225"/>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7930" name="Line 68"/>
          <p:cNvSpPr>
            <a:spLocks noChangeShapeType="1"/>
          </p:cNvSpPr>
          <p:nvPr/>
        </p:nvSpPr>
        <p:spPr bwMode="auto">
          <a:xfrm>
            <a:off x="4030663" y="2497138"/>
            <a:ext cx="25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31" name="Line 69"/>
          <p:cNvSpPr>
            <a:spLocks noChangeShapeType="1"/>
          </p:cNvSpPr>
          <p:nvPr/>
        </p:nvSpPr>
        <p:spPr bwMode="auto">
          <a:xfrm>
            <a:off x="4030663" y="2630488"/>
            <a:ext cx="25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7932" name="Group 70"/>
          <p:cNvGrpSpPr>
            <a:grpSpLocks/>
          </p:cNvGrpSpPr>
          <p:nvPr/>
        </p:nvGrpSpPr>
        <p:grpSpPr bwMode="auto">
          <a:xfrm>
            <a:off x="7185025" y="1295400"/>
            <a:ext cx="1654175" cy="1692275"/>
            <a:chOff x="96" y="1097"/>
            <a:chExt cx="1141" cy="1122"/>
          </a:xfrm>
        </p:grpSpPr>
        <p:sp>
          <p:nvSpPr>
            <p:cNvPr id="37986" name="Text Box 71"/>
            <p:cNvSpPr txBox="1">
              <a:spLocks noChangeArrowheads="1"/>
            </p:cNvSpPr>
            <p:nvPr/>
          </p:nvSpPr>
          <p:spPr bwMode="auto">
            <a:xfrm>
              <a:off x="96" y="1776"/>
              <a:ext cx="3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1,4,7</a:t>
              </a:r>
              <a:endParaRPr lang="en-US" altLang="en-US" sz="1400" b="0">
                <a:latin typeface="Times New Roman" pitchFamily="18" charset="0"/>
              </a:endParaRPr>
            </a:p>
          </p:txBody>
        </p:sp>
        <p:grpSp>
          <p:nvGrpSpPr>
            <p:cNvPr id="37987" name="Group 72"/>
            <p:cNvGrpSpPr>
              <a:grpSpLocks/>
            </p:cNvGrpSpPr>
            <p:nvPr/>
          </p:nvGrpSpPr>
          <p:grpSpPr bwMode="auto">
            <a:xfrm>
              <a:off x="144" y="1097"/>
              <a:ext cx="1093" cy="1122"/>
              <a:chOff x="144" y="1097"/>
              <a:chExt cx="1093" cy="1122"/>
            </a:xfrm>
          </p:grpSpPr>
          <p:sp>
            <p:nvSpPr>
              <p:cNvPr id="37988" name="Text Box 73"/>
              <p:cNvSpPr txBox="1">
                <a:spLocks noChangeArrowheads="1"/>
              </p:cNvSpPr>
              <p:nvPr/>
            </p:nvSpPr>
            <p:spPr bwMode="auto">
              <a:xfrm>
                <a:off x="369" y="1097"/>
                <a:ext cx="127"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b="0">
                  <a:latin typeface="Wingdings" pitchFamily="2" charset="2"/>
                </a:endParaRPr>
              </a:p>
            </p:txBody>
          </p:sp>
          <p:grpSp>
            <p:nvGrpSpPr>
              <p:cNvPr id="37989" name="Group 74"/>
              <p:cNvGrpSpPr>
                <a:grpSpLocks/>
              </p:cNvGrpSpPr>
              <p:nvPr/>
            </p:nvGrpSpPr>
            <p:grpSpPr bwMode="auto">
              <a:xfrm>
                <a:off x="528" y="1392"/>
                <a:ext cx="240" cy="384"/>
                <a:chOff x="2064" y="1872"/>
                <a:chExt cx="192" cy="288"/>
              </a:xfrm>
            </p:grpSpPr>
            <p:sp>
              <p:nvSpPr>
                <p:cNvPr id="37996" name="Rectangle 75"/>
                <p:cNvSpPr>
                  <a:spLocks noChangeArrowheads="1"/>
                </p:cNvSpPr>
                <p:nvPr/>
              </p:nvSpPr>
              <p:spPr bwMode="auto">
                <a:xfrm>
                  <a:off x="2064"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7997" name="Line 76"/>
                <p:cNvSpPr>
                  <a:spLocks noChangeShapeType="1"/>
                </p:cNvSpPr>
                <p:nvPr/>
              </p:nvSpPr>
              <p:spPr bwMode="auto">
                <a:xfrm>
                  <a:off x="2064"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98" name="Line 77"/>
                <p:cNvSpPr>
                  <a:spLocks noChangeShapeType="1"/>
                </p:cNvSpPr>
                <p:nvPr/>
              </p:nvSpPr>
              <p:spPr bwMode="auto">
                <a:xfrm>
                  <a:off x="2064"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7990" name="Line 78"/>
              <p:cNvSpPr>
                <a:spLocks noChangeShapeType="1"/>
              </p:cNvSpPr>
              <p:nvPr/>
            </p:nvSpPr>
            <p:spPr bwMode="auto">
              <a:xfrm flipH="1">
                <a:off x="144" y="1776"/>
                <a:ext cx="485"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91" name="Line 79"/>
              <p:cNvSpPr>
                <a:spLocks noChangeShapeType="1"/>
              </p:cNvSpPr>
              <p:nvPr/>
            </p:nvSpPr>
            <p:spPr bwMode="auto">
              <a:xfrm>
                <a:off x="624" y="1776"/>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92" name="Line 80"/>
              <p:cNvSpPr>
                <a:spLocks noChangeShapeType="1"/>
              </p:cNvSpPr>
              <p:nvPr/>
            </p:nvSpPr>
            <p:spPr bwMode="auto">
              <a:xfrm>
                <a:off x="629" y="1776"/>
                <a:ext cx="427"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93" name="Text Box 81"/>
              <p:cNvSpPr txBox="1">
                <a:spLocks noChangeArrowheads="1"/>
              </p:cNvSpPr>
              <p:nvPr/>
            </p:nvSpPr>
            <p:spPr bwMode="auto">
              <a:xfrm>
                <a:off x="289" y="2017"/>
                <a:ext cx="3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2,5,8</a:t>
                </a:r>
                <a:endParaRPr lang="en-US" altLang="en-US" sz="1400" b="0">
                  <a:latin typeface="Times New Roman" pitchFamily="18" charset="0"/>
                </a:endParaRPr>
              </a:p>
            </p:txBody>
          </p:sp>
          <p:sp>
            <p:nvSpPr>
              <p:cNvPr id="37994" name="Text Box 82"/>
              <p:cNvSpPr txBox="1">
                <a:spLocks noChangeArrowheads="1"/>
              </p:cNvSpPr>
              <p:nvPr/>
            </p:nvSpPr>
            <p:spPr bwMode="auto">
              <a:xfrm>
                <a:off x="865" y="1776"/>
                <a:ext cx="3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3,6,9</a:t>
                </a:r>
              </a:p>
            </p:txBody>
          </p:sp>
          <p:sp>
            <p:nvSpPr>
              <p:cNvPr id="37995" name="Text Box 83"/>
              <p:cNvSpPr txBox="1">
                <a:spLocks noChangeArrowheads="1"/>
              </p:cNvSpPr>
              <p:nvPr/>
            </p:nvSpPr>
            <p:spPr bwMode="auto">
              <a:xfrm>
                <a:off x="192" y="1152"/>
                <a:ext cx="950"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b="0">
                    <a:latin typeface="Times New Roman" pitchFamily="18" charset="0"/>
                  </a:rPr>
                  <a:t>Hash Function</a:t>
                </a:r>
                <a:endParaRPr lang="en-US" altLang="en-US" b="0">
                  <a:latin typeface="Times New Roman" pitchFamily="18" charset="0"/>
                </a:endParaRPr>
              </a:p>
            </p:txBody>
          </p:sp>
        </p:grpSp>
      </p:grpSp>
      <p:grpSp>
        <p:nvGrpSpPr>
          <p:cNvPr id="37933" name="Group 84"/>
          <p:cNvGrpSpPr>
            <a:grpSpLocks/>
          </p:cNvGrpSpPr>
          <p:nvPr/>
        </p:nvGrpSpPr>
        <p:grpSpPr bwMode="auto">
          <a:xfrm>
            <a:off x="3603625" y="1447800"/>
            <a:ext cx="1073150" cy="396875"/>
            <a:chOff x="4416" y="1440"/>
            <a:chExt cx="676" cy="250"/>
          </a:xfrm>
        </p:grpSpPr>
        <p:sp>
          <p:nvSpPr>
            <p:cNvPr id="37984" name="Rectangle 85"/>
            <p:cNvSpPr>
              <a:spLocks noChangeArrowheads="1"/>
            </p:cNvSpPr>
            <p:nvPr/>
          </p:nvSpPr>
          <p:spPr bwMode="auto">
            <a:xfrm>
              <a:off x="4416" y="1440"/>
              <a:ext cx="672" cy="213"/>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7985" name="Text Box 86"/>
            <p:cNvSpPr txBox="1">
              <a:spLocks noChangeArrowheads="1"/>
            </p:cNvSpPr>
            <p:nvPr/>
          </p:nvSpPr>
          <p:spPr bwMode="auto">
            <a:xfrm>
              <a:off x="4416" y="1440"/>
              <a:ext cx="6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1 2 3 5 6</a:t>
              </a:r>
            </a:p>
          </p:txBody>
        </p:sp>
      </p:grpSp>
      <p:sp>
        <p:nvSpPr>
          <p:cNvPr id="37934" name="Line 87"/>
          <p:cNvSpPr>
            <a:spLocks noChangeShapeType="1"/>
          </p:cNvSpPr>
          <p:nvPr/>
        </p:nvSpPr>
        <p:spPr bwMode="auto">
          <a:xfrm>
            <a:off x="4137025" y="1828800"/>
            <a:ext cx="0" cy="4572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935" name="Line 88"/>
          <p:cNvSpPr>
            <a:spLocks noChangeShapeType="1"/>
          </p:cNvSpPr>
          <p:nvPr/>
        </p:nvSpPr>
        <p:spPr bwMode="auto">
          <a:xfrm>
            <a:off x="2689225" y="2590800"/>
            <a:ext cx="76200" cy="7620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936" name="Line 89"/>
          <p:cNvSpPr>
            <a:spLocks noChangeShapeType="1"/>
          </p:cNvSpPr>
          <p:nvPr/>
        </p:nvSpPr>
        <p:spPr bwMode="auto">
          <a:xfrm flipH="1">
            <a:off x="4213225" y="2667000"/>
            <a:ext cx="990600" cy="7620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937" name="Line 90"/>
          <p:cNvSpPr>
            <a:spLocks noChangeShapeType="1"/>
          </p:cNvSpPr>
          <p:nvPr/>
        </p:nvSpPr>
        <p:spPr bwMode="auto">
          <a:xfrm flipH="1">
            <a:off x="5584825" y="3200400"/>
            <a:ext cx="762000" cy="152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37938" name="Group 91"/>
          <p:cNvGrpSpPr>
            <a:grpSpLocks/>
          </p:cNvGrpSpPr>
          <p:nvPr/>
        </p:nvGrpSpPr>
        <p:grpSpPr bwMode="auto">
          <a:xfrm>
            <a:off x="250825" y="2514600"/>
            <a:ext cx="1377950" cy="396875"/>
            <a:chOff x="0" y="1728"/>
            <a:chExt cx="868" cy="250"/>
          </a:xfrm>
        </p:grpSpPr>
        <p:grpSp>
          <p:nvGrpSpPr>
            <p:cNvPr id="37978" name="Group 92"/>
            <p:cNvGrpSpPr>
              <a:grpSpLocks/>
            </p:cNvGrpSpPr>
            <p:nvPr/>
          </p:nvGrpSpPr>
          <p:grpSpPr bwMode="auto">
            <a:xfrm>
              <a:off x="432" y="1728"/>
              <a:ext cx="436" cy="250"/>
              <a:chOff x="432" y="1728"/>
              <a:chExt cx="436" cy="250"/>
            </a:xfrm>
          </p:grpSpPr>
          <p:sp>
            <p:nvSpPr>
              <p:cNvPr id="37982" name="Rectangle 93"/>
              <p:cNvSpPr>
                <a:spLocks noChangeArrowheads="1"/>
              </p:cNvSpPr>
              <p:nvPr/>
            </p:nvSpPr>
            <p:spPr bwMode="auto">
              <a:xfrm>
                <a:off x="432" y="1728"/>
                <a:ext cx="432" cy="205"/>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7983" name="Text Box 94"/>
              <p:cNvSpPr txBox="1">
                <a:spLocks noChangeArrowheads="1"/>
              </p:cNvSpPr>
              <p:nvPr/>
            </p:nvSpPr>
            <p:spPr bwMode="auto">
              <a:xfrm>
                <a:off x="432" y="172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3 5 6</a:t>
                </a:r>
              </a:p>
            </p:txBody>
          </p:sp>
        </p:grpSp>
        <p:grpSp>
          <p:nvGrpSpPr>
            <p:cNvPr id="37979" name="Group 95"/>
            <p:cNvGrpSpPr>
              <a:grpSpLocks/>
            </p:cNvGrpSpPr>
            <p:nvPr/>
          </p:nvGrpSpPr>
          <p:grpSpPr bwMode="auto">
            <a:xfrm>
              <a:off x="0" y="1728"/>
              <a:ext cx="446" cy="250"/>
              <a:chOff x="336" y="1440"/>
              <a:chExt cx="446" cy="250"/>
            </a:xfrm>
          </p:grpSpPr>
          <p:sp>
            <p:nvSpPr>
              <p:cNvPr id="37980" name="Rectangle 96"/>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7981" name="Text Box 97"/>
              <p:cNvSpPr txBox="1">
                <a:spLocks noChangeArrowheads="1"/>
              </p:cNvSpPr>
              <p:nvPr/>
            </p:nvSpPr>
            <p:spPr bwMode="auto">
              <a:xfrm>
                <a:off x="336" y="1440"/>
                <a:ext cx="4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2 +</a:t>
                </a:r>
              </a:p>
            </p:txBody>
          </p:sp>
        </p:grpSp>
      </p:grpSp>
      <p:grpSp>
        <p:nvGrpSpPr>
          <p:cNvPr id="37939" name="Group 98"/>
          <p:cNvGrpSpPr>
            <a:grpSpLocks/>
          </p:cNvGrpSpPr>
          <p:nvPr/>
        </p:nvGrpSpPr>
        <p:grpSpPr bwMode="auto">
          <a:xfrm>
            <a:off x="250825" y="3124200"/>
            <a:ext cx="1187450" cy="396875"/>
            <a:chOff x="0" y="2160"/>
            <a:chExt cx="748" cy="250"/>
          </a:xfrm>
        </p:grpSpPr>
        <p:grpSp>
          <p:nvGrpSpPr>
            <p:cNvPr id="37972" name="Group 99"/>
            <p:cNvGrpSpPr>
              <a:grpSpLocks/>
            </p:cNvGrpSpPr>
            <p:nvPr/>
          </p:nvGrpSpPr>
          <p:grpSpPr bwMode="auto">
            <a:xfrm>
              <a:off x="432" y="2160"/>
              <a:ext cx="316" cy="250"/>
              <a:chOff x="4416" y="1440"/>
              <a:chExt cx="685" cy="260"/>
            </a:xfrm>
          </p:grpSpPr>
          <p:sp>
            <p:nvSpPr>
              <p:cNvPr id="37976" name="Rectangle 100"/>
              <p:cNvSpPr>
                <a:spLocks noChangeArrowheads="1"/>
              </p:cNvSpPr>
              <p:nvPr/>
            </p:nvSpPr>
            <p:spPr bwMode="auto">
              <a:xfrm>
                <a:off x="4416" y="1440"/>
                <a:ext cx="672" cy="213"/>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7977" name="Text Box 101"/>
              <p:cNvSpPr txBox="1">
                <a:spLocks noChangeArrowheads="1"/>
              </p:cNvSpPr>
              <p:nvPr/>
            </p:nvSpPr>
            <p:spPr bwMode="auto">
              <a:xfrm>
                <a:off x="4416" y="1440"/>
                <a:ext cx="68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5 6</a:t>
                </a:r>
              </a:p>
            </p:txBody>
          </p:sp>
        </p:grpSp>
        <p:grpSp>
          <p:nvGrpSpPr>
            <p:cNvPr id="37973" name="Group 102"/>
            <p:cNvGrpSpPr>
              <a:grpSpLocks/>
            </p:cNvGrpSpPr>
            <p:nvPr/>
          </p:nvGrpSpPr>
          <p:grpSpPr bwMode="auto">
            <a:xfrm>
              <a:off x="0" y="2160"/>
              <a:ext cx="446" cy="250"/>
              <a:chOff x="336" y="1440"/>
              <a:chExt cx="446" cy="250"/>
            </a:xfrm>
          </p:grpSpPr>
          <p:sp>
            <p:nvSpPr>
              <p:cNvPr id="37974" name="Rectangle 103"/>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7975" name="Text Box 104"/>
              <p:cNvSpPr txBox="1">
                <a:spLocks noChangeArrowheads="1"/>
              </p:cNvSpPr>
              <p:nvPr/>
            </p:nvSpPr>
            <p:spPr bwMode="auto">
              <a:xfrm>
                <a:off x="336" y="1440"/>
                <a:ext cx="4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3 +</a:t>
                </a:r>
              </a:p>
            </p:txBody>
          </p:sp>
        </p:grpSp>
      </p:grpSp>
      <p:grpSp>
        <p:nvGrpSpPr>
          <p:cNvPr id="37940" name="Group 105"/>
          <p:cNvGrpSpPr>
            <a:grpSpLocks/>
          </p:cNvGrpSpPr>
          <p:nvPr/>
        </p:nvGrpSpPr>
        <p:grpSpPr bwMode="auto">
          <a:xfrm>
            <a:off x="250825" y="3733800"/>
            <a:ext cx="990600" cy="396875"/>
            <a:chOff x="0" y="2544"/>
            <a:chExt cx="624" cy="250"/>
          </a:xfrm>
        </p:grpSpPr>
        <p:grpSp>
          <p:nvGrpSpPr>
            <p:cNvPr id="37966" name="Group 106"/>
            <p:cNvGrpSpPr>
              <a:grpSpLocks/>
            </p:cNvGrpSpPr>
            <p:nvPr/>
          </p:nvGrpSpPr>
          <p:grpSpPr bwMode="auto">
            <a:xfrm>
              <a:off x="417" y="2544"/>
              <a:ext cx="207" cy="250"/>
              <a:chOff x="4363" y="1440"/>
              <a:chExt cx="725" cy="260"/>
            </a:xfrm>
          </p:grpSpPr>
          <p:sp>
            <p:nvSpPr>
              <p:cNvPr id="37970" name="Rectangle 107"/>
              <p:cNvSpPr>
                <a:spLocks noChangeArrowheads="1"/>
              </p:cNvSpPr>
              <p:nvPr/>
            </p:nvSpPr>
            <p:spPr bwMode="auto">
              <a:xfrm>
                <a:off x="4416" y="1440"/>
                <a:ext cx="672" cy="213"/>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7971" name="Text Box 108"/>
              <p:cNvSpPr txBox="1">
                <a:spLocks noChangeArrowheads="1"/>
              </p:cNvSpPr>
              <p:nvPr/>
            </p:nvSpPr>
            <p:spPr bwMode="auto">
              <a:xfrm>
                <a:off x="4363" y="1440"/>
                <a:ext cx="687"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6</a:t>
                </a:r>
              </a:p>
            </p:txBody>
          </p:sp>
        </p:grpSp>
        <p:grpSp>
          <p:nvGrpSpPr>
            <p:cNvPr id="37967" name="Group 109"/>
            <p:cNvGrpSpPr>
              <a:grpSpLocks/>
            </p:cNvGrpSpPr>
            <p:nvPr/>
          </p:nvGrpSpPr>
          <p:grpSpPr bwMode="auto">
            <a:xfrm>
              <a:off x="0" y="2544"/>
              <a:ext cx="446" cy="250"/>
              <a:chOff x="336" y="1440"/>
              <a:chExt cx="446" cy="250"/>
            </a:xfrm>
          </p:grpSpPr>
          <p:sp>
            <p:nvSpPr>
              <p:cNvPr id="37968" name="Rectangle 110"/>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7969" name="Text Box 111"/>
              <p:cNvSpPr txBox="1">
                <a:spLocks noChangeArrowheads="1"/>
              </p:cNvSpPr>
              <p:nvPr/>
            </p:nvSpPr>
            <p:spPr bwMode="auto">
              <a:xfrm>
                <a:off x="336" y="1440"/>
                <a:ext cx="4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5 +</a:t>
                </a:r>
              </a:p>
            </p:txBody>
          </p:sp>
        </p:grpSp>
      </p:grpSp>
      <p:sp>
        <p:nvSpPr>
          <p:cNvPr id="37941" name="Line 112"/>
          <p:cNvSpPr>
            <a:spLocks noChangeShapeType="1"/>
          </p:cNvSpPr>
          <p:nvPr/>
        </p:nvSpPr>
        <p:spPr bwMode="auto">
          <a:xfrm>
            <a:off x="1622425" y="2819400"/>
            <a:ext cx="1066800" cy="1447800"/>
          </a:xfrm>
          <a:prstGeom prst="line">
            <a:avLst/>
          </a:prstGeom>
          <a:noFill/>
          <a:ln w="38100">
            <a:solidFill>
              <a:srgbClr val="FF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942" name="Line 113"/>
          <p:cNvSpPr>
            <a:spLocks noChangeShapeType="1"/>
          </p:cNvSpPr>
          <p:nvPr/>
        </p:nvSpPr>
        <p:spPr bwMode="auto">
          <a:xfrm>
            <a:off x="1219200" y="3886200"/>
            <a:ext cx="1295400" cy="457200"/>
          </a:xfrm>
          <a:prstGeom prst="line">
            <a:avLst/>
          </a:prstGeom>
          <a:noFill/>
          <a:ln w="38100">
            <a:solidFill>
              <a:srgbClr val="FF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943" name="Line 114"/>
          <p:cNvSpPr>
            <a:spLocks noChangeShapeType="1"/>
          </p:cNvSpPr>
          <p:nvPr/>
        </p:nvSpPr>
        <p:spPr bwMode="auto">
          <a:xfrm>
            <a:off x="1470025" y="3429000"/>
            <a:ext cx="1676400" cy="838200"/>
          </a:xfrm>
          <a:prstGeom prst="line">
            <a:avLst/>
          </a:prstGeom>
          <a:noFill/>
          <a:ln w="38100">
            <a:solidFill>
              <a:srgbClr val="FF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37944" name="Group 115"/>
          <p:cNvGrpSpPr>
            <a:grpSpLocks/>
          </p:cNvGrpSpPr>
          <p:nvPr/>
        </p:nvGrpSpPr>
        <p:grpSpPr bwMode="auto">
          <a:xfrm>
            <a:off x="4746625" y="2286000"/>
            <a:ext cx="1149350" cy="396875"/>
            <a:chOff x="2880" y="1632"/>
            <a:chExt cx="724" cy="250"/>
          </a:xfrm>
        </p:grpSpPr>
        <p:grpSp>
          <p:nvGrpSpPr>
            <p:cNvPr id="37960" name="Group 116"/>
            <p:cNvGrpSpPr>
              <a:grpSpLocks/>
            </p:cNvGrpSpPr>
            <p:nvPr/>
          </p:nvGrpSpPr>
          <p:grpSpPr bwMode="auto">
            <a:xfrm>
              <a:off x="3168" y="1632"/>
              <a:ext cx="436" cy="250"/>
              <a:chOff x="4416" y="1440"/>
              <a:chExt cx="678" cy="260"/>
            </a:xfrm>
          </p:grpSpPr>
          <p:sp>
            <p:nvSpPr>
              <p:cNvPr id="37964" name="Rectangle 117"/>
              <p:cNvSpPr>
                <a:spLocks noChangeArrowheads="1"/>
              </p:cNvSpPr>
              <p:nvPr/>
            </p:nvSpPr>
            <p:spPr bwMode="auto">
              <a:xfrm>
                <a:off x="4416" y="1440"/>
                <a:ext cx="672" cy="213"/>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7965" name="Text Box 118"/>
              <p:cNvSpPr txBox="1">
                <a:spLocks noChangeArrowheads="1"/>
              </p:cNvSpPr>
              <p:nvPr/>
            </p:nvSpPr>
            <p:spPr bwMode="auto">
              <a:xfrm>
                <a:off x="4416" y="1440"/>
                <a:ext cx="67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3 5 6</a:t>
                </a:r>
              </a:p>
            </p:txBody>
          </p:sp>
        </p:grpSp>
        <p:grpSp>
          <p:nvGrpSpPr>
            <p:cNvPr id="37961" name="Group 119"/>
            <p:cNvGrpSpPr>
              <a:grpSpLocks/>
            </p:cNvGrpSpPr>
            <p:nvPr/>
          </p:nvGrpSpPr>
          <p:grpSpPr bwMode="auto">
            <a:xfrm>
              <a:off x="2880" y="1632"/>
              <a:ext cx="326" cy="250"/>
              <a:chOff x="336" y="1440"/>
              <a:chExt cx="489" cy="250"/>
            </a:xfrm>
          </p:grpSpPr>
          <p:sp>
            <p:nvSpPr>
              <p:cNvPr id="37962" name="Rectangle 120"/>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7963" name="Text Box 121"/>
              <p:cNvSpPr txBox="1">
                <a:spLocks noChangeArrowheads="1"/>
              </p:cNvSpPr>
              <p:nvPr/>
            </p:nvSpPr>
            <p:spPr bwMode="auto">
              <a:xfrm>
                <a:off x="336" y="1440"/>
                <a:ext cx="4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2 +</a:t>
                </a:r>
              </a:p>
            </p:txBody>
          </p:sp>
        </p:grpSp>
      </p:grpSp>
      <p:grpSp>
        <p:nvGrpSpPr>
          <p:cNvPr id="37945" name="Group 122"/>
          <p:cNvGrpSpPr>
            <a:grpSpLocks/>
          </p:cNvGrpSpPr>
          <p:nvPr/>
        </p:nvGrpSpPr>
        <p:grpSpPr bwMode="auto">
          <a:xfrm>
            <a:off x="6042025" y="2819400"/>
            <a:ext cx="958850" cy="396875"/>
            <a:chOff x="3792" y="2064"/>
            <a:chExt cx="604" cy="250"/>
          </a:xfrm>
        </p:grpSpPr>
        <p:grpSp>
          <p:nvGrpSpPr>
            <p:cNvPr id="37954" name="Group 123"/>
            <p:cNvGrpSpPr>
              <a:grpSpLocks/>
            </p:cNvGrpSpPr>
            <p:nvPr/>
          </p:nvGrpSpPr>
          <p:grpSpPr bwMode="auto">
            <a:xfrm>
              <a:off x="4080" y="2064"/>
              <a:ext cx="316" cy="250"/>
              <a:chOff x="4416" y="1440"/>
              <a:chExt cx="737" cy="260"/>
            </a:xfrm>
          </p:grpSpPr>
          <p:sp>
            <p:nvSpPr>
              <p:cNvPr id="37958" name="Rectangle 124"/>
              <p:cNvSpPr>
                <a:spLocks noChangeArrowheads="1"/>
              </p:cNvSpPr>
              <p:nvPr/>
            </p:nvSpPr>
            <p:spPr bwMode="auto">
              <a:xfrm>
                <a:off x="4416" y="1440"/>
                <a:ext cx="672" cy="213"/>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7959" name="Text Box 125"/>
              <p:cNvSpPr txBox="1">
                <a:spLocks noChangeArrowheads="1"/>
              </p:cNvSpPr>
              <p:nvPr/>
            </p:nvSpPr>
            <p:spPr bwMode="auto">
              <a:xfrm>
                <a:off x="4416" y="1440"/>
                <a:ext cx="737"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5 6</a:t>
                </a:r>
              </a:p>
            </p:txBody>
          </p:sp>
        </p:grpSp>
        <p:grpSp>
          <p:nvGrpSpPr>
            <p:cNvPr id="37955" name="Group 126"/>
            <p:cNvGrpSpPr>
              <a:grpSpLocks/>
            </p:cNvGrpSpPr>
            <p:nvPr/>
          </p:nvGrpSpPr>
          <p:grpSpPr bwMode="auto">
            <a:xfrm>
              <a:off x="3792" y="2064"/>
              <a:ext cx="326" cy="250"/>
              <a:chOff x="336" y="1440"/>
              <a:chExt cx="489" cy="250"/>
            </a:xfrm>
          </p:grpSpPr>
          <p:sp>
            <p:nvSpPr>
              <p:cNvPr id="37956" name="Rectangle 127"/>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7957" name="Text Box 128"/>
              <p:cNvSpPr txBox="1">
                <a:spLocks noChangeArrowheads="1"/>
              </p:cNvSpPr>
              <p:nvPr/>
            </p:nvSpPr>
            <p:spPr bwMode="auto">
              <a:xfrm>
                <a:off x="336" y="1440"/>
                <a:ext cx="4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a:t>
                </a:r>
              </a:p>
            </p:txBody>
          </p:sp>
        </p:grpSp>
      </p:grpSp>
      <p:grpSp>
        <p:nvGrpSpPr>
          <p:cNvPr id="37946" name="Group 129"/>
          <p:cNvGrpSpPr>
            <a:grpSpLocks/>
          </p:cNvGrpSpPr>
          <p:nvPr/>
        </p:nvGrpSpPr>
        <p:grpSpPr bwMode="auto">
          <a:xfrm>
            <a:off x="2003425" y="2133600"/>
            <a:ext cx="1371600" cy="396875"/>
            <a:chOff x="1344" y="1536"/>
            <a:chExt cx="863" cy="226"/>
          </a:xfrm>
        </p:grpSpPr>
        <p:grpSp>
          <p:nvGrpSpPr>
            <p:cNvPr id="37948" name="Group 130"/>
            <p:cNvGrpSpPr>
              <a:grpSpLocks/>
            </p:cNvGrpSpPr>
            <p:nvPr/>
          </p:nvGrpSpPr>
          <p:grpSpPr bwMode="auto">
            <a:xfrm>
              <a:off x="1344" y="1536"/>
              <a:ext cx="432" cy="226"/>
              <a:chOff x="336" y="1440"/>
              <a:chExt cx="432" cy="226"/>
            </a:xfrm>
          </p:grpSpPr>
          <p:sp>
            <p:nvSpPr>
              <p:cNvPr id="37952" name="Rectangle 131"/>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7953" name="Text Box 132"/>
              <p:cNvSpPr txBox="1">
                <a:spLocks noChangeArrowheads="1"/>
              </p:cNvSpPr>
              <p:nvPr/>
            </p:nvSpPr>
            <p:spPr bwMode="auto">
              <a:xfrm>
                <a:off x="336" y="1440"/>
                <a:ext cx="32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a:t>
                </a:r>
              </a:p>
            </p:txBody>
          </p:sp>
        </p:grpSp>
        <p:grpSp>
          <p:nvGrpSpPr>
            <p:cNvPr id="37949" name="Group 133"/>
            <p:cNvGrpSpPr>
              <a:grpSpLocks/>
            </p:cNvGrpSpPr>
            <p:nvPr/>
          </p:nvGrpSpPr>
          <p:grpSpPr bwMode="auto">
            <a:xfrm>
              <a:off x="1632" y="1536"/>
              <a:ext cx="575" cy="226"/>
              <a:chOff x="432" y="1728"/>
              <a:chExt cx="432" cy="226"/>
            </a:xfrm>
          </p:grpSpPr>
          <p:sp>
            <p:nvSpPr>
              <p:cNvPr id="37950" name="Rectangle 134"/>
              <p:cNvSpPr>
                <a:spLocks noChangeArrowheads="1"/>
              </p:cNvSpPr>
              <p:nvPr/>
            </p:nvSpPr>
            <p:spPr bwMode="auto">
              <a:xfrm>
                <a:off x="432" y="1728"/>
                <a:ext cx="432" cy="205"/>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7951" name="Text Box 135"/>
              <p:cNvSpPr txBox="1">
                <a:spLocks noChangeArrowheads="1"/>
              </p:cNvSpPr>
              <p:nvPr/>
            </p:nvSpPr>
            <p:spPr bwMode="auto">
              <a:xfrm>
                <a:off x="432" y="1728"/>
                <a:ext cx="417"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2 3 5 6</a:t>
                </a:r>
              </a:p>
            </p:txBody>
          </p:sp>
        </p:grpSp>
      </p:grpSp>
      <p:sp>
        <p:nvSpPr>
          <p:cNvPr id="37947" name="Text Box 136"/>
          <p:cNvSpPr txBox="1">
            <a:spLocks noChangeArrowheads="1"/>
          </p:cNvSpPr>
          <p:nvPr/>
        </p:nvSpPr>
        <p:spPr bwMode="auto">
          <a:xfrm>
            <a:off x="4670425" y="1447800"/>
            <a:ext cx="1187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transaction</a:t>
            </a:r>
          </a:p>
        </p:txBody>
      </p:sp>
    </p:spTree>
    <p:extLst>
      <p:ext uri="{BB962C8B-B14F-4D97-AF65-F5344CB8AC3E}">
        <p14:creationId xmlns:p14="http://schemas.microsoft.com/office/powerpoint/2010/main" val="1467615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a:t>Support Counting Using a Hash Tree</a:t>
            </a:r>
          </a:p>
        </p:txBody>
      </p:sp>
      <p:sp>
        <p:nvSpPr>
          <p:cNvPr id="38915" name="Line 3"/>
          <p:cNvSpPr>
            <a:spLocks noChangeShapeType="1"/>
          </p:cNvSpPr>
          <p:nvPr/>
        </p:nvSpPr>
        <p:spPr bwMode="auto">
          <a:xfrm flipH="1">
            <a:off x="2763838" y="2765425"/>
            <a:ext cx="1425575" cy="676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16" name="Line 4"/>
          <p:cNvSpPr>
            <a:spLocks noChangeShapeType="1"/>
          </p:cNvSpPr>
          <p:nvPr/>
        </p:nvSpPr>
        <p:spPr bwMode="auto">
          <a:xfrm>
            <a:off x="4189413" y="2765425"/>
            <a:ext cx="0" cy="738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17" name="Line 5"/>
          <p:cNvSpPr>
            <a:spLocks noChangeShapeType="1"/>
          </p:cNvSpPr>
          <p:nvPr/>
        </p:nvSpPr>
        <p:spPr bwMode="auto">
          <a:xfrm>
            <a:off x="4189413" y="2765425"/>
            <a:ext cx="1425575" cy="676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18" name="Line 6"/>
          <p:cNvSpPr>
            <a:spLocks noChangeShapeType="1"/>
          </p:cNvSpPr>
          <p:nvPr/>
        </p:nvSpPr>
        <p:spPr bwMode="auto">
          <a:xfrm flipH="1">
            <a:off x="1939925" y="3838575"/>
            <a:ext cx="808038" cy="477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19" name="Line 7"/>
          <p:cNvSpPr>
            <a:spLocks noChangeShapeType="1"/>
          </p:cNvSpPr>
          <p:nvPr/>
        </p:nvSpPr>
        <p:spPr bwMode="auto">
          <a:xfrm>
            <a:off x="2747963" y="3838575"/>
            <a:ext cx="0" cy="5365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20" name="Line 8"/>
          <p:cNvSpPr>
            <a:spLocks noChangeShapeType="1"/>
          </p:cNvSpPr>
          <p:nvPr/>
        </p:nvSpPr>
        <p:spPr bwMode="auto">
          <a:xfrm>
            <a:off x="2747963" y="3838575"/>
            <a:ext cx="649287" cy="477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21" name="Line 9"/>
          <p:cNvSpPr>
            <a:spLocks noChangeShapeType="1"/>
          </p:cNvSpPr>
          <p:nvPr/>
        </p:nvSpPr>
        <p:spPr bwMode="auto">
          <a:xfrm flipH="1">
            <a:off x="4600575" y="3838575"/>
            <a:ext cx="1014413" cy="738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22" name="Line 10"/>
          <p:cNvSpPr>
            <a:spLocks noChangeShapeType="1"/>
          </p:cNvSpPr>
          <p:nvPr/>
        </p:nvSpPr>
        <p:spPr bwMode="auto">
          <a:xfrm>
            <a:off x="5614988" y="3838575"/>
            <a:ext cx="0" cy="738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23" name="Line 11"/>
          <p:cNvSpPr>
            <a:spLocks noChangeShapeType="1"/>
          </p:cNvSpPr>
          <p:nvPr/>
        </p:nvSpPr>
        <p:spPr bwMode="auto">
          <a:xfrm>
            <a:off x="5614988" y="3838575"/>
            <a:ext cx="1166812" cy="733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24" name="Line 12"/>
          <p:cNvSpPr>
            <a:spLocks noChangeShapeType="1"/>
          </p:cNvSpPr>
          <p:nvPr/>
        </p:nvSpPr>
        <p:spPr bwMode="auto">
          <a:xfrm flipH="1">
            <a:off x="2003425" y="4778375"/>
            <a:ext cx="760413" cy="5365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25" name="Line 13"/>
          <p:cNvSpPr>
            <a:spLocks noChangeShapeType="1"/>
          </p:cNvSpPr>
          <p:nvPr/>
        </p:nvSpPr>
        <p:spPr bwMode="auto">
          <a:xfrm>
            <a:off x="2763838" y="4778375"/>
            <a:ext cx="0" cy="604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26" name="Line 14"/>
          <p:cNvSpPr>
            <a:spLocks noChangeShapeType="1"/>
          </p:cNvSpPr>
          <p:nvPr/>
        </p:nvSpPr>
        <p:spPr bwMode="auto">
          <a:xfrm>
            <a:off x="2763838" y="4778375"/>
            <a:ext cx="696912" cy="5365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27" name="Rectangle 15"/>
          <p:cNvSpPr>
            <a:spLocks noChangeArrowheads="1"/>
          </p:cNvSpPr>
          <p:nvPr/>
        </p:nvSpPr>
        <p:spPr bwMode="auto">
          <a:xfrm>
            <a:off x="2636838" y="3436938"/>
            <a:ext cx="252412" cy="401637"/>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928" name="Line 16"/>
          <p:cNvSpPr>
            <a:spLocks noChangeShapeType="1"/>
          </p:cNvSpPr>
          <p:nvPr/>
        </p:nvSpPr>
        <p:spPr bwMode="auto">
          <a:xfrm>
            <a:off x="2636838" y="3570288"/>
            <a:ext cx="2524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29" name="Line 17"/>
          <p:cNvSpPr>
            <a:spLocks noChangeShapeType="1"/>
          </p:cNvSpPr>
          <p:nvPr/>
        </p:nvSpPr>
        <p:spPr bwMode="auto">
          <a:xfrm>
            <a:off x="2636838" y="3705225"/>
            <a:ext cx="2524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30" name="Rectangle 18"/>
          <p:cNvSpPr>
            <a:spLocks noChangeArrowheads="1"/>
          </p:cNvSpPr>
          <p:nvPr/>
        </p:nvSpPr>
        <p:spPr bwMode="auto">
          <a:xfrm>
            <a:off x="5487988" y="3436938"/>
            <a:ext cx="254000" cy="401637"/>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931" name="Line 19"/>
          <p:cNvSpPr>
            <a:spLocks noChangeShapeType="1"/>
          </p:cNvSpPr>
          <p:nvPr/>
        </p:nvSpPr>
        <p:spPr bwMode="auto">
          <a:xfrm>
            <a:off x="5487988" y="3570288"/>
            <a:ext cx="25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32" name="Line 20"/>
          <p:cNvSpPr>
            <a:spLocks noChangeShapeType="1"/>
          </p:cNvSpPr>
          <p:nvPr/>
        </p:nvSpPr>
        <p:spPr bwMode="auto">
          <a:xfrm>
            <a:off x="5487988" y="3705225"/>
            <a:ext cx="25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33" name="Rectangle 21"/>
          <p:cNvSpPr>
            <a:spLocks noChangeArrowheads="1"/>
          </p:cNvSpPr>
          <p:nvPr/>
        </p:nvSpPr>
        <p:spPr bwMode="auto">
          <a:xfrm>
            <a:off x="2636838" y="4375150"/>
            <a:ext cx="252412" cy="403225"/>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934" name="Line 22"/>
          <p:cNvSpPr>
            <a:spLocks noChangeShapeType="1"/>
          </p:cNvSpPr>
          <p:nvPr/>
        </p:nvSpPr>
        <p:spPr bwMode="auto">
          <a:xfrm>
            <a:off x="2636838" y="4645025"/>
            <a:ext cx="2524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35" name="Line 23"/>
          <p:cNvSpPr>
            <a:spLocks noChangeShapeType="1"/>
          </p:cNvSpPr>
          <p:nvPr/>
        </p:nvSpPr>
        <p:spPr bwMode="auto">
          <a:xfrm>
            <a:off x="2636838" y="4510088"/>
            <a:ext cx="2524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36" name="Rectangle 24"/>
          <p:cNvSpPr>
            <a:spLocks noChangeArrowheads="1"/>
          </p:cNvSpPr>
          <p:nvPr/>
        </p:nvSpPr>
        <p:spPr bwMode="auto">
          <a:xfrm>
            <a:off x="3270250" y="5314950"/>
            <a:ext cx="633413" cy="33655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937" name="Text Box 25"/>
          <p:cNvSpPr txBox="1">
            <a:spLocks noChangeArrowheads="1"/>
          </p:cNvSpPr>
          <p:nvPr/>
        </p:nvSpPr>
        <p:spPr bwMode="auto">
          <a:xfrm>
            <a:off x="3270250" y="5338763"/>
            <a:ext cx="641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1 5 9</a:t>
            </a:r>
            <a:endParaRPr lang="en-US" altLang="en-US" sz="2000" b="0">
              <a:latin typeface="Times New Roman" pitchFamily="18" charset="0"/>
            </a:endParaRPr>
          </a:p>
        </p:txBody>
      </p:sp>
      <p:grpSp>
        <p:nvGrpSpPr>
          <p:cNvPr id="38938" name="Group 26"/>
          <p:cNvGrpSpPr>
            <a:grpSpLocks/>
          </p:cNvGrpSpPr>
          <p:nvPr/>
        </p:nvGrpSpPr>
        <p:grpSpPr bwMode="auto">
          <a:xfrm>
            <a:off x="1622425" y="4308475"/>
            <a:ext cx="641350" cy="390525"/>
            <a:chOff x="1248" y="2784"/>
            <a:chExt cx="486" cy="279"/>
          </a:xfrm>
        </p:grpSpPr>
        <p:sp>
          <p:nvSpPr>
            <p:cNvPr id="39058" name="Rectangle 27"/>
            <p:cNvSpPr>
              <a:spLocks noChangeArrowheads="1"/>
            </p:cNvSpPr>
            <p:nvPr/>
          </p:nvSpPr>
          <p:spPr bwMode="auto">
            <a:xfrm>
              <a:off x="1248" y="2784"/>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9059" name="Text Box 28"/>
            <p:cNvSpPr txBox="1">
              <a:spLocks noChangeArrowheads="1"/>
            </p:cNvSpPr>
            <p:nvPr/>
          </p:nvSpPr>
          <p:spPr bwMode="auto">
            <a:xfrm>
              <a:off x="1248" y="2801"/>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1 4 5</a:t>
              </a:r>
              <a:endParaRPr lang="en-US" altLang="en-US" sz="2000" b="0">
                <a:latin typeface="Times New Roman" pitchFamily="18" charset="0"/>
              </a:endParaRPr>
            </a:p>
          </p:txBody>
        </p:sp>
      </p:grpSp>
      <p:sp>
        <p:nvSpPr>
          <p:cNvPr id="38939" name="Rectangle 29"/>
          <p:cNvSpPr>
            <a:spLocks noChangeArrowheads="1"/>
          </p:cNvSpPr>
          <p:nvPr/>
        </p:nvSpPr>
        <p:spPr bwMode="auto">
          <a:xfrm>
            <a:off x="3143250" y="4308475"/>
            <a:ext cx="633413" cy="33655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940" name="Text Box 30"/>
          <p:cNvSpPr txBox="1">
            <a:spLocks noChangeArrowheads="1"/>
          </p:cNvSpPr>
          <p:nvPr/>
        </p:nvSpPr>
        <p:spPr bwMode="auto">
          <a:xfrm>
            <a:off x="3143250" y="4332288"/>
            <a:ext cx="641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1 3 6</a:t>
            </a:r>
            <a:endParaRPr lang="en-US" altLang="en-US" sz="2000" b="0">
              <a:latin typeface="Times New Roman" pitchFamily="18" charset="0"/>
            </a:endParaRPr>
          </a:p>
        </p:txBody>
      </p:sp>
      <p:sp>
        <p:nvSpPr>
          <p:cNvPr id="38941" name="Rectangle 31"/>
          <p:cNvSpPr>
            <a:spLocks noChangeArrowheads="1"/>
          </p:cNvSpPr>
          <p:nvPr/>
        </p:nvSpPr>
        <p:spPr bwMode="auto">
          <a:xfrm>
            <a:off x="4284663" y="4576763"/>
            <a:ext cx="633412" cy="33655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942" name="Text Box 32"/>
          <p:cNvSpPr txBox="1">
            <a:spLocks noChangeArrowheads="1"/>
          </p:cNvSpPr>
          <p:nvPr/>
        </p:nvSpPr>
        <p:spPr bwMode="auto">
          <a:xfrm>
            <a:off x="4284663" y="4600575"/>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3 4 5</a:t>
            </a:r>
            <a:endParaRPr lang="en-US" altLang="en-US" sz="2000" b="0">
              <a:latin typeface="Times New Roman" pitchFamily="18" charset="0"/>
            </a:endParaRPr>
          </a:p>
        </p:txBody>
      </p:sp>
      <p:grpSp>
        <p:nvGrpSpPr>
          <p:cNvPr id="38943" name="Group 33"/>
          <p:cNvGrpSpPr>
            <a:grpSpLocks/>
          </p:cNvGrpSpPr>
          <p:nvPr/>
        </p:nvGrpSpPr>
        <p:grpSpPr bwMode="auto">
          <a:xfrm>
            <a:off x="6438900" y="4576763"/>
            <a:ext cx="641350" cy="390525"/>
            <a:chOff x="432" y="3408"/>
            <a:chExt cx="486" cy="279"/>
          </a:xfrm>
        </p:grpSpPr>
        <p:sp>
          <p:nvSpPr>
            <p:cNvPr id="39056" name="Rectangle 34"/>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9057" name="Text Box 35"/>
            <p:cNvSpPr txBox="1">
              <a:spLocks noChangeArrowheads="1"/>
            </p:cNvSpPr>
            <p:nvPr/>
          </p:nvSpPr>
          <p:spPr bwMode="auto">
            <a:xfrm>
              <a:off x="432"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3 6 7</a:t>
              </a:r>
              <a:endParaRPr lang="en-US" altLang="en-US" sz="2000" b="0">
                <a:latin typeface="Times New Roman" pitchFamily="18" charset="0"/>
              </a:endParaRPr>
            </a:p>
          </p:txBody>
        </p:sp>
      </p:grpSp>
      <p:grpSp>
        <p:nvGrpSpPr>
          <p:cNvPr id="38944" name="Group 36"/>
          <p:cNvGrpSpPr>
            <a:grpSpLocks/>
          </p:cNvGrpSpPr>
          <p:nvPr/>
        </p:nvGrpSpPr>
        <p:grpSpPr bwMode="auto">
          <a:xfrm>
            <a:off x="6438900" y="4913313"/>
            <a:ext cx="641350" cy="390525"/>
            <a:chOff x="432" y="3408"/>
            <a:chExt cx="486" cy="280"/>
          </a:xfrm>
        </p:grpSpPr>
        <p:sp>
          <p:nvSpPr>
            <p:cNvPr id="39054" name="Rectangle 37"/>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9055" name="Text Box 38"/>
            <p:cNvSpPr txBox="1">
              <a:spLocks noChangeArrowheads="1"/>
            </p:cNvSpPr>
            <p:nvPr/>
          </p:nvSpPr>
          <p:spPr bwMode="auto">
            <a:xfrm>
              <a:off x="432" y="3425"/>
              <a:ext cx="48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3 6 8</a:t>
              </a:r>
              <a:endParaRPr lang="en-US" altLang="en-US" sz="2000" b="0">
                <a:latin typeface="Times New Roman" pitchFamily="18" charset="0"/>
              </a:endParaRPr>
            </a:p>
          </p:txBody>
        </p:sp>
      </p:grpSp>
      <p:grpSp>
        <p:nvGrpSpPr>
          <p:cNvPr id="38945" name="Group 39"/>
          <p:cNvGrpSpPr>
            <a:grpSpLocks/>
          </p:cNvGrpSpPr>
          <p:nvPr/>
        </p:nvGrpSpPr>
        <p:grpSpPr bwMode="auto">
          <a:xfrm>
            <a:off x="5297488" y="4576763"/>
            <a:ext cx="644525" cy="725487"/>
            <a:chOff x="3792" y="3312"/>
            <a:chExt cx="488" cy="519"/>
          </a:xfrm>
        </p:grpSpPr>
        <p:grpSp>
          <p:nvGrpSpPr>
            <p:cNvPr id="39048" name="Group 40"/>
            <p:cNvGrpSpPr>
              <a:grpSpLocks/>
            </p:cNvGrpSpPr>
            <p:nvPr/>
          </p:nvGrpSpPr>
          <p:grpSpPr bwMode="auto">
            <a:xfrm>
              <a:off x="3792" y="3312"/>
              <a:ext cx="488" cy="279"/>
              <a:chOff x="432" y="3408"/>
              <a:chExt cx="488" cy="279"/>
            </a:xfrm>
          </p:grpSpPr>
          <p:sp>
            <p:nvSpPr>
              <p:cNvPr id="39052" name="Rectangle 41"/>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9053" name="Text Box 42"/>
              <p:cNvSpPr txBox="1">
                <a:spLocks noChangeArrowheads="1"/>
              </p:cNvSpPr>
              <p:nvPr/>
            </p:nvSpPr>
            <p:spPr bwMode="auto">
              <a:xfrm>
                <a:off x="434"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3 5 6</a:t>
                </a:r>
                <a:endParaRPr lang="en-US" altLang="en-US" sz="2000" b="0">
                  <a:latin typeface="Times New Roman" pitchFamily="18" charset="0"/>
                </a:endParaRPr>
              </a:p>
            </p:txBody>
          </p:sp>
        </p:grpSp>
        <p:grpSp>
          <p:nvGrpSpPr>
            <p:cNvPr id="39049" name="Group 43"/>
            <p:cNvGrpSpPr>
              <a:grpSpLocks/>
            </p:cNvGrpSpPr>
            <p:nvPr/>
          </p:nvGrpSpPr>
          <p:grpSpPr bwMode="auto">
            <a:xfrm>
              <a:off x="3792" y="3552"/>
              <a:ext cx="488" cy="279"/>
              <a:chOff x="432" y="3408"/>
              <a:chExt cx="488" cy="279"/>
            </a:xfrm>
          </p:grpSpPr>
          <p:sp>
            <p:nvSpPr>
              <p:cNvPr id="39050" name="Rectangle 44"/>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9051" name="Text Box 45"/>
              <p:cNvSpPr txBox="1">
                <a:spLocks noChangeArrowheads="1"/>
              </p:cNvSpPr>
              <p:nvPr/>
            </p:nvSpPr>
            <p:spPr bwMode="auto">
              <a:xfrm>
                <a:off x="434"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3 5 7</a:t>
                </a:r>
                <a:endParaRPr lang="en-US" altLang="en-US" sz="2000" b="0">
                  <a:latin typeface="Times New Roman" pitchFamily="18" charset="0"/>
                </a:endParaRPr>
              </a:p>
            </p:txBody>
          </p:sp>
        </p:grpSp>
      </p:grpSp>
      <p:grpSp>
        <p:nvGrpSpPr>
          <p:cNvPr id="38946" name="Group 46"/>
          <p:cNvGrpSpPr>
            <a:grpSpLocks/>
          </p:cNvGrpSpPr>
          <p:nvPr/>
        </p:nvGrpSpPr>
        <p:grpSpPr bwMode="auto">
          <a:xfrm>
            <a:off x="5297488" y="5248275"/>
            <a:ext cx="644525" cy="390525"/>
            <a:chOff x="432" y="3408"/>
            <a:chExt cx="488" cy="279"/>
          </a:xfrm>
        </p:grpSpPr>
        <p:sp>
          <p:nvSpPr>
            <p:cNvPr id="39046" name="Rectangle 47"/>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9047" name="Text Box 48"/>
            <p:cNvSpPr txBox="1">
              <a:spLocks noChangeArrowheads="1"/>
            </p:cNvSpPr>
            <p:nvPr/>
          </p:nvSpPr>
          <p:spPr bwMode="auto">
            <a:xfrm>
              <a:off x="434"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6 8 9</a:t>
              </a:r>
              <a:endParaRPr lang="en-US" altLang="en-US" sz="2000" b="0">
                <a:latin typeface="Times New Roman" pitchFamily="18" charset="0"/>
              </a:endParaRPr>
            </a:p>
          </p:txBody>
        </p:sp>
      </p:grpSp>
      <p:grpSp>
        <p:nvGrpSpPr>
          <p:cNvPr id="38947" name="Group 49"/>
          <p:cNvGrpSpPr>
            <a:grpSpLocks/>
          </p:cNvGrpSpPr>
          <p:nvPr/>
        </p:nvGrpSpPr>
        <p:grpSpPr bwMode="auto">
          <a:xfrm>
            <a:off x="3903663" y="3503613"/>
            <a:ext cx="641350" cy="390525"/>
            <a:chOff x="432" y="3408"/>
            <a:chExt cx="486" cy="279"/>
          </a:xfrm>
        </p:grpSpPr>
        <p:sp>
          <p:nvSpPr>
            <p:cNvPr id="39044" name="Rectangle 50"/>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9045" name="Text Box 51"/>
            <p:cNvSpPr txBox="1">
              <a:spLocks noChangeArrowheads="1"/>
            </p:cNvSpPr>
            <p:nvPr/>
          </p:nvSpPr>
          <p:spPr bwMode="auto">
            <a:xfrm>
              <a:off x="432"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2 3 4</a:t>
              </a:r>
            </a:p>
          </p:txBody>
        </p:sp>
      </p:grpSp>
      <p:grpSp>
        <p:nvGrpSpPr>
          <p:cNvPr id="38948" name="Group 52"/>
          <p:cNvGrpSpPr>
            <a:grpSpLocks/>
          </p:cNvGrpSpPr>
          <p:nvPr/>
        </p:nvGrpSpPr>
        <p:grpSpPr bwMode="auto">
          <a:xfrm>
            <a:off x="3903663" y="3838575"/>
            <a:ext cx="641350" cy="392113"/>
            <a:chOff x="432" y="3408"/>
            <a:chExt cx="486" cy="280"/>
          </a:xfrm>
        </p:grpSpPr>
        <p:sp>
          <p:nvSpPr>
            <p:cNvPr id="39042" name="Rectangle 53"/>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9043" name="Text Box 54"/>
            <p:cNvSpPr txBox="1">
              <a:spLocks noChangeArrowheads="1"/>
            </p:cNvSpPr>
            <p:nvPr/>
          </p:nvSpPr>
          <p:spPr bwMode="auto">
            <a:xfrm>
              <a:off x="432" y="3426"/>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5 6 7</a:t>
              </a:r>
              <a:endParaRPr lang="en-US" altLang="en-US" sz="2000" b="0">
                <a:latin typeface="Times New Roman" pitchFamily="18" charset="0"/>
              </a:endParaRPr>
            </a:p>
          </p:txBody>
        </p:sp>
      </p:grpSp>
      <p:grpSp>
        <p:nvGrpSpPr>
          <p:cNvPr id="38949" name="Group 55"/>
          <p:cNvGrpSpPr>
            <a:grpSpLocks/>
          </p:cNvGrpSpPr>
          <p:nvPr/>
        </p:nvGrpSpPr>
        <p:grpSpPr bwMode="auto">
          <a:xfrm>
            <a:off x="1685925" y="5314950"/>
            <a:ext cx="641350" cy="390525"/>
            <a:chOff x="432" y="3408"/>
            <a:chExt cx="486" cy="279"/>
          </a:xfrm>
        </p:grpSpPr>
        <p:sp>
          <p:nvSpPr>
            <p:cNvPr id="39040" name="Rectangle 56"/>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9041" name="Text Box 57"/>
            <p:cNvSpPr txBox="1">
              <a:spLocks noChangeArrowheads="1"/>
            </p:cNvSpPr>
            <p:nvPr/>
          </p:nvSpPr>
          <p:spPr bwMode="auto">
            <a:xfrm>
              <a:off x="432" y="3425"/>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1 2 4</a:t>
              </a:r>
              <a:endParaRPr lang="en-US" altLang="en-US" sz="2000" b="0">
                <a:latin typeface="Times New Roman" pitchFamily="18" charset="0"/>
              </a:endParaRPr>
            </a:p>
          </p:txBody>
        </p:sp>
      </p:grpSp>
      <p:grpSp>
        <p:nvGrpSpPr>
          <p:cNvPr id="38950" name="Group 58"/>
          <p:cNvGrpSpPr>
            <a:grpSpLocks/>
          </p:cNvGrpSpPr>
          <p:nvPr/>
        </p:nvGrpSpPr>
        <p:grpSpPr bwMode="auto">
          <a:xfrm>
            <a:off x="1685925" y="5651500"/>
            <a:ext cx="641350" cy="392113"/>
            <a:chOff x="432" y="3408"/>
            <a:chExt cx="486" cy="281"/>
          </a:xfrm>
        </p:grpSpPr>
        <p:sp>
          <p:nvSpPr>
            <p:cNvPr id="39038" name="Rectangle 59"/>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9039" name="Text Box 60"/>
            <p:cNvSpPr txBox="1">
              <a:spLocks noChangeArrowheads="1"/>
            </p:cNvSpPr>
            <p:nvPr/>
          </p:nvSpPr>
          <p:spPr bwMode="auto">
            <a:xfrm>
              <a:off x="432" y="3426"/>
              <a:ext cx="48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4 5 7</a:t>
              </a:r>
              <a:endParaRPr lang="en-US" altLang="en-US" sz="2000" b="0">
                <a:latin typeface="Times New Roman" pitchFamily="18" charset="0"/>
              </a:endParaRPr>
            </a:p>
          </p:txBody>
        </p:sp>
      </p:grpSp>
      <p:grpSp>
        <p:nvGrpSpPr>
          <p:cNvPr id="38951" name="Group 61"/>
          <p:cNvGrpSpPr>
            <a:grpSpLocks/>
          </p:cNvGrpSpPr>
          <p:nvPr/>
        </p:nvGrpSpPr>
        <p:grpSpPr bwMode="auto">
          <a:xfrm>
            <a:off x="2446338" y="5383213"/>
            <a:ext cx="641350" cy="390525"/>
            <a:chOff x="432" y="3408"/>
            <a:chExt cx="486" cy="280"/>
          </a:xfrm>
        </p:grpSpPr>
        <p:sp>
          <p:nvSpPr>
            <p:cNvPr id="39036" name="Rectangle 62"/>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9037" name="Text Box 63"/>
            <p:cNvSpPr txBox="1">
              <a:spLocks noChangeArrowheads="1"/>
            </p:cNvSpPr>
            <p:nvPr/>
          </p:nvSpPr>
          <p:spPr bwMode="auto">
            <a:xfrm>
              <a:off x="432" y="3425"/>
              <a:ext cx="48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1 2 5</a:t>
              </a:r>
              <a:endParaRPr lang="en-US" altLang="en-US" sz="2000" b="0">
                <a:latin typeface="Times New Roman" pitchFamily="18" charset="0"/>
              </a:endParaRPr>
            </a:p>
          </p:txBody>
        </p:sp>
      </p:grpSp>
      <p:grpSp>
        <p:nvGrpSpPr>
          <p:cNvPr id="38952" name="Group 64"/>
          <p:cNvGrpSpPr>
            <a:grpSpLocks/>
          </p:cNvGrpSpPr>
          <p:nvPr/>
        </p:nvGrpSpPr>
        <p:grpSpPr bwMode="auto">
          <a:xfrm>
            <a:off x="2446338" y="5718175"/>
            <a:ext cx="641350" cy="388938"/>
            <a:chOff x="432" y="3408"/>
            <a:chExt cx="486" cy="278"/>
          </a:xfrm>
        </p:grpSpPr>
        <p:sp>
          <p:nvSpPr>
            <p:cNvPr id="39034" name="Rectangle 65"/>
            <p:cNvSpPr>
              <a:spLocks noChangeArrowheads="1"/>
            </p:cNvSpPr>
            <p:nvPr/>
          </p:nvSpPr>
          <p:spPr bwMode="auto">
            <a:xfrm>
              <a:off x="432" y="3408"/>
              <a:ext cx="480" cy="240"/>
            </a:xfrm>
            <a:prstGeom prst="rect">
              <a:avLst/>
            </a:prstGeom>
            <a:solidFill>
              <a:srgbClr val="FFFF99"/>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9035" name="Text Box 66"/>
            <p:cNvSpPr txBox="1">
              <a:spLocks noChangeArrowheads="1"/>
            </p:cNvSpPr>
            <p:nvPr/>
          </p:nvSpPr>
          <p:spPr bwMode="auto">
            <a:xfrm>
              <a:off x="432" y="3424"/>
              <a:ext cx="48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4 5 8</a:t>
              </a:r>
              <a:endParaRPr lang="en-US" altLang="en-US" sz="2000" b="0">
                <a:latin typeface="Times New Roman" pitchFamily="18" charset="0"/>
              </a:endParaRPr>
            </a:p>
          </p:txBody>
        </p:sp>
      </p:grpSp>
      <p:sp>
        <p:nvSpPr>
          <p:cNvPr id="38953" name="Rectangle 67"/>
          <p:cNvSpPr>
            <a:spLocks noChangeArrowheads="1"/>
          </p:cNvSpPr>
          <p:nvPr/>
        </p:nvSpPr>
        <p:spPr bwMode="auto">
          <a:xfrm>
            <a:off x="4030663" y="2362200"/>
            <a:ext cx="254000" cy="403225"/>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954" name="Line 68"/>
          <p:cNvSpPr>
            <a:spLocks noChangeShapeType="1"/>
          </p:cNvSpPr>
          <p:nvPr/>
        </p:nvSpPr>
        <p:spPr bwMode="auto">
          <a:xfrm>
            <a:off x="4030663" y="2497138"/>
            <a:ext cx="25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955" name="Line 69"/>
          <p:cNvSpPr>
            <a:spLocks noChangeShapeType="1"/>
          </p:cNvSpPr>
          <p:nvPr/>
        </p:nvSpPr>
        <p:spPr bwMode="auto">
          <a:xfrm>
            <a:off x="4030663" y="2630488"/>
            <a:ext cx="25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8956" name="Group 70"/>
          <p:cNvGrpSpPr>
            <a:grpSpLocks/>
          </p:cNvGrpSpPr>
          <p:nvPr/>
        </p:nvGrpSpPr>
        <p:grpSpPr bwMode="auto">
          <a:xfrm>
            <a:off x="7185025" y="1295400"/>
            <a:ext cx="1654175" cy="1692275"/>
            <a:chOff x="96" y="1097"/>
            <a:chExt cx="1141" cy="1122"/>
          </a:xfrm>
        </p:grpSpPr>
        <p:sp>
          <p:nvSpPr>
            <p:cNvPr id="39021" name="Text Box 71"/>
            <p:cNvSpPr txBox="1">
              <a:spLocks noChangeArrowheads="1"/>
            </p:cNvSpPr>
            <p:nvPr/>
          </p:nvSpPr>
          <p:spPr bwMode="auto">
            <a:xfrm>
              <a:off x="96" y="1776"/>
              <a:ext cx="3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1,4,7</a:t>
              </a:r>
              <a:endParaRPr lang="en-US" altLang="en-US" sz="1400" b="0">
                <a:latin typeface="Times New Roman" pitchFamily="18" charset="0"/>
              </a:endParaRPr>
            </a:p>
          </p:txBody>
        </p:sp>
        <p:grpSp>
          <p:nvGrpSpPr>
            <p:cNvPr id="39022" name="Group 72"/>
            <p:cNvGrpSpPr>
              <a:grpSpLocks/>
            </p:cNvGrpSpPr>
            <p:nvPr/>
          </p:nvGrpSpPr>
          <p:grpSpPr bwMode="auto">
            <a:xfrm>
              <a:off x="144" y="1097"/>
              <a:ext cx="1093" cy="1122"/>
              <a:chOff x="144" y="1097"/>
              <a:chExt cx="1093" cy="1122"/>
            </a:xfrm>
          </p:grpSpPr>
          <p:sp>
            <p:nvSpPr>
              <p:cNvPr id="39023" name="Text Box 73"/>
              <p:cNvSpPr txBox="1">
                <a:spLocks noChangeArrowheads="1"/>
              </p:cNvSpPr>
              <p:nvPr/>
            </p:nvSpPr>
            <p:spPr bwMode="auto">
              <a:xfrm>
                <a:off x="369" y="1097"/>
                <a:ext cx="127"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b="0">
                  <a:latin typeface="Wingdings" pitchFamily="2" charset="2"/>
                </a:endParaRPr>
              </a:p>
            </p:txBody>
          </p:sp>
          <p:grpSp>
            <p:nvGrpSpPr>
              <p:cNvPr id="39024" name="Group 74"/>
              <p:cNvGrpSpPr>
                <a:grpSpLocks/>
              </p:cNvGrpSpPr>
              <p:nvPr/>
            </p:nvGrpSpPr>
            <p:grpSpPr bwMode="auto">
              <a:xfrm>
                <a:off x="528" y="1392"/>
                <a:ext cx="240" cy="384"/>
                <a:chOff x="2064" y="1872"/>
                <a:chExt cx="192" cy="288"/>
              </a:xfrm>
            </p:grpSpPr>
            <p:sp>
              <p:nvSpPr>
                <p:cNvPr id="39031" name="Rectangle 75"/>
                <p:cNvSpPr>
                  <a:spLocks noChangeArrowheads="1"/>
                </p:cNvSpPr>
                <p:nvPr/>
              </p:nvSpPr>
              <p:spPr bwMode="auto">
                <a:xfrm>
                  <a:off x="2064" y="1872"/>
                  <a:ext cx="192" cy="288"/>
                </a:xfrm>
                <a:prstGeom prst="rect">
                  <a:avLst/>
                </a:prstGeom>
                <a:solidFill>
                  <a:schemeClr val="accent1"/>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9032" name="Line 76"/>
                <p:cNvSpPr>
                  <a:spLocks noChangeShapeType="1"/>
                </p:cNvSpPr>
                <p:nvPr/>
              </p:nvSpPr>
              <p:spPr bwMode="auto">
                <a:xfrm>
                  <a:off x="2064" y="196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033" name="Line 77"/>
                <p:cNvSpPr>
                  <a:spLocks noChangeShapeType="1"/>
                </p:cNvSpPr>
                <p:nvPr/>
              </p:nvSpPr>
              <p:spPr bwMode="auto">
                <a:xfrm>
                  <a:off x="2064" y="206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9025" name="Line 78"/>
              <p:cNvSpPr>
                <a:spLocks noChangeShapeType="1"/>
              </p:cNvSpPr>
              <p:nvPr/>
            </p:nvSpPr>
            <p:spPr bwMode="auto">
              <a:xfrm flipH="1">
                <a:off x="144" y="1776"/>
                <a:ext cx="485"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026" name="Line 79"/>
              <p:cNvSpPr>
                <a:spLocks noChangeShapeType="1"/>
              </p:cNvSpPr>
              <p:nvPr/>
            </p:nvSpPr>
            <p:spPr bwMode="auto">
              <a:xfrm>
                <a:off x="624" y="1776"/>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027" name="Line 80"/>
              <p:cNvSpPr>
                <a:spLocks noChangeShapeType="1"/>
              </p:cNvSpPr>
              <p:nvPr/>
            </p:nvSpPr>
            <p:spPr bwMode="auto">
              <a:xfrm>
                <a:off x="629" y="1776"/>
                <a:ext cx="427"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028" name="Text Box 81"/>
              <p:cNvSpPr txBox="1">
                <a:spLocks noChangeArrowheads="1"/>
              </p:cNvSpPr>
              <p:nvPr/>
            </p:nvSpPr>
            <p:spPr bwMode="auto">
              <a:xfrm>
                <a:off x="289" y="2017"/>
                <a:ext cx="3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2,5,8</a:t>
                </a:r>
                <a:endParaRPr lang="en-US" altLang="en-US" sz="1400" b="0">
                  <a:latin typeface="Times New Roman" pitchFamily="18" charset="0"/>
                </a:endParaRPr>
              </a:p>
            </p:txBody>
          </p:sp>
          <p:sp>
            <p:nvSpPr>
              <p:cNvPr id="39029" name="Text Box 82"/>
              <p:cNvSpPr txBox="1">
                <a:spLocks noChangeArrowheads="1"/>
              </p:cNvSpPr>
              <p:nvPr/>
            </p:nvSpPr>
            <p:spPr bwMode="auto">
              <a:xfrm>
                <a:off x="865" y="1776"/>
                <a:ext cx="3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latin typeface="Times New Roman" pitchFamily="18" charset="0"/>
                  </a:rPr>
                  <a:t>3,6,9</a:t>
                </a:r>
              </a:p>
            </p:txBody>
          </p:sp>
          <p:sp>
            <p:nvSpPr>
              <p:cNvPr id="39030" name="Text Box 83"/>
              <p:cNvSpPr txBox="1">
                <a:spLocks noChangeArrowheads="1"/>
              </p:cNvSpPr>
              <p:nvPr/>
            </p:nvSpPr>
            <p:spPr bwMode="auto">
              <a:xfrm>
                <a:off x="192" y="1152"/>
                <a:ext cx="950"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b="0">
                    <a:latin typeface="Times New Roman" pitchFamily="18" charset="0"/>
                  </a:rPr>
                  <a:t>Hash Function</a:t>
                </a:r>
                <a:endParaRPr lang="en-US" altLang="en-US" b="0">
                  <a:latin typeface="Times New Roman" pitchFamily="18" charset="0"/>
                </a:endParaRPr>
              </a:p>
            </p:txBody>
          </p:sp>
        </p:grpSp>
      </p:grpSp>
      <p:grpSp>
        <p:nvGrpSpPr>
          <p:cNvPr id="38957" name="Group 84"/>
          <p:cNvGrpSpPr>
            <a:grpSpLocks/>
          </p:cNvGrpSpPr>
          <p:nvPr/>
        </p:nvGrpSpPr>
        <p:grpSpPr bwMode="auto">
          <a:xfrm>
            <a:off x="3603625" y="1447800"/>
            <a:ext cx="1073150" cy="396875"/>
            <a:chOff x="4416" y="1440"/>
            <a:chExt cx="676" cy="250"/>
          </a:xfrm>
        </p:grpSpPr>
        <p:sp>
          <p:nvSpPr>
            <p:cNvPr id="39019" name="Rectangle 85"/>
            <p:cNvSpPr>
              <a:spLocks noChangeArrowheads="1"/>
            </p:cNvSpPr>
            <p:nvPr/>
          </p:nvSpPr>
          <p:spPr bwMode="auto">
            <a:xfrm>
              <a:off x="4416" y="1440"/>
              <a:ext cx="672" cy="213"/>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9020" name="Text Box 86"/>
            <p:cNvSpPr txBox="1">
              <a:spLocks noChangeArrowheads="1"/>
            </p:cNvSpPr>
            <p:nvPr/>
          </p:nvSpPr>
          <p:spPr bwMode="auto">
            <a:xfrm>
              <a:off x="4416" y="1440"/>
              <a:ext cx="6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1 2 3 5 6</a:t>
              </a:r>
            </a:p>
          </p:txBody>
        </p:sp>
      </p:grpSp>
      <p:sp>
        <p:nvSpPr>
          <p:cNvPr id="38958" name="Line 87"/>
          <p:cNvSpPr>
            <a:spLocks noChangeShapeType="1"/>
          </p:cNvSpPr>
          <p:nvPr/>
        </p:nvSpPr>
        <p:spPr bwMode="auto">
          <a:xfrm>
            <a:off x="4137025" y="1828800"/>
            <a:ext cx="0" cy="4572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59" name="Line 88"/>
          <p:cNvSpPr>
            <a:spLocks noChangeShapeType="1"/>
          </p:cNvSpPr>
          <p:nvPr/>
        </p:nvSpPr>
        <p:spPr bwMode="auto">
          <a:xfrm>
            <a:off x="2689225" y="2590800"/>
            <a:ext cx="76200" cy="7620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60" name="Line 89"/>
          <p:cNvSpPr>
            <a:spLocks noChangeShapeType="1"/>
          </p:cNvSpPr>
          <p:nvPr/>
        </p:nvSpPr>
        <p:spPr bwMode="auto">
          <a:xfrm flipH="1">
            <a:off x="4213225" y="2667000"/>
            <a:ext cx="990600" cy="7620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61" name="Line 90"/>
          <p:cNvSpPr>
            <a:spLocks noChangeShapeType="1"/>
          </p:cNvSpPr>
          <p:nvPr/>
        </p:nvSpPr>
        <p:spPr bwMode="auto">
          <a:xfrm flipH="1">
            <a:off x="5584825" y="3200400"/>
            <a:ext cx="762000" cy="1524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38962" name="Group 91"/>
          <p:cNvGrpSpPr>
            <a:grpSpLocks/>
          </p:cNvGrpSpPr>
          <p:nvPr/>
        </p:nvGrpSpPr>
        <p:grpSpPr bwMode="auto">
          <a:xfrm>
            <a:off x="250825" y="2514600"/>
            <a:ext cx="1377950" cy="396875"/>
            <a:chOff x="0" y="1728"/>
            <a:chExt cx="868" cy="250"/>
          </a:xfrm>
        </p:grpSpPr>
        <p:grpSp>
          <p:nvGrpSpPr>
            <p:cNvPr id="39013" name="Group 92"/>
            <p:cNvGrpSpPr>
              <a:grpSpLocks/>
            </p:cNvGrpSpPr>
            <p:nvPr/>
          </p:nvGrpSpPr>
          <p:grpSpPr bwMode="auto">
            <a:xfrm>
              <a:off x="432" y="1728"/>
              <a:ext cx="436" cy="250"/>
              <a:chOff x="432" y="1728"/>
              <a:chExt cx="436" cy="250"/>
            </a:xfrm>
          </p:grpSpPr>
          <p:sp>
            <p:nvSpPr>
              <p:cNvPr id="39017" name="Rectangle 93"/>
              <p:cNvSpPr>
                <a:spLocks noChangeArrowheads="1"/>
              </p:cNvSpPr>
              <p:nvPr/>
            </p:nvSpPr>
            <p:spPr bwMode="auto">
              <a:xfrm>
                <a:off x="432" y="1728"/>
                <a:ext cx="432" cy="205"/>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9018" name="Text Box 94"/>
              <p:cNvSpPr txBox="1">
                <a:spLocks noChangeArrowheads="1"/>
              </p:cNvSpPr>
              <p:nvPr/>
            </p:nvSpPr>
            <p:spPr bwMode="auto">
              <a:xfrm>
                <a:off x="432" y="1728"/>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3 5 6</a:t>
                </a:r>
              </a:p>
            </p:txBody>
          </p:sp>
        </p:grpSp>
        <p:grpSp>
          <p:nvGrpSpPr>
            <p:cNvPr id="39014" name="Group 95"/>
            <p:cNvGrpSpPr>
              <a:grpSpLocks/>
            </p:cNvGrpSpPr>
            <p:nvPr/>
          </p:nvGrpSpPr>
          <p:grpSpPr bwMode="auto">
            <a:xfrm>
              <a:off x="0" y="1728"/>
              <a:ext cx="446" cy="250"/>
              <a:chOff x="336" y="1440"/>
              <a:chExt cx="446" cy="250"/>
            </a:xfrm>
          </p:grpSpPr>
          <p:sp>
            <p:nvSpPr>
              <p:cNvPr id="39015" name="Rectangle 96"/>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9016" name="Text Box 97"/>
              <p:cNvSpPr txBox="1">
                <a:spLocks noChangeArrowheads="1"/>
              </p:cNvSpPr>
              <p:nvPr/>
            </p:nvSpPr>
            <p:spPr bwMode="auto">
              <a:xfrm>
                <a:off x="336" y="1440"/>
                <a:ext cx="4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2 +</a:t>
                </a:r>
              </a:p>
            </p:txBody>
          </p:sp>
        </p:grpSp>
      </p:grpSp>
      <p:grpSp>
        <p:nvGrpSpPr>
          <p:cNvPr id="38963" name="Group 98"/>
          <p:cNvGrpSpPr>
            <a:grpSpLocks/>
          </p:cNvGrpSpPr>
          <p:nvPr/>
        </p:nvGrpSpPr>
        <p:grpSpPr bwMode="auto">
          <a:xfrm>
            <a:off x="250825" y="3124200"/>
            <a:ext cx="1187450" cy="396875"/>
            <a:chOff x="0" y="2160"/>
            <a:chExt cx="748" cy="250"/>
          </a:xfrm>
        </p:grpSpPr>
        <p:grpSp>
          <p:nvGrpSpPr>
            <p:cNvPr id="39007" name="Group 99"/>
            <p:cNvGrpSpPr>
              <a:grpSpLocks/>
            </p:cNvGrpSpPr>
            <p:nvPr/>
          </p:nvGrpSpPr>
          <p:grpSpPr bwMode="auto">
            <a:xfrm>
              <a:off x="432" y="2160"/>
              <a:ext cx="316" cy="250"/>
              <a:chOff x="4416" y="1440"/>
              <a:chExt cx="685" cy="260"/>
            </a:xfrm>
          </p:grpSpPr>
          <p:sp>
            <p:nvSpPr>
              <p:cNvPr id="39011" name="Rectangle 100"/>
              <p:cNvSpPr>
                <a:spLocks noChangeArrowheads="1"/>
              </p:cNvSpPr>
              <p:nvPr/>
            </p:nvSpPr>
            <p:spPr bwMode="auto">
              <a:xfrm>
                <a:off x="4416" y="1440"/>
                <a:ext cx="672" cy="213"/>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9012" name="Text Box 101"/>
              <p:cNvSpPr txBox="1">
                <a:spLocks noChangeArrowheads="1"/>
              </p:cNvSpPr>
              <p:nvPr/>
            </p:nvSpPr>
            <p:spPr bwMode="auto">
              <a:xfrm>
                <a:off x="4416" y="1440"/>
                <a:ext cx="685"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5 6</a:t>
                </a:r>
              </a:p>
            </p:txBody>
          </p:sp>
        </p:grpSp>
        <p:grpSp>
          <p:nvGrpSpPr>
            <p:cNvPr id="39008" name="Group 102"/>
            <p:cNvGrpSpPr>
              <a:grpSpLocks/>
            </p:cNvGrpSpPr>
            <p:nvPr/>
          </p:nvGrpSpPr>
          <p:grpSpPr bwMode="auto">
            <a:xfrm>
              <a:off x="0" y="2160"/>
              <a:ext cx="446" cy="250"/>
              <a:chOff x="336" y="1440"/>
              <a:chExt cx="446" cy="250"/>
            </a:xfrm>
          </p:grpSpPr>
          <p:sp>
            <p:nvSpPr>
              <p:cNvPr id="39009" name="Rectangle 103"/>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9010" name="Text Box 104"/>
              <p:cNvSpPr txBox="1">
                <a:spLocks noChangeArrowheads="1"/>
              </p:cNvSpPr>
              <p:nvPr/>
            </p:nvSpPr>
            <p:spPr bwMode="auto">
              <a:xfrm>
                <a:off x="336" y="1440"/>
                <a:ext cx="4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3 +</a:t>
                </a:r>
              </a:p>
            </p:txBody>
          </p:sp>
        </p:grpSp>
      </p:grpSp>
      <p:grpSp>
        <p:nvGrpSpPr>
          <p:cNvPr id="38964" name="Group 105"/>
          <p:cNvGrpSpPr>
            <a:grpSpLocks/>
          </p:cNvGrpSpPr>
          <p:nvPr/>
        </p:nvGrpSpPr>
        <p:grpSpPr bwMode="auto">
          <a:xfrm>
            <a:off x="250825" y="3733800"/>
            <a:ext cx="990600" cy="396875"/>
            <a:chOff x="0" y="2544"/>
            <a:chExt cx="624" cy="250"/>
          </a:xfrm>
        </p:grpSpPr>
        <p:grpSp>
          <p:nvGrpSpPr>
            <p:cNvPr id="39001" name="Group 106"/>
            <p:cNvGrpSpPr>
              <a:grpSpLocks/>
            </p:cNvGrpSpPr>
            <p:nvPr/>
          </p:nvGrpSpPr>
          <p:grpSpPr bwMode="auto">
            <a:xfrm>
              <a:off x="417" y="2544"/>
              <a:ext cx="207" cy="250"/>
              <a:chOff x="4363" y="1440"/>
              <a:chExt cx="725" cy="260"/>
            </a:xfrm>
          </p:grpSpPr>
          <p:sp>
            <p:nvSpPr>
              <p:cNvPr id="39005" name="Rectangle 107"/>
              <p:cNvSpPr>
                <a:spLocks noChangeArrowheads="1"/>
              </p:cNvSpPr>
              <p:nvPr/>
            </p:nvSpPr>
            <p:spPr bwMode="auto">
              <a:xfrm>
                <a:off x="4416" y="1440"/>
                <a:ext cx="672" cy="213"/>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9006" name="Text Box 108"/>
              <p:cNvSpPr txBox="1">
                <a:spLocks noChangeArrowheads="1"/>
              </p:cNvSpPr>
              <p:nvPr/>
            </p:nvSpPr>
            <p:spPr bwMode="auto">
              <a:xfrm>
                <a:off x="4363" y="1440"/>
                <a:ext cx="687"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6</a:t>
                </a:r>
              </a:p>
            </p:txBody>
          </p:sp>
        </p:grpSp>
        <p:grpSp>
          <p:nvGrpSpPr>
            <p:cNvPr id="39002" name="Group 109"/>
            <p:cNvGrpSpPr>
              <a:grpSpLocks/>
            </p:cNvGrpSpPr>
            <p:nvPr/>
          </p:nvGrpSpPr>
          <p:grpSpPr bwMode="auto">
            <a:xfrm>
              <a:off x="0" y="2544"/>
              <a:ext cx="446" cy="250"/>
              <a:chOff x="336" y="1440"/>
              <a:chExt cx="446" cy="250"/>
            </a:xfrm>
          </p:grpSpPr>
          <p:sp>
            <p:nvSpPr>
              <p:cNvPr id="39003" name="Rectangle 110"/>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9004" name="Text Box 111"/>
              <p:cNvSpPr txBox="1">
                <a:spLocks noChangeArrowheads="1"/>
              </p:cNvSpPr>
              <p:nvPr/>
            </p:nvSpPr>
            <p:spPr bwMode="auto">
              <a:xfrm>
                <a:off x="336" y="1440"/>
                <a:ext cx="4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5 +</a:t>
                </a:r>
              </a:p>
            </p:txBody>
          </p:sp>
        </p:grpSp>
      </p:grpSp>
      <p:sp>
        <p:nvSpPr>
          <p:cNvPr id="38965" name="Line 112"/>
          <p:cNvSpPr>
            <a:spLocks noChangeShapeType="1"/>
          </p:cNvSpPr>
          <p:nvPr/>
        </p:nvSpPr>
        <p:spPr bwMode="auto">
          <a:xfrm>
            <a:off x="1622425" y="2819400"/>
            <a:ext cx="1066800" cy="1447800"/>
          </a:xfrm>
          <a:prstGeom prst="line">
            <a:avLst/>
          </a:prstGeom>
          <a:noFill/>
          <a:ln w="38100">
            <a:solidFill>
              <a:srgbClr val="FF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66" name="Line 113"/>
          <p:cNvSpPr>
            <a:spLocks noChangeShapeType="1"/>
          </p:cNvSpPr>
          <p:nvPr/>
        </p:nvSpPr>
        <p:spPr bwMode="auto">
          <a:xfrm>
            <a:off x="1219200" y="3886200"/>
            <a:ext cx="1295400" cy="457200"/>
          </a:xfrm>
          <a:prstGeom prst="line">
            <a:avLst/>
          </a:prstGeom>
          <a:noFill/>
          <a:ln w="38100">
            <a:solidFill>
              <a:srgbClr val="FF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67" name="Line 114"/>
          <p:cNvSpPr>
            <a:spLocks noChangeShapeType="1"/>
          </p:cNvSpPr>
          <p:nvPr/>
        </p:nvSpPr>
        <p:spPr bwMode="auto">
          <a:xfrm>
            <a:off x="1470025" y="3429000"/>
            <a:ext cx="1676400" cy="838200"/>
          </a:xfrm>
          <a:prstGeom prst="line">
            <a:avLst/>
          </a:prstGeom>
          <a:noFill/>
          <a:ln w="38100">
            <a:solidFill>
              <a:srgbClr val="FF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38968" name="Group 115"/>
          <p:cNvGrpSpPr>
            <a:grpSpLocks/>
          </p:cNvGrpSpPr>
          <p:nvPr/>
        </p:nvGrpSpPr>
        <p:grpSpPr bwMode="auto">
          <a:xfrm>
            <a:off x="4746625" y="2286000"/>
            <a:ext cx="1149350" cy="396875"/>
            <a:chOff x="2880" y="1632"/>
            <a:chExt cx="724" cy="250"/>
          </a:xfrm>
        </p:grpSpPr>
        <p:grpSp>
          <p:nvGrpSpPr>
            <p:cNvPr id="38995" name="Group 116"/>
            <p:cNvGrpSpPr>
              <a:grpSpLocks/>
            </p:cNvGrpSpPr>
            <p:nvPr/>
          </p:nvGrpSpPr>
          <p:grpSpPr bwMode="auto">
            <a:xfrm>
              <a:off x="3168" y="1632"/>
              <a:ext cx="436" cy="250"/>
              <a:chOff x="4416" y="1440"/>
              <a:chExt cx="678" cy="260"/>
            </a:xfrm>
          </p:grpSpPr>
          <p:sp>
            <p:nvSpPr>
              <p:cNvPr id="38999" name="Rectangle 117"/>
              <p:cNvSpPr>
                <a:spLocks noChangeArrowheads="1"/>
              </p:cNvSpPr>
              <p:nvPr/>
            </p:nvSpPr>
            <p:spPr bwMode="auto">
              <a:xfrm>
                <a:off x="4416" y="1440"/>
                <a:ext cx="672" cy="213"/>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9000" name="Text Box 118"/>
              <p:cNvSpPr txBox="1">
                <a:spLocks noChangeArrowheads="1"/>
              </p:cNvSpPr>
              <p:nvPr/>
            </p:nvSpPr>
            <p:spPr bwMode="auto">
              <a:xfrm>
                <a:off x="4416" y="1440"/>
                <a:ext cx="67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3 5 6</a:t>
                </a:r>
              </a:p>
            </p:txBody>
          </p:sp>
        </p:grpSp>
        <p:grpSp>
          <p:nvGrpSpPr>
            <p:cNvPr id="38996" name="Group 119"/>
            <p:cNvGrpSpPr>
              <a:grpSpLocks/>
            </p:cNvGrpSpPr>
            <p:nvPr/>
          </p:nvGrpSpPr>
          <p:grpSpPr bwMode="auto">
            <a:xfrm>
              <a:off x="2880" y="1632"/>
              <a:ext cx="326" cy="250"/>
              <a:chOff x="336" y="1440"/>
              <a:chExt cx="489" cy="250"/>
            </a:xfrm>
          </p:grpSpPr>
          <p:sp>
            <p:nvSpPr>
              <p:cNvPr id="38997" name="Rectangle 120"/>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8998" name="Text Box 121"/>
              <p:cNvSpPr txBox="1">
                <a:spLocks noChangeArrowheads="1"/>
              </p:cNvSpPr>
              <p:nvPr/>
            </p:nvSpPr>
            <p:spPr bwMode="auto">
              <a:xfrm>
                <a:off x="336" y="1440"/>
                <a:ext cx="4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2 +</a:t>
                </a:r>
              </a:p>
            </p:txBody>
          </p:sp>
        </p:grpSp>
      </p:grpSp>
      <p:grpSp>
        <p:nvGrpSpPr>
          <p:cNvPr id="38969" name="Group 122"/>
          <p:cNvGrpSpPr>
            <a:grpSpLocks/>
          </p:cNvGrpSpPr>
          <p:nvPr/>
        </p:nvGrpSpPr>
        <p:grpSpPr bwMode="auto">
          <a:xfrm>
            <a:off x="6042025" y="2819400"/>
            <a:ext cx="958850" cy="396875"/>
            <a:chOff x="3792" y="2064"/>
            <a:chExt cx="604" cy="250"/>
          </a:xfrm>
        </p:grpSpPr>
        <p:grpSp>
          <p:nvGrpSpPr>
            <p:cNvPr id="38989" name="Group 123"/>
            <p:cNvGrpSpPr>
              <a:grpSpLocks/>
            </p:cNvGrpSpPr>
            <p:nvPr/>
          </p:nvGrpSpPr>
          <p:grpSpPr bwMode="auto">
            <a:xfrm>
              <a:off x="4080" y="2064"/>
              <a:ext cx="316" cy="250"/>
              <a:chOff x="4416" y="1440"/>
              <a:chExt cx="737" cy="260"/>
            </a:xfrm>
          </p:grpSpPr>
          <p:sp>
            <p:nvSpPr>
              <p:cNvPr id="38993" name="Rectangle 124"/>
              <p:cNvSpPr>
                <a:spLocks noChangeArrowheads="1"/>
              </p:cNvSpPr>
              <p:nvPr/>
            </p:nvSpPr>
            <p:spPr bwMode="auto">
              <a:xfrm>
                <a:off x="4416" y="1440"/>
                <a:ext cx="672" cy="213"/>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8994" name="Text Box 125"/>
              <p:cNvSpPr txBox="1">
                <a:spLocks noChangeArrowheads="1"/>
              </p:cNvSpPr>
              <p:nvPr/>
            </p:nvSpPr>
            <p:spPr bwMode="auto">
              <a:xfrm>
                <a:off x="4416" y="1440"/>
                <a:ext cx="737"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5 6</a:t>
                </a:r>
              </a:p>
            </p:txBody>
          </p:sp>
        </p:grpSp>
        <p:grpSp>
          <p:nvGrpSpPr>
            <p:cNvPr id="38990" name="Group 126"/>
            <p:cNvGrpSpPr>
              <a:grpSpLocks/>
            </p:cNvGrpSpPr>
            <p:nvPr/>
          </p:nvGrpSpPr>
          <p:grpSpPr bwMode="auto">
            <a:xfrm>
              <a:off x="3792" y="2064"/>
              <a:ext cx="326" cy="250"/>
              <a:chOff x="336" y="1440"/>
              <a:chExt cx="489" cy="250"/>
            </a:xfrm>
          </p:grpSpPr>
          <p:sp>
            <p:nvSpPr>
              <p:cNvPr id="38991" name="Rectangle 127"/>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8992" name="Text Box 128"/>
              <p:cNvSpPr txBox="1">
                <a:spLocks noChangeArrowheads="1"/>
              </p:cNvSpPr>
              <p:nvPr/>
            </p:nvSpPr>
            <p:spPr bwMode="auto">
              <a:xfrm>
                <a:off x="336" y="1440"/>
                <a:ext cx="4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3 +</a:t>
                </a:r>
              </a:p>
            </p:txBody>
          </p:sp>
        </p:grpSp>
      </p:grpSp>
      <p:grpSp>
        <p:nvGrpSpPr>
          <p:cNvPr id="38970" name="Group 129"/>
          <p:cNvGrpSpPr>
            <a:grpSpLocks/>
          </p:cNvGrpSpPr>
          <p:nvPr/>
        </p:nvGrpSpPr>
        <p:grpSpPr bwMode="auto">
          <a:xfrm>
            <a:off x="2003425" y="2133600"/>
            <a:ext cx="1371600" cy="396875"/>
            <a:chOff x="1344" y="1536"/>
            <a:chExt cx="863" cy="226"/>
          </a:xfrm>
        </p:grpSpPr>
        <p:grpSp>
          <p:nvGrpSpPr>
            <p:cNvPr id="38983" name="Group 130"/>
            <p:cNvGrpSpPr>
              <a:grpSpLocks/>
            </p:cNvGrpSpPr>
            <p:nvPr/>
          </p:nvGrpSpPr>
          <p:grpSpPr bwMode="auto">
            <a:xfrm>
              <a:off x="1344" y="1536"/>
              <a:ext cx="432" cy="226"/>
              <a:chOff x="336" y="1440"/>
              <a:chExt cx="432" cy="226"/>
            </a:xfrm>
          </p:grpSpPr>
          <p:sp>
            <p:nvSpPr>
              <p:cNvPr id="38987" name="Rectangle 131"/>
              <p:cNvSpPr>
                <a:spLocks noChangeArrowheads="1"/>
              </p:cNvSpPr>
              <p:nvPr/>
            </p:nvSpPr>
            <p:spPr bwMode="auto">
              <a:xfrm>
                <a:off x="336" y="1440"/>
                <a:ext cx="432" cy="205"/>
              </a:xfrm>
              <a:prstGeom prst="rect">
                <a:avLst/>
              </a:prstGeom>
              <a:solidFill>
                <a:srgbClr val="CCCC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8988" name="Text Box 132"/>
              <p:cNvSpPr txBox="1">
                <a:spLocks noChangeArrowheads="1"/>
              </p:cNvSpPr>
              <p:nvPr/>
            </p:nvSpPr>
            <p:spPr bwMode="auto">
              <a:xfrm>
                <a:off x="336" y="1440"/>
                <a:ext cx="32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1 +</a:t>
                </a:r>
              </a:p>
            </p:txBody>
          </p:sp>
        </p:grpSp>
        <p:grpSp>
          <p:nvGrpSpPr>
            <p:cNvPr id="38984" name="Group 133"/>
            <p:cNvGrpSpPr>
              <a:grpSpLocks/>
            </p:cNvGrpSpPr>
            <p:nvPr/>
          </p:nvGrpSpPr>
          <p:grpSpPr bwMode="auto">
            <a:xfrm>
              <a:off x="1632" y="1536"/>
              <a:ext cx="575" cy="226"/>
              <a:chOff x="432" y="1728"/>
              <a:chExt cx="432" cy="226"/>
            </a:xfrm>
          </p:grpSpPr>
          <p:sp>
            <p:nvSpPr>
              <p:cNvPr id="38985" name="Rectangle 134"/>
              <p:cNvSpPr>
                <a:spLocks noChangeArrowheads="1"/>
              </p:cNvSpPr>
              <p:nvPr/>
            </p:nvSpPr>
            <p:spPr bwMode="auto">
              <a:xfrm>
                <a:off x="432" y="1728"/>
                <a:ext cx="432" cy="205"/>
              </a:xfrm>
              <a:prstGeom prst="rect">
                <a:avLst/>
              </a:prstGeom>
              <a:solidFill>
                <a:srgbClr val="00FFFF"/>
              </a:solidFill>
              <a:ln w="9525">
                <a:solidFill>
                  <a:schemeClr val="tx1"/>
                </a:solidFill>
                <a:miter lim="800000"/>
                <a:headEnd/>
                <a:tailEnd/>
              </a:ln>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endParaRPr lang="en-US" altLang="en-US">
                  <a:latin typeface="Wingdings" pitchFamily="2" charset="2"/>
                </a:endParaRPr>
              </a:p>
            </p:txBody>
          </p:sp>
          <p:sp>
            <p:nvSpPr>
              <p:cNvPr id="38986" name="Text Box 135"/>
              <p:cNvSpPr txBox="1">
                <a:spLocks noChangeArrowheads="1"/>
              </p:cNvSpPr>
              <p:nvPr/>
            </p:nvSpPr>
            <p:spPr bwMode="auto">
              <a:xfrm>
                <a:off x="432" y="1728"/>
                <a:ext cx="417"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000" b="0">
                    <a:latin typeface="Times New Roman" pitchFamily="18" charset="0"/>
                  </a:rPr>
                  <a:t>2 3 5 6</a:t>
                </a:r>
              </a:p>
            </p:txBody>
          </p:sp>
        </p:grpSp>
      </p:grpSp>
      <p:sp>
        <p:nvSpPr>
          <p:cNvPr id="38971" name="Text Box 136"/>
          <p:cNvSpPr txBox="1">
            <a:spLocks noChangeArrowheads="1"/>
          </p:cNvSpPr>
          <p:nvPr/>
        </p:nvSpPr>
        <p:spPr bwMode="auto">
          <a:xfrm>
            <a:off x="4670425" y="1447800"/>
            <a:ext cx="1187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transaction</a:t>
            </a:r>
          </a:p>
        </p:txBody>
      </p:sp>
      <p:sp>
        <p:nvSpPr>
          <p:cNvPr id="38972" name="Rectangle 137"/>
          <p:cNvSpPr>
            <a:spLocks noChangeArrowheads="1"/>
          </p:cNvSpPr>
          <p:nvPr/>
        </p:nvSpPr>
        <p:spPr bwMode="auto">
          <a:xfrm>
            <a:off x="2362200" y="5257800"/>
            <a:ext cx="762000" cy="9144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973" name="Line 138"/>
          <p:cNvSpPr>
            <a:spLocks noChangeShapeType="1"/>
          </p:cNvSpPr>
          <p:nvPr/>
        </p:nvSpPr>
        <p:spPr bwMode="auto">
          <a:xfrm flipH="1">
            <a:off x="2743200" y="4800600"/>
            <a:ext cx="0" cy="457200"/>
          </a:xfrm>
          <a:prstGeom prst="line">
            <a:avLst/>
          </a:prstGeom>
          <a:noFill/>
          <a:ln w="4445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74" name="Line 139"/>
          <p:cNvSpPr>
            <a:spLocks noChangeShapeType="1"/>
          </p:cNvSpPr>
          <p:nvPr/>
        </p:nvSpPr>
        <p:spPr bwMode="auto">
          <a:xfrm>
            <a:off x="2743200" y="4800600"/>
            <a:ext cx="685800" cy="457200"/>
          </a:xfrm>
          <a:prstGeom prst="line">
            <a:avLst/>
          </a:prstGeom>
          <a:noFill/>
          <a:ln w="4445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75" name="Rectangle 140"/>
          <p:cNvSpPr>
            <a:spLocks noChangeArrowheads="1"/>
          </p:cNvSpPr>
          <p:nvPr/>
        </p:nvSpPr>
        <p:spPr bwMode="auto">
          <a:xfrm>
            <a:off x="3200400" y="5257800"/>
            <a:ext cx="762000" cy="5334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976" name="Rectangle 141"/>
          <p:cNvSpPr>
            <a:spLocks noChangeArrowheads="1"/>
          </p:cNvSpPr>
          <p:nvPr/>
        </p:nvSpPr>
        <p:spPr bwMode="auto">
          <a:xfrm>
            <a:off x="3886200" y="3429000"/>
            <a:ext cx="685800" cy="8382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977" name="Rectangle 142"/>
          <p:cNvSpPr>
            <a:spLocks noChangeArrowheads="1"/>
          </p:cNvSpPr>
          <p:nvPr/>
        </p:nvSpPr>
        <p:spPr bwMode="auto">
          <a:xfrm>
            <a:off x="3124200" y="4267200"/>
            <a:ext cx="685800" cy="4572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978" name="Line 143"/>
          <p:cNvSpPr>
            <a:spLocks noChangeShapeType="1"/>
          </p:cNvSpPr>
          <p:nvPr/>
        </p:nvSpPr>
        <p:spPr bwMode="auto">
          <a:xfrm>
            <a:off x="5638800" y="3886200"/>
            <a:ext cx="0" cy="609600"/>
          </a:xfrm>
          <a:prstGeom prst="line">
            <a:avLst/>
          </a:prstGeom>
          <a:noFill/>
          <a:ln w="4445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79" name="Line 144"/>
          <p:cNvSpPr>
            <a:spLocks noChangeShapeType="1"/>
          </p:cNvSpPr>
          <p:nvPr/>
        </p:nvSpPr>
        <p:spPr bwMode="auto">
          <a:xfrm>
            <a:off x="5715000" y="3886200"/>
            <a:ext cx="990600" cy="609600"/>
          </a:xfrm>
          <a:prstGeom prst="line">
            <a:avLst/>
          </a:prstGeom>
          <a:noFill/>
          <a:ln w="44450">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80" name="Rectangle 145"/>
          <p:cNvSpPr>
            <a:spLocks noChangeArrowheads="1"/>
          </p:cNvSpPr>
          <p:nvPr/>
        </p:nvSpPr>
        <p:spPr bwMode="auto">
          <a:xfrm>
            <a:off x="5181600" y="4495800"/>
            <a:ext cx="838200" cy="1143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981" name="Rectangle 146"/>
          <p:cNvSpPr>
            <a:spLocks noChangeArrowheads="1"/>
          </p:cNvSpPr>
          <p:nvPr/>
        </p:nvSpPr>
        <p:spPr bwMode="auto">
          <a:xfrm>
            <a:off x="6324600" y="4495800"/>
            <a:ext cx="838200" cy="8382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38982" name="Text Box 147"/>
          <p:cNvSpPr txBox="1">
            <a:spLocks noChangeArrowheads="1"/>
          </p:cNvSpPr>
          <p:nvPr/>
        </p:nvSpPr>
        <p:spPr bwMode="auto">
          <a:xfrm>
            <a:off x="4038600" y="5943600"/>
            <a:ext cx="4806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imes New Roman" pitchFamily="18" charset="0"/>
              </a:rPr>
              <a:t>Match transaction against 11 out of 15 candidates</a:t>
            </a:r>
          </a:p>
        </p:txBody>
      </p:sp>
    </p:spTree>
    <p:extLst>
      <p:ext uri="{BB962C8B-B14F-4D97-AF65-F5344CB8AC3E}">
        <p14:creationId xmlns:p14="http://schemas.microsoft.com/office/powerpoint/2010/main" val="1581029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a:t>Rule Generation</a:t>
            </a:r>
          </a:p>
        </p:txBody>
      </p:sp>
      <p:sp>
        <p:nvSpPr>
          <p:cNvPr id="1275907" name="Rectangle 3"/>
          <p:cNvSpPr>
            <a:spLocks noGrp="1" noChangeArrowheads="1"/>
          </p:cNvSpPr>
          <p:nvPr>
            <p:ph type="body" idx="1"/>
          </p:nvPr>
        </p:nvSpPr>
        <p:spPr/>
        <p:txBody>
          <a:bodyPr/>
          <a:lstStyle/>
          <a:p>
            <a:r>
              <a:rPr lang="en-US" altLang="en-US"/>
              <a:t>Given a frequent itemset L, find all non-empty subsets f </a:t>
            </a:r>
            <a:r>
              <a:rPr lang="en-US" altLang="en-US">
                <a:sym typeface="Symbol" pitchFamily="18" charset="2"/>
              </a:rPr>
              <a:t> L such that f  L – f satisfies the minimum confidence requirement</a:t>
            </a:r>
          </a:p>
          <a:p>
            <a:pPr lvl="1"/>
            <a:r>
              <a:rPr lang="en-US" altLang="en-US">
                <a:sym typeface="Symbol" pitchFamily="18" charset="2"/>
              </a:rPr>
              <a:t>If {A,B,C,D} is a frequent itemset, candidate rules:</a:t>
            </a:r>
          </a:p>
          <a:p>
            <a:pPr lvl="2">
              <a:buFont typeface="Wingdings" pitchFamily="2" charset="2"/>
              <a:buNone/>
            </a:pPr>
            <a:r>
              <a:rPr lang="en-US" altLang="en-US">
                <a:sym typeface="Symbol" pitchFamily="18" charset="2"/>
              </a:rPr>
              <a:t>ABC D, 	ABD C, 	ACD B, 	BCD A, </a:t>
            </a:r>
            <a:br>
              <a:rPr lang="en-US" altLang="en-US">
                <a:sym typeface="Symbol" pitchFamily="18" charset="2"/>
              </a:rPr>
            </a:br>
            <a:r>
              <a:rPr lang="en-US" altLang="en-US">
                <a:sym typeface="Symbol" pitchFamily="18" charset="2"/>
              </a:rPr>
              <a:t>A BCD,	B ACD,	C ABD, 	D ABC</a:t>
            </a:r>
            <a:br>
              <a:rPr lang="en-US" altLang="en-US">
                <a:sym typeface="Symbol" pitchFamily="18" charset="2"/>
              </a:rPr>
            </a:br>
            <a:r>
              <a:rPr lang="en-US" altLang="en-US">
                <a:sym typeface="Symbol" pitchFamily="18" charset="2"/>
              </a:rPr>
              <a:t>AB CD,	AC  BD, 	AD  BC, 	BC AD, </a:t>
            </a:r>
            <a:br>
              <a:rPr lang="en-US" altLang="en-US">
                <a:sym typeface="Symbol" pitchFamily="18" charset="2"/>
              </a:rPr>
            </a:br>
            <a:r>
              <a:rPr lang="en-US" altLang="en-US">
                <a:sym typeface="Symbol" pitchFamily="18" charset="2"/>
              </a:rPr>
              <a:t>BD AC, 	CD AB,	</a:t>
            </a:r>
            <a:br>
              <a:rPr lang="en-US" altLang="en-US">
                <a:sym typeface="Symbol" pitchFamily="18" charset="2"/>
              </a:rPr>
            </a:br>
            <a:endParaRPr lang="en-US" altLang="en-US" sz="1000">
              <a:sym typeface="Symbol" pitchFamily="18" charset="2"/>
            </a:endParaRPr>
          </a:p>
          <a:p>
            <a:r>
              <a:rPr lang="en-US" altLang="en-US"/>
              <a:t>If |L| = k, then there are 2</a:t>
            </a:r>
            <a:r>
              <a:rPr lang="en-US" altLang="en-US" baseline="30000"/>
              <a:t>k</a:t>
            </a:r>
            <a:r>
              <a:rPr lang="en-US" altLang="en-US"/>
              <a:t> – 2 candidate association rules (ignoring L </a:t>
            </a:r>
            <a:r>
              <a:rPr lang="en-US" altLang="en-US">
                <a:sym typeface="Symbol" pitchFamily="18" charset="2"/>
              </a:rPr>
              <a:t>  and   L)</a:t>
            </a:r>
          </a:p>
        </p:txBody>
      </p:sp>
    </p:spTree>
    <p:extLst>
      <p:ext uri="{BB962C8B-B14F-4D97-AF65-F5344CB8AC3E}">
        <p14:creationId xmlns:p14="http://schemas.microsoft.com/office/powerpoint/2010/main" val="32658290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759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7590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75907">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759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5907" grpId="0"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a:t>Rule Generation</a:t>
            </a:r>
          </a:p>
        </p:txBody>
      </p:sp>
      <p:sp>
        <p:nvSpPr>
          <p:cNvPr id="1276931" name="Rectangle 3"/>
          <p:cNvSpPr>
            <a:spLocks noGrp="1" noChangeArrowheads="1"/>
          </p:cNvSpPr>
          <p:nvPr>
            <p:ph type="body" idx="1"/>
          </p:nvPr>
        </p:nvSpPr>
        <p:spPr/>
        <p:txBody>
          <a:bodyPr/>
          <a:lstStyle/>
          <a:p>
            <a:r>
              <a:rPr lang="en-US" altLang="en-US">
                <a:sym typeface="Symbol" pitchFamily="18" charset="2"/>
              </a:rPr>
              <a:t>In general, confidence does not have an anti-monotone property</a:t>
            </a:r>
          </a:p>
          <a:p>
            <a:pPr lvl="1">
              <a:buFont typeface="Arial" charset="0"/>
              <a:buNone/>
            </a:pPr>
            <a:r>
              <a:rPr lang="en-US" altLang="en-US">
                <a:sym typeface="Symbol" pitchFamily="18" charset="2"/>
              </a:rPr>
              <a:t>	c(ABC D) can be larger or smaller than c(AB D)</a:t>
            </a:r>
          </a:p>
          <a:p>
            <a:pPr lvl="3"/>
            <a:endParaRPr lang="en-US" altLang="en-US">
              <a:sym typeface="Symbol" pitchFamily="18" charset="2"/>
            </a:endParaRPr>
          </a:p>
          <a:p>
            <a:r>
              <a:rPr lang="en-US" altLang="en-US">
                <a:sym typeface="Symbol" pitchFamily="18" charset="2"/>
              </a:rPr>
              <a:t>But confidence of rules generated from the same itemset has an anti-monotone property</a:t>
            </a:r>
          </a:p>
          <a:p>
            <a:pPr lvl="1"/>
            <a:r>
              <a:rPr lang="en-US" altLang="en-US">
                <a:sym typeface="Symbol" pitchFamily="18" charset="2"/>
              </a:rPr>
              <a:t>E.g., Suppose {A,B,C,D} is a frequent 4-itemset:</a:t>
            </a:r>
            <a:br>
              <a:rPr lang="en-US" altLang="en-US">
                <a:sym typeface="Symbol" pitchFamily="18" charset="2"/>
              </a:rPr>
            </a:br>
            <a:r>
              <a:rPr lang="en-US" altLang="en-US">
                <a:sym typeface="Symbol" pitchFamily="18" charset="2"/>
              </a:rPr>
              <a:t> </a:t>
            </a:r>
            <a:br>
              <a:rPr lang="en-US" altLang="en-US">
                <a:sym typeface="Symbol" pitchFamily="18" charset="2"/>
              </a:rPr>
            </a:br>
            <a:r>
              <a:rPr lang="en-US" altLang="en-US">
                <a:sym typeface="Symbol" pitchFamily="18" charset="2"/>
              </a:rPr>
              <a:t>		c(ABC  D)  c(AB  CD)  c(A  BCD)</a:t>
            </a:r>
          </a:p>
          <a:p>
            <a:pPr lvl="1">
              <a:buFont typeface="Arial" charset="0"/>
              <a:buNone/>
            </a:pPr>
            <a:r>
              <a:rPr lang="en-US" altLang="en-US">
                <a:sym typeface="Symbol" pitchFamily="18" charset="2"/>
              </a:rPr>
              <a:t> </a:t>
            </a:r>
          </a:p>
          <a:p>
            <a:pPr lvl="1"/>
            <a:r>
              <a:rPr lang="en-US" altLang="en-US">
                <a:sym typeface="Symbol" pitchFamily="18" charset="2"/>
              </a:rPr>
              <a:t> Confidence is anti-monotone w.r.t. number of items on the RHS of the rule</a:t>
            </a:r>
          </a:p>
        </p:txBody>
      </p:sp>
    </p:spTree>
    <p:extLst>
      <p:ext uri="{BB962C8B-B14F-4D97-AF65-F5344CB8AC3E}">
        <p14:creationId xmlns:p14="http://schemas.microsoft.com/office/powerpoint/2010/main" val="28214053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769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7693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7693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7693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76931">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769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6931" grpId="0" build="p" bldLvl="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a:t>Rule Generation for Apriori Algorithm</a:t>
            </a:r>
          </a:p>
        </p:txBody>
      </p:sp>
      <p:graphicFrame>
        <p:nvGraphicFramePr>
          <p:cNvPr id="41987" name="Object 2"/>
          <p:cNvGraphicFramePr>
            <a:graphicFrameLocks noChangeAspect="1"/>
          </p:cNvGraphicFramePr>
          <p:nvPr/>
        </p:nvGraphicFramePr>
        <p:xfrm>
          <a:off x="914400" y="1419225"/>
          <a:ext cx="7620000" cy="4295775"/>
        </p:xfrm>
        <a:graphic>
          <a:graphicData uri="http://schemas.openxmlformats.org/presentationml/2006/ole">
            <mc:AlternateContent xmlns:mc="http://schemas.openxmlformats.org/markup-compatibility/2006">
              <mc:Choice xmlns:v="urn:schemas-microsoft-com:vml" Requires="v">
                <p:oleObj name="Visio" r:id="rId2" imgW="8671306" imgH="4782859" progId="Visio.Drawing.6">
                  <p:embed/>
                </p:oleObj>
              </mc:Choice>
              <mc:Fallback>
                <p:oleObj name="Visio" r:id="rId2" imgW="8671306" imgH="4782859" progId="Visio.Drawing.6">
                  <p:embed/>
                  <p:pic>
                    <p:nvPicPr>
                      <p:cNvPr id="41987"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419225"/>
                        <a:ext cx="7620000" cy="429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88" name="Text Box 4"/>
          <p:cNvSpPr txBox="1">
            <a:spLocks noChangeArrowheads="1"/>
          </p:cNvSpPr>
          <p:nvPr/>
        </p:nvSpPr>
        <p:spPr bwMode="auto">
          <a:xfrm>
            <a:off x="457200" y="1066800"/>
            <a:ext cx="2025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2400" b="0">
                <a:solidFill>
                  <a:srgbClr val="CC3300"/>
                </a:solidFill>
                <a:latin typeface="Times New Roman" pitchFamily="18" charset="0"/>
              </a:rPr>
              <a:t>Lattice of rules</a:t>
            </a:r>
          </a:p>
        </p:txBody>
      </p:sp>
      <p:grpSp>
        <p:nvGrpSpPr>
          <p:cNvPr id="2" name="Group 5"/>
          <p:cNvGrpSpPr>
            <a:grpSpLocks/>
          </p:cNvGrpSpPr>
          <p:nvPr/>
        </p:nvGrpSpPr>
        <p:grpSpPr bwMode="auto">
          <a:xfrm>
            <a:off x="381000" y="1419225"/>
            <a:ext cx="8153400" cy="4784725"/>
            <a:chOff x="96" y="894"/>
            <a:chExt cx="5136" cy="3014"/>
          </a:xfrm>
        </p:grpSpPr>
        <p:graphicFrame>
          <p:nvGraphicFramePr>
            <p:cNvPr id="41992" name="Object 3"/>
            <p:cNvGraphicFramePr>
              <a:graphicFrameLocks noChangeAspect="1"/>
            </p:cNvGraphicFramePr>
            <p:nvPr/>
          </p:nvGraphicFramePr>
          <p:xfrm>
            <a:off x="432" y="894"/>
            <a:ext cx="4800" cy="2706"/>
          </p:xfrm>
          <a:graphic>
            <a:graphicData uri="http://schemas.openxmlformats.org/presentationml/2006/ole">
              <mc:AlternateContent xmlns:mc="http://schemas.openxmlformats.org/markup-compatibility/2006">
                <mc:Choice xmlns:v="urn:schemas-microsoft-com:vml" Requires="v">
                  <p:oleObj name="Visio" r:id="rId4" imgW="8671306" imgH="4782859" progId="Visio.Drawing.6">
                    <p:embed/>
                  </p:oleObj>
                </mc:Choice>
                <mc:Fallback>
                  <p:oleObj name="Visio" r:id="rId4" imgW="8671306" imgH="4782859" progId="Visio.Drawing.6">
                    <p:embed/>
                    <p:pic>
                      <p:nvPicPr>
                        <p:cNvPr id="4199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 y="894"/>
                          <a:ext cx="4800" cy="2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93" name="Freeform 7"/>
            <p:cNvSpPr>
              <a:spLocks/>
            </p:cNvSpPr>
            <p:nvPr/>
          </p:nvSpPr>
          <p:spPr bwMode="auto">
            <a:xfrm>
              <a:off x="320" y="1064"/>
              <a:ext cx="3712" cy="2808"/>
            </a:xfrm>
            <a:custGeom>
              <a:avLst/>
              <a:gdLst>
                <a:gd name="T0" fmla="*/ 256 w 3712"/>
                <a:gd name="T1" fmla="*/ 376 h 2808"/>
                <a:gd name="T2" fmla="*/ 736 w 3712"/>
                <a:gd name="T3" fmla="*/ 88 h 2808"/>
                <a:gd name="T4" fmla="*/ 2176 w 3712"/>
                <a:gd name="T5" fmla="*/ 904 h 2808"/>
                <a:gd name="T6" fmla="*/ 2656 w 3712"/>
                <a:gd name="T7" fmla="*/ 1768 h 2808"/>
                <a:gd name="T8" fmla="*/ 3520 w 3712"/>
                <a:gd name="T9" fmla="*/ 2296 h 2808"/>
                <a:gd name="T10" fmla="*/ 3376 w 3712"/>
                <a:gd name="T11" fmla="*/ 2584 h 2808"/>
                <a:gd name="T12" fmla="*/ 1504 w 3712"/>
                <a:gd name="T13" fmla="*/ 2776 h 2808"/>
                <a:gd name="T14" fmla="*/ 352 w 3712"/>
                <a:gd name="T15" fmla="*/ 2392 h 2808"/>
                <a:gd name="T16" fmla="*/ 16 w 3712"/>
                <a:gd name="T17" fmla="*/ 1288 h 2808"/>
                <a:gd name="T18" fmla="*/ 256 w 3712"/>
                <a:gd name="T19" fmla="*/ 376 h 28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12"/>
                <a:gd name="T31" fmla="*/ 0 h 2808"/>
                <a:gd name="T32" fmla="*/ 3712 w 3712"/>
                <a:gd name="T33" fmla="*/ 2808 h 280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12" h="2808">
                  <a:moveTo>
                    <a:pt x="256" y="376"/>
                  </a:moveTo>
                  <a:cubicBezTo>
                    <a:pt x="376" y="176"/>
                    <a:pt x="416" y="0"/>
                    <a:pt x="736" y="88"/>
                  </a:cubicBezTo>
                  <a:cubicBezTo>
                    <a:pt x="1056" y="176"/>
                    <a:pt x="1856" y="624"/>
                    <a:pt x="2176" y="904"/>
                  </a:cubicBezTo>
                  <a:cubicBezTo>
                    <a:pt x="2496" y="1184"/>
                    <a:pt x="2432" y="1536"/>
                    <a:pt x="2656" y="1768"/>
                  </a:cubicBezTo>
                  <a:cubicBezTo>
                    <a:pt x="2880" y="2000"/>
                    <a:pt x="3400" y="2160"/>
                    <a:pt x="3520" y="2296"/>
                  </a:cubicBezTo>
                  <a:cubicBezTo>
                    <a:pt x="3640" y="2432"/>
                    <a:pt x="3712" y="2504"/>
                    <a:pt x="3376" y="2584"/>
                  </a:cubicBezTo>
                  <a:cubicBezTo>
                    <a:pt x="3040" y="2664"/>
                    <a:pt x="2008" y="2808"/>
                    <a:pt x="1504" y="2776"/>
                  </a:cubicBezTo>
                  <a:cubicBezTo>
                    <a:pt x="1000" y="2744"/>
                    <a:pt x="600" y="2640"/>
                    <a:pt x="352" y="2392"/>
                  </a:cubicBezTo>
                  <a:cubicBezTo>
                    <a:pt x="104" y="2144"/>
                    <a:pt x="32" y="1624"/>
                    <a:pt x="16" y="1288"/>
                  </a:cubicBezTo>
                  <a:cubicBezTo>
                    <a:pt x="0" y="952"/>
                    <a:pt x="136" y="576"/>
                    <a:pt x="256" y="376"/>
                  </a:cubicBezTo>
                  <a:close/>
                </a:path>
              </a:pathLst>
            </a:custGeom>
            <a:noFill/>
            <a:ln w="38100" cap="flat" cmpd="sng">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994" name="Text Box 8"/>
            <p:cNvSpPr txBox="1">
              <a:spLocks noChangeArrowheads="1"/>
            </p:cNvSpPr>
            <p:nvPr/>
          </p:nvSpPr>
          <p:spPr bwMode="auto">
            <a:xfrm>
              <a:off x="96" y="3504"/>
              <a:ext cx="72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a:t>Pruned Rules</a:t>
              </a:r>
            </a:p>
          </p:txBody>
        </p:sp>
      </p:grpSp>
      <p:sp>
        <p:nvSpPr>
          <p:cNvPr id="41990" name="Line 9"/>
          <p:cNvSpPr>
            <a:spLocks noChangeShapeType="1"/>
          </p:cNvSpPr>
          <p:nvPr/>
        </p:nvSpPr>
        <p:spPr bwMode="auto">
          <a:xfrm>
            <a:off x="1066800" y="2286000"/>
            <a:ext cx="914400" cy="1524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991" name="Text Box 10"/>
          <p:cNvSpPr txBox="1">
            <a:spLocks noChangeArrowheads="1"/>
          </p:cNvSpPr>
          <p:nvPr/>
        </p:nvSpPr>
        <p:spPr bwMode="auto">
          <a:xfrm>
            <a:off x="304800" y="1600200"/>
            <a:ext cx="13716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800" b="0"/>
              <a:t>Low Confidence Rule</a:t>
            </a:r>
          </a:p>
        </p:txBody>
      </p:sp>
    </p:spTree>
    <p:extLst>
      <p:ext uri="{BB962C8B-B14F-4D97-AF65-F5344CB8AC3E}">
        <p14:creationId xmlns:p14="http://schemas.microsoft.com/office/powerpoint/2010/main" val="42242195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381000" y="3505200"/>
            <a:ext cx="82296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eaLnBrk="1" hangingPunct="1">
              <a:spcBef>
                <a:spcPct val="20000"/>
              </a:spcBef>
              <a:spcAft>
                <a:spcPct val="0"/>
              </a:spcAft>
              <a:buClr>
                <a:schemeClr val="folHlink"/>
              </a:buClr>
              <a:buSzPct val="60000"/>
              <a:buFont typeface="Wingdings" pitchFamily="2" charset="2"/>
              <a:buNone/>
            </a:pPr>
            <a:r>
              <a:rPr lang="en-US" altLang="en-US" sz="3200" b="0"/>
              <a:t>Algorithms and Complexity</a:t>
            </a:r>
            <a:endParaRPr lang="en-US" altLang="en-US" sz="1600" b="0">
              <a:solidFill>
                <a:srgbClr val="0000FF"/>
              </a:solidFill>
            </a:endParaRPr>
          </a:p>
          <a:p>
            <a:pPr algn="ctr">
              <a:spcBef>
                <a:spcPct val="0"/>
              </a:spcBef>
              <a:spcAft>
                <a:spcPct val="0"/>
              </a:spcAft>
              <a:buClrTx/>
              <a:buSzTx/>
              <a:buFontTx/>
              <a:buNone/>
            </a:pPr>
            <a:endParaRPr lang="en-US" altLang="en-US" sz="1600" b="0"/>
          </a:p>
          <a:p>
            <a:pPr algn="ctr">
              <a:spcBef>
                <a:spcPct val="0"/>
              </a:spcBef>
              <a:spcAft>
                <a:spcPct val="0"/>
              </a:spcAft>
              <a:buClrTx/>
              <a:buSzTx/>
              <a:buFontTx/>
              <a:buNone/>
            </a:pPr>
            <a:endParaRPr lang="en-US" altLang="en-US" sz="1600" b="0"/>
          </a:p>
          <a:p>
            <a:pPr algn="ctr">
              <a:spcBef>
                <a:spcPct val="0"/>
              </a:spcBef>
              <a:spcAft>
                <a:spcPct val="0"/>
              </a:spcAft>
              <a:buClrTx/>
              <a:buSzTx/>
              <a:buFontTx/>
              <a:buNone/>
            </a:pPr>
            <a:endParaRPr lang="en-US" altLang="en-US" sz="1600" b="0"/>
          </a:p>
          <a:p>
            <a:pPr>
              <a:spcBef>
                <a:spcPct val="0"/>
              </a:spcBef>
              <a:spcAft>
                <a:spcPct val="0"/>
              </a:spcAft>
              <a:buClrTx/>
              <a:buSzTx/>
              <a:buFontTx/>
              <a:buNone/>
            </a:pPr>
            <a:endParaRPr lang="en-US" altLang="en-US" sz="2000" b="0"/>
          </a:p>
        </p:txBody>
      </p:sp>
      <p:sp>
        <p:nvSpPr>
          <p:cNvPr id="43011" name="Rectangle 3"/>
          <p:cNvSpPr>
            <a:spLocks noGrp="1" noChangeArrowheads="1"/>
          </p:cNvSpPr>
          <p:nvPr>
            <p:ph type="title"/>
          </p:nvPr>
        </p:nvSpPr>
        <p:spPr>
          <a:xfrm>
            <a:off x="381000" y="1371600"/>
            <a:ext cx="8763000" cy="838200"/>
          </a:xfrm>
          <a:noFill/>
        </p:spPr>
        <p:txBody>
          <a:bodyPr/>
          <a:lstStyle/>
          <a:p>
            <a:pPr algn="ctr"/>
            <a:br>
              <a:rPr lang="en-US" altLang="en-US"/>
            </a:br>
            <a:r>
              <a:rPr lang="en-US" altLang="en-US"/>
              <a:t>Association Analysis: Basic Concepts </a:t>
            </a:r>
            <a:br>
              <a:rPr lang="en-US" altLang="en-US"/>
            </a:br>
            <a:r>
              <a:rPr lang="en-US" altLang="en-US"/>
              <a:t>and Algorithms</a:t>
            </a:r>
          </a:p>
        </p:txBody>
      </p:sp>
    </p:spTree>
    <p:extLst>
      <p:ext uri="{BB962C8B-B14F-4D97-AF65-F5344CB8AC3E}">
        <p14:creationId xmlns:p14="http://schemas.microsoft.com/office/powerpoint/2010/main" val="2042669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a:t>Factors Affecting Complexity of Apriori</a:t>
            </a:r>
          </a:p>
        </p:txBody>
      </p:sp>
      <p:sp>
        <p:nvSpPr>
          <p:cNvPr id="45059" name="Rectangle 3"/>
          <p:cNvSpPr>
            <a:spLocks noGrp="1" noChangeArrowheads="1"/>
          </p:cNvSpPr>
          <p:nvPr>
            <p:ph type="body" idx="1"/>
          </p:nvPr>
        </p:nvSpPr>
        <p:spPr>
          <a:xfrm>
            <a:off x="411163" y="1143000"/>
            <a:ext cx="8504237" cy="5181600"/>
          </a:xfrm>
        </p:spPr>
        <p:txBody>
          <a:bodyPr/>
          <a:lstStyle/>
          <a:p>
            <a:pPr>
              <a:lnSpc>
                <a:spcPct val="80000"/>
              </a:lnSpc>
            </a:pPr>
            <a:r>
              <a:rPr lang="en-US" altLang="en-US" sz="2400" dirty="0"/>
              <a:t>Choice of minimum support threshold</a:t>
            </a:r>
          </a:p>
          <a:p>
            <a:pPr>
              <a:lnSpc>
                <a:spcPct val="80000"/>
              </a:lnSpc>
            </a:pPr>
            <a:endParaRPr lang="en-US" altLang="en-US" sz="2400" dirty="0"/>
          </a:p>
          <a:p>
            <a:pPr marL="0" indent="0">
              <a:lnSpc>
                <a:spcPct val="80000"/>
              </a:lnSpc>
              <a:buNone/>
            </a:pPr>
            <a:endParaRPr lang="en-US" altLang="en-US" sz="2400" dirty="0"/>
          </a:p>
          <a:p>
            <a:pPr>
              <a:lnSpc>
                <a:spcPct val="80000"/>
              </a:lnSpc>
            </a:pPr>
            <a:r>
              <a:rPr lang="en-US" altLang="en-US" sz="2400" dirty="0"/>
              <a:t>Dimensionality (number of items) of the data set</a:t>
            </a:r>
          </a:p>
          <a:p>
            <a:pPr>
              <a:lnSpc>
                <a:spcPct val="80000"/>
              </a:lnSpc>
            </a:pPr>
            <a:endParaRPr lang="en-US" altLang="en-US" sz="2400" dirty="0"/>
          </a:p>
          <a:p>
            <a:pPr>
              <a:lnSpc>
                <a:spcPct val="80000"/>
              </a:lnSpc>
            </a:pPr>
            <a:endParaRPr lang="en-US" altLang="en-US" sz="2400" dirty="0"/>
          </a:p>
          <a:p>
            <a:pPr>
              <a:lnSpc>
                <a:spcPct val="80000"/>
              </a:lnSpc>
            </a:pPr>
            <a:r>
              <a:rPr lang="en-US" altLang="en-US" sz="2400" dirty="0"/>
              <a:t>Size of database</a:t>
            </a:r>
          </a:p>
          <a:p>
            <a:pPr>
              <a:lnSpc>
                <a:spcPct val="80000"/>
              </a:lnSpc>
            </a:pPr>
            <a:endParaRPr lang="en-US" altLang="en-US" sz="2400" dirty="0"/>
          </a:p>
          <a:p>
            <a:pPr>
              <a:lnSpc>
                <a:spcPct val="80000"/>
              </a:lnSpc>
            </a:pPr>
            <a:endParaRPr lang="en-US" altLang="en-US" sz="2400" dirty="0"/>
          </a:p>
          <a:p>
            <a:pPr>
              <a:lnSpc>
                <a:spcPct val="80000"/>
              </a:lnSpc>
            </a:pPr>
            <a:r>
              <a:rPr lang="en-US" altLang="en-US" sz="2400" dirty="0"/>
              <a:t>Average transaction width</a:t>
            </a:r>
          </a:p>
          <a:p>
            <a:pPr lvl="1">
              <a:lnSpc>
                <a:spcPct val="80000"/>
              </a:lnSpc>
            </a:pPr>
            <a:r>
              <a:rPr lang="en-US" altLang="en-US" sz="2000" dirty="0"/>
              <a:t> </a:t>
            </a:r>
          </a:p>
          <a:p>
            <a:pPr lvl="1">
              <a:lnSpc>
                <a:spcPct val="80000"/>
              </a:lnSpc>
            </a:pPr>
            <a:endParaRPr lang="en-US" altLang="en-US" sz="2000" dirty="0"/>
          </a:p>
        </p:txBody>
      </p:sp>
    </p:spTree>
    <p:extLst>
      <p:ext uri="{BB962C8B-B14F-4D97-AF65-F5344CB8AC3E}">
        <p14:creationId xmlns:p14="http://schemas.microsoft.com/office/powerpoint/2010/main" val="3711982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a:t>Factors Affecting Complexity of Apriori</a:t>
            </a:r>
          </a:p>
        </p:txBody>
      </p:sp>
      <p:sp>
        <p:nvSpPr>
          <p:cNvPr id="45059" name="Rectangle 3"/>
          <p:cNvSpPr>
            <a:spLocks noGrp="1" noChangeArrowheads="1"/>
          </p:cNvSpPr>
          <p:nvPr>
            <p:ph type="body" idx="1"/>
          </p:nvPr>
        </p:nvSpPr>
        <p:spPr>
          <a:xfrm>
            <a:off x="411163" y="1143000"/>
            <a:ext cx="8504237" cy="5181600"/>
          </a:xfrm>
        </p:spPr>
        <p:txBody>
          <a:bodyPr/>
          <a:lstStyle/>
          <a:p>
            <a:pPr>
              <a:lnSpc>
                <a:spcPct val="80000"/>
              </a:lnSpc>
            </a:pPr>
            <a:r>
              <a:rPr lang="en-US" altLang="en-US" sz="2400" dirty="0"/>
              <a:t>Choice of minimum support threshold</a:t>
            </a:r>
          </a:p>
          <a:p>
            <a:pPr lvl="1">
              <a:lnSpc>
                <a:spcPct val="80000"/>
              </a:lnSpc>
            </a:pPr>
            <a:r>
              <a:rPr lang="en-US" altLang="en-US" sz="2000" dirty="0"/>
              <a:t> lowering support threshold results in more frequent </a:t>
            </a:r>
            <a:r>
              <a:rPr lang="en-US" altLang="en-US" sz="2000" dirty="0" err="1"/>
              <a:t>itemsets</a:t>
            </a:r>
            <a:endParaRPr lang="en-US" altLang="en-US" sz="2000" dirty="0"/>
          </a:p>
          <a:p>
            <a:pPr lvl="1">
              <a:lnSpc>
                <a:spcPct val="80000"/>
              </a:lnSpc>
            </a:pPr>
            <a:r>
              <a:rPr lang="en-US" altLang="en-US" sz="2000" dirty="0"/>
              <a:t> this may increase number of candidates and max length of frequent </a:t>
            </a:r>
            <a:r>
              <a:rPr lang="en-US" altLang="en-US" sz="2000" dirty="0" err="1"/>
              <a:t>itemsets</a:t>
            </a:r>
            <a:endParaRPr lang="en-US" altLang="en-US" sz="2000" dirty="0"/>
          </a:p>
          <a:p>
            <a:pPr>
              <a:lnSpc>
                <a:spcPct val="80000"/>
              </a:lnSpc>
            </a:pPr>
            <a:r>
              <a:rPr lang="en-US" altLang="en-US" sz="2400" dirty="0"/>
              <a:t>Dimensionality (number of items) of the data set</a:t>
            </a:r>
          </a:p>
          <a:p>
            <a:pPr lvl="1">
              <a:lnSpc>
                <a:spcPct val="80000"/>
              </a:lnSpc>
            </a:pPr>
            <a:r>
              <a:rPr lang="en-US" altLang="en-US" sz="2000" dirty="0"/>
              <a:t> </a:t>
            </a:r>
          </a:p>
          <a:p>
            <a:pPr lvl="1">
              <a:lnSpc>
                <a:spcPct val="80000"/>
              </a:lnSpc>
            </a:pPr>
            <a:endParaRPr lang="en-US" altLang="en-US" sz="2000" dirty="0"/>
          </a:p>
          <a:p>
            <a:pPr lvl="1">
              <a:lnSpc>
                <a:spcPct val="80000"/>
              </a:lnSpc>
            </a:pPr>
            <a:endParaRPr lang="en-US" altLang="en-US" sz="2000" dirty="0"/>
          </a:p>
          <a:p>
            <a:pPr>
              <a:lnSpc>
                <a:spcPct val="80000"/>
              </a:lnSpc>
            </a:pPr>
            <a:r>
              <a:rPr lang="en-US" altLang="en-US" sz="2400" dirty="0"/>
              <a:t>Size of database</a:t>
            </a:r>
          </a:p>
          <a:p>
            <a:pPr lvl="1">
              <a:lnSpc>
                <a:spcPct val="80000"/>
              </a:lnSpc>
            </a:pPr>
            <a:r>
              <a:rPr lang="en-US" altLang="en-US" sz="2000" dirty="0"/>
              <a:t>  </a:t>
            </a:r>
          </a:p>
          <a:p>
            <a:pPr lvl="1">
              <a:lnSpc>
                <a:spcPct val="80000"/>
              </a:lnSpc>
            </a:pPr>
            <a:endParaRPr lang="en-US" altLang="en-US" sz="2000" dirty="0"/>
          </a:p>
          <a:p>
            <a:pPr>
              <a:lnSpc>
                <a:spcPct val="80000"/>
              </a:lnSpc>
            </a:pPr>
            <a:r>
              <a:rPr lang="en-US" altLang="en-US" sz="2400" dirty="0"/>
              <a:t>Average transaction width</a:t>
            </a:r>
          </a:p>
          <a:p>
            <a:pPr lvl="1">
              <a:lnSpc>
                <a:spcPct val="80000"/>
              </a:lnSpc>
            </a:pPr>
            <a:r>
              <a:rPr lang="en-US" altLang="en-US" sz="2000" dirty="0"/>
              <a:t> </a:t>
            </a:r>
          </a:p>
        </p:txBody>
      </p:sp>
      <p:graphicFrame>
        <p:nvGraphicFramePr>
          <p:cNvPr id="4" name="Object 21"/>
          <p:cNvGraphicFramePr>
            <a:graphicFrameLocks noGrp="1" noChangeAspect="1"/>
          </p:cNvGraphicFramePr>
          <p:nvPr>
            <p:extLst>
              <p:ext uri="{D42A27DB-BD31-4B8C-83A1-F6EECF244321}">
                <p14:modId xmlns:p14="http://schemas.microsoft.com/office/powerpoint/2010/main" val="2840132205"/>
              </p:ext>
            </p:extLst>
          </p:nvPr>
        </p:nvGraphicFramePr>
        <p:xfrm>
          <a:off x="5346700" y="3954689"/>
          <a:ext cx="3568700" cy="2065111"/>
        </p:xfrm>
        <a:graphic>
          <a:graphicData uri="http://schemas.openxmlformats.org/presentationml/2006/ole">
            <mc:AlternateContent xmlns:mc="http://schemas.openxmlformats.org/markup-compatibility/2006">
              <mc:Choice xmlns:v="urn:schemas-microsoft-com:vml" Requires="v">
                <p:oleObj name="Document" r:id="rId2" imgW="3352666" imgH="2016134" progId="Word.Document.8">
                  <p:embed/>
                </p:oleObj>
              </mc:Choice>
              <mc:Fallback>
                <p:oleObj name="Document" r:id="rId2" imgW="3352666" imgH="2016134" progId="Word.Document.8">
                  <p:embed/>
                  <p:pic>
                    <p:nvPicPr>
                      <p:cNvPr id="17412" name="Object 2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6700" y="3954689"/>
                        <a:ext cx="3568700" cy="206511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3915651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dirty="0"/>
              <a:t>Impact of Support Based Pruning</a:t>
            </a:r>
          </a:p>
        </p:txBody>
      </p:sp>
      <p:sp>
        <p:nvSpPr>
          <p:cNvPr id="17411" name="Text Box 12"/>
          <p:cNvSpPr txBox="1">
            <a:spLocks noChangeArrowheads="1"/>
          </p:cNvSpPr>
          <p:nvPr/>
        </p:nvSpPr>
        <p:spPr bwMode="auto">
          <a:xfrm>
            <a:off x="304800" y="3810000"/>
            <a:ext cx="2659063" cy="412750"/>
          </a:xfrm>
          <a:prstGeom prst="rect">
            <a:avLst/>
          </a:prstGeom>
          <a:solidFill>
            <a:srgbClr val="FFFF99"/>
          </a:solidFill>
          <a:ln w="15875">
            <a:solidFill>
              <a:schemeClr val="tx1"/>
            </a:solidFill>
            <a:miter lim="800000"/>
            <a:headEnd/>
            <a:tailEnd/>
          </a:ln>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r>
              <a:rPr lang="en-US" altLang="en-US" sz="2000" b="0" dirty="0">
                <a:latin typeface="Tahoma" pitchFamily="34" charset="0"/>
              </a:rPr>
              <a:t>Minimum Support = 3</a:t>
            </a:r>
          </a:p>
        </p:txBody>
      </p:sp>
      <p:graphicFrame>
        <p:nvGraphicFramePr>
          <p:cNvPr id="17412" name="Object 21"/>
          <p:cNvGraphicFramePr>
            <a:graphicFrameLocks noGrp="1" noChangeAspect="1"/>
          </p:cNvGraphicFramePr>
          <p:nvPr>
            <p:extLst>
              <p:ext uri="{D42A27DB-BD31-4B8C-83A1-F6EECF244321}">
                <p14:modId xmlns:p14="http://schemas.microsoft.com/office/powerpoint/2010/main" val="4176610760"/>
              </p:ext>
            </p:extLst>
          </p:nvPr>
        </p:nvGraphicFramePr>
        <p:xfrm>
          <a:off x="381000" y="1364776"/>
          <a:ext cx="3568700" cy="2092407"/>
        </p:xfrm>
        <a:graphic>
          <a:graphicData uri="http://schemas.openxmlformats.org/presentationml/2006/ole">
            <mc:AlternateContent xmlns:mc="http://schemas.openxmlformats.org/markup-compatibility/2006">
              <mc:Choice xmlns:v="urn:schemas-microsoft-com:vml" Requires="v">
                <p:oleObj name="Document" r:id="rId2" imgW="3352666" imgH="2016134" progId="Word.Document.8">
                  <p:embed/>
                </p:oleObj>
              </mc:Choice>
              <mc:Fallback>
                <p:oleObj name="Document" r:id="rId2" imgW="3352666" imgH="2016134" progId="Word.Document.8">
                  <p:embed/>
                  <p:pic>
                    <p:nvPicPr>
                      <p:cNvPr id="17412" name="Object 2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364776"/>
                        <a:ext cx="3568700" cy="2092407"/>
                      </a:xfrm>
                      <a:prstGeom prst="rect">
                        <a:avLst/>
                      </a:prstGeom>
                      <a:noFill/>
                      <a:ln>
                        <a:noFill/>
                      </a:ln>
                      <a:effectLst/>
                    </p:spPr>
                  </p:pic>
                </p:oleObj>
              </mc:Fallback>
            </mc:AlternateContent>
          </a:graphicData>
        </a:graphic>
      </p:graphicFrame>
      <p:sp>
        <p:nvSpPr>
          <p:cNvPr id="17413" name="Text Box 6"/>
          <p:cNvSpPr txBox="1">
            <a:spLocks noChangeArrowheads="1"/>
          </p:cNvSpPr>
          <p:nvPr/>
        </p:nvSpPr>
        <p:spPr bwMode="auto">
          <a:xfrm>
            <a:off x="5410200" y="1371600"/>
            <a:ext cx="2055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a:latin typeface="Tahoma" pitchFamily="34" charset="0"/>
              </a:rPr>
              <a:t>Items (1-itemsets)</a:t>
            </a:r>
          </a:p>
        </p:txBody>
      </p:sp>
      <p:sp>
        <p:nvSpPr>
          <p:cNvPr id="17414" name="Right Arrow 16"/>
          <p:cNvSpPr>
            <a:spLocks noChangeArrowheads="1"/>
          </p:cNvSpPr>
          <p:nvPr/>
        </p:nvSpPr>
        <p:spPr bwMode="auto">
          <a:xfrm>
            <a:off x="4114800" y="2286000"/>
            <a:ext cx="685800" cy="304800"/>
          </a:xfrm>
          <a:prstGeom prst="rightArrow">
            <a:avLst>
              <a:gd name="adj1" fmla="val 50000"/>
              <a:gd name="adj2" fmla="val 50000"/>
            </a:avLst>
          </a:prstGeom>
          <a:solidFill>
            <a:schemeClr val="tx1"/>
          </a:solidFill>
          <a:ln w="12700" algn="ctr">
            <a:solidFill>
              <a:schemeClr val="accent1"/>
            </a:solidFill>
            <a:round/>
            <a:headEnd/>
            <a:tailEnd/>
          </a:ln>
        </p:spPr>
        <p:txBody>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endParaRPr lang="en-US" altLang="en-US" sz="1400"/>
          </a:p>
        </p:txBody>
      </p:sp>
      <p:sp>
        <p:nvSpPr>
          <p:cNvPr id="17415" name="Text Box 13"/>
          <p:cNvSpPr txBox="1">
            <a:spLocks noChangeArrowheads="1"/>
          </p:cNvSpPr>
          <p:nvPr/>
        </p:nvSpPr>
        <p:spPr bwMode="auto">
          <a:xfrm>
            <a:off x="304800" y="4381500"/>
            <a:ext cx="3244850" cy="1476375"/>
          </a:xfrm>
          <a:prstGeom prst="rect">
            <a:avLst/>
          </a:prstGeom>
          <a:solidFill>
            <a:srgbClr val="CCFFFF"/>
          </a:solidFill>
          <a:ln w="9525">
            <a:solidFill>
              <a:schemeClr val="tx1"/>
            </a:solidFill>
            <a:miter lim="800000"/>
            <a:headEnd/>
            <a:tailEnd/>
          </a:ln>
        </p:spPr>
        <p:txBody>
          <a:bodyPr wrap="squar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dirty="0">
                <a:latin typeface="Tahoma" pitchFamily="34" charset="0"/>
              </a:rPr>
              <a:t>If every subset is considered, </a:t>
            </a:r>
          </a:p>
          <a:p>
            <a:pPr>
              <a:spcBef>
                <a:spcPct val="0"/>
              </a:spcBef>
              <a:spcAft>
                <a:spcPct val="0"/>
              </a:spcAft>
              <a:buClrTx/>
              <a:buSzTx/>
              <a:buFontTx/>
              <a:buNone/>
            </a:pPr>
            <a:r>
              <a:rPr lang="en-US" altLang="en-US" sz="1800" b="0" dirty="0">
                <a:latin typeface="Tahoma" pitchFamily="34" charset="0"/>
              </a:rPr>
              <a:t>	</a:t>
            </a:r>
            <a:r>
              <a:rPr lang="en-US" altLang="en-US" sz="1800" b="0" baseline="30000" dirty="0">
                <a:latin typeface="Tahoma" pitchFamily="34" charset="0"/>
              </a:rPr>
              <a:t>6</a:t>
            </a:r>
            <a:r>
              <a:rPr lang="en-US" altLang="en-US" sz="1800" b="0" dirty="0">
                <a:latin typeface="Tahoma" pitchFamily="34" charset="0"/>
              </a:rPr>
              <a:t>C</a:t>
            </a:r>
            <a:r>
              <a:rPr lang="en-US" altLang="en-US" sz="1800" b="0" baseline="-25000" dirty="0">
                <a:latin typeface="Tahoma" pitchFamily="34" charset="0"/>
              </a:rPr>
              <a:t>1</a:t>
            </a:r>
            <a:r>
              <a:rPr lang="en-US" altLang="en-US" sz="1800" b="0" dirty="0">
                <a:latin typeface="Tahoma" pitchFamily="34" charset="0"/>
              </a:rPr>
              <a:t> + </a:t>
            </a:r>
            <a:r>
              <a:rPr lang="en-US" altLang="en-US" sz="1800" b="0" baseline="30000" dirty="0">
                <a:latin typeface="Tahoma" pitchFamily="34" charset="0"/>
              </a:rPr>
              <a:t>6</a:t>
            </a:r>
            <a:r>
              <a:rPr lang="en-US" altLang="en-US" sz="1800" b="0" dirty="0">
                <a:latin typeface="Tahoma" pitchFamily="34" charset="0"/>
              </a:rPr>
              <a:t>C</a:t>
            </a:r>
            <a:r>
              <a:rPr lang="en-US" altLang="en-US" sz="1800" b="0" baseline="-25000" dirty="0">
                <a:latin typeface="Tahoma" pitchFamily="34" charset="0"/>
              </a:rPr>
              <a:t>2</a:t>
            </a:r>
            <a:r>
              <a:rPr lang="en-US" altLang="en-US" sz="1800" b="0" dirty="0">
                <a:latin typeface="Tahoma" pitchFamily="34" charset="0"/>
              </a:rPr>
              <a:t> + </a:t>
            </a:r>
            <a:r>
              <a:rPr lang="en-US" altLang="en-US" sz="1800" b="0" baseline="30000" dirty="0">
                <a:latin typeface="Tahoma" pitchFamily="34" charset="0"/>
              </a:rPr>
              <a:t>6</a:t>
            </a:r>
            <a:r>
              <a:rPr lang="en-US" altLang="en-US" sz="1800" b="0" dirty="0">
                <a:latin typeface="Tahoma" pitchFamily="34" charset="0"/>
              </a:rPr>
              <a:t>C</a:t>
            </a:r>
            <a:r>
              <a:rPr lang="en-US" altLang="en-US" sz="1800" b="0" baseline="-25000" dirty="0">
                <a:latin typeface="Tahoma" pitchFamily="34" charset="0"/>
              </a:rPr>
              <a:t>3</a:t>
            </a:r>
            <a:r>
              <a:rPr lang="en-US" altLang="en-US" sz="1800" b="0" dirty="0">
                <a:latin typeface="Tahoma" pitchFamily="34" charset="0"/>
              </a:rPr>
              <a:t> </a:t>
            </a:r>
          </a:p>
          <a:p>
            <a:pPr>
              <a:spcBef>
                <a:spcPct val="0"/>
              </a:spcBef>
              <a:spcAft>
                <a:spcPct val="0"/>
              </a:spcAft>
              <a:buClrTx/>
              <a:buSzTx/>
              <a:buFontTx/>
              <a:buNone/>
            </a:pPr>
            <a:r>
              <a:rPr lang="en-US" altLang="en-US" sz="1800" b="0" dirty="0">
                <a:latin typeface="Tahoma" pitchFamily="34" charset="0"/>
              </a:rPr>
              <a:t>	6 + 15 + 20 = 41</a:t>
            </a:r>
          </a:p>
          <a:p>
            <a:pPr>
              <a:spcBef>
                <a:spcPct val="0"/>
              </a:spcBef>
              <a:spcAft>
                <a:spcPct val="0"/>
              </a:spcAft>
              <a:buClrTx/>
              <a:buSzTx/>
              <a:buFontTx/>
              <a:buNone/>
            </a:pPr>
            <a:r>
              <a:rPr lang="en-US" altLang="en-US" sz="1800" b="0" dirty="0">
                <a:latin typeface="Tahoma" pitchFamily="34" charset="0"/>
              </a:rPr>
              <a:t>With support-based pruning,</a:t>
            </a:r>
          </a:p>
          <a:p>
            <a:pPr>
              <a:spcBef>
                <a:spcPct val="0"/>
              </a:spcBef>
              <a:spcAft>
                <a:spcPct val="0"/>
              </a:spcAft>
              <a:buClrTx/>
              <a:buSzTx/>
              <a:buFontTx/>
              <a:buNone/>
            </a:pPr>
            <a:r>
              <a:rPr lang="en-US" altLang="en-US" sz="1800" b="0" dirty="0">
                <a:latin typeface="Tahoma" pitchFamily="34" charset="0"/>
              </a:rPr>
              <a:t>	6 + 6 + 4 = 16</a:t>
            </a:r>
          </a:p>
        </p:txBody>
      </p:sp>
      <p:graphicFrame>
        <p:nvGraphicFramePr>
          <p:cNvPr id="17416" name="Object 3"/>
          <p:cNvGraphicFramePr>
            <a:graphicFrameLocks noChangeAspect="1"/>
          </p:cNvGraphicFramePr>
          <p:nvPr/>
        </p:nvGraphicFramePr>
        <p:xfrm>
          <a:off x="5502275" y="1905000"/>
          <a:ext cx="2270125" cy="2468563"/>
        </p:xfrm>
        <a:graphic>
          <a:graphicData uri="http://schemas.openxmlformats.org/presentationml/2006/ole">
            <mc:AlternateContent xmlns:mc="http://schemas.openxmlformats.org/markup-compatibility/2006">
              <mc:Choice xmlns:v="urn:schemas-microsoft-com:vml" Requires="v">
                <p:oleObj name="Document" r:id="rId4" imgW="2289908" imgH="2495536" progId="Word.Document.8">
                  <p:embed/>
                </p:oleObj>
              </mc:Choice>
              <mc:Fallback>
                <p:oleObj name="Document" r:id="rId4" imgW="2289908" imgH="2495536" progId="Word.Document.8">
                  <p:embed/>
                  <p:pic>
                    <p:nvPicPr>
                      <p:cNvPr id="1741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2275" y="1905000"/>
                        <a:ext cx="2270125" cy="2468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12"/>
          <p:cNvSpPr txBox="1">
            <a:spLocks noChangeArrowheads="1"/>
          </p:cNvSpPr>
          <p:nvPr/>
        </p:nvSpPr>
        <p:spPr bwMode="auto">
          <a:xfrm>
            <a:off x="4499409" y="3968720"/>
            <a:ext cx="2667718" cy="400110"/>
          </a:xfrm>
          <a:prstGeom prst="rect">
            <a:avLst/>
          </a:prstGeom>
          <a:solidFill>
            <a:srgbClr val="FFFF99"/>
          </a:solidFill>
          <a:ln w="15875">
            <a:solidFill>
              <a:schemeClr val="tx1"/>
            </a:solidFill>
            <a:miter lim="800000"/>
            <a:headEnd/>
            <a:tailEnd/>
          </a:ln>
        </p:spPr>
        <p:txBody>
          <a:bodyPr wrap="non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a:spcBef>
                <a:spcPct val="0"/>
              </a:spcBef>
              <a:spcAft>
                <a:spcPct val="0"/>
              </a:spcAft>
              <a:buClrTx/>
              <a:buSzTx/>
              <a:buFontTx/>
              <a:buNone/>
            </a:pPr>
            <a:r>
              <a:rPr lang="en-US" altLang="en-US" sz="2000" b="0" dirty="0">
                <a:latin typeface="Tahoma" pitchFamily="34" charset="0"/>
              </a:rPr>
              <a:t>Minimum Support = 2</a:t>
            </a:r>
          </a:p>
        </p:txBody>
      </p:sp>
      <p:sp>
        <p:nvSpPr>
          <p:cNvPr id="10" name="Text Box 13"/>
          <p:cNvSpPr txBox="1">
            <a:spLocks noChangeArrowheads="1"/>
          </p:cNvSpPr>
          <p:nvPr/>
        </p:nvSpPr>
        <p:spPr bwMode="auto">
          <a:xfrm>
            <a:off x="4146550" y="4810422"/>
            <a:ext cx="4159250" cy="923330"/>
          </a:xfrm>
          <a:prstGeom prst="rect">
            <a:avLst/>
          </a:prstGeom>
          <a:solidFill>
            <a:srgbClr val="CCFFFF"/>
          </a:solidFill>
          <a:ln w="9525">
            <a:solidFill>
              <a:schemeClr val="tx1"/>
            </a:solidFill>
            <a:miter lim="800000"/>
            <a:headEnd/>
            <a:tailEnd/>
          </a:ln>
        </p:spPr>
        <p:txBody>
          <a:bodyPr wrap="square"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800" b="0" dirty="0">
                <a:latin typeface="Tahoma" pitchFamily="34" charset="0"/>
              </a:rPr>
              <a:t>If every subset is considered, </a:t>
            </a:r>
          </a:p>
          <a:p>
            <a:pPr>
              <a:spcBef>
                <a:spcPct val="0"/>
              </a:spcBef>
              <a:spcAft>
                <a:spcPct val="0"/>
              </a:spcAft>
              <a:buClrTx/>
              <a:buSzTx/>
              <a:buFontTx/>
              <a:buNone/>
            </a:pPr>
            <a:r>
              <a:rPr lang="en-US" altLang="en-US" sz="1800" b="0" dirty="0">
                <a:latin typeface="Tahoma" pitchFamily="34" charset="0"/>
              </a:rPr>
              <a:t>	</a:t>
            </a:r>
            <a:r>
              <a:rPr lang="en-US" altLang="en-US" sz="1800" b="0" baseline="30000" dirty="0">
                <a:latin typeface="Tahoma" pitchFamily="34" charset="0"/>
              </a:rPr>
              <a:t>6</a:t>
            </a:r>
            <a:r>
              <a:rPr lang="en-US" altLang="en-US" sz="1800" b="0" dirty="0">
                <a:latin typeface="Tahoma" pitchFamily="34" charset="0"/>
              </a:rPr>
              <a:t>C</a:t>
            </a:r>
            <a:r>
              <a:rPr lang="en-US" altLang="en-US" sz="1800" b="0" baseline="-25000" dirty="0">
                <a:latin typeface="Tahoma" pitchFamily="34" charset="0"/>
              </a:rPr>
              <a:t>1</a:t>
            </a:r>
            <a:r>
              <a:rPr lang="en-US" altLang="en-US" sz="1800" b="0" dirty="0">
                <a:latin typeface="Tahoma" pitchFamily="34" charset="0"/>
              </a:rPr>
              <a:t> + </a:t>
            </a:r>
            <a:r>
              <a:rPr lang="en-US" altLang="en-US" sz="1800" b="0" baseline="30000" dirty="0">
                <a:latin typeface="Tahoma" pitchFamily="34" charset="0"/>
              </a:rPr>
              <a:t>6</a:t>
            </a:r>
            <a:r>
              <a:rPr lang="en-US" altLang="en-US" sz="1800" b="0" dirty="0">
                <a:latin typeface="Tahoma" pitchFamily="34" charset="0"/>
              </a:rPr>
              <a:t>C</a:t>
            </a:r>
            <a:r>
              <a:rPr lang="en-US" altLang="en-US" sz="1800" b="0" baseline="-25000" dirty="0">
                <a:latin typeface="Tahoma" pitchFamily="34" charset="0"/>
              </a:rPr>
              <a:t>2</a:t>
            </a:r>
            <a:r>
              <a:rPr lang="en-US" altLang="en-US" sz="1800" b="0" dirty="0">
                <a:latin typeface="Tahoma" pitchFamily="34" charset="0"/>
              </a:rPr>
              <a:t> + </a:t>
            </a:r>
            <a:r>
              <a:rPr lang="en-US" altLang="en-US" sz="1800" b="0" baseline="30000" dirty="0">
                <a:latin typeface="Tahoma" pitchFamily="34" charset="0"/>
              </a:rPr>
              <a:t>6</a:t>
            </a:r>
            <a:r>
              <a:rPr lang="en-US" altLang="en-US" sz="1800" b="0" dirty="0">
                <a:latin typeface="Tahoma" pitchFamily="34" charset="0"/>
              </a:rPr>
              <a:t>C</a:t>
            </a:r>
            <a:r>
              <a:rPr lang="en-US" altLang="en-US" sz="1800" b="0" baseline="-25000" dirty="0">
                <a:latin typeface="Tahoma" pitchFamily="34" charset="0"/>
              </a:rPr>
              <a:t>3</a:t>
            </a:r>
            <a:r>
              <a:rPr lang="en-US" altLang="en-US" sz="1800" b="0" dirty="0">
                <a:latin typeface="Tahoma" pitchFamily="34" charset="0"/>
              </a:rPr>
              <a:t> + </a:t>
            </a:r>
            <a:r>
              <a:rPr lang="en-US" altLang="en-US" sz="1800" b="0" baseline="30000" dirty="0">
                <a:latin typeface="Tahoma" pitchFamily="34" charset="0"/>
              </a:rPr>
              <a:t>6</a:t>
            </a:r>
            <a:r>
              <a:rPr lang="en-US" altLang="en-US" sz="1800" b="0" dirty="0">
                <a:latin typeface="Tahoma" pitchFamily="34" charset="0"/>
              </a:rPr>
              <a:t>C</a:t>
            </a:r>
            <a:r>
              <a:rPr lang="en-US" altLang="en-US" sz="1800" b="0" baseline="-25000" dirty="0">
                <a:latin typeface="Tahoma" pitchFamily="34" charset="0"/>
              </a:rPr>
              <a:t>4</a:t>
            </a:r>
            <a:endParaRPr lang="en-US" altLang="en-US" sz="1800" b="0" dirty="0">
              <a:latin typeface="Tahoma" pitchFamily="34" charset="0"/>
            </a:endParaRPr>
          </a:p>
          <a:p>
            <a:pPr>
              <a:spcBef>
                <a:spcPct val="0"/>
              </a:spcBef>
              <a:spcAft>
                <a:spcPct val="0"/>
              </a:spcAft>
              <a:buClrTx/>
              <a:buSzTx/>
              <a:buFontTx/>
              <a:buNone/>
            </a:pPr>
            <a:r>
              <a:rPr lang="en-US" altLang="en-US" sz="1800" b="0" dirty="0">
                <a:latin typeface="Tahoma" pitchFamily="34" charset="0"/>
              </a:rPr>
              <a:t>	6 + 15 + 20 +15 = 56</a:t>
            </a:r>
          </a:p>
        </p:txBody>
      </p:sp>
    </p:spTree>
    <p:extLst>
      <p:ext uri="{BB962C8B-B14F-4D97-AF65-F5344CB8AC3E}">
        <p14:creationId xmlns:p14="http://schemas.microsoft.com/office/powerpoint/2010/main" val="2397714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a:t>Factors Affecting Complexity of Apriori</a:t>
            </a:r>
          </a:p>
        </p:txBody>
      </p:sp>
      <p:sp>
        <p:nvSpPr>
          <p:cNvPr id="45059" name="Rectangle 3"/>
          <p:cNvSpPr>
            <a:spLocks noGrp="1" noChangeArrowheads="1"/>
          </p:cNvSpPr>
          <p:nvPr>
            <p:ph type="body" idx="1"/>
          </p:nvPr>
        </p:nvSpPr>
        <p:spPr>
          <a:xfrm>
            <a:off x="411163" y="1143000"/>
            <a:ext cx="8504237" cy="5181600"/>
          </a:xfrm>
        </p:spPr>
        <p:txBody>
          <a:bodyPr/>
          <a:lstStyle/>
          <a:p>
            <a:pPr>
              <a:lnSpc>
                <a:spcPct val="80000"/>
              </a:lnSpc>
            </a:pPr>
            <a:r>
              <a:rPr lang="en-US" altLang="en-US" sz="2400" dirty="0"/>
              <a:t>Choice of minimum support threshold</a:t>
            </a:r>
          </a:p>
          <a:p>
            <a:pPr lvl="1">
              <a:lnSpc>
                <a:spcPct val="80000"/>
              </a:lnSpc>
            </a:pPr>
            <a:r>
              <a:rPr lang="en-US" altLang="en-US" sz="2000" dirty="0"/>
              <a:t> lowering support threshold results in more frequent </a:t>
            </a:r>
            <a:r>
              <a:rPr lang="en-US" altLang="en-US" sz="2000" dirty="0" err="1"/>
              <a:t>itemsets</a:t>
            </a:r>
            <a:endParaRPr lang="en-US" altLang="en-US" sz="2000" dirty="0"/>
          </a:p>
          <a:p>
            <a:pPr lvl="1">
              <a:lnSpc>
                <a:spcPct val="80000"/>
              </a:lnSpc>
            </a:pPr>
            <a:r>
              <a:rPr lang="en-US" altLang="en-US" sz="2000" dirty="0"/>
              <a:t> this may increase number of candidates and max length of frequent </a:t>
            </a:r>
            <a:r>
              <a:rPr lang="en-US" altLang="en-US" sz="2000" dirty="0" err="1"/>
              <a:t>itemsets</a:t>
            </a:r>
            <a:endParaRPr lang="en-US" altLang="en-US" sz="2000" dirty="0"/>
          </a:p>
          <a:p>
            <a:pPr>
              <a:lnSpc>
                <a:spcPct val="80000"/>
              </a:lnSpc>
            </a:pPr>
            <a:r>
              <a:rPr lang="en-US" altLang="en-US" sz="2400" dirty="0"/>
              <a:t>Dimensionality (number of items) of the data set</a:t>
            </a:r>
          </a:p>
          <a:p>
            <a:pPr lvl="1">
              <a:lnSpc>
                <a:spcPct val="80000"/>
              </a:lnSpc>
            </a:pPr>
            <a:r>
              <a:rPr lang="en-US" altLang="en-US" sz="2000" dirty="0"/>
              <a:t>More space is needed to store support count of  </a:t>
            </a:r>
            <a:r>
              <a:rPr lang="en-US" altLang="en-US" sz="2000" dirty="0" err="1"/>
              <a:t>itemsets</a:t>
            </a:r>
            <a:endParaRPr lang="en-US" altLang="en-US" sz="2000" dirty="0"/>
          </a:p>
          <a:p>
            <a:pPr lvl="1">
              <a:lnSpc>
                <a:spcPct val="80000"/>
              </a:lnSpc>
            </a:pPr>
            <a:r>
              <a:rPr lang="en-US" altLang="en-US" sz="2000" dirty="0"/>
              <a:t> if number of frequent </a:t>
            </a:r>
            <a:r>
              <a:rPr lang="en-US" altLang="en-US" sz="2000" dirty="0" err="1"/>
              <a:t>itemsets</a:t>
            </a:r>
            <a:r>
              <a:rPr lang="en-US" altLang="en-US" sz="2000" dirty="0"/>
              <a:t> also increases, both computation and I/O costs may also increase</a:t>
            </a:r>
          </a:p>
          <a:p>
            <a:pPr>
              <a:lnSpc>
                <a:spcPct val="80000"/>
              </a:lnSpc>
            </a:pPr>
            <a:r>
              <a:rPr lang="en-US" altLang="en-US" sz="2400" dirty="0"/>
              <a:t>Size of database</a:t>
            </a:r>
          </a:p>
          <a:p>
            <a:pPr>
              <a:lnSpc>
                <a:spcPct val="80000"/>
              </a:lnSpc>
            </a:pPr>
            <a:endParaRPr lang="en-US" altLang="en-US" sz="2400" dirty="0"/>
          </a:p>
          <a:p>
            <a:pPr>
              <a:lnSpc>
                <a:spcPct val="80000"/>
              </a:lnSpc>
            </a:pPr>
            <a:r>
              <a:rPr lang="en-US" altLang="en-US" sz="2400" dirty="0"/>
              <a:t>Average transaction width</a:t>
            </a:r>
          </a:p>
          <a:p>
            <a:pPr lvl="1">
              <a:lnSpc>
                <a:spcPct val="80000"/>
              </a:lnSpc>
            </a:pPr>
            <a:r>
              <a:rPr lang="en-US" altLang="en-US" sz="2000" dirty="0"/>
              <a:t> </a:t>
            </a:r>
          </a:p>
        </p:txBody>
      </p:sp>
      <p:graphicFrame>
        <p:nvGraphicFramePr>
          <p:cNvPr id="4" name="Object 21"/>
          <p:cNvGraphicFramePr>
            <a:graphicFrameLocks noGrp="1" noChangeAspect="1"/>
          </p:cNvGraphicFramePr>
          <p:nvPr>
            <p:extLst>
              <p:ext uri="{D42A27DB-BD31-4B8C-83A1-F6EECF244321}">
                <p14:modId xmlns:p14="http://schemas.microsoft.com/office/powerpoint/2010/main" val="190132732"/>
              </p:ext>
            </p:extLst>
          </p:nvPr>
        </p:nvGraphicFramePr>
        <p:xfrm>
          <a:off x="5422900" y="4349336"/>
          <a:ext cx="3568700" cy="2051464"/>
        </p:xfrm>
        <a:graphic>
          <a:graphicData uri="http://schemas.openxmlformats.org/presentationml/2006/ole">
            <mc:AlternateContent xmlns:mc="http://schemas.openxmlformats.org/markup-compatibility/2006">
              <mc:Choice xmlns:v="urn:schemas-microsoft-com:vml" Requires="v">
                <p:oleObj name="Document" r:id="rId2" imgW="3352666" imgH="2016134" progId="Word.Document.8">
                  <p:embed/>
                </p:oleObj>
              </mc:Choice>
              <mc:Fallback>
                <p:oleObj name="Document" r:id="rId2" imgW="3352666" imgH="2016134" progId="Word.Document.8">
                  <p:embed/>
                  <p:pic>
                    <p:nvPicPr>
                      <p:cNvPr id="17412" name="Object 2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2900" y="4349336"/>
                        <a:ext cx="3568700" cy="205146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248654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a:t>Factors Affecting Complexity of Apriori</a:t>
            </a:r>
          </a:p>
        </p:txBody>
      </p:sp>
      <p:sp>
        <p:nvSpPr>
          <p:cNvPr id="45059" name="Rectangle 3"/>
          <p:cNvSpPr>
            <a:spLocks noGrp="1" noChangeArrowheads="1"/>
          </p:cNvSpPr>
          <p:nvPr>
            <p:ph type="body" idx="1"/>
          </p:nvPr>
        </p:nvSpPr>
        <p:spPr>
          <a:xfrm>
            <a:off x="411163" y="1143000"/>
            <a:ext cx="8504237" cy="5181600"/>
          </a:xfrm>
        </p:spPr>
        <p:txBody>
          <a:bodyPr/>
          <a:lstStyle/>
          <a:p>
            <a:pPr>
              <a:lnSpc>
                <a:spcPct val="80000"/>
              </a:lnSpc>
            </a:pPr>
            <a:r>
              <a:rPr lang="en-US" altLang="en-US" sz="2400" dirty="0"/>
              <a:t>Choice of minimum support threshold</a:t>
            </a:r>
          </a:p>
          <a:p>
            <a:pPr lvl="1">
              <a:lnSpc>
                <a:spcPct val="80000"/>
              </a:lnSpc>
            </a:pPr>
            <a:r>
              <a:rPr lang="en-US" altLang="en-US" sz="2000" dirty="0"/>
              <a:t> lowering support threshold results in more frequent </a:t>
            </a:r>
            <a:r>
              <a:rPr lang="en-US" altLang="en-US" sz="2000" dirty="0" err="1"/>
              <a:t>itemsets</a:t>
            </a:r>
            <a:endParaRPr lang="en-US" altLang="en-US" sz="2000" dirty="0"/>
          </a:p>
          <a:p>
            <a:pPr lvl="1">
              <a:lnSpc>
                <a:spcPct val="80000"/>
              </a:lnSpc>
            </a:pPr>
            <a:r>
              <a:rPr lang="en-US" altLang="en-US" sz="2000" dirty="0"/>
              <a:t> this may increase number of candidates and max length of frequent </a:t>
            </a:r>
            <a:r>
              <a:rPr lang="en-US" altLang="en-US" sz="2000" dirty="0" err="1"/>
              <a:t>itemsets</a:t>
            </a:r>
            <a:endParaRPr lang="en-US" altLang="en-US" sz="2000" dirty="0"/>
          </a:p>
          <a:p>
            <a:pPr>
              <a:lnSpc>
                <a:spcPct val="80000"/>
              </a:lnSpc>
            </a:pPr>
            <a:r>
              <a:rPr lang="en-US" altLang="en-US" sz="2400" dirty="0"/>
              <a:t>Dimensionality (number of items) of the data set</a:t>
            </a:r>
          </a:p>
          <a:p>
            <a:pPr lvl="1">
              <a:lnSpc>
                <a:spcPct val="80000"/>
              </a:lnSpc>
            </a:pPr>
            <a:r>
              <a:rPr lang="en-US" altLang="en-US" sz="2000" dirty="0"/>
              <a:t>More space is needed to store support count of  </a:t>
            </a:r>
            <a:r>
              <a:rPr lang="en-US" altLang="en-US" sz="2000" dirty="0" err="1"/>
              <a:t>itemsets</a:t>
            </a:r>
            <a:endParaRPr lang="en-US" altLang="en-US" sz="2000" dirty="0"/>
          </a:p>
          <a:p>
            <a:pPr lvl="1">
              <a:lnSpc>
                <a:spcPct val="80000"/>
              </a:lnSpc>
            </a:pPr>
            <a:r>
              <a:rPr lang="en-US" altLang="en-US" sz="2000" dirty="0"/>
              <a:t> if number of frequent </a:t>
            </a:r>
            <a:r>
              <a:rPr lang="en-US" altLang="en-US" sz="2000" dirty="0" err="1"/>
              <a:t>itemsets</a:t>
            </a:r>
            <a:r>
              <a:rPr lang="en-US" altLang="en-US" sz="2000" dirty="0"/>
              <a:t> also increases, both computation and I/O costs may also increase</a:t>
            </a:r>
          </a:p>
          <a:p>
            <a:pPr>
              <a:lnSpc>
                <a:spcPct val="80000"/>
              </a:lnSpc>
            </a:pPr>
            <a:r>
              <a:rPr lang="en-US" altLang="en-US" sz="2400" dirty="0"/>
              <a:t>Size of database</a:t>
            </a:r>
          </a:p>
          <a:p>
            <a:pPr lvl="1">
              <a:lnSpc>
                <a:spcPct val="80000"/>
              </a:lnSpc>
            </a:pPr>
            <a:r>
              <a:rPr lang="en-US" altLang="en-US" sz="2000" dirty="0"/>
              <a:t>  run time of algorithm increases with number of transactions</a:t>
            </a:r>
          </a:p>
          <a:p>
            <a:pPr>
              <a:lnSpc>
                <a:spcPct val="80000"/>
              </a:lnSpc>
            </a:pPr>
            <a:r>
              <a:rPr lang="en-US" altLang="en-US" sz="2400" dirty="0"/>
              <a:t>Average transaction width</a:t>
            </a:r>
          </a:p>
        </p:txBody>
      </p:sp>
      <p:graphicFrame>
        <p:nvGraphicFramePr>
          <p:cNvPr id="4" name="Object 21"/>
          <p:cNvGraphicFramePr>
            <a:graphicFrameLocks noGrp="1" noChangeAspect="1"/>
          </p:cNvGraphicFramePr>
          <p:nvPr>
            <p:extLst>
              <p:ext uri="{D42A27DB-BD31-4B8C-83A1-F6EECF244321}">
                <p14:modId xmlns:p14="http://schemas.microsoft.com/office/powerpoint/2010/main" val="2206705810"/>
              </p:ext>
            </p:extLst>
          </p:nvPr>
        </p:nvGraphicFramePr>
        <p:xfrm>
          <a:off x="5422900" y="4703041"/>
          <a:ext cx="3568700" cy="2078759"/>
        </p:xfrm>
        <a:graphic>
          <a:graphicData uri="http://schemas.openxmlformats.org/presentationml/2006/ole">
            <mc:AlternateContent xmlns:mc="http://schemas.openxmlformats.org/markup-compatibility/2006">
              <mc:Choice xmlns:v="urn:schemas-microsoft-com:vml" Requires="v">
                <p:oleObj name="Document" r:id="rId2" imgW="3352666" imgH="2016134" progId="Word.Document.8">
                  <p:embed/>
                </p:oleObj>
              </mc:Choice>
              <mc:Fallback>
                <p:oleObj name="Document" r:id="rId2" imgW="3352666" imgH="2016134" progId="Word.Document.8">
                  <p:embed/>
                  <p:pic>
                    <p:nvPicPr>
                      <p:cNvPr id="17412" name="Object 2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2900" y="4703041"/>
                        <a:ext cx="3568700" cy="207875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82327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dirty="0"/>
              <a:t>Factors Affecting Complexity of </a:t>
            </a:r>
            <a:r>
              <a:rPr lang="en-US" altLang="en-US" dirty="0" err="1"/>
              <a:t>Apriori</a:t>
            </a:r>
            <a:endParaRPr lang="en-US" altLang="en-US" dirty="0"/>
          </a:p>
        </p:txBody>
      </p:sp>
      <p:sp>
        <p:nvSpPr>
          <p:cNvPr id="45059" name="Rectangle 3"/>
          <p:cNvSpPr>
            <a:spLocks noGrp="1" noChangeArrowheads="1"/>
          </p:cNvSpPr>
          <p:nvPr>
            <p:ph type="body" idx="1"/>
          </p:nvPr>
        </p:nvSpPr>
        <p:spPr>
          <a:xfrm>
            <a:off x="411163" y="1143000"/>
            <a:ext cx="8504237" cy="5181600"/>
          </a:xfrm>
        </p:spPr>
        <p:txBody>
          <a:bodyPr/>
          <a:lstStyle/>
          <a:p>
            <a:pPr>
              <a:lnSpc>
                <a:spcPct val="80000"/>
              </a:lnSpc>
            </a:pPr>
            <a:r>
              <a:rPr lang="en-US" altLang="en-US" sz="2400" dirty="0"/>
              <a:t>Choice of minimum support threshold</a:t>
            </a:r>
          </a:p>
          <a:p>
            <a:pPr lvl="1">
              <a:lnSpc>
                <a:spcPct val="80000"/>
              </a:lnSpc>
            </a:pPr>
            <a:r>
              <a:rPr lang="en-US" altLang="en-US" sz="2000" dirty="0"/>
              <a:t> lowering support threshold results in more frequent </a:t>
            </a:r>
            <a:r>
              <a:rPr lang="en-US" altLang="en-US" sz="2000" dirty="0" err="1"/>
              <a:t>itemsets</a:t>
            </a:r>
            <a:endParaRPr lang="en-US" altLang="en-US" sz="2000" dirty="0"/>
          </a:p>
          <a:p>
            <a:pPr lvl="1">
              <a:lnSpc>
                <a:spcPct val="80000"/>
              </a:lnSpc>
            </a:pPr>
            <a:r>
              <a:rPr lang="en-US" altLang="en-US" sz="2000" dirty="0"/>
              <a:t> this may increase number of candidates and max length of frequent </a:t>
            </a:r>
            <a:r>
              <a:rPr lang="en-US" altLang="en-US" sz="2000" dirty="0" err="1"/>
              <a:t>itemsets</a:t>
            </a:r>
            <a:endParaRPr lang="en-US" altLang="en-US" sz="2000" dirty="0"/>
          </a:p>
          <a:p>
            <a:pPr>
              <a:lnSpc>
                <a:spcPct val="80000"/>
              </a:lnSpc>
            </a:pPr>
            <a:r>
              <a:rPr lang="en-US" altLang="en-US" sz="2400" dirty="0"/>
              <a:t>Dimensionality (number of items) of the data set</a:t>
            </a:r>
          </a:p>
          <a:p>
            <a:pPr lvl="1">
              <a:lnSpc>
                <a:spcPct val="80000"/>
              </a:lnSpc>
            </a:pPr>
            <a:r>
              <a:rPr lang="en-US" altLang="en-US" sz="2000" dirty="0"/>
              <a:t>More space is needed to store support count of  </a:t>
            </a:r>
            <a:r>
              <a:rPr lang="en-US" altLang="en-US" sz="2000" dirty="0" err="1"/>
              <a:t>itemsets</a:t>
            </a:r>
            <a:endParaRPr lang="en-US" altLang="en-US" sz="2000" dirty="0"/>
          </a:p>
          <a:p>
            <a:pPr lvl="1">
              <a:lnSpc>
                <a:spcPct val="80000"/>
              </a:lnSpc>
            </a:pPr>
            <a:r>
              <a:rPr lang="en-US" altLang="en-US" sz="2000" dirty="0"/>
              <a:t> if number of frequent </a:t>
            </a:r>
            <a:r>
              <a:rPr lang="en-US" altLang="en-US" sz="2000" dirty="0" err="1"/>
              <a:t>itemsets</a:t>
            </a:r>
            <a:r>
              <a:rPr lang="en-US" altLang="en-US" sz="2000" dirty="0"/>
              <a:t> also increases, both computation and I/O costs may also increase</a:t>
            </a:r>
          </a:p>
          <a:p>
            <a:pPr>
              <a:lnSpc>
                <a:spcPct val="80000"/>
              </a:lnSpc>
            </a:pPr>
            <a:r>
              <a:rPr lang="en-US" altLang="en-US" sz="2400" dirty="0"/>
              <a:t>Size of database</a:t>
            </a:r>
          </a:p>
          <a:p>
            <a:pPr lvl="1">
              <a:lnSpc>
                <a:spcPct val="80000"/>
              </a:lnSpc>
            </a:pPr>
            <a:r>
              <a:rPr lang="en-US" altLang="en-US" sz="2000" dirty="0"/>
              <a:t>  run time of algorithm increases with number of transactions</a:t>
            </a:r>
          </a:p>
          <a:p>
            <a:pPr>
              <a:lnSpc>
                <a:spcPct val="80000"/>
              </a:lnSpc>
            </a:pPr>
            <a:r>
              <a:rPr lang="en-US" altLang="en-US" sz="2400" dirty="0"/>
              <a:t>Average transaction width</a:t>
            </a:r>
          </a:p>
          <a:p>
            <a:pPr lvl="1">
              <a:lnSpc>
                <a:spcPct val="80000"/>
              </a:lnSpc>
            </a:pPr>
            <a:r>
              <a:rPr lang="en-US" altLang="en-US" sz="2000" dirty="0"/>
              <a:t> transaction width increases the max length of frequent </a:t>
            </a:r>
            <a:r>
              <a:rPr lang="en-US" altLang="en-US" sz="2000" dirty="0" err="1"/>
              <a:t>itemsets</a:t>
            </a:r>
            <a:endParaRPr lang="en-US" altLang="en-US" sz="2000" dirty="0"/>
          </a:p>
          <a:p>
            <a:pPr lvl="1">
              <a:lnSpc>
                <a:spcPct val="80000"/>
              </a:lnSpc>
            </a:pPr>
            <a:r>
              <a:rPr lang="en-US" altLang="en-US" sz="2000" dirty="0"/>
              <a:t> number of subsets in a transaction increases with its width, increasing computation time for support counting</a:t>
            </a:r>
          </a:p>
        </p:txBody>
      </p:sp>
    </p:spTree>
    <p:extLst>
      <p:ext uri="{BB962C8B-B14F-4D97-AF65-F5344CB8AC3E}">
        <p14:creationId xmlns:p14="http://schemas.microsoft.com/office/powerpoint/2010/main" val="3877448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ltLang="en-US"/>
              <a:t>Factors Affecting Complexity of Apriori</a:t>
            </a:r>
          </a:p>
        </p:txBody>
      </p:sp>
      <p:pic>
        <p:nvPicPr>
          <p:cNvPr id="4608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 y="1143000"/>
            <a:ext cx="4495800" cy="5181600"/>
          </a:xfrm>
          <a:noFill/>
        </p:spPr>
      </p:pic>
      <p:pic>
        <p:nvPicPr>
          <p:cNvPr id="4608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990600"/>
            <a:ext cx="44958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950119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2D422-4D8B-E092-D56D-C0F213573A33}"/>
              </a:ext>
            </a:extLst>
          </p:cNvPr>
          <p:cNvSpPr>
            <a:spLocks noGrp="1"/>
          </p:cNvSpPr>
          <p:nvPr>
            <p:ph type="title"/>
          </p:nvPr>
        </p:nvSpPr>
        <p:spPr/>
        <p:txBody>
          <a:bodyPr/>
          <a:lstStyle/>
          <a:p>
            <a:r>
              <a:rPr lang="en-US" dirty="0"/>
              <a:t>Assumptions of </a:t>
            </a:r>
            <a:r>
              <a:rPr lang="en-US" dirty="0" err="1"/>
              <a:t>Apriori</a:t>
            </a:r>
            <a:endParaRPr lang="en-US" dirty="0"/>
          </a:p>
        </p:txBody>
      </p:sp>
      <p:sp>
        <p:nvSpPr>
          <p:cNvPr id="3" name="Content Placeholder 2">
            <a:extLst>
              <a:ext uri="{FF2B5EF4-FFF2-40B4-BE49-F238E27FC236}">
                <a16:creationId xmlns:a16="http://schemas.microsoft.com/office/drawing/2014/main" id="{548DDCF4-BF60-6C29-1106-02026CA2DEC5}"/>
              </a:ext>
            </a:extLst>
          </p:cNvPr>
          <p:cNvSpPr>
            <a:spLocks noGrp="1"/>
          </p:cNvSpPr>
          <p:nvPr>
            <p:ph idx="1"/>
          </p:nvPr>
        </p:nvSpPr>
        <p:spPr/>
        <p:txBody>
          <a:bodyPr/>
          <a:lstStyle/>
          <a:p>
            <a:r>
              <a:rPr lang="en-US" dirty="0"/>
              <a:t>If an itemset is frequent, then all of its subsets must also be frequent.</a:t>
            </a:r>
          </a:p>
          <a:p>
            <a:r>
              <a:rPr lang="en-US" dirty="0"/>
              <a:t>Conversely, if an itemset such as {a, b} is infrequent, then all of its supersets must be infrequent too.</a:t>
            </a:r>
          </a:p>
        </p:txBody>
      </p:sp>
    </p:spTree>
    <p:extLst>
      <p:ext uri="{BB962C8B-B14F-4D97-AF65-F5344CB8AC3E}">
        <p14:creationId xmlns:p14="http://schemas.microsoft.com/office/powerpoint/2010/main" val="2429973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B779F-5291-B7A9-6CD0-B5EFDD35513E}"/>
              </a:ext>
            </a:extLst>
          </p:cNvPr>
          <p:cNvSpPr>
            <a:spLocks noGrp="1"/>
          </p:cNvSpPr>
          <p:nvPr>
            <p:ph type="title"/>
          </p:nvPr>
        </p:nvSpPr>
        <p:spPr/>
        <p:txBody>
          <a:bodyPr/>
          <a:lstStyle/>
          <a:p>
            <a:r>
              <a:rPr lang="en-US" dirty="0"/>
              <a:t>Problem with </a:t>
            </a:r>
            <a:r>
              <a:rPr lang="en-US" altLang="en-US" dirty="0" err="1"/>
              <a:t>Apriori</a:t>
            </a:r>
            <a:r>
              <a:rPr lang="en-US" altLang="en-US" dirty="0"/>
              <a:t> </a:t>
            </a:r>
            <a:endParaRPr lang="en-US" dirty="0"/>
          </a:p>
        </p:txBody>
      </p:sp>
      <p:sp>
        <p:nvSpPr>
          <p:cNvPr id="3" name="Content Placeholder 2">
            <a:extLst>
              <a:ext uri="{FF2B5EF4-FFF2-40B4-BE49-F238E27FC236}">
                <a16:creationId xmlns:a16="http://schemas.microsoft.com/office/drawing/2014/main" id="{4ED4CA5B-A129-5047-8EA4-7767530B7357}"/>
              </a:ext>
            </a:extLst>
          </p:cNvPr>
          <p:cNvSpPr>
            <a:spLocks noGrp="1"/>
          </p:cNvSpPr>
          <p:nvPr>
            <p:ph idx="1"/>
          </p:nvPr>
        </p:nvSpPr>
        <p:spPr/>
        <p:txBody>
          <a:bodyPr/>
          <a:lstStyle/>
          <a:p>
            <a:r>
              <a:rPr lang="en-US" b="0" i="0" dirty="0">
                <a:effectLst/>
              </a:rPr>
              <a:t>In practice, the number of frequent </a:t>
            </a:r>
            <a:r>
              <a:rPr lang="en-US" b="0" i="0" dirty="0" err="1">
                <a:effectLst/>
              </a:rPr>
              <a:t>itemsets</a:t>
            </a:r>
            <a:r>
              <a:rPr lang="en-US" b="0" i="0" dirty="0">
                <a:effectLst/>
              </a:rPr>
              <a:t> produced from a transaction data set can be very large. It is useful to identify a small representative set of </a:t>
            </a:r>
            <a:r>
              <a:rPr lang="en-US" b="0" i="0" dirty="0" err="1">
                <a:effectLst/>
              </a:rPr>
              <a:t>itemsets</a:t>
            </a:r>
            <a:r>
              <a:rPr lang="en-US" b="0" i="0" dirty="0">
                <a:effectLst/>
              </a:rPr>
              <a:t> from which all other frequent </a:t>
            </a:r>
            <a:r>
              <a:rPr lang="en-US" b="0" i="0" dirty="0" err="1">
                <a:effectLst/>
              </a:rPr>
              <a:t>itemsets</a:t>
            </a:r>
            <a:r>
              <a:rPr lang="en-US" b="0" i="0" dirty="0">
                <a:effectLst/>
              </a:rPr>
              <a:t> can be derived. </a:t>
            </a:r>
          </a:p>
          <a:p>
            <a:r>
              <a:rPr lang="en-US" b="0" i="0" dirty="0">
                <a:effectLst/>
              </a:rPr>
              <a:t>Two such representations are presented in this section in the form of maximal and closed frequent </a:t>
            </a:r>
            <a:r>
              <a:rPr lang="en-US" b="0" i="0" dirty="0" err="1">
                <a:effectLst/>
              </a:rPr>
              <a:t>itemsets</a:t>
            </a:r>
            <a:r>
              <a:rPr lang="en-US" b="0" i="0" dirty="0">
                <a:effectLst/>
              </a:rPr>
              <a:t>.</a:t>
            </a:r>
            <a:endParaRPr lang="en-US" dirty="0"/>
          </a:p>
        </p:txBody>
      </p:sp>
    </p:spTree>
    <p:extLst>
      <p:ext uri="{BB962C8B-B14F-4D97-AF65-F5344CB8AC3E}">
        <p14:creationId xmlns:p14="http://schemas.microsoft.com/office/powerpoint/2010/main" val="794286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en-US" dirty="0"/>
              <a:t>Maximal Frequent Itemset</a:t>
            </a:r>
          </a:p>
        </p:txBody>
      </p:sp>
      <p:graphicFrame>
        <p:nvGraphicFramePr>
          <p:cNvPr id="48131" name="Object 3"/>
          <p:cNvGraphicFramePr>
            <a:graphicFrameLocks noChangeAspect="1"/>
          </p:cNvGraphicFramePr>
          <p:nvPr/>
        </p:nvGraphicFramePr>
        <p:xfrm>
          <a:off x="1162050" y="1524000"/>
          <a:ext cx="7140575" cy="4873625"/>
        </p:xfrm>
        <a:graphic>
          <a:graphicData uri="http://schemas.openxmlformats.org/presentationml/2006/ole">
            <mc:AlternateContent xmlns:mc="http://schemas.openxmlformats.org/markup-compatibility/2006">
              <mc:Choice xmlns:v="urn:schemas-microsoft-com:vml" Requires="v">
                <p:oleObj name="Visio" r:id="rId3" imgW="9687611" imgH="7157416" progId="Visio.Drawing.6">
                  <p:embed/>
                </p:oleObj>
              </mc:Choice>
              <mc:Fallback>
                <p:oleObj name="Visio" r:id="rId3" imgW="9687611" imgH="7157416" progId="Visio.Drawing.6">
                  <p:embed/>
                  <p:pic>
                    <p:nvPicPr>
                      <p:cNvPr id="4813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2050" y="1524000"/>
                        <a:ext cx="7140575" cy="487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2" name="Text Box 4"/>
          <p:cNvSpPr txBox="1">
            <a:spLocks noChangeArrowheads="1"/>
          </p:cNvSpPr>
          <p:nvPr/>
        </p:nvSpPr>
        <p:spPr bwMode="auto">
          <a:xfrm>
            <a:off x="7270750" y="5897563"/>
            <a:ext cx="1111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Border</a:t>
            </a:r>
          </a:p>
        </p:txBody>
      </p:sp>
      <p:sp>
        <p:nvSpPr>
          <p:cNvPr id="48133" name="Text Box 5"/>
          <p:cNvSpPr txBox="1">
            <a:spLocks noChangeArrowheads="1"/>
          </p:cNvSpPr>
          <p:nvPr/>
        </p:nvSpPr>
        <p:spPr bwMode="auto">
          <a:xfrm>
            <a:off x="685800" y="5610225"/>
            <a:ext cx="11112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Infrequent Itemsets</a:t>
            </a:r>
          </a:p>
        </p:txBody>
      </p:sp>
      <p:sp>
        <p:nvSpPr>
          <p:cNvPr id="48134" name="Text Box 6"/>
          <p:cNvSpPr txBox="1">
            <a:spLocks noChangeArrowheads="1"/>
          </p:cNvSpPr>
          <p:nvPr/>
        </p:nvSpPr>
        <p:spPr bwMode="auto">
          <a:xfrm>
            <a:off x="844550" y="2097088"/>
            <a:ext cx="11128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Maximal Itemsets</a:t>
            </a:r>
          </a:p>
        </p:txBody>
      </p:sp>
      <p:sp>
        <p:nvSpPr>
          <p:cNvPr id="48135" name="Line 7"/>
          <p:cNvSpPr>
            <a:spLocks noChangeShapeType="1"/>
          </p:cNvSpPr>
          <p:nvPr/>
        </p:nvSpPr>
        <p:spPr bwMode="auto">
          <a:xfrm flipH="1">
            <a:off x="1241425" y="4606925"/>
            <a:ext cx="158750" cy="1074738"/>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36" name="Line 8"/>
          <p:cNvSpPr>
            <a:spLocks noChangeShapeType="1"/>
          </p:cNvSpPr>
          <p:nvPr/>
        </p:nvSpPr>
        <p:spPr bwMode="auto">
          <a:xfrm flipH="1" flipV="1">
            <a:off x="1717675" y="2527300"/>
            <a:ext cx="1030288" cy="646113"/>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37" name="Line 9"/>
          <p:cNvSpPr>
            <a:spLocks noChangeShapeType="1"/>
          </p:cNvSpPr>
          <p:nvPr/>
        </p:nvSpPr>
        <p:spPr bwMode="auto">
          <a:xfrm flipH="1">
            <a:off x="1717675" y="4535488"/>
            <a:ext cx="1030288" cy="1146175"/>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38" name="Line 10"/>
          <p:cNvSpPr>
            <a:spLocks noChangeShapeType="1"/>
          </p:cNvSpPr>
          <p:nvPr/>
        </p:nvSpPr>
        <p:spPr bwMode="auto">
          <a:xfrm flipH="1">
            <a:off x="1797050" y="5538788"/>
            <a:ext cx="635000" cy="287337"/>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39" name="Line 11"/>
          <p:cNvSpPr>
            <a:spLocks noChangeShapeType="1"/>
          </p:cNvSpPr>
          <p:nvPr/>
        </p:nvSpPr>
        <p:spPr bwMode="auto">
          <a:xfrm flipH="1" flipV="1">
            <a:off x="1638300" y="5969000"/>
            <a:ext cx="2697163" cy="287338"/>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40" name="Line 12"/>
          <p:cNvSpPr>
            <a:spLocks noChangeShapeType="1"/>
          </p:cNvSpPr>
          <p:nvPr/>
        </p:nvSpPr>
        <p:spPr bwMode="auto">
          <a:xfrm flipH="1" flipV="1">
            <a:off x="1558925" y="2598738"/>
            <a:ext cx="2632075" cy="1668462"/>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41" name="Line 13"/>
          <p:cNvSpPr>
            <a:spLocks noChangeShapeType="1"/>
          </p:cNvSpPr>
          <p:nvPr/>
        </p:nvSpPr>
        <p:spPr bwMode="auto">
          <a:xfrm flipH="1">
            <a:off x="1479550" y="4535488"/>
            <a:ext cx="555625" cy="1074737"/>
          </a:xfrm>
          <a:prstGeom prst="line">
            <a:avLst/>
          </a:prstGeom>
          <a:noFill/>
          <a:ln w="25400">
            <a:solidFill>
              <a:srgbClr val="80008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142" name="Text Box 14"/>
          <p:cNvSpPr txBox="1">
            <a:spLocks noChangeArrowheads="1"/>
          </p:cNvSpPr>
          <p:nvPr/>
        </p:nvSpPr>
        <p:spPr bwMode="auto">
          <a:xfrm>
            <a:off x="381000" y="1050925"/>
            <a:ext cx="8305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dirty="0"/>
              <a:t>An itemset is maximal frequent if it is frequent and none of its immediate supersets is frequent</a:t>
            </a:r>
          </a:p>
        </p:txBody>
      </p:sp>
    </p:spTree>
    <p:extLst>
      <p:ext uri="{BB962C8B-B14F-4D97-AF65-F5344CB8AC3E}">
        <p14:creationId xmlns:p14="http://schemas.microsoft.com/office/powerpoint/2010/main" val="1018549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dirty="0"/>
              <a:t>Maximal Frequent Itemset</a:t>
            </a:r>
          </a:p>
        </p:txBody>
      </p:sp>
      <p:sp>
        <p:nvSpPr>
          <p:cNvPr id="45059" name="Rectangle 3"/>
          <p:cNvSpPr>
            <a:spLocks noGrp="1" noChangeArrowheads="1"/>
          </p:cNvSpPr>
          <p:nvPr>
            <p:ph type="body" idx="1"/>
          </p:nvPr>
        </p:nvSpPr>
        <p:spPr>
          <a:xfrm>
            <a:off x="411163" y="1143000"/>
            <a:ext cx="8504237" cy="5181600"/>
          </a:xfrm>
        </p:spPr>
        <p:txBody>
          <a:bodyPr/>
          <a:lstStyle/>
          <a:p>
            <a:pPr algn="just">
              <a:lnSpc>
                <a:spcPct val="80000"/>
              </a:lnSpc>
            </a:pPr>
            <a:r>
              <a:rPr lang="en-US" altLang="en-US" sz="2000" dirty="0"/>
              <a:t>Maximal frequent </a:t>
            </a:r>
            <a:r>
              <a:rPr lang="en-US" altLang="en-US" sz="2000" dirty="0" err="1"/>
              <a:t>itemsets</a:t>
            </a:r>
            <a:r>
              <a:rPr lang="en-US" altLang="en-US" sz="2000" dirty="0"/>
              <a:t> effectively provide a compact representation of frequent </a:t>
            </a:r>
            <a:r>
              <a:rPr lang="en-US" altLang="en-US" sz="2000" dirty="0" err="1"/>
              <a:t>itemsets</a:t>
            </a:r>
            <a:r>
              <a:rPr lang="en-US" altLang="en-US" sz="2000" dirty="0"/>
              <a:t>. In other words, they form the smallest set of </a:t>
            </a:r>
            <a:r>
              <a:rPr lang="en-US" altLang="en-US" sz="2000" dirty="0" err="1"/>
              <a:t>itemsets</a:t>
            </a:r>
            <a:r>
              <a:rPr lang="en-US" altLang="en-US" sz="2000" dirty="0"/>
              <a:t> from which all frequent </a:t>
            </a:r>
            <a:r>
              <a:rPr lang="en-US" altLang="en-US" sz="2000" dirty="0" err="1"/>
              <a:t>itemsets</a:t>
            </a:r>
            <a:r>
              <a:rPr lang="en-US" altLang="en-US" sz="2000" dirty="0"/>
              <a:t> can be derived. </a:t>
            </a:r>
          </a:p>
          <a:p>
            <a:pPr algn="just">
              <a:lnSpc>
                <a:spcPct val="80000"/>
              </a:lnSpc>
            </a:pPr>
            <a:endParaRPr lang="en-US" altLang="en-US" sz="2000" dirty="0"/>
          </a:p>
          <a:p>
            <a:pPr algn="just">
              <a:lnSpc>
                <a:spcPct val="80000"/>
              </a:lnSpc>
            </a:pPr>
            <a:r>
              <a:rPr lang="en-US" altLang="en-US" sz="2000" dirty="0"/>
              <a:t>Here there are two groups of frequent </a:t>
            </a:r>
            <a:r>
              <a:rPr lang="en-US" altLang="en-US" sz="2000" dirty="0" err="1"/>
              <a:t>itemsets</a:t>
            </a:r>
            <a:r>
              <a:rPr lang="en-US" altLang="en-US" sz="2000" dirty="0"/>
              <a:t>.</a:t>
            </a:r>
          </a:p>
          <a:p>
            <a:pPr algn="just">
              <a:lnSpc>
                <a:spcPct val="80000"/>
              </a:lnSpc>
            </a:pPr>
            <a:endParaRPr lang="en-US" altLang="en-US" sz="2000" dirty="0"/>
          </a:p>
          <a:p>
            <a:pPr algn="just">
              <a:lnSpc>
                <a:spcPct val="80000"/>
              </a:lnSpc>
            </a:pPr>
            <a:r>
              <a:rPr lang="en-US" altLang="en-US" sz="2000" dirty="0"/>
              <a:t>Frequent </a:t>
            </a:r>
            <a:r>
              <a:rPr lang="en-US" altLang="en-US" sz="2000" dirty="0" err="1"/>
              <a:t>itemsets</a:t>
            </a:r>
            <a:r>
              <a:rPr lang="en-US" altLang="en-US" sz="2000" dirty="0"/>
              <a:t> that begin with item a and that may contain items c, d, or e. This group includes </a:t>
            </a:r>
            <a:r>
              <a:rPr lang="en-US" altLang="en-US" sz="2000" dirty="0" err="1"/>
              <a:t>itemsets</a:t>
            </a:r>
            <a:r>
              <a:rPr lang="en-US" altLang="en-US" sz="2000" dirty="0"/>
              <a:t> such as {a}, {a, c}, {a, d}, {a, e}, and {a, c, e}. </a:t>
            </a:r>
          </a:p>
          <a:p>
            <a:pPr algn="just">
              <a:lnSpc>
                <a:spcPct val="80000"/>
              </a:lnSpc>
            </a:pPr>
            <a:endParaRPr lang="en-US" altLang="en-US" sz="2000" dirty="0"/>
          </a:p>
          <a:p>
            <a:pPr algn="just">
              <a:lnSpc>
                <a:spcPct val="80000"/>
              </a:lnSpc>
            </a:pPr>
            <a:r>
              <a:rPr lang="en-US" altLang="en-US" sz="2000" dirty="0"/>
              <a:t>Frequent </a:t>
            </a:r>
            <a:r>
              <a:rPr lang="en-US" altLang="en-US" sz="2000" dirty="0" err="1"/>
              <a:t>itemsets</a:t>
            </a:r>
            <a:r>
              <a:rPr lang="en-US" altLang="en-US" sz="2000" dirty="0"/>
              <a:t> that begin with items b, c, d, or e. This group includes </a:t>
            </a:r>
            <a:r>
              <a:rPr lang="en-US" altLang="en-US" sz="2000" dirty="0" err="1"/>
              <a:t>itemsets</a:t>
            </a:r>
            <a:r>
              <a:rPr lang="en-US" altLang="en-US" sz="2000" dirty="0"/>
              <a:t> such as {b}, {b, c}, {c, d},{b, c, d, e}, etc.</a:t>
            </a:r>
          </a:p>
          <a:p>
            <a:pPr algn="just">
              <a:lnSpc>
                <a:spcPct val="80000"/>
              </a:lnSpc>
            </a:pPr>
            <a:endParaRPr lang="en-US" altLang="en-US" sz="2000" dirty="0"/>
          </a:p>
          <a:p>
            <a:pPr algn="just">
              <a:lnSpc>
                <a:spcPct val="80000"/>
              </a:lnSpc>
            </a:pPr>
            <a:r>
              <a:rPr lang="en-US" altLang="en-US" sz="2000" dirty="0"/>
              <a:t>Frequent </a:t>
            </a:r>
            <a:r>
              <a:rPr lang="en-US" altLang="en-US" sz="2000" dirty="0" err="1"/>
              <a:t>itemsets</a:t>
            </a:r>
            <a:r>
              <a:rPr lang="en-US" altLang="en-US" sz="2000" dirty="0"/>
              <a:t> that belong in the first group are subsets of either {a, c, e} or {a, d}, while those that belong in the second group are subsets of {b, c, d, e}. </a:t>
            </a:r>
          </a:p>
        </p:txBody>
      </p:sp>
    </p:spTree>
    <p:extLst>
      <p:ext uri="{BB962C8B-B14F-4D97-AF65-F5344CB8AC3E}">
        <p14:creationId xmlns:p14="http://schemas.microsoft.com/office/powerpoint/2010/main" val="31964465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dirty="0"/>
              <a:t>Maximal Frequent Itemset</a:t>
            </a:r>
          </a:p>
        </p:txBody>
      </p:sp>
      <p:sp>
        <p:nvSpPr>
          <p:cNvPr id="45059" name="Rectangle 3"/>
          <p:cNvSpPr>
            <a:spLocks noGrp="1" noChangeArrowheads="1"/>
          </p:cNvSpPr>
          <p:nvPr>
            <p:ph type="body" idx="1"/>
          </p:nvPr>
        </p:nvSpPr>
        <p:spPr>
          <a:xfrm>
            <a:off x="411163" y="1143000"/>
            <a:ext cx="8504237" cy="5181600"/>
          </a:xfrm>
        </p:spPr>
        <p:txBody>
          <a:bodyPr/>
          <a:lstStyle/>
          <a:p>
            <a:pPr algn="just">
              <a:lnSpc>
                <a:spcPct val="80000"/>
              </a:lnSpc>
            </a:pPr>
            <a:r>
              <a:rPr lang="en-US" altLang="en-US" sz="2400" dirty="0"/>
              <a:t>Maximal frequent item sets provide a valuable representation for data sets that can produce very long, frequent item sets, as there are exponentially frequent item sets in such data. Nevertheless, this approach is practical only if an efficient algorithm exists to explicitly find the maximal frequent item sets without having to enumerate all their subsets</a:t>
            </a:r>
          </a:p>
          <a:p>
            <a:pPr marL="0" indent="0" algn="just">
              <a:lnSpc>
                <a:spcPct val="80000"/>
              </a:lnSpc>
              <a:buNone/>
            </a:pPr>
            <a:endParaRPr lang="en-US" altLang="en-US" sz="2400" dirty="0"/>
          </a:p>
          <a:p>
            <a:pPr marL="0" indent="0" algn="just">
              <a:lnSpc>
                <a:spcPct val="80000"/>
              </a:lnSpc>
              <a:buNone/>
            </a:pPr>
            <a:endParaRPr lang="en-US" altLang="en-US" sz="2400" dirty="0"/>
          </a:p>
          <a:p>
            <a:pPr algn="just">
              <a:lnSpc>
                <a:spcPct val="80000"/>
              </a:lnSpc>
            </a:pPr>
            <a:endParaRPr lang="en-US" altLang="en-US" sz="2000" dirty="0"/>
          </a:p>
        </p:txBody>
      </p:sp>
      <p:pic>
        <p:nvPicPr>
          <p:cNvPr id="2" name="Picture 4">
            <a:extLst>
              <a:ext uri="{FF2B5EF4-FFF2-40B4-BE49-F238E27FC236}">
                <a16:creationId xmlns:a16="http://schemas.microsoft.com/office/drawing/2014/main" id="{7F8834CB-BE64-4C61-7D95-7D6CCD34A53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3429000"/>
            <a:ext cx="8839200" cy="268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0646842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C5710-3A18-425F-D7E4-F10952B900C3}"/>
              </a:ext>
            </a:extLst>
          </p:cNvPr>
          <p:cNvSpPr>
            <a:spLocks noGrp="1"/>
          </p:cNvSpPr>
          <p:nvPr>
            <p:ph type="title"/>
          </p:nvPr>
        </p:nvSpPr>
        <p:spPr/>
        <p:txBody>
          <a:bodyPr/>
          <a:lstStyle/>
          <a:p>
            <a:r>
              <a:rPr lang="en-US" altLang="en-US" dirty="0"/>
              <a:t>Maximal Frequent Itemset</a:t>
            </a:r>
            <a:endParaRPr lang="en-US" dirty="0"/>
          </a:p>
        </p:txBody>
      </p:sp>
      <p:sp>
        <p:nvSpPr>
          <p:cNvPr id="3" name="Content Placeholder 2">
            <a:extLst>
              <a:ext uri="{FF2B5EF4-FFF2-40B4-BE49-F238E27FC236}">
                <a16:creationId xmlns:a16="http://schemas.microsoft.com/office/drawing/2014/main" id="{F615B793-3DDB-83D1-B32A-E2B4AFA367B6}"/>
              </a:ext>
            </a:extLst>
          </p:cNvPr>
          <p:cNvSpPr>
            <a:spLocks noGrp="1"/>
          </p:cNvSpPr>
          <p:nvPr>
            <p:ph idx="1"/>
          </p:nvPr>
        </p:nvSpPr>
        <p:spPr/>
        <p:txBody>
          <a:bodyPr/>
          <a:lstStyle/>
          <a:p>
            <a:r>
              <a:rPr lang="en-US" sz="2400" dirty="0"/>
              <a:t>Despite providing a compact representation, maximal frequent </a:t>
            </a:r>
            <a:r>
              <a:rPr lang="en-US" sz="2400" dirty="0" err="1"/>
              <a:t>itemsets</a:t>
            </a:r>
            <a:r>
              <a:rPr lang="en-US" sz="2400" dirty="0"/>
              <a:t> do not contain the support information of their subsets. For example, the support of the maximal frequent </a:t>
            </a:r>
            <a:r>
              <a:rPr lang="en-US" sz="2400" dirty="0" err="1"/>
              <a:t>itemsets</a:t>
            </a:r>
            <a:r>
              <a:rPr lang="en-US" sz="2400" dirty="0"/>
              <a:t> {a, c, e}, {a, d}, and {</a:t>
            </a:r>
            <a:r>
              <a:rPr lang="en-US" sz="2400" dirty="0" err="1"/>
              <a:t>b,c,d,e</a:t>
            </a:r>
            <a:r>
              <a:rPr lang="en-US" sz="2400" dirty="0"/>
              <a:t>} do not provide any hint about the support of their subsets. An additional pass over the data set is therefore needed to determine the support counts of the non-maximal frequent </a:t>
            </a:r>
            <a:r>
              <a:rPr lang="en-US" sz="2400" dirty="0" err="1"/>
              <a:t>itemsets</a:t>
            </a:r>
            <a:endParaRPr lang="en-US" sz="2400" dirty="0"/>
          </a:p>
          <a:p>
            <a:endParaRPr lang="en-US" dirty="0"/>
          </a:p>
        </p:txBody>
      </p:sp>
    </p:spTree>
    <p:extLst>
      <p:ext uri="{BB962C8B-B14F-4D97-AF65-F5344CB8AC3E}">
        <p14:creationId xmlns:p14="http://schemas.microsoft.com/office/powerpoint/2010/main" val="3938086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ltLang="en-US"/>
              <a:t>An illustrative example</a:t>
            </a:r>
          </a:p>
        </p:txBody>
      </p:sp>
      <p:sp>
        <p:nvSpPr>
          <p:cNvPr id="59395" name="TextBox 4"/>
          <p:cNvSpPr txBox="1">
            <a:spLocks noChangeArrowheads="1"/>
          </p:cNvSpPr>
          <p:nvPr/>
        </p:nvSpPr>
        <p:spPr bwMode="auto">
          <a:xfrm>
            <a:off x="5570538" y="1755775"/>
            <a:ext cx="3310522"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dirty="0"/>
              <a:t>Support threshold (by count) : 5</a:t>
            </a:r>
          </a:p>
          <a:p>
            <a:pPr>
              <a:spcBef>
                <a:spcPct val="0"/>
              </a:spcBef>
              <a:spcAft>
                <a:spcPct val="0"/>
              </a:spcAft>
              <a:buClrTx/>
              <a:buSzTx/>
              <a:buFontTx/>
              <a:buNone/>
            </a:pPr>
            <a:r>
              <a:rPr lang="en-US" altLang="en-US" sz="1100" dirty="0"/>
              <a:t>Frequent </a:t>
            </a:r>
            <a:r>
              <a:rPr lang="en-US" altLang="en-US" sz="1100" dirty="0" err="1"/>
              <a:t>itemsets</a:t>
            </a:r>
            <a:r>
              <a:rPr lang="en-US" altLang="en-US" sz="1100" dirty="0"/>
              <a:t>: ?</a:t>
            </a:r>
          </a:p>
          <a:p>
            <a:pPr>
              <a:spcBef>
                <a:spcPct val="0"/>
              </a:spcBef>
              <a:spcAft>
                <a:spcPct val="0"/>
              </a:spcAft>
              <a:buClrTx/>
              <a:buSzTx/>
              <a:buFontTx/>
              <a:buNone/>
            </a:pPr>
            <a:r>
              <a:rPr lang="en-US" altLang="en-US" sz="1100" dirty="0"/>
              <a:t>Maximal </a:t>
            </a:r>
            <a:r>
              <a:rPr lang="en-US" altLang="en-US" sz="1100" dirty="0" err="1"/>
              <a:t>itemsets</a:t>
            </a:r>
            <a:r>
              <a:rPr lang="en-US" altLang="en-US" sz="1100" dirty="0"/>
              <a:t>: ?</a:t>
            </a:r>
          </a:p>
          <a:p>
            <a:pPr>
              <a:spcBef>
                <a:spcPct val="0"/>
              </a:spcBef>
              <a:spcAft>
                <a:spcPct val="0"/>
              </a:spcAft>
              <a:buClrTx/>
              <a:buSzTx/>
              <a:buFontTx/>
              <a:buNone/>
            </a:pPr>
            <a:endParaRPr lang="en-US" altLang="en-US" sz="1100" dirty="0"/>
          </a:p>
        </p:txBody>
      </p:sp>
      <p:graphicFrame>
        <p:nvGraphicFramePr>
          <p:cNvPr id="6" name="Content Placeholder 3"/>
          <p:cNvGraphicFramePr>
            <a:graphicFrameLocks/>
          </p:cNvGraphicFramePr>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9542" name="TextBox 6"/>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9543" name="TextBox 7"/>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extLst>
      <p:ext uri="{BB962C8B-B14F-4D97-AF65-F5344CB8AC3E}">
        <p14:creationId xmlns:p14="http://schemas.microsoft.com/office/powerpoint/2010/main" val="185588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ltLang="en-US"/>
              <a:t>An illustrative example</a:t>
            </a:r>
          </a:p>
        </p:txBody>
      </p:sp>
      <p:sp>
        <p:nvSpPr>
          <p:cNvPr id="59395" name="TextBox 4"/>
          <p:cNvSpPr txBox="1">
            <a:spLocks noChangeArrowheads="1"/>
          </p:cNvSpPr>
          <p:nvPr/>
        </p:nvSpPr>
        <p:spPr bwMode="auto">
          <a:xfrm>
            <a:off x="5570538" y="1755775"/>
            <a:ext cx="3310522"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dirty="0"/>
              <a:t>Support threshold (by count) : 5</a:t>
            </a:r>
          </a:p>
          <a:p>
            <a:pPr>
              <a:spcBef>
                <a:spcPct val="0"/>
              </a:spcBef>
              <a:spcAft>
                <a:spcPct val="0"/>
              </a:spcAft>
              <a:buClrTx/>
              <a:buSzTx/>
              <a:buFontTx/>
              <a:buNone/>
            </a:pPr>
            <a:r>
              <a:rPr lang="en-US" altLang="en-US" sz="1100" dirty="0"/>
              <a:t>Frequent </a:t>
            </a:r>
            <a:r>
              <a:rPr lang="en-US" altLang="en-US" sz="1100" dirty="0" err="1"/>
              <a:t>itemsets</a:t>
            </a:r>
            <a:r>
              <a:rPr lang="en-US" altLang="en-US" sz="1100" dirty="0"/>
              <a:t>: </a:t>
            </a:r>
            <a:r>
              <a:rPr lang="en-US" altLang="en-US" sz="1100" dirty="0">
                <a:solidFill>
                  <a:srgbClr val="FF0000"/>
                </a:solidFill>
              </a:rPr>
              <a:t>{F}</a:t>
            </a:r>
          </a:p>
          <a:p>
            <a:pPr>
              <a:spcBef>
                <a:spcPct val="0"/>
              </a:spcBef>
              <a:spcAft>
                <a:spcPct val="0"/>
              </a:spcAft>
              <a:buClrTx/>
              <a:buSzTx/>
              <a:buFontTx/>
              <a:buNone/>
            </a:pPr>
            <a:r>
              <a:rPr lang="en-US" altLang="en-US" sz="1100" dirty="0"/>
              <a:t>Maximal </a:t>
            </a:r>
            <a:r>
              <a:rPr lang="en-US" altLang="en-US" sz="1100" dirty="0" err="1"/>
              <a:t>itemsets</a:t>
            </a:r>
            <a:r>
              <a:rPr lang="en-US" altLang="en-US" sz="1100" dirty="0"/>
              <a:t>: </a:t>
            </a:r>
            <a:r>
              <a:rPr lang="en-US" altLang="en-US" sz="1100" dirty="0">
                <a:solidFill>
                  <a:srgbClr val="FF0000"/>
                </a:solidFill>
              </a:rPr>
              <a:t>{F} </a:t>
            </a:r>
          </a:p>
          <a:p>
            <a:pPr>
              <a:spcBef>
                <a:spcPct val="0"/>
              </a:spcBef>
              <a:spcAft>
                <a:spcPct val="0"/>
              </a:spcAft>
              <a:buClrTx/>
              <a:buSzTx/>
              <a:buFontTx/>
              <a:buNone/>
            </a:pPr>
            <a:endParaRPr lang="en-US" altLang="en-US" sz="1100" dirty="0"/>
          </a:p>
          <a:p>
            <a:pPr>
              <a:spcBef>
                <a:spcPct val="0"/>
              </a:spcBef>
              <a:spcAft>
                <a:spcPct val="0"/>
              </a:spcAft>
              <a:buClrTx/>
              <a:buSzTx/>
              <a:buFontTx/>
              <a:buNone/>
            </a:pPr>
            <a:r>
              <a:rPr lang="en-US" altLang="en-US" sz="1600" dirty="0"/>
              <a:t>Support threshold (by count): 4</a:t>
            </a:r>
          </a:p>
          <a:p>
            <a:pPr>
              <a:spcBef>
                <a:spcPct val="0"/>
              </a:spcBef>
              <a:spcAft>
                <a:spcPct val="0"/>
              </a:spcAft>
              <a:buClrTx/>
              <a:buSzTx/>
              <a:buFontTx/>
              <a:buNone/>
            </a:pPr>
            <a:r>
              <a:rPr lang="en-US" altLang="en-US" sz="1100" dirty="0"/>
              <a:t>Frequent </a:t>
            </a:r>
            <a:r>
              <a:rPr lang="en-US" altLang="en-US" sz="1100" dirty="0" err="1"/>
              <a:t>itemsets</a:t>
            </a:r>
            <a:r>
              <a:rPr lang="en-US" altLang="en-US" sz="1100" dirty="0"/>
              <a:t>: ?</a:t>
            </a:r>
          </a:p>
          <a:p>
            <a:pPr>
              <a:spcBef>
                <a:spcPct val="0"/>
              </a:spcBef>
              <a:spcAft>
                <a:spcPct val="0"/>
              </a:spcAft>
              <a:buClrTx/>
              <a:buSzTx/>
              <a:buFontTx/>
              <a:buNone/>
            </a:pPr>
            <a:r>
              <a:rPr lang="en-US" altLang="en-US" sz="1100" dirty="0"/>
              <a:t>Maximal </a:t>
            </a:r>
            <a:r>
              <a:rPr lang="en-US" altLang="en-US" sz="1100" dirty="0" err="1"/>
              <a:t>itemsets</a:t>
            </a:r>
            <a:r>
              <a:rPr lang="en-US" altLang="en-US" sz="1100" dirty="0"/>
              <a:t>: ?</a:t>
            </a:r>
          </a:p>
          <a:p>
            <a:pPr>
              <a:spcBef>
                <a:spcPct val="0"/>
              </a:spcBef>
              <a:spcAft>
                <a:spcPct val="0"/>
              </a:spcAft>
              <a:buClrTx/>
              <a:buSzTx/>
              <a:buFontTx/>
              <a:buNone/>
            </a:pPr>
            <a:endParaRPr lang="en-US" altLang="en-US" sz="1100" dirty="0"/>
          </a:p>
        </p:txBody>
      </p:sp>
      <p:graphicFrame>
        <p:nvGraphicFramePr>
          <p:cNvPr id="6" name="Content Placeholder 3"/>
          <p:cNvGraphicFramePr>
            <a:graphicFrameLocks/>
          </p:cNvGraphicFramePr>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9542" name="TextBox 6"/>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9543" name="TextBox 7"/>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extLst>
      <p:ext uri="{BB962C8B-B14F-4D97-AF65-F5344CB8AC3E}">
        <p14:creationId xmlns:p14="http://schemas.microsoft.com/office/powerpoint/2010/main" val="1332508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ltLang="en-US"/>
              <a:t>An illustrative example</a:t>
            </a:r>
          </a:p>
        </p:txBody>
      </p:sp>
      <p:sp>
        <p:nvSpPr>
          <p:cNvPr id="59395" name="TextBox 4"/>
          <p:cNvSpPr txBox="1">
            <a:spLocks noChangeArrowheads="1"/>
          </p:cNvSpPr>
          <p:nvPr/>
        </p:nvSpPr>
        <p:spPr bwMode="auto">
          <a:xfrm>
            <a:off x="5570538" y="1755775"/>
            <a:ext cx="3310522" cy="2185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dirty="0"/>
              <a:t>Support threshold (by count) : 5</a:t>
            </a:r>
          </a:p>
          <a:p>
            <a:pPr>
              <a:spcBef>
                <a:spcPct val="0"/>
              </a:spcBef>
              <a:spcAft>
                <a:spcPct val="0"/>
              </a:spcAft>
              <a:buClrTx/>
              <a:buSzTx/>
              <a:buFontTx/>
              <a:buNone/>
            </a:pPr>
            <a:r>
              <a:rPr lang="en-US" altLang="en-US" sz="1100" dirty="0"/>
              <a:t>Frequent </a:t>
            </a:r>
            <a:r>
              <a:rPr lang="en-US" altLang="en-US" sz="1100" dirty="0" err="1"/>
              <a:t>itemsets</a:t>
            </a:r>
            <a:r>
              <a:rPr lang="en-US" altLang="en-US" sz="1100" dirty="0"/>
              <a:t>: {F}</a:t>
            </a:r>
          </a:p>
          <a:p>
            <a:pPr>
              <a:spcBef>
                <a:spcPct val="0"/>
              </a:spcBef>
              <a:spcAft>
                <a:spcPct val="0"/>
              </a:spcAft>
              <a:buClrTx/>
              <a:buSzTx/>
              <a:buFontTx/>
              <a:buNone/>
            </a:pPr>
            <a:r>
              <a:rPr lang="en-US" altLang="en-US" sz="1100" dirty="0"/>
              <a:t>Maximal </a:t>
            </a:r>
            <a:r>
              <a:rPr lang="en-US" altLang="en-US" sz="1100" dirty="0" err="1"/>
              <a:t>itemsets</a:t>
            </a:r>
            <a:r>
              <a:rPr lang="en-US" altLang="en-US" sz="1100" dirty="0"/>
              <a:t>: {F} </a:t>
            </a:r>
          </a:p>
          <a:p>
            <a:pPr>
              <a:spcBef>
                <a:spcPct val="0"/>
              </a:spcBef>
              <a:spcAft>
                <a:spcPct val="0"/>
              </a:spcAft>
              <a:buClrTx/>
              <a:buSzTx/>
              <a:buFontTx/>
              <a:buNone/>
            </a:pPr>
            <a:endParaRPr lang="en-US" altLang="en-US" sz="1100" dirty="0"/>
          </a:p>
          <a:p>
            <a:pPr>
              <a:spcBef>
                <a:spcPct val="0"/>
              </a:spcBef>
              <a:spcAft>
                <a:spcPct val="0"/>
              </a:spcAft>
              <a:buClrTx/>
              <a:buSzTx/>
              <a:buFontTx/>
              <a:buNone/>
            </a:pPr>
            <a:r>
              <a:rPr lang="en-US" altLang="en-US" sz="1600" dirty="0"/>
              <a:t>Support threshold (by count): 4</a:t>
            </a:r>
          </a:p>
          <a:p>
            <a:pPr>
              <a:spcBef>
                <a:spcPct val="0"/>
              </a:spcBef>
              <a:spcAft>
                <a:spcPct val="0"/>
              </a:spcAft>
              <a:buClrTx/>
              <a:buSzTx/>
              <a:buFontTx/>
              <a:buNone/>
            </a:pPr>
            <a:r>
              <a:rPr lang="en-US" altLang="en-US" sz="1100" dirty="0"/>
              <a:t>Frequent </a:t>
            </a:r>
            <a:r>
              <a:rPr lang="en-US" altLang="en-US" sz="1100" dirty="0" err="1"/>
              <a:t>itemsets</a:t>
            </a:r>
            <a:r>
              <a:rPr lang="en-US" altLang="en-US" sz="1100" dirty="0"/>
              <a:t>: </a:t>
            </a:r>
            <a:r>
              <a:rPr lang="en-US" altLang="en-US" sz="1100" dirty="0">
                <a:solidFill>
                  <a:srgbClr val="FF0000"/>
                </a:solidFill>
              </a:rPr>
              <a:t>{E}, {F}, {E,F}, {J}</a:t>
            </a:r>
          </a:p>
          <a:p>
            <a:pPr>
              <a:spcBef>
                <a:spcPct val="0"/>
              </a:spcBef>
              <a:spcAft>
                <a:spcPct val="0"/>
              </a:spcAft>
              <a:buClrTx/>
              <a:buSzTx/>
              <a:buFontTx/>
              <a:buNone/>
            </a:pPr>
            <a:r>
              <a:rPr lang="en-US" altLang="en-US" sz="1100" dirty="0"/>
              <a:t>Maximal </a:t>
            </a:r>
            <a:r>
              <a:rPr lang="en-US" altLang="en-US" sz="1100" dirty="0" err="1"/>
              <a:t>itemsets</a:t>
            </a:r>
            <a:r>
              <a:rPr lang="en-US" altLang="en-US" sz="1100" dirty="0"/>
              <a:t>: </a:t>
            </a:r>
            <a:r>
              <a:rPr lang="en-US" altLang="en-US" sz="1100" dirty="0">
                <a:solidFill>
                  <a:srgbClr val="FF0000"/>
                </a:solidFill>
              </a:rPr>
              <a:t>{E,F}, {J} </a:t>
            </a:r>
          </a:p>
          <a:p>
            <a:pPr>
              <a:spcBef>
                <a:spcPct val="0"/>
              </a:spcBef>
              <a:spcAft>
                <a:spcPct val="0"/>
              </a:spcAft>
              <a:buClrTx/>
              <a:buSzTx/>
              <a:buFontTx/>
              <a:buNone/>
            </a:pPr>
            <a:endParaRPr lang="en-US" altLang="en-US" sz="1100" dirty="0"/>
          </a:p>
          <a:p>
            <a:pPr>
              <a:spcBef>
                <a:spcPct val="0"/>
              </a:spcBef>
              <a:spcAft>
                <a:spcPct val="0"/>
              </a:spcAft>
              <a:buClrTx/>
              <a:buSzTx/>
              <a:buFontTx/>
              <a:buNone/>
            </a:pPr>
            <a:r>
              <a:rPr lang="en-US" altLang="en-US" sz="1600" dirty="0"/>
              <a:t>Support threshold (by count): 3</a:t>
            </a:r>
          </a:p>
          <a:p>
            <a:pPr>
              <a:spcBef>
                <a:spcPct val="0"/>
              </a:spcBef>
              <a:spcAft>
                <a:spcPct val="0"/>
              </a:spcAft>
              <a:buClrTx/>
              <a:buSzTx/>
              <a:buFontTx/>
              <a:buNone/>
            </a:pPr>
            <a:r>
              <a:rPr lang="en-US" altLang="en-US" sz="1100" dirty="0"/>
              <a:t>Frequent </a:t>
            </a:r>
            <a:r>
              <a:rPr lang="en-US" altLang="en-US" sz="1100" dirty="0" err="1"/>
              <a:t>itemsets</a:t>
            </a:r>
            <a:r>
              <a:rPr lang="en-US" altLang="en-US" sz="1100" dirty="0"/>
              <a:t>: ?</a:t>
            </a:r>
          </a:p>
          <a:p>
            <a:pPr>
              <a:spcBef>
                <a:spcPct val="0"/>
              </a:spcBef>
              <a:spcAft>
                <a:spcPct val="0"/>
              </a:spcAft>
              <a:buClrTx/>
              <a:buSzTx/>
              <a:buFontTx/>
              <a:buNone/>
            </a:pPr>
            <a:r>
              <a:rPr lang="en-US" altLang="en-US" sz="1100" dirty="0"/>
              <a:t>Maximal </a:t>
            </a:r>
            <a:r>
              <a:rPr lang="en-US" altLang="en-US" sz="1100" dirty="0" err="1"/>
              <a:t>itemsets</a:t>
            </a:r>
            <a:r>
              <a:rPr lang="en-US" altLang="en-US" sz="1100" dirty="0"/>
              <a:t>: ?</a:t>
            </a:r>
          </a:p>
        </p:txBody>
      </p:sp>
      <p:graphicFrame>
        <p:nvGraphicFramePr>
          <p:cNvPr id="6" name="Content Placeholder 3"/>
          <p:cNvGraphicFramePr>
            <a:graphicFrameLocks/>
          </p:cNvGraphicFramePr>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9542" name="TextBox 6"/>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9543" name="TextBox 7"/>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extLst>
      <p:ext uri="{BB962C8B-B14F-4D97-AF65-F5344CB8AC3E}">
        <p14:creationId xmlns:p14="http://schemas.microsoft.com/office/powerpoint/2010/main" val="10832893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ltLang="en-US"/>
              <a:t>An illustrative example</a:t>
            </a:r>
          </a:p>
        </p:txBody>
      </p:sp>
      <p:sp>
        <p:nvSpPr>
          <p:cNvPr id="59395" name="TextBox 4"/>
          <p:cNvSpPr txBox="1">
            <a:spLocks noChangeArrowheads="1"/>
          </p:cNvSpPr>
          <p:nvPr/>
        </p:nvSpPr>
        <p:spPr bwMode="auto">
          <a:xfrm>
            <a:off x="5570538" y="1755775"/>
            <a:ext cx="3309937"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dirty="0"/>
              <a:t>Support threshold (by count) : 5</a:t>
            </a:r>
          </a:p>
          <a:p>
            <a:pPr>
              <a:spcBef>
                <a:spcPct val="0"/>
              </a:spcBef>
              <a:spcAft>
                <a:spcPct val="0"/>
              </a:spcAft>
              <a:buClrTx/>
              <a:buSzTx/>
              <a:buFontTx/>
              <a:buNone/>
            </a:pPr>
            <a:r>
              <a:rPr lang="en-US" altLang="en-US" sz="1100" dirty="0"/>
              <a:t>Frequent </a:t>
            </a:r>
            <a:r>
              <a:rPr lang="en-US" altLang="en-US" sz="1100" dirty="0" err="1"/>
              <a:t>itemsets</a:t>
            </a:r>
            <a:r>
              <a:rPr lang="en-US" altLang="en-US" sz="1100" dirty="0"/>
              <a:t>: {F}</a:t>
            </a:r>
          </a:p>
          <a:p>
            <a:pPr>
              <a:spcBef>
                <a:spcPct val="0"/>
              </a:spcBef>
              <a:spcAft>
                <a:spcPct val="0"/>
              </a:spcAft>
              <a:buClrTx/>
              <a:buSzTx/>
              <a:buFontTx/>
              <a:buNone/>
            </a:pPr>
            <a:r>
              <a:rPr lang="en-US" altLang="en-US" sz="1100" dirty="0"/>
              <a:t>Maximal </a:t>
            </a:r>
            <a:r>
              <a:rPr lang="en-US" altLang="en-US" sz="1100" dirty="0" err="1"/>
              <a:t>itemsets</a:t>
            </a:r>
            <a:r>
              <a:rPr lang="en-US" altLang="en-US" sz="1100" dirty="0"/>
              <a:t>: {F} </a:t>
            </a:r>
          </a:p>
          <a:p>
            <a:pPr>
              <a:spcBef>
                <a:spcPct val="0"/>
              </a:spcBef>
              <a:spcAft>
                <a:spcPct val="0"/>
              </a:spcAft>
              <a:buClrTx/>
              <a:buSzTx/>
              <a:buFontTx/>
              <a:buNone/>
            </a:pPr>
            <a:endParaRPr lang="en-US" altLang="en-US" sz="1100" dirty="0"/>
          </a:p>
          <a:p>
            <a:pPr>
              <a:spcBef>
                <a:spcPct val="0"/>
              </a:spcBef>
              <a:spcAft>
                <a:spcPct val="0"/>
              </a:spcAft>
              <a:buClrTx/>
              <a:buSzTx/>
              <a:buFontTx/>
              <a:buNone/>
            </a:pPr>
            <a:r>
              <a:rPr lang="en-US" altLang="en-US" sz="1600" dirty="0"/>
              <a:t>Support threshold (by count): 4</a:t>
            </a:r>
          </a:p>
          <a:p>
            <a:pPr>
              <a:spcBef>
                <a:spcPct val="0"/>
              </a:spcBef>
              <a:spcAft>
                <a:spcPct val="0"/>
              </a:spcAft>
              <a:buClrTx/>
              <a:buSzTx/>
              <a:buFontTx/>
              <a:buNone/>
            </a:pPr>
            <a:r>
              <a:rPr lang="en-US" altLang="en-US" sz="1100" dirty="0"/>
              <a:t>Frequent </a:t>
            </a:r>
            <a:r>
              <a:rPr lang="en-US" altLang="en-US" sz="1100" dirty="0" err="1"/>
              <a:t>itemsets</a:t>
            </a:r>
            <a:r>
              <a:rPr lang="en-US" altLang="en-US" sz="1100" dirty="0"/>
              <a:t>: {E}, {F}, {E,F}, {J}</a:t>
            </a:r>
          </a:p>
          <a:p>
            <a:pPr>
              <a:spcBef>
                <a:spcPct val="0"/>
              </a:spcBef>
              <a:spcAft>
                <a:spcPct val="0"/>
              </a:spcAft>
              <a:buClrTx/>
              <a:buSzTx/>
              <a:buFontTx/>
              <a:buNone/>
            </a:pPr>
            <a:r>
              <a:rPr lang="en-US" altLang="en-US" sz="1100" dirty="0"/>
              <a:t>Maximal </a:t>
            </a:r>
            <a:r>
              <a:rPr lang="en-US" altLang="en-US" sz="1100" dirty="0" err="1"/>
              <a:t>itemsets</a:t>
            </a:r>
            <a:r>
              <a:rPr lang="en-US" altLang="en-US" sz="1100" dirty="0"/>
              <a:t>: {E,F}, {J} </a:t>
            </a:r>
          </a:p>
          <a:p>
            <a:pPr>
              <a:spcBef>
                <a:spcPct val="0"/>
              </a:spcBef>
              <a:spcAft>
                <a:spcPct val="0"/>
              </a:spcAft>
              <a:buClrTx/>
              <a:buSzTx/>
              <a:buFontTx/>
              <a:buNone/>
            </a:pPr>
            <a:endParaRPr lang="en-US" altLang="en-US" sz="1100" dirty="0"/>
          </a:p>
          <a:p>
            <a:pPr>
              <a:spcBef>
                <a:spcPct val="0"/>
              </a:spcBef>
              <a:spcAft>
                <a:spcPct val="0"/>
              </a:spcAft>
              <a:buClrTx/>
              <a:buSzTx/>
              <a:buFontTx/>
              <a:buNone/>
            </a:pPr>
            <a:r>
              <a:rPr lang="en-US" altLang="en-US" sz="1600" dirty="0"/>
              <a:t>Support threshold (by count): 3</a:t>
            </a:r>
          </a:p>
          <a:p>
            <a:pPr>
              <a:spcBef>
                <a:spcPct val="0"/>
              </a:spcBef>
              <a:spcAft>
                <a:spcPct val="0"/>
              </a:spcAft>
              <a:buClrTx/>
              <a:buSzTx/>
              <a:buFontTx/>
              <a:buNone/>
            </a:pPr>
            <a:r>
              <a:rPr lang="en-US" altLang="en-US" sz="1100" dirty="0"/>
              <a:t>Frequent </a:t>
            </a:r>
            <a:r>
              <a:rPr lang="en-US" altLang="en-US" sz="1100" dirty="0" err="1"/>
              <a:t>itemsets</a:t>
            </a:r>
            <a:r>
              <a:rPr lang="en-US" altLang="en-US" sz="1100" dirty="0"/>
              <a:t>:</a:t>
            </a:r>
          </a:p>
          <a:p>
            <a:pPr>
              <a:spcBef>
                <a:spcPct val="0"/>
              </a:spcBef>
              <a:spcAft>
                <a:spcPct val="0"/>
              </a:spcAft>
              <a:buClrTx/>
              <a:buSzTx/>
              <a:buFontTx/>
              <a:buNone/>
            </a:pPr>
            <a:r>
              <a:rPr lang="en-US" altLang="en-US" sz="1100" dirty="0"/>
              <a:t>        All subsets of </a:t>
            </a:r>
            <a:r>
              <a:rPr lang="en-US" altLang="en-US" sz="1100" dirty="0">
                <a:solidFill>
                  <a:srgbClr val="FF0000"/>
                </a:solidFill>
              </a:rPr>
              <a:t>{C,D,E,F} + {J}</a:t>
            </a:r>
          </a:p>
          <a:p>
            <a:pPr>
              <a:spcBef>
                <a:spcPct val="0"/>
              </a:spcBef>
              <a:spcAft>
                <a:spcPct val="0"/>
              </a:spcAft>
              <a:buClrTx/>
              <a:buSzTx/>
              <a:buFontTx/>
              <a:buNone/>
            </a:pPr>
            <a:r>
              <a:rPr lang="en-US" altLang="en-US" sz="1100" dirty="0"/>
              <a:t>Maximal </a:t>
            </a:r>
            <a:r>
              <a:rPr lang="en-US" altLang="en-US" sz="1100" dirty="0" err="1"/>
              <a:t>itemsets</a:t>
            </a:r>
            <a:r>
              <a:rPr lang="en-US" altLang="en-US" sz="1100" dirty="0"/>
              <a:t>:</a:t>
            </a:r>
          </a:p>
          <a:p>
            <a:pPr>
              <a:spcBef>
                <a:spcPct val="0"/>
              </a:spcBef>
              <a:spcAft>
                <a:spcPct val="0"/>
              </a:spcAft>
              <a:buClrTx/>
              <a:buSzTx/>
              <a:buFontTx/>
              <a:buNone/>
            </a:pPr>
            <a:r>
              <a:rPr lang="en-US" altLang="en-US" sz="1100" dirty="0">
                <a:solidFill>
                  <a:srgbClr val="FF0000"/>
                </a:solidFill>
              </a:rPr>
              <a:t>        {C,D,E,F}, {J}</a:t>
            </a:r>
          </a:p>
        </p:txBody>
      </p:sp>
      <p:graphicFrame>
        <p:nvGraphicFramePr>
          <p:cNvPr id="6" name="Content Placeholder 3"/>
          <p:cNvGraphicFramePr>
            <a:graphicFrameLocks/>
          </p:cNvGraphicFramePr>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59542" name="TextBox 6"/>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59543" name="TextBox 7"/>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Tree>
    <p:extLst>
      <p:ext uri="{BB962C8B-B14F-4D97-AF65-F5344CB8AC3E}">
        <p14:creationId xmlns:p14="http://schemas.microsoft.com/office/powerpoint/2010/main" val="2662067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US" altLang="en-US"/>
              <a:t>Another illustrative example</a:t>
            </a:r>
          </a:p>
        </p:txBody>
      </p:sp>
      <p:sp>
        <p:nvSpPr>
          <p:cNvPr id="60419" name="TextBox 3"/>
          <p:cNvSpPr txBox="1">
            <a:spLocks noChangeArrowheads="1"/>
          </p:cNvSpPr>
          <p:nvPr/>
        </p:nvSpPr>
        <p:spPr bwMode="auto">
          <a:xfrm>
            <a:off x="5519738" y="1690688"/>
            <a:ext cx="3309937"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600"/>
              <a:t>Support threshold (by count) : 5</a:t>
            </a:r>
          </a:p>
          <a:p>
            <a:pPr>
              <a:spcBef>
                <a:spcPct val="0"/>
              </a:spcBef>
              <a:spcAft>
                <a:spcPct val="0"/>
              </a:spcAft>
              <a:buClrTx/>
              <a:buSzTx/>
              <a:buFontTx/>
              <a:buNone/>
            </a:pPr>
            <a:r>
              <a:rPr lang="en-US" altLang="en-US" sz="1100"/>
              <a:t>Maximal itemsets: </a:t>
            </a:r>
            <a:r>
              <a:rPr lang="en-US" altLang="en-US" sz="1100">
                <a:solidFill>
                  <a:srgbClr val="FF0000"/>
                </a:solidFill>
              </a:rPr>
              <a:t>{A}, {B}, {C}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4</a:t>
            </a:r>
          </a:p>
          <a:p>
            <a:pPr>
              <a:spcBef>
                <a:spcPct val="0"/>
              </a:spcBef>
              <a:spcAft>
                <a:spcPct val="0"/>
              </a:spcAft>
              <a:buClrTx/>
              <a:buSzTx/>
              <a:buFontTx/>
              <a:buNone/>
            </a:pPr>
            <a:r>
              <a:rPr lang="en-US" altLang="en-US" sz="1100"/>
              <a:t>Maximal itemsets: </a:t>
            </a:r>
            <a:r>
              <a:rPr lang="en-US" altLang="en-US" sz="1100">
                <a:solidFill>
                  <a:srgbClr val="FF0000"/>
                </a:solidFill>
              </a:rPr>
              <a:t>{A,B}, {A,C},{B,C} </a:t>
            </a:r>
          </a:p>
          <a:p>
            <a:pPr>
              <a:spcBef>
                <a:spcPct val="0"/>
              </a:spcBef>
              <a:spcAft>
                <a:spcPct val="0"/>
              </a:spcAft>
              <a:buClrTx/>
              <a:buSzTx/>
              <a:buFontTx/>
              <a:buNone/>
            </a:pPr>
            <a:endParaRPr lang="en-US" altLang="en-US" sz="1100"/>
          </a:p>
          <a:p>
            <a:pPr>
              <a:spcBef>
                <a:spcPct val="0"/>
              </a:spcBef>
              <a:spcAft>
                <a:spcPct val="0"/>
              </a:spcAft>
              <a:buClrTx/>
              <a:buSzTx/>
              <a:buFontTx/>
              <a:buNone/>
            </a:pPr>
            <a:r>
              <a:rPr lang="en-US" altLang="en-US" sz="1600"/>
              <a:t>Support threshold (by count): 3</a:t>
            </a:r>
          </a:p>
          <a:p>
            <a:pPr>
              <a:spcBef>
                <a:spcPct val="0"/>
              </a:spcBef>
              <a:spcAft>
                <a:spcPct val="0"/>
              </a:spcAft>
              <a:buClrTx/>
              <a:buSzTx/>
              <a:buFontTx/>
              <a:buNone/>
            </a:pPr>
            <a:r>
              <a:rPr lang="en-US" altLang="en-US" sz="1100"/>
              <a:t>Maximal itemsets: </a:t>
            </a:r>
            <a:r>
              <a:rPr lang="en-US" altLang="en-US" sz="1100">
                <a:solidFill>
                  <a:srgbClr val="FF0000"/>
                </a:solidFill>
              </a:rPr>
              <a:t>{A,B,C}</a:t>
            </a:r>
          </a:p>
        </p:txBody>
      </p:sp>
      <p:graphicFrame>
        <p:nvGraphicFramePr>
          <p:cNvPr id="5" name="Content Placeholder 3"/>
          <p:cNvGraphicFramePr>
            <a:graphicFrameLocks/>
          </p:cNvGraphicFramePr>
          <p:nvPr/>
        </p:nvGraphicFramePr>
        <p:xfrm>
          <a:off x="342900" y="1690688"/>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solidFill>
                      <a:schemeClr val="tx1"/>
                    </a:solidFill>
                  </a:tcPr>
                </a:tc>
                <a:tc>
                  <a:txBody>
                    <a:bodyPr/>
                    <a:lstStyle/>
                    <a:p>
                      <a:endParaRPr lang="en-US" sz="180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60566" name="TextBox 5"/>
          <p:cNvSpPr txBox="1">
            <a:spLocks noChangeArrowheads="1"/>
          </p:cNvSpPr>
          <p:nvPr/>
        </p:nvSpPr>
        <p:spPr bwMode="auto">
          <a:xfrm rot="-5400000">
            <a:off x="-491331" y="3547269"/>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sp>
        <p:nvSpPr>
          <p:cNvPr id="60567" name="TextBox 11"/>
          <p:cNvSpPr txBox="1">
            <a:spLocks noChangeArrowheads="1"/>
          </p:cNvSpPr>
          <p:nvPr/>
        </p:nvSpPr>
        <p:spPr bwMode="auto">
          <a:xfrm>
            <a:off x="2376488" y="1370013"/>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Tree>
    <p:extLst>
      <p:ext uri="{BB962C8B-B14F-4D97-AF65-F5344CB8AC3E}">
        <p14:creationId xmlns:p14="http://schemas.microsoft.com/office/powerpoint/2010/main" val="38692128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ltLang="en-US"/>
              <a:t>Closed Itemset</a:t>
            </a:r>
          </a:p>
        </p:txBody>
      </p:sp>
      <p:sp>
        <p:nvSpPr>
          <p:cNvPr id="23558" name="Rectangle 3"/>
          <p:cNvSpPr>
            <a:spLocks noGrp="1" noChangeArrowheads="1"/>
          </p:cNvSpPr>
          <p:nvPr>
            <p:ph type="body" idx="1"/>
          </p:nvPr>
        </p:nvSpPr>
        <p:spPr/>
        <p:txBody>
          <a:bodyPr/>
          <a:lstStyle/>
          <a:p>
            <a:endParaRPr lang="en-US" altLang="en-US" sz="2400" dirty="0"/>
          </a:p>
          <a:p>
            <a:r>
              <a:rPr lang="en-US" altLang="en-US" sz="2400" dirty="0"/>
              <a:t>Closed </a:t>
            </a:r>
            <a:r>
              <a:rPr lang="en-US" altLang="en-US" sz="2400" dirty="0" err="1"/>
              <a:t>itemsets</a:t>
            </a:r>
            <a:r>
              <a:rPr lang="en-US" altLang="en-US" sz="2400" dirty="0"/>
              <a:t> provide a minimal representation of </a:t>
            </a:r>
            <a:r>
              <a:rPr lang="en-US" altLang="en-US" sz="2400" dirty="0" err="1"/>
              <a:t>itemsets</a:t>
            </a:r>
            <a:r>
              <a:rPr lang="en-US" altLang="en-US" sz="2400" dirty="0"/>
              <a:t> without losing their support information</a:t>
            </a:r>
          </a:p>
          <a:p>
            <a:r>
              <a:rPr lang="en-US" altLang="en-US" sz="2400" dirty="0"/>
              <a:t>An itemset X is closed if none of its immediate supersets has the same support as the itemset X.</a:t>
            </a:r>
          </a:p>
          <a:p>
            <a:r>
              <a:rPr lang="en-US" altLang="en-US" sz="2400" dirty="0">
                <a:solidFill>
                  <a:srgbClr val="FF0000"/>
                </a:solidFill>
              </a:rPr>
              <a:t>X is not closed if at least one of its immediate supersets has same support count as X.</a:t>
            </a:r>
          </a:p>
          <a:p>
            <a:pPr>
              <a:buFont typeface="Monotype Sorts" pitchFamily="2" charset="2"/>
              <a:buNone/>
            </a:pPr>
            <a:endParaRPr lang="en-US" altLang="en-US" sz="2000" dirty="0"/>
          </a:p>
        </p:txBody>
      </p:sp>
    </p:spTree>
    <p:extLst>
      <p:ext uri="{BB962C8B-B14F-4D97-AF65-F5344CB8AC3E}">
        <p14:creationId xmlns:p14="http://schemas.microsoft.com/office/powerpoint/2010/main" val="33229094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ltLang="en-US"/>
              <a:t>Closed Itemset</a:t>
            </a:r>
          </a:p>
        </p:txBody>
      </p:sp>
      <p:sp>
        <p:nvSpPr>
          <p:cNvPr id="23558" name="Rectangle 3"/>
          <p:cNvSpPr>
            <a:spLocks noGrp="1" noChangeArrowheads="1"/>
          </p:cNvSpPr>
          <p:nvPr>
            <p:ph type="body" idx="1"/>
          </p:nvPr>
        </p:nvSpPr>
        <p:spPr/>
        <p:txBody>
          <a:bodyPr/>
          <a:lstStyle/>
          <a:p>
            <a:r>
              <a:rPr lang="en-US" altLang="en-US" sz="2400" dirty="0"/>
              <a:t>An </a:t>
            </a:r>
            <a:r>
              <a:rPr lang="en-US" altLang="en-US" sz="2400" dirty="0" err="1"/>
              <a:t>itemset</a:t>
            </a:r>
            <a:r>
              <a:rPr lang="en-US" altLang="en-US" sz="2400" dirty="0"/>
              <a:t> X is closed if none of its immediate supersets has the same support as the </a:t>
            </a:r>
            <a:r>
              <a:rPr lang="en-US" altLang="en-US" sz="2400" dirty="0" err="1"/>
              <a:t>itemset</a:t>
            </a:r>
            <a:r>
              <a:rPr lang="en-US" altLang="en-US" sz="2400" dirty="0"/>
              <a:t> X.</a:t>
            </a:r>
          </a:p>
          <a:p>
            <a:r>
              <a:rPr lang="en-US" altLang="en-US" sz="2400" dirty="0">
                <a:solidFill>
                  <a:srgbClr val="FF0000"/>
                </a:solidFill>
              </a:rPr>
              <a:t>X is not closed if at least one of its immediate supersets has support count as X.</a:t>
            </a:r>
          </a:p>
          <a:p>
            <a:pPr>
              <a:buFont typeface="Monotype Sorts" pitchFamily="2" charset="2"/>
              <a:buNone/>
            </a:pPr>
            <a:endParaRPr lang="en-US" altLang="en-US" sz="2000" dirty="0"/>
          </a:p>
        </p:txBody>
      </p:sp>
      <p:graphicFrame>
        <p:nvGraphicFramePr>
          <p:cNvPr id="61444" name="Object 4"/>
          <p:cNvGraphicFramePr>
            <a:graphicFrameLocks noGrp="1" noChangeAspect="1"/>
          </p:cNvGraphicFramePr>
          <p:nvPr>
            <p:ph sz="half" idx="4294967295"/>
          </p:nvPr>
        </p:nvGraphicFramePr>
        <p:xfrm>
          <a:off x="838200" y="3551238"/>
          <a:ext cx="2032000" cy="1782762"/>
        </p:xfrm>
        <a:graphic>
          <a:graphicData uri="http://schemas.openxmlformats.org/presentationml/2006/ole">
            <mc:AlternateContent xmlns:mc="http://schemas.openxmlformats.org/markup-compatibility/2006">
              <mc:Choice xmlns:v="urn:schemas-microsoft-com:vml" Requires="v">
                <p:oleObj name="Worksheet" r:id="rId2" imgW="1988871" imgH="1744914" progId="Excel.Sheet.8">
                  <p:embed/>
                </p:oleObj>
              </mc:Choice>
              <mc:Fallback>
                <p:oleObj name="Worksheet" r:id="rId2" imgW="1988871" imgH="1744914" progId="Excel.Sheet.8">
                  <p:embed/>
                  <p:pic>
                    <p:nvPicPr>
                      <p:cNvPr id="6144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551238"/>
                        <a:ext cx="2032000" cy="178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5" name="Object 5"/>
          <p:cNvGraphicFramePr>
            <a:graphicFrameLocks noGrp="1" noChangeAspect="1"/>
          </p:cNvGraphicFramePr>
          <p:nvPr>
            <p:ph sz="half" idx="4294967295"/>
          </p:nvPr>
        </p:nvGraphicFramePr>
        <p:xfrm>
          <a:off x="3962400" y="2982913"/>
          <a:ext cx="2260600" cy="3265487"/>
        </p:xfrm>
        <a:graphic>
          <a:graphicData uri="http://schemas.openxmlformats.org/presentationml/2006/ole">
            <mc:AlternateContent xmlns:mc="http://schemas.openxmlformats.org/markup-compatibility/2006">
              <mc:Choice xmlns:v="urn:schemas-microsoft-com:vml" Requires="v">
                <p:oleObj name="Worksheet" r:id="rId4" imgW="2209698" imgH="3192747" progId="Excel.Sheet.8">
                  <p:embed/>
                </p:oleObj>
              </mc:Choice>
              <mc:Fallback>
                <p:oleObj name="Worksheet" r:id="rId4" imgW="2209698" imgH="3192747" progId="Excel.Sheet.8">
                  <p:embed/>
                  <p:pic>
                    <p:nvPicPr>
                      <p:cNvPr id="6144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2982913"/>
                        <a:ext cx="2260600" cy="326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6" name="Object 6"/>
          <p:cNvGraphicFramePr>
            <a:graphicFrameLocks noGrp="1" noChangeAspect="1"/>
          </p:cNvGraphicFramePr>
          <p:nvPr>
            <p:ph sz="half" idx="4294967295"/>
          </p:nvPr>
        </p:nvGraphicFramePr>
        <p:xfrm>
          <a:off x="6553200" y="3665538"/>
          <a:ext cx="2209800" cy="1744662"/>
        </p:xfrm>
        <a:graphic>
          <a:graphicData uri="http://schemas.openxmlformats.org/presentationml/2006/ole">
            <mc:AlternateContent xmlns:mc="http://schemas.openxmlformats.org/markup-compatibility/2006">
              <mc:Choice xmlns:v="urn:schemas-microsoft-com:vml" Requires="v">
                <p:oleObj name="Worksheet" r:id="rId6" imgW="2209698" imgH="1744914" progId="Excel.Sheet.8">
                  <p:embed/>
                </p:oleObj>
              </mc:Choice>
              <mc:Fallback>
                <p:oleObj name="Worksheet" r:id="rId6" imgW="2209698" imgH="1744914" progId="Excel.Sheet.8">
                  <p:embed/>
                  <p:pic>
                    <p:nvPicPr>
                      <p:cNvPr id="6144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53200" y="3665538"/>
                        <a:ext cx="2209800" cy="174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985963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en-US" dirty="0"/>
              <a:t>Closed </a:t>
            </a:r>
            <a:r>
              <a:rPr lang="en-US" altLang="en-US" dirty="0" err="1"/>
              <a:t>Itemsets</a:t>
            </a:r>
            <a:endParaRPr lang="en-US" altLang="en-US" dirty="0"/>
          </a:p>
        </p:txBody>
      </p:sp>
      <p:graphicFrame>
        <p:nvGraphicFramePr>
          <p:cNvPr id="62467" name="Object 3"/>
          <p:cNvGraphicFramePr>
            <a:graphicFrameLocks noChangeAspect="1"/>
          </p:cNvGraphicFramePr>
          <p:nvPr/>
        </p:nvGraphicFramePr>
        <p:xfrm>
          <a:off x="228600" y="1143000"/>
          <a:ext cx="1600200" cy="2203450"/>
        </p:xfrm>
        <a:graphic>
          <a:graphicData uri="http://schemas.openxmlformats.org/presentationml/2006/ole">
            <mc:AlternateContent xmlns:mc="http://schemas.openxmlformats.org/markup-compatibility/2006">
              <mc:Choice xmlns:v="urn:schemas-microsoft-com:vml" Requires="v">
                <p:oleObj name="Worksheet" r:id="rId3" imgW="1733931" imgH="2229104" progId="Excel.Sheet.8">
                  <p:embed/>
                </p:oleObj>
              </mc:Choice>
              <mc:Fallback>
                <p:oleObj name="Worksheet" r:id="rId3" imgW="1733931" imgH="2229104" progId="Excel.Sheet.8">
                  <p:embed/>
                  <p:pic>
                    <p:nvPicPr>
                      <p:cNvPr id="6246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143000"/>
                        <a:ext cx="1600200" cy="220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68" name="Object 4"/>
          <p:cNvGraphicFramePr>
            <a:graphicFrameLocks noChangeAspect="1"/>
          </p:cNvGraphicFramePr>
          <p:nvPr/>
        </p:nvGraphicFramePr>
        <p:xfrm>
          <a:off x="1828800" y="1066800"/>
          <a:ext cx="7229475" cy="5289550"/>
        </p:xfrm>
        <a:graphic>
          <a:graphicData uri="http://schemas.openxmlformats.org/presentationml/2006/ole">
            <mc:AlternateContent xmlns:mc="http://schemas.openxmlformats.org/markup-compatibility/2006">
              <mc:Choice xmlns:v="urn:schemas-microsoft-com:vml" Requires="v">
                <p:oleObj name="VISIO" r:id="rId5" imgW="10120884" imgH="7392924" progId="Visio.Drawing.6">
                  <p:embed/>
                </p:oleObj>
              </mc:Choice>
              <mc:Fallback>
                <p:oleObj name="VISIO" r:id="rId5" imgW="10120884" imgH="7392924" progId="Visio.Drawing.6">
                  <p:embed/>
                  <p:pic>
                    <p:nvPicPr>
                      <p:cNvPr id="62468"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1066800"/>
                        <a:ext cx="7229475" cy="528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469" name="Text Box 5"/>
          <p:cNvSpPr txBox="1">
            <a:spLocks noChangeArrowheads="1"/>
          </p:cNvSpPr>
          <p:nvPr/>
        </p:nvSpPr>
        <p:spPr bwMode="auto">
          <a:xfrm>
            <a:off x="7162800" y="990600"/>
            <a:ext cx="152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Transaction Ids</a:t>
            </a:r>
          </a:p>
        </p:txBody>
      </p:sp>
      <p:sp>
        <p:nvSpPr>
          <p:cNvPr id="62470" name="Line 6"/>
          <p:cNvSpPr>
            <a:spLocks noChangeShapeType="1"/>
          </p:cNvSpPr>
          <p:nvPr/>
        </p:nvSpPr>
        <p:spPr bwMode="auto">
          <a:xfrm flipH="1">
            <a:off x="6400800" y="1295400"/>
            <a:ext cx="838200" cy="381000"/>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71" name="Line 7"/>
          <p:cNvSpPr>
            <a:spLocks noChangeShapeType="1"/>
          </p:cNvSpPr>
          <p:nvPr/>
        </p:nvSpPr>
        <p:spPr bwMode="auto">
          <a:xfrm flipH="1">
            <a:off x="7772400" y="1371600"/>
            <a:ext cx="76200" cy="228600"/>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72" name="Text Box 8"/>
          <p:cNvSpPr txBox="1">
            <a:spLocks noChangeArrowheads="1"/>
          </p:cNvSpPr>
          <p:nvPr/>
        </p:nvSpPr>
        <p:spPr bwMode="auto">
          <a:xfrm>
            <a:off x="1219200" y="5715000"/>
            <a:ext cx="17526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Not supported by any transactions</a:t>
            </a:r>
          </a:p>
        </p:txBody>
      </p:sp>
      <p:sp>
        <p:nvSpPr>
          <p:cNvPr id="62473" name="Line 9"/>
          <p:cNvSpPr>
            <a:spLocks noChangeShapeType="1"/>
          </p:cNvSpPr>
          <p:nvPr/>
        </p:nvSpPr>
        <p:spPr bwMode="auto">
          <a:xfrm>
            <a:off x="2819400" y="6019800"/>
            <a:ext cx="2286000" cy="76200"/>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474" name="Line 10"/>
          <p:cNvSpPr>
            <a:spLocks noChangeShapeType="1"/>
          </p:cNvSpPr>
          <p:nvPr/>
        </p:nvSpPr>
        <p:spPr bwMode="auto">
          <a:xfrm flipV="1">
            <a:off x="2819400" y="5486400"/>
            <a:ext cx="1524000" cy="533400"/>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996296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491" name="Object 3"/>
          <p:cNvGraphicFramePr>
            <a:graphicFrameLocks noChangeAspect="1"/>
          </p:cNvGraphicFramePr>
          <p:nvPr/>
        </p:nvGraphicFramePr>
        <p:xfrm>
          <a:off x="914400" y="1104900"/>
          <a:ext cx="7086600" cy="5143500"/>
        </p:xfrm>
        <a:graphic>
          <a:graphicData uri="http://schemas.openxmlformats.org/presentationml/2006/ole">
            <mc:AlternateContent xmlns:mc="http://schemas.openxmlformats.org/markup-compatibility/2006">
              <mc:Choice xmlns:v="urn:schemas-microsoft-com:vml" Requires="v">
                <p:oleObj name="VISIO" r:id="rId3" imgW="10169652" imgH="7367016" progId="Visio.Drawing.6">
                  <p:embed/>
                </p:oleObj>
              </mc:Choice>
              <mc:Fallback>
                <p:oleObj name="VISIO" r:id="rId3" imgW="10169652" imgH="7367016" progId="Visio.Drawing.6">
                  <p:embed/>
                  <p:pic>
                    <p:nvPicPr>
                      <p:cNvPr id="6349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104900"/>
                        <a:ext cx="7086600" cy="5143500"/>
                      </a:xfrm>
                      <a:prstGeom prst="rect">
                        <a:avLst/>
                      </a:prstGeom>
                      <a:noFill/>
                      <a:ln>
                        <a:noFill/>
                      </a:ln>
                      <a:effectLst/>
                    </p:spPr>
                  </p:pic>
                </p:oleObj>
              </mc:Fallback>
            </mc:AlternateContent>
          </a:graphicData>
        </a:graphic>
      </p:graphicFrame>
      <p:sp>
        <p:nvSpPr>
          <p:cNvPr id="63490" name="Rectangle 2"/>
          <p:cNvSpPr>
            <a:spLocks noGrp="1" noChangeArrowheads="1"/>
          </p:cNvSpPr>
          <p:nvPr>
            <p:ph type="title"/>
          </p:nvPr>
        </p:nvSpPr>
        <p:spPr/>
        <p:txBody>
          <a:bodyPr/>
          <a:lstStyle/>
          <a:p>
            <a:r>
              <a:rPr lang="en-US" altLang="en-US" sz="2400" dirty="0"/>
              <a:t>Maximal Frequent </a:t>
            </a:r>
            <a:r>
              <a:rPr lang="en-US" altLang="en-US" sz="2400" dirty="0" err="1"/>
              <a:t>Itemsets</a:t>
            </a:r>
            <a:endParaRPr lang="en-US" altLang="en-US" sz="2400" dirty="0"/>
          </a:p>
        </p:txBody>
      </p:sp>
      <p:sp>
        <p:nvSpPr>
          <p:cNvPr id="63492" name="Text Box 4"/>
          <p:cNvSpPr txBox="1">
            <a:spLocks noChangeArrowheads="1"/>
          </p:cNvSpPr>
          <p:nvPr/>
        </p:nvSpPr>
        <p:spPr bwMode="auto">
          <a:xfrm>
            <a:off x="1676400" y="1104900"/>
            <a:ext cx="2286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dirty="0"/>
              <a:t>Minimum support = 2</a:t>
            </a:r>
          </a:p>
        </p:txBody>
      </p:sp>
      <p:sp>
        <p:nvSpPr>
          <p:cNvPr id="63494" name="Text Box 6"/>
          <p:cNvSpPr txBox="1">
            <a:spLocks noChangeArrowheads="1"/>
          </p:cNvSpPr>
          <p:nvPr/>
        </p:nvSpPr>
        <p:spPr bwMode="auto">
          <a:xfrm>
            <a:off x="7620000" y="1730354"/>
            <a:ext cx="1219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dirty="0"/>
              <a:t>Closed and maximal</a:t>
            </a:r>
          </a:p>
        </p:txBody>
      </p:sp>
      <p:sp>
        <p:nvSpPr>
          <p:cNvPr id="63495" name="Line 7"/>
          <p:cNvSpPr>
            <a:spLocks noChangeShapeType="1"/>
          </p:cNvSpPr>
          <p:nvPr/>
        </p:nvSpPr>
        <p:spPr bwMode="auto">
          <a:xfrm flipH="1">
            <a:off x="7162800" y="2247900"/>
            <a:ext cx="1066800" cy="6096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496" name="Line 8"/>
          <p:cNvSpPr>
            <a:spLocks noChangeShapeType="1"/>
          </p:cNvSpPr>
          <p:nvPr/>
        </p:nvSpPr>
        <p:spPr bwMode="auto">
          <a:xfrm flipH="1">
            <a:off x="7924800" y="2247900"/>
            <a:ext cx="304800" cy="6096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497" name="Line 9"/>
          <p:cNvSpPr>
            <a:spLocks noChangeShapeType="1"/>
          </p:cNvSpPr>
          <p:nvPr/>
        </p:nvSpPr>
        <p:spPr bwMode="auto">
          <a:xfrm flipH="1">
            <a:off x="5562600" y="1409700"/>
            <a:ext cx="609600" cy="381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498" name="Text Box 10"/>
          <p:cNvSpPr txBox="1">
            <a:spLocks noChangeArrowheads="1"/>
          </p:cNvSpPr>
          <p:nvPr/>
        </p:nvSpPr>
        <p:spPr bwMode="auto">
          <a:xfrm>
            <a:off x="6172200" y="1028700"/>
            <a:ext cx="1219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1400"/>
              <a:t>Closed but not maximal</a:t>
            </a:r>
          </a:p>
        </p:txBody>
      </p:sp>
      <p:sp>
        <p:nvSpPr>
          <p:cNvPr id="63499" name="Line 11"/>
          <p:cNvSpPr>
            <a:spLocks noChangeShapeType="1"/>
          </p:cNvSpPr>
          <p:nvPr/>
        </p:nvSpPr>
        <p:spPr bwMode="auto">
          <a:xfrm flipH="1">
            <a:off x="4648200" y="1257300"/>
            <a:ext cx="1524000" cy="5334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00" name="Line 12"/>
          <p:cNvSpPr>
            <a:spLocks noChangeShapeType="1"/>
          </p:cNvSpPr>
          <p:nvPr/>
        </p:nvSpPr>
        <p:spPr bwMode="auto">
          <a:xfrm>
            <a:off x="6400800" y="148590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3" name="Object 3"/>
          <p:cNvGraphicFramePr>
            <a:graphicFrameLocks noChangeAspect="1"/>
          </p:cNvGraphicFramePr>
          <p:nvPr/>
        </p:nvGraphicFramePr>
        <p:xfrm>
          <a:off x="112434" y="1104900"/>
          <a:ext cx="1182966" cy="1524000"/>
        </p:xfrm>
        <a:graphic>
          <a:graphicData uri="http://schemas.openxmlformats.org/presentationml/2006/ole">
            <mc:AlternateContent xmlns:mc="http://schemas.openxmlformats.org/markup-compatibility/2006">
              <mc:Choice xmlns:v="urn:schemas-microsoft-com:vml" Requires="v">
                <p:oleObj name="Worksheet" r:id="rId5" imgW="1733639" imgH="2229028" progId="Excel.Sheet.8">
                  <p:embed/>
                </p:oleObj>
              </mc:Choice>
              <mc:Fallback>
                <p:oleObj name="Worksheet" r:id="rId5" imgW="1733639" imgH="2229028" progId="Excel.Sheet.8">
                  <p:embed/>
                  <p:pic>
                    <p:nvPicPr>
                      <p:cNvPr id="13" name="Object 3"/>
                      <p:cNvPicPr>
                        <a:picLocks noChangeAspect="1" noChangeArrowheads="1"/>
                      </p:cNvPicPr>
                      <p:nvPr/>
                    </p:nvPicPr>
                    <p:blipFill>
                      <a:blip r:embed="rId6"/>
                      <a:srcRect/>
                      <a:stretch>
                        <a:fillRect/>
                      </a:stretch>
                    </p:blipFill>
                    <p:spPr bwMode="auto">
                      <a:xfrm>
                        <a:off x="112434" y="1104900"/>
                        <a:ext cx="1182966" cy="1524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1712915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C5710-3A18-425F-D7E4-F10952B900C3}"/>
              </a:ext>
            </a:extLst>
          </p:cNvPr>
          <p:cNvSpPr>
            <a:spLocks noGrp="1"/>
          </p:cNvSpPr>
          <p:nvPr>
            <p:ph type="title"/>
          </p:nvPr>
        </p:nvSpPr>
        <p:spPr/>
        <p:txBody>
          <a:bodyPr/>
          <a:lstStyle/>
          <a:p>
            <a:r>
              <a:rPr lang="en-US" altLang="en-US" dirty="0"/>
              <a:t>Closed Frequent Itemset</a:t>
            </a:r>
            <a:endParaRPr lang="en-US" dirty="0"/>
          </a:p>
        </p:txBody>
      </p:sp>
      <p:sp>
        <p:nvSpPr>
          <p:cNvPr id="3" name="Content Placeholder 2">
            <a:extLst>
              <a:ext uri="{FF2B5EF4-FFF2-40B4-BE49-F238E27FC236}">
                <a16:creationId xmlns:a16="http://schemas.microsoft.com/office/drawing/2014/main" id="{F615B793-3DDB-83D1-B32A-E2B4AFA367B6}"/>
              </a:ext>
            </a:extLst>
          </p:cNvPr>
          <p:cNvSpPr>
            <a:spLocks noGrp="1"/>
          </p:cNvSpPr>
          <p:nvPr>
            <p:ph idx="1"/>
          </p:nvPr>
        </p:nvSpPr>
        <p:spPr/>
        <p:txBody>
          <a:bodyPr/>
          <a:lstStyle/>
          <a:p>
            <a:r>
              <a:rPr lang="en-US" sz="2400" dirty="0"/>
              <a:t>An itemset is a closed frequent itemset if it is closed and its support is greater than or equal to </a:t>
            </a:r>
            <a:r>
              <a:rPr lang="en-US" sz="2400" dirty="0" err="1"/>
              <a:t>minsup</a:t>
            </a:r>
            <a:r>
              <a:rPr lang="en-US" sz="2400" dirty="0"/>
              <a:t>.</a:t>
            </a:r>
          </a:p>
          <a:p>
            <a:r>
              <a:rPr lang="en-US" sz="2400" dirty="0"/>
              <a:t>In the previous example, assuming that the support threshold is 40%, {</a:t>
            </a:r>
            <a:r>
              <a:rPr lang="en-US" sz="2400" dirty="0" err="1"/>
              <a:t>b,c</a:t>
            </a:r>
            <a:r>
              <a:rPr lang="en-US" sz="2400" dirty="0"/>
              <a:t>} is a closed frequent itemset because its support is 60%. </a:t>
            </a:r>
          </a:p>
          <a:p>
            <a:r>
              <a:rPr lang="en-US" sz="2400" dirty="0"/>
              <a:t>Algorithms are available to explicitly extract closed frequent </a:t>
            </a:r>
            <a:r>
              <a:rPr lang="en-US" sz="2400" dirty="0" err="1"/>
              <a:t>itemsets</a:t>
            </a:r>
            <a:r>
              <a:rPr lang="en-US" sz="2400" dirty="0"/>
              <a:t> from a given data set.</a:t>
            </a:r>
            <a:endParaRPr lang="en-US" dirty="0"/>
          </a:p>
        </p:txBody>
      </p:sp>
    </p:spTree>
    <p:extLst>
      <p:ext uri="{BB962C8B-B14F-4D97-AF65-F5344CB8AC3E}">
        <p14:creationId xmlns:p14="http://schemas.microsoft.com/office/powerpoint/2010/main" val="7711282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381000" y="76200"/>
            <a:ext cx="8280400" cy="533400"/>
          </a:xfrm>
        </p:spPr>
        <p:txBody>
          <a:bodyPr/>
          <a:lstStyle/>
          <a:p>
            <a:r>
              <a:rPr lang="en-US" altLang="en-US" sz="2000" dirty="0"/>
              <a:t>What are the Closed Frequent </a:t>
            </a:r>
            <a:r>
              <a:rPr lang="en-US" altLang="en-US" sz="2000" dirty="0" err="1"/>
              <a:t>Itemsets</a:t>
            </a:r>
            <a:r>
              <a:rPr lang="en-US" altLang="en-US" sz="2000" dirty="0"/>
              <a:t> in this Data?</a:t>
            </a:r>
          </a:p>
        </p:txBody>
      </p:sp>
      <p:sp>
        <p:nvSpPr>
          <p:cNvPr id="64515" name="Rectangle 3"/>
          <p:cNvSpPr>
            <a:spLocks noGrp="1" noChangeArrowheads="1"/>
          </p:cNvSpPr>
          <p:nvPr>
            <p:ph type="body" idx="1"/>
          </p:nvPr>
        </p:nvSpPr>
        <p:spPr/>
        <p:txBody>
          <a:bodyPr/>
          <a:lstStyle/>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pPr>
            <a:endParaRPr lang="en-US" altLang="en-US" sz="2400"/>
          </a:p>
        </p:txBody>
      </p:sp>
      <p:pic>
        <p:nvPicPr>
          <p:cNvPr id="64516" name="Picture 4"/>
          <p:cNvPicPr>
            <a:picLocks noGrp="1" noChangeAspect="1" noChangeArrowheads="1"/>
          </p:cNvPicPr>
          <p:nvPr>
            <p:ph sz="half" idx="4294967295"/>
          </p:nvPr>
        </p:nvPicPr>
        <p:blipFill>
          <a:blip r:embed="rId3" cstate="print">
            <a:extLst>
              <a:ext uri="{28A0092B-C50C-407E-A947-70E740481C1C}">
                <a14:useLocalDpi xmlns:a14="http://schemas.microsoft.com/office/drawing/2010/main" val="0"/>
              </a:ext>
            </a:extLst>
          </a:blip>
          <a:srcRect/>
          <a:stretch>
            <a:fillRect/>
          </a:stretch>
        </p:blipFill>
        <p:spPr>
          <a:xfrm>
            <a:off x="152400" y="1295400"/>
            <a:ext cx="8839200" cy="2684463"/>
          </a:xfrm>
          <a:noFill/>
        </p:spPr>
      </p:pic>
      <p:sp>
        <p:nvSpPr>
          <p:cNvPr id="5" name="TextBox 4"/>
          <p:cNvSpPr txBox="1"/>
          <p:nvPr/>
        </p:nvSpPr>
        <p:spPr>
          <a:xfrm>
            <a:off x="4570413" y="4800600"/>
            <a:ext cx="1239442" cy="1015663"/>
          </a:xfrm>
          <a:prstGeom prst="rect">
            <a:avLst/>
          </a:prstGeom>
          <a:noFill/>
        </p:spPr>
        <p:txBody>
          <a:bodyPr wrap="none" rtlCol="0">
            <a:spAutoFit/>
          </a:bodyPr>
          <a:lstStyle/>
          <a:p>
            <a:r>
              <a:rPr lang="en-US" sz="2000" dirty="0"/>
              <a:t>(A1-A10)</a:t>
            </a:r>
          </a:p>
          <a:p>
            <a:r>
              <a:rPr lang="en-US" sz="2000" dirty="0"/>
              <a:t>(B1-B10)</a:t>
            </a:r>
          </a:p>
          <a:p>
            <a:r>
              <a:rPr lang="en-US" sz="2000" dirty="0"/>
              <a:t>(C1-C10)</a:t>
            </a:r>
          </a:p>
        </p:txBody>
      </p:sp>
    </p:spTree>
    <p:extLst>
      <p:ext uri="{BB962C8B-B14F-4D97-AF65-F5344CB8AC3E}">
        <p14:creationId xmlns:p14="http://schemas.microsoft.com/office/powerpoint/2010/main" val="129984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altLang="en-US"/>
              <a:t>Example 1</a:t>
            </a:r>
          </a:p>
        </p:txBody>
      </p:sp>
      <p:graphicFrame>
        <p:nvGraphicFramePr>
          <p:cNvPr id="6" name="Content Placeholder 3"/>
          <p:cNvGraphicFramePr>
            <a:graphicFrameLocks/>
          </p:cNvGraphicFramePr>
          <p:nvPr/>
        </p:nvGraphicFramePr>
        <p:xfrm>
          <a:off x="342900" y="1820863"/>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65685" name="TextBox 6"/>
          <p:cNvSpPr txBox="1">
            <a:spLocks noChangeArrowheads="1"/>
          </p:cNvSpPr>
          <p:nvPr/>
        </p:nvSpPr>
        <p:spPr bwMode="auto">
          <a:xfrm>
            <a:off x="2376488" y="1500188"/>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65686" name="TextBox 7"/>
          <p:cNvSpPr txBox="1">
            <a:spLocks noChangeArrowheads="1"/>
          </p:cNvSpPr>
          <p:nvPr/>
        </p:nvSpPr>
        <p:spPr bwMode="auto">
          <a:xfrm rot="-5400000">
            <a:off x="-491331" y="3677444"/>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graphicFrame>
        <p:nvGraphicFramePr>
          <p:cNvPr id="10" name="Table 9"/>
          <p:cNvGraphicFramePr>
            <a:graphicFrameLocks noGrp="1"/>
          </p:cNvGraphicFramePr>
          <p:nvPr/>
        </p:nvGraphicFramePr>
        <p:xfrm>
          <a:off x="5654675" y="1860550"/>
          <a:ext cx="3260725" cy="1692274"/>
        </p:xfrm>
        <a:graphic>
          <a:graphicData uri="http://schemas.openxmlformats.org/drawingml/2006/table">
            <a:tbl>
              <a:tblPr firstRow="1" bandRow="1">
                <a:tableStyleId>{EB344D84-9AFB-497E-A393-DC336BA19D2E}</a:tableStyleId>
              </a:tblPr>
              <a:tblGrid>
                <a:gridCol w="1151546">
                  <a:extLst>
                    <a:ext uri="{9D8B030D-6E8A-4147-A177-3AD203B41FA5}">
                      <a16:colId xmlns:a16="http://schemas.microsoft.com/office/drawing/2014/main" val="20000"/>
                    </a:ext>
                  </a:extLst>
                </a:gridCol>
                <a:gridCol w="1022271">
                  <a:extLst>
                    <a:ext uri="{9D8B030D-6E8A-4147-A177-3AD203B41FA5}">
                      <a16:colId xmlns:a16="http://schemas.microsoft.com/office/drawing/2014/main" val="20001"/>
                    </a:ext>
                  </a:extLst>
                </a:gridCol>
                <a:gridCol w="1086908">
                  <a:extLst>
                    <a:ext uri="{9D8B030D-6E8A-4147-A177-3AD203B41FA5}">
                      <a16:colId xmlns:a16="http://schemas.microsoft.com/office/drawing/2014/main" val="20002"/>
                    </a:ext>
                  </a:extLst>
                </a:gridCol>
              </a:tblGrid>
              <a:tr h="579337">
                <a:tc>
                  <a:txBody>
                    <a:bodyPr/>
                    <a:lstStyle/>
                    <a:p>
                      <a:r>
                        <a:rPr lang="en-US" sz="1600" b="1" baseline="0" dirty="0" err="1">
                          <a:solidFill>
                            <a:schemeClr val="tx1"/>
                          </a:solidFill>
                        </a:rPr>
                        <a:t>Itemsets</a:t>
                      </a:r>
                      <a:endParaRPr lang="en-US" sz="1600" b="1" dirty="0">
                        <a:solidFill>
                          <a:schemeClr val="tx1"/>
                        </a:solidFill>
                      </a:endParaRPr>
                    </a:p>
                  </a:txBody>
                  <a:tcPr marL="91453" marR="91453" marT="45737" marB="45737"/>
                </a:tc>
                <a:tc>
                  <a:txBody>
                    <a:bodyPr/>
                    <a:lstStyle/>
                    <a:p>
                      <a:r>
                        <a:rPr lang="en-US" sz="1600" b="1" dirty="0">
                          <a:solidFill>
                            <a:schemeClr val="tx1"/>
                          </a:solidFill>
                        </a:rPr>
                        <a:t>Support</a:t>
                      </a:r>
                    </a:p>
                    <a:p>
                      <a:r>
                        <a:rPr lang="en-US" sz="1600" b="1" dirty="0">
                          <a:solidFill>
                            <a:schemeClr val="tx1"/>
                          </a:solidFill>
                        </a:rPr>
                        <a:t>(counts)</a:t>
                      </a:r>
                    </a:p>
                  </a:txBody>
                  <a:tcPr marL="91453" marR="91453" marT="45737" marB="45737"/>
                </a:tc>
                <a:tc>
                  <a:txBody>
                    <a:bodyPr/>
                    <a:lstStyle/>
                    <a:p>
                      <a:r>
                        <a:rPr lang="en-US" sz="1600" b="1" dirty="0">
                          <a:solidFill>
                            <a:schemeClr val="tx1"/>
                          </a:solidFill>
                        </a:rPr>
                        <a:t>Closed </a:t>
                      </a:r>
                      <a:r>
                        <a:rPr lang="en-US" sz="1600" b="1" dirty="0" err="1">
                          <a:solidFill>
                            <a:schemeClr val="tx1"/>
                          </a:solidFill>
                        </a:rPr>
                        <a:t>itemsets</a:t>
                      </a:r>
                      <a:endParaRPr lang="en-US" sz="1600" b="1" dirty="0">
                        <a:solidFill>
                          <a:schemeClr val="tx1"/>
                        </a:solidFill>
                      </a:endParaRPr>
                    </a:p>
                  </a:txBody>
                  <a:tcPr marL="91453" marR="91453" marT="45737" marB="45737"/>
                </a:tc>
                <a:extLst>
                  <a:ext uri="{0D108BD9-81ED-4DB2-BD59-A6C34878D82A}">
                    <a16:rowId xmlns:a16="http://schemas.microsoft.com/office/drawing/2014/main" val="10000"/>
                  </a:ext>
                </a:extLst>
              </a:tr>
              <a:tr h="370979">
                <a:tc>
                  <a:txBody>
                    <a:bodyPr/>
                    <a:lstStyle/>
                    <a:p>
                      <a:r>
                        <a:rPr lang="en-US" sz="1800" b="0" dirty="0">
                          <a:solidFill>
                            <a:schemeClr val="tx1"/>
                          </a:solidFill>
                        </a:rPr>
                        <a:t>{C}</a:t>
                      </a:r>
                    </a:p>
                  </a:txBody>
                  <a:tcPr marL="91453" marR="91453" marT="45737" marB="45737"/>
                </a:tc>
                <a:tc>
                  <a:txBody>
                    <a:bodyPr/>
                    <a:lstStyle/>
                    <a:p>
                      <a:r>
                        <a:rPr lang="en-US" sz="1800" b="0" dirty="0">
                          <a:solidFill>
                            <a:schemeClr val="tx1"/>
                          </a:solidFill>
                        </a:rPr>
                        <a:t>3</a:t>
                      </a:r>
                    </a:p>
                  </a:txBody>
                  <a:tcPr marL="91453" marR="91453" marT="45737" marB="45737"/>
                </a:tc>
                <a:tc>
                  <a:txBody>
                    <a:bodyPr/>
                    <a:lstStyle/>
                    <a:p>
                      <a:endParaRPr lang="en-US" sz="1800" b="0" dirty="0">
                        <a:solidFill>
                          <a:schemeClr val="tx1"/>
                        </a:solidFill>
                      </a:endParaRPr>
                    </a:p>
                  </a:txBody>
                  <a:tcPr marL="91453" marR="91453" marT="45737" marB="45737"/>
                </a:tc>
                <a:extLst>
                  <a:ext uri="{0D108BD9-81ED-4DB2-BD59-A6C34878D82A}">
                    <a16:rowId xmlns:a16="http://schemas.microsoft.com/office/drawing/2014/main" val="10001"/>
                  </a:ext>
                </a:extLst>
              </a:tr>
              <a:tr h="370979">
                <a:tc>
                  <a:txBody>
                    <a:bodyPr/>
                    <a:lstStyle/>
                    <a:p>
                      <a:r>
                        <a:rPr lang="en-US" sz="1800" b="0" dirty="0">
                          <a:solidFill>
                            <a:schemeClr val="tx1"/>
                          </a:solidFill>
                        </a:rPr>
                        <a:t>{D}</a:t>
                      </a:r>
                    </a:p>
                  </a:txBody>
                  <a:tcPr marL="91453" marR="91453" marT="45737" marB="45737"/>
                </a:tc>
                <a:tc>
                  <a:txBody>
                    <a:bodyPr/>
                    <a:lstStyle/>
                    <a:p>
                      <a:r>
                        <a:rPr lang="en-US" sz="1800" b="0" dirty="0">
                          <a:solidFill>
                            <a:schemeClr val="tx1"/>
                          </a:solidFill>
                        </a:rPr>
                        <a:t>2</a:t>
                      </a:r>
                    </a:p>
                  </a:txBody>
                  <a:tcPr marL="91453" marR="91453" marT="45737" marB="45737"/>
                </a:tc>
                <a:tc>
                  <a:txBody>
                    <a:bodyPr/>
                    <a:lstStyle/>
                    <a:p>
                      <a:endParaRPr lang="en-US" sz="1800" b="0" dirty="0">
                        <a:solidFill>
                          <a:schemeClr val="tx1"/>
                        </a:solidFill>
                      </a:endParaRPr>
                    </a:p>
                  </a:txBody>
                  <a:tcPr marL="91453" marR="91453" marT="45737" marB="45737"/>
                </a:tc>
                <a:extLst>
                  <a:ext uri="{0D108BD9-81ED-4DB2-BD59-A6C34878D82A}">
                    <a16:rowId xmlns:a16="http://schemas.microsoft.com/office/drawing/2014/main" val="10002"/>
                  </a:ext>
                </a:extLst>
              </a:tr>
              <a:tr h="370979">
                <a:tc>
                  <a:txBody>
                    <a:bodyPr/>
                    <a:lstStyle/>
                    <a:p>
                      <a:r>
                        <a:rPr lang="en-US" sz="1800" b="0" dirty="0">
                          <a:solidFill>
                            <a:schemeClr val="tx1"/>
                          </a:solidFill>
                        </a:rPr>
                        <a:t>{C,D}</a:t>
                      </a:r>
                    </a:p>
                  </a:txBody>
                  <a:tcPr marL="91453" marR="91453" marT="45737" marB="45737"/>
                </a:tc>
                <a:tc>
                  <a:txBody>
                    <a:bodyPr/>
                    <a:lstStyle/>
                    <a:p>
                      <a:r>
                        <a:rPr lang="en-US" sz="1800" b="0" dirty="0">
                          <a:solidFill>
                            <a:schemeClr val="tx1"/>
                          </a:solidFill>
                        </a:rPr>
                        <a:t>2</a:t>
                      </a:r>
                    </a:p>
                  </a:txBody>
                  <a:tcPr marL="91453" marR="91453" marT="45737" marB="4573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0" dirty="0">
                        <a:solidFill>
                          <a:schemeClr val="tx1"/>
                        </a:solidFill>
                      </a:endParaRPr>
                    </a:p>
                  </a:txBody>
                  <a:tcPr marL="91453" marR="91453" marT="45737" marB="45737"/>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525546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ltLang="en-US"/>
              <a:t>Example 1</a:t>
            </a:r>
          </a:p>
        </p:txBody>
      </p:sp>
      <p:graphicFrame>
        <p:nvGraphicFramePr>
          <p:cNvPr id="6" name="Content Placeholder 3"/>
          <p:cNvGraphicFramePr>
            <a:graphicFrameLocks/>
          </p:cNvGraphicFramePr>
          <p:nvPr/>
        </p:nvGraphicFramePr>
        <p:xfrm>
          <a:off x="342900" y="1820863"/>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66709" name="TextBox 6"/>
          <p:cNvSpPr txBox="1">
            <a:spLocks noChangeArrowheads="1"/>
          </p:cNvSpPr>
          <p:nvPr/>
        </p:nvSpPr>
        <p:spPr bwMode="auto">
          <a:xfrm>
            <a:off x="2376488" y="1500188"/>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66710" name="TextBox 7"/>
          <p:cNvSpPr txBox="1">
            <a:spLocks noChangeArrowheads="1"/>
          </p:cNvSpPr>
          <p:nvPr/>
        </p:nvSpPr>
        <p:spPr bwMode="auto">
          <a:xfrm rot="-5400000">
            <a:off x="-491331" y="3677444"/>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graphicFrame>
        <p:nvGraphicFramePr>
          <p:cNvPr id="10" name="Table 9"/>
          <p:cNvGraphicFramePr>
            <a:graphicFrameLocks noGrp="1"/>
          </p:cNvGraphicFramePr>
          <p:nvPr/>
        </p:nvGraphicFramePr>
        <p:xfrm>
          <a:off x="5654675" y="1860550"/>
          <a:ext cx="3260725" cy="1692274"/>
        </p:xfrm>
        <a:graphic>
          <a:graphicData uri="http://schemas.openxmlformats.org/drawingml/2006/table">
            <a:tbl>
              <a:tblPr firstRow="1" bandRow="1">
                <a:tableStyleId>{EB344D84-9AFB-497E-A393-DC336BA19D2E}</a:tableStyleId>
              </a:tblPr>
              <a:tblGrid>
                <a:gridCol w="1151546">
                  <a:extLst>
                    <a:ext uri="{9D8B030D-6E8A-4147-A177-3AD203B41FA5}">
                      <a16:colId xmlns:a16="http://schemas.microsoft.com/office/drawing/2014/main" val="20000"/>
                    </a:ext>
                  </a:extLst>
                </a:gridCol>
                <a:gridCol w="1022271">
                  <a:extLst>
                    <a:ext uri="{9D8B030D-6E8A-4147-A177-3AD203B41FA5}">
                      <a16:colId xmlns:a16="http://schemas.microsoft.com/office/drawing/2014/main" val="20001"/>
                    </a:ext>
                  </a:extLst>
                </a:gridCol>
                <a:gridCol w="1086908">
                  <a:extLst>
                    <a:ext uri="{9D8B030D-6E8A-4147-A177-3AD203B41FA5}">
                      <a16:colId xmlns:a16="http://schemas.microsoft.com/office/drawing/2014/main" val="20002"/>
                    </a:ext>
                  </a:extLst>
                </a:gridCol>
              </a:tblGrid>
              <a:tr h="579337">
                <a:tc>
                  <a:txBody>
                    <a:bodyPr/>
                    <a:lstStyle/>
                    <a:p>
                      <a:r>
                        <a:rPr lang="en-US" sz="1600" baseline="0" dirty="0" err="1">
                          <a:solidFill>
                            <a:schemeClr val="tx1"/>
                          </a:solidFill>
                        </a:rPr>
                        <a:t>Itemsets</a:t>
                      </a:r>
                      <a:endParaRPr lang="en-US" sz="1600" dirty="0">
                        <a:solidFill>
                          <a:schemeClr val="tx1"/>
                        </a:solidFill>
                      </a:endParaRPr>
                    </a:p>
                  </a:txBody>
                  <a:tcPr marL="91453" marR="91453" marT="45737" marB="45737"/>
                </a:tc>
                <a:tc>
                  <a:txBody>
                    <a:bodyPr/>
                    <a:lstStyle/>
                    <a:p>
                      <a:r>
                        <a:rPr lang="en-US" sz="1600" dirty="0">
                          <a:solidFill>
                            <a:schemeClr val="tx1"/>
                          </a:solidFill>
                        </a:rPr>
                        <a:t>Support</a:t>
                      </a:r>
                    </a:p>
                    <a:p>
                      <a:r>
                        <a:rPr lang="en-US" sz="1600" dirty="0">
                          <a:solidFill>
                            <a:schemeClr val="tx1"/>
                          </a:solidFill>
                        </a:rPr>
                        <a:t>(counts)</a:t>
                      </a:r>
                    </a:p>
                  </a:txBody>
                  <a:tcPr marL="91453" marR="91453" marT="45737" marB="45737"/>
                </a:tc>
                <a:tc>
                  <a:txBody>
                    <a:bodyPr/>
                    <a:lstStyle/>
                    <a:p>
                      <a:r>
                        <a:rPr lang="en-US" sz="1600" dirty="0">
                          <a:solidFill>
                            <a:schemeClr val="tx1"/>
                          </a:solidFill>
                        </a:rPr>
                        <a:t>Closed </a:t>
                      </a:r>
                      <a:r>
                        <a:rPr lang="en-US" sz="1600" dirty="0" err="1">
                          <a:solidFill>
                            <a:schemeClr val="tx1"/>
                          </a:solidFill>
                        </a:rPr>
                        <a:t>itemsets</a:t>
                      </a:r>
                      <a:endParaRPr lang="en-US" sz="1600" dirty="0">
                        <a:solidFill>
                          <a:schemeClr val="tx1"/>
                        </a:solidFill>
                      </a:endParaRPr>
                    </a:p>
                  </a:txBody>
                  <a:tcPr marL="91453" marR="91453" marT="45737" marB="45737"/>
                </a:tc>
                <a:extLst>
                  <a:ext uri="{0D108BD9-81ED-4DB2-BD59-A6C34878D82A}">
                    <a16:rowId xmlns:a16="http://schemas.microsoft.com/office/drawing/2014/main" val="10000"/>
                  </a:ext>
                </a:extLst>
              </a:tr>
              <a:tr h="370979">
                <a:tc>
                  <a:txBody>
                    <a:bodyPr/>
                    <a:lstStyle/>
                    <a:p>
                      <a:r>
                        <a:rPr lang="en-US" sz="1800" b="1" dirty="0">
                          <a:solidFill>
                            <a:srgbClr val="FF0000"/>
                          </a:solidFill>
                        </a:rPr>
                        <a:t>{C}</a:t>
                      </a:r>
                    </a:p>
                  </a:txBody>
                  <a:tcPr marL="91453" marR="91453" marT="45737" marB="45737"/>
                </a:tc>
                <a:tc>
                  <a:txBody>
                    <a:bodyPr/>
                    <a:lstStyle/>
                    <a:p>
                      <a:r>
                        <a:rPr lang="en-US" sz="1800" b="1" dirty="0">
                          <a:solidFill>
                            <a:srgbClr val="FF0000"/>
                          </a:solidFill>
                        </a:rPr>
                        <a:t>3</a:t>
                      </a:r>
                    </a:p>
                  </a:txBody>
                  <a:tcPr marL="91453" marR="91453" marT="45737" marB="45737"/>
                </a:tc>
                <a:tc>
                  <a:txBody>
                    <a:bodyPr/>
                    <a:lstStyle/>
                    <a:p>
                      <a:r>
                        <a:rPr lang="en-US" sz="1800" b="1" dirty="0">
                          <a:solidFill>
                            <a:srgbClr val="FF0000"/>
                          </a:solidFill>
                          <a:sym typeface="Wingdings" panose="05000000000000000000" pitchFamily="2" charset="2"/>
                        </a:rPr>
                        <a:t></a:t>
                      </a:r>
                      <a:endParaRPr lang="en-US" sz="1800" b="1" dirty="0">
                        <a:solidFill>
                          <a:srgbClr val="FF0000"/>
                        </a:solidFill>
                      </a:endParaRPr>
                    </a:p>
                  </a:txBody>
                  <a:tcPr marL="91453" marR="91453" marT="45737" marB="45737"/>
                </a:tc>
                <a:extLst>
                  <a:ext uri="{0D108BD9-81ED-4DB2-BD59-A6C34878D82A}">
                    <a16:rowId xmlns:a16="http://schemas.microsoft.com/office/drawing/2014/main" val="10001"/>
                  </a:ext>
                </a:extLst>
              </a:tr>
              <a:tr h="370979">
                <a:tc>
                  <a:txBody>
                    <a:bodyPr/>
                    <a:lstStyle/>
                    <a:p>
                      <a:r>
                        <a:rPr lang="en-US" sz="1800" dirty="0"/>
                        <a:t>{D}</a:t>
                      </a:r>
                    </a:p>
                  </a:txBody>
                  <a:tcPr marL="91453" marR="91453" marT="45737" marB="45737"/>
                </a:tc>
                <a:tc>
                  <a:txBody>
                    <a:bodyPr/>
                    <a:lstStyle/>
                    <a:p>
                      <a:r>
                        <a:rPr lang="en-US" sz="1800" dirty="0"/>
                        <a:t>2</a:t>
                      </a:r>
                    </a:p>
                  </a:txBody>
                  <a:tcPr marL="91453" marR="91453" marT="45737" marB="45737"/>
                </a:tc>
                <a:tc>
                  <a:txBody>
                    <a:bodyPr/>
                    <a:lstStyle/>
                    <a:p>
                      <a:endParaRPr lang="en-US" sz="1800"/>
                    </a:p>
                  </a:txBody>
                  <a:tcPr marL="91453" marR="91453" marT="45737" marB="45737"/>
                </a:tc>
                <a:extLst>
                  <a:ext uri="{0D108BD9-81ED-4DB2-BD59-A6C34878D82A}">
                    <a16:rowId xmlns:a16="http://schemas.microsoft.com/office/drawing/2014/main" val="10002"/>
                  </a:ext>
                </a:extLst>
              </a:tr>
              <a:tr h="370979">
                <a:tc>
                  <a:txBody>
                    <a:bodyPr/>
                    <a:lstStyle/>
                    <a:p>
                      <a:r>
                        <a:rPr lang="en-US" sz="1800" b="1" dirty="0">
                          <a:solidFill>
                            <a:srgbClr val="FF0000"/>
                          </a:solidFill>
                        </a:rPr>
                        <a:t>{C,D}</a:t>
                      </a:r>
                    </a:p>
                  </a:txBody>
                  <a:tcPr marL="91453" marR="91453" marT="45737" marB="45737"/>
                </a:tc>
                <a:tc>
                  <a:txBody>
                    <a:bodyPr/>
                    <a:lstStyle/>
                    <a:p>
                      <a:r>
                        <a:rPr lang="en-US" sz="1800" b="1" dirty="0">
                          <a:solidFill>
                            <a:srgbClr val="FF0000"/>
                          </a:solidFill>
                        </a:rPr>
                        <a:t>2</a:t>
                      </a:r>
                    </a:p>
                  </a:txBody>
                  <a:tcPr marL="91453" marR="91453" marT="45737" marB="4573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FF0000"/>
                          </a:solidFill>
                          <a:sym typeface="Wingdings" panose="05000000000000000000" pitchFamily="2" charset="2"/>
                        </a:rPr>
                        <a:t></a:t>
                      </a:r>
                      <a:endParaRPr lang="en-US" sz="1800" b="1" dirty="0">
                        <a:solidFill>
                          <a:srgbClr val="FF0000"/>
                        </a:solidFill>
                      </a:endParaRPr>
                    </a:p>
                  </a:txBody>
                  <a:tcPr marL="91453" marR="91453" marT="45737" marB="45737"/>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853420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altLang="en-US"/>
              <a:t>Example 2</a:t>
            </a:r>
          </a:p>
        </p:txBody>
      </p:sp>
      <p:graphicFrame>
        <p:nvGraphicFramePr>
          <p:cNvPr id="6" name="Content Placeholder 3"/>
          <p:cNvGraphicFramePr>
            <a:graphicFrameLocks/>
          </p:cNvGraphicFramePr>
          <p:nvPr/>
        </p:nvGraphicFramePr>
        <p:xfrm>
          <a:off x="342900" y="1820863"/>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67733" name="TextBox 6"/>
          <p:cNvSpPr txBox="1">
            <a:spLocks noChangeArrowheads="1"/>
          </p:cNvSpPr>
          <p:nvPr/>
        </p:nvSpPr>
        <p:spPr bwMode="auto">
          <a:xfrm>
            <a:off x="2376488" y="1500188"/>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67734" name="TextBox 7"/>
          <p:cNvSpPr txBox="1">
            <a:spLocks noChangeArrowheads="1"/>
          </p:cNvSpPr>
          <p:nvPr/>
        </p:nvSpPr>
        <p:spPr bwMode="auto">
          <a:xfrm rot="-5400000">
            <a:off x="-491331" y="3677444"/>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graphicFrame>
        <p:nvGraphicFramePr>
          <p:cNvPr id="10" name="Table 9"/>
          <p:cNvGraphicFramePr>
            <a:graphicFrameLocks noGrp="1"/>
          </p:cNvGraphicFramePr>
          <p:nvPr/>
        </p:nvGraphicFramePr>
        <p:xfrm>
          <a:off x="5654675" y="1860550"/>
          <a:ext cx="3184524" cy="3175000"/>
        </p:xfrm>
        <a:graphic>
          <a:graphicData uri="http://schemas.openxmlformats.org/drawingml/2006/table">
            <a:tbl>
              <a:tblPr firstRow="1" bandRow="1">
                <a:tableStyleId>{EB344D84-9AFB-497E-A393-DC336BA19D2E}</a:tableStyleId>
              </a:tblPr>
              <a:tblGrid>
                <a:gridCol w="1061508">
                  <a:extLst>
                    <a:ext uri="{9D8B030D-6E8A-4147-A177-3AD203B41FA5}">
                      <a16:colId xmlns:a16="http://schemas.microsoft.com/office/drawing/2014/main" val="20000"/>
                    </a:ext>
                  </a:extLst>
                </a:gridCol>
                <a:gridCol w="1061508">
                  <a:extLst>
                    <a:ext uri="{9D8B030D-6E8A-4147-A177-3AD203B41FA5}">
                      <a16:colId xmlns:a16="http://schemas.microsoft.com/office/drawing/2014/main" val="20001"/>
                    </a:ext>
                  </a:extLst>
                </a:gridCol>
                <a:gridCol w="1061508">
                  <a:extLst>
                    <a:ext uri="{9D8B030D-6E8A-4147-A177-3AD203B41FA5}">
                      <a16:colId xmlns:a16="http://schemas.microsoft.com/office/drawing/2014/main" val="20002"/>
                    </a:ext>
                  </a:extLst>
                </a:gridCol>
              </a:tblGrid>
              <a:tr h="330926">
                <a:tc>
                  <a:txBody>
                    <a:bodyPr/>
                    <a:lstStyle/>
                    <a:p>
                      <a:r>
                        <a:rPr lang="en-US" sz="1600" baseline="0" dirty="0" err="1">
                          <a:solidFill>
                            <a:schemeClr val="tx1"/>
                          </a:solidFill>
                        </a:rPr>
                        <a:t>Itemsets</a:t>
                      </a:r>
                      <a:endParaRPr lang="en-US" sz="1600" dirty="0">
                        <a:solidFill>
                          <a:schemeClr val="tx1"/>
                        </a:solidFill>
                      </a:endParaRPr>
                    </a:p>
                  </a:txBody>
                  <a:tcPr marL="91453" marR="91453"/>
                </a:tc>
                <a:tc>
                  <a:txBody>
                    <a:bodyPr/>
                    <a:lstStyle/>
                    <a:p>
                      <a:r>
                        <a:rPr lang="en-US" sz="1600" dirty="0">
                          <a:solidFill>
                            <a:schemeClr val="tx1"/>
                          </a:solidFill>
                        </a:rPr>
                        <a:t>Support</a:t>
                      </a:r>
                    </a:p>
                    <a:p>
                      <a:r>
                        <a:rPr lang="en-US" sz="1600" dirty="0">
                          <a:solidFill>
                            <a:schemeClr val="tx1"/>
                          </a:solidFill>
                        </a:rPr>
                        <a:t>(counts)</a:t>
                      </a:r>
                    </a:p>
                  </a:txBody>
                  <a:tcPr marL="91453" marR="91453"/>
                </a:tc>
                <a:tc>
                  <a:txBody>
                    <a:bodyPr/>
                    <a:lstStyle/>
                    <a:p>
                      <a:r>
                        <a:rPr lang="en-US" sz="1600" dirty="0">
                          <a:solidFill>
                            <a:schemeClr val="tx1"/>
                          </a:solidFill>
                        </a:rPr>
                        <a:t>Closed </a:t>
                      </a:r>
                      <a:r>
                        <a:rPr lang="en-US" sz="1600" dirty="0" err="1">
                          <a:solidFill>
                            <a:schemeClr val="tx1"/>
                          </a:solidFill>
                        </a:rPr>
                        <a:t>itemsets</a:t>
                      </a:r>
                      <a:endParaRPr lang="en-US" sz="1600" dirty="0">
                        <a:solidFill>
                          <a:schemeClr val="tx1"/>
                        </a:solidFill>
                      </a:endParaRPr>
                    </a:p>
                  </a:txBody>
                  <a:tcPr marL="91453" marR="91453"/>
                </a:tc>
                <a:extLst>
                  <a:ext uri="{0D108BD9-81ED-4DB2-BD59-A6C34878D82A}">
                    <a16:rowId xmlns:a16="http://schemas.microsoft.com/office/drawing/2014/main" val="10000"/>
                  </a:ext>
                </a:extLst>
              </a:tr>
              <a:tr h="370840">
                <a:tc>
                  <a:txBody>
                    <a:bodyPr/>
                    <a:lstStyle/>
                    <a:p>
                      <a:r>
                        <a:rPr lang="en-US" b="0" dirty="0">
                          <a:solidFill>
                            <a:schemeClr val="tx1"/>
                          </a:solidFill>
                        </a:rPr>
                        <a:t>{C}</a:t>
                      </a:r>
                    </a:p>
                  </a:txBody>
                  <a:tcPr marL="91453" marR="91453"/>
                </a:tc>
                <a:tc>
                  <a:txBody>
                    <a:bodyPr/>
                    <a:lstStyle/>
                    <a:p>
                      <a:r>
                        <a:rPr lang="en-US" b="0" dirty="0">
                          <a:solidFill>
                            <a:schemeClr val="tx1"/>
                          </a:solidFill>
                        </a:rPr>
                        <a:t>3</a:t>
                      </a:r>
                    </a:p>
                  </a:txBody>
                  <a:tcPr marL="91453" marR="91453"/>
                </a:tc>
                <a:tc>
                  <a:txBody>
                    <a:bodyPr/>
                    <a:lstStyle/>
                    <a:p>
                      <a:endParaRPr lang="en-US" b="0" dirty="0">
                        <a:solidFill>
                          <a:schemeClr val="tx1"/>
                        </a:solidFill>
                      </a:endParaRPr>
                    </a:p>
                  </a:txBody>
                  <a:tcPr marL="91453" marR="91453"/>
                </a:tc>
                <a:extLst>
                  <a:ext uri="{0D108BD9-81ED-4DB2-BD59-A6C34878D82A}">
                    <a16:rowId xmlns:a16="http://schemas.microsoft.com/office/drawing/2014/main" val="10001"/>
                  </a:ext>
                </a:extLst>
              </a:tr>
              <a:tr h="370840">
                <a:tc>
                  <a:txBody>
                    <a:bodyPr/>
                    <a:lstStyle/>
                    <a:p>
                      <a:r>
                        <a:rPr lang="en-US" b="0" dirty="0">
                          <a:solidFill>
                            <a:schemeClr val="tx1"/>
                          </a:solidFill>
                        </a:rPr>
                        <a:t>{D}</a:t>
                      </a:r>
                    </a:p>
                  </a:txBody>
                  <a:tcPr marL="91453" marR="91453"/>
                </a:tc>
                <a:tc>
                  <a:txBody>
                    <a:bodyPr/>
                    <a:lstStyle/>
                    <a:p>
                      <a:r>
                        <a:rPr lang="en-US" b="0" dirty="0">
                          <a:solidFill>
                            <a:schemeClr val="tx1"/>
                          </a:solidFill>
                        </a:rPr>
                        <a:t>2</a:t>
                      </a:r>
                    </a:p>
                  </a:txBody>
                  <a:tcPr marL="91453" marR="91453"/>
                </a:tc>
                <a:tc>
                  <a:txBody>
                    <a:bodyPr/>
                    <a:lstStyle/>
                    <a:p>
                      <a:endParaRPr lang="en-US" b="0">
                        <a:solidFill>
                          <a:schemeClr val="tx1"/>
                        </a:solidFill>
                      </a:endParaRPr>
                    </a:p>
                  </a:txBody>
                  <a:tcPr marL="91453" marR="91453"/>
                </a:tc>
                <a:extLst>
                  <a:ext uri="{0D108BD9-81ED-4DB2-BD59-A6C34878D82A}">
                    <a16:rowId xmlns:a16="http://schemas.microsoft.com/office/drawing/2014/main" val="10002"/>
                  </a:ext>
                </a:extLst>
              </a:tr>
              <a:tr h="370840">
                <a:tc>
                  <a:txBody>
                    <a:bodyPr/>
                    <a:lstStyle/>
                    <a:p>
                      <a:r>
                        <a:rPr lang="en-US" b="0" dirty="0">
                          <a:solidFill>
                            <a:schemeClr val="tx1"/>
                          </a:solidFill>
                        </a:rPr>
                        <a:t>{E}</a:t>
                      </a:r>
                    </a:p>
                  </a:txBody>
                  <a:tcPr marL="91453" marR="91453"/>
                </a:tc>
                <a:tc>
                  <a:txBody>
                    <a:bodyPr/>
                    <a:lstStyle/>
                    <a:p>
                      <a:r>
                        <a:rPr lang="en-US" b="0" dirty="0">
                          <a:solidFill>
                            <a:schemeClr val="tx1"/>
                          </a:solidFill>
                        </a:rPr>
                        <a:t>2</a:t>
                      </a: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3"/>
                  </a:ext>
                </a:extLst>
              </a:tr>
              <a:tr h="370840">
                <a:tc>
                  <a:txBody>
                    <a:bodyPr/>
                    <a:lstStyle/>
                    <a:p>
                      <a:r>
                        <a:rPr lang="en-US" b="0" dirty="0">
                          <a:solidFill>
                            <a:schemeClr val="tx1"/>
                          </a:solidFill>
                        </a:rPr>
                        <a:t>{C,D}</a:t>
                      </a:r>
                    </a:p>
                  </a:txBody>
                  <a:tcPr marL="91453" marR="91453"/>
                </a:tc>
                <a:tc>
                  <a:txBody>
                    <a:bodyPr/>
                    <a:lstStyle/>
                    <a:p>
                      <a:r>
                        <a:rPr lang="en-US" b="0" dirty="0">
                          <a:solidFill>
                            <a:schemeClr val="tx1"/>
                          </a:solidFill>
                        </a:rPr>
                        <a:t>2</a:t>
                      </a: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4"/>
                  </a:ext>
                </a:extLst>
              </a:tr>
              <a:tr h="370840">
                <a:tc>
                  <a:txBody>
                    <a:bodyPr/>
                    <a:lstStyle/>
                    <a:p>
                      <a:r>
                        <a:rPr lang="en-US" b="0" dirty="0">
                          <a:solidFill>
                            <a:schemeClr val="tx1"/>
                          </a:solidFill>
                        </a:rPr>
                        <a:t>{C,E}</a:t>
                      </a:r>
                    </a:p>
                  </a:txBody>
                  <a:tcPr marL="91453" marR="91453"/>
                </a:tc>
                <a:tc>
                  <a:txBody>
                    <a:bodyPr/>
                    <a:lstStyle/>
                    <a:p>
                      <a:r>
                        <a:rPr lang="en-US" b="0" dirty="0">
                          <a:solidFill>
                            <a:schemeClr val="tx1"/>
                          </a:solidFill>
                        </a:rPr>
                        <a:t>2</a:t>
                      </a: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5"/>
                  </a:ext>
                </a:extLst>
              </a:tr>
              <a:tr h="370840">
                <a:tc>
                  <a:txBody>
                    <a:bodyPr/>
                    <a:lstStyle/>
                    <a:p>
                      <a:r>
                        <a:rPr lang="en-US" b="0" dirty="0">
                          <a:solidFill>
                            <a:schemeClr val="tx1"/>
                          </a:solidFill>
                        </a:rPr>
                        <a:t>{D,E}</a:t>
                      </a:r>
                    </a:p>
                  </a:txBody>
                  <a:tcPr marL="91453" marR="91453"/>
                </a:tc>
                <a:tc>
                  <a:txBody>
                    <a:bodyPr/>
                    <a:lstStyle/>
                    <a:p>
                      <a:r>
                        <a:rPr lang="en-US" b="0" dirty="0">
                          <a:solidFill>
                            <a:schemeClr val="tx1"/>
                          </a:solidFill>
                        </a:rPr>
                        <a:t>2</a:t>
                      </a: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6"/>
                  </a:ext>
                </a:extLst>
              </a:tr>
              <a:tr h="370840">
                <a:tc>
                  <a:txBody>
                    <a:bodyPr/>
                    <a:lstStyle/>
                    <a:p>
                      <a:r>
                        <a:rPr lang="en-US" b="0" dirty="0">
                          <a:solidFill>
                            <a:schemeClr val="tx1"/>
                          </a:solidFill>
                        </a:rPr>
                        <a:t>{C,D,E}</a:t>
                      </a:r>
                    </a:p>
                  </a:txBody>
                  <a:tcPr marL="91453" marR="91453"/>
                </a:tc>
                <a:tc>
                  <a:txBody>
                    <a:bodyPr/>
                    <a:lstStyle/>
                    <a:p>
                      <a:r>
                        <a:rPr lang="en-US" b="0" dirty="0">
                          <a:solidFill>
                            <a:schemeClr val="tx1"/>
                          </a:solidFill>
                        </a:rPr>
                        <a:t>2</a:t>
                      </a: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0036906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altLang="en-US"/>
              <a:t>Example 2</a:t>
            </a:r>
          </a:p>
        </p:txBody>
      </p:sp>
      <p:graphicFrame>
        <p:nvGraphicFramePr>
          <p:cNvPr id="6" name="Content Placeholder 3"/>
          <p:cNvGraphicFramePr>
            <a:graphicFrameLocks/>
          </p:cNvGraphicFramePr>
          <p:nvPr/>
        </p:nvGraphicFramePr>
        <p:xfrm>
          <a:off x="342900" y="1820863"/>
          <a:ext cx="5135559" cy="4079878"/>
        </p:xfrm>
        <a:graphic>
          <a:graphicData uri="http://schemas.openxmlformats.org/drawingml/2006/table">
            <a:tbl>
              <a:tblPr firstRow="1" bandRow="1">
                <a:tableStyleId>{5C22544A-7EE6-4342-B048-85BDC9FD1C3A}</a:tableStyleId>
              </a:tblPr>
              <a:tblGrid>
                <a:gridCol w="466869">
                  <a:extLst>
                    <a:ext uri="{9D8B030D-6E8A-4147-A177-3AD203B41FA5}">
                      <a16:colId xmlns:a16="http://schemas.microsoft.com/office/drawing/2014/main" val="20000"/>
                    </a:ext>
                  </a:extLst>
                </a:gridCol>
                <a:gridCol w="466869">
                  <a:extLst>
                    <a:ext uri="{9D8B030D-6E8A-4147-A177-3AD203B41FA5}">
                      <a16:colId xmlns:a16="http://schemas.microsoft.com/office/drawing/2014/main" val="20001"/>
                    </a:ext>
                  </a:extLst>
                </a:gridCol>
                <a:gridCol w="466869">
                  <a:extLst>
                    <a:ext uri="{9D8B030D-6E8A-4147-A177-3AD203B41FA5}">
                      <a16:colId xmlns:a16="http://schemas.microsoft.com/office/drawing/2014/main" val="20002"/>
                    </a:ext>
                  </a:extLst>
                </a:gridCol>
                <a:gridCol w="466869">
                  <a:extLst>
                    <a:ext uri="{9D8B030D-6E8A-4147-A177-3AD203B41FA5}">
                      <a16:colId xmlns:a16="http://schemas.microsoft.com/office/drawing/2014/main" val="20003"/>
                    </a:ext>
                  </a:extLst>
                </a:gridCol>
                <a:gridCol w="466869">
                  <a:extLst>
                    <a:ext uri="{9D8B030D-6E8A-4147-A177-3AD203B41FA5}">
                      <a16:colId xmlns:a16="http://schemas.microsoft.com/office/drawing/2014/main" val="20004"/>
                    </a:ext>
                  </a:extLst>
                </a:gridCol>
                <a:gridCol w="466869">
                  <a:extLst>
                    <a:ext uri="{9D8B030D-6E8A-4147-A177-3AD203B41FA5}">
                      <a16:colId xmlns:a16="http://schemas.microsoft.com/office/drawing/2014/main" val="20005"/>
                    </a:ext>
                  </a:extLst>
                </a:gridCol>
                <a:gridCol w="466869">
                  <a:extLst>
                    <a:ext uri="{9D8B030D-6E8A-4147-A177-3AD203B41FA5}">
                      <a16:colId xmlns:a16="http://schemas.microsoft.com/office/drawing/2014/main" val="20006"/>
                    </a:ext>
                  </a:extLst>
                </a:gridCol>
                <a:gridCol w="466869">
                  <a:extLst>
                    <a:ext uri="{9D8B030D-6E8A-4147-A177-3AD203B41FA5}">
                      <a16:colId xmlns:a16="http://schemas.microsoft.com/office/drawing/2014/main" val="20007"/>
                    </a:ext>
                  </a:extLst>
                </a:gridCol>
                <a:gridCol w="466869">
                  <a:extLst>
                    <a:ext uri="{9D8B030D-6E8A-4147-A177-3AD203B41FA5}">
                      <a16:colId xmlns:a16="http://schemas.microsoft.com/office/drawing/2014/main" val="20008"/>
                    </a:ext>
                  </a:extLst>
                </a:gridCol>
                <a:gridCol w="466869">
                  <a:extLst>
                    <a:ext uri="{9D8B030D-6E8A-4147-A177-3AD203B41FA5}">
                      <a16:colId xmlns:a16="http://schemas.microsoft.com/office/drawing/2014/main" val="20009"/>
                    </a:ext>
                  </a:extLst>
                </a:gridCol>
                <a:gridCol w="466869">
                  <a:extLst>
                    <a:ext uri="{9D8B030D-6E8A-4147-A177-3AD203B41FA5}">
                      <a16:colId xmlns:a16="http://schemas.microsoft.com/office/drawing/2014/main" val="20010"/>
                    </a:ext>
                  </a:extLst>
                </a:gridCol>
              </a:tblGrid>
              <a:tr h="370898">
                <a:tc>
                  <a:txBody>
                    <a:bodyPr/>
                    <a:lstStyle/>
                    <a:p>
                      <a:endParaRPr lang="en-US" sz="1800" dirty="0"/>
                    </a:p>
                  </a:txBody>
                  <a:tcPr marL="91444" marR="91444" marT="45727" marB="45727"/>
                </a:tc>
                <a:tc>
                  <a:txBody>
                    <a:bodyPr/>
                    <a:lstStyle/>
                    <a:p>
                      <a:r>
                        <a:rPr lang="en-US" sz="1800" dirty="0"/>
                        <a:t>A</a:t>
                      </a:r>
                    </a:p>
                  </a:txBody>
                  <a:tcPr marL="91444" marR="91444" marT="45727" marB="45727"/>
                </a:tc>
                <a:tc>
                  <a:txBody>
                    <a:bodyPr/>
                    <a:lstStyle/>
                    <a:p>
                      <a:r>
                        <a:rPr lang="en-US" sz="1800" dirty="0"/>
                        <a:t>B</a:t>
                      </a:r>
                    </a:p>
                  </a:txBody>
                  <a:tcPr marL="91444" marR="91444" marT="45727" marB="45727"/>
                </a:tc>
                <a:tc>
                  <a:txBody>
                    <a:bodyPr/>
                    <a:lstStyle/>
                    <a:p>
                      <a:r>
                        <a:rPr lang="en-US" sz="1800" dirty="0"/>
                        <a:t>C</a:t>
                      </a:r>
                    </a:p>
                  </a:txBody>
                  <a:tcPr marL="91444" marR="91444" marT="45727" marB="45727"/>
                </a:tc>
                <a:tc>
                  <a:txBody>
                    <a:bodyPr/>
                    <a:lstStyle/>
                    <a:p>
                      <a:r>
                        <a:rPr lang="en-US" sz="1800" dirty="0"/>
                        <a:t>D</a:t>
                      </a:r>
                    </a:p>
                  </a:txBody>
                  <a:tcPr marL="91444" marR="91444" marT="45727" marB="45727"/>
                </a:tc>
                <a:tc>
                  <a:txBody>
                    <a:bodyPr/>
                    <a:lstStyle/>
                    <a:p>
                      <a:r>
                        <a:rPr lang="en-US" sz="1800" dirty="0"/>
                        <a:t>E</a:t>
                      </a:r>
                    </a:p>
                  </a:txBody>
                  <a:tcPr marL="91444" marR="91444" marT="45727" marB="45727"/>
                </a:tc>
                <a:tc>
                  <a:txBody>
                    <a:bodyPr/>
                    <a:lstStyle/>
                    <a:p>
                      <a:r>
                        <a:rPr lang="en-US" sz="1800" dirty="0"/>
                        <a:t>F</a:t>
                      </a:r>
                    </a:p>
                  </a:txBody>
                  <a:tcPr marL="91444" marR="91444" marT="45727" marB="45727"/>
                </a:tc>
                <a:tc>
                  <a:txBody>
                    <a:bodyPr/>
                    <a:lstStyle/>
                    <a:p>
                      <a:r>
                        <a:rPr lang="en-US" sz="1800" dirty="0"/>
                        <a:t>G</a:t>
                      </a:r>
                    </a:p>
                  </a:txBody>
                  <a:tcPr marL="91444" marR="91444" marT="45727" marB="45727"/>
                </a:tc>
                <a:tc>
                  <a:txBody>
                    <a:bodyPr/>
                    <a:lstStyle/>
                    <a:p>
                      <a:r>
                        <a:rPr lang="en-US" sz="1800" dirty="0"/>
                        <a:t>H</a:t>
                      </a:r>
                    </a:p>
                  </a:txBody>
                  <a:tcPr marL="91444" marR="91444" marT="45727" marB="45727"/>
                </a:tc>
                <a:tc>
                  <a:txBody>
                    <a:bodyPr/>
                    <a:lstStyle/>
                    <a:p>
                      <a:r>
                        <a:rPr lang="en-US" sz="1800" dirty="0"/>
                        <a:t>I</a:t>
                      </a:r>
                    </a:p>
                  </a:txBody>
                  <a:tcPr marL="91444" marR="91444" marT="45727" marB="45727"/>
                </a:tc>
                <a:tc>
                  <a:txBody>
                    <a:bodyPr/>
                    <a:lstStyle/>
                    <a:p>
                      <a:r>
                        <a:rPr lang="en-US" sz="1800" dirty="0"/>
                        <a:t>J</a:t>
                      </a:r>
                    </a:p>
                  </a:txBody>
                  <a:tcPr marL="91444" marR="91444" marT="45727" marB="45727"/>
                </a:tc>
                <a:extLst>
                  <a:ext uri="{0D108BD9-81ED-4DB2-BD59-A6C34878D82A}">
                    <a16:rowId xmlns:a16="http://schemas.microsoft.com/office/drawing/2014/main" val="10000"/>
                  </a:ext>
                </a:extLst>
              </a:tr>
              <a:tr h="370898">
                <a:tc>
                  <a:txBody>
                    <a:bodyPr/>
                    <a:lstStyle/>
                    <a:p>
                      <a:r>
                        <a:rPr lang="en-US" sz="1800" dirty="0"/>
                        <a:t>1</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1"/>
                  </a:ext>
                </a:extLst>
              </a:tr>
              <a:tr h="370898">
                <a:tc>
                  <a:txBody>
                    <a:bodyPr/>
                    <a:lstStyle/>
                    <a:p>
                      <a:r>
                        <a:rPr lang="en-US" sz="1800" dirty="0"/>
                        <a:t>2</a:t>
                      </a:r>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2"/>
                  </a:ext>
                </a:extLst>
              </a:tr>
              <a:tr h="370898">
                <a:tc>
                  <a:txBody>
                    <a:bodyPr/>
                    <a:lstStyle/>
                    <a:p>
                      <a:r>
                        <a:rPr lang="en-US" sz="1800" dirty="0"/>
                        <a:t>3</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3"/>
                  </a:ext>
                </a:extLst>
              </a:tr>
              <a:tr h="370898">
                <a:tc>
                  <a:txBody>
                    <a:bodyPr/>
                    <a:lstStyle/>
                    <a:p>
                      <a:r>
                        <a:rPr lang="en-US" sz="1800" dirty="0"/>
                        <a:t>4</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solidFill>
                      <a:schemeClr val="tx1"/>
                    </a:solidFill>
                  </a:tcPr>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4"/>
                  </a:ext>
                </a:extLst>
              </a:tr>
              <a:tr h="370898">
                <a:tc>
                  <a:txBody>
                    <a:bodyPr/>
                    <a:lstStyle/>
                    <a:p>
                      <a:r>
                        <a:rPr lang="en-US" sz="1800" dirty="0"/>
                        <a:t>5</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solidFill>
                      <a:schemeClr val="tx1"/>
                    </a:solidFill>
                  </a:tcPr>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5"/>
                  </a:ext>
                </a:extLst>
              </a:tr>
              <a:tr h="370898">
                <a:tc>
                  <a:txBody>
                    <a:bodyPr/>
                    <a:lstStyle/>
                    <a:p>
                      <a:r>
                        <a:rPr lang="en-US" sz="1800" dirty="0"/>
                        <a:t>6</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6"/>
                  </a:ext>
                </a:extLst>
              </a:tr>
              <a:tr h="370898">
                <a:tc>
                  <a:txBody>
                    <a:bodyPr/>
                    <a:lstStyle/>
                    <a:p>
                      <a:r>
                        <a:rPr lang="en-US" sz="1800" dirty="0"/>
                        <a:t>7</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7"/>
                  </a:ext>
                </a:extLst>
              </a:tr>
              <a:tr h="370898">
                <a:tc>
                  <a:txBody>
                    <a:bodyPr/>
                    <a:lstStyle/>
                    <a:p>
                      <a:r>
                        <a:rPr lang="en-US" sz="1800" dirty="0"/>
                        <a:t>8</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extLst>
                  <a:ext uri="{0D108BD9-81ED-4DB2-BD59-A6C34878D82A}">
                    <a16:rowId xmlns:a16="http://schemas.microsoft.com/office/drawing/2014/main" val="10008"/>
                  </a:ext>
                </a:extLst>
              </a:tr>
              <a:tr h="370898">
                <a:tc>
                  <a:txBody>
                    <a:bodyPr/>
                    <a:lstStyle/>
                    <a:p>
                      <a:r>
                        <a:rPr lang="en-US" sz="1800" dirty="0"/>
                        <a:t>9</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09"/>
                  </a:ext>
                </a:extLst>
              </a:tr>
              <a:tr h="370898">
                <a:tc>
                  <a:txBody>
                    <a:bodyPr/>
                    <a:lstStyle/>
                    <a:p>
                      <a:r>
                        <a:rPr lang="en-US" sz="1800" dirty="0"/>
                        <a:t>10</a:t>
                      </a:r>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a:p>
                  </a:txBody>
                  <a:tcPr marL="91444" marR="91444" marT="45727" marB="45727"/>
                </a:tc>
                <a:tc>
                  <a:txBody>
                    <a:bodyPr/>
                    <a:lstStyle/>
                    <a:p>
                      <a:endParaRPr lang="en-US" sz="1800" dirty="0"/>
                    </a:p>
                  </a:txBody>
                  <a:tcPr marL="91444" marR="91444" marT="45727" marB="45727"/>
                </a:tc>
                <a:extLst>
                  <a:ext uri="{0D108BD9-81ED-4DB2-BD59-A6C34878D82A}">
                    <a16:rowId xmlns:a16="http://schemas.microsoft.com/office/drawing/2014/main" val="10010"/>
                  </a:ext>
                </a:extLst>
              </a:tr>
            </a:tbl>
          </a:graphicData>
        </a:graphic>
      </p:graphicFrame>
      <p:sp>
        <p:nvSpPr>
          <p:cNvPr id="68757" name="TextBox 6"/>
          <p:cNvSpPr txBox="1">
            <a:spLocks noChangeArrowheads="1"/>
          </p:cNvSpPr>
          <p:nvPr/>
        </p:nvSpPr>
        <p:spPr bwMode="auto">
          <a:xfrm>
            <a:off x="2376488" y="1500188"/>
            <a:ext cx="706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Items</a:t>
            </a:r>
          </a:p>
        </p:txBody>
      </p:sp>
      <p:sp>
        <p:nvSpPr>
          <p:cNvPr id="68758" name="TextBox 7"/>
          <p:cNvSpPr txBox="1">
            <a:spLocks noChangeArrowheads="1"/>
          </p:cNvSpPr>
          <p:nvPr/>
        </p:nvSpPr>
        <p:spPr bwMode="auto">
          <a:xfrm rot="-5400000">
            <a:off x="-491331" y="3677444"/>
            <a:ext cx="1352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4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0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0"/>
              </a:spcBef>
              <a:spcAft>
                <a:spcPct val="0"/>
              </a:spcAft>
              <a:buClrTx/>
              <a:buSzTx/>
              <a:buFontTx/>
              <a:buNone/>
            </a:pPr>
            <a:r>
              <a:rPr lang="en-US" altLang="en-US" sz="1400"/>
              <a:t>Transactions</a:t>
            </a:r>
          </a:p>
        </p:txBody>
      </p:sp>
      <p:graphicFrame>
        <p:nvGraphicFramePr>
          <p:cNvPr id="10" name="Table 9"/>
          <p:cNvGraphicFramePr>
            <a:graphicFrameLocks noGrp="1"/>
          </p:cNvGraphicFramePr>
          <p:nvPr/>
        </p:nvGraphicFramePr>
        <p:xfrm>
          <a:off x="5654675" y="1860550"/>
          <a:ext cx="3184524" cy="3175000"/>
        </p:xfrm>
        <a:graphic>
          <a:graphicData uri="http://schemas.openxmlformats.org/drawingml/2006/table">
            <a:tbl>
              <a:tblPr firstRow="1" bandRow="1">
                <a:tableStyleId>{EB344D84-9AFB-497E-A393-DC336BA19D2E}</a:tableStyleId>
              </a:tblPr>
              <a:tblGrid>
                <a:gridCol w="1061508">
                  <a:extLst>
                    <a:ext uri="{9D8B030D-6E8A-4147-A177-3AD203B41FA5}">
                      <a16:colId xmlns:a16="http://schemas.microsoft.com/office/drawing/2014/main" val="20000"/>
                    </a:ext>
                  </a:extLst>
                </a:gridCol>
                <a:gridCol w="1061508">
                  <a:extLst>
                    <a:ext uri="{9D8B030D-6E8A-4147-A177-3AD203B41FA5}">
                      <a16:colId xmlns:a16="http://schemas.microsoft.com/office/drawing/2014/main" val="20001"/>
                    </a:ext>
                  </a:extLst>
                </a:gridCol>
                <a:gridCol w="1061508">
                  <a:extLst>
                    <a:ext uri="{9D8B030D-6E8A-4147-A177-3AD203B41FA5}">
                      <a16:colId xmlns:a16="http://schemas.microsoft.com/office/drawing/2014/main" val="20002"/>
                    </a:ext>
                  </a:extLst>
                </a:gridCol>
              </a:tblGrid>
              <a:tr h="330926">
                <a:tc>
                  <a:txBody>
                    <a:bodyPr/>
                    <a:lstStyle/>
                    <a:p>
                      <a:r>
                        <a:rPr lang="en-US" sz="1600" baseline="0" dirty="0" err="1">
                          <a:solidFill>
                            <a:schemeClr val="tx1"/>
                          </a:solidFill>
                        </a:rPr>
                        <a:t>Itemsets</a:t>
                      </a:r>
                      <a:endParaRPr lang="en-US" sz="1600" dirty="0">
                        <a:solidFill>
                          <a:schemeClr val="tx1"/>
                        </a:solidFill>
                      </a:endParaRPr>
                    </a:p>
                  </a:txBody>
                  <a:tcPr marL="91453" marR="91453"/>
                </a:tc>
                <a:tc>
                  <a:txBody>
                    <a:bodyPr/>
                    <a:lstStyle/>
                    <a:p>
                      <a:r>
                        <a:rPr lang="en-US" sz="1600" dirty="0">
                          <a:solidFill>
                            <a:schemeClr val="tx1"/>
                          </a:solidFill>
                        </a:rPr>
                        <a:t>Support</a:t>
                      </a:r>
                    </a:p>
                    <a:p>
                      <a:r>
                        <a:rPr lang="en-US" sz="1600" dirty="0">
                          <a:solidFill>
                            <a:schemeClr val="tx1"/>
                          </a:solidFill>
                        </a:rPr>
                        <a:t>(counts)</a:t>
                      </a:r>
                    </a:p>
                  </a:txBody>
                  <a:tcPr marL="91453" marR="91453"/>
                </a:tc>
                <a:tc>
                  <a:txBody>
                    <a:bodyPr/>
                    <a:lstStyle/>
                    <a:p>
                      <a:r>
                        <a:rPr lang="en-US" sz="1600" dirty="0">
                          <a:solidFill>
                            <a:schemeClr val="tx1"/>
                          </a:solidFill>
                        </a:rPr>
                        <a:t>Closed </a:t>
                      </a:r>
                      <a:r>
                        <a:rPr lang="en-US" sz="1600" dirty="0" err="1">
                          <a:solidFill>
                            <a:schemeClr val="tx1"/>
                          </a:solidFill>
                        </a:rPr>
                        <a:t>itemsets</a:t>
                      </a:r>
                      <a:endParaRPr lang="en-US" sz="1600" dirty="0">
                        <a:solidFill>
                          <a:schemeClr val="tx1"/>
                        </a:solidFill>
                      </a:endParaRPr>
                    </a:p>
                  </a:txBody>
                  <a:tcPr marL="91453" marR="91453"/>
                </a:tc>
                <a:extLst>
                  <a:ext uri="{0D108BD9-81ED-4DB2-BD59-A6C34878D82A}">
                    <a16:rowId xmlns:a16="http://schemas.microsoft.com/office/drawing/2014/main" val="10000"/>
                  </a:ext>
                </a:extLst>
              </a:tr>
              <a:tr h="370840">
                <a:tc>
                  <a:txBody>
                    <a:bodyPr/>
                    <a:lstStyle/>
                    <a:p>
                      <a:r>
                        <a:rPr lang="en-US" b="1" dirty="0">
                          <a:solidFill>
                            <a:srgbClr val="FF0000"/>
                          </a:solidFill>
                        </a:rPr>
                        <a:t>{C}</a:t>
                      </a:r>
                    </a:p>
                  </a:txBody>
                  <a:tcPr marL="91453" marR="91453"/>
                </a:tc>
                <a:tc>
                  <a:txBody>
                    <a:bodyPr/>
                    <a:lstStyle/>
                    <a:p>
                      <a:r>
                        <a:rPr lang="en-US" b="1" dirty="0">
                          <a:solidFill>
                            <a:srgbClr val="FF0000"/>
                          </a:solidFill>
                        </a:rPr>
                        <a:t>3</a:t>
                      </a:r>
                    </a:p>
                  </a:txBody>
                  <a:tcPr marL="91453" marR="91453"/>
                </a:tc>
                <a:tc>
                  <a:txBody>
                    <a:bodyPr/>
                    <a:lstStyle/>
                    <a:p>
                      <a:r>
                        <a:rPr lang="en-US" b="1" dirty="0">
                          <a:solidFill>
                            <a:srgbClr val="FF0000"/>
                          </a:solidFill>
                          <a:sym typeface="Wingdings" panose="05000000000000000000" pitchFamily="2" charset="2"/>
                        </a:rPr>
                        <a:t></a:t>
                      </a:r>
                      <a:endParaRPr lang="en-US" b="1" dirty="0">
                        <a:solidFill>
                          <a:srgbClr val="FF0000"/>
                        </a:solidFill>
                      </a:endParaRPr>
                    </a:p>
                  </a:txBody>
                  <a:tcPr marL="91453" marR="91453"/>
                </a:tc>
                <a:extLst>
                  <a:ext uri="{0D108BD9-81ED-4DB2-BD59-A6C34878D82A}">
                    <a16:rowId xmlns:a16="http://schemas.microsoft.com/office/drawing/2014/main" val="10001"/>
                  </a:ext>
                </a:extLst>
              </a:tr>
              <a:tr h="370840">
                <a:tc>
                  <a:txBody>
                    <a:bodyPr/>
                    <a:lstStyle/>
                    <a:p>
                      <a:r>
                        <a:rPr lang="en-US" dirty="0"/>
                        <a:t>{D}</a:t>
                      </a:r>
                    </a:p>
                  </a:txBody>
                  <a:tcPr marL="91453" marR="91453"/>
                </a:tc>
                <a:tc>
                  <a:txBody>
                    <a:bodyPr/>
                    <a:lstStyle/>
                    <a:p>
                      <a:r>
                        <a:rPr lang="en-US" dirty="0"/>
                        <a:t>2</a:t>
                      </a:r>
                    </a:p>
                  </a:txBody>
                  <a:tcPr marL="91453" marR="91453"/>
                </a:tc>
                <a:tc>
                  <a:txBody>
                    <a:bodyPr/>
                    <a:lstStyle/>
                    <a:p>
                      <a:endParaRPr lang="en-US"/>
                    </a:p>
                  </a:txBody>
                  <a:tcPr marL="91453" marR="91453"/>
                </a:tc>
                <a:extLst>
                  <a:ext uri="{0D108BD9-81ED-4DB2-BD59-A6C34878D82A}">
                    <a16:rowId xmlns:a16="http://schemas.microsoft.com/office/drawing/2014/main" val="10002"/>
                  </a:ext>
                </a:extLst>
              </a:tr>
              <a:tr h="370840">
                <a:tc>
                  <a:txBody>
                    <a:bodyPr/>
                    <a:lstStyle/>
                    <a:p>
                      <a:r>
                        <a:rPr lang="en-US" dirty="0"/>
                        <a:t>{E}</a:t>
                      </a:r>
                      <a:endParaRPr lang="en-US" b="0" dirty="0">
                        <a:solidFill>
                          <a:schemeClr val="tx1"/>
                        </a:solidFill>
                      </a:endParaRPr>
                    </a:p>
                  </a:txBody>
                  <a:tcPr marL="91453" marR="91453"/>
                </a:tc>
                <a:tc>
                  <a:txBody>
                    <a:bodyPr/>
                    <a:lstStyle/>
                    <a:p>
                      <a:r>
                        <a:rPr lang="en-US" dirty="0"/>
                        <a:t>2</a:t>
                      </a:r>
                      <a:endParaRPr lang="en-US" b="0" dirty="0">
                        <a:solidFill>
                          <a:schemeClr val="tx1"/>
                        </a:solidFill>
                      </a:endParaRP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3"/>
                  </a:ext>
                </a:extLst>
              </a:tr>
              <a:tr h="370840">
                <a:tc>
                  <a:txBody>
                    <a:bodyPr/>
                    <a:lstStyle/>
                    <a:p>
                      <a:r>
                        <a:rPr lang="en-US" dirty="0"/>
                        <a:t>{C,D}</a:t>
                      </a:r>
                      <a:endParaRPr lang="en-US" b="0" dirty="0">
                        <a:solidFill>
                          <a:schemeClr val="tx1"/>
                        </a:solidFill>
                      </a:endParaRPr>
                    </a:p>
                  </a:txBody>
                  <a:tcPr marL="91453" marR="91453"/>
                </a:tc>
                <a:tc>
                  <a:txBody>
                    <a:bodyPr/>
                    <a:lstStyle/>
                    <a:p>
                      <a:r>
                        <a:rPr lang="en-US" dirty="0"/>
                        <a:t>2</a:t>
                      </a:r>
                      <a:endParaRPr lang="en-US" b="0" dirty="0">
                        <a:solidFill>
                          <a:schemeClr val="tx1"/>
                        </a:solidFill>
                      </a:endParaRP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4"/>
                  </a:ext>
                </a:extLst>
              </a:tr>
              <a:tr h="370840">
                <a:tc>
                  <a:txBody>
                    <a:bodyPr/>
                    <a:lstStyle/>
                    <a:p>
                      <a:r>
                        <a:rPr lang="en-US" dirty="0"/>
                        <a:t>{C,E}</a:t>
                      </a:r>
                      <a:endParaRPr lang="en-US" b="0" dirty="0">
                        <a:solidFill>
                          <a:schemeClr val="tx1"/>
                        </a:solidFill>
                      </a:endParaRPr>
                    </a:p>
                  </a:txBody>
                  <a:tcPr marL="91453" marR="91453"/>
                </a:tc>
                <a:tc>
                  <a:txBody>
                    <a:bodyPr/>
                    <a:lstStyle/>
                    <a:p>
                      <a:r>
                        <a:rPr lang="en-US" dirty="0"/>
                        <a:t>2</a:t>
                      </a:r>
                      <a:endParaRPr lang="en-US" b="0" dirty="0">
                        <a:solidFill>
                          <a:schemeClr val="tx1"/>
                        </a:solidFill>
                      </a:endParaRP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5"/>
                  </a:ext>
                </a:extLst>
              </a:tr>
              <a:tr h="370840">
                <a:tc>
                  <a:txBody>
                    <a:bodyPr/>
                    <a:lstStyle/>
                    <a:p>
                      <a:r>
                        <a:rPr lang="en-US" dirty="0"/>
                        <a:t>{D,E}</a:t>
                      </a:r>
                      <a:endParaRPr lang="en-US" b="0" dirty="0">
                        <a:solidFill>
                          <a:schemeClr val="tx1"/>
                        </a:solidFill>
                      </a:endParaRPr>
                    </a:p>
                  </a:txBody>
                  <a:tcPr marL="91453" marR="91453"/>
                </a:tc>
                <a:tc>
                  <a:txBody>
                    <a:bodyPr/>
                    <a:lstStyle/>
                    <a:p>
                      <a:r>
                        <a:rPr lang="en-US" dirty="0"/>
                        <a:t>2</a:t>
                      </a:r>
                      <a:endParaRPr lang="en-US" b="0" dirty="0">
                        <a:solidFill>
                          <a:schemeClr val="tx1"/>
                        </a:solidFill>
                      </a:endParaRP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91453" marR="91453"/>
                </a:tc>
                <a:extLst>
                  <a:ext uri="{0D108BD9-81ED-4DB2-BD59-A6C34878D82A}">
                    <a16:rowId xmlns:a16="http://schemas.microsoft.com/office/drawing/2014/main" val="10006"/>
                  </a:ext>
                </a:extLst>
              </a:tr>
              <a:tr h="370840">
                <a:tc>
                  <a:txBody>
                    <a:bodyPr/>
                    <a:lstStyle/>
                    <a:p>
                      <a:r>
                        <a:rPr lang="en-US" b="1" dirty="0">
                          <a:solidFill>
                            <a:srgbClr val="FF0000"/>
                          </a:solidFill>
                        </a:rPr>
                        <a:t>{C,D,E}</a:t>
                      </a:r>
                    </a:p>
                  </a:txBody>
                  <a:tcPr marL="91453" marR="91453"/>
                </a:tc>
                <a:tc>
                  <a:txBody>
                    <a:bodyPr/>
                    <a:lstStyle/>
                    <a:p>
                      <a:r>
                        <a:rPr lang="en-US" b="1" dirty="0">
                          <a:solidFill>
                            <a:srgbClr val="FF0000"/>
                          </a:solidFill>
                        </a:rPr>
                        <a:t>2</a:t>
                      </a:r>
                    </a:p>
                  </a:txBody>
                  <a:tcPr marL="91453" marR="9145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sym typeface="Wingdings" panose="05000000000000000000" pitchFamily="2" charset="2"/>
                        </a:rPr>
                        <a:t></a:t>
                      </a:r>
                      <a:endParaRPr lang="en-US" b="1" dirty="0">
                        <a:solidFill>
                          <a:srgbClr val="FF0000"/>
                        </a:solidFill>
                      </a:endParaRPr>
                    </a:p>
                  </a:txBody>
                  <a:tcPr marL="91453" marR="91453"/>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413015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AF7B8-8BBF-AE11-9A76-3D892AE1FFAD}"/>
              </a:ext>
            </a:extLst>
          </p:cNvPr>
          <p:cNvSpPr>
            <a:spLocks noGrp="1"/>
          </p:cNvSpPr>
          <p:nvPr>
            <p:ph type="title"/>
          </p:nvPr>
        </p:nvSpPr>
        <p:spPr/>
        <p:txBody>
          <a:bodyPr/>
          <a:lstStyle/>
          <a:p>
            <a:r>
              <a:rPr lang="en-US" dirty="0"/>
              <a:t>Why to study closed frequent itemset</a:t>
            </a:r>
          </a:p>
        </p:txBody>
      </p:sp>
      <p:sp>
        <p:nvSpPr>
          <p:cNvPr id="3" name="Content Placeholder 2">
            <a:extLst>
              <a:ext uri="{FF2B5EF4-FFF2-40B4-BE49-F238E27FC236}">
                <a16:creationId xmlns:a16="http://schemas.microsoft.com/office/drawing/2014/main" id="{2CA94213-E723-EAF7-4B92-036D3AD945C4}"/>
              </a:ext>
            </a:extLst>
          </p:cNvPr>
          <p:cNvSpPr>
            <a:spLocks noGrp="1"/>
          </p:cNvSpPr>
          <p:nvPr>
            <p:ph idx="1"/>
          </p:nvPr>
        </p:nvSpPr>
        <p:spPr/>
        <p:txBody>
          <a:bodyPr/>
          <a:lstStyle/>
          <a:p>
            <a:r>
              <a:rPr lang="en-US" dirty="0"/>
              <a:t>Closed frequent </a:t>
            </a:r>
            <a:r>
              <a:rPr lang="en-US" dirty="0" err="1"/>
              <a:t>itemsets</a:t>
            </a:r>
            <a:r>
              <a:rPr lang="en-US" dirty="0"/>
              <a:t> are useful for removing some of the redundant association rules. An association rule X → Y is redundant if there exists another rule X' → Y', where X is a subset of X' and Y is a subset of Y', such that the support and confidence for both rules are identical. </a:t>
            </a:r>
          </a:p>
        </p:txBody>
      </p:sp>
    </p:spTree>
    <p:extLst>
      <p:ext uri="{BB962C8B-B14F-4D97-AF65-F5344CB8AC3E}">
        <p14:creationId xmlns:p14="http://schemas.microsoft.com/office/powerpoint/2010/main" val="40973220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AF7B8-8BBF-AE11-9A76-3D892AE1FFAD}"/>
              </a:ext>
            </a:extLst>
          </p:cNvPr>
          <p:cNvSpPr>
            <a:spLocks noGrp="1"/>
          </p:cNvSpPr>
          <p:nvPr>
            <p:ph type="title"/>
          </p:nvPr>
        </p:nvSpPr>
        <p:spPr/>
        <p:txBody>
          <a:bodyPr/>
          <a:lstStyle/>
          <a:p>
            <a:r>
              <a:rPr lang="en-US" dirty="0"/>
              <a:t>Why to study closed frequent itemset</a:t>
            </a:r>
          </a:p>
        </p:txBody>
      </p:sp>
      <p:graphicFrame>
        <p:nvGraphicFramePr>
          <p:cNvPr id="4" name="Object 3">
            <a:extLst>
              <a:ext uri="{FF2B5EF4-FFF2-40B4-BE49-F238E27FC236}">
                <a16:creationId xmlns:a16="http://schemas.microsoft.com/office/drawing/2014/main" id="{C21DB7D3-5F91-7A77-A852-C9847DE11F13}"/>
              </a:ext>
            </a:extLst>
          </p:cNvPr>
          <p:cNvGraphicFramePr>
            <a:graphicFrameLocks noChangeAspect="1"/>
          </p:cNvGraphicFramePr>
          <p:nvPr/>
        </p:nvGraphicFramePr>
        <p:xfrm>
          <a:off x="914400" y="1104900"/>
          <a:ext cx="7086600" cy="5143500"/>
        </p:xfrm>
        <a:graphic>
          <a:graphicData uri="http://schemas.openxmlformats.org/presentationml/2006/ole">
            <mc:AlternateContent xmlns:mc="http://schemas.openxmlformats.org/markup-compatibility/2006">
              <mc:Choice xmlns:v="urn:schemas-microsoft-com:vml" Requires="v">
                <p:oleObj name="VISIO" r:id="rId2" imgW="10169652" imgH="7367016" progId="Visio.Drawing.6">
                  <p:embed/>
                </p:oleObj>
              </mc:Choice>
              <mc:Fallback>
                <p:oleObj name="VISIO" r:id="rId2" imgW="10169652" imgH="7367016" progId="Visio.Drawing.6">
                  <p:embed/>
                  <p:pic>
                    <p:nvPicPr>
                      <p:cNvPr id="6349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104900"/>
                        <a:ext cx="7086600" cy="51435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653972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AF7B8-8BBF-AE11-9A76-3D892AE1FFAD}"/>
              </a:ext>
            </a:extLst>
          </p:cNvPr>
          <p:cNvSpPr>
            <a:spLocks noGrp="1"/>
          </p:cNvSpPr>
          <p:nvPr>
            <p:ph type="title"/>
          </p:nvPr>
        </p:nvSpPr>
        <p:spPr/>
        <p:txBody>
          <a:bodyPr/>
          <a:lstStyle/>
          <a:p>
            <a:r>
              <a:rPr lang="en-US" dirty="0"/>
              <a:t>Why to study closed frequent itemset</a:t>
            </a:r>
          </a:p>
        </p:txBody>
      </p:sp>
      <p:sp>
        <p:nvSpPr>
          <p:cNvPr id="3" name="Content Placeholder 2">
            <a:extLst>
              <a:ext uri="{FF2B5EF4-FFF2-40B4-BE49-F238E27FC236}">
                <a16:creationId xmlns:a16="http://schemas.microsoft.com/office/drawing/2014/main" id="{2CA94213-E723-EAF7-4B92-036D3AD945C4}"/>
              </a:ext>
            </a:extLst>
          </p:cNvPr>
          <p:cNvSpPr>
            <a:spLocks noGrp="1"/>
          </p:cNvSpPr>
          <p:nvPr>
            <p:ph idx="1"/>
          </p:nvPr>
        </p:nvSpPr>
        <p:spPr/>
        <p:txBody>
          <a:bodyPr/>
          <a:lstStyle/>
          <a:p>
            <a:r>
              <a:rPr lang="en-US" dirty="0"/>
              <a:t>{b} is not a closed frequent itemset while {b, c} is closed. </a:t>
            </a:r>
          </a:p>
          <a:p>
            <a:r>
              <a:rPr lang="en-US" dirty="0"/>
              <a:t>The association rule {b} → {d, e} is therefore redundant because it has the same support and confidence as {b, c} → {d, e}. Such redundant rules are not generated if closed frequent </a:t>
            </a:r>
            <a:r>
              <a:rPr lang="en-US" dirty="0" err="1"/>
              <a:t>itemsets</a:t>
            </a:r>
            <a:r>
              <a:rPr lang="en-US" dirty="0"/>
              <a:t> are used for rule generation.</a:t>
            </a:r>
          </a:p>
        </p:txBody>
      </p:sp>
    </p:spTree>
    <p:extLst>
      <p:ext uri="{BB962C8B-B14F-4D97-AF65-F5344CB8AC3E}">
        <p14:creationId xmlns:p14="http://schemas.microsoft.com/office/powerpoint/2010/main" val="5496124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p:txBody>
          <a:bodyPr/>
          <a:lstStyle/>
          <a:p>
            <a:r>
              <a:rPr lang="en-US" altLang="en-US" dirty="0"/>
              <a:t>Maximal vs Closed </a:t>
            </a:r>
            <a:r>
              <a:rPr lang="en-US" altLang="en-US" dirty="0" err="1"/>
              <a:t>Itemsets</a:t>
            </a:r>
            <a:endParaRPr lang="en-US" altLang="en-US" dirty="0"/>
          </a:p>
        </p:txBody>
      </p:sp>
      <p:pic>
        <p:nvPicPr>
          <p:cNvPr id="2" name="Picture 1"/>
          <p:cNvPicPr>
            <a:picLocks noChangeAspect="1"/>
          </p:cNvPicPr>
          <p:nvPr/>
        </p:nvPicPr>
        <p:blipFill>
          <a:blip r:embed="rId3"/>
          <a:stretch>
            <a:fillRect/>
          </a:stretch>
        </p:blipFill>
        <p:spPr>
          <a:xfrm>
            <a:off x="892257" y="1828800"/>
            <a:ext cx="7787431" cy="3200400"/>
          </a:xfrm>
          <a:prstGeom prst="rect">
            <a:avLst/>
          </a:prstGeom>
        </p:spPr>
      </p:pic>
    </p:spTree>
    <p:extLst>
      <p:ext uri="{BB962C8B-B14F-4D97-AF65-F5344CB8AC3E}">
        <p14:creationId xmlns:p14="http://schemas.microsoft.com/office/powerpoint/2010/main" val="10453754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AF7B8-8BBF-AE11-9A76-3D892AE1FFAD}"/>
              </a:ext>
            </a:extLst>
          </p:cNvPr>
          <p:cNvSpPr>
            <a:spLocks noGrp="1"/>
          </p:cNvSpPr>
          <p:nvPr>
            <p:ph type="title"/>
          </p:nvPr>
        </p:nvSpPr>
        <p:spPr/>
        <p:txBody>
          <a:bodyPr/>
          <a:lstStyle/>
          <a:p>
            <a:r>
              <a:rPr lang="en-US" dirty="0"/>
              <a:t>Point to remember</a:t>
            </a:r>
          </a:p>
        </p:txBody>
      </p:sp>
      <p:sp>
        <p:nvSpPr>
          <p:cNvPr id="3" name="Content Placeholder 2">
            <a:extLst>
              <a:ext uri="{FF2B5EF4-FFF2-40B4-BE49-F238E27FC236}">
                <a16:creationId xmlns:a16="http://schemas.microsoft.com/office/drawing/2014/main" id="{2CA94213-E723-EAF7-4B92-036D3AD945C4}"/>
              </a:ext>
            </a:extLst>
          </p:cNvPr>
          <p:cNvSpPr>
            <a:spLocks noGrp="1"/>
          </p:cNvSpPr>
          <p:nvPr>
            <p:ph idx="1"/>
          </p:nvPr>
        </p:nvSpPr>
        <p:spPr/>
        <p:txBody>
          <a:bodyPr/>
          <a:lstStyle/>
          <a:p>
            <a:r>
              <a:rPr lang="en-US" dirty="0"/>
              <a:t>Finally, note that all maximal frequent </a:t>
            </a:r>
            <a:r>
              <a:rPr lang="en-US" dirty="0" err="1"/>
              <a:t>itemsets</a:t>
            </a:r>
            <a:r>
              <a:rPr lang="en-US" dirty="0"/>
              <a:t> are closed because none of the maximal frequent </a:t>
            </a:r>
            <a:r>
              <a:rPr lang="en-US" dirty="0" err="1"/>
              <a:t>itemsets</a:t>
            </a:r>
            <a:r>
              <a:rPr lang="en-US" dirty="0"/>
              <a:t> can have the same support count as their immediate supersets.</a:t>
            </a:r>
          </a:p>
        </p:txBody>
      </p:sp>
    </p:spTree>
    <p:extLst>
      <p:ext uri="{BB962C8B-B14F-4D97-AF65-F5344CB8AC3E}">
        <p14:creationId xmlns:p14="http://schemas.microsoft.com/office/powerpoint/2010/main" val="2087588015"/>
      </p:ext>
    </p:extLst>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146511561</TotalTime>
  <Pages>3</Pages>
  <Words>3374</Words>
  <Application>Microsoft Office PowerPoint</Application>
  <PresentationFormat>On-screen Show (4:3)</PresentationFormat>
  <Paragraphs>689</Paragraphs>
  <Slides>48</Slides>
  <Notes>7</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4</vt:i4>
      </vt:variant>
      <vt:variant>
        <vt:lpstr>Slide Titles</vt:lpstr>
      </vt:variant>
      <vt:variant>
        <vt:i4>48</vt:i4>
      </vt:variant>
    </vt:vector>
  </HeadingPairs>
  <TitlesOfParts>
    <vt:vector size="63" baseType="lpstr">
      <vt:lpstr>Arial</vt:lpstr>
      <vt:lpstr>CMMI10</vt:lpstr>
      <vt:lpstr>CMR10</vt:lpstr>
      <vt:lpstr>CMR8</vt:lpstr>
      <vt:lpstr>CMSY10</vt:lpstr>
      <vt:lpstr>Monotype Sorts</vt:lpstr>
      <vt:lpstr>Symbol</vt:lpstr>
      <vt:lpstr>Tahoma</vt:lpstr>
      <vt:lpstr>Times New Roman</vt:lpstr>
      <vt:lpstr>Wingdings</vt:lpstr>
      <vt:lpstr>LC.BRev.FY97</vt:lpstr>
      <vt:lpstr>Document</vt:lpstr>
      <vt:lpstr>Visio</vt:lpstr>
      <vt:lpstr>Worksheet</vt:lpstr>
      <vt:lpstr>VISIO</vt:lpstr>
      <vt:lpstr>Data Mining</vt:lpstr>
      <vt:lpstr>Support Counting of Candidate Itemsets</vt:lpstr>
      <vt:lpstr>Support Counting of Candidate Itemsets</vt:lpstr>
      <vt:lpstr>Support Counting: An Example</vt:lpstr>
      <vt:lpstr>Support Counting Using a Hash Tree</vt:lpstr>
      <vt:lpstr>Support Counting Using a Hash Tree</vt:lpstr>
      <vt:lpstr>Support Counting Using a Hash Tree</vt:lpstr>
      <vt:lpstr>Support Counting Using a Hash Tree</vt:lpstr>
      <vt:lpstr>Support Counting Using a Hash Tree</vt:lpstr>
      <vt:lpstr>Support Counting Using a Hash Tree</vt:lpstr>
      <vt:lpstr>Support Counting Using a Hash Tree</vt:lpstr>
      <vt:lpstr>Rule Generation</vt:lpstr>
      <vt:lpstr>Rule Generation</vt:lpstr>
      <vt:lpstr>Rule Generation for Apriori Algorithm</vt:lpstr>
      <vt:lpstr> Association Analysis: Basic Concepts  and Algorithms</vt:lpstr>
      <vt:lpstr>Factors Affecting Complexity of Apriori</vt:lpstr>
      <vt:lpstr>Factors Affecting Complexity of Apriori</vt:lpstr>
      <vt:lpstr>Impact of Support Based Pruning</vt:lpstr>
      <vt:lpstr>Factors Affecting Complexity of Apriori</vt:lpstr>
      <vt:lpstr>Factors Affecting Complexity of Apriori</vt:lpstr>
      <vt:lpstr>Factors Affecting Complexity of Apriori</vt:lpstr>
      <vt:lpstr>Factors Affecting Complexity of Apriori</vt:lpstr>
      <vt:lpstr>Assumptions of Apriori</vt:lpstr>
      <vt:lpstr>Problem with Apriori </vt:lpstr>
      <vt:lpstr>Maximal Frequent Itemset</vt:lpstr>
      <vt:lpstr>Maximal Frequent Itemset</vt:lpstr>
      <vt:lpstr>Maximal Frequent Itemset</vt:lpstr>
      <vt:lpstr>Maximal Frequent Itemset</vt:lpstr>
      <vt:lpstr>An illustrative example</vt:lpstr>
      <vt:lpstr>An illustrative example</vt:lpstr>
      <vt:lpstr>An illustrative example</vt:lpstr>
      <vt:lpstr>An illustrative example</vt:lpstr>
      <vt:lpstr>Another illustrative example</vt:lpstr>
      <vt:lpstr>Closed Itemset</vt:lpstr>
      <vt:lpstr>Closed Itemset</vt:lpstr>
      <vt:lpstr>Closed Itemsets</vt:lpstr>
      <vt:lpstr>Maximal Frequent Itemsets</vt:lpstr>
      <vt:lpstr>Closed Frequent Itemset</vt:lpstr>
      <vt:lpstr>What are the Closed Frequent Itemsets in this Data?</vt:lpstr>
      <vt:lpstr>Example 1</vt:lpstr>
      <vt:lpstr>Example 1</vt:lpstr>
      <vt:lpstr>Example 2</vt:lpstr>
      <vt:lpstr>Example 2</vt:lpstr>
      <vt:lpstr>Why to study closed frequent itemset</vt:lpstr>
      <vt:lpstr>Why to study closed frequent itemset</vt:lpstr>
      <vt:lpstr>Why to study closed frequent itemset</vt:lpstr>
      <vt:lpstr>Maximal vs Closed Itemsets</vt:lpstr>
      <vt:lpstr>Point to remember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Steven F. Ashby Center for Applied Scientific Computing  Month DD, 1997</dc:title>
  <dc:creator>Computations</dc:creator>
  <cp:lastModifiedBy>Eesha tur babar</cp:lastModifiedBy>
  <cp:revision>565</cp:revision>
  <cp:lastPrinted>2018-02-04T02:18:57Z</cp:lastPrinted>
  <dcterms:created xsi:type="dcterms:W3CDTF">1998-03-18T13:44:31Z</dcterms:created>
  <dcterms:modified xsi:type="dcterms:W3CDTF">2024-03-23T13:52:01Z</dcterms:modified>
</cp:coreProperties>
</file>