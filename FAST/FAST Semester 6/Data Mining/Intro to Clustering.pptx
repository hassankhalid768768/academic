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516" r:id="rId3"/>
    <p:sldId id="545" r:id="rId4"/>
    <p:sldId id="518" r:id="rId5"/>
    <p:sldId id="519" r:id="rId6"/>
    <p:sldId id="520" r:id="rId7"/>
    <p:sldId id="521" r:id="rId8"/>
    <p:sldId id="52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E6ABD-EC08-49DA-9340-11853080511D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92201-4D38-4BEE-827E-7FBBA9E8C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91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CMR10"/>
              </a:rPr>
              <a:t>psychology and other social sciences, biology,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statistics, pattern recognition, information retrieval, machine learning, and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data mining.</a:t>
            </a:r>
          </a:p>
          <a:p>
            <a:pPr algn="l"/>
            <a:endParaRPr lang="en-US" sz="1800" b="0" i="0" u="none" strike="noStrike" baseline="0" dirty="0">
              <a:latin typeface="CMR10"/>
            </a:endParaRPr>
          </a:p>
          <a:p>
            <a:pPr algn="l"/>
            <a:r>
              <a:rPr lang="en-US" sz="1800" b="1" i="0" u="none" strike="noStrike" baseline="0" dirty="0">
                <a:latin typeface="CMBX10"/>
              </a:rPr>
              <a:t>unsupervised classification</a:t>
            </a:r>
            <a:r>
              <a:rPr lang="en-US" sz="1800" b="0" i="0" u="none" strike="noStrike" baseline="0" dirty="0">
                <a:latin typeface="CMR10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Also, while the terms </a:t>
            </a:r>
            <a:r>
              <a:rPr lang="en-US" sz="1800" b="1" i="0" u="none" strike="noStrike" baseline="0" dirty="0">
                <a:latin typeface="CMBX10"/>
              </a:rPr>
              <a:t>segmentation </a:t>
            </a:r>
            <a:r>
              <a:rPr lang="en-US" sz="1800" b="0" i="0" u="none" strike="noStrike" baseline="0" dirty="0">
                <a:latin typeface="CMR10"/>
              </a:rPr>
              <a:t>and </a:t>
            </a:r>
            <a:r>
              <a:rPr lang="en-US" sz="1800" b="1" i="0" u="none" strike="noStrike" baseline="0" dirty="0">
                <a:latin typeface="CMBX10"/>
              </a:rPr>
              <a:t>partitioning </a:t>
            </a:r>
            <a:r>
              <a:rPr lang="en-US" sz="1800" b="0" i="0" u="none" strike="noStrike" baseline="0" dirty="0">
                <a:latin typeface="CMR10"/>
              </a:rPr>
              <a:t>are sometimes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used as synonyms for clustering, these terms are frequently used for approaches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outside the traditional bounds of cluster analysis. For example, the term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partitioning is often used in connection with techniques that divide graphs into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subgraphs and that are not strongly connected to clustering.</a:t>
            </a:r>
          </a:p>
          <a:p>
            <a:pPr algn="l"/>
            <a:endParaRPr lang="en-US" sz="1800" b="0" i="0" u="none" strike="noStrike" baseline="0" dirty="0">
              <a:latin typeface="CMR10"/>
            </a:endParaRPr>
          </a:p>
          <a:p>
            <a:pPr algn="l"/>
            <a:r>
              <a:rPr lang="en-US" sz="1800" b="0" i="0" u="none" strike="noStrike" baseline="0" dirty="0">
                <a:latin typeface="CMR10"/>
              </a:rPr>
              <a:t>Segmentation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often refers to the division of data into groups using simple techniques; e.g.,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an image can be split into segments based only on pixel intensity and color, or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people can be divided into groups based on their income. Nonetheless, some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work in graph partitioning and in image and market segmentation is related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to cluster 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397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CMR10"/>
              </a:rPr>
              <a:t>For instance, a person at a university can be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both an enrolled student and an employee of the university</a:t>
            </a:r>
          </a:p>
          <a:p>
            <a:pPr algn="l"/>
            <a:endParaRPr lang="en-US" sz="1800" b="0" i="0" u="none" strike="noStrike" baseline="0" dirty="0">
              <a:latin typeface="CMR10"/>
            </a:endParaRPr>
          </a:p>
          <a:p>
            <a:pPr algn="l"/>
            <a:r>
              <a:rPr lang="en-US" sz="1800" b="0" i="0" u="none" strike="noStrike" baseline="0" dirty="0">
                <a:latin typeface="CMR10"/>
              </a:rPr>
              <a:t>A non-exclusive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clustering is also often used when, for example, an object is “between” two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or more clusters and could reasonably be assigned to any of these clusters.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Imagine a point halfway between two of the clusters of Figure 8.1. Rather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than make a somewhat arbitrary assignment of the object to a single cluster,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it is placed in all of the “equally good” clusters.</a:t>
            </a:r>
          </a:p>
          <a:p>
            <a:pPr algn="l"/>
            <a:endParaRPr lang="en-US" sz="1800" b="0" i="0" u="none" strike="noStrike" baseline="0" dirty="0">
              <a:latin typeface="CMR10"/>
            </a:endParaRPr>
          </a:p>
          <a:p>
            <a:pPr algn="l"/>
            <a:r>
              <a:rPr lang="en-US" sz="1800" b="0" i="0" u="none" strike="noStrike" baseline="0" dirty="0">
                <a:latin typeface="CMR10"/>
              </a:rPr>
              <a:t>In a </a:t>
            </a:r>
            <a:r>
              <a:rPr lang="en-US" sz="1800" b="1" i="0" u="none" strike="noStrike" baseline="0" dirty="0">
                <a:latin typeface="CMBX10"/>
              </a:rPr>
              <a:t>fuzzy clustering</a:t>
            </a:r>
            <a:r>
              <a:rPr lang="en-US" sz="1800" b="0" i="0" u="none" strike="noStrike" baseline="0" dirty="0">
                <a:latin typeface="CMR10"/>
              </a:rPr>
              <a:t>, every object belongs to every cluster with a membership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weight that is between 0 (absolutely doesn’t belong) and 1 (absolutely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belongs). In other words, clusters are treated as fuzzy sets. (Mathematically,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a fuzzy set is one in which an object belongs to any set with a weight that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is between 0 and 1. In fuzzy clustering, we often impose the additional constraint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that the sum of the weights for each object must equal 1.) Similarly,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probabilistic clustering techniques compute the probability with which each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point belongs to each cluster, and these probabilities must also sum to 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919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98E68-1AE2-9CB4-FE47-D1D4987AA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7AB15F-8246-5329-4D95-CAAA0E133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4AD48-2E61-58C1-34E8-41766BD5F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B867-F434-407C-954D-2BCD40DE1E75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F33F4-2CBA-9031-F930-4F8D7FA97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23F56-355C-1756-2D67-7E0ECE7C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98C9-F92A-4432-AE3A-AD65A4A2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622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C07FC-38E5-B7E4-69AC-1E6099276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CD89A-520C-8987-77CA-8929E7A3A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68CE6-C874-9C23-BD08-635AC0892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B867-F434-407C-954D-2BCD40DE1E75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C35B2-0918-465F-A5F5-6D7EDAC15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806BF-1A4C-A3B8-5089-B7872E593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98C9-F92A-4432-AE3A-AD65A4A2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1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87502-F2DB-1573-CD07-E8941ECEC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08397-5922-46AB-AC95-CA49BE8F3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89BCA-7E37-1267-7C65-A720D62DF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B867-F434-407C-954D-2BCD40DE1E75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73178-8FAC-2626-C1EF-26D668DB5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35388-AE8C-4A46-5394-04BF4EE65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98C9-F92A-4432-AE3A-AD65A4A2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41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2986A-E305-60C7-12DF-1BF6529D7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F121A-6B52-C92B-C656-C2EBAFB09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EB9E5-0627-41F1-1B82-8A3492BFD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063A7-AEC1-9838-7980-EDC4D1FB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B867-F434-407C-954D-2BCD40DE1E75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8A3B5-9B9C-F618-2CE6-7B9F7C2B2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BC811-8589-BCA7-4E39-2978F24EE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98C9-F92A-4432-AE3A-AD65A4A2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1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C4607-3B7C-F090-6CFF-82181611B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DCB9F-659E-64B2-F106-D92B1A348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A5B75-C14E-EFE5-1AB8-8576DA10A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DD2177-1B18-9A7D-4C2C-216AAC2F81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A70BF6-CCE7-F6C2-3877-C39FFFE34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1E46C3-981D-9F3F-0B1C-B270176A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B867-F434-407C-954D-2BCD40DE1E75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4BDA8F-4C8D-3D52-5781-F2C467C4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85B62B-F2F5-A52A-D49B-BB1FEADEF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98C9-F92A-4432-AE3A-AD65A4A2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66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0CDA-447A-0052-0834-D433AB980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12BB5B-EF82-8723-DC4E-2062ABF94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B867-F434-407C-954D-2BCD40DE1E75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AAF76-B66E-78A1-6DC5-88B0D3BB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29C8DF-5B47-B221-422F-0A21741BE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98C9-F92A-4432-AE3A-AD65A4A2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2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C1C601-A23E-BB2D-E7C6-480982903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B867-F434-407C-954D-2BCD40DE1E75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F9E0EC-E638-74BE-728D-9492B340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E8E83-1150-5309-7D15-608D67CE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98C9-F92A-4432-AE3A-AD65A4A2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39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8FE-8CD2-11F6-C681-E107CF9FA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942BA-9469-AC55-7EE0-7C16A1839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495C4-9770-491A-DCE2-51C7B4373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DC0E1-529B-ADB1-E6E7-EF27D346F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B867-F434-407C-954D-2BCD40DE1E75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6C49C-6763-66CE-6342-1C55C90C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72709-8E8D-381B-E52D-C2C41ABF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98C9-F92A-4432-AE3A-AD65A4A2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47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1D768-C554-74A4-5251-5E6320E56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0953FE-607E-6FBF-7727-8EC6E7F23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4955FC-E68A-1A26-7C05-9ED6FF323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F773F-122F-711D-B89F-A470B4F78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B867-F434-407C-954D-2BCD40DE1E75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07FF9-6559-7B0C-60CD-C25FC47AF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F0143-5C02-F258-9C3C-ECCC079B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98C9-F92A-4432-AE3A-AD65A4A2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566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62CD0-B717-28A2-027B-8830BDB96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153FB-FC2D-A047-D493-08311CE9D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C3CF0-F1C6-7428-D821-568849226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B867-F434-407C-954D-2BCD40DE1E75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64881-6CDC-E01B-5BA2-30BA71AA8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F368F-4626-7628-A41D-C2ED1AD24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98C9-F92A-4432-AE3A-AD65A4A2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243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559AAD-440C-8FEE-FB21-24C1F1E9E7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6BEE2-3468-23EA-67B5-51C8B3C1A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17A6A-2951-4A55-5B8E-6FBE1146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B867-F434-407C-954D-2BCD40DE1E75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50566-C595-DE47-974C-B232D6927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CC48-47D5-4D3B-0C86-DDB21C10F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98C9-F92A-4432-AE3A-AD65A4A2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81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5484" y="1143000"/>
            <a:ext cx="5444067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5484" y="3810000"/>
            <a:ext cx="5444067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147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0ECC25-3AF9-88C0-E906-1C221012E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CB5F8-47A4-4F8C-E84D-E9BF6DABB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2FCB8-2E46-C9ED-FFB0-6C11B9660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0B867-F434-407C-954D-2BCD40DE1E75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5EC39-1D2D-D26C-5DCA-28A8A03B30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CED68-E720-71E4-0266-AADD6F5DF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098C9-F92A-4432-AE3A-AD65A4A28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056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25AAD-C153-AC00-5B92-7D3ECB225D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F0C29-E2DD-948E-44CB-327371A118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is Cluster Analysis?</a:t>
            </a: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706564" y="1646235"/>
            <a:ext cx="8732837" cy="1325564"/>
          </a:xfrm>
        </p:spPr>
        <p:txBody>
          <a:bodyPr/>
          <a:lstStyle/>
          <a:p>
            <a:r>
              <a:rPr lang="en-US" altLang="en-US" sz="2400" dirty="0"/>
              <a:t>Given a set of objects, place them in groups such that the objects in a group are similar (or related) to one another and different from (or unrelated to) the objects in other groups</a:t>
            </a:r>
          </a:p>
        </p:txBody>
      </p:sp>
      <p:grpSp>
        <p:nvGrpSpPr>
          <p:cNvPr id="3076" name="Group 6"/>
          <p:cNvGrpSpPr>
            <a:grpSpLocks/>
          </p:cNvGrpSpPr>
          <p:nvPr/>
        </p:nvGrpSpPr>
        <p:grpSpPr bwMode="auto">
          <a:xfrm>
            <a:off x="4800600" y="3570288"/>
            <a:ext cx="3048000" cy="2678112"/>
            <a:chOff x="2160" y="2544"/>
            <a:chExt cx="1920" cy="1687"/>
          </a:xfrm>
        </p:grpSpPr>
        <p:sp>
          <p:nvSpPr>
            <p:cNvPr id="3087" name="Line 7"/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8" name="Line 8"/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9" name="Freeform 9"/>
            <p:cNvSpPr>
              <a:spLocks/>
            </p:cNvSpPr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  <a:gd name="T4" fmla="*/ 0 60000 65536"/>
                <a:gd name="T5" fmla="*/ 0 60000 65536"/>
                <a:gd name="T6" fmla="*/ 0 w 510"/>
                <a:gd name="T7" fmla="*/ 0 h 535"/>
                <a:gd name="T8" fmla="*/ 510 w 510"/>
                <a:gd name="T9" fmla="*/ 535 h 5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0" name="AutoShape 10"/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1" name="AutoShape 11"/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2" name="AutoShape 12"/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3" name="AutoShape 13"/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4" name="AutoShape 14"/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5" name="AutoShape 15"/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6" name="AutoShape 16"/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7" name="AutoShape 17"/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8" name="AutoShape 18"/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9" name="AutoShape 19"/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0" name="AutoShape 20"/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1" name="AutoShape 21"/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2" name="AutoShape 22"/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3" name="AutoShape 23"/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4" name="AutoShape 24"/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5" name="AutoShape 25"/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6" name="AutoShape 26"/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7" name="AutoShape 27"/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8" name="AutoShape 28"/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9" name="AutoShape 29"/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0" name="AutoShape 30"/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1" name="AutoShape 31"/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2" name="AutoShape 32"/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6781800" y="2667000"/>
            <a:ext cx="3048000" cy="2514600"/>
            <a:chOff x="3312" y="1584"/>
            <a:chExt cx="1920" cy="1584"/>
          </a:xfrm>
        </p:grpSpPr>
        <p:sp>
          <p:nvSpPr>
            <p:cNvPr id="3085" name="Line 34"/>
            <p:cNvSpPr>
              <a:spLocks noChangeShapeType="1"/>
            </p:cNvSpPr>
            <p:nvPr/>
          </p:nvSpPr>
          <p:spPr bwMode="auto">
            <a:xfrm flipH="1" flipV="1">
              <a:off x="3312" y="2736"/>
              <a:ext cx="144" cy="432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6" name="AutoShape 35"/>
            <p:cNvSpPr>
              <a:spLocks noChangeArrowheads="1"/>
            </p:cNvSpPr>
            <p:nvPr/>
          </p:nvSpPr>
          <p:spPr bwMode="auto">
            <a:xfrm>
              <a:off x="3984" y="1584"/>
              <a:ext cx="1248" cy="672"/>
            </a:xfrm>
            <a:prstGeom prst="wedgeRectCallout">
              <a:avLst>
                <a:gd name="adj1" fmla="val -93509"/>
                <a:gd name="adj2" fmla="val 150894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000" b="0">
                  <a:latin typeface="Tahoma" pitchFamily="34" charset="0"/>
                </a:rPr>
                <a:t>Inter-cluster distances are maximized</a:t>
              </a: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4419600" y="3657600"/>
            <a:ext cx="3276600" cy="2286000"/>
            <a:chOff x="1824" y="2208"/>
            <a:chExt cx="2064" cy="1440"/>
          </a:xfrm>
        </p:grpSpPr>
        <p:sp>
          <p:nvSpPr>
            <p:cNvPr id="3082" name="Oval 37"/>
            <p:cNvSpPr>
              <a:spLocks noChangeArrowheads="1"/>
            </p:cNvSpPr>
            <p:nvPr/>
          </p:nvSpPr>
          <p:spPr bwMode="auto">
            <a:xfrm>
              <a:off x="1824" y="2592"/>
              <a:ext cx="816" cy="720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3" name="Oval 38"/>
            <p:cNvSpPr>
              <a:spLocks noChangeArrowheads="1"/>
            </p:cNvSpPr>
            <p:nvPr/>
          </p:nvSpPr>
          <p:spPr bwMode="auto">
            <a:xfrm>
              <a:off x="2928" y="2208"/>
              <a:ext cx="720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4" name="Oval 39"/>
            <p:cNvSpPr>
              <a:spLocks noChangeArrowheads="1"/>
            </p:cNvSpPr>
            <p:nvPr/>
          </p:nvSpPr>
          <p:spPr bwMode="auto">
            <a:xfrm>
              <a:off x="3216" y="3024"/>
              <a:ext cx="672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2819400" y="2971800"/>
            <a:ext cx="2286000" cy="1676400"/>
            <a:chOff x="816" y="1776"/>
            <a:chExt cx="1440" cy="1056"/>
          </a:xfrm>
        </p:grpSpPr>
        <p:sp>
          <p:nvSpPr>
            <p:cNvPr id="3080" name="Line 41"/>
            <p:cNvSpPr>
              <a:spLocks noChangeShapeType="1"/>
            </p:cNvSpPr>
            <p:nvPr/>
          </p:nvSpPr>
          <p:spPr bwMode="auto">
            <a:xfrm flipV="1">
              <a:off x="2064" y="2736"/>
              <a:ext cx="192" cy="96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" name="AutoShape 42"/>
            <p:cNvSpPr>
              <a:spLocks noChangeArrowheads="1"/>
            </p:cNvSpPr>
            <p:nvPr/>
          </p:nvSpPr>
          <p:spPr bwMode="auto">
            <a:xfrm>
              <a:off x="816" y="1776"/>
              <a:ext cx="1248" cy="672"/>
            </a:xfrm>
            <a:prstGeom prst="wedgeRectCallout">
              <a:avLst>
                <a:gd name="adj1" fmla="val 56250"/>
                <a:gd name="adj2" fmla="val 92856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000" b="0">
                  <a:latin typeface="Tahoma" pitchFamily="34" charset="0"/>
                </a:rPr>
                <a:t>Intra-cluster distances are minimized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Applications of Cluster Analysis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sz="2400" b="1"/>
              <a:t>Understanding</a:t>
            </a:r>
          </a:p>
          <a:p>
            <a:pPr lvl="1">
              <a:spcBef>
                <a:spcPct val="20000"/>
              </a:spcBef>
            </a:pPr>
            <a:r>
              <a:rPr lang="en-US" altLang="en-US" sz="2000"/>
              <a:t>Group related documents for browsing, group genes and proteins that have similar functionality, or group stocks with similar price fluctuations</a:t>
            </a:r>
            <a:endParaRPr lang="en-US" altLang="en-US" sz="2000" b="1"/>
          </a:p>
          <a:p>
            <a:pPr>
              <a:spcBef>
                <a:spcPct val="20000"/>
              </a:spcBef>
            </a:pPr>
            <a:endParaRPr lang="en-US" altLang="en-US" sz="2400" b="1"/>
          </a:p>
          <a:p>
            <a:pPr>
              <a:spcBef>
                <a:spcPct val="20000"/>
              </a:spcBef>
            </a:pPr>
            <a:r>
              <a:rPr lang="en-US" altLang="en-US" sz="2400" b="1"/>
              <a:t>Summarization</a:t>
            </a:r>
          </a:p>
          <a:p>
            <a:pPr lvl="1">
              <a:spcBef>
                <a:spcPct val="20000"/>
              </a:spcBef>
            </a:pPr>
            <a:r>
              <a:rPr lang="en-US" altLang="en-US" sz="2000"/>
              <a:t>Reduce the size of large data sets</a:t>
            </a:r>
          </a:p>
          <a:p>
            <a:endParaRPr lang="en-US" altLang="en-US" sz="2400"/>
          </a:p>
        </p:txBody>
      </p:sp>
      <p:graphicFrame>
        <p:nvGraphicFramePr>
          <p:cNvPr id="4100" name="Object 102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867400" y="1193800"/>
          <a:ext cx="48006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620181" imgH="3122232" progId="Word.Document.8">
                  <p:embed/>
                </p:oleObj>
              </mc:Choice>
              <mc:Fallback>
                <p:oleObj name="Document" r:id="rId2" imgW="5620181" imgH="3122232" progId="Word.Document.8">
                  <p:embed/>
                  <p:pic>
                    <p:nvPicPr>
                      <p:cNvPr id="410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193800"/>
                        <a:ext cx="4800600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1" name="Picture 1030" descr="precip_aust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64" t="12122" r="11072" b="18182"/>
          <a:stretch>
            <a:fillRect/>
          </a:stretch>
        </p:blipFill>
        <p:spPr>
          <a:xfrm>
            <a:off x="6477000" y="3886201"/>
            <a:ext cx="3657600" cy="2474913"/>
          </a:xfrm>
          <a:noFill/>
        </p:spPr>
      </p:pic>
      <p:sp>
        <p:nvSpPr>
          <p:cNvPr id="4102" name="Text Box 1032"/>
          <p:cNvSpPr txBox="1">
            <a:spLocks noChangeArrowheads="1"/>
          </p:cNvSpPr>
          <p:nvPr/>
        </p:nvSpPr>
        <p:spPr bwMode="auto">
          <a:xfrm>
            <a:off x="6248400" y="5654675"/>
            <a:ext cx="2209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Clustering precipitation in Australia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Notion of a Cluster can be Ambiguous</a:t>
            </a:r>
          </a:p>
        </p:txBody>
      </p:sp>
      <p:grpSp>
        <p:nvGrpSpPr>
          <p:cNvPr id="6147" name="Group 91"/>
          <p:cNvGrpSpPr>
            <a:grpSpLocks/>
          </p:cNvGrpSpPr>
          <p:nvPr/>
        </p:nvGrpSpPr>
        <p:grpSpPr bwMode="auto">
          <a:xfrm>
            <a:off x="2209801" y="1905001"/>
            <a:ext cx="3344863" cy="1509713"/>
            <a:chOff x="432" y="1200"/>
            <a:chExt cx="2107" cy="951"/>
          </a:xfrm>
        </p:grpSpPr>
        <p:grpSp>
          <p:nvGrpSpPr>
            <p:cNvPr id="6217" name="Group 3"/>
            <p:cNvGrpSpPr>
              <a:grpSpLocks noChangeAspect="1"/>
            </p:cNvGrpSpPr>
            <p:nvPr/>
          </p:nvGrpSpPr>
          <p:grpSpPr bwMode="auto">
            <a:xfrm>
              <a:off x="432" y="1200"/>
              <a:ext cx="2107" cy="516"/>
              <a:chOff x="2464" y="2296"/>
              <a:chExt cx="2634" cy="646"/>
            </a:xfrm>
          </p:grpSpPr>
          <p:sp>
            <p:nvSpPr>
              <p:cNvPr id="6219" name="Oval 4"/>
              <p:cNvSpPr>
                <a:spLocks noChangeAspect="1" noChangeArrowheads="1"/>
              </p:cNvSpPr>
              <p:nvPr/>
            </p:nvSpPr>
            <p:spPr bwMode="auto">
              <a:xfrm>
                <a:off x="45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0" name="Oval 5"/>
              <p:cNvSpPr>
                <a:spLocks noChangeAspect="1" noChangeArrowheads="1"/>
              </p:cNvSpPr>
              <p:nvPr/>
            </p:nvSpPr>
            <p:spPr bwMode="auto">
              <a:xfrm>
                <a:off x="4312" y="284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1" name="Oval 6"/>
              <p:cNvSpPr>
                <a:spLocks noChangeAspect="1" noChangeArrowheads="1"/>
              </p:cNvSpPr>
              <p:nvPr/>
            </p:nvSpPr>
            <p:spPr bwMode="auto">
              <a:xfrm>
                <a:off x="4466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2" name="Oval 7"/>
              <p:cNvSpPr>
                <a:spLocks noChangeAspect="1" noChangeArrowheads="1"/>
              </p:cNvSpPr>
              <p:nvPr/>
            </p:nvSpPr>
            <p:spPr bwMode="auto">
              <a:xfrm>
                <a:off x="4410" y="274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3" name="Oval 8"/>
              <p:cNvSpPr>
                <a:spLocks noChangeAspect="1" noChangeArrowheads="1"/>
              </p:cNvSpPr>
              <p:nvPr/>
            </p:nvSpPr>
            <p:spPr bwMode="auto">
              <a:xfrm>
                <a:off x="4326" y="247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4" name="Oval 9"/>
              <p:cNvSpPr>
                <a:spLocks noChangeAspect="1" noChangeArrowheads="1"/>
              </p:cNvSpPr>
              <p:nvPr/>
            </p:nvSpPr>
            <p:spPr bwMode="auto">
              <a:xfrm>
                <a:off x="4158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5" name="Oval 10"/>
              <p:cNvSpPr>
                <a:spLocks noChangeAspect="1" noChangeArrowheads="1"/>
              </p:cNvSpPr>
              <p:nvPr/>
            </p:nvSpPr>
            <p:spPr bwMode="auto">
              <a:xfrm>
                <a:off x="424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6" name="Oval 11"/>
              <p:cNvSpPr>
                <a:spLocks noChangeAspect="1" noChangeArrowheads="1"/>
              </p:cNvSpPr>
              <p:nvPr/>
            </p:nvSpPr>
            <p:spPr bwMode="auto">
              <a:xfrm>
                <a:off x="4788" y="271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7" name="Oval 12"/>
              <p:cNvSpPr>
                <a:spLocks noChangeAspect="1" noChangeArrowheads="1"/>
              </p:cNvSpPr>
              <p:nvPr/>
            </p:nvSpPr>
            <p:spPr bwMode="auto">
              <a:xfrm>
                <a:off x="5012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8" name="Oval 13"/>
              <p:cNvSpPr>
                <a:spLocks noChangeAspect="1" noChangeArrowheads="1"/>
              </p:cNvSpPr>
              <p:nvPr/>
            </p:nvSpPr>
            <p:spPr bwMode="auto">
              <a:xfrm>
                <a:off x="478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9" name="Oval 14"/>
              <p:cNvSpPr>
                <a:spLocks noChangeAspect="1" noChangeArrowheads="1"/>
              </p:cNvSpPr>
              <p:nvPr/>
            </p:nvSpPr>
            <p:spPr bwMode="auto">
              <a:xfrm flipV="1">
                <a:off x="2870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0" name="Oval 15"/>
              <p:cNvSpPr>
                <a:spLocks noChangeAspect="1" noChangeArrowheads="1"/>
              </p:cNvSpPr>
              <p:nvPr/>
            </p:nvSpPr>
            <p:spPr bwMode="auto">
              <a:xfrm flipV="1">
                <a:off x="2618" y="231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1" name="Oval 16"/>
              <p:cNvSpPr>
                <a:spLocks noChangeAspect="1" noChangeArrowheads="1"/>
              </p:cNvSpPr>
              <p:nvPr/>
            </p:nvSpPr>
            <p:spPr bwMode="auto">
              <a:xfrm flipV="1">
                <a:off x="277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2" name="Oval 17"/>
              <p:cNvSpPr>
                <a:spLocks noChangeAspect="1" noChangeArrowheads="1"/>
              </p:cNvSpPr>
              <p:nvPr/>
            </p:nvSpPr>
            <p:spPr bwMode="auto">
              <a:xfrm flipV="1">
                <a:off x="2716" y="240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3" name="Oval 18"/>
              <p:cNvSpPr>
                <a:spLocks noChangeAspect="1" noChangeArrowheads="1"/>
              </p:cNvSpPr>
              <p:nvPr/>
            </p:nvSpPr>
            <p:spPr bwMode="auto">
              <a:xfrm flipV="1">
                <a:off x="2632" y="267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4" name="Oval 19"/>
              <p:cNvSpPr>
                <a:spLocks noChangeAspect="1" noChangeArrowheads="1"/>
              </p:cNvSpPr>
              <p:nvPr/>
            </p:nvSpPr>
            <p:spPr bwMode="auto">
              <a:xfrm flipV="1">
                <a:off x="24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5" name="Oval 20"/>
              <p:cNvSpPr>
                <a:spLocks noChangeAspect="1" noChangeArrowheads="1"/>
              </p:cNvSpPr>
              <p:nvPr/>
            </p:nvSpPr>
            <p:spPr bwMode="auto">
              <a:xfrm flipV="1">
                <a:off x="2548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6" name="Oval 21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43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7" name="Oval 22"/>
              <p:cNvSpPr>
                <a:spLocks noChangeAspect="1" noChangeArrowheads="1"/>
              </p:cNvSpPr>
              <p:nvPr/>
            </p:nvSpPr>
            <p:spPr bwMode="auto">
              <a:xfrm flipV="1">
                <a:off x="331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8" name="Oval 23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218" name="Rectangle 87"/>
            <p:cNvSpPr>
              <a:spLocks noChangeArrowheads="1"/>
            </p:cNvSpPr>
            <p:nvPr/>
          </p:nvSpPr>
          <p:spPr bwMode="auto">
            <a:xfrm>
              <a:off x="624" y="1920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How many clusters?</a:t>
              </a:r>
              <a:endParaRPr lang="en-US" altLang="en-US" sz="1800" b="0"/>
            </a:p>
          </p:txBody>
        </p:sp>
      </p:grpSp>
      <p:grpSp>
        <p:nvGrpSpPr>
          <p:cNvPr id="4" name="Group 94"/>
          <p:cNvGrpSpPr>
            <a:grpSpLocks/>
          </p:cNvGrpSpPr>
          <p:nvPr/>
        </p:nvGrpSpPr>
        <p:grpSpPr bwMode="auto">
          <a:xfrm>
            <a:off x="6484938" y="4114801"/>
            <a:ext cx="3344862" cy="1401763"/>
            <a:chOff x="3125" y="2592"/>
            <a:chExt cx="2107" cy="883"/>
          </a:xfrm>
        </p:grpSpPr>
        <p:grpSp>
          <p:nvGrpSpPr>
            <p:cNvPr id="6195" name="Group 66"/>
            <p:cNvGrpSpPr>
              <a:grpSpLocks/>
            </p:cNvGrpSpPr>
            <p:nvPr/>
          </p:nvGrpSpPr>
          <p:grpSpPr bwMode="auto">
            <a:xfrm>
              <a:off x="3125" y="2592"/>
              <a:ext cx="2107" cy="518"/>
              <a:chOff x="3125" y="2592"/>
              <a:chExt cx="2107" cy="518"/>
            </a:xfrm>
          </p:grpSpPr>
          <p:sp>
            <p:nvSpPr>
              <p:cNvPr id="6197" name="AutoShape 67"/>
              <p:cNvSpPr>
                <a:spLocks noChangeAspect="1" noChangeArrowheads="1"/>
              </p:cNvSpPr>
              <p:nvPr/>
            </p:nvSpPr>
            <p:spPr bwMode="auto">
              <a:xfrm>
                <a:off x="4805" y="294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8" name="AutoShape 68"/>
              <p:cNvSpPr>
                <a:spLocks noChangeAspect="1" noChangeArrowheads="1"/>
              </p:cNvSpPr>
              <p:nvPr/>
            </p:nvSpPr>
            <p:spPr bwMode="auto">
              <a:xfrm>
                <a:off x="4603" y="303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9" name="AutoShape 69"/>
              <p:cNvSpPr>
                <a:spLocks noChangeAspect="1" noChangeArrowheads="1"/>
              </p:cNvSpPr>
              <p:nvPr/>
            </p:nvSpPr>
            <p:spPr bwMode="auto">
              <a:xfrm>
                <a:off x="4726" y="3041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0" name="AutoShape 70"/>
              <p:cNvSpPr>
                <a:spLocks noChangeAspect="1" noChangeArrowheads="1"/>
              </p:cNvSpPr>
              <p:nvPr/>
            </p:nvSpPr>
            <p:spPr bwMode="auto">
              <a:xfrm>
                <a:off x="4682" y="2951"/>
                <a:ext cx="68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37095" name="AutoShape 71"/>
              <p:cNvSpPr>
                <a:spLocks noChangeAspect="1" noChangeArrowheads="1"/>
              </p:cNvSpPr>
              <p:nvPr/>
            </p:nvSpPr>
            <p:spPr bwMode="auto">
              <a:xfrm>
                <a:off x="4614" y="2738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96" name="AutoShape 72"/>
              <p:cNvSpPr>
                <a:spLocks noChangeAspect="1" noChangeArrowheads="1"/>
              </p:cNvSpPr>
              <p:nvPr/>
            </p:nvSpPr>
            <p:spPr bwMode="auto">
              <a:xfrm>
                <a:off x="4480" y="2693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97" name="AutoShape 73"/>
              <p:cNvSpPr>
                <a:spLocks noChangeAspect="1" noChangeArrowheads="1"/>
              </p:cNvSpPr>
              <p:nvPr/>
            </p:nvSpPr>
            <p:spPr bwMode="auto">
              <a:xfrm>
                <a:off x="4547" y="2592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204" name="AutoShape 74"/>
              <p:cNvSpPr>
                <a:spLocks noChangeAspect="1" noChangeArrowheads="1"/>
              </p:cNvSpPr>
              <p:nvPr/>
            </p:nvSpPr>
            <p:spPr bwMode="auto">
              <a:xfrm>
                <a:off x="4984" y="2929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5" name="AutoShape 75"/>
              <p:cNvSpPr>
                <a:spLocks noChangeAspect="1" noChangeArrowheads="1"/>
              </p:cNvSpPr>
              <p:nvPr/>
            </p:nvSpPr>
            <p:spPr bwMode="auto">
              <a:xfrm>
                <a:off x="5163" y="285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6" name="AutoShape 76"/>
              <p:cNvSpPr>
                <a:spLocks noChangeAspect="1" noChangeArrowheads="1"/>
              </p:cNvSpPr>
              <p:nvPr/>
            </p:nvSpPr>
            <p:spPr bwMode="auto">
              <a:xfrm>
                <a:off x="4984" y="2783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7" name="AutoShape 77"/>
              <p:cNvSpPr>
                <a:spLocks noChangeAspect="1" noChangeArrowheads="1"/>
              </p:cNvSpPr>
              <p:nvPr/>
            </p:nvSpPr>
            <p:spPr bwMode="auto">
              <a:xfrm flipV="1">
                <a:off x="3450" y="269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8" name="AutoShape 78"/>
              <p:cNvSpPr>
                <a:spLocks noChangeAspect="1" noChangeArrowheads="1"/>
              </p:cNvSpPr>
              <p:nvPr/>
            </p:nvSpPr>
            <p:spPr bwMode="auto">
              <a:xfrm flipV="1">
                <a:off x="3248" y="260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9" name="AutoShape 79"/>
              <p:cNvSpPr>
                <a:spLocks noChangeAspect="1" noChangeArrowheads="1"/>
              </p:cNvSpPr>
              <p:nvPr/>
            </p:nvSpPr>
            <p:spPr bwMode="auto">
              <a:xfrm flipV="1">
                <a:off x="3371" y="2592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0" name="AutoShape 80"/>
              <p:cNvSpPr>
                <a:spLocks noChangeAspect="1" noChangeArrowheads="1"/>
              </p:cNvSpPr>
              <p:nvPr/>
            </p:nvSpPr>
            <p:spPr bwMode="auto">
              <a:xfrm flipV="1">
                <a:off x="3327" y="2682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1" name="AutoShape 81"/>
              <p:cNvSpPr>
                <a:spLocks noChangeAspect="1" noChangeArrowheads="1"/>
              </p:cNvSpPr>
              <p:nvPr/>
            </p:nvSpPr>
            <p:spPr bwMode="auto">
              <a:xfrm flipV="1">
                <a:off x="3259" y="2895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2" name="AutoShape 82"/>
              <p:cNvSpPr>
                <a:spLocks noChangeAspect="1" noChangeArrowheads="1"/>
              </p:cNvSpPr>
              <p:nvPr/>
            </p:nvSpPr>
            <p:spPr bwMode="auto">
              <a:xfrm flipV="1">
                <a:off x="3125" y="2940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3" name="AutoShape 83"/>
              <p:cNvSpPr>
                <a:spLocks noChangeAspect="1" noChangeArrowheads="1"/>
              </p:cNvSpPr>
              <p:nvPr/>
            </p:nvSpPr>
            <p:spPr bwMode="auto">
              <a:xfrm flipV="1">
                <a:off x="3192" y="3041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4" name="AutoShape 8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704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5" name="AutoShape 85"/>
              <p:cNvSpPr>
                <a:spLocks noChangeAspect="1" noChangeArrowheads="1"/>
              </p:cNvSpPr>
              <p:nvPr/>
            </p:nvSpPr>
            <p:spPr bwMode="auto">
              <a:xfrm flipV="1">
                <a:off x="3808" y="278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6" name="AutoShape 86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85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96" name="Rectangle 88"/>
            <p:cNvSpPr>
              <a:spLocks noChangeArrowheads="1"/>
            </p:cNvSpPr>
            <p:nvPr/>
          </p:nvSpPr>
          <p:spPr bwMode="auto">
            <a:xfrm>
              <a:off x="3413" y="3244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Four Clusters</a:t>
              </a:r>
              <a:r>
                <a:rPr lang="en-US" altLang="en-US" sz="1800" b="0"/>
                <a:t> </a:t>
              </a:r>
            </a:p>
          </p:txBody>
        </p:sp>
      </p:grpSp>
      <p:grpSp>
        <p:nvGrpSpPr>
          <p:cNvPr id="6" name="Group 93"/>
          <p:cNvGrpSpPr>
            <a:grpSpLocks/>
          </p:cNvGrpSpPr>
          <p:nvPr/>
        </p:nvGrpSpPr>
        <p:grpSpPr bwMode="auto">
          <a:xfrm>
            <a:off x="2209801" y="4114801"/>
            <a:ext cx="3344863" cy="1401763"/>
            <a:chOff x="432" y="2592"/>
            <a:chExt cx="2107" cy="883"/>
          </a:xfrm>
        </p:grpSpPr>
        <p:grpSp>
          <p:nvGrpSpPr>
            <p:cNvPr id="6173" name="Group 45"/>
            <p:cNvGrpSpPr>
              <a:grpSpLocks/>
            </p:cNvGrpSpPr>
            <p:nvPr/>
          </p:nvGrpSpPr>
          <p:grpSpPr bwMode="auto">
            <a:xfrm>
              <a:off x="432" y="2592"/>
              <a:ext cx="2107" cy="516"/>
              <a:chOff x="432" y="2592"/>
              <a:chExt cx="2107" cy="516"/>
            </a:xfrm>
          </p:grpSpPr>
          <p:sp>
            <p:nvSpPr>
              <p:cNvPr id="6175" name="AutoShape 46"/>
              <p:cNvSpPr>
                <a:spLocks noChangeAspect="1" noChangeArrowheads="1"/>
              </p:cNvSpPr>
              <p:nvPr/>
            </p:nvSpPr>
            <p:spPr bwMode="auto">
              <a:xfrm>
                <a:off x="2112" y="2939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6" name="AutoShape 47"/>
              <p:cNvSpPr>
                <a:spLocks noChangeAspect="1" noChangeArrowheads="1"/>
              </p:cNvSpPr>
              <p:nvPr/>
            </p:nvSpPr>
            <p:spPr bwMode="auto">
              <a:xfrm>
                <a:off x="1910" y="302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7" name="AutoShape 48"/>
              <p:cNvSpPr>
                <a:spLocks noChangeAspect="1" noChangeArrowheads="1"/>
              </p:cNvSpPr>
              <p:nvPr/>
            </p:nvSpPr>
            <p:spPr bwMode="auto">
              <a:xfrm>
                <a:off x="2033" y="303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8" name="AutoShape 49"/>
              <p:cNvSpPr>
                <a:spLocks noChangeAspect="1" noChangeArrowheads="1"/>
              </p:cNvSpPr>
              <p:nvPr/>
            </p:nvSpPr>
            <p:spPr bwMode="auto">
              <a:xfrm>
                <a:off x="1989" y="2950"/>
                <a:ext cx="68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9" name="AutoShape 50"/>
              <p:cNvSpPr>
                <a:spLocks noChangeAspect="1" noChangeArrowheads="1"/>
              </p:cNvSpPr>
              <p:nvPr/>
            </p:nvSpPr>
            <p:spPr bwMode="auto">
              <a:xfrm>
                <a:off x="1921" y="273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0" name="AutoShape 51"/>
              <p:cNvSpPr>
                <a:spLocks noChangeAspect="1" noChangeArrowheads="1"/>
              </p:cNvSpPr>
              <p:nvPr/>
            </p:nvSpPr>
            <p:spPr bwMode="auto">
              <a:xfrm>
                <a:off x="1787" y="2693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1" name="AutoShape 52"/>
              <p:cNvSpPr>
                <a:spLocks noChangeAspect="1" noChangeArrowheads="1"/>
              </p:cNvSpPr>
              <p:nvPr/>
            </p:nvSpPr>
            <p:spPr bwMode="auto">
              <a:xfrm>
                <a:off x="1854" y="259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2" name="AutoShape 53"/>
              <p:cNvSpPr>
                <a:spLocks noChangeAspect="1" noChangeArrowheads="1"/>
              </p:cNvSpPr>
              <p:nvPr/>
            </p:nvSpPr>
            <p:spPr bwMode="auto">
              <a:xfrm>
                <a:off x="2291" y="292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3" name="AutoShape 54"/>
              <p:cNvSpPr>
                <a:spLocks noChangeAspect="1" noChangeArrowheads="1"/>
              </p:cNvSpPr>
              <p:nvPr/>
            </p:nvSpPr>
            <p:spPr bwMode="auto">
              <a:xfrm>
                <a:off x="2470" y="28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4" name="AutoShape 55"/>
              <p:cNvSpPr>
                <a:spLocks noChangeAspect="1" noChangeArrowheads="1"/>
              </p:cNvSpPr>
              <p:nvPr/>
            </p:nvSpPr>
            <p:spPr bwMode="auto">
              <a:xfrm>
                <a:off x="2291" y="278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5" name="Rectangle 56"/>
              <p:cNvSpPr>
                <a:spLocks noChangeAspect="1" noChangeArrowheads="1"/>
              </p:cNvSpPr>
              <p:nvPr/>
            </p:nvSpPr>
            <p:spPr bwMode="auto">
              <a:xfrm flipV="1">
                <a:off x="757" y="2693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6" name="Rectangle 57"/>
              <p:cNvSpPr>
                <a:spLocks noChangeAspect="1" noChangeArrowheads="1"/>
              </p:cNvSpPr>
              <p:nvPr/>
            </p:nvSpPr>
            <p:spPr bwMode="auto">
              <a:xfrm flipV="1">
                <a:off x="555" y="2603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7" name="Rectangle 58"/>
              <p:cNvSpPr>
                <a:spLocks noChangeAspect="1" noChangeArrowheads="1"/>
              </p:cNvSpPr>
              <p:nvPr/>
            </p:nvSpPr>
            <p:spPr bwMode="auto">
              <a:xfrm flipV="1">
                <a:off x="678" y="259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8" name="Rectangle 59"/>
              <p:cNvSpPr>
                <a:spLocks noChangeAspect="1" noChangeArrowheads="1"/>
              </p:cNvSpPr>
              <p:nvPr/>
            </p:nvSpPr>
            <p:spPr bwMode="auto">
              <a:xfrm flipV="1">
                <a:off x="634" y="2681"/>
                <a:ext cx="68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9" name="Rectangle 60"/>
              <p:cNvSpPr>
                <a:spLocks noChangeAspect="1" noChangeArrowheads="1"/>
              </p:cNvSpPr>
              <p:nvPr/>
            </p:nvSpPr>
            <p:spPr bwMode="auto">
              <a:xfrm flipV="1">
                <a:off x="566" y="289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0" name="Rectangle 61"/>
              <p:cNvSpPr>
                <a:spLocks noChangeAspect="1" noChangeArrowheads="1"/>
              </p:cNvSpPr>
              <p:nvPr/>
            </p:nvSpPr>
            <p:spPr bwMode="auto">
              <a:xfrm flipV="1">
                <a:off x="432" y="2939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1" name="Rectangle 62"/>
              <p:cNvSpPr>
                <a:spLocks noChangeAspect="1" noChangeArrowheads="1"/>
              </p:cNvSpPr>
              <p:nvPr/>
            </p:nvSpPr>
            <p:spPr bwMode="auto">
              <a:xfrm flipV="1">
                <a:off x="499" y="303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2" name="Rectangle 63"/>
              <p:cNvSpPr>
                <a:spLocks noChangeAspect="1" noChangeArrowheads="1"/>
              </p:cNvSpPr>
              <p:nvPr/>
            </p:nvSpPr>
            <p:spPr bwMode="auto">
              <a:xfrm flipV="1">
                <a:off x="936" y="270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3" name="Rectangle 64"/>
              <p:cNvSpPr>
                <a:spLocks noChangeAspect="1" noChangeArrowheads="1"/>
              </p:cNvSpPr>
              <p:nvPr/>
            </p:nvSpPr>
            <p:spPr bwMode="auto">
              <a:xfrm flipV="1">
                <a:off x="1115" y="278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4" name="Rectangle 65"/>
              <p:cNvSpPr>
                <a:spLocks noChangeAspect="1" noChangeArrowheads="1"/>
              </p:cNvSpPr>
              <p:nvPr/>
            </p:nvSpPr>
            <p:spPr bwMode="auto">
              <a:xfrm flipV="1">
                <a:off x="936" y="284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74" name="Rectangle 89"/>
            <p:cNvSpPr>
              <a:spLocks noChangeArrowheads="1"/>
            </p:cNvSpPr>
            <p:nvPr/>
          </p:nvSpPr>
          <p:spPr bwMode="auto">
            <a:xfrm>
              <a:off x="624" y="3244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Two Clusters</a:t>
              </a:r>
              <a:r>
                <a:rPr lang="en-US" altLang="en-US" sz="1800" b="0"/>
                <a:t> </a:t>
              </a:r>
            </a:p>
          </p:txBody>
        </p:sp>
      </p:grpSp>
      <p:grpSp>
        <p:nvGrpSpPr>
          <p:cNvPr id="8" name="Group 92"/>
          <p:cNvGrpSpPr>
            <a:grpSpLocks/>
          </p:cNvGrpSpPr>
          <p:nvPr/>
        </p:nvGrpSpPr>
        <p:grpSpPr bwMode="auto">
          <a:xfrm>
            <a:off x="6484938" y="1905001"/>
            <a:ext cx="3344862" cy="1509713"/>
            <a:chOff x="3125" y="1200"/>
            <a:chExt cx="2107" cy="951"/>
          </a:xfrm>
        </p:grpSpPr>
        <p:grpSp>
          <p:nvGrpSpPr>
            <p:cNvPr id="6151" name="Group 24"/>
            <p:cNvGrpSpPr>
              <a:grpSpLocks/>
            </p:cNvGrpSpPr>
            <p:nvPr/>
          </p:nvGrpSpPr>
          <p:grpSpPr bwMode="auto">
            <a:xfrm>
              <a:off x="3125" y="1200"/>
              <a:ext cx="2107" cy="518"/>
              <a:chOff x="3125" y="1200"/>
              <a:chExt cx="2107" cy="518"/>
            </a:xfrm>
          </p:grpSpPr>
          <p:sp>
            <p:nvSpPr>
              <p:cNvPr id="6153" name="AutoShape 25"/>
              <p:cNvSpPr>
                <a:spLocks noChangeAspect="1" noChangeArrowheads="1"/>
              </p:cNvSpPr>
              <p:nvPr/>
            </p:nvSpPr>
            <p:spPr bwMode="auto">
              <a:xfrm>
                <a:off x="4805" y="154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4" name="AutoShape 26"/>
              <p:cNvSpPr>
                <a:spLocks noChangeAspect="1" noChangeArrowheads="1"/>
              </p:cNvSpPr>
              <p:nvPr/>
            </p:nvSpPr>
            <p:spPr bwMode="auto">
              <a:xfrm>
                <a:off x="4603" y="163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5" name="AutoShape 27"/>
              <p:cNvSpPr>
                <a:spLocks noChangeAspect="1" noChangeArrowheads="1"/>
              </p:cNvSpPr>
              <p:nvPr/>
            </p:nvSpPr>
            <p:spPr bwMode="auto">
              <a:xfrm>
                <a:off x="4726" y="1649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6" name="AutoShape 28"/>
              <p:cNvSpPr>
                <a:spLocks noChangeAspect="1" noChangeArrowheads="1"/>
              </p:cNvSpPr>
              <p:nvPr/>
            </p:nvSpPr>
            <p:spPr bwMode="auto">
              <a:xfrm>
                <a:off x="4682" y="1559"/>
                <a:ext cx="68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37053" name="AutoShape 29"/>
              <p:cNvSpPr>
                <a:spLocks noChangeAspect="1" noChangeArrowheads="1"/>
              </p:cNvSpPr>
              <p:nvPr/>
            </p:nvSpPr>
            <p:spPr bwMode="auto">
              <a:xfrm>
                <a:off x="4614" y="1346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54" name="AutoShape 30"/>
              <p:cNvSpPr>
                <a:spLocks noChangeAspect="1" noChangeArrowheads="1"/>
              </p:cNvSpPr>
              <p:nvPr/>
            </p:nvSpPr>
            <p:spPr bwMode="auto">
              <a:xfrm>
                <a:off x="4480" y="1301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55" name="AutoShape 31"/>
              <p:cNvSpPr>
                <a:spLocks noChangeAspect="1" noChangeArrowheads="1"/>
              </p:cNvSpPr>
              <p:nvPr/>
            </p:nvSpPr>
            <p:spPr bwMode="auto">
              <a:xfrm>
                <a:off x="4547" y="1200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160" name="Rectangle 32"/>
              <p:cNvSpPr>
                <a:spLocks noChangeAspect="1" noChangeArrowheads="1"/>
              </p:cNvSpPr>
              <p:nvPr/>
            </p:nvSpPr>
            <p:spPr bwMode="auto">
              <a:xfrm>
                <a:off x="4984" y="1537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1" name="Rectangle 33"/>
              <p:cNvSpPr>
                <a:spLocks noChangeAspect="1" noChangeArrowheads="1"/>
              </p:cNvSpPr>
              <p:nvPr/>
            </p:nvSpPr>
            <p:spPr bwMode="auto">
              <a:xfrm>
                <a:off x="5163" y="1458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2" name="Rectangle 34"/>
              <p:cNvSpPr>
                <a:spLocks noChangeAspect="1" noChangeArrowheads="1"/>
              </p:cNvSpPr>
              <p:nvPr/>
            </p:nvSpPr>
            <p:spPr bwMode="auto">
              <a:xfrm>
                <a:off x="4984" y="1391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3" name="AutoShape 35"/>
              <p:cNvSpPr>
                <a:spLocks noChangeAspect="1" noChangeArrowheads="1"/>
              </p:cNvSpPr>
              <p:nvPr/>
            </p:nvSpPr>
            <p:spPr bwMode="auto">
              <a:xfrm flipV="1">
                <a:off x="3450" y="130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4" name="AutoShape 36"/>
              <p:cNvSpPr>
                <a:spLocks noChangeAspect="1" noChangeArrowheads="1"/>
              </p:cNvSpPr>
              <p:nvPr/>
            </p:nvSpPr>
            <p:spPr bwMode="auto">
              <a:xfrm flipV="1">
                <a:off x="3248" y="121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5" name="AutoShape 37"/>
              <p:cNvSpPr>
                <a:spLocks noChangeAspect="1" noChangeArrowheads="1"/>
              </p:cNvSpPr>
              <p:nvPr/>
            </p:nvSpPr>
            <p:spPr bwMode="auto">
              <a:xfrm flipV="1">
                <a:off x="3371" y="120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6" name="AutoShape 38"/>
              <p:cNvSpPr>
                <a:spLocks noChangeAspect="1" noChangeArrowheads="1"/>
              </p:cNvSpPr>
              <p:nvPr/>
            </p:nvSpPr>
            <p:spPr bwMode="auto">
              <a:xfrm flipV="1">
                <a:off x="3327" y="1290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7" name="AutoShape 39"/>
              <p:cNvSpPr>
                <a:spLocks noChangeAspect="1" noChangeArrowheads="1"/>
              </p:cNvSpPr>
              <p:nvPr/>
            </p:nvSpPr>
            <p:spPr bwMode="auto">
              <a:xfrm flipV="1">
                <a:off x="3259" y="1503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8" name="AutoShape 40"/>
              <p:cNvSpPr>
                <a:spLocks noChangeAspect="1" noChangeArrowheads="1"/>
              </p:cNvSpPr>
              <p:nvPr/>
            </p:nvSpPr>
            <p:spPr bwMode="auto">
              <a:xfrm flipV="1">
                <a:off x="3125" y="154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9" name="AutoShape 41"/>
              <p:cNvSpPr>
                <a:spLocks noChangeAspect="1" noChangeArrowheads="1"/>
              </p:cNvSpPr>
              <p:nvPr/>
            </p:nvSpPr>
            <p:spPr bwMode="auto">
              <a:xfrm flipV="1">
                <a:off x="3192" y="16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0" name="Oval 42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312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1" name="Oval 43"/>
              <p:cNvSpPr>
                <a:spLocks noChangeAspect="1" noChangeArrowheads="1"/>
              </p:cNvSpPr>
              <p:nvPr/>
            </p:nvSpPr>
            <p:spPr bwMode="auto">
              <a:xfrm flipV="1">
                <a:off x="3808" y="1391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2" name="Oval 4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458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52" name="Rectangle 90"/>
            <p:cNvSpPr>
              <a:spLocks noChangeArrowheads="1"/>
            </p:cNvSpPr>
            <p:nvPr/>
          </p:nvSpPr>
          <p:spPr bwMode="auto">
            <a:xfrm>
              <a:off x="3413" y="1920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Six Clusters</a:t>
              </a:r>
              <a:r>
                <a:rPr lang="en-US" altLang="en-US" sz="1600" b="0">
                  <a:latin typeface="Times New Roman" pitchFamily="18" charset="0"/>
                </a:rPr>
                <a:t>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Types of Clusterings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3763" y="1143000"/>
            <a:ext cx="8001000" cy="5106988"/>
          </a:xfrm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altLang="en-US" dirty="0"/>
              <a:t>A </a:t>
            </a:r>
            <a:r>
              <a:rPr lang="en-US" altLang="en-US" dirty="0">
                <a:solidFill>
                  <a:srgbClr val="FF0000"/>
                </a:solidFill>
              </a:rPr>
              <a:t>clustering</a:t>
            </a:r>
            <a:r>
              <a:rPr lang="en-US" altLang="en-US" dirty="0"/>
              <a:t> is a set of clusters</a:t>
            </a:r>
          </a:p>
          <a:p>
            <a:pPr marL="342900" indent="-342900">
              <a:spcBef>
                <a:spcPct val="20000"/>
              </a:spcBef>
            </a:pPr>
            <a:endParaRPr lang="en-US" altLang="en-US" sz="1200" dirty="0"/>
          </a:p>
          <a:p>
            <a:pPr marL="342900" indent="-342900">
              <a:spcBef>
                <a:spcPct val="20000"/>
              </a:spcBef>
            </a:pPr>
            <a:r>
              <a:rPr lang="en-US" altLang="en-US" dirty="0"/>
              <a:t>Important distinction between </a:t>
            </a:r>
            <a:r>
              <a:rPr lang="en-US" altLang="en-US" dirty="0">
                <a:solidFill>
                  <a:srgbClr val="FF0000"/>
                </a:solidFill>
              </a:rPr>
              <a:t>hierarchical</a:t>
            </a:r>
            <a:r>
              <a:rPr lang="en-US" altLang="en-US" dirty="0"/>
              <a:t> and </a:t>
            </a:r>
            <a:r>
              <a:rPr lang="en-US" altLang="en-US" dirty="0" err="1">
                <a:solidFill>
                  <a:srgbClr val="FF0000"/>
                </a:solidFill>
              </a:rPr>
              <a:t>partitional</a:t>
            </a:r>
            <a:r>
              <a:rPr lang="en-US" altLang="en-US" dirty="0">
                <a:solidFill>
                  <a:srgbClr val="FFCC00"/>
                </a:solidFill>
              </a:rPr>
              <a:t> </a:t>
            </a:r>
            <a:r>
              <a:rPr lang="en-US" altLang="en-US" dirty="0"/>
              <a:t>sets of clusters </a:t>
            </a:r>
            <a:endParaRPr lang="en-US" altLang="en-US" dirty="0">
              <a:solidFill>
                <a:srgbClr val="FFCC00"/>
              </a:solidFill>
            </a:endParaRPr>
          </a:p>
          <a:p>
            <a:pPr marL="342900" indent="-342900">
              <a:spcBef>
                <a:spcPct val="20000"/>
              </a:spcBef>
            </a:pPr>
            <a:endParaRPr lang="en-US" altLang="en-US" sz="1200" dirty="0">
              <a:solidFill>
                <a:srgbClr val="FFCC00"/>
              </a:solidFill>
            </a:endParaRPr>
          </a:p>
          <a:p>
            <a:pPr marL="850900" lvl="1">
              <a:spcBef>
                <a:spcPct val="20000"/>
              </a:spcBef>
            </a:pPr>
            <a:r>
              <a:rPr lang="en-US" altLang="en-US" dirty="0" err="1"/>
              <a:t>Partitional</a:t>
            </a:r>
            <a:r>
              <a:rPr lang="en-US" altLang="en-US" dirty="0"/>
              <a:t> Clustering</a:t>
            </a:r>
          </a:p>
          <a:p>
            <a:pPr marL="857250" lvl="2" indent="-285750">
              <a:spcBef>
                <a:spcPct val="20000"/>
              </a:spcBef>
            </a:pPr>
            <a:r>
              <a:rPr lang="en-US" altLang="en-US" sz="1600" dirty="0"/>
              <a:t>A division of data objects into non-overlapping subsets (clusters)</a:t>
            </a:r>
          </a:p>
          <a:p>
            <a:pPr marL="857250" lvl="2" indent="-285750">
              <a:spcBef>
                <a:spcPct val="20000"/>
              </a:spcBef>
            </a:pPr>
            <a:endParaRPr lang="en-US" altLang="en-US" sz="600" dirty="0">
              <a:solidFill>
                <a:srgbClr val="FFCC00"/>
              </a:solidFill>
            </a:endParaRPr>
          </a:p>
          <a:p>
            <a:pPr marL="850900" lvl="1">
              <a:spcBef>
                <a:spcPct val="20000"/>
              </a:spcBef>
            </a:pPr>
            <a:r>
              <a:rPr lang="en-US" altLang="en-US" dirty="0"/>
              <a:t>Hierarchical clustering</a:t>
            </a:r>
          </a:p>
          <a:p>
            <a:pPr marL="857250" lvl="2" indent="-285750">
              <a:spcBef>
                <a:spcPct val="20000"/>
              </a:spcBef>
            </a:pPr>
            <a:r>
              <a:rPr lang="en-US" altLang="en-US" sz="1600" dirty="0"/>
              <a:t>A set of nested clusters organized as a hierarchical tree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Partitional Clustering</a:t>
            </a:r>
          </a:p>
        </p:txBody>
      </p:sp>
      <p:sp>
        <p:nvSpPr>
          <p:cNvPr id="8195" name="Freeform 4"/>
          <p:cNvSpPr>
            <a:spLocks/>
          </p:cNvSpPr>
          <p:nvPr/>
        </p:nvSpPr>
        <p:spPr bwMode="auto">
          <a:xfrm>
            <a:off x="2778125" y="2517775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0"/>
                </a:moveTo>
                <a:lnTo>
                  <a:pt x="55" y="49"/>
                </a:lnTo>
                <a:lnTo>
                  <a:pt x="43" y="61"/>
                </a:lnTo>
                <a:lnTo>
                  <a:pt x="24" y="64"/>
                </a:lnTo>
                <a:lnTo>
                  <a:pt x="9" y="55"/>
                </a:lnTo>
                <a:lnTo>
                  <a:pt x="0" y="39"/>
                </a:lnTo>
                <a:lnTo>
                  <a:pt x="0" y="24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6" name="Freeform 5"/>
          <p:cNvSpPr>
            <a:spLocks/>
          </p:cNvSpPr>
          <p:nvPr/>
        </p:nvSpPr>
        <p:spPr bwMode="auto">
          <a:xfrm>
            <a:off x="2778125" y="2716214"/>
            <a:ext cx="96838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2147483647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9"/>
                </a:lnTo>
                <a:lnTo>
                  <a:pt x="43" y="62"/>
                </a:lnTo>
                <a:lnTo>
                  <a:pt x="24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6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7" name="Freeform 6"/>
          <p:cNvSpPr>
            <a:spLocks/>
          </p:cNvSpPr>
          <p:nvPr/>
        </p:nvSpPr>
        <p:spPr bwMode="auto">
          <a:xfrm>
            <a:off x="3475039" y="4711701"/>
            <a:ext cx="96837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0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6"/>
                </a:lnTo>
                <a:lnTo>
                  <a:pt x="43" y="59"/>
                </a:lnTo>
                <a:lnTo>
                  <a:pt x="24" y="62"/>
                </a:lnTo>
                <a:lnTo>
                  <a:pt x="9" y="53"/>
                </a:lnTo>
                <a:lnTo>
                  <a:pt x="0" y="40"/>
                </a:lnTo>
                <a:lnTo>
                  <a:pt x="0" y="22"/>
                </a:lnTo>
                <a:lnTo>
                  <a:pt x="9" y="7"/>
                </a:lnTo>
                <a:lnTo>
                  <a:pt x="24" y="0"/>
                </a:lnTo>
                <a:lnTo>
                  <a:pt x="43" y="0"/>
                </a:lnTo>
                <a:lnTo>
                  <a:pt x="55" y="13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8" name="Freeform 7"/>
          <p:cNvSpPr>
            <a:spLocks/>
          </p:cNvSpPr>
          <p:nvPr/>
        </p:nvSpPr>
        <p:spPr bwMode="auto">
          <a:xfrm>
            <a:off x="3074989" y="2619375"/>
            <a:ext cx="96837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1"/>
                </a:moveTo>
                <a:lnTo>
                  <a:pt x="58" y="46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9" name="Freeform 8"/>
          <p:cNvSpPr>
            <a:spLocks/>
          </p:cNvSpPr>
          <p:nvPr/>
        </p:nvSpPr>
        <p:spPr bwMode="auto">
          <a:xfrm>
            <a:off x="3475039" y="3914775"/>
            <a:ext cx="96837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5" y="46"/>
                </a:lnTo>
                <a:lnTo>
                  <a:pt x="43" y="58"/>
                </a:lnTo>
                <a:lnTo>
                  <a:pt x="24" y="61"/>
                </a:lnTo>
                <a:lnTo>
                  <a:pt x="9" y="55"/>
                </a:lnTo>
                <a:lnTo>
                  <a:pt x="0" y="39"/>
                </a:lnTo>
                <a:lnTo>
                  <a:pt x="0" y="21"/>
                </a:lnTo>
                <a:lnTo>
                  <a:pt x="9" y="6"/>
                </a:lnTo>
                <a:lnTo>
                  <a:pt x="24" y="0"/>
                </a:lnTo>
                <a:lnTo>
                  <a:pt x="43" y="3"/>
                </a:lnTo>
                <a:lnTo>
                  <a:pt x="55" y="12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0" name="Freeform 9"/>
          <p:cNvSpPr>
            <a:spLocks/>
          </p:cNvSpPr>
          <p:nvPr/>
        </p:nvSpPr>
        <p:spPr bwMode="auto">
          <a:xfrm>
            <a:off x="3644901" y="1825626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8"/>
                </a:lnTo>
                <a:lnTo>
                  <a:pt x="25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6" y="12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1" name="Freeform 10"/>
          <p:cNvSpPr>
            <a:spLocks/>
          </p:cNvSpPr>
          <p:nvPr/>
        </p:nvSpPr>
        <p:spPr bwMode="auto">
          <a:xfrm>
            <a:off x="3875089" y="2020889"/>
            <a:ext cx="96837" cy="96837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1"/>
                </a:moveTo>
                <a:lnTo>
                  <a:pt x="55" y="49"/>
                </a:lnTo>
                <a:lnTo>
                  <a:pt x="43" y="58"/>
                </a:lnTo>
                <a:lnTo>
                  <a:pt x="24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2" name="Freeform 11"/>
          <p:cNvSpPr>
            <a:spLocks/>
          </p:cNvSpPr>
          <p:nvPr/>
        </p:nvSpPr>
        <p:spPr bwMode="auto">
          <a:xfrm>
            <a:off x="3971925" y="2317750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8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3" name="Freeform 12"/>
          <p:cNvSpPr>
            <a:spLocks/>
          </p:cNvSpPr>
          <p:nvPr/>
        </p:nvSpPr>
        <p:spPr bwMode="auto">
          <a:xfrm>
            <a:off x="4371975" y="2317750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7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7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4" name="Freeform 13"/>
          <p:cNvSpPr>
            <a:spLocks/>
          </p:cNvSpPr>
          <p:nvPr/>
        </p:nvSpPr>
        <p:spPr bwMode="auto">
          <a:xfrm>
            <a:off x="4171950" y="2117725"/>
            <a:ext cx="96838" cy="103188"/>
          </a:xfrm>
          <a:custGeom>
            <a:avLst/>
            <a:gdLst>
              <a:gd name="T0" fmla="*/ 2147483647 w 61"/>
              <a:gd name="T1" fmla="*/ 2147483647 h 65"/>
              <a:gd name="T2" fmla="*/ 2147483647 w 61"/>
              <a:gd name="T3" fmla="*/ 2147483647 h 65"/>
              <a:gd name="T4" fmla="*/ 2147483647 w 61"/>
              <a:gd name="T5" fmla="*/ 2147483647 h 65"/>
              <a:gd name="T6" fmla="*/ 2147483647 w 61"/>
              <a:gd name="T7" fmla="*/ 2147483647 h 65"/>
              <a:gd name="T8" fmla="*/ 2147483647 w 61"/>
              <a:gd name="T9" fmla="*/ 2147483647 h 65"/>
              <a:gd name="T10" fmla="*/ 0 w 61"/>
              <a:gd name="T11" fmla="*/ 2147483647 h 65"/>
              <a:gd name="T12" fmla="*/ 0 w 61"/>
              <a:gd name="T13" fmla="*/ 2147483647 h 65"/>
              <a:gd name="T14" fmla="*/ 2147483647 w 61"/>
              <a:gd name="T15" fmla="*/ 2147483647 h 65"/>
              <a:gd name="T16" fmla="*/ 2147483647 w 61"/>
              <a:gd name="T17" fmla="*/ 0 h 65"/>
              <a:gd name="T18" fmla="*/ 2147483647 w 61"/>
              <a:gd name="T19" fmla="*/ 2147483647 h 65"/>
              <a:gd name="T20" fmla="*/ 2147483647 w 61"/>
              <a:gd name="T21" fmla="*/ 2147483647 h 65"/>
              <a:gd name="T22" fmla="*/ 2147483647 w 61"/>
              <a:gd name="T23" fmla="*/ 2147483647 h 6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5"/>
              <a:gd name="T38" fmla="*/ 61 w 61"/>
              <a:gd name="T39" fmla="*/ 65 h 6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5">
                <a:moveTo>
                  <a:pt x="61" y="34"/>
                </a:moveTo>
                <a:lnTo>
                  <a:pt x="58" y="49"/>
                </a:lnTo>
                <a:lnTo>
                  <a:pt x="43" y="61"/>
                </a:lnTo>
                <a:lnTo>
                  <a:pt x="28" y="65"/>
                </a:lnTo>
                <a:lnTo>
                  <a:pt x="9" y="55"/>
                </a:lnTo>
                <a:lnTo>
                  <a:pt x="0" y="40"/>
                </a:lnTo>
                <a:lnTo>
                  <a:pt x="0" y="25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6"/>
                </a:lnTo>
                <a:lnTo>
                  <a:pt x="61" y="34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5" name="Freeform 14"/>
          <p:cNvSpPr>
            <a:spLocks/>
          </p:cNvSpPr>
          <p:nvPr/>
        </p:nvSpPr>
        <p:spPr bwMode="auto">
          <a:xfrm>
            <a:off x="4171950" y="1724025"/>
            <a:ext cx="96838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61"/>
                </a:lnTo>
                <a:lnTo>
                  <a:pt x="28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6" name="Freeform 15"/>
          <p:cNvSpPr>
            <a:spLocks/>
          </p:cNvSpPr>
          <p:nvPr/>
        </p:nvSpPr>
        <p:spPr bwMode="auto">
          <a:xfrm>
            <a:off x="4868864" y="4711701"/>
            <a:ext cx="103187" cy="98425"/>
          </a:xfrm>
          <a:custGeom>
            <a:avLst/>
            <a:gdLst>
              <a:gd name="T0" fmla="*/ 2147483647 w 65"/>
              <a:gd name="T1" fmla="*/ 2147483647 h 62"/>
              <a:gd name="T2" fmla="*/ 2147483647 w 65"/>
              <a:gd name="T3" fmla="*/ 2147483647 h 62"/>
              <a:gd name="T4" fmla="*/ 2147483647 w 65"/>
              <a:gd name="T5" fmla="*/ 2147483647 h 62"/>
              <a:gd name="T6" fmla="*/ 2147483647 w 65"/>
              <a:gd name="T7" fmla="*/ 2147483647 h 62"/>
              <a:gd name="T8" fmla="*/ 2147483647 w 65"/>
              <a:gd name="T9" fmla="*/ 2147483647 h 62"/>
              <a:gd name="T10" fmla="*/ 0 w 65"/>
              <a:gd name="T11" fmla="*/ 2147483647 h 62"/>
              <a:gd name="T12" fmla="*/ 0 w 65"/>
              <a:gd name="T13" fmla="*/ 2147483647 h 62"/>
              <a:gd name="T14" fmla="*/ 2147483647 w 65"/>
              <a:gd name="T15" fmla="*/ 2147483647 h 62"/>
              <a:gd name="T16" fmla="*/ 2147483647 w 65"/>
              <a:gd name="T17" fmla="*/ 0 h 62"/>
              <a:gd name="T18" fmla="*/ 2147483647 w 65"/>
              <a:gd name="T19" fmla="*/ 0 h 62"/>
              <a:gd name="T20" fmla="*/ 2147483647 w 65"/>
              <a:gd name="T21" fmla="*/ 2147483647 h 62"/>
              <a:gd name="T22" fmla="*/ 2147483647 w 65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5"/>
              <a:gd name="T37" fmla="*/ 0 h 62"/>
              <a:gd name="T38" fmla="*/ 65 w 65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5" h="62">
                <a:moveTo>
                  <a:pt x="65" y="31"/>
                </a:moveTo>
                <a:lnTo>
                  <a:pt x="58" y="46"/>
                </a:lnTo>
                <a:lnTo>
                  <a:pt x="46" y="59"/>
                </a:lnTo>
                <a:lnTo>
                  <a:pt x="28" y="62"/>
                </a:lnTo>
                <a:lnTo>
                  <a:pt x="12" y="53"/>
                </a:lnTo>
                <a:lnTo>
                  <a:pt x="0" y="40"/>
                </a:lnTo>
                <a:lnTo>
                  <a:pt x="0" y="22"/>
                </a:lnTo>
                <a:lnTo>
                  <a:pt x="12" y="7"/>
                </a:lnTo>
                <a:lnTo>
                  <a:pt x="28" y="0"/>
                </a:lnTo>
                <a:lnTo>
                  <a:pt x="46" y="0"/>
                </a:lnTo>
                <a:lnTo>
                  <a:pt x="58" y="13"/>
                </a:lnTo>
                <a:lnTo>
                  <a:pt x="65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7" name="Freeform 16"/>
          <p:cNvSpPr>
            <a:spLocks/>
          </p:cNvSpPr>
          <p:nvPr/>
        </p:nvSpPr>
        <p:spPr bwMode="auto">
          <a:xfrm>
            <a:off x="3074989" y="2220914"/>
            <a:ext cx="96837" cy="96837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39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8" name="Freeform 17"/>
          <p:cNvSpPr>
            <a:spLocks/>
          </p:cNvSpPr>
          <p:nvPr/>
        </p:nvSpPr>
        <p:spPr bwMode="auto">
          <a:xfrm>
            <a:off x="2747964" y="4410076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9"/>
                </a:lnTo>
                <a:lnTo>
                  <a:pt x="43" y="62"/>
                </a:lnTo>
                <a:lnTo>
                  <a:pt x="25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10"/>
                </a:lnTo>
                <a:lnTo>
                  <a:pt x="25" y="0"/>
                </a:lnTo>
                <a:lnTo>
                  <a:pt x="43" y="3"/>
                </a:lnTo>
                <a:lnTo>
                  <a:pt x="56" y="16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9" name="Freeform 18"/>
          <p:cNvSpPr>
            <a:spLocks/>
          </p:cNvSpPr>
          <p:nvPr/>
        </p:nvSpPr>
        <p:spPr bwMode="auto">
          <a:xfrm>
            <a:off x="2778125" y="5008564"/>
            <a:ext cx="96838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2147483647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9"/>
                </a:lnTo>
                <a:lnTo>
                  <a:pt x="43" y="59"/>
                </a:lnTo>
                <a:lnTo>
                  <a:pt x="24" y="62"/>
                </a:lnTo>
                <a:lnTo>
                  <a:pt x="9" y="56"/>
                </a:lnTo>
                <a:lnTo>
                  <a:pt x="0" y="40"/>
                </a:lnTo>
                <a:lnTo>
                  <a:pt x="0" y="22"/>
                </a:lnTo>
                <a:lnTo>
                  <a:pt x="9" y="7"/>
                </a:lnTo>
                <a:lnTo>
                  <a:pt x="24" y="0"/>
                </a:lnTo>
                <a:lnTo>
                  <a:pt x="43" y="3"/>
                </a:lnTo>
                <a:lnTo>
                  <a:pt x="55" y="16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0" name="Freeform 19"/>
          <p:cNvSpPr>
            <a:spLocks/>
          </p:cNvSpPr>
          <p:nvPr/>
        </p:nvSpPr>
        <p:spPr bwMode="auto">
          <a:xfrm>
            <a:off x="3244851" y="1990726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9"/>
                </a:lnTo>
                <a:lnTo>
                  <a:pt x="25" y="62"/>
                </a:lnTo>
                <a:lnTo>
                  <a:pt x="10" y="56"/>
                </a:lnTo>
                <a:lnTo>
                  <a:pt x="0" y="40"/>
                </a:lnTo>
                <a:lnTo>
                  <a:pt x="0" y="22"/>
                </a:lnTo>
                <a:lnTo>
                  <a:pt x="10" y="7"/>
                </a:lnTo>
                <a:lnTo>
                  <a:pt x="25" y="0"/>
                </a:lnTo>
                <a:lnTo>
                  <a:pt x="43" y="4"/>
                </a:lnTo>
                <a:lnTo>
                  <a:pt x="56" y="13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1" name="Text Box 20"/>
          <p:cNvSpPr txBox="1">
            <a:spLocks noChangeArrowheads="1"/>
          </p:cNvSpPr>
          <p:nvPr/>
        </p:nvSpPr>
        <p:spPr bwMode="auto">
          <a:xfrm>
            <a:off x="2514600" y="5562601"/>
            <a:ext cx="236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6248400" y="1295401"/>
            <a:ext cx="3581400" cy="4633913"/>
            <a:chOff x="2976" y="816"/>
            <a:chExt cx="2256" cy="2919"/>
          </a:xfrm>
        </p:grpSpPr>
        <p:graphicFrame>
          <p:nvGraphicFramePr>
            <p:cNvPr id="8213" name="Object 1024"/>
            <p:cNvGraphicFramePr>
              <a:graphicFrameLocks noChangeAspect="1"/>
            </p:cNvGraphicFramePr>
            <p:nvPr/>
          </p:nvGraphicFramePr>
          <p:xfrm>
            <a:off x="2976" y="816"/>
            <a:ext cx="2125" cy="28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547102" imgH="2097084" progId="Visio.Drawing.6">
                    <p:embed/>
                  </p:oleObj>
                </mc:Choice>
                <mc:Fallback>
                  <p:oleObj name="VISIO" r:id="rId2" imgW="1547102" imgH="2097084" progId="Visio.Drawing.6">
                    <p:embed/>
                    <p:pic>
                      <p:nvPicPr>
                        <p:cNvPr id="8213" name="Object 10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816"/>
                          <a:ext cx="2125" cy="28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4" name="Text Box 21"/>
            <p:cNvSpPr txBox="1">
              <a:spLocks noChangeArrowheads="1"/>
            </p:cNvSpPr>
            <p:nvPr/>
          </p:nvSpPr>
          <p:spPr bwMode="auto">
            <a:xfrm>
              <a:off x="3456" y="3504"/>
              <a:ext cx="17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A Partitional  Clustering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Hierarchical Clustering</a:t>
            </a:r>
          </a:p>
        </p:txBody>
      </p:sp>
      <p:graphicFrame>
        <p:nvGraphicFramePr>
          <p:cNvPr id="9219" name="Object 1024"/>
          <p:cNvGraphicFramePr>
            <a:graphicFrameLocks noChangeAspect="1"/>
          </p:cNvGraphicFramePr>
          <p:nvPr/>
        </p:nvGraphicFramePr>
        <p:xfrm>
          <a:off x="2514601" y="3962401"/>
          <a:ext cx="2752725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747671" imgH="1960706" progId="Visio.Drawing.6">
                  <p:embed/>
                </p:oleObj>
              </mc:Choice>
              <mc:Fallback>
                <p:oleObj name="VISIO" r:id="rId2" imgW="2747671" imgH="1960706" progId="Visio.Drawing.6">
                  <p:embed/>
                  <p:pic>
                    <p:nvPicPr>
                      <p:cNvPr id="9219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3962401"/>
                        <a:ext cx="2752725" cy="196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1025"/>
          <p:cNvGraphicFramePr>
            <a:graphicFrameLocks noChangeAspect="1"/>
          </p:cNvGraphicFramePr>
          <p:nvPr/>
        </p:nvGraphicFramePr>
        <p:xfrm>
          <a:off x="2438401" y="1447801"/>
          <a:ext cx="2760663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756614" imgH="1795265" progId="Visio.Drawing.6">
                  <p:embed/>
                </p:oleObj>
              </mc:Choice>
              <mc:Fallback>
                <p:oleObj name="VISIO" r:id="rId4" imgW="2756614" imgH="1795265" progId="Visio.Drawing.6">
                  <p:embed/>
                  <p:pic>
                    <p:nvPicPr>
                      <p:cNvPr id="922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1447801"/>
                        <a:ext cx="2760663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1026"/>
          <p:cNvGraphicFramePr>
            <a:graphicFrameLocks noChangeAspect="1"/>
          </p:cNvGraphicFramePr>
          <p:nvPr/>
        </p:nvGraphicFramePr>
        <p:xfrm>
          <a:off x="6924675" y="1066801"/>
          <a:ext cx="1773238" cy="228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379425" imgH="1779615" progId="Visio.Drawing.6">
                  <p:embed/>
                </p:oleObj>
              </mc:Choice>
              <mc:Fallback>
                <p:oleObj name="VISIO" r:id="rId6" imgW="1379425" imgH="1779615" progId="Visio.Drawing.6">
                  <p:embed/>
                  <p:pic>
                    <p:nvPicPr>
                      <p:cNvPr id="9221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4675" y="1066801"/>
                        <a:ext cx="1773238" cy="228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1027"/>
          <p:cNvGraphicFramePr>
            <a:graphicFrameLocks noChangeAspect="1"/>
          </p:cNvGraphicFramePr>
          <p:nvPr/>
        </p:nvGraphicFramePr>
        <p:xfrm>
          <a:off x="6924676" y="3657601"/>
          <a:ext cx="1909763" cy="228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471089" imgH="1761729" progId="Visio.Drawing.6">
                  <p:embed/>
                </p:oleObj>
              </mc:Choice>
              <mc:Fallback>
                <p:oleObj name="VISIO" r:id="rId8" imgW="1471089" imgH="1761729" progId="Visio.Drawing.6">
                  <p:embed/>
                  <p:pic>
                    <p:nvPicPr>
                      <p:cNvPr id="9222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4676" y="3657601"/>
                        <a:ext cx="1909763" cy="228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905000" y="3200401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Hierarchical Clustering</a:t>
            </a: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1752600" y="5791201"/>
            <a:ext cx="441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Non-traditional Hierarchical Clustering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6324600" y="5791201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Non-traditional Dendrogram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6324600" y="3200401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Dendrogram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Other Distinctions Between Sets of Clusters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3763" y="1143000"/>
            <a:ext cx="8001000" cy="5106988"/>
          </a:xfrm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Exclusive versus non-exclusive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In non-exclusive </a:t>
            </a:r>
            <a:r>
              <a:rPr lang="en-US" altLang="en-US" sz="2000" dirty="0" err="1"/>
              <a:t>clusterings</a:t>
            </a:r>
            <a:r>
              <a:rPr lang="en-US" altLang="en-US" sz="2000" dirty="0"/>
              <a:t>, points may belong to multiple clusters.</a:t>
            </a:r>
          </a:p>
          <a:p>
            <a:pPr marL="857250" lvl="2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dirty="0"/>
              <a:t>Can belong to multiple classes or could be ‘border’ points</a:t>
            </a:r>
          </a:p>
          <a:p>
            <a:pPr marL="850900" lvl="1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Fuzzy clustering  (one type of non-exclusive) </a:t>
            </a:r>
          </a:p>
          <a:p>
            <a:pPr marL="857250" lvl="2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dirty="0"/>
              <a:t>In fuzzy clustering, a point belongs to every cluster with some weight between 0 and 1</a:t>
            </a:r>
          </a:p>
          <a:p>
            <a:pPr marL="857250" lvl="2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dirty="0"/>
              <a:t>Weights must sum to 1</a:t>
            </a:r>
          </a:p>
          <a:p>
            <a:pPr marL="857250" lvl="2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dirty="0"/>
              <a:t>Probabilistic clustering has similar characteristics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Partial versus complete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In some cases, we only want to cluster some of the data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612</Words>
  <Application>Microsoft Office PowerPoint</Application>
  <PresentationFormat>Widescreen</PresentationFormat>
  <Paragraphs>79</Paragraphs>
  <Slides>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Aptos</vt:lpstr>
      <vt:lpstr>Aptos Display</vt:lpstr>
      <vt:lpstr>Arial</vt:lpstr>
      <vt:lpstr>CMBX10</vt:lpstr>
      <vt:lpstr>CMR10</vt:lpstr>
      <vt:lpstr>Tahoma</vt:lpstr>
      <vt:lpstr>Times New Roman</vt:lpstr>
      <vt:lpstr>Office Theme</vt:lpstr>
      <vt:lpstr>Document</vt:lpstr>
      <vt:lpstr>VISIO</vt:lpstr>
      <vt:lpstr>PowerPoint Presentation</vt:lpstr>
      <vt:lpstr>What is Cluster Analysis?</vt:lpstr>
      <vt:lpstr>Applications of Cluster Analysis</vt:lpstr>
      <vt:lpstr>Notion of a Cluster can be Ambiguous</vt:lpstr>
      <vt:lpstr>Types of Clusterings</vt:lpstr>
      <vt:lpstr>Partitional Clustering</vt:lpstr>
      <vt:lpstr>Hierarchical Clustering</vt:lpstr>
      <vt:lpstr>Other Distinctions Between Sets of Clusters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Eesha tur babar</dc:creator>
  <cp:lastModifiedBy>Eesha tur babar</cp:lastModifiedBy>
  <cp:revision>1</cp:revision>
  <dcterms:created xsi:type="dcterms:W3CDTF">2024-03-30T00:18:04Z</dcterms:created>
  <dcterms:modified xsi:type="dcterms:W3CDTF">2024-03-30T00:18:57Z</dcterms:modified>
</cp:coreProperties>
</file>