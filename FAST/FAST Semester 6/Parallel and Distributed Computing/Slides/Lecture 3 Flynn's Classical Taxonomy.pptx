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3"/>
  </p:notesMasterIdLst>
  <p:sldIdLst>
    <p:sldId id="1522" r:id="rId2"/>
    <p:sldId id="1450" r:id="rId3"/>
    <p:sldId id="1523" r:id="rId4"/>
    <p:sldId id="1525" r:id="rId5"/>
    <p:sldId id="1476" r:id="rId6"/>
    <p:sldId id="1492" r:id="rId7"/>
    <p:sldId id="1521" r:id="rId8"/>
    <p:sldId id="1486" r:id="rId9"/>
    <p:sldId id="1494" r:id="rId10"/>
    <p:sldId id="1488" r:id="rId11"/>
    <p:sldId id="1496" r:id="rId12"/>
    <p:sldId id="1505" r:id="rId13"/>
    <p:sldId id="1504" r:id="rId14"/>
    <p:sldId id="1507" r:id="rId15"/>
    <p:sldId id="1508" r:id="rId16"/>
    <p:sldId id="1509" r:id="rId17"/>
    <p:sldId id="1511" r:id="rId18"/>
    <p:sldId id="1510" r:id="rId19"/>
    <p:sldId id="1513" r:id="rId20"/>
    <p:sldId id="1514" r:id="rId21"/>
    <p:sldId id="1515" r:id="rId22"/>
    <p:sldId id="1516" r:id="rId23"/>
    <p:sldId id="1520" r:id="rId24"/>
    <p:sldId id="1518" r:id="rId25"/>
    <p:sldId id="1519" r:id="rId26"/>
    <p:sldId id="1524" r:id="rId27"/>
    <p:sldId id="1526" r:id="rId28"/>
    <p:sldId id="1527" r:id="rId29"/>
    <p:sldId id="1528" r:id="rId30"/>
    <p:sldId id="1530" r:id="rId31"/>
    <p:sldId id="1448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6">
          <p15:clr>
            <a:srgbClr val="A4A3A4"/>
          </p15:clr>
        </p15:guide>
        <p15:guide id="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0000A8"/>
    <a:srgbClr val="00C000"/>
    <a:srgbClr val="3C6CDF"/>
    <a:srgbClr val="9CDFF9"/>
    <a:srgbClr val="B8C2C9"/>
    <a:srgbClr val="D6DCE0"/>
    <a:srgbClr val="0000A3"/>
    <a:srgbClr val="010086"/>
    <a:srgbClr val="01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533"/>
    <p:restoredTop sz="88689" autoAdjust="0"/>
  </p:normalViewPr>
  <p:slideViewPr>
    <p:cSldViewPr snapToGrid="0" snapToObjects="1">
      <p:cViewPr varScale="1">
        <p:scale>
          <a:sx n="66" d="100"/>
          <a:sy n="66" d="100"/>
        </p:scale>
        <p:origin x="468" y="66"/>
      </p:cViewPr>
      <p:guideLst>
        <p:guide orient="horz" pos="96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1/24/2024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818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2123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1401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1504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3582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617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327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0348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8686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6249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2320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8126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0945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2967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2436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3622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4549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1306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98724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69764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4973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  <a:t>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4pPr>
              <a:buFont typeface="Wingdings" pitchFamily="2" charset="2"/>
              <a:buChar char="§"/>
              <a:defRPr sz="1600"/>
            </a:lvl4pPr>
            <a:lvl5pPr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48494804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0000A3"/>
          </a:solidFill>
          <a:latin typeface="+mn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/>
              <a:t>CS 3006</a:t>
            </a:r>
            <a:br>
              <a:rPr lang="en-US" sz="4800" dirty="0" smtClean="0"/>
            </a:br>
            <a:r>
              <a:rPr lang="en-US" sz="4800" dirty="0" smtClean="0"/>
              <a:t>Parallel and Distributed Computing</a:t>
            </a:r>
            <a:r>
              <a:rPr lang="en-US" sz="4800" dirty="0"/>
              <a:t/>
            </a:r>
            <a:br>
              <a:rPr lang="en-US" sz="4800" dirty="0"/>
            </a:br>
            <a:r>
              <a:rPr lang="en-US" sz="4800" dirty="0"/>
              <a:t>Lecture </a:t>
            </a:r>
            <a:r>
              <a:rPr lang="en-US" sz="4800" dirty="0" smtClean="0"/>
              <a:t>3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3200" b="1" dirty="0" smtClean="0"/>
              <a:t>Danyal </a:t>
            </a:r>
            <a:r>
              <a:rPr lang="en-US" sz="3200" b="1" dirty="0" err="1"/>
              <a:t>Farhat</a:t>
            </a:r>
            <a:endParaRPr lang="en-US" sz="3200" b="1" dirty="0"/>
          </a:p>
          <a:p>
            <a:r>
              <a:rPr lang="en-US" sz="3200" b="1" dirty="0"/>
              <a:t>FAST School of Computing</a:t>
            </a:r>
          </a:p>
          <a:p>
            <a:r>
              <a:rPr lang="en-US" sz="3200" b="1" dirty="0" smtClean="0"/>
              <a:t>NUCES </a:t>
            </a:r>
            <a:r>
              <a:rPr lang="en-US" sz="3200" b="1" dirty="0"/>
              <a:t>Lahore</a:t>
            </a:r>
          </a:p>
          <a:p>
            <a:endParaRPr lang="en-US" sz="3200" b="1" dirty="0"/>
          </a:p>
          <a:p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50889066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620611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Flynn’s Classical </a:t>
            </a:r>
            <a:r>
              <a:rPr lang="en-US" dirty="0" smtClean="0"/>
              <a:t>Taxonomy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and Processor </a:t>
            </a:r>
            <a:r>
              <a:rPr lang="en-US" dirty="0"/>
              <a:t>to Memory Connection Strategies</a:t>
            </a:r>
          </a:p>
        </p:txBody>
      </p:sp>
    </p:spTree>
    <p:extLst>
      <p:ext uri="{BB962C8B-B14F-4D97-AF65-F5344CB8AC3E}">
        <p14:creationId xmlns:p14="http://schemas.microsoft.com/office/powerpoint/2010/main" val="4510991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1"/>
            <a:ext cx="10515600" cy="435133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 smtClean="0"/>
              <a:t>Flynn’s </a:t>
            </a:r>
            <a:r>
              <a:rPr lang="en-US" sz="3200" b="1" dirty="0"/>
              <a:t>Classical </a:t>
            </a:r>
            <a:r>
              <a:rPr lang="en-US" sz="3200" b="1" dirty="0" smtClean="0"/>
              <a:t>Taxonomy</a:t>
            </a:r>
            <a:endParaRPr lang="en-US" sz="3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Processor </a:t>
            </a:r>
            <a:r>
              <a:rPr lang="en-US" sz="3200" b="1" dirty="0" smtClean="0"/>
              <a:t>Organizations</a:t>
            </a:r>
            <a:endParaRPr lang="en-US" sz="3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SISD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SISD – </a:t>
            </a:r>
            <a:r>
              <a:rPr lang="en-US" sz="3200" b="1" dirty="0" smtClean="0"/>
              <a:t>Multithreading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Implicit Multithreading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Explicit Multithreading</a:t>
            </a:r>
            <a:endParaRPr lang="en-US" sz="3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 smtClean="0"/>
              <a:t>Intel’s </a:t>
            </a:r>
            <a:r>
              <a:rPr lang="en-US" sz="3200" b="1" dirty="0" smtClean="0"/>
              <a:t>Hyper </a:t>
            </a:r>
            <a:r>
              <a:rPr lang="en-US" sz="3200" b="1" dirty="0"/>
              <a:t>Threading </a:t>
            </a:r>
            <a:r>
              <a:rPr lang="en-US" sz="3200" b="1" dirty="0" smtClean="0"/>
              <a:t>Technology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SIMD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SIMD - Examples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+mn-ea"/>
              </a:rPr>
              <a:t>Outline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3616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1"/>
            <a:ext cx="10515600" cy="435133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 smtClean="0"/>
              <a:t>MISD</a:t>
            </a:r>
            <a:endParaRPr lang="en-US" sz="3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MIMD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MIMD - Shared </a:t>
            </a:r>
            <a:r>
              <a:rPr lang="en-US" sz="3200" b="1" dirty="0" smtClean="0"/>
              <a:t>Memory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Uniform </a:t>
            </a:r>
            <a:r>
              <a:rPr lang="en-US" b="1" dirty="0"/>
              <a:t>Memory Access (</a:t>
            </a:r>
            <a:r>
              <a:rPr lang="en-US" b="1" dirty="0" smtClean="0"/>
              <a:t>UMA)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Non-Uniform </a:t>
            </a:r>
            <a:r>
              <a:rPr lang="en-US" b="1" dirty="0"/>
              <a:t>Memory Access (NUMA</a:t>
            </a:r>
            <a:r>
              <a:rPr lang="en-US" b="1" dirty="0" smtClean="0"/>
              <a:t>)</a:t>
            </a:r>
            <a:endParaRPr lang="en-US" sz="3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MIMD - Distributed </a:t>
            </a:r>
            <a:r>
              <a:rPr lang="en-US" sz="3200" b="1" dirty="0" smtClean="0"/>
              <a:t>Memory</a:t>
            </a:r>
            <a:endParaRPr lang="en-US" sz="3200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 smtClean="0"/>
              <a:t>Shared </a:t>
            </a:r>
            <a:r>
              <a:rPr lang="en-US" sz="3200" b="1" dirty="0"/>
              <a:t>Memory Interconnection Network	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 smtClean="0"/>
              <a:t>Summary</a:t>
            </a:r>
            <a:endParaRPr lang="en-US" sz="3200" b="1" dirty="0"/>
          </a:p>
          <a:p>
            <a:pPr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>
              <a:buFont typeface="Arial" panose="020B0604020202020204" pitchFamily="34" charset="0"/>
              <a:buChar char="•"/>
            </a:pP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+mn-ea"/>
              </a:rPr>
              <a:t>Outline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1170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274481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Hardware architecture </a:t>
            </a:r>
            <a:r>
              <a:rPr lang="en-US" b="1" dirty="0" smtClean="0">
                <a:solidFill>
                  <a:srgbClr val="7030A0"/>
                </a:solidFill>
              </a:rPr>
              <a:t>classifications</a:t>
            </a:r>
            <a:r>
              <a:rPr lang="en-US" b="1" dirty="0" smtClean="0"/>
              <a:t> – Flynn, Feng, Handler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Most </a:t>
            </a:r>
            <a:r>
              <a:rPr lang="en-US" b="1" dirty="0">
                <a:solidFill>
                  <a:srgbClr val="0000A8"/>
                </a:solidFill>
              </a:rPr>
              <a:t>w</a:t>
            </a:r>
            <a:r>
              <a:rPr lang="en-US" b="1" dirty="0" smtClean="0">
                <a:solidFill>
                  <a:srgbClr val="0000A8"/>
                </a:solidFill>
              </a:rPr>
              <a:t>idely </a:t>
            </a:r>
            <a:r>
              <a:rPr lang="en-US" b="1" dirty="0">
                <a:solidFill>
                  <a:srgbClr val="0000A8"/>
                </a:solidFill>
              </a:rPr>
              <a:t>used </a:t>
            </a:r>
            <a:r>
              <a:rPr lang="en-US" b="1" dirty="0"/>
              <a:t>parallel computer classifications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Differentiates </a:t>
            </a:r>
            <a:r>
              <a:rPr lang="en-US" b="1" dirty="0"/>
              <a:t>multiprocessor computers according to the </a:t>
            </a:r>
            <a:r>
              <a:rPr lang="en-US" b="1" dirty="0">
                <a:solidFill>
                  <a:srgbClr val="0000A8"/>
                </a:solidFill>
              </a:rPr>
              <a:t>dimensions</a:t>
            </a:r>
            <a:r>
              <a:rPr lang="en-US" b="1" dirty="0"/>
              <a:t> of instruction and </a:t>
            </a:r>
            <a:r>
              <a:rPr lang="en-US" b="1" dirty="0" smtClean="0"/>
              <a:t>data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Instruction stream: Sequence of instructions from memory to control </a:t>
            </a:r>
            <a:r>
              <a:rPr lang="en-US" b="1" dirty="0" smtClean="0"/>
              <a:t>unit</a:t>
            </a:r>
            <a:endParaRPr lang="en-US" b="1" dirty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Data stream: Sequence of data from memory to control </a:t>
            </a:r>
            <a:r>
              <a:rPr lang="en-US" b="1" dirty="0" smtClean="0"/>
              <a:t>unit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SISD: Single </a:t>
            </a:r>
            <a:r>
              <a:rPr lang="en-US" b="1" dirty="0" smtClean="0"/>
              <a:t>Instruction </a:t>
            </a:r>
            <a:r>
              <a:rPr lang="en-US" b="1" dirty="0"/>
              <a:t>stream, </a:t>
            </a:r>
            <a:r>
              <a:rPr lang="en-US" b="1" dirty="0" smtClean="0"/>
              <a:t>Single Data </a:t>
            </a:r>
            <a:r>
              <a:rPr lang="en-US" b="1" dirty="0"/>
              <a:t>stream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SIMD: Single </a:t>
            </a:r>
            <a:r>
              <a:rPr lang="en-US" b="1" dirty="0" smtClean="0"/>
              <a:t>Instruction </a:t>
            </a:r>
            <a:r>
              <a:rPr lang="en-US" b="1" dirty="0"/>
              <a:t>stream, </a:t>
            </a:r>
            <a:r>
              <a:rPr lang="en-US" b="1" dirty="0" smtClean="0"/>
              <a:t>Multiple Data </a:t>
            </a:r>
            <a:r>
              <a:rPr lang="en-US" b="1" dirty="0"/>
              <a:t>stream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MISD: Multiple </a:t>
            </a:r>
            <a:r>
              <a:rPr lang="en-US" b="1" dirty="0" smtClean="0"/>
              <a:t>Instruction stream, Single Data </a:t>
            </a:r>
            <a:r>
              <a:rPr lang="en-US" b="1" dirty="0"/>
              <a:t>stream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MIMD: Multiple </a:t>
            </a:r>
            <a:r>
              <a:rPr lang="en-US" b="1" dirty="0" smtClean="0"/>
              <a:t>Instruction </a:t>
            </a:r>
            <a:r>
              <a:rPr lang="en-US" b="1" dirty="0"/>
              <a:t>stream, </a:t>
            </a:r>
            <a:r>
              <a:rPr lang="en-US" b="1" dirty="0" smtClean="0"/>
              <a:t>Multiple Data </a:t>
            </a:r>
            <a:r>
              <a:rPr lang="en-US" b="1" dirty="0"/>
              <a:t>stream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Flynn’s Classical Taxonomy</a:t>
            </a:r>
          </a:p>
        </p:txBody>
      </p:sp>
    </p:spTree>
    <p:extLst>
      <p:ext uri="{BB962C8B-B14F-4D97-AF65-F5344CB8AC3E}">
        <p14:creationId xmlns:p14="http://schemas.microsoft.com/office/powerpoint/2010/main" val="2507779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6515" y="1564157"/>
            <a:ext cx="7633056" cy="4286473"/>
          </a:xfrm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Processor Organizations</a:t>
            </a:r>
          </a:p>
        </p:txBody>
      </p:sp>
    </p:spTree>
    <p:extLst>
      <p:ext uri="{BB962C8B-B14F-4D97-AF65-F5344CB8AC3E}">
        <p14:creationId xmlns:p14="http://schemas.microsoft.com/office/powerpoint/2010/main" val="38018620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A serial (non-parallel computer)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C00000"/>
                </a:solidFill>
              </a:rPr>
              <a:t>Single instruction: </a:t>
            </a:r>
            <a:r>
              <a:rPr lang="en-US" sz="3200" b="1" dirty="0"/>
              <a:t>one instruction per cycle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C00000"/>
                </a:solidFill>
              </a:rPr>
              <a:t>Single data: </a:t>
            </a:r>
            <a:r>
              <a:rPr lang="en-US" sz="3200" b="1" dirty="0"/>
              <a:t>only one data stream per cycle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Easy and </a:t>
            </a:r>
            <a:r>
              <a:rPr lang="en-US" sz="3200" b="1" dirty="0">
                <a:solidFill>
                  <a:srgbClr val="000099"/>
                </a:solidFill>
              </a:rPr>
              <a:t>deterministic</a:t>
            </a:r>
            <a:r>
              <a:rPr lang="en-US" sz="3200" b="1" dirty="0"/>
              <a:t> execution</a:t>
            </a:r>
          </a:p>
          <a:p>
            <a:pPr marL="130175" indent="0" algn="just">
              <a:buNone/>
            </a:pPr>
            <a:r>
              <a:rPr lang="en-US" sz="3200" b="1" dirty="0">
                <a:solidFill>
                  <a:srgbClr val="C00000"/>
                </a:solidFill>
              </a:rPr>
              <a:t>Example: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Single CPU workstations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Most workstations from HP, IBM and SGI are SISD </a:t>
            </a:r>
            <a:r>
              <a:rPr lang="en-US" sz="3200" b="1" dirty="0" smtClean="0"/>
              <a:t>machines</a:t>
            </a: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SISD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578" y="1832883"/>
            <a:ext cx="1617507" cy="2066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9535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Performance of a processor can be measured </a:t>
            </a:r>
            <a:r>
              <a:rPr lang="en-US" sz="3200" b="1" dirty="0" smtClean="0"/>
              <a:t>with:</a:t>
            </a:r>
          </a:p>
          <a:p>
            <a:pPr marL="130175" indent="0" algn="ctr">
              <a:buNone/>
            </a:pPr>
            <a:r>
              <a:rPr lang="en-US" sz="3200" b="1" dirty="0" smtClean="0">
                <a:solidFill>
                  <a:srgbClr val="000099"/>
                </a:solidFill>
              </a:rPr>
              <a:t>MIPS Rate  </a:t>
            </a:r>
            <a:r>
              <a:rPr lang="en-US" sz="3200" b="1" dirty="0">
                <a:solidFill>
                  <a:srgbClr val="000099"/>
                </a:solidFill>
              </a:rPr>
              <a:t>=  f  x  </a:t>
            </a:r>
            <a:r>
              <a:rPr lang="en-US" sz="3200" b="1" dirty="0" smtClean="0">
                <a:solidFill>
                  <a:srgbClr val="000099"/>
                </a:solidFill>
              </a:rPr>
              <a:t>IPC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Million </a:t>
            </a:r>
            <a:r>
              <a:rPr lang="en-US" b="1" dirty="0"/>
              <a:t>instructions per second (MIPS) is an approximate measure of a computer's raw processing </a:t>
            </a:r>
            <a:r>
              <a:rPr lang="en-US" b="1" dirty="0" smtClean="0"/>
              <a:t>power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f (</a:t>
            </a:r>
            <a:r>
              <a:rPr lang="en-US" b="1" dirty="0"/>
              <a:t>clock frequency of </a:t>
            </a:r>
            <a:r>
              <a:rPr lang="en-US" b="1" dirty="0" smtClean="0"/>
              <a:t>processor); 	IPC </a:t>
            </a:r>
            <a:r>
              <a:rPr lang="en-US" b="1" dirty="0"/>
              <a:t>(instructions per cycle</a:t>
            </a:r>
            <a:r>
              <a:rPr lang="en-US" b="1" dirty="0" smtClean="0"/>
              <a:t>)</a:t>
            </a:r>
            <a:endParaRPr lang="en-US" sz="3200" b="1" dirty="0" smtClean="0"/>
          </a:p>
          <a:p>
            <a:pPr marL="130175" indent="0" algn="just">
              <a:buNone/>
            </a:pPr>
            <a:r>
              <a:rPr lang="en-US" sz="3200" b="1" dirty="0" smtClean="0">
                <a:solidFill>
                  <a:srgbClr val="C00000"/>
                </a:solidFill>
              </a:rPr>
              <a:t>How </a:t>
            </a:r>
            <a:r>
              <a:rPr lang="en-US" sz="3200" b="1" dirty="0">
                <a:solidFill>
                  <a:srgbClr val="C00000"/>
                </a:solidFill>
              </a:rPr>
              <a:t>to increase </a:t>
            </a:r>
            <a:r>
              <a:rPr lang="en-US" sz="3200" b="1" dirty="0" smtClean="0">
                <a:solidFill>
                  <a:srgbClr val="C00000"/>
                </a:solidFill>
              </a:rPr>
              <a:t>performance of uniprocessor?</a:t>
            </a:r>
            <a:endParaRPr lang="en-US" sz="3200" b="1" dirty="0">
              <a:solidFill>
                <a:srgbClr val="C00000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Using </a:t>
            </a:r>
            <a:r>
              <a:rPr lang="en-US" sz="3200" b="1" dirty="0" smtClean="0"/>
              <a:t>Multithreading</a:t>
            </a:r>
            <a:endParaRPr lang="en-US" sz="32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Increasing </a:t>
            </a:r>
            <a:r>
              <a:rPr lang="en-US" sz="3200" b="1" dirty="0"/>
              <a:t>clock </a:t>
            </a:r>
            <a:r>
              <a:rPr lang="en-US" sz="3200" b="1" dirty="0" smtClean="0"/>
              <a:t>frequency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Increasing </a:t>
            </a:r>
            <a:r>
              <a:rPr lang="en-US" sz="3200" b="1" dirty="0"/>
              <a:t>number of instructions completed during a processor cycle (multiple pipelines in a superscalar architecture and/or out of order execution)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SISD (Cont.)</a:t>
            </a:r>
          </a:p>
        </p:txBody>
      </p:sp>
    </p:spTree>
    <p:extLst>
      <p:ext uri="{BB962C8B-B14F-4D97-AF65-F5344CB8AC3E}">
        <p14:creationId xmlns:p14="http://schemas.microsoft.com/office/powerpoint/2010/main" val="36156616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Run </a:t>
            </a:r>
            <a:r>
              <a:rPr lang="en-US" b="1" dirty="0">
                <a:solidFill>
                  <a:srgbClr val="000099"/>
                </a:solidFill>
              </a:rPr>
              <a:t>multiple threads </a:t>
            </a:r>
            <a:r>
              <a:rPr lang="en-US" b="1" dirty="0"/>
              <a:t>on the same core concurrently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Context switch </a:t>
            </a:r>
            <a:r>
              <a:rPr lang="en-US" b="1" dirty="0">
                <a:solidFill>
                  <a:srgbClr val="000099"/>
                </a:solidFill>
              </a:rPr>
              <a:t>implemented</a:t>
            </a:r>
            <a:r>
              <a:rPr lang="en-US" b="1" dirty="0"/>
              <a:t> in hardware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Minimum hardware support: </a:t>
            </a:r>
            <a:r>
              <a:rPr lang="en-US" b="1" dirty="0">
                <a:solidFill>
                  <a:srgbClr val="000099"/>
                </a:solidFill>
              </a:rPr>
              <a:t>replicate</a:t>
            </a:r>
            <a:r>
              <a:rPr lang="en-US" b="1" dirty="0"/>
              <a:t> architectural state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All running threads must have their own </a:t>
            </a:r>
            <a:r>
              <a:rPr lang="en-US" b="1" dirty="0">
                <a:solidFill>
                  <a:srgbClr val="000099"/>
                </a:solidFill>
              </a:rPr>
              <a:t>context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Multiple </a:t>
            </a:r>
            <a:r>
              <a:rPr lang="en-US" b="1" dirty="0">
                <a:solidFill>
                  <a:srgbClr val="000099"/>
                </a:solidFill>
              </a:rPr>
              <a:t>register sets </a:t>
            </a:r>
            <a:r>
              <a:rPr lang="en-US" b="1" dirty="0"/>
              <a:t>in the core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Multiple state </a:t>
            </a:r>
            <a:r>
              <a:rPr lang="en-US" b="1" dirty="0" smtClean="0"/>
              <a:t>registers </a:t>
            </a:r>
          </a:p>
          <a:p>
            <a:pPr lvl="2" algn="just">
              <a:buClr>
                <a:srgbClr val="000099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Program </a:t>
            </a:r>
            <a:r>
              <a:rPr lang="en-US" b="1" dirty="0"/>
              <a:t>Counter (</a:t>
            </a:r>
            <a:r>
              <a:rPr lang="en-US" b="1" dirty="0" smtClean="0"/>
              <a:t>PC)</a:t>
            </a:r>
          </a:p>
          <a:p>
            <a:pPr lvl="2" algn="just">
              <a:buClr>
                <a:srgbClr val="000099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Memory </a:t>
            </a:r>
            <a:r>
              <a:rPr lang="en-US" b="1" dirty="0"/>
              <a:t>Address Register (</a:t>
            </a:r>
            <a:r>
              <a:rPr lang="en-US" b="1" dirty="0" smtClean="0"/>
              <a:t>MAR)</a:t>
            </a:r>
          </a:p>
          <a:p>
            <a:pPr lvl="2" algn="just">
              <a:buClr>
                <a:srgbClr val="000099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Accumulator </a:t>
            </a:r>
            <a:r>
              <a:rPr lang="en-US" b="1" dirty="0"/>
              <a:t>Register (ACC</a:t>
            </a:r>
            <a:r>
              <a:rPr lang="en-US" b="1" dirty="0" smtClean="0"/>
              <a:t>)</a:t>
            </a:r>
            <a:endParaRPr lang="en-US" b="1" dirty="0"/>
          </a:p>
          <a:p>
            <a:pPr lvl="2" algn="just">
              <a:buFont typeface="Wingdings" panose="05000000000000000000" pitchFamily="2" charset="2"/>
              <a:buChar char="Ø"/>
            </a:pPr>
            <a:endParaRPr lang="en-US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SISD – Multithreading</a:t>
            </a:r>
          </a:p>
        </p:txBody>
      </p:sp>
      <p:pic>
        <p:nvPicPr>
          <p:cNvPr id="4" name="Content Placeholder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3571" y="3281403"/>
            <a:ext cx="4445000" cy="321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07547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marL="130175" indent="0" algn="ctr">
              <a:buNone/>
            </a:pPr>
            <a:r>
              <a:rPr lang="en-US" sz="3200" b="1" dirty="0">
                <a:solidFill>
                  <a:srgbClr val="C00000"/>
                </a:solidFill>
              </a:rPr>
              <a:t>Implicit </a:t>
            </a:r>
            <a:r>
              <a:rPr lang="en-US" sz="3200" b="1" dirty="0" smtClean="0">
                <a:solidFill>
                  <a:srgbClr val="C00000"/>
                </a:solidFill>
              </a:rPr>
              <a:t>Multithreading</a:t>
            </a:r>
            <a:endParaRPr lang="en-US" sz="3200" b="1" dirty="0">
              <a:solidFill>
                <a:srgbClr val="C00000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concurrent execution of </a:t>
            </a:r>
            <a:r>
              <a:rPr lang="en-US" sz="3200" b="1" dirty="0">
                <a:solidFill>
                  <a:srgbClr val="000099"/>
                </a:solidFill>
              </a:rPr>
              <a:t>multiple threads </a:t>
            </a:r>
            <a:r>
              <a:rPr lang="en-US" sz="3200" b="1" dirty="0"/>
              <a:t>extracted from a single sequential program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Managed by </a:t>
            </a:r>
            <a:r>
              <a:rPr lang="en-US" sz="3200" b="1" dirty="0">
                <a:solidFill>
                  <a:srgbClr val="000099"/>
                </a:solidFill>
              </a:rPr>
              <a:t>processor</a:t>
            </a:r>
            <a:r>
              <a:rPr lang="en-US" sz="3200" b="1" dirty="0"/>
              <a:t> hardware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Improve individual </a:t>
            </a:r>
            <a:r>
              <a:rPr lang="en-US" sz="3200" b="1" dirty="0">
                <a:solidFill>
                  <a:srgbClr val="000099"/>
                </a:solidFill>
              </a:rPr>
              <a:t>application</a:t>
            </a:r>
            <a:r>
              <a:rPr lang="en-US" sz="3200" b="1" dirty="0"/>
              <a:t> </a:t>
            </a:r>
            <a:r>
              <a:rPr lang="en-US" sz="3200" b="1" dirty="0" smtClean="0"/>
              <a:t>performance</a:t>
            </a:r>
            <a:endParaRPr lang="en-US" sz="3200" b="1" dirty="0"/>
          </a:p>
          <a:p>
            <a:pPr marL="130175" indent="0" algn="ctr">
              <a:buNone/>
            </a:pPr>
            <a:r>
              <a:rPr lang="en-US" sz="3200" b="1" dirty="0">
                <a:solidFill>
                  <a:srgbClr val="C00000"/>
                </a:solidFill>
              </a:rPr>
              <a:t>Explicit </a:t>
            </a:r>
            <a:r>
              <a:rPr lang="en-US" sz="3200" b="1" dirty="0" smtClean="0">
                <a:solidFill>
                  <a:srgbClr val="C00000"/>
                </a:solidFill>
              </a:rPr>
              <a:t>Multithreading</a:t>
            </a:r>
            <a:endParaRPr lang="en-US" sz="3200" b="1" dirty="0">
              <a:solidFill>
                <a:srgbClr val="C00000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concurrent execution of instructions from different </a:t>
            </a:r>
            <a:r>
              <a:rPr lang="en-US" sz="3200" b="1" dirty="0">
                <a:solidFill>
                  <a:srgbClr val="000099"/>
                </a:solidFill>
              </a:rPr>
              <a:t>explicit threads</a:t>
            </a:r>
            <a:r>
              <a:rPr lang="en-US" sz="3200" b="1" dirty="0"/>
              <a:t>, either by </a:t>
            </a:r>
            <a:r>
              <a:rPr lang="en-US" sz="3200" b="1" dirty="0">
                <a:solidFill>
                  <a:srgbClr val="000099"/>
                </a:solidFill>
              </a:rPr>
              <a:t>interleaving instructions </a:t>
            </a:r>
            <a:r>
              <a:rPr lang="en-US" sz="3200" b="1" dirty="0"/>
              <a:t>from different threads or by </a:t>
            </a:r>
            <a:r>
              <a:rPr lang="en-US" sz="3200" b="1" dirty="0">
                <a:solidFill>
                  <a:srgbClr val="000099"/>
                </a:solidFill>
              </a:rPr>
              <a:t>parallel execution</a:t>
            </a:r>
            <a:r>
              <a:rPr lang="en-US" sz="3200" b="1" dirty="0"/>
              <a:t> on parallel pipelines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SISD </a:t>
            </a:r>
            <a:r>
              <a:rPr lang="en-US" dirty="0" smtClean="0"/>
              <a:t>– Multithreading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51328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/>
              <a:t>Four approaches for explicit multithreading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600" b="1" dirty="0">
                <a:solidFill>
                  <a:srgbClr val="C00000"/>
                </a:solidFill>
              </a:rPr>
              <a:t>Interleaved multithreading (fine-grained): </a:t>
            </a:r>
            <a:r>
              <a:rPr lang="en-US" sz="2600" b="1" dirty="0" smtClean="0"/>
              <a:t>fetch instructions from different threads in consecutive cycles. </a:t>
            </a:r>
            <a:r>
              <a:rPr lang="en-US" sz="2600" b="1" dirty="0"/>
              <a:t>In case of few active threads, performance degrades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600" b="1" dirty="0">
                <a:solidFill>
                  <a:srgbClr val="C00000"/>
                </a:solidFill>
              </a:rPr>
              <a:t>Blocked multithreading (coarse-grained): </a:t>
            </a:r>
            <a:r>
              <a:rPr lang="en-US" sz="2600" b="1" dirty="0"/>
              <a:t>events like cache miss produce switch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600" b="1" dirty="0">
                <a:solidFill>
                  <a:srgbClr val="C00000"/>
                </a:solidFill>
              </a:rPr>
              <a:t>Simultaneous multithreading (SMT): </a:t>
            </a:r>
            <a:r>
              <a:rPr lang="en-US" sz="2600" b="1" dirty="0"/>
              <a:t>execution units of a superscalar processor receive instructions from multiple threads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600" b="1" dirty="0">
                <a:solidFill>
                  <a:srgbClr val="C00000"/>
                </a:solidFill>
              </a:rPr>
              <a:t>Chip multiprocessing: </a:t>
            </a:r>
            <a:r>
              <a:rPr lang="en-US" sz="2600" b="1" dirty="0"/>
              <a:t>e.g. dual core (not SISD)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/>
              <a:t>Architectures like IA-64 Very Long Instruction Word (VLIW) allow </a:t>
            </a:r>
            <a:r>
              <a:rPr lang="en-US" sz="3000" b="1" dirty="0">
                <a:solidFill>
                  <a:srgbClr val="000099"/>
                </a:solidFill>
              </a:rPr>
              <a:t>multiple instructions </a:t>
            </a:r>
            <a:r>
              <a:rPr lang="en-US" sz="3000" b="1" dirty="0"/>
              <a:t>(to be executed in parallel) in a single word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SISD-Explicit Multithreading</a:t>
            </a:r>
          </a:p>
        </p:txBody>
      </p:sp>
    </p:spTree>
    <p:extLst>
      <p:ext uri="{BB962C8B-B14F-4D97-AF65-F5344CB8AC3E}">
        <p14:creationId xmlns:p14="http://schemas.microsoft.com/office/powerpoint/2010/main" val="18710266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 smtClean="0"/>
              <a:t>A </a:t>
            </a:r>
            <a:r>
              <a:rPr lang="en-US" sz="3000" b="1" dirty="0"/>
              <a:t>single physical processor appears as </a:t>
            </a:r>
            <a:r>
              <a:rPr lang="en-US" sz="3000" b="1" dirty="0">
                <a:solidFill>
                  <a:srgbClr val="000099"/>
                </a:solidFill>
              </a:rPr>
              <a:t>two logical processors </a:t>
            </a:r>
            <a:r>
              <a:rPr lang="en-US" sz="3000" b="1" dirty="0"/>
              <a:t>by applying two-threaded SMT </a:t>
            </a:r>
            <a:r>
              <a:rPr lang="en-US" sz="3000" b="1" dirty="0" smtClean="0"/>
              <a:t>approach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Example: Intel </a:t>
            </a:r>
            <a:r>
              <a:rPr lang="en-US" b="1" dirty="0">
                <a:solidFill>
                  <a:srgbClr val="000099"/>
                </a:solidFill>
              </a:rPr>
              <a:t>Pentium 4</a:t>
            </a:r>
            <a:r>
              <a:rPr lang="en-US" b="1" dirty="0"/>
              <a:t> in </a:t>
            </a:r>
            <a:r>
              <a:rPr lang="en-US" b="1" dirty="0" smtClean="0"/>
              <a:t>2002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 smtClean="0"/>
              <a:t>Each </a:t>
            </a:r>
            <a:r>
              <a:rPr lang="en-US" sz="3000" b="1" dirty="0"/>
              <a:t>logical processor maintains a </a:t>
            </a:r>
            <a:r>
              <a:rPr lang="en-US" sz="3000" b="1" dirty="0">
                <a:solidFill>
                  <a:srgbClr val="000099"/>
                </a:solidFill>
              </a:rPr>
              <a:t>complete set </a:t>
            </a:r>
            <a:r>
              <a:rPr lang="en-US" sz="3000" b="1" dirty="0"/>
              <a:t>of architecture state (general-purpose registers, control registers</a:t>
            </a:r>
            <a:r>
              <a:rPr lang="en-US" sz="3000" b="1" dirty="0" smtClean="0"/>
              <a:t>,…)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 smtClean="0"/>
              <a:t>Logical </a:t>
            </a:r>
            <a:r>
              <a:rPr lang="en-US" sz="3000" b="1" dirty="0"/>
              <a:t>processors </a:t>
            </a:r>
            <a:r>
              <a:rPr lang="en-US" sz="3000" b="1" dirty="0">
                <a:solidFill>
                  <a:srgbClr val="000099"/>
                </a:solidFill>
              </a:rPr>
              <a:t>share</a:t>
            </a:r>
            <a:r>
              <a:rPr lang="en-US" sz="3000" b="1" dirty="0"/>
              <a:t> nearly all other resources such as caches, execution units, branch predictors, control logic and </a:t>
            </a:r>
            <a:r>
              <a:rPr lang="en-US" sz="3000" b="1" dirty="0" smtClean="0"/>
              <a:t>buses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Intel’s </a:t>
            </a:r>
            <a:r>
              <a:rPr lang="en-US" dirty="0" smtClean="0"/>
              <a:t>Hyper Threading </a:t>
            </a:r>
            <a:r>
              <a:rPr lang="en-US" dirty="0"/>
              <a:t>Technology</a:t>
            </a:r>
          </a:p>
        </p:txBody>
      </p:sp>
    </p:spTree>
    <p:extLst>
      <p:ext uri="{BB962C8B-B14F-4D97-AF65-F5344CB8AC3E}">
        <p14:creationId xmlns:p14="http://schemas.microsoft.com/office/powerpoint/2010/main" val="21616753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/>
              <a:t>Partitioned resources are </a:t>
            </a:r>
            <a:r>
              <a:rPr lang="en-US" sz="3000" b="1" dirty="0">
                <a:solidFill>
                  <a:srgbClr val="000099"/>
                </a:solidFill>
              </a:rPr>
              <a:t>recombined</a:t>
            </a:r>
            <a:r>
              <a:rPr lang="en-US" sz="3000" b="1" dirty="0"/>
              <a:t> when only one thread is active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/>
              <a:t>Add less than 5% to the relative </a:t>
            </a:r>
            <a:r>
              <a:rPr lang="en-US" sz="3000" b="1" dirty="0">
                <a:solidFill>
                  <a:srgbClr val="000099"/>
                </a:solidFill>
              </a:rPr>
              <a:t>chip size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/>
              <a:t>Improve </a:t>
            </a:r>
            <a:r>
              <a:rPr lang="en-US" sz="3000" b="1" dirty="0">
                <a:solidFill>
                  <a:srgbClr val="000099"/>
                </a:solidFill>
              </a:rPr>
              <a:t>performance</a:t>
            </a:r>
            <a:r>
              <a:rPr lang="en-US" sz="3000" b="1" dirty="0"/>
              <a:t> by 16% to 28%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Intel’s Hyper Threading </a:t>
            </a:r>
            <a:r>
              <a:rPr lang="en-US" dirty="0" smtClean="0"/>
              <a:t>Technology (Cont.)</a:t>
            </a:r>
            <a:endParaRPr lang="en-US" dirty="0"/>
          </a:p>
        </p:txBody>
      </p:sp>
      <p:pic>
        <p:nvPicPr>
          <p:cNvPr id="7" name="Picture 6" descr="D:\DANYAL\NUCES\PDC-6E-Spring 2023\Slides\Not Shared\3.6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4787" y="3594235"/>
            <a:ext cx="4162425" cy="23691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407666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marL="130175" indent="0" algn="just">
              <a:buNone/>
            </a:pPr>
            <a:endParaRPr lang="en-US" sz="3000" b="1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/>
          </a:p>
          <a:p>
            <a:pPr marL="130175" indent="0" algn="just">
              <a:buNone/>
            </a:pPr>
            <a:endParaRPr lang="en-US" sz="30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 smtClean="0"/>
              <a:t>Homogeneous </a:t>
            </a:r>
            <a:r>
              <a:rPr lang="en-US" sz="3000" b="1" dirty="0">
                <a:solidFill>
                  <a:srgbClr val="000099"/>
                </a:solidFill>
              </a:rPr>
              <a:t>processing </a:t>
            </a:r>
            <a:r>
              <a:rPr lang="en-US" sz="3000" b="1" dirty="0" smtClean="0">
                <a:solidFill>
                  <a:srgbClr val="000099"/>
                </a:solidFill>
              </a:rPr>
              <a:t>units </a:t>
            </a:r>
            <a:r>
              <a:rPr lang="en-US" sz="3000" b="1" dirty="0" smtClean="0"/>
              <a:t>/ processing elements (PEs)</a:t>
            </a:r>
            <a:endParaRPr lang="en-US" sz="30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/>
              <a:t>Single instruction: All processor units execute the </a:t>
            </a:r>
            <a:r>
              <a:rPr lang="en-US" sz="3000" b="1" dirty="0">
                <a:solidFill>
                  <a:srgbClr val="000099"/>
                </a:solidFill>
              </a:rPr>
              <a:t>same instruction</a:t>
            </a:r>
            <a:r>
              <a:rPr lang="en-US" sz="3000" b="1" dirty="0"/>
              <a:t> at any given time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/>
              <a:t>Multiple data: Each processing unit can operate on </a:t>
            </a:r>
            <a:r>
              <a:rPr lang="en-US" sz="3000" b="1" dirty="0">
                <a:solidFill>
                  <a:srgbClr val="000099"/>
                </a:solidFill>
              </a:rPr>
              <a:t>different data </a:t>
            </a:r>
            <a:r>
              <a:rPr lang="en-US" sz="3000" b="1" dirty="0" smtClean="0">
                <a:solidFill>
                  <a:srgbClr val="000099"/>
                </a:solidFill>
              </a:rPr>
              <a:t>set</a:t>
            </a:r>
            <a:endParaRPr lang="en-US" sz="3000" b="1" dirty="0">
              <a:solidFill>
                <a:srgbClr val="000099"/>
              </a:solidFill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Example: Add A and B, C and D, X and </a:t>
            </a:r>
            <a:r>
              <a:rPr lang="en-US" b="1" dirty="0" smtClean="0"/>
              <a:t>Z</a:t>
            </a:r>
          </a:p>
          <a:p>
            <a:pPr marL="463550" lvl="1" indent="0" algn="just">
              <a:buNone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SIMD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1669" y="1402090"/>
            <a:ext cx="4308661" cy="2078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7467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/>
              <a:t>Each processing element has an </a:t>
            </a:r>
            <a:r>
              <a:rPr lang="en-US" sz="3000" b="1" dirty="0">
                <a:solidFill>
                  <a:srgbClr val="000099"/>
                </a:solidFill>
              </a:rPr>
              <a:t>associated data </a:t>
            </a:r>
            <a:r>
              <a:rPr lang="en-US" sz="3000" b="1" dirty="0" smtClean="0"/>
              <a:t>memory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600" b="1" dirty="0"/>
              <a:t>S</a:t>
            </a:r>
            <a:r>
              <a:rPr lang="en-US" sz="2600" b="1" dirty="0" smtClean="0"/>
              <a:t>o </a:t>
            </a:r>
            <a:r>
              <a:rPr lang="en-US" sz="2600" b="1" dirty="0"/>
              <a:t>that each instruction is </a:t>
            </a:r>
            <a:r>
              <a:rPr lang="en-US" sz="2600" b="1" dirty="0">
                <a:solidFill>
                  <a:srgbClr val="000099"/>
                </a:solidFill>
              </a:rPr>
              <a:t>executed</a:t>
            </a:r>
            <a:r>
              <a:rPr lang="en-US" sz="2600" b="1" dirty="0"/>
              <a:t> on a different set of data by the different </a:t>
            </a:r>
            <a:r>
              <a:rPr lang="en-US" sz="2600" b="1" dirty="0" smtClean="0"/>
              <a:t>processors</a:t>
            </a:r>
            <a:endParaRPr lang="en-US" sz="30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 smtClean="0"/>
              <a:t>Used </a:t>
            </a:r>
            <a:r>
              <a:rPr lang="en-US" sz="3000" b="1" dirty="0"/>
              <a:t>by </a:t>
            </a:r>
            <a:r>
              <a:rPr lang="en-US" sz="3000" b="1" dirty="0">
                <a:solidFill>
                  <a:srgbClr val="000099"/>
                </a:solidFill>
              </a:rPr>
              <a:t>vector</a:t>
            </a:r>
            <a:r>
              <a:rPr lang="en-US" sz="3000" b="1" dirty="0"/>
              <a:t> and </a:t>
            </a:r>
            <a:r>
              <a:rPr lang="en-US" sz="3000" b="1" dirty="0">
                <a:solidFill>
                  <a:srgbClr val="000099"/>
                </a:solidFill>
              </a:rPr>
              <a:t>array</a:t>
            </a:r>
            <a:r>
              <a:rPr lang="en-US" sz="3000" b="1" dirty="0"/>
              <a:t> processors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600" b="1" dirty="0"/>
              <a:t>Suitable for vector and matrix </a:t>
            </a:r>
            <a:r>
              <a:rPr lang="en-US" sz="2600" b="1" dirty="0" smtClean="0"/>
              <a:t>calculations</a:t>
            </a:r>
            <a:endParaRPr lang="en-US" sz="30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 smtClean="0"/>
              <a:t>Vector </a:t>
            </a:r>
            <a:r>
              <a:rPr lang="en-US" sz="3000" b="1" dirty="0"/>
              <a:t>processors act on array of </a:t>
            </a:r>
            <a:r>
              <a:rPr lang="en-US" sz="3000" b="1" dirty="0">
                <a:solidFill>
                  <a:srgbClr val="000099"/>
                </a:solidFill>
              </a:rPr>
              <a:t>similar data </a:t>
            </a:r>
            <a:r>
              <a:rPr lang="en-US" sz="3000" b="1" dirty="0"/>
              <a:t>(only when executing in vector mode) and in this case they are several times faster than when executing in scalar mode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600" b="1" dirty="0" smtClean="0"/>
              <a:t>Example: NEC </a:t>
            </a:r>
            <a:r>
              <a:rPr lang="en-US" sz="2600" b="1" dirty="0"/>
              <a:t>SX-8 processors run at 2 GHz for vectors and 1 GHz for scalar </a:t>
            </a:r>
            <a:r>
              <a:rPr lang="en-US" sz="2600" b="1" dirty="0" smtClean="0"/>
              <a:t>operations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SIMD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9469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/>
              <a:t>A good example is the </a:t>
            </a:r>
            <a:r>
              <a:rPr lang="en-US" sz="3000" b="1" dirty="0">
                <a:solidFill>
                  <a:srgbClr val="000099"/>
                </a:solidFill>
              </a:rPr>
              <a:t>processing of pixels </a:t>
            </a:r>
            <a:r>
              <a:rPr lang="en-US" sz="3000" b="1" dirty="0"/>
              <a:t>on screen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/>
              <a:t>A </a:t>
            </a:r>
            <a:r>
              <a:rPr lang="en-US" sz="3000" b="1" dirty="0">
                <a:solidFill>
                  <a:srgbClr val="000099"/>
                </a:solidFill>
              </a:rPr>
              <a:t>sequential processor</a:t>
            </a:r>
            <a:r>
              <a:rPr lang="en-US" sz="3000" b="1" dirty="0"/>
              <a:t> would examine </a:t>
            </a:r>
            <a:r>
              <a:rPr lang="en-US" sz="3000" b="1" dirty="0">
                <a:solidFill>
                  <a:srgbClr val="000099"/>
                </a:solidFill>
              </a:rPr>
              <a:t>each pixel one at a time </a:t>
            </a:r>
            <a:r>
              <a:rPr lang="en-US" sz="3000" b="1" dirty="0"/>
              <a:t>and apply the processing instruction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/>
              <a:t>An </a:t>
            </a:r>
            <a:r>
              <a:rPr lang="en-US" sz="3000" b="1" dirty="0">
                <a:solidFill>
                  <a:srgbClr val="000099"/>
                </a:solidFill>
              </a:rPr>
              <a:t>array or vector processor </a:t>
            </a:r>
            <a:r>
              <a:rPr lang="en-US" sz="3000" b="1" dirty="0"/>
              <a:t>can process </a:t>
            </a:r>
            <a:r>
              <a:rPr lang="en-US" sz="3000" b="1" dirty="0">
                <a:solidFill>
                  <a:srgbClr val="000099"/>
                </a:solidFill>
              </a:rPr>
              <a:t>all the elements of an array simultaneously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rgbClr val="000099"/>
                </a:solidFill>
              </a:rPr>
              <a:t>Game consoles and graphic cards </a:t>
            </a:r>
            <a:r>
              <a:rPr lang="en-US" sz="3000" b="1" dirty="0"/>
              <a:t>make heavy use of such processors to shift those pixels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/>
              <a:t>Such designs are usually dedicated to a </a:t>
            </a:r>
            <a:r>
              <a:rPr lang="en-US" sz="3000" b="1" dirty="0">
                <a:solidFill>
                  <a:srgbClr val="000099"/>
                </a:solidFill>
              </a:rPr>
              <a:t>particular application </a:t>
            </a:r>
            <a:r>
              <a:rPr lang="en-US" sz="3000" b="1" dirty="0"/>
              <a:t>and not commonly marketed for general purpose computing</a:t>
            </a:r>
            <a:br>
              <a:rPr lang="en-US" sz="3000" b="1" dirty="0"/>
            </a:br>
            <a:endParaRPr lang="en-US" sz="30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SIMD - </a:t>
            </a:r>
            <a:r>
              <a:rPr lang="en-US" dirty="0" smtClean="0"/>
              <a:t>Examples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6627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 smtClean="0"/>
              <a:t>SIMD-Examples (Cont</a:t>
            </a:r>
            <a:r>
              <a:rPr lang="en-US" b="0" dirty="0" smtClean="0"/>
              <a:t>.) – Super Mario</a:t>
            </a:r>
            <a:endParaRPr lang="en-US" b="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624" y="1368642"/>
            <a:ext cx="6635576" cy="4976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1114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/>
              <a:t>A single data stream is </a:t>
            </a:r>
            <a:r>
              <a:rPr lang="en-US" sz="3000" b="1" dirty="0">
                <a:solidFill>
                  <a:srgbClr val="0000A8"/>
                </a:solidFill>
              </a:rPr>
              <a:t>transmitted </a:t>
            </a:r>
            <a:r>
              <a:rPr lang="en-US" sz="3000" b="1" dirty="0"/>
              <a:t>to a set of processors, each of which executes a </a:t>
            </a:r>
            <a:r>
              <a:rPr lang="en-US" sz="3000" b="1" dirty="0">
                <a:solidFill>
                  <a:srgbClr val="000099"/>
                </a:solidFill>
              </a:rPr>
              <a:t>different instruction </a:t>
            </a:r>
            <a:r>
              <a:rPr lang="en-US" sz="3000" b="1" dirty="0"/>
              <a:t>sequence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 smtClean="0"/>
              <a:t>Each </a:t>
            </a:r>
            <a:r>
              <a:rPr lang="en-US" sz="3000" b="1" dirty="0"/>
              <a:t>processing unit operates on the data </a:t>
            </a:r>
            <a:r>
              <a:rPr lang="en-US" sz="3000" b="1" dirty="0">
                <a:solidFill>
                  <a:srgbClr val="000099"/>
                </a:solidFill>
              </a:rPr>
              <a:t>independently</a:t>
            </a:r>
            <a:r>
              <a:rPr lang="en-US" sz="3000" b="1" dirty="0"/>
              <a:t> via independent instruction stream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 smtClean="0"/>
              <a:t>This structure </a:t>
            </a:r>
            <a:r>
              <a:rPr lang="en-US" sz="3000" b="1" dirty="0"/>
              <a:t>is </a:t>
            </a:r>
            <a:r>
              <a:rPr lang="en-US" sz="3000" b="1" dirty="0">
                <a:solidFill>
                  <a:srgbClr val="000099"/>
                </a:solidFill>
              </a:rPr>
              <a:t>not commercially </a:t>
            </a:r>
            <a:r>
              <a:rPr lang="en-US" sz="3000" b="1" dirty="0" smtClean="0"/>
              <a:t>implemented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 smtClean="0"/>
              <a:t>Example: Multiple </a:t>
            </a:r>
            <a:r>
              <a:rPr lang="en-US" sz="3000" b="1" dirty="0"/>
              <a:t>cryptography algorithms attempting to </a:t>
            </a:r>
            <a:r>
              <a:rPr lang="en-US" sz="3000" b="1" dirty="0">
                <a:solidFill>
                  <a:srgbClr val="7030A0"/>
                </a:solidFill>
              </a:rPr>
              <a:t>crack a coded </a:t>
            </a:r>
            <a:r>
              <a:rPr lang="en-US" sz="3000" b="1" dirty="0"/>
              <a:t>message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MISD</a:t>
            </a:r>
          </a:p>
        </p:txBody>
      </p:sp>
    </p:spTree>
    <p:extLst>
      <p:ext uri="{BB962C8B-B14F-4D97-AF65-F5344CB8AC3E}">
        <p14:creationId xmlns:p14="http://schemas.microsoft.com/office/powerpoint/2010/main" val="54211255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rgbClr val="C00000"/>
                </a:solidFill>
              </a:rPr>
              <a:t>Multiple instruction: </a:t>
            </a:r>
            <a:r>
              <a:rPr lang="en-US" sz="3000" b="1" dirty="0"/>
              <a:t>Every processor may execute a </a:t>
            </a:r>
            <a:r>
              <a:rPr lang="en-US" sz="3000" b="1" dirty="0">
                <a:solidFill>
                  <a:srgbClr val="0000A8"/>
                </a:solidFill>
              </a:rPr>
              <a:t>different instruction</a:t>
            </a:r>
            <a:r>
              <a:rPr lang="en-US" sz="3000" b="1" dirty="0"/>
              <a:t> stream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rgbClr val="C00000"/>
                </a:solidFill>
              </a:rPr>
              <a:t>Multiple data: </a:t>
            </a:r>
            <a:r>
              <a:rPr lang="en-US" sz="3000" b="1" dirty="0"/>
              <a:t>Every processor may work with a </a:t>
            </a:r>
            <a:r>
              <a:rPr lang="en-US" sz="3000" b="1" dirty="0">
                <a:solidFill>
                  <a:srgbClr val="0000A8"/>
                </a:solidFill>
              </a:rPr>
              <a:t>different data </a:t>
            </a:r>
            <a:r>
              <a:rPr lang="en-US" sz="3000" b="1" dirty="0" smtClean="0"/>
              <a:t>stream</a:t>
            </a:r>
            <a:endParaRPr lang="en-US" sz="3000" b="1" dirty="0"/>
          </a:p>
          <a:p>
            <a:pPr marL="130175" indent="0" algn="just">
              <a:buNone/>
            </a:pPr>
            <a:r>
              <a:rPr lang="en-US" sz="3000" b="1" dirty="0" smtClean="0">
                <a:solidFill>
                  <a:srgbClr val="C00000"/>
                </a:solidFill>
              </a:rPr>
              <a:t>Examples:</a:t>
            </a:r>
            <a:endParaRPr lang="en-US" sz="3000" b="1" dirty="0">
              <a:solidFill>
                <a:srgbClr val="C00000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 smtClean="0"/>
              <a:t>Most </a:t>
            </a:r>
            <a:r>
              <a:rPr lang="en-US" sz="3000" b="1" dirty="0"/>
              <a:t>of the current </a:t>
            </a:r>
            <a:r>
              <a:rPr lang="en-US" sz="3000" b="1" dirty="0">
                <a:solidFill>
                  <a:srgbClr val="0000A8"/>
                </a:solidFill>
              </a:rPr>
              <a:t>supercomputers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 smtClean="0">
                <a:solidFill>
                  <a:srgbClr val="0000A8"/>
                </a:solidFill>
              </a:rPr>
              <a:t>Grid</a:t>
            </a:r>
            <a:r>
              <a:rPr lang="en-US" sz="3000" b="1" dirty="0" smtClean="0"/>
              <a:t> computers</a:t>
            </a:r>
            <a:endParaRPr lang="en-US" sz="30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 smtClean="0">
                <a:solidFill>
                  <a:srgbClr val="0000A8"/>
                </a:solidFill>
              </a:rPr>
              <a:t>Networked</a:t>
            </a:r>
            <a:r>
              <a:rPr lang="en-US" sz="3000" b="1" dirty="0" smtClean="0"/>
              <a:t> </a:t>
            </a:r>
            <a:r>
              <a:rPr lang="en-US" sz="3000" b="1" dirty="0"/>
              <a:t>parallel computers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 smtClean="0"/>
              <a:t>Symmetric Multiprocessors (</a:t>
            </a:r>
            <a:r>
              <a:rPr lang="en-US" sz="3000" b="1" dirty="0" smtClean="0">
                <a:solidFill>
                  <a:srgbClr val="0000A8"/>
                </a:solidFill>
              </a:rPr>
              <a:t>SMP</a:t>
            </a:r>
            <a:r>
              <a:rPr lang="en-US" sz="3000" b="1" dirty="0" smtClean="0"/>
              <a:t>) computers</a:t>
            </a:r>
            <a:endParaRPr lang="en-US" sz="30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MIMD </a:t>
            </a:r>
          </a:p>
        </p:txBody>
      </p:sp>
    </p:spTree>
    <p:extLst>
      <p:ext uri="{BB962C8B-B14F-4D97-AF65-F5344CB8AC3E}">
        <p14:creationId xmlns:p14="http://schemas.microsoft.com/office/powerpoint/2010/main" val="204256850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marL="130175" indent="0" algn="just">
              <a:buNone/>
            </a:pPr>
            <a:r>
              <a:rPr lang="en-US" sz="3000" b="1" dirty="0"/>
              <a:t>MIMD systems are mainly</a:t>
            </a:r>
            <a:r>
              <a:rPr lang="en-US" sz="3000" b="1" dirty="0" smtClean="0"/>
              <a:t>:</a:t>
            </a:r>
          </a:p>
          <a:p>
            <a:pPr marL="130175" indent="0" algn="just">
              <a:buNone/>
            </a:pPr>
            <a:endParaRPr lang="en-US" sz="3000" b="1" dirty="0"/>
          </a:p>
          <a:p>
            <a:pPr marL="130175" indent="0" algn="just">
              <a:buNone/>
            </a:pPr>
            <a:r>
              <a:rPr lang="en-US" sz="3000" b="1" dirty="0">
                <a:solidFill>
                  <a:srgbClr val="C00000"/>
                </a:solidFill>
              </a:rPr>
              <a:t>Shared Memory (SM) </a:t>
            </a:r>
            <a:r>
              <a:rPr lang="en-US" sz="3000" b="1" dirty="0" smtClean="0">
                <a:solidFill>
                  <a:srgbClr val="C00000"/>
                </a:solidFill>
              </a:rPr>
              <a:t>Systems</a:t>
            </a:r>
            <a:r>
              <a:rPr lang="en-US" sz="3000" b="1" dirty="0">
                <a:solidFill>
                  <a:srgbClr val="C00000"/>
                </a:solidFill>
              </a:rPr>
              <a:t>: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 smtClean="0"/>
              <a:t>Multiple </a:t>
            </a:r>
            <a:r>
              <a:rPr lang="en-US" sz="3000" b="1" dirty="0" smtClean="0"/>
              <a:t>CPUs share </a:t>
            </a:r>
            <a:r>
              <a:rPr lang="en-US" sz="3000" b="1" dirty="0">
                <a:solidFill>
                  <a:srgbClr val="0000A8"/>
                </a:solidFill>
              </a:rPr>
              <a:t>same</a:t>
            </a:r>
            <a:r>
              <a:rPr lang="en-US" sz="3000" b="1" dirty="0"/>
              <a:t> address space </a:t>
            </a:r>
            <a:endParaRPr lang="en-US" sz="3000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600" b="1" dirty="0"/>
              <a:t>T</a:t>
            </a:r>
            <a:r>
              <a:rPr lang="en-US" sz="2600" b="1" dirty="0" smtClean="0"/>
              <a:t>here </a:t>
            </a:r>
            <a:r>
              <a:rPr lang="en-US" sz="2600" b="1" dirty="0"/>
              <a:t>is only one </a:t>
            </a:r>
            <a:r>
              <a:rPr lang="en-US" sz="2600" b="1" dirty="0" smtClean="0"/>
              <a:t>memory</a:t>
            </a:r>
            <a:endParaRPr lang="en-US" sz="26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/>
          </a:p>
          <a:p>
            <a:pPr marL="130175" indent="0" algn="just">
              <a:buNone/>
            </a:pPr>
            <a:r>
              <a:rPr lang="en-US" sz="3000" b="1" dirty="0">
                <a:solidFill>
                  <a:srgbClr val="C00000"/>
                </a:solidFill>
              </a:rPr>
              <a:t>Distributed </a:t>
            </a:r>
            <a:r>
              <a:rPr lang="en-US" sz="3000" b="1" dirty="0" smtClean="0">
                <a:solidFill>
                  <a:srgbClr val="C00000"/>
                </a:solidFill>
              </a:rPr>
              <a:t>Memory </a:t>
            </a:r>
            <a:r>
              <a:rPr lang="en-US" sz="3000" b="1" dirty="0">
                <a:solidFill>
                  <a:srgbClr val="C00000"/>
                </a:solidFill>
              </a:rPr>
              <a:t>(DM) </a:t>
            </a:r>
            <a:r>
              <a:rPr lang="en-US" sz="3000" b="1" dirty="0" smtClean="0">
                <a:solidFill>
                  <a:srgbClr val="C00000"/>
                </a:solidFill>
              </a:rPr>
              <a:t>Systems</a:t>
            </a:r>
            <a:r>
              <a:rPr lang="en-US" sz="3000" b="1" dirty="0">
                <a:solidFill>
                  <a:srgbClr val="C00000"/>
                </a:solidFill>
              </a:rPr>
              <a:t>: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 smtClean="0"/>
              <a:t>Each </a:t>
            </a:r>
            <a:r>
              <a:rPr lang="en-US" sz="3000" b="1" dirty="0"/>
              <a:t>CPU has its own </a:t>
            </a:r>
            <a:r>
              <a:rPr lang="en-US" sz="3000" b="1" dirty="0">
                <a:solidFill>
                  <a:srgbClr val="0000A8"/>
                </a:solidFill>
              </a:rPr>
              <a:t>associated</a:t>
            </a:r>
            <a:r>
              <a:rPr lang="en-US" sz="3000" b="1" dirty="0"/>
              <a:t> </a:t>
            </a:r>
            <a:r>
              <a:rPr lang="en-US" sz="3000" b="1" dirty="0" smtClean="0"/>
              <a:t>memory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 smtClean="0"/>
              <a:t>CPUs </a:t>
            </a:r>
            <a:r>
              <a:rPr lang="en-US" sz="3000" b="1" dirty="0"/>
              <a:t>are </a:t>
            </a:r>
            <a:r>
              <a:rPr lang="en-US" sz="3000" b="1" dirty="0">
                <a:solidFill>
                  <a:srgbClr val="0000A8"/>
                </a:solidFill>
              </a:rPr>
              <a:t>connected</a:t>
            </a:r>
            <a:r>
              <a:rPr lang="en-US" sz="3000" b="1" dirty="0"/>
              <a:t> by some network (clusters</a:t>
            </a:r>
            <a:r>
              <a:rPr lang="en-US" sz="3000" b="1" dirty="0" smtClean="0"/>
              <a:t>) </a:t>
            </a:r>
            <a:endParaRPr lang="en-US" sz="30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MIMD (Cont.)</a:t>
            </a:r>
          </a:p>
        </p:txBody>
      </p:sp>
    </p:spTree>
    <p:extLst>
      <p:ext uri="{BB962C8B-B14F-4D97-AF65-F5344CB8AC3E}">
        <p14:creationId xmlns:p14="http://schemas.microsoft.com/office/powerpoint/2010/main" val="34053484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endParaRPr lang="en-US" sz="3000" b="1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/>
          </a:p>
          <a:p>
            <a:pPr marL="130175" indent="0" algn="just">
              <a:buNone/>
            </a:pPr>
            <a:endParaRPr lang="en-US" sz="3000" b="1" dirty="0"/>
          </a:p>
          <a:p>
            <a:pPr marL="130175" indent="0" algn="just">
              <a:buNone/>
            </a:pPr>
            <a:endParaRPr lang="en-US" sz="30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 smtClean="0"/>
              <a:t>All </a:t>
            </a:r>
            <a:r>
              <a:rPr lang="en-US" sz="3000" b="1" dirty="0"/>
              <a:t>processors have </a:t>
            </a:r>
            <a:r>
              <a:rPr lang="en-US" sz="3000" b="1" dirty="0">
                <a:solidFill>
                  <a:srgbClr val="0000A8"/>
                </a:solidFill>
              </a:rPr>
              <a:t>access</a:t>
            </a:r>
            <a:r>
              <a:rPr lang="en-US" sz="3000" b="1" dirty="0"/>
              <a:t> to all memory as a global address space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MIMD - Shared Memory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611" y="1346443"/>
            <a:ext cx="5746204" cy="3978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0857467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endParaRPr lang="en-US" sz="3000" b="1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/>
              <a:t>From all processing units to the shared memory, the </a:t>
            </a:r>
            <a:r>
              <a:rPr lang="en-US" sz="3000" b="1" dirty="0">
                <a:solidFill>
                  <a:srgbClr val="0000A8"/>
                </a:solidFill>
              </a:rPr>
              <a:t>data access time</a:t>
            </a:r>
            <a:r>
              <a:rPr lang="en-US" sz="3000" b="1" dirty="0"/>
              <a:t> is constant.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 smtClean="0"/>
              <a:t>Mostly </a:t>
            </a:r>
            <a:r>
              <a:rPr lang="en-US" sz="3000" b="1" dirty="0">
                <a:solidFill>
                  <a:srgbClr val="0000A8"/>
                </a:solidFill>
              </a:rPr>
              <a:t>represented</a:t>
            </a:r>
            <a:r>
              <a:rPr lang="en-US" sz="3000" b="1" dirty="0"/>
              <a:t> by Symmetric Multiprocessor (SMP) </a:t>
            </a:r>
            <a:r>
              <a:rPr lang="en-US" sz="3000" b="1" dirty="0" smtClean="0"/>
              <a:t>machines.</a:t>
            </a:r>
            <a:endParaRPr lang="en-US" sz="30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Uniform Memory Access (UMA)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2292" y="1346443"/>
            <a:ext cx="5247416" cy="331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58060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endParaRPr lang="en-US" sz="3000" b="1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/>
          </a:p>
          <a:p>
            <a:pPr marL="130175" indent="0" algn="just">
              <a:buNone/>
            </a:pPr>
            <a:endParaRPr lang="en-US" sz="30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 smtClean="0"/>
              <a:t>From </a:t>
            </a:r>
            <a:r>
              <a:rPr lang="en-US" sz="3000" b="1" dirty="0"/>
              <a:t>all processing units to the shared memory, the </a:t>
            </a:r>
            <a:r>
              <a:rPr lang="en-US" sz="3000" b="1" dirty="0">
                <a:solidFill>
                  <a:srgbClr val="0000A8"/>
                </a:solidFill>
              </a:rPr>
              <a:t>data access time </a:t>
            </a:r>
            <a:r>
              <a:rPr lang="en-US" sz="3000" b="1" dirty="0"/>
              <a:t>is </a:t>
            </a:r>
            <a:r>
              <a:rPr lang="en-US" sz="3000" b="1" dirty="0" smtClean="0">
                <a:solidFill>
                  <a:srgbClr val="7030A0"/>
                </a:solidFill>
              </a:rPr>
              <a:t>not constant</a:t>
            </a:r>
            <a:r>
              <a:rPr lang="en-US" sz="3000" b="1" dirty="0" smtClean="0"/>
              <a:t>.</a:t>
            </a:r>
            <a:endParaRPr lang="en-US" sz="30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Non-Uniform Memory Access (NUMA)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6343" y="1524001"/>
            <a:ext cx="5248029" cy="2274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31464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Main problem is how to do interconnections of the CPUs to each other and to the memory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marL="130175" indent="0" algn="just">
              <a:buNone/>
            </a:pPr>
            <a:r>
              <a:rPr lang="en-US" sz="3200" b="1" dirty="0"/>
              <a:t>There are three main </a:t>
            </a:r>
            <a:r>
              <a:rPr lang="en-US" sz="3200" b="1" dirty="0">
                <a:solidFill>
                  <a:srgbClr val="000099"/>
                </a:solidFill>
              </a:rPr>
              <a:t>network topologies </a:t>
            </a:r>
            <a:r>
              <a:rPr lang="en-US" sz="3200" b="1" dirty="0"/>
              <a:t>available</a:t>
            </a:r>
            <a:r>
              <a:rPr lang="en-US" sz="3200" b="1" dirty="0" smtClean="0"/>
              <a:t>:</a:t>
            </a:r>
            <a:endParaRPr lang="en-US" sz="3200" b="1" dirty="0" smtClean="0">
              <a:solidFill>
                <a:srgbClr val="C00000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rgbClr val="C00000"/>
                </a:solidFill>
              </a:rPr>
              <a:t>Crossbar</a:t>
            </a:r>
            <a:r>
              <a:rPr lang="en-US" sz="3200" b="1" dirty="0" smtClean="0"/>
              <a:t> </a:t>
            </a:r>
            <a:r>
              <a:rPr lang="en-US" sz="3200" b="1" dirty="0"/>
              <a:t>(</a:t>
            </a:r>
            <a:r>
              <a:rPr lang="en-US" sz="3200" b="1" dirty="0" smtClean="0"/>
              <a:t>n x n </a:t>
            </a:r>
            <a:r>
              <a:rPr lang="en-US" sz="3200" b="1" dirty="0"/>
              <a:t>connections - </a:t>
            </a:r>
            <a:r>
              <a:rPr lang="en-US" sz="3200" b="1" dirty="0" err="1"/>
              <a:t>datapath</a:t>
            </a:r>
            <a:r>
              <a:rPr lang="en-US" sz="3200" b="1" dirty="0"/>
              <a:t> without sharing)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C00000"/>
                </a:solidFill>
                <a:sym typeface="Symbol" pitchFamily="1" charset="2"/>
              </a:rPr>
              <a:t>-</a:t>
            </a:r>
            <a:r>
              <a:rPr lang="en-US" sz="3200" b="1" dirty="0" smtClean="0">
                <a:solidFill>
                  <a:srgbClr val="C00000"/>
                </a:solidFill>
                <a:sym typeface="Symbol" pitchFamily="1" charset="2"/>
              </a:rPr>
              <a:t>network</a:t>
            </a:r>
            <a:r>
              <a:rPr lang="en-US" sz="3200" b="1" dirty="0" smtClean="0"/>
              <a:t>(n </a:t>
            </a:r>
            <a:r>
              <a:rPr lang="en-US" sz="3200" b="1" dirty="0"/>
              <a:t>log2 n connections - log2 n switching stages and shared on a path)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C00000"/>
                </a:solidFill>
              </a:rPr>
              <a:t>Central </a:t>
            </a:r>
            <a:r>
              <a:rPr lang="en-US" sz="3200" b="1" dirty="0" err="1">
                <a:solidFill>
                  <a:srgbClr val="C00000"/>
                </a:solidFill>
              </a:rPr>
              <a:t>databus</a:t>
            </a:r>
            <a:r>
              <a:rPr lang="en-US" sz="3200" b="1" dirty="0">
                <a:solidFill>
                  <a:srgbClr val="C00000"/>
                </a:solidFill>
              </a:rPr>
              <a:t> </a:t>
            </a:r>
            <a:r>
              <a:rPr lang="en-US" sz="3200" b="1" dirty="0" smtClean="0"/>
              <a:t>(O(1) </a:t>
            </a:r>
            <a:r>
              <a:rPr lang="en-US" sz="3200" b="1" dirty="0"/>
              <a:t>connections - n shared)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Shared Memory Interconnection Network</a:t>
            </a:r>
          </a:p>
        </p:txBody>
      </p:sp>
    </p:spTree>
    <p:extLst>
      <p:ext uri="{BB962C8B-B14F-4D97-AF65-F5344CB8AC3E}">
        <p14:creationId xmlns:p14="http://schemas.microsoft.com/office/powerpoint/2010/main" val="8174148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6171" y="1346443"/>
            <a:ext cx="7823200" cy="4802361"/>
          </a:xfrm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Shared Memory Interconnection </a:t>
            </a:r>
            <a:r>
              <a:rPr lang="en-US" dirty="0" smtClean="0"/>
              <a:t>Network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1633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1"/>
            <a:ext cx="10515600" cy="4351338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Flynn’s </a:t>
            </a:r>
            <a:r>
              <a:rPr lang="en-US" sz="3200" b="1" dirty="0"/>
              <a:t>Classical </a:t>
            </a:r>
            <a:r>
              <a:rPr lang="en-US" sz="3200" b="1" dirty="0" smtClean="0"/>
              <a:t>Taxonomy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Differentiates </a:t>
            </a:r>
            <a:r>
              <a:rPr lang="en-US" b="1" dirty="0"/>
              <a:t>multiprocessor computers on the basis of dimensions of instruction and </a:t>
            </a:r>
            <a:r>
              <a:rPr lang="en-US" b="1" dirty="0" smtClean="0"/>
              <a:t>data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Processor Organizations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SISD </a:t>
            </a:r>
            <a:r>
              <a:rPr lang="en-US" b="1" dirty="0"/>
              <a:t>- Used in uniprocessor </a:t>
            </a:r>
            <a:r>
              <a:rPr lang="en-US" b="1" dirty="0" smtClean="0"/>
              <a:t>computers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SIMD </a:t>
            </a:r>
            <a:r>
              <a:rPr lang="en-US" b="1" dirty="0"/>
              <a:t>- Used in vector or array processor </a:t>
            </a:r>
            <a:r>
              <a:rPr lang="en-US" b="1" dirty="0" smtClean="0"/>
              <a:t>computers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MISD </a:t>
            </a:r>
            <a:r>
              <a:rPr lang="en-US" b="1" dirty="0"/>
              <a:t>- Not commercially </a:t>
            </a:r>
            <a:r>
              <a:rPr lang="en-US" b="1" dirty="0" smtClean="0"/>
              <a:t>implemented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MIMD </a:t>
            </a:r>
            <a:r>
              <a:rPr lang="en-US" b="1" dirty="0"/>
              <a:t>- Used in supercomputers, grid computers etc</a:t>
            </a:r>
            <a:r>
              <a:rPr lang="en-US" b="1" dirty="0" smtClean="0"/>
              <a:t>.</a:t>
            </a:r>
            <a:endParaRPr lang="en-US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+mn-ea"/>
              </a:rPr>
              <a:t>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5970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1"/>
            <a:ext cx="10515600" cy="4351338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SISD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Easy </a:t>
            </a:r>
            <a:r>
              <a:rPr lang="en-US" b="1" dirty="0"/>
              <a:t>and deterministic but with limited </a:t>
            </a:r>
            <a:r>
              <a:rPr lang="en-US" b="1" dirty="0" smtClean="0"/>
              <a:t>performance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SISD </a:t>
            </a:r>
            <a:r>
              <a:rPr lang="en-US" b="1" dirty="0"/>
              <a:t>processor performance - MIPS Rate  =  f  x  </a:t>
            </a:r>
            <a:r>
              <a:rPr lang="en-US" b="1" dirty="0" smtClean="0"/>
              <a:t>IPC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How </a:t>
            </a:r>
            <a:r>
              <a:rPr lang="en-US" b="1" dirty="0"/>
              <a:t>to increase performance of uniprocessor</a:t>
            </a:r>
            <a:r>
              <a:rPr lang="en-US" b="1" dirty="0" smtClean="0"/>
              <a:t>?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SISD – </a:t>
            </a:r>
            <a:r>
              <a:rPr lang="en-US" sz="3200" b="1" dirty="0" smtClean="0"/>
              <a:t>Multithreading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Implicit </a:t>
            </a:r>
            <a:r>
              <a:rPr lang="en-US" b="1" dirty="0"/>
              <a:t>Multithreading - Implemented at compiler or OS kernel </a:t>
            </a:r>
            <a:r>
              <a:rPr lang="en-US" b="1" dirty="0" smtClean="0"/>
              <a:t>level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Explicit </a:t>
            </a:r>
            <a:r>
              <a:rPr lang="en-US" b="1" dirty="0"/>
              <a:t>Multithreading - Defined be the </a:t>
            </a:r>
            <a:r>
              <a:rPr lang="en-US" b="1" dirty="0" smtClean="0"/>
              <a:t>programmer</a:t>
            </a:r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Interleaved multithreading</a:t>
            </a:r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Blocked </a:t>
            </a:r>
            <a:r>
              <a:rPr lang="en-US" b="1" dirty="0"/>
              <a:t>multithreading </a:t>
            </a:r>
            <a:endParaRPr lang="en-US" b="1" dirty="0" smtClean="0"/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Simultaneous multithreading</a:t>
            </a:r>
            <a:endParaRPr lang="en-US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+mn-ea"/>
              </a:rPr>
              <a:t>Summary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2537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1"/>
            <a:ext cx="10515600" cy="4351338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Intel’s </a:t>
            </a:r>
            <a:r>
              <a:rPr lang="en-US" sz="3200" b="1" dirty="0"/>
              <a:t>Hyper Threading </a:t>
            </a:r>
            <a:r>
              <a:rPr lang="en-US" sz="3200" b="1" dirty="0" smtClean="0"/>
              <a:t>Technology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Single </a:t>
            </a:r>
            <a:r>
              <a:rPr lang="en-US" b="1" dirty="0"/>
              <a:t>physical processor appears as two logical processors by applying two-threaded SMT </a:t>
            </a:r>
            <a:r>
              <a:rPr lang="en-US" b="1" dirty="0" smtClean="0"/>
              <a:t>approach (Used in Pentium 4 PCs - 2002)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SIMD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Homogeneous </a:t>
            </a:r>
            <a:r>
              <a:rPr lang="en-US" b="1" dirty="0"/>
              <a:t>processing units (vector or array </a:t>
            </a:r>
            <a:r>
              <a:rPr lang="en-US" b="1" dirty="0" smtClean="0"/>
              <a:t>processors)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Execution </a:t>
            </a:r>
            <a:r>
              <a:rPr lang="en-US" b="1" dirty="0"/>
              <a:t>of single instruction on multiple data </a:t>
            </a:r>
            <a:r>
              <a:rPr lang="en-US" b="1" dirty="0" smtClean="0"/>
              <a:t>sets using </a:t>
            </a:r>
            <a:r>
              <a:rPr lang="en-US" b="1" dirty="0"/>
              <a:t>single control </a:t>
            </a:r>
            <a:r>
              <a:rPr lang="en-US" b="1" dirty="0" smtClean="0"/>
              <a:t>unit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Associated </a:t>
            </a:r>
            <a:r>
              <a:rPr lang="en-US" b="1" dirty="0"/>
              <a:t>data memory for each processing </a:t>
            </a:r>
            <a:r>
              <a:rPr lang="en-US" b="1" dirty="0" smtClean="0"/>
              <a:t>element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SIMD </a:t>
            </a:r>
            <a:r>
              <a:rPr lang="en-US" sz="3200" b="1" dirty="0" smtClean="0"/>
              <a:t>– Examples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Processing </a:t>
            </a:r>
            <a:r>
              <a:rPr lang="en-US" b="1" dirty="0"/>
              <a:t>of pixels, online gaming servers, matrix based calculations etc</a:t>
            </a:r>
            <a:r>
              <a:rPr lang="en-US" b="1" dirty="0" smtClean="0"/>
              <a:t>.</a:t>
            </a:r>
            <a:endParaRPr lang="en-US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+mn-ea"/>
              </a:rPr>
              <a:t>Summary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267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1"/>
            <a:ext cx="10515600" cy="4351338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MISD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Single </a:t>
            </a:r>
            <a:r>
              <a:rPr lang="en-US" b="1" dirty="0"/>
              <a:t>data stream transmitted to a set of processors, each of which executes a different instruction </a:t>
            </a:r>
            <a:r>
              <a:rPr lang="en-US" b="1" dirty="0" smtClean="0"/>
              <a:t>sequence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Commercially </a:t>
            </a:r>
            <a:r>
              <a:rPr lang="en-US" b="1" dirty="0"/>
              <a:t>not </a:t>
            </a:r>
            <a:r>
              <a:rPr lang="en-US" b="1" dirty="0" smtClean="0"/>
              <a:t>implemented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Example</a:t>
            </a:r>
            <a:r>
              <a:rPr lang="en-US" b="1" dirty="0"/>
              <a:t>: Multiple cryptography algorithms attempting to crack a coded </a:t>
            </a:r>
            <a:r>
              <a:rPr lang="en-US" b="1" dirty="0" smtClean="0"/>
              <a:t>message</a:t>
            </a:r>
            <a:endParaRPr lang="en-US" sz="24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MIMD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Supercomputers</a:t>
            </a:r>
            <a:r>
              <a:rPr lang="en-US" b="1" dirty="0"/>
              <a:t>, Grid computers, Networked parallel computers etc</a:t>
            </a:r>
            <a:r>
              <a:rPr lang="en-US" b="1" dirty="0" smtClean="0"/>
              <a:t>.</a:t>
            </a: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+mn-ea"/>
              </a:rPr>
              <a:t>Summary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66899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1"/>
            <a:ext cx="10515600" cy="4351338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MIMD </a:t>
            </a:r>
            <a:r>
              <a:rPr lang="en-US" sz="3200" b="1" dirty="0"/>
              <a:t>- Shared </a:t>
            </a:r>
            <a:r>
              <a:rPr lang="en-US" sz="3200" b="1" dirty="0" smtClean="0"/>
              <a:t>Memory - CPUs </a:t>
            </a:r>
            <a:r>
              <a:rPr lang="en-US" sz="3200" b="1" dirty="0"/>
              <a:t>share same address </a:t>
            </a:r>
            <a:r>
              <a:rPr lang="en-US" sz="3200" b="1" dirty="0" smtClean="0"/>
              <a:t>space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Uniform </a:t>
            </a:r>
            <a:r>
              <a:rPr lang="en-US" b="1" dirty="0"/>
              <a:t>Memory Access (UMA) - Constant data access </a:t>
            </a:r>
            <a:r>
              <a:rPr lang="en-US" b="1" dirty="0" smtClean="0"/>
              <a:t>time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Non-Uniform </a:t>
            </a:r>
            <a:r>
              <a:rPr lang="en-US" b="1" dirty="0"/>
              <a:t>Memory Access (NUMA) - Non-Constant data access </a:t>
            </a:r>
            <a:r>
              <a:rPr lang="en-US" b="1" dirty="0" smtClean="0"/>
              <a:t>time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MIMD - Distributed </a:t>
            </a:r>
            <a:r>
              <a:rPr lang="en-US" sz="3200" b="1" dirty="0" smtClean="0"/>
              <a:t>Memory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CPUs </a:t>
            </a:r>
            <a:r>
              <a:rPr lang="en-US" b="1" dirty="0"/>
              <a:t>connected via network and have their own associated </a:t>
            </a:r>
            <a:r>
              <a:rPr lang="en-US" b="1" dirty="0" smtClean="0"/>
              <a:t>memory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Shared Memory Interconnection Network	</a:t>
            </a:r>
            <a:endParaRPr lang="en-US" sz="3200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Crossbar </a:t>
            </a:r>
            <a:r>
              <a:rPr lang="en-US" b="1" dirty="0"/>
              <a:t>- n x n connections, no path </a:t>
            </a:r>
            <a:r>
              <a:rPr lang="en-US" b="1" dirty="0" smtClean="0"/>
              <a:t>sharing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Omega </a:t>
            </a:r>
            <a:r>
              <a:rPr lang="en-US" b="1" dirty="0"/>
              <a:t>Network - n log n connections, shared </a:t>
            </a:r>
            <a:r>
              <a:rPr lang="en-US" b="1" dirty="0" smtClean="0"/>
              <a:t>path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Bus </a:t>
            </a:r>
            <a:r>
              <a:rPr lang="en-US" b="1" dirty="0"/>
              <a:t>- O (1) connections, shared path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+mn-ea"/>
              </a:rPr>
              <a:t>Summary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2337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2948278"/>
            <a:ext cx="10515600" cy="894622"/>
          </a:xfrm>
        </p:spPr>
        <p:txBody>
          <a:bodyPr/>
          <a:lstStyle/>
          <a:p>
            <a:pPr algn="ctr"/>
            <a:r>
              <a:rPr lang="en-US" dirty="0" smtClean="0"/>
              <a:t>Questions?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22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1819</TotalTime>
  <Words>1344</Words>
  <Application>Microsoft Office PowerPoint</Application>
  <PresentationFormat>Widescreen</PresentationFormat>
  <Paragraphs>243</Paragraphs>
  <Slides>31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Calibri Light</vt:lpstr>
      <vt:lpstr>Symbol</vt:lpstr>
      <vt:lpstr>Wingdings</vt:lpstr>
      <vt:lpstr>Office Theme</vt:lpstr>
      <vt:lpstr>CS 3006 Parallel and Distributed Computing Lecture 3</vt:lpstr>
      <vt:lpstr>Flynn’s Classical Taxonomy and Processor to Memory Connection Strategies</vt:lpstr>
      <vt:lpstr>Outline</vt:lpstr>
      <vt:lpstr>Outline</vt:lpstr>
      <vt:lpstr>Flynn’s Classical Taxonomy</vt:lpstr>
      <vt:lpstr>Processor Organizations</vt:lpstr>
      <vt:lpstr>SISD </vt:lpstr>
      <vt:lpstr>SISD (Cont.)</vt:lpstr>
      <vt:lpstr>SISD – Multithreading</vt:lpstr>
      <vt:lpstr>SISD – Multithreading (Cont.)</vt:lpstr>
      <vt:lpstr>SISD-Explicit Multithreading</vt:lpstr>
      <vt:lpstr>Intel’s Hyper Threading Technology</vt:lpstr>
      <vt:lpstr>Intel’s Hyper Threading Technology (Cont.)</vt:lpstr>
      <vt:lpstr>SIMD</vt:lpstr>
      <vt:lpstr>SIMD (Cont.)</vt:lpstr>
      <vt:lpstr>SIMD - Examples</vt:lpstr>
      <vt:lpstr>SIMD-Examples (Cont.) – Super Mario</vt:lpstr>
      <vt:lpstr>MISD</vt:lpstr>
      <vt:lpstr>MIMD </vt:lpstr>
      <vt:lpstr>MIMD (Cont.)</vt:lpstr>
      <vt:lpstr>MIMD - Shared Memory</vt:lpstr>
      <vt:lpstr>Uniform Memory Access (UMA)</vt:lpstr>
      <vt:lpstr>Non-Uniform Memory Access (NUMA)</vt:lpstr>
      <vt:lpstr>Shared Memory Interconnection Network</vt:lpstr>
      <vt:lpstr>Shared Memory Interconnection Network (Cont.)</vt:lpstr>
      <vt:lpstr>Summary</vt:lpstr>
      <vt:lpstr>Summary (Cont.)</vt:lpstr>
      <vt:lpstr>Summary (Cont.)</vt:lpstr>
      <vt:lpstr>Summary (Cont.)</vt:lpstr>
      <vt:lpstr>Summary (Cont.)</vt:lpstr>
      <vt:lpstr>Questions?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HP</cp:lastModifiedBy>
  <cp:revision>365</cp:revision>
  <dcterms:created xsi:type="dcterms:W3CDTF">2020-01-18T07:24:00Z</dcterms:created>
  <dcterms:modified xsi:type="dcterms:W3CDTF">2024-01-24T09:32:49Z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DBCDF73CD2C44F1492F6933E9F753A38</vt:lpwstr>
  </property>
  <property fmtid="{D5CDD505-2E9C-101B-9397-08002B2CF9AE}" pid="3" name="KSOProductBuildVer">
    <vt:lpwstr>1033-11.2.0.11380</vt:lpwstr>
  </property>
</Properties>
</file>