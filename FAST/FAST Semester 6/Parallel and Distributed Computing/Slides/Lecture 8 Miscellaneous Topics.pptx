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4"/>
  </p:notesMasterIdLst>
  <p:sldIdLst>
    <p:sldId id="1537" r:id="rId2"/>
    <p:sldId id="1450" r:id="rId3"/>
    <p:sldId id="1540" r:id="rId4"/>
    <p:sldId id="1558" r:id="rId5"/>
    <p:sldId id="1566" r:id="rId6"/>
    <p:sldId id="1538" r:id="rId7"/>
    <p:sldId id="1533" r:id="rId8"/>
    <p:sldId id="1539" r:id="rId9"/>
    <p:sldId id="1541" r:id="rId10"/>
    <p:sldId id="1542" r:id="rId11"/>
    <p:sldId id="1543" r:id="rId12"/>
    <p:sldId id="1544" r:id="rId13"/>
    <p:sldId id="1545" r:id="rId14"/>
    <p:sldId id="1546" r:id="rId15"/>
    <p:sldId id="1547" r:id="rId16"/>
    <p:sldId id="1548" r:id="rId17"/>
    <p:sldId id="1549" r:id="rId18"/>
    <p:sldId id="1550" r:id="rId19"/>
    <p:sldId id="1551" r:id="rId20"/>
    <p:sldId id="1552" r:id="rId21"/>
    <p:sldId id="1553" r:id="rId22"/>
    <p:sldId id="1554" r:id="rId23"/>
    <p:sldId id="1555" r:id="rId24"/>
    <p:sldId id="1556" r:id="rId25"/>
    <p:sldId id="1557" r:id="rId26"/>
    <p:sldId id="1567" r:id="rId27"/>
    <p:sldId id="1568" r:id="rId28"/>
    <p:sldId id="1569" r:id="rId29"/>
    <p:sldId id="1570" r:id="rId30"/>
    <p:sldId id="1571" r:id="rId31"/>
    <p:sldId id="1572" r:id="rId32"/>
    <p:sldId id="1573" r:id="rId33"/>
    <p:sldId id="1576" r:id="rId34"/>
    <p:sldId id="1577" r:id="rId35"/>
    <p:sldId id="1578" r:id="rId36"/>
    <p:sldId id="1579" r:id="rId37"/>
    <p:sldId id="1580" r:id="rId38"/>
    <p:sldId id="1581" r:id="rId39"/>
    <p:sldId id="1582" r:id="rId40"/>
    <p:sldId id="1583" r:id="rId41"/>
    <p:sldId id="1584" r:id="rId42"/>
    <p:sldId id="1585" r:id="rId43"/>
    <p:sldId id="1560" r:id="rId44"/>
    <p:sldId id="1561" r:id="rId45"/>
    <p:sldId id="1562" r:id="rId46"/>
    <p:sldId id="1563" r:id="rId47"/>
    <p:sldId id="1564" r:id="rId48"/>
    <p:sldId id="1574" r:id="rId49"/>
    <p:sldId id="1575" r:id="rId50"/>
    <p:sldId id="1586" r:id="rId51"/>
    <p:sldId id="1565" r:id="rId52"/>
    <p:sldId id="1587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00A800"/>
    <a:srgbClr val="000099"/>
    <a:srgbClr val="00C000"/>
    <a:srgbClr val="3C6CDF"/>
    <a:srgbClr val="9CDFF9"/>
    <a:srgbClr val="B8C2C9"/>
    <a:srgbClr val="D6DCE0"/>
    <a:srgbClr val="0000A3"/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33"/>
    <p:restoredTop sz="88689" autoAdjust="0"/>
  </p:normalViewPr>
  <p:slideViewPr>
    <p:cSldViewPr snapToGrid="0" snapToObjects="1">
      <p:cViewPr varScale="1">
        <p:scale>
          <a:sx n="66" d="100"/>
          <a:sy n="66" d="100"/>
        </p:scale>
        <p:origin x="468" y="66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2/22/2024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1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7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40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634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682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795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4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776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325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896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10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99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543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7058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969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429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6457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6302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211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69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6807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5849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743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30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CS 3006</a:t>
            </a:r>
            <a:br>
              <a:rPr lang="en-US" sz="4800" dirty="0" smtClean="0"/>
            </a:br>
            <a:r>
              <a:rPr lang="en-US" sz="4800" dirty="0" smtClean="0"/>
              <a:t>Parallel and Distributed Computing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/>
              <a:t>Lecture </a:t>
            </a:r>
            <a:r>
              <a:rPr lang="en-US" sz="4800" dirty="0"/>
              <a:t>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Danyal </a:t>
            </a:r>
            <a:r>
              <a:rPr lang="en-US" sz="3200" b="1" dirty="0" err="1"/>
              <a:t>Farhat</a:t>
            </a:r>
            <a:endParaRPr lang="en-US" sz="3200" b="1" dirty="0"/>
          </a:p>
          <a:p>
            <a:r>
              <a:rPr lang="en-US" sz="3200" b="1" dirty="0"/>
              <a:t>FAST School of Computing</a:t>
            </a:r>
          </a:p>
          <a:p>
            <a:r>
              <a:rPr lang="en-US" sz="3200" b="1" dirty="0" smtClean="0"/>
              <a:t>NUCES </a:t>
            </a:r>
            <a:r>
              <a:rPr lang="en-US" sz="3200" b="1" dirty="0"/>
              <a:t>Lahore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53746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4343" y="2524237"/>
            <a:ext cx="9144000" cy="665163"/>
          </a:xfrm>
        </p:spPr>
        <p:txBody>
          <a:bodyPr>
            <a:noAutofit/>
          </a:bodyPr>
          <a:lstStyle/>
          <a:p>
            <a:pPr lvl="0"/>
            <a:r>
              <a:rPr lang="en-US" sz="4400" dirty="0" smtClean="0"/>
              <a:t>Miscellaneous </a:t>
            </a:r>
            <a:r>
              <a:rPr lang="en-US" sz="4400" dirty="0"/>
              <a:t>Topics</a:t>
            </a:r>
          </a:p>
        </p:txBody>
      </p:sp>
    </p:spTree>
    <p:extLst>
      <p:ext uri="{BB962C8B-B14F-4D97-AF65-F5344CB8AC3E}">
        <p14:creationId xmlns:p14="http://schemas.microsoft.com/office/powerpoint/2010/main" val="451099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Motivating Parallelism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The Memory / Disk Speed </a:t>
            </a:r>
            <a:r>
              <a:rPr lang="en-US" b="1" dirty="0" smtClean="0"/>
              <a:t>Argument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The Data Communication </a:t>
            </a:r>
            <a:r>
              <a:rPr lang="en-US" b="1" dirty="0" smtClean="0"/>
              <a:t>Argument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Types of Parallelism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Data Parallelism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Functional Parallelism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Pipelining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Multi-Processor vs. Multi-Computer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ym typeface="+mn-ea"/>
              </a:rPr>
              <a:t>Cluster vs. Network of </a:t>
            </a:r>
            <a:r>
              <a:rPr lang="en-US" sz="3200" b="1" dirty="0" smtClean="0">
                <a:sym typeface="+mn-ea"/>
              </a:rPr>
              <a:t>Workstations</a:t>
            </a:r>
            <a:endParaRPr lang="en-US" sz="3200" b="1" dirty="0">
              <a:sym typeface="+mn-ea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4306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Cache </a:t>
            </a:r>
            <a:r>
              <a:rPr lang="en-US" sz="3200" b="1" dirty="0"/>
              <a:t>Coherence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Snooping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Branch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Architecture of an Ideal Parallel Computer - PRAM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PRAM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PRAM Arbitration </a:t>
            </a:r>
            <a:r>
              <a:rPr lang="en-US" sz="3200" b="1" dirty="0" smtClean="0"/>
              <a:t>Protocols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Physical Complexity of an Ideal Parallel Computer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Communication </a:t>
            </a:r>
            <a:r>
              <a:rPr lang="en-US" sz="3200" b="1" dirty="0"/>
              <a:t>Costs in Parallel Machines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Outline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8750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449070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Message Passing Costs in Parallel Computers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Startup time</a:t>
            </a:r>
            <a:r>
              <a:rPr lang="en-US" b="1" dirty="0"/>
              <a:t>, Per-hop time, Per-word transfer time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Store-and-Forward </a:t>
            </a:r>
            <a:r>
              <a:rPr lang="en-US" b="1" dirty="0"/>
              <a:t>Routing, Packet Routing, Cut-Through Routing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Simplified </a:t>
            </a:r>
            <a:r>
              <a:rPr lang="en-US" b="1" dirty="0"/>
              <a:t>Cost Model for Communicating Messages </a:t>
            </a: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Summary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Additional Resources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Outline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5896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The Memory / Disk Speed Argument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While </a:t>
            </a:r>
            <a:r>
              <a:rPr lang="en-US" b="1" dirty="0">
                <a:solidFill>
                  <a:srgbClr val="0000A8"/>
                </a:solidFill>
              </a:rPr>
              <a:t>clock rates</a:t>
            </a:r>
            <a:r>
              <a:rPr lang="en-US" b="1" dirty="0"/>
              <a:t> of high-end processors have increased at roughly 40% per year over the past decade, DRAM access times have only improved at the rate of roughly 10% per year over this </a:t>
            </a:r>
            <a:r>
              <a:rPr lang="en-US" b="1" dirty="0" smtClean="0"/>
              <a:t>interval 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This </a:t>
            </a:r>
            <a:r>
              <a:rPr lang="en-US" b="1" dirty="0">
                <a:solidFill>
                  <a:srgbClr val="0000A8"/>
                </a:solidFill>
              </a:rPr>
              <a:t>mismatch in speeds</a:t>
            </a:r>
            <a:r>
              <a:rPr lang="en-US" b="1" dirty="0"/>
              <a:t> causes significant performance </a:t>
            </a:r>
            <a:r>
              <a:rPr lang="en-US" b="1" dirty="0" smtClean="0"/>
              <a:t>bottlenecks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Parallel </a:t>
            </a:r>
            <a:r>
              <a:rPr lang="en-US" b="1" dirty="0"/>
              <a:t>platforms provide </a:t>
            </a:r>
            <a:r>
              <a:rPr lang="en-US" b="1" dirty="0">
                <a:solidFill>
                  <a:srgbClr val="0000A8"/>
                </a:solidFill>
              </a:rPr>
              <a:t>increased bandwidth </a:t>
            </a:r>
            <a:r>
              <a:rPr lang="en-US" b="1" dirty="0"/>
              <a:t>to the memory </a:t>
            </a:r>
            <a:r>
              <a:rPr lang="en-US" b="1" dirty="0" smtClean="0"/>
              <a:t>system 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Motivating Parallelism</a:t>
            </a:r>
          </a:p>
        </p:txBody>
      </p:sp>
    </p:spTree>
    <p:extLst>
      <p:ext uri="{BB962C8B-B14F-4D97-AF65-F5344CB8AC3E}">
        <p14:creationId xmlns:p14="http://schemas.microsoft.com/office/powerpoint/2010/main" val="33356877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The Memory / Disk Speed Argument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Parallel </a:t>
            </a:r>
            <a:r>
              <a:rPr lang="en-US" b="1" dirty="0"/>
              <a:t>platforms also provide </a:t>
            </a:r>
            <a:r>
              <a:rPr lang="en-US" b="1" dirty="0">
                <a:solidFill>
                  <a:srgbClr val="0000A8"/>
                </a:solidFill>
              </a:rPr>
              <a:t>higher aggregate </a:t>
            </a:r>
            <a:r>
              <a:rPr lang="en-US" b="1" dirty="0" smtClean="0">
                <a:solidFill>
                  <a:srgbClr val="0000A8"/>
                </a:solidFill>
              </a:rPr>
              <a:t>caches</a:t>
            </a:r>
            <a:r>
              <a:rPr lang="en-US" b="1" dirty="0" smtClean="0"/>
              <a:t> 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Some </a:t>
            </a:r>
            <a:r>
              <a:rPr lang="en-US" b="1" dirty="0"/>
              <a:t>of the fastest growing applications of parallel computing utilize not their raw computational speed, rather their </a:t>
            </a:r>
            <a:r>
              <a:rPr lang="en-US" b="1" dirty="0">
                <a:solidFill>
                  <a:srgbClr val="0000A8"/>
                </a:solidFill>
              </a:rPr>
              <a:t>ability to pump data </a:t>
            </a:r>
            <a:r>
              <a:rPr lang="en-US" b="1" dirty="0"/>
              <a:t>to memory and disk </a:t>
            </a:r>
            <a:r>
              <a:rPr lang="en-US" b="1" dirty="0" smtClean="0"/>
              <a:t>faster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CPU is fast but memory isn’t, which is a </a:t>
            </a:r>
            <a:r>
              <a:rPr lang="en-US" b="1" dirty="0">
                <a:solidFill>
                  <a:srgbClr val="0000A8"/>
                </a:solidFill>
              </a:rPr>
              <a:t>mismatch</a:t>
            </a:r>
            <a:r>
              <a:rPr lang="en-US" b="1" dirty="0"/>
              <a:t> in context of parallel </a:t>
            </a:r>
            <a:r>
              <a:rPr lang="en-US" b="1" dirty="0" smtClean="0"/>
              <a:t>programming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Solution: Parallel </a:t>
            </a:r>
            <a:r>
              <a:rPr lang="en-US" b="1" dirty="0"/>
              <a:t>platform (increased </a:t>
            </a:r>
            <a:r>
              <a:rPr lang="en-US" b="1" dirty="0">
                <a:solidFill>
                  <a:srgbClr val="0000A8"/>
                </a:solidFill>
              </a:rPr>
              <a:t>bandwidth</a:t>
            </a:r>
            <a:r>
              <a:rPr lang="en-US" b="1" dirty="0"/>
              <a:t> to memory) and combination or collection of caches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Motivating </a:t>
            </a:r>
            <a:r>
              <a:rPr lang="en-US" dirty="0" smtClean="0"/>
              <a:t>Parallelism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3444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The Data Communication Argument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As </a:t>
            </a:r>
            <a:r>
              <a:rPr lang="en-US" b="1" dirty="0"/>
              <a:t>the network evolves, the vision of the Internet as </a:t>
            </a:r>
            <a:r>
              <a:rPr lang="en-US" b="1" dirty="0">
                <a:solidFill>
                  <a:srgbClr val="0000A8"/>
                </a:solidFill>
              </a:rPr>
              <a:t>one large computing platform </a:t>
            </a:r>
            <a:r>
              <a:rPr lang="en-US" b="1" dirty="0"/>
              <a:t>has emerged.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In many applications like databases and data mining problems, the </a:t>
            </a:r>
            <a:r>
              <a:rPr lang="en-US" b="1" dirty="0">
                <a:solidFill>
                  <a:srgbClr val="0000A8"/>
                </a:solidFill>
              </a:rPr>
              <a:t>volume of data </a:t>
            </a:r>
            <a:r>
              <a:rPr lang="en-US" b="1" dirty="0"/>
              <a:t>is such that they cannot be moved.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Any </a:t>
            </a:r>
            <a:r>
              <a:rPr lang="en-US" b="1" dirty="0">
                <a:solidFill>
                  <a:srgbClr val="0000A8"/>
                </a:solidFill>
              </a:rPr>
              <a:t>analyses</a:t>
            </a:r>
            <a:r>
              <a:rPr lang="en-US" b="1" dirty="0"/>
              <a:t> on this data must be performed over the network using parallel techniques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Motivating </a:t>
            </a:r>
            <a:r>
              <a:rPr lang="en-US" dirty="0" smtClean="0"/>
              <a:t>Parallelism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53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Data Parallelism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When there are independent tasks applying the </a:t>
            </a:r>
            <a:r>
              <a:rPr lang="en-US" sz="3200" b="1" dirty="0">
                <a:solidFill>
                  <a:srgbClr val="0000A8"/>
                </a:solidFill>
              </a:rPr>
              <a:t>same operation</a:t>
            </a:r>
            <a:r>
              <a:rPr lang="en-US" sz="3200" b="1" dirty="0"/>
              <a:t> to different elements of a data </a:t>
            </a:r>
            <a:r>
              <a:rPr lang="en-US" sz="3200" b="1" dirty="0" smtClean="0"/>
              <a:t>set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Example code</a:t>
            </a:r>
          </a:p>
          <a:p>
            <a:pPr marL="463550" lvl="1" indent="0" algn="just">
              <a:buNone/>
            </a:pPr>
            <a:r>
              <a:rPr lang="en-US" b="1" dirty="0" smtClean="0">
                <a:solidFill>
                  <a:srgbClr val="0000A8"/>
                </a:solidFill>
              </a:rPr>
              <a:t>for </a:t>
            </a:r>
            <a:r>
              <a:rPr lang="en-US" b="1" dirty="0" err="1" smtClean="0">
                <a:solidFill>
                  <a:srgbClr val="0000A8"/>
                </a:solidFill>
              </a:rPr>
              <a:t>i</a:t>
            </a:r>
            <a:r>
              <a:rPr lang="en-US" b="1" dirty="0" smtClean="0">
                <a:solidFill>
                  <a:srgbClr val="0000A8"/>
                </a:solidFill>
              </a:rPr>
              <a:t>=0 to 99 do</a:t>
            </a:r>
          </a:p>
          <a:p>
            <a:pPr marL="463550" lvl="1" indent="0" algn="just">
              <a:buNone/>
            </a:pPr>
            <a:r>
              <a:rPr lang="en-US" b="1" dirty="0" smtClean="0">
                <a:solidFill>
                  <a:srgbClr val="0000A8"/>
                </a:solidFill>
              </a:rPr>
              <a:t>a[ </a:t>
            </a:r>
            <a:r>
              <a:rPr lang="en-US" b="1" dirty="0" err="1" smtClean="0">
                <a:solidFill>
                  <a:srgbClr val="0000A8"/>
                </a:solidFill>
              </a:rPr>
              <a:t>i</a:t>
            </a:r>
            <a:r>
              <a:rPr lang="en-US" b="1" dirty="0" smtClean="0">
                <a:solidFill>
                  <a:srgbClr val="0000A8"/>
                </a:solidFill>
              </a:rPr>
              <a:t> ] = b[ </a:t>
            </a:r>
            <a:r>
              <a:rPr lang="en-US" b="1" dirty="0" err="1" smtClean="0">
                <a:solidFill>
                  <a:srgbClr val="0000A8"/>
                </a:solidFill>
              </a:rPr>
              <a:t>i</a:t>
            </a:r>
            <a:r>
              <a:rPr lang="en-US" b="1" dirty="0" smtClean="0">
                <a:solidFill>
                  <a:srgbClr val="0000A8"/>
                </a:solidFill>
              </a:rPr>
              <a:t> ] + c [ </a:t>
            </a:r>
            <a:r>
              <a:rPr lang="en-US" b="1" dirty="0" err="1" smtClean="0">
                <a:solidFill>
                  <a:srgbClr val="0000A8"/>
                </a:solidFill>
              </a:rPr>
              <a:t>i</a:t>
            </a:r>
            <a:r>
              <a:rPr lang="en-US" b="1" dirty="0" smtClean="0">
                <a:solidFill>
                  <a:srgbClr val="0000A8"/>
                </a:solidFill>
              </a:rPr>
              <a:t> ]</a:t>
            </a:r>
          </a:p>
          <a:p>
            <a:pPr marL="463550" lvl="1" indent="0" algn="just">
              <a:buNone/>
            </a:pPr>
            <a:r>
              <a:rPr lang="en-US" b="1" dirty="0" err="1" smtClean="0">
                <a:solidFill>
                  <a:srgbClr val="0000A8"/>
                </a:solidFill>
              </a:rPr>
              <a:t>Endfor</a:t>
            </a:r>
            <a:r>
              <a:rPr lang="en-US" b="1" dirty="0" smtClean="0">
                <a:solidFill>
                  <a:srgbClr val="0000A8"/>
                </a:solidFill>
              </a:rPr>
              <a:t> </a:t>
            </a:r>
            <a:endParaRPr lang="en-US" sz="3200" b="1" dirty="0">
              <a:solidFill>
                <a:srgbClr val="0000A8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Here </a:t>
            </a:r>
            <a:r>
              <a:rPr lang="en-US" b="1" dirty="0">
                <a:solidFill>
                  <a:srgbClr val="0000A8"/>
                </a:solidFill>
              </a:rPr>
              <a:t>same operation </a:t>
            </a:r>
            <a:r>
              <a:rPr lang="en-US" b="1" dirty="0"/>
              <a:t>addition </a:t>
            </a:r>
            <a:r>
              <a:rPr lang="en-US" b="1" dirty="0" smtClean="0"/>
              <a:t>is being </a:t>
            </a:r>
            <a:r>
              <a:rPr lang="en-US" b="1" dirty="0"/>
              <a:t>performed on first 100 </a:t>
            </a:r>
            <a:r>
              <a:rPr lang="en-US" b="1" dirty="0" smtClean="0"/>
              <a:t>elements of </a:t>
            </a:r>
            <a:r>
              <a:rPr lang="en-US" b="1" dirty="0"/>
              <a:t>‘b’ and ‘c</a:t>
            </a:r>
            <a:r>
              <a:rPr lang="en-US" b="1" dirty="0" smtClean="0"/>
              <a:t>’ arrays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All 100 iterations of the loop could be </a:t>
            </a:r>
            <a:r>
              <a:rPr lang="en-US" b="1" dirty="0">
                <a:solidFill>
                  <a:srgbClr val="0000A8"/>
                </a:solidFill>
              </a:rPr>
              <a:t>executed</a:t>
            </a:r>
            <a:r>
              <a:rPr lang="en-US" b="1" dirty="0"/>
              <a:t> </a:t>
            </a:r>
            <a:r>
              <a:rPr lang="en-US" b="1" dirty="0" smtClean="0">
                <a:solidFill>
                  <a:srgbClr val="0000A8"/>
                </a:solidFill>
              </a:rPr>
              <a:t>simultaneously</a:t>
            </a:r>
            <a:endParaRPr lang="en-US" b="1" dirty="0">
              <a:solidFill>
                <a:srgbClr val="0000A8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Parallelism</a:t>
            </a:r>
          </a:p>
        </p:txBody>
      </p:sp>
    </p:spTree>
    <p:extLst>
      <p:ext uri="{BB962C8B-B14F-4D97-AF65-F5344CB8AC3E}">
        <p14:creationId xmlns:p14="http://schemas.microsoft.com/office/powerpoint/2010/main" val="29209717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Functional Parallelism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When there are independent tasks applying </a:t>
            </a:r>
            <a:r>
              <a:rPr lang="en-US" sz="3200" b="1" dirty="0">
                <a:solidFill>
                  <a:srgbClr val="0000A8"/>
                </a:solidFill>
              </a:rPr>
              <a:t>different operations</a:t>
            </a:r>
            <a:r>
              <a:rPr lang="en-US" sz="3200" b="1" dirty="0"/>
              <a:t> to different data elements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Example code</a:t>
            </a:r>
          </a:p>
          <a:p>
            <a:pPr marL="587375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0000A8"/>
                </a:solidFill>
              </a:rPr>
              <a:t>a=2</a:t>
            </a:r>
          </a:p>
          <a:p>
            <a:pPr marL="587375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0000A8"/>
                </a:solidFill>
              </a:rPr>
              <a:t>b=3</a:t>
            </a:r>
          </a:p>
          <a:p>
            <a:pPr marL="587375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0000A8"/>
                </a:solidFill>
              </a:rPr>
              <a:t>m= (</a:t>
            </a:r>
            <a:r>
              <a:rPr lang="en-US" sz="2400" b="1" dirty="0" err="1">
                <a:solidFill>
                  <a:srgbClr val="0000A8"/>
                </a:solidFill>
              </a:rPr>
              <a:t>a+b</a:t>
            </a:r>
            <a:r>
              <a:rPr lang="en-US" sz="2400" b="1" dirty="0" smtClean="0">
                <a:solidFill>
                  <a:srgbClr val="0000A8"/>
                </a:solidFill>
              </a:rPr>
              <a:t>) / 2</a:t>
            </a:r>
            <a:endParaRPr lang="en-US" sz="2400" b="1" dirty="0">
              <a:solidFill>
                <a:srgbClr val="0000A8"/>
              </a:solidFill>
            </a:endParaRPr>
          </a:p>
          <a:p>
            <a:pPr marL="587375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0000A8"/>
                </a:solidFill>
              </a:rPr>
              <a:t>s= (</a:t>
            </a:r>
            <a:r>
              <a:rPr lang="en-US" sz="2400" b="1" dirty="0" smtClean="0">
                <a:solidFill>
                  <a:srgbClr val="0000A8"/>
                </a:solidFill>
              </a:rPr>
              <a:t>𝒂</a:t>
            </a:r>
            <a:r>
              <a:rPr lang="en-US" sz="2400" b="1" dirty="0">
                <a:solidFill>
                  <a:srgbClr val="0000A8"/>
                </a:solidFill>
              </a:rPr>
              <a:t> </a:t>
            </a:r>
            <a:r>
              <a:rPr lang="en-US" sz="2400" b="1" dirty="0" smtClean="0">
                <a:solidFill>
                  <a:srgbClr val="0000A8"/>
                </a:solidFill>
              </a:rPr>
              <a:t>x a </a:t>
            </a:r>
            <a:r>
              <a:rPr lang="en-US" sz="2400" b="1" dirty="0">
                <a:solidFill>
                  <a:srgbClr val="0000A8"/>
                </a:solidFill>
              </a:rPr>
              <a:t>+ </a:t>
            </a:r>
            <a:r>
              <a:rPr lang="en-US" sz="2400" b="1" dirty="0" smtClean="0">
                <a:solidFill>
                  <a:srgbClr val="0000A8"/>
                </a:solidFill>
              </a:rPr>
              <a:t>𝒃 x b) / 2</a:t>
            </a:r>
            <a:endParaRPr lang="en-US" sz="2400" b="1" dirty="0">
              <a:solidFill>
                <a:srgbClr val="0000A8"/>
              </a:solidFill>
            </a:endParaRPr>
          </a:p>
          <a:p>
            <a:pPr marL="587375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0000A8"/>
                </a:solidFill>
              </a:rPr>
              <a:t>v= s - 𝒎^𝟐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Here third and fourth statements could be performed </a:t>
            </a:r>
            <a:r>
              <a:rPr lang="en-US" sz="3200" b="1" dirty="0" smtClean="0">
                <a:solidFill>
                  <a:srgbClr val="0000A8"/>
                </a:solidFill>
              </a:rPr>
              <a:t>concurrently</a:t>
            </a:r>
            <a:endParaRPr lang="en-US" sz="3200" b="1" dirty="0">
              <a:solidFill>
                <a:srgbClr val="0000A8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</a:t>
            </a:r>
            <a:r>
              <a:rPr lang="en-US" dirty="0" smtClean="0"/>
              <a:t>Parallelism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5341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>
                <a:solidFill>
                  <a:srgbClr val="C00000"/>
                </a:solidFill>
              </a:rPr>
              <a:t>Pipelining </a:t>
            </a: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Usually </a:t>
            </a:r>
            <a:r>
              <a:rPr lang="en-US" sz="3200" b="1" dirty="0"/>
              <a:t>used for the problems where </a:t>
            </a:r>
            <a:r>
              <a:rPr lang="en-US" sz="3200" b="1" dirty="0">
                <a:solidFill>
                  <a:srgbClr val="0000A8"/>
                </a:solidFill>
              </a:rPr>
              <a:t>single instance </a:t>
            </a:r>
            <a:r>
              <a:rPr lang="en-US" sz="3200" b="1" dirty="0"/>
              <a:t>of the problem can not be parallelized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The </a:t>
            </a:r>
            <a:r>
              <a:rPr lang="en-US" sz="3200" b="1" dirty="0"/>
              <a:t>output of </a:t>
            </a:r>
            <a:r>
              <a:rPr lang="en-US" sz="3200" b="1" dirty="0">
                <a:solidFill>
                  <a:srgbClr val="0000A8"/>
                </a:solidFill>
              </a:rPr>
              <a:t>one stage </a:t>
            </a:r>
            <a:r>
              <a:rPr lang="en-US" sz="3200" b="1" dirty="0"/>
              <a:t>is input of the other stage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Dividing </a:t>
            </a:r>
            <a:r>
              <a:rPr lang="en-US" sz="3200" b="1" dirty="0"/>
              <a:t>whole computation of each instance into </a:t>
            </a:r>
            <a:r>
              <a:rPr lang="en-US" sz="3200" b="1" dirty="0">
                <a:solidFill>
                  <a:srgbClr val="0000A8"/>
                </a:solidFill>
              </a:rPr>
              <a:t>multiple stages </a:t>
            </a:r>
            <a:r>
              <a:rPr lang="en-US" sz="3200" b="1" dirty="0"/>
              <a:t>provided that there are multiple instances of the problem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</a:t>
            </a:r>
            <a:r>
              <a:rPr lang="en-US" dirty="0" smtClean="0"/>
              <a:t>Parallelism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7675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Pipelining (Cont.) 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An </a:t>
            </a:r>
            <a:r>
              <a:rPr lang="en-US" sz="3200" b="1" dirty="0"/>
              <a:t>effective method of </a:t>
            </a:r>
            <a:r>
              <a:rPr lang="en-US" sz="3200" b="1" dirty="0">
                <a:solidFill>
                  <a:srgbClr val="0000A8"/>
                </a:solidFill>
              </a:rPr>
              <a:t>attaining parallelism </a:t>
            </a:r>
            <a:r>
              <a:rPr lang="en-US" sz="3200" b="1" dirty="0"/>
              <a:t>on </a:t>
            </a:r>
            <a:r>
              <a:rPr lang="en-US" sz="3200" b="1" dirty="0" smtClean="0"/>
              <a:t>the uniprocessor </a:t>
            </a:r>
            <a:r>
              <a:rPr lang="en-US" sz="3200" b="1" dirty="0"/>
              <a:t>architectures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Depends </a:t>
            </a:r>
            <a:r>
              <a:rPr lang="en-US" sz="3200" b="1" dirty="0"/>
              <a:t>on </a:t>
            </a:r>
            <a:r>
              <a:rPr lang="en-US" sz="3200" b="1" dirty="0">
                <a:solidFill>
                  <a:srgbClr val="0000A8"/>
                </a:solidFill>
              </a:rPr>
              <a:t>pipelining abilities </a:t>
            </a:r>
            <a:r>
              <a:rPr lang="en-US" sz="3200" b="1" dirty="0"/>
              <a:t>of the </a:t>
            </a:r>
            <a:r>
              <a:rPr lang="en-US" sz="3200" b="1" dirty="0" smtClean="0"/>
              <a:t>processor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Pentium 2 supports </a:t>
            </a:r>
            <a:r>
              <a:rPr lang="en-US" b="1" dirty="0" smtClean="0">
                <a:solidFill>
                  <a:srgbClr val="0000A8"/>
                </a:solidFill>
              </a:rPr>
              <a:t>12 stage </a:t>
            </a:r>
            <a:r>
              <a:rPr lang="en-US" b="1" dirty="0" smtClean="0"/>
              <a:t>pipelining 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Pentium </a:t>
            </a:r>
            <a:r>
              <a:rPr lang="en-US" b="1" dirty="0"/>
              <a:t>4 supports </a:t>
            </a:r>
            <a:r>
              <a:rPr lang="en-US" b="1" dirty="0">
                <a:solidFill>
                  <a:srgbClr val="0000A8"/>
                </a:solidFill>
              </a:rPr>
              <a:t>20 stage </a:t>
            </a:r>
            <a:r>
              <a:rPr lang="en-US" b="1" dirty="0"/>
              <a:t>pipelining at 2.0 GHz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</a:t>
            </a:r>
            <a:r>
              <a:rPr lang="en-US" dirty="0" smtClean="0"/>
              <a:t>Parallelism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9876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Pipelining Example</a:t>
            </a:r>
            <a:r>
              <a:rPr lang="en-US" sz="3200" b="1" dirty="0"/>
              <a:t>: Assembly line analogy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</a:t>
            </a:r>
            <a:r>
              <a:rPr lang="en-US" dirty="0" smtClean="0"/>
              <a:t>Parallelism (Cont.)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701" y="1838329"/>
            <a:ext cx="5281684" cy="451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4248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Pipelining Example</a:t>
            </a:r>
            <a:r>
              <a:rPr lang="en-US" sz="3200" b="1" dirty="0"/>
              <a:t>: Assembly line analogy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</a:t>
            </a:r>
            <a:r>
              <a:rPr lang="en-US" dirty="0" smtClean="0"/>
              <a:t>Parallelism (Cont.)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929" y="1913742"/>
            <a:ext cx="5281683" cy="412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724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Pipelining Example</a:t>
            </a:r>
            <a:r>
              <a:rPr lang="en-US" sz="3200" b="1" dirty="0"/>
              <a:t>: Assembly line analogy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</a:t>
            </a:r>
            <a:r>
              <a:rPr lang="en-US" dirty="0" smtClean="0"/>
              <a:t>Parallelism (Cont.)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719" y="1971471"/>
            <a:ext cx="5224938" cy="405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1597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Multi-Processor</a:t>
            </a:r>
            <a:r>
              <a:rPr lang="en-US" sz="3200" b="1" dirty="0" smtClean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Multiple </a:t>
            </a:r>
            <a:r>
              <a:rPr lang="en-US" sz="3200" b="1" dirty="0" smtClean="0">
                <a:solidFill>
                  <a:srgbClr val="0000A8"/>
                </a:solidFill>
              </a:rPr>
              <a:t>CPUs</a:t>
            </a:r>
            <a:r>
              <a:rPr lang="en-US" sz="3200" b="1" dirty="0" smtClean="0"/>
              <a:t> </a:t>
            </a:r>
            <a:r>
              <a:rPr lang="en-US" sz="3200" b="1" dirty="0"/>
              <a:t>with a shared </a:t>
            </a:r>
            <a:r>
              <a:rPr lang="en-US" sz="3200" b="1" dirty="0" smtClean="0"/>
              <a:t>memory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</a:t>
            </a:r>
            <a:r>
              <a:rPr lang="en-US" sz="3200" b="1" dirty="0" smtClean="0"/>
              <a:t>ame </a:t>
            </a:r>
            <a:r>
              <a:rPr lang="en-US" sz="3200" b="1" dirty="0"/>
              <a:t>address on two different CPUs </a:t>
            </a:r>
            <a:r>
              <a:rPr lang="en-US" sz="3200" b="1" dirty="0">
                <a:solidFill>
                  <a:srgbClr val="0000A8"/>
                </a:solidFill>
              </a:rPr>
              <a:t>refers</a:t>
            </a:r>
            <a:r>
              <a:rPr lang="en-US" sz="3200" b="1" dirty="0"/>
              <a:t> to the same memory </a:t>
            </a:r>
            <a:r>
              <a:rPr lang="en-US" sz="3200" b="1" dirty="0" smtClean="0"/>
              <a:t>location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Generally two </a:t>
            </a:r>
            <a:r>
              <a:rPr lang="en-US" sz="3200" b="1" dirty="0" smtClean="0"/>
              <a:t>categories</a:t>
            </a:r>
            <a:endParaRPr lang="en-US" sz="3200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Centralized </a:t>
            </a:r>
            <a:r>
              <a:rPr lang="en-US" b="1" dirty="0" smtClean="0"/>
              <a:t>Multi-processor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Distributed Multi-processor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+mn-ea"/>
              </a:rPr>
              <a:t>Multi-Processor vs. Multi-Computer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5207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Multi-Processor vs. Multi-Computer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130175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Centralized </a:t>
            </a:r>
            <a:r>
              <a:rPr lang="en-US" b="1" dirty="0" smtClean="0">
                <a:solidFill>
                  <a:srgbClr val="C00000"/>
                </a:solidFill>
              </a:rPr>
              <a:t>Multi-Processor</a:t>
            </a:r>
            <a:endParaRPr lang="en-US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Additional CPUs are </a:t>
            </a:r>
            <a:r>
              <a:rPr lang="en-US" b="1" dirty="0">
                <a:solidFill>
                  <a:srgbClr val="0000A8"/>
                </a:solidFill>
              </a:rPr>
              <a:t>attached</a:t>
            </a:r>
            <a:r>
              <a:rPr lang="en-US" b="1" dirty="0"/>
              <a:t> to the system bus, and all the processors share the same primary memory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All the memory is at </a:t>
            </a:r>
            <a:r>
              <a:rPr lang="en-US" b="1" dirty="0">
                <a:solidFill>
                  <a:srgbClr val="0000A8"/>
                </a:solidFill>
              </a:rPr>
              <a:t>one place </a:t>
            </a:r>
            <a:r>
              <a:rPr lang="en-US" b="1" dirty="0"/>
              <a:t>and has the same access time from every processor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Also known to as </a:t>
            </a:r>
            <a:r>
              <a:rPr lang="en-US" b="1" dirty="0" smtClean="0"/>
              <a:t>UMA (</a:t>
            </a:r>
            <a:r>
              <a:rPr lang="en-US" b="1" dirty="0"/>
              <a:t>Uniform Memory Access) </a:t>
            </a:r>
            <a:r>
              <a:rPr lang="en-US" b="1" dirty="0" smtClean="0"/>
              <a:t>Multi-processor </a:t>
            </a:r>
            <a:r>
              <a:rPr lang="en-US" b="1" dirty="0"/>
              <a:t>or SMP </a:t>
            </a:r>
            <a:r>
              <a:rPr lang="en-US" b="1" dirty="0" smtClean="0"/>
              <a:t>(Symmetrical Multi-processor)</a:t>
            </a:r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0E66229-0D1E-403F-9FBB-267B52373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199" y="1825625"/>
            <a:ext cx="5181601" cy="440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50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Multi-Processor vs. Multi-Computer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130175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Distributed Multi-processor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Distributed collection of memories </a:t>
            </a:r>
            <a:r>
              <a:rPr lang="en-US" b="1" dirty="0">
                <a:solidFill>
                  <a:srgbClr val="0000A8"/>
                </a:solidFill>
              </a:rPr>
              <a:t>forms</a:t>
            </a:r>
            <a:r>
              <a:rPr lang="en-US" b="1" dirty="0"/>
              <a:t> one logical address space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Again, the same address on different processors </a:t>
            </a:r>
            <a:r>
              <a:rPr lang="en-US" b="1" dirty="0">
                <a:solidFill>
                  <a:srgbClr val="0000A8"/>
                </a:solidFill>
              </a:rPr>
              <a:t>refers</a:t>
            </a:r>
            <a:r>
              <a:rPr lang="en-US" b="1" dirty="0"/>
              <a:t> to the same memory </a:t>
            </a:r>
            <a:r>
              <a:rPr lang="en-US" b="1" dirty="0" smtClean="0"/>
              <a:t>location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Also known as </a:t>
            </a:r>
            <a:r>
              <a:rPr lang="en-US" b="1" dirty="0" smtClean="0"/>
              <a:t>Non-Uniform Memory Access </a:t>
            </a:r>
            <a:r>
              <a:rPr lang="en-US" b="1" dirty="0"/>
              <a:t>(NUMA) architecture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Because, memory access time </a:t>
            </a:r>
            <a:r>
              <a:rPr lang="en-US" b="1" dirty="0">
                <a:solidFill>
                  <a:srgbClr val="0000A8"/>
                </a:solidFill>
              </a:rPr>
              <a:t>varies</a:t>
            </a:r>
            <a:r>
              <a:rPr lang="en-US" b="1" dirty="0"/>
              <a:t> significantly, depending on the physical location of the referenced address  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210219F-397C-4A67-9712-91DAD127C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667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Multi-Computer</a:t>
            </a:r>
            <a:r>
              <a:rPr lang="en-US" sz="3200" b="1" dirty="0" smtClean="0"/>
              <a:t> 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Distributed memory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00A8"/>
                </a:solidFill>
              </a:rPr>
              <a:t>multi-CPU</a:t>
            </a:r>
            <a:r>
              <a:rPr lang="en-US" sz="3200" b="1" dirty="0"/>
              <a:t> computer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Unlike NUMA architecture, a multicomputer has </a:t>
            </a:r>
            <a:r>
              <a:rPr lang="en-US" sz="3200" b="1" dirty="0">
                <a:solidFill>
                  <a:srgbClr val="0000A8"/>
                </a:solidFill>
              </a:rPr>
              <a:t>disjoint</a:t>
            </a:r>
            <a:r>
              <a:rPr lang="en-US" sz="3200" b="1" dirty="0"/>
              <a:t> local address spaces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Each processor has </a:t>
            </a:r>
            <a:r>
              <a:rPr lang="en-US" sz="3200" b="1" dirty="0">
                <a:solidFill>
                  <a:srgbClr val="0000A8"/>
                </a:solidFill>
              </a:rPr>
              <a:t>direct access </a:t>
            </a:r>
            <a:r>
              <a:rPr lang="en-US" sz="3200" b="1" dirty="0"/>
              <a:t>to their local memory </a:t>
            </a:r>
            <a:r>
              <a:rPr lang="en-US" sz="3200" b="1" dirty="0" smtClean="0"/>
              <a:t>only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</a:t>
            </a:r>
            <a:r>
              <a:rPr lang="en-US" sz="3200" b="1" dirty="0" smtClean="0"/>
              <a:t>ame </a:t>
            </a:r>
            <a:r>
              <a:rPr lang="en-US" sz="3200" b="1" dirty="0"/>
              <a:t>address on different processors </a:t>
            </a:r>
            <a:r>
              <a:rPr lang="en-US" sz="3200" b="1" dirty="0">
                <a:solidFill>
                  <a:srgbClr val="0000A8"/>
                </a:solidFill>
              </a:rPr>
              <a:t>refers</a:t>
            </a:r>
            <a:r>
              <a:rPr lang="en-US" sz="3200" b="1" dirty="0"/>
              <a:t> to two different physical memory </a:t>
            </a:r>
            <a:r>
              <a:rPr lang="en-US" sz="3200" b="1" dirty="0" smtClean="0"/>
              <a:t>locations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Processors </a:t>
            </a:r>
            <a:r>
              <a:rPr lang="en-US" sz="3200" b="1" dirty="0">
                <a:solidFill>
                  <a:srgbClr val="0000A8"/>
                </a:solidFill>
              </a:rPr>
              <a:t>interact</a:t>
            </a:r>
            <a:r>
              <a:rPr lang="en-US" sz="3200" b="1" dirty="0"/>
              <a:t> with each </a:t>
            </a:r>
            <a:r>
              <a:rPr lang="en-US" sz="3200" b="1" dirty="0" smtClean="0"/>
              <a:t>other through </a:t>
            </a:r>
            <a:r>
              <a:rPr lang="en-US" sz="3200" b="1" dirty="0"/>
              <a:t>passing messages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+mn-ea"/>
              </a:rPr>
              <a:t>Multi-Processor vs. </a:t>
            </a:r>
            <a:r>
              <a:rPr lang="en-US" dirty="0" smtClean="0">
                <a:sym typeface="+mn-ea"/>
              </a:rPr>
              <a:t>Multi-Computer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6859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Multi-Processor vs. Multi-Computer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2400" b="1" dirty="0">
                <a:solidFill>
                  <a:srgbClr val="C00000"/>
                </a:solidFill>
              </a:rPr>
              <a:t>Asymmetric </a:t>
            </a:r>
            <a:r>
              <a:rPr lang="en-US" sz="2400" b="1" dirty="0" smtClean="0">
                <a:solidFill>
                  <a:srgbClr val="C00000"/>
                </a:solidFill>
              </a:rPr>
              <a:t>Multi-Computers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A </a:t>
            </a:r>
            <a:r>
              <a:rPr lang="en-US" sz="2400" b="1" dirty="0">
                <a:solidFill>
                  <a:srgbClr val="0000A8"/>
                </a:solidFill>
              </a:rPr>
              <a:t>front-end</a:t>
            </a:r>
            <a:r>
              <a:rPr lang="en-US" sz="2400" b="1" dirty="0"/>
              <a:t> computer that interacts with users and I/O </a:t>
            </a:r>
            <a:r>
              <a:rPr lang="en-US" sz="2400" b="1" dirty="0" smtClean="0"/>
              <a:t>devices</a:t>
            </a: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The </a:t>
            </a:r>
            <a:r>
              <a:rPr lang="en-US" sz="2400" b="1" dirty="0">
                <a:solidFill>
                  <a:srgbClr val="0000A8"/>
                </a:solidFill>
              </a:rPr>
              <a:t>back-end</a:t>
            </a:r>
            <a:r>
              <a:rPr lang="en-US" sz="2400" b="1" dirty="0"/>
              <a:t> processors are dedicatedly used for  “number crunching”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Front-end computer executes a full, </a:t>
            </a:r>
            <a:r>
              <a:rPr lang="en-US" sz="2400" b="1" dirty="0" smtClean="0"/>
              <a:t>multi-programmed </a:t>
            </a:r>
            <a:r>
              <a:rPr lang="en-US" sz="2400" b="1" dirty="0"/>
              <a:t>OS and </a:t>
            </a:r>
            <a:r>
              <a:rPr lang="en-US" sz="2400" b="1" dirty="0">
                <a:solidFill>
                  <a:srgbClr val="0000A8"/>
                </a:solidFill>
              </a:rPr>
              <a:t>provides</a:t>
            </a:r>
            <a:r>
              <a:rPr lang="en-US" sz="2400" b="1" dirty="0"/>
              <a:t> all functions needed for program </a:t>
            </a:r>
            <a:r>
              <a:rPr lang="en-US" sz="2400" b="1" dirty="0" smtClean="0"/>
              <a:t>development</a:t>
            </a: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The </a:t>
            </a:r>
            <a:r>
              <a:rPr lang="en-US" sz="2400" b="1" dirty="0" err="1"/>
              <a:t>backends</a:t>
            </a:r>
            <a:r>
              <a:rPr lang="en-US" sz="2400" b="1" dirty="0"/>
              <a:t> are </a:t>
            </a:r>
            <a:r>
              <a:rPr lang="en-US" sz="2400" b="1" dirty="0">
                <a:solidFill>
                  <a:srgbClr val="0000A8"/>
                </a:solidFill>
              </a:rPr>
              <a:t>reserved</a:t>
            </a:r>
            <a:r>
              <a:rPr lang="en-US" sz="2400" b="1" dirty="0"/>
              <a:t> for executing parallel programs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20</a:t>
            </a:fld>
            <a:endParaRPr lang="en-US" dirty="0"/>
          </a:p>
        </p:txBody>
      </p:sp>
      <p:pic>
        <p:nvPicPr>
          <p:cNvPr id="8" name="Picture 7" descr="A close up of a map&#10;&#10;Description automatically generated">
            <a:extLst>
              <a:ext uri="{FF2B5EF4-FFF2-40B4-BE49-F238E27FC236}">
                <a16:creationId xmlns="" xmlns:a16="http://schemas.microsoft.com/office/drawing/2014/main" id="{4207C6DE-440F-446E-804C-41E99023A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074" y="1730089"/>
            <a:ext cx="5315851" cy="444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93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Multi-Processor vs. Multi-Computer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2400" b="1" dirty="0">
                <a:solidFill>
                  <a:srgbClr val="C00000"/>
                </a:solidFill>
              </a:rPr>
              <a:t>Symmetric </a:t>
            </a:r>
            <a:r>
              <a:rPr lang="en-US" sz="2400" b="1" dirty="0" smtClean="0">
                <a:solidFill>
                  <a:srgbClr val="C00000"/>
                </a:solidFill>
              </a:rPr>
              <a:t>Multi-Computers</a:t>
            </a: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Every computer </a:t>
            </a:r>
            <a:r>
              <a:rPr lang="en-US" sz="2400" b="1" dirty="0">
                <a:solidFill>
                  <a:srgbClr val="0000A8"/>
                </a:solidFill>
              </a:rPr>
              <a:t>executes</a:t>
            </a:r>
            <a:r>
              <a:rPr lang="en-US" sz="2400" b="1" dirty="0"/>
              <a:t> same OS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Users may </a:t>
            </a:r>
            <a:r>
              <a:rPr lang="en-US" sz="2400" b="1" dirty="0">
                <a:solidFill>
                  <a:srgbClr val="0000A8"/>
                </a:solidFill>
              </a:rPr>
              <a:t>log</a:t>
            </a:r>
            <a:r>
              <a:rPr lang="en-US" sz="2400" b="1" dirty="0"/>
              <a:t> into any of the computers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This </a:t>
            </a:r>
            <a:r>
              <a:rPr lang="en-US" sz="2400" b="1" dirty="0">
                <a:solidFill>
                  <a:srgbClr val="0000A8"/>
                </a:solidFill>
              </a:rPr>
              <a:t>enables</a:t>
            </a:r>
            <a:r>
              <a:rPr lang="en-US" sz="2400" b="1" dirty="0"/>
              <a:t> multiple users to concurrently login, edit and compile their </a:t>
            </a:r>
            <a:r>
              <a:rPr lang="en-US" sz="2400" b="1" dirty="0" smtClean="0"/>
              <a:t>programs</a:t>
            </a: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All the nodes can </a:t>
            </a:r>
            <a:r>
              <a:rPr lang="en-US" sz="2400" b="1" dirty="0">
                <a:solidFill>
                  <a:srgbClr val="0000A8"/>
                </a:solidFill>
              </a:rPr>
              <a:t>participate</a:t>
            </a:r>
            <a:r>
              <a:rPr lang="en-US" sz="2400" b="1" dirty="0"/>
              <a:t> in execution of a parallel program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5B13FFC-395C-4247-9965-66668B4C4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14391"/>
            <a:ext cx="5257800" cy="464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10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Cluster vs. Network of Workstations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2400" b="1" dirty="0" smtClean="0">
                <a:solidFill>
                  <a:srgbClr val="C00000"/>
                </a:solidFill>
              </a:rPr>
              <a:t>Cluster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Usually a </a:t>
            </a:r>
            <a:r>
              <a:rPr lang="en-US" sz="2400" b="1" dirty="0">
                <a:solidFill>
                  <a:srgbClr val="0000A8"/>
                </a:solidFill>
              </a:rPr>
              <a:t>co-located</a:t>
            </a:r>
            <a:r>
              <a:rPr lang="en-US" sz="2400" b="1" dirty="0"/>
              <a:t> collection of low-cost computers and switches, dedicated to running parallel </a:t>
            </a:r>
            <a:r>
              <a:rPr lang="en-US" sz="2400" b="1" dirty="0" smtClean="0"/>
              <a:t>jobs</a:t>
            </a: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All computer run the </a:t>
            </a:r>
            <a:r>
              <a:rPr lang="en-US" sz="2400" b="1" dirty="0">
                <a:solidFill>
                  <a:srgbClr val="0000A8"/>
                </a:solidFill>
              </a:rPr>
              <a:t>same version </a:t>
            </a:r>
            <a:r>
              <a:rPr lang="en-US" sz="2400" b="1" dirty="0"/>
              <a:t>of operating </a:t>
            </a:r>
            <a:r>
              <a:rPr lang="en-US" sz="2400" b="1" dirty="0" smtClean="0"/>
              <a:t>system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Some of the computers may not have </a:t>
            </a:r>
            <a:r>
              <a:rPr lang="en-US" sz="2400" b="1" dirty="0">
                <a:solidFill>
                  <a:srgbClr val="0000A8"/>
                </a:solidFill>
              </a:rPr>
              <a:t>interfaces</a:t>
            </a:r>
            <a:r>
              <a:rPr lang="en-US" sz="2400" b="1" dirty="0"/>
              <a:t> for the users to login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Commodity cluster uses </a:t>
            </a:r>
            <a:r>
              <a:rPr lang="en-US" sz="2400" b="1" dirty="0">
                <a:solidFill>
                  <a:srgbClr val="0000A8"/>
                </a:solidFill>
              </a:rPr>
              <a:t>high speed networks</a:t>
            </a:r>
            <a:r>
              <a:rPr lang="en-US" sz="2400" b="1" dirty="0"/>
              <a:t> for communication such as fast </a:t>
            </a:r>
            <a:r>
              <a:rPr lang="en-US" sz="2400" b="1" dirty="0" smtClean="0"/>
              <a:t>Ethernet at 100Mbps etc. </a:t>
            </a: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130175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Network of </a:t>
            </a:r>
            <a:r>
              <a:rPr lang="en-US" sz="2400" b="1" dirty="0" smtClean="0">
                <a:solidFill>
                  <a:srgbClr val="C00000"/>
                </a:solidFill>
              </a:rPr>
              <a:t>workstations</a:t>
            </a:r>
            <a:endParaRPr lang="en-US" sz="24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A </a:t>
            </a:r>
            <a:r>
              <a:rPr lang="en-US" sz="2400" b="1" dirty="0">
                <a:solidFill>
                  <a:srgbClr val="0000A8"/>
                </a:solidFill>
              </a:rPr>
              <a:t>dispersed collection </a:t>
            </a:r>
            <a:r>
              <a:rPr lang="en-US" sz="2400" b="1" dirty="0"/>
              <a:t>of </a:t>
            </a:r>
            <a:r>
              <a:rPr lang="en-US" sz="2400" b="1" dirty="0" smtClean="0"/>
              <a:t>computers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Individual </a:t>
            </a:r>
            <a:r>
              <a:rPr lang="en-US" sz="2400" b="1" dirty="0"/>
              <a:t>workstations may have </a:t>
            </a:r>
            <a:r>
              <a:rPr lang="en-US" sz="2400" b="1" dirty="0">
                <a:solidFill>
                  <a:srgbClr val="0000A8"/>
                </a:solidFill>
              </a:rPr>
              <a:t>different Operating systems </a:t>
            </a:r>
            <a:r>
              <a:rPr lang="en-US" sz="2400" b="1" dirty="0"/>
              <a:t>and executable </a:t>
            </a:r>
            <a:r>
              <a:rPr lang="en-US" sz="2400" b="1" dirty="0" smtClean="0"/>
              <a:t>programs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Users </a:t>
            </a:r>
            <a:r>
              <a:rPr lang="en-US" sz="2400" b="1" dirty="0"/>
              <a:t>have the power to </a:t>
            </a:r>
            <a:r>
              <a:rPr lang="en-US" sz="2400" b="1" dirty="0">
                <a:solidFill>
                  <a:srgbClr val="0000A8"/>
                </a:solidFill>
              </a:rPr>
              <a:t>login and power off </a:t>
            </a:r>
            <a:r>
              <a:rPr lang="en-US" sz="2400" b="1" dirty="0"/>
              <a:t>their </a:t>
            </a:r>
            <a:r>
              <a:rPr lang="en-US" sz="2400" b="1" dirty="0" smtClean="0"/>
              <a:t>workstations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Ethernet speed for this network is usually </a:t>
            </a:r>
            <a:r>
              <a:rPr lang="en-US" sz="2400" b="1" dirty="0">
                <a:solidFill>
                  <a:srgbClr val="0000A8"/>
                </a:solidFill>
              </a:rPr>
              <a:t>slower</a:t>
            </a:r>
            <a:r>
              <a:rPr lang="en-US" sz="2400" b="1" dirty="0"/>
              <a:t>. </a:t>
            </a:r>
            <a:endParaRPr lang="en-US" sz="24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1" dirty="0" smtClean="0"/>
              <a:t>Typical </a:t>
            </a:r>
            <a:r>
              <a:rPr lang="en-US" sz="2000" b="1" dirty="0"/>
              <a:t>in </a:t>
            </a:r>
            <a:r>
              <a:rPr lang="en-US" sz="2000" b="1" dirty="0">
                <a:solidFill>
                  <a:srgbClr val="0000A8"/>
                </a:solidFill>
              </a:rPr>
              <a:t>range</a:t>
            </a:r>
            <a:r>
              <a:rPr lang="en-US" sz="2000" b="1" dirty="0"/>
              <a:t> of </a:t>
            </a:r>
            <a:r>
              <a:rPr lang="en-US" sz="2000" b="1" dirty="0" smtClean="0"/>
              <a:t>10s </a:t>
            </a:r>
            <a:r>
              <a:rPr lang="en-US" sz="2000" b="1" dirty="0"/>
              <a:t>Mbps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130175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927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When </a:t>
            </a:r>
            <a:r>
              <a:rPr lang="en-US" sz="3200" b="1" dirty="0"/>
              <a:t>we are in a distributed environment, each CPU’s cache needs to be consistent (continuously needs to be </a:t>
            </a:r>
            <a:r>
              <a:rPr lang="en-US" sz="3200" b="1" dirty="0">
                <a:solidFill>
                  <a:srgbClr val="0000A8"/>
                </a:solidFill>
              </a:rPr>
              <a:t>updated</a:t>
            </a:r>
            <a:r>
              <a:rPr lang="en-US" sz="3200" b="1" dirty="0"/>
              <a:t> for current values), which is known as cache </a:t>
            </a:r>
            <a:r>
              <a:rPr lang="en-US" sz="3200" b="1" dirty="0" smtClean="0"/>
              <a:t>coherence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+mn-ea"/>
              </a:rPr>
              <a:t>Cache Coherence</a:t>
            </a:r>
          </a:p>
        </p:txBody>
      </p:sp>
    </p:spTree>
    <p:extLst>
      <p:ext uri="{BB962C8B-B14F-4D97-AF65-F5344CB8AC3E}">
        <p14:creationId xmlns:p14="http://schemas.microsoft.com/office/powerpoint/2010/main" val="27454634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Snoopy </a:t>
            </a:r>
            <a:r>
              <a:rPr lang="en-US" sz="3200" b="1" dirty="0"/>
              <a:t>protocols achieve </a:t>
            </a:r>
            <a:r>
              <a:rPr lang="en-US" sz="3200" b="1" dirty="0">
                <a:solidFill>
                  <a:srgbClr val="0000A8"/>
                </a:solidFill>
              </a:rPr>
              <a:t>data consistency </a:t>
            </a:r>
            <a:r>
              <a:rPr lang="en-US" sz="3200" b="1" dirty="0"/>
              <a:t>between the cache memory and the shared memory through a bus-based memory </a:t>
            </a:r>
            <a:r>
              <a:rPr lang="en-US" sz="3200" b="1" dirty="0" smtClean="0"/>
              <a:t>system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Write-invalidate </a:t>
            </a:r>
            <a:r>
              <a:rPr lang="en-US" sz="3200" b="1" dirty="0"/>
              <a:t>and write-update </a:t>
            </a:r>
            <a:r>
              <a:rPr lang="en-US" sz="3200" b="1" dirty="0">
                <a:solidFill>
                  <a:srgbClr val="0000A8"/>
                </a:solidFill>
              </a:rPr>
              <a:t>policies</a:t>
            </a:r>
            <a:r>
              <a:rPr lang="en-US" sz="3200" b="1" dirty="0"/>
              <a:t> are used for maintaining cache </a:t>
            </a:r>
            <a:r>
              <a:rPr lang="en-US" sz="3200" b="1" dirty="0" smtClean="0"/>
              <a:t>consistency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Snooping</a:t>
            </a:r>
            <a:endParaRPr lang="en-US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86196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Branch </a:t>
            </a:r>
            <a:r>
              <a:rPr lang="en-US" sz="3200" b="1" dirty="0"/>
              <a:t>prediction is a technique used in CPU design that attempts to </a:t>
            </a:r>
            <a:r>
              <a:rPr lang="en-US" sz="3200" b="1" dirty="0">
                <a:solidFill>
                  <a:srgbClr val="0000A8"/>
                </a:solidFill>
              </a:rPr>
              <a:t>guess the outcome </a:t>
            </a:r>
            <a:r>
              <a:rPr lang="en-US" sz="3200" b="1" dirty="0"/>
              <a:t>of a conditional operation and prepare for the most likely </a:t>
            </a:r>
            <a:r>
              <a:rPr lang="en-US" sz="3200" b="1" dirty="0" smtClean="0"/>
              <a:t>result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Issues </a:t>
            </a:r>
            <a:r>
              <a:rPr lang="en-US" sz="3200" b="1" dirty="0"/>
              <a:t>in pipelining of branch prediction: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If the </a:t>
            </a:r>
            <a:r>
              <a:rPr lang="en-US" b="1" dirty="0">
                <a:solidFill>
                  <a:srgbClr val="0000A8"/>
                </a:solidFill>
              </a:rPr>
              <a:t>prediction is true</a:t>
            </a:r>
            <a:r>
              <a:rPr lang="en-US" b="1" dirty="0"/>
              <a:t> then the pipeline will not be flushed and no clock cycles will be </a:t>
            </a:r>
            <a:r>
              <a:rPr lang="en-US" b="1" dirty="0" smtClean="0"/>
              <a:t>lost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If</a:t>
            </a:r>
            <a:r>
              <a:rPr lang="en-US" b="1" dirty="0"/>
              <a:t> the </a:t>
            </a:r>
            <a:r>
              <a:rPr lang="en-US" b="1" dirty="0">
                <a:solidFill>
                  <a:srgbClr val="0000A8"/>
                </a:solidFill>
              </a:rPr>
              <a:t>prediction is false</a:t>
            </a:r>
            <a:r>
              <a:rPr lang="en-US" b="1" dirty="0"/>
              <a:t> then the pipeline is flushed and starts over with the current </a:t>
            </a:r>
            <a:r>
              <a:rPr lang="en-US" b="1" dirty="0" smtClean="0"/>
              <a:t>instruction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Branch </a:t>
            </a:r>
            <a:r>
              <a:rPr lang="en-US" dirty="0" smtClean="0"/>
              <a:t>Prediction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3194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>
                <a:solidFill>
                  <a:srgbClr val="C00000"/>
                </a:solidFill>
              </a:rPr>
              <a:t>Architecture of an Ideal Parallel </a:t>
            </a:r>
            <a:r>
              <a:rPr lang="en-US" sz="3200" b="1" dirty="0" smtClean="0">
                <a:solidFill>
                  <a:srgbClr val="C00000"/>
                </a:solidFill>
              </a:rPr>
              <a:t>Computer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A800"/>
                </a:solidFill>
              </a:rPr>
              <a:t>Parallel Random Access Machine (PRAM)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An </a:t>
            </a:r>
            <a:r>
              <a:rPr lang="en-US" b="1" dirty="0">
                <a:solidFill>
                  <a:srgbClr val="000099"/>
                </a:solidFill>
              </a:rPr>
              <a:t>extension</a:t>
            </a:r>
            <a:r>
              <a:rPr lang="en-US" b="1" dirty="0"/>
              <a:t> to ideal sequential model: </a:t>
            </a:r>
            <a:r>
              <a:rPr lang="en-US" b="1" dirty="0" smtClean="0"/>
              <a:t>Random Access Machine </a:t>
            </a:r>
            <a:r>
              <a:rPr lang="en-US" b="1" dirty="0"/>
              <a:t>(RAM)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PRAMs </a:t>
            </a:r>
            <a:r>
              <a:rPr lang="en-US" b="1" dirty="0">
                <a:solidFill>
                  <a:srgbClr val="000099"/>
                </a:solidFill>
              </a:rPr>
              <a:t>consist</a:t>
            </a:r>
            <a:r>
              <a:rPr lang="en-US" b="1" dirty="0"/>
              <a:t> of p processors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 </a:t>
            </a:r>
            <a:r>
              <a:rPr lang="en-US" b="1" dirty="0">
                <a:solidFill>
                  <a:srgbClr val="000099"/>
                </a:solidFill>
              </a:rPr>
              <a:t>global</a:t>
            </a:r>
            <a:r>
              <a:rPr lang="en-US" b="1" dirty="0"/>
              <a:t> memory</a:t>
            </a:r>
          </a:p>
          <a:p>
            <a:pPr lvl="2" algn="just">
              <a:buClr>
                <a:srgbClr val="000099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Unbounded </a:t>
            </a:r>
            <a:r>
              <a:rPr lang="en-US" b="1" dirty="0">
                <a:solidFill>
                  <a:srgbClr val="000099"/>
                </a:solidFill>
              </a:rPr>
              <a:t>size</a:t>
            </a:r>
          </a:p>
          <a:p>
            <a:pPr lvl="2" algn="just">
              <a:buClr>
                <a:srgbClr val="000099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Uniformly </a:t>
            </a:r>
            <a:r>
              <a:rPr lang="en-US" b="1" dirty="0">
                <a:solidFill>
                  <a:srgbClr val="000099"/>
                </a:solidFill>
              </a:rPr>
              <a:t>accessible</a:t>
            </a:r>
            <a:r>
              <a:rPr lang="en-US" b="1" dirty="0"/>
              <a:t> to all processors with same address space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Processors share a </a:t>
            </a:r>
            <a:r>
              <a:rPr lang="en-US" b="1" dirty="0">
                <a:solidFill>
                  <a:srgbClr val="000099"/>
                </a:solidFill>
              </a:rPr>
              <a:t>common clock</a:t>
            </a:r>
            <a:r>
              <a:rPr lang="en-US" b="1" dirty="0"/>
              <a:t> but may execute different instructions in each </a:t>
            </a:r>
            <a:r>
              <a:rPr lang="en-US" b="1" dirty="0" smtClean="0"/>
              <a:t>cycle 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Based on simultaneous memory access </a:t>
            </a:r>
            <a:r>
              <a:rPr lang="en-US" b="1" dirty="0" smtClean="0"/>
              <a:t>mechanisms, PRAM </a:t>
            </a:r>
            <a:r>
              <a:rPr lang="en-US" b="1" dirty="0"/>
              <a:t>can further be </a:t>
            </a:r>
            <a:r>
              <a:rPr lang="en-US" b="1" dirty="0" smtClean="0">
                <a:solidFill>
                  <a:srgbClr val="000099"/>
                </a:solidFill>
              </a:rPr>
              <a:t>classified 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Physical Organization of Parallel Platforms</a:t>
            </a:r>
          </a:p>
        </p:txBody>
      </p:sp>
    </p:spTree>
    <p:extLst>
      <p:ext uri="{BB962C8B-B14F-4D97-AF65-F5344CB8AC3E}">
        <p14:creationId xmlns:p14="http://schemas.microsoft.com/office/powerpoint/2010/main" val="25884769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Graphical </a:t>
            </a:r>
            <a:r>
              <a:rPr lang="en-US" dirty="0" smtClean="0"/>
              <a:t>Representation </a:t>
            </a:r>
            <a:r>
              <a:rPr lang="en-US" dirty="0"/>
              <a:t>of </a:t>
            </a:r>
            <a:r>
              <a:rPr lang="en-US" dirty="0" smtClean="0"/>
              <a:t>PRAM</a:t>
            </a:r>
            <a:endParaRPr lang="en-US" dirty="0"/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xmlns="" id="{C48268A6-32FA-4383-A64F-D2C67118D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92703" y="1346443"/>
            <a:ext cx="8248650" cy="4429125"/>
          </a:xfrm>
        </p:spPr>
      </p:pic>
    </p:spTree>
    <p:extLst>
      <p:ext uri="{BB962C8B-B14F-4D97-AF65-F5344CB8AC3E}">
        <p14:creationId xmlns:p14="http://schemas.microsoft.com/office/powerpoint/2010/main" val="42620021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PRAM has a set of </a:t>
            </a:r>
            <a:r>
              <a:rPr lang="en-US" sz="3200" b="1" dirty="0">
                <a:solidFill>
                  <a:srgbClr val="000099"/>
                </a:solidFill>
              </a:rPr>
              <a:t>similar type </a:t>
            </a:r>
            <a:r>
              <a:rPr lang="en-US" sz="3200" b="1" dirty="0"/>
              <a:t>of </a:t>
            </a:r>
            <a:r>
              <a:rPr lang="en-US" sz="3200" b="1" dirty="0" smtClean="0"/>
              <a:t>processors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Processors </a:t>
            </a:r>
            <a:r>
              <a:rPr lang="en-US" sz="3200" b="1" dirty="0">
                <a:solidFill>
                  <a:srgbClr val="000099"/>
                </a:solidFill>
              </a:rPr>
              <a:t>communicate</a:t>
            </a:r>
            <a:r>
              <a:rPr lang="en-US" sz="3200" b="1" dirty="0"/>
              <a:t> with each other using the shared </a:t>
            </a:r>
            <a:r>
              <a:rPr lang="en-US" sz="3200" b="1" dirty="0" smtClean="0"/>
              <a:t>memory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N </a:t>
            </a:r>
            <a:r>
              <a:rPr lang="en-US" sz="3200" b="1" dirty="0"/>
              <a:t>processors can perform independent operations on N number of data in a given time, this might lead to </a:t>
            </a:r>
            <a:r>
              <a:rPr lang="en-US" sz="3200" b="1" dirty="0">
                <a:solidFill>
                  <a:srgbClr val="000099"/>
                </a:solidFill>
              </a:rPr>
              <a:t>simultaneous access </a:t>
            </a:r>
            <a:r>
              <a:rPr lang="en-US" sz="3200" b="1" dirty="0"/>
              <a:t>of same memory location by different </a:t>
            </a:r>
            <a:r>
              <a:rPr lang="en-US" sz="3200" b="1" dirty="0" smtClean="0"/>
              <a:t>processors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To </a:t>
            </a:r>
            <a:r>
              <a:rPr lang="en-US" b="1" dirty="0">
                <a:solidFill>
                  <a:srgbClr val="000099"/>
                </a:solidFill>
              </a:rPr>
              <a:t>solve</a:t>
            </a:r>
            <a:r>
              <a:rPr lang="en-US" b="1" dirty="0"/>
              <a:t> the simultaneous access of same memory location problem we have </a:t>
            </a:r>
            <a:r>
              <a:rPr lang="en-US" b="1" dirty="0" smtClean="0"/>
              <a:t>PRAM classes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aa-ET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Random Access Machine (PRAM)</a:t>
            </a:r>
          </a:p>
        </p:txBody>
      </p:sp>
    </p:spTree>
    <p:extLst>
      <p:ext uri="{BB962C8B-B14F-4D97-AF65-F5344CB8AC3E}">
        <p14:creationId xmlns:p14="http://schemas.microsoft.com/office/powerpoint/2010/main" val="6070308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PRAMs </a:t>
            </a:r>
            <a:r>
              <a:rPr lang="en-US" sz="3200" b="1" dirty="0"/>
              <a:t>can be divided into </a:t>
            </a:r>
            <a:r>
              <a:rPr lang="en-US" sz="3200" b="1" dirty="0">
                <a:solidFill>
                  <a:srgbClr val="000099"/>
                </a:solidFill>
              </a:rPr>
              <a:t>four</a:t>
            </a:r>
            <a:r>
              <a:rPr lang="en-US" sz="3200" b="1" dirty="0"/>
              <a:t> </a:t>
            </a:r>
            <a:r>
              <a:rPr lang="en-US" sz="3200" b="1" dirty="0" smtClean="0"/>
              <a:t>classes </a:t>
            </a:r>
            <a:endParaRPr lang="en-US" sz="3200" b="1" dirty="0"/>
          </a:p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Exclusive-Read</a:t>
            </a:r>
            <a:r>
              <a:rPr lang="en-US" sz="3200" b="1" dirty="0">
                <a:solidFill>
                  <a:srgbClr val="C00000"/>
                </a:solidFill>
              </a:rPr>
              <a:t>, </a:t>
            </a:r>
            <a:r>
              <a:rPr lang="en-US" sz="3200" b="1" dirty="0" smtClean="0">
                <a:solidFill>
                  <a:srgbClr val="C00000"/>
                </a:solidFill>
              </a:rPr>
              <a:t>Exclusive-Write </a:t>
            </a:r>
            <a:r>
              <a:rPr lang="en-US" sz="3200" b="1" dirty="0">
                <a:solidFill>
                  <a:srgbClr val="C00000"/>
                </a:solidFill>
              </a:rPr>
              <a:t>(EREW) PRAM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No two processors can perform </a:t>
            </a:r>
            <a:r>
              <a:rPr lang="en-US" b="1" dirty="0">
                <a:solidFill>
                  <a:srgbClr val="000099"/>
                </a:solidFill>
              </a:rPr>
              <a:t>read/write</a:t>
            </a:r>
            <a:r>
              <a:rPr lang="en-US" b="1" dirty="0"/>
              <a:t> operations concurrently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Weakest PRAM model, provides </a:t>
            </a:r>
            <a:r>
              <a:rPr lang="en-US" b="1" dirty="0">
                <a:solidFill>
                  <a:srgbClr val="000099"/>
                </a:solidFill>
              </a:rPr>
              <a:t>minimum</a:t>
            </a:r>
            <a:r>
              <a:rPr lang="en-US" b="1" dirty="0"/>
              <a:t> memory access concurrency</a:t>
            </a:r>
          </a:p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Concurrent-Read</a:t>
            </a:r>
            <a:r>
              <a:rPr lang="en-US" sz="3200" b="1" dirty="0">
                <a:solidFill>
                  <a:srgbClr val="C00000"/>
                </a:solidFill>
              </a:rPr>
              <a:t>, </a:t>
            </a:r>
            <a:r>
              <a:rPr lang="en-US" sz="3200" b="1" dirty="0" smtClean="0">
                <a:solidFill>
                  <a:srgbClr val="C00000"/>
                </a:solidFill>
              </a:rPr>
              <a:t>Exclusive-Write </a:t>
            </a:r>
            <a:r>
              <a:rPr lang="en-US" sz="3200" b="1" dirty="0">
                <a:solidFill>
                  <a:srgbClr val="C00000"/>
                </a:solidFill>
              </a:rPr>
              <a:t>(CREW) PRAM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All processors can read concurrently but </a:t>
            </a:r>
            <a:r>
              <a:rPr lang="en-US" b="1" dirty="0">
                <a:solidFill>
                  <a:srgbClr val="000099"/>
                </a:solidFill>
              </a:rPr>
              <a:t>can’t write </a:t>
            </a:r>
            <a:r>
              <a:rPr lang="en-US" b="1" dirty="0"/>
              <a:t>at same time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Multiple </a:t>
            </a:r>
            <a:r>
              <a:rPr lang="en-US" b="1" dirty="0">
                <a:solidFill>
                  <a:srgbClr val="000099"/>
                </a:solidFill>
              </a:rPr>
              <a:t>write accesses </a:t>
            </a:r>
            <a:r>
              <a:rPr lang="en-US" b="1" dirty="0"/>
              <a:t>to a memory location are serialized</a:t>
            </a:r>
          </a:p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Exclusive-Read</a:t>
            </a:r>
            <a:r>
              <a:rPr lang="en-US" sz="3200" b="1" dirty="0">
                <a:solidFill>
                  <a:srgbClr val="C00000"/>
                </a:solidFill>
              </a:rPr>
              <a:t>, </a:t>
            </a:r>
            <a:r>
              <a:rPr lang="en-US" sz="3200" b="1" dirty="0" smtClean="0">
                <a:solidFill>
                  <a:srgbClr val="C00000"/>
                </a:solidFill>
              </a:rPr>
              <a:t>Concurrent-Write </a:t>
            </a:r>
            <a:r>
              <a:rPr lang="en-US" sz="3200" b="1" dirty="0">
                <a:solidFill>
                  <a:srgbClr val="C00000"/>
                </a:solidFill>
              </a:rPr>
              <a:t>(ERCW) PRAM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No two processors can perform read operations concurrently, but can </a:t>
            </a:r>
            <a:r>
              <a:rPr lang="en-US" b="1" dirty="0">
                <a:solidFill>
                  <a:srgbClr val="000099"/>
                </a:solidFill>
              </a:rPr>
              <a:t>write</a:t>
            </a:r>
          </a:p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Concurrent-Read</a:t>
            </a:r>
            <a:r>
              <a:rPr lang="en-US" sz="3200" b="1" dirty="0">
                <a:solidFill>
                  <a:srgbClr val="C00000"/>
                </a:solidFill>
              </a:rPr>
              <a:t>, </a:t>
            </a:r>
            <a:r>
              <a:rPr lang="en-US" sz="3200" b="1" dirty="0" smtClean="0">
                <a:solidFill>
                  <a:srgbClr val="C00000"/>
                </a:solidFill>
              </a:rPr>
              <a:t>Concurrent-Write </a:t>
            </a:r>
            <a:r>
              <a:rPr lang="en-US" sz="3200" b="1" dirty="0">
                <a:solidFill>
                  <a:srgbClr val="C00000"/>
                </a:solidFill>
              </a:rPr>
              <a:t>(CRCW) PRAM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Most </a:t>
            </a:r>
            <a:r>
              <a:rPr lang="en-US" b="1" dirty="0">
                <a:solidFill>
                  <a:srgbClr val="000099"/>
                </a:solidFill>
              </a:rPr>
              <a:t>powerful</a:t>
            </a:r>
            <a:r>
              <a:rPr lang="en-US" b="1" dirty="0"/>
              <a:t> PRAM model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PRAM Classes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88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Concurrent </a:t>
            </a:r>
            <a:r>
              <a:rPr lang="en-US" sz="3200" b="1" dirty="0"/>
              <a:t>reads do not create any semantic </a:t>
            </a:r>
            <a:r>
              <a:rPr lang="en-US" sz="3200" b="1" dirty="0" smtClean="0">
                <a:solidFill>
                  <a:srgbClr val="000099"/>
                </a:solidFill>
              </a:rPr>
              <a:t>inconsistencies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But</a:t>
            </a:r>
            <a:r>
              <a:rPr lang="en-US" sz="3200" b="1" dirty="0"/>
              <a:t>, What about </a:t>
            </a:r>
            <a:r>
              <a:rPr lang="en-US" sz="3200" b="1" dirty="0">
                <a:solidFill>
                  <a:srgbClr val="000099"/>
                </a:solidFill>
              </a:rPr>
              <a:t>concurrent </a:t>
            </a:r>
            <a:r>
              <a:rPr lang="en-US" sz="3200" b="1" dirty="0" smtClean="0">
                <a:solidFill>
                  <a:srgbClr val="000099"/>
                </a:solidFill>
              </a:rPr>
              <a:t>write</a:t>
            </a:r>
            <a:r>
              <a:rPr lang="en-US" sz="3200" b="1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Need </a:t>
            </a:r>
            <a:r>
              <a:rPr lang="en-US" sz="3200" b="1" dirty="0"/>
              <a:t>of an </a:t>
            </a:r>
            <a:r>
              <a:rPr lang="en-US" sz="3200" b="1" dirty="0" smtClean="0">
                <a:solidFill>
                  <a:srgbClr val="000099"/>
                </a:solidFill>
              </a:rPr>
              <a:t>arbitration</a:t>
            </a:r>
            <a:r>
              <a:rPr lang="en-US" sz="3200" b="1" dirty="0" smtClean="0"/>
              <a:t> (</a:t>
            </a:r>
            <a:r>
              <a:rPr lang="en-US" sz="3200" b="1" dirty="0"/>
              <a:t>mediation) mechanism to resolve concurrent write access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PRAM Arbitration Protocols</a:t>
            </a:r>
          </a:p>
        </p:txBody>
      </p:sp>
    </p:spTree>
    <p:extLst>
      <p:ext uri="{BB962C8B-B14F-4D97-AF65-F5344CB8AC3E}">
        <p14:creationId xmlns:p14="http://schemas.microsoft.com/office/powerpoint/2010/main" val="12241720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C00000"/>
                </a:solidFill>
              </a:rPr>
              <a:t>Common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Write </a:t>
            </a:r>
            <a:r>
              <a:rPr lang="en-US" b="1" dirty="0"/>
              <a:t>only if all values </a:t>
            </a:r>
            <a:r>
              <a:rPr lang="en-US" b="1" dirty="0" smtClean="0"/>
              <a:t>that </a:t>
            </a:r>
            <a:r>
              <a:rPr lang="en-US" b="1" dirty="0"/>
              <a:t>processors are attempting to write are </a:t>
            </a:r>
            <a:r>
              <a:rPr lang="en-US" b="1" dirty="0">
                <a:solidFill>
                  <a:srgbClr val="000099"/>
                </a:solidFill>
              </a:rPr>
              <a:t>identical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C00000"/>
                </a:solidFill>
              </a:rPr>
              <a:t>Arbitrary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Write </a:t>
            </a:r>
            <a:r>
              <a:rPr lang="en-US" b="1" dirty="0"/>
              <a:t>the data from a </a:t>
            </a:r>
            <a:r>
              <a:rPr lang="en-US" b="1" dirty="0">
                <a:solidFill>
                  <a:srgbClr val="000099"/>
                </a:solidFill>
              </a:rPr>
              <a:t>randomly selected </a:t>
            </a:r>
            <a:r>
              <a:rPr lang="en-US" b="1" dirty="0"/>
              <a:t>processor and ignore the </a:t>
            </a:r>
            <a:r>
              <a:rPr lang="en-US" b="1" dirty="0" smtClean="0"/>
              <a:t>rest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C00000"/>
                </a:solidFill>
              </a:rPr>
              <a:t>Priority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Follow </a:t>
            </a:r>
            <a:r>
              <a:rPr lang="en-US" b="1" dirty="0"/>
              <a:t>a predetermined </a:t>
            </a:r>
            <a:r>
              <a:rPr lang="en-US" b="1" dirty="0">
                <a:solidFill>
                  <a:srgbClr val="000099"/>
                </a:solidFill>
              </a:rPr>
              <a:t>priority </a:t>
            </a:r>
            <a:r>
              <a:rPr lang="en-US" b="1" dirty="0" smtClean="0">
                <a:solidFill>
                  <a:srgbClr val="000099"/>
                </a:solidFill>
              </a:rPr>
              <a:t>order</a:t>
            </a:r>
            <a:r>
              <a:rPr lang="en-US" b="1" dirty="0" smtClean="0"/>
              <a:t>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Processor </a:t>
            </a:r>
            <a:r>
              <a:rPr lang="en-US" b="1" dirty="0"/>
              <a:t>with </a:t>
            </a:r>
            <a:r>
              <a:rPr lang="en-US" b="1" dirty="0">
                <a:solidFill>
                  <a:srgbClr val="000099"/>
                </a:solidFill>
              </a:rPr>
              <a:t>highest priority </a:t>
            </a:r>
            <a:r>
              <a:rPr lang="en-US" b="1" dirty="0"/>
              <a:t>succeeds and the rest </a:t>
            </a:r>
            <a:r>
              <a:rPr lang="en-US" b="1" dirty="0" smtClean="0"/>
              <a:t>fail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C00000"/>
                </a:solidFill>
              </a:rPr>
              <a:t>Sum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Write </a:t>
            </a:r>
            <a:r>
              <a:rPr lang="en-US" b="1" dirty="0"/>
              <a:t>the </a:t>
            </a:r>
            <a:r>
              <a:rPr lang="en-US" b="1" dirty="0">
                <a:solidFill>
                  <a:srgbClr val="000099"/>
                </a:solidFill>
              </a:rPr>
              <a:t>sum of the data items </a:t>
            </a:r>
            <a:r>
              <a:rPr lang="en-US" b="1" dirty="0"/>
              <a:t>in all the write </a:t>
            </a:r>
            <a:r>
              <a:rPr lang="en-US" b="1" dirty="0" smtClean="0"/>
              <a:t>requests 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The </a:t>
            </a:r>
            <a:r>
              <a:rPr lang="en-US" b="1" dirty="0"/>
              <a:t>sum-based write conflict resolution model can be </a:t>
            </a:r>
            <a:r>
              <a:rPr lang="en-US" b="1" dirty="0">
                <a:solidFill>
                  <a:srgbClr val="000099"/>
                </a:solidFill>
              </a:rPr>
              <a:t>extended</a:t>
            </a:r>
            <a:r>
              <a:rPr lang="en-US" b="1" dirty="0"/>
              <a:t> for any of the associative operators, that is defined for data being </a:t>
            </a:r>
            <a:r>
              <a:rPr lang="en-US" b="1" dirty="0" smtClean="0"/>
              <a:t>written  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PRAM Arbitration Protocols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36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3200" b="1" dirty="0" smtClean="0"/>
              <a:t>Processors </a:t>
            </a:r>
            <a:r>
              <a:rPr lang="en-US" altLang="en-US" sz="3200" b="1" dirty="0"/>
              <a:t>and memories are </a:t>
            </a:r>
            <a:r>
              <a:rPr lang="en-US" altLang="en-US" sz="3200" b="1" dirty="0">
                <a:solidFill>
                  <a:srgbClr val="000099"/>
                </a:solidFill>
              </a:rPr>
              <a:t>connected</a:t>
            </a:r>
            <a:r>
              <a:rPr lang="en-US" altLang="en-US" sz="3200" b="1" dirty="0"/>
              <a:t> via </a:t>
            </a:r>
            <a:r>
              <a:rPr lang="en-US" altLang="en-US" sz="3200" b="1" dirty="0" smtClean="0"/>
              <a:t>switches</a:t>
            </a:r>
            <a:endParaRPr lang="en-US" alt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3200" b="1" dirty="0" smtClean="0"/>
              <a:t>Since </a:t>
            </a:r>
            <a:r>
              <a:rPr lang="en-US" altLang="en-US" sz="3200" b="1" dirty="0"/>
              <a:t>these switches must operate in </a:t>
            </a:r>
            <a:r>
              <a:rPr lang="en-US" altLang="en-US" sz="3200" b="1" i="1" dirty="0"/>
              <a:t>O(1)</a:t>
            </a:r>
            <a:r>
              <a:rPr lang="en-US" altLang="en-US" sz="3200" b="1" dirty="0"/>
              <a:t> time at the level of words, for a system of </a:t>
            </a:r>
            <a:r>
              <a:rPr lang="en-US" altLang="en-US" sz="3200" b="1" i="1" dirty="0"/>
              <a:t>p</a:t>
            </a:r>
            <a:r>
              <a:rPr lang="en-US" altLang="en-US" sz="3200" b="1" dirty="0"/>
              <a:t> processors and </a:t>
            </a:r>
            <a:r>
              <a:rPr lang="en-US" altLang="en-US" sz="3200" b="1" i="1" dirty="0"/>
              <a:t>m</a:t>
            </a:r>
            <a:r>
              <a:rPr lang="en-US" altLang="en-US" sz="3200" b="1" dirty="0"/>
              <a:t> words, the switch </a:t>
            </a:r>
            <a:r>
              <a:rPr lang="en-US" altLang="en-US" sz="3200" b="1" dirty="0">
                <a:solidFill>
                  <a:srgbClr val="000099"/>
                </a:solidFill>
              </a:rPr>
              <a:t>complexity</a:t>
            </a:r>
            <a:r>
              <a:rPr lang="en-US" altLang="en-US" sz="3200" b="1" dirty="0"/>
              <a:t> is </a:t>
            </a:r>
            <a:r>
              <a:rPr lang="en-US" altLang="en-US" sz="3200" b="1" i="1" dirty="0"/>
              <a:t>O(</a:t>
            </a:r>
            <a:r>
              <a:rPr lang="en-US" altLang="en-US" sz="3200" b="1" i="1" dirty="0" err="1"/>
              <a:t>mp</a:t>
            </a:r>
            <a:r>
              <a:rPr lang="en-US" altLang="en-US" sz="3200" b="1" i="1" dirty="0" smtClean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Switches </a:t>
            </a:r>
            <a:r>
              <a:rPr lang="en-US" b="1" dirty="0">
                <a:solidFill>
                  <a:srgbClr val="000099"/>
                </a:solidFill>
              </a:rPr>
              <a:t>determine</a:t>
            </a:r>
            <a:r>
              <a:rPr lang="en-US" b="1" dirty="0"/>
              <a:t> the memory word being accessed by each </a:t>
            </a:r>
            <a:r>
              <a:rPr lang="en-US" b="1" dirty="0" smtClean="0"/>
              <a:t>processor 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Switch is a device that </a:t>
            </a:r>
            <a:r>
              <a:rPr lang="en-US" b="1" dirty="0">
                <a:solidFill>
                  <a:srgbClr val="000099"/>
                </a:solidFill>
              </a:rPr>
              <a:t>opens or closes access </a:t>
            </a:r>
            <a:r>
              <a:rPr lang="en-US" b="1" dirty="0"/>
              <a:t>to certain data bank or </a:t>
            </a:r>
            <a:r>
              <a:rPr lang="en-US" b="1" dirty="0" smtClean="0"/>
              <a:t>word</a:t>
            </a:r>
            <a:endParaRPr lang="en-US" altLang="en-US" sz="3200" b="1" i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3200" b="1" dirty="0" smtClean="0"/>
              <a:t>Clearly</a:t>
            </a:r>
            <a:r>
              <a:rPr lang="en-US" altLang="en-US" sz="3200" b="1" dirty="0"/>
              <a:t>, for </a:t>
            </a:r>
            <a:r>
              <a:rPr lang="en-US" altLang="en-US" sz="3200" b="1" dirty="0">
                <a:solidFill>
                  <a:srgbClr val="000099"/>
                </a:solidFill>
              </a:rPr>
              <a:t>meaningful </a:t>
            </a:r>
            <a:r>
              <a:rPr lang="en-US" altLang="en-US" sz="3200" b="1" dirty="0"/>
              <a:t>values of </a:t>
            </a:r>
            <a:r>
              <a:rPr lang="en-US" altLang="en-US" sz="3200" b="1" i="1" dirty="0"/>
              <a:t>p</a:t>
            </a:r>
            <a:r>
              <a:rPr lang="en-US" altLang="en-US" sz="3200" b="1" dirty="0"/>
              <a:t> and </a:t>
            </a:r>
            <a:r>
              <a:rPr lang="en-US" altLang="en-US" sz="3200" b="1" i="1" dirty="0"/>
              <a:t>m</a:t>
            </a:r>
            <a:r>
              <a:rPr lang="en-US" altLang="en-US" sz="3200" b="1" dirty="0"/>
              <a:t>, a true PRAM is not </a:t>
            </a:r>
            <a:r>
              <a:rPr lang="en-US" altLang="en-US" sz="3200" b="1" dirty="0" smtClean="0"/>
              <a:t>realizable</a:t>
            </a:r>
            <a:endParaRPr lang="en-US" alt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Physical Complexity of an Ideal Parallel Computer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6735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3200" b="1" dirty="0"/>
              <a:t>Along with idling (doing nothing) and contention (conflict e.g., resource allocation), communication is a major </a:t>
            </a:r>
            <a:r>
              <a:rPr lang="en-US" altLang="en-US" sz="3200" b="1" dirty="0">
                <a:solidFill>
                  <a:srgbClr val="000099"/>
                </a:solidFill>
              </a:rPr>
              <a:t>overhead</a:t>
            </a:r>
            <a:r>
              <a:rPr lang="en-US" altLang="en-US" sz="3200" b="1" dirty="0"/>
              <a:t> in parallel </a:t>
            </a:r>
            <a:r>
              <a:rPr lang="en-US" altLang="en-US" sz="3200" b="1" dirty="0" smtClean="0"/>
              <a:t>programs </a:t>
            </a:r>
            <a:endParaRPr lang="en-US" alt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3200" b="1" dirty="0"/>
              <a:t>The communication cost  is usually </a:t>
            </a:r>
            <a:r>
              <a:rPr lang="en-US" altLang="en-US" sz="3200" b="1" dirty="0">
                <a:solidFill>
                  <a:srgbClr val="000099"/>
                </a:solidFill>
              </a:rPr>
              <a:t>dependent</a:t>
            </a:r>
            <a:r>
              <a:rPr lang="en-US" altLang="en-US" sz="3200" b="1" dirty="0"/>
              <a:t> on a number of features including the following: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Programming </a:t>
            </a:r>
            <a:r>
              <a:rPr lang="en-US" altLang="en-US" b="1" dirty="0">
                <a:solidFill>
                  <a:srgbClr val="000099"/>
                </a:solidFill>
              </a:rPr>
              <a:t>model</a:t>
            </a:r>
            <a:r>
              <a:rPr lang="en-US" altLang="en-US" b="1" dirty="0"/>
              <a:t> for </a:t>
            </a:r>
            <a:r>
              <a:rPr lang="en-US" altLang="en-US" b="1" dirty="0" smtClean="0"/>
              <a:t>communication</a:t>
            </a:r>
          </a:p>
          <a:p>
            <a:pPr lvl="2" algn="just">
              <a:buClr>
                <a:srgbClr val="000099"/>
              </a:buClr>
              <a:buFont typeface="Wingdings" panose="05000000000000000000" pitchFamily="2" charset="2"/>
              <a:buChar char="ü"/>
            </a:pPr>
            <a:r>
              <a:rPr lang="en-US" altLang="en-US" b="1" dirty="0" smtClean="0"/>
              <a:t>Required </a:t>
            </a:r>
            <a:r>
              <a:rPr lang="en-US" altLang="en-US" b="1" dirty="0"/>
              <a:t>pattern of the communication in the </a:t>
            </a:r>
            <a:r>
              <a:rPr lang="en-US" altLang="en-US" b="1" dirty="0" smtClean="0"/>
              <a:t>program</a:t>
            </a:r>
            <a:endParaRPr lang="en-US" alt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Network </a:t>
            </a:r>
            <a:r>
              <a:rPr lang="en-US" altLang="en-US" b="1" dirty="0">
                <a:solidFill>
                  <a:srgbClr val="000099"/>
                </a:solidFill>
              </a:rPr>
              <a:t>topology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Data handling and </a:t>
            </a:r>
            <a:r>
              <a:rPr lang="en-US" altLang="en-US" b="1" dirty="0">
                <a:solidFill>
                  <a:srgbClr val="000099"/>
                </a:solidFill>
              </a:rPr>
              <a:t>routing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Associated network </a:t>
            </a:r>
            <a:r>
              <a:rPr lang="en-US" altLang="en-US" b="1" dirty="0">
                <a:solidFill>
                  <a:srgbClr val="000099"/>
                </a:solidFill>
              </a:rPr>
              <a:t>protocols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3200" b="1" dirty="0"/>
              <a:t> Usually, distributed systems </a:t>
            </a:r>
            <a:r>
              <a:rPr lang="en-US" altLang="en-US" sz="3200" b="1" dirty="0">
                <a:solidFill>
                  <a:srgbClr val="000099"/>
                </a:solidFill>
              </a:rPr>
              <a:t>suffer</a:t>
            </a:r>
            <a:r>
              <a:rPr lang="en-US" altLang="en-US" sz="3200" b="1" dirty="0"/>
              <a:t> from major communication </a:t>
            </a:r>
            <a:r>
              <a:rPr lang="en-US" altLang="en-US" sz="3200" b="1" dirty="0" smtClean="0"/>
              <a:t>overheads</a:t>
            </a:r>
            <a:endParaRPr lang="en-US" alt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Communication Costs in Parallel Machines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9600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3200" b="1" dirty="0"/>
              <a:t>The </a:t>
            </a:r>
            <a:r>
              <a:rPr lang="en-US" altLang="en-US" sz="3200" b="1" dirty="0">
                <a:solidFill>
                  <a:srgbClr val="000099"/>
                </a:solidFill>
              </a:rPr>
              <a:t>total time </a:t>
            </a:r>
            <a:r>
              <a:rPr lang="en-US" altLang="en-US" sz="3200" b="1" dirty="0"/>
              <a:t>to transfer a message over a network comprises of the following: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3200" b="1" dirty="0" smtClean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3200" b="1" dirty="0" smtClean="0">
                <a:solidFill>
                  <a:srgbClr val="C00000"/>
                </a:solidFill>
              </a:rPr>
              <a:t>Startup </a:t>
            </a:r>
            <a:r>
              <a:rPr lang="en-US" altLang="en-US" sz="3200" b="1" dirty="0">
                <a:solidFill>
                  <a:srgbClr val="C00000"/>
                </a:solidFill>
              </a:rPr>
              <a:t>time </a:t>
            </a:r>
            <a:r>
              <a:rPr lang="en-US" altLang="en-US" sz="3200" b="1" dirty="0" smtClean="0">
                <a:solidFill>
                  <a:srgbClr val="C00000"/>
                </a:solidFill>
              </a:rPr>
              <a:t>(</a:t>
            </a:r>
            <a:r>
              <a:rPr lang="en-US" altLang="en-US" sz="3200" b="1" i="1" dirty="0" err="1" smtClean="0">
                <a:solidFill>
                  <a:srgbClr val="C00000"/>
                </a:solidFill>
              </a:rPr>
              <a:t>t</a:t>
            </a:r>
            <a:r>
              <a:rPr lang="en-US" altLang="en-US" sz="3200" b="1" i="1" baseline="-25000" dirty="0" err="1" smtClean="0">
                <a:solidFill>
                  <a:srgbClr val="C00000"/>
                </a:solidFill>
              </a:rPr>
              <a:t>s</a:t>
            </a:r>
            <a:r>
              <a:rPr lang="en-US" altLang="en-US" sz="3200" b="1" dirty="0" smtClean="0">
                <a:solidFill>
                  <a:srgbClr val="C00000"/>
                </a:solidFill>
              </a:rPr>
              <a:t>): </a:t>
            </a:r>
            <a:r>
              <a:rPr lang="en-US" altLang="en-US" sz="3200" b="1" dirty="0"/>
              <a:t>Time spent at </a:t>
            </a:r>
            <a:r>
              <a:rPr lang="en-US" altLang="en-US" sz="3200" b="1" dirty="0">
                <a:solidFill>
                  <a:srgbClr val="000099"/>
                </a:solidFill>
              </a:rPr>
              <a:t>sending and receiving nodes</a:t>
            </a:r>
            <a:r>
              <a:rPr lang="en-US" altLang="en-US" sz="3200" b="1" dirty="0"/>
              <a:t> (preparing the </a:t>
            </a:r>
            <a:r>
              <a:rPr lang="en-US" altLang="en-US" sz="3200" b="1" dirty="0" smtClean="0"/>
              <a:t>message [</a:t>
            </a:r>
            <a:r>
              <a:rPr lang="en-US" altLang="en-US" sz="3200" b="1" dirty="0"/>
              <a:t>adding headers, trailers, and parity </a:t>
            </a:r>
            <a:r>
              <a:rPr lang="en-US" altLang="en-US" sz="3200" b="1" dirty="0" smtClean="0"/>
              <a:t>information] </a:t>
            </a:r>
            <a:r>
              <a:rPr lang="en-US" altLang="en-US" sz="3200" b="1" dirty="0"/>
              <a:t>, executing the routing algorithm, establishing interface between node and router, etc</a:t>
            </a:r>
            <a:r>
              <a:rPr lang="en-US" altLang="en-US" sz="3200" b="1" dirty="0" smtClean="0"/>
              <a:t>.)</a:t>
            </a:r>
            <a:endParaRPr lang="en-US" alt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Message Passing Costs in Parallel Computers</a:t>
            </a:r>
          </a:p>
        </p:txBody>
      </p:sp>
    </p:spTree>
    <p:extLst>
      <p:ext uri="{BB962C8B-B14F-4D97-AF65-F5344CB8AC3E}">
        <p14:creationId xmlns:p14="http://schemas.microsoft.com/office/powerpoint/2010/main" val="28136276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3200" b="1" dirty="0" smtClean="0">
                <a:solidFill>
                  <a:srgbClr val="C00000"/>
                </a:solidFill>
              </a:rPr>
              <a:t>Per-hop </a:t>
            </a:r>
            <a:r>
              <a:rPr lang="en-US" altLang="en-US" sz="3200" b="1" dirty="0">
                <a:solidFill>
                  <a:srgbClr val="C00000"/>
                </a:solidFill>
              </a:rPr>
              <a:t>time </a:t>
            </a:r>
            <a:r>
              <a:rPr lang="en-US" altLang="en-US" sz="3200" b="1" dirty="0" smtClean="0">
                <a:solidFill>
                  <a:srgbClr val="C00000"/>
                </a:solidFill>
              </a:rPr>
              <a:t>(</a:t>
            </a:r>
            <a:r>
              <a:rPr lang="en-US" altLang="en-US" sz="3200" b="1" i="1" dirty="0" err="1" smtClean="0">
                <a:solidFill>
                  <a:srgbClr val="C00000"/>
                </a:solidFill>
              </a:rPr>
              <a:t>t</a:t>
            </a:r>
            <a:r>
              <a:rPr lang="en-US" altLang="en-US" sz="3200" b="1" i="1" baseline="-25000" dirty="0" err="1" smtClean="0">
                <a:solidFill>
                  <a:srgbClr val="C00000"/>
                </a:solidFill>
              </a:rPr>
              <a:t>h</a:t>
            </a:r>
            <a:r>
              <a:rPr lang="en-US" altLang="en-US" sz="3200" b="1" dirty="0" smtClean="0">
                <a:solidFill>
                  <a:srgbClr val="C00000"/>
                </a:solidFill>
              </a:rPr>
              <a:t>): </a:t>
            </a:r>
            <a:r>
              <a:rPr lang="en-US" altLang="en-US" sz="3200" b="1" dirty="0"/>
              <a:t>This time is a function of number of </a:t>
            </a:r>
            <a:r>
              <a:rPr lang="en-US" altLang="en-US" sz="3200" b="1" dirty="0">
                <a:solidFill>
                  <a:srgbClr val="000099"/>
                </a:solidFill>
              </a:rPr>
              <a:t>hops</a:t>
            </a:r>
            <a:r>
              <a:rPr lang="en-US" altLang="en-US" sz="3200" b="1" dirty="0"/>
              <a:t> (steps) and includes factors such as switch latencies, network delays, etc.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Also known as </a:t>
            </a:r>
            <a:r>
              <a:rPr lang="en-US" altLang="en-US" b="1" dirty="0">
                <a:solidFill>
                  <a:srgbClr val="000099"/>
                </a:solidFill>
              </a:rPr>
              <a:t>node </a:t>
            </a:r>
            <a:r>
              <a:rPr lang="en-US" altLang="en-US" b="1" dirty="0" smtClean="0">
                <a:solidFill>
                  <a:srgbClr val="000099"/>
                </a:solidFill>
              </a:rPr>
              <a:t>latency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i="1" dirty="0"/>
              <a:t>A</a:t>
            </a:r>
            <a:r>
              <a:rPr lang="en-US" b="1" dirty="0" smtClean="0"/>
              <a:t>lso </a:t>
            </a:r>
            <a:r>
              <a:rPr lang="en-US" b="1" dirty="0"/>
              <a:t>accounts for the latency to take </a:t>
            </a:r>
            <a:r>
              <a:rPr lang="en-US" b="1" dirty="0">
                <a:solidFill>
                  <a:srgbClr val="000099"/>
                </a:solidFill>
              </a:rPr>
              <a:t>decision</a:t>
            </a:r>
            <a:r>
              <a:rPr lang="en-US" b="1" dirty="0"/>
              <a:t> of choosing next channel to which this message shall be forwarded </a:t>
            </a: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rgbClr val="C00000"/>
                </a:solidFill>
              </a:rPr>
              <a:t>Per-word transfer time </a:t>
            </a:r>
            <a:r>
              <a:rPr lang="en-US" altLang="en-US" sz="3200" b="1" dirty="0" smtClean="0">
                <a:solidFill>
                  <a:srgbClr val="C00000"/>
                </a:solidFill>
              </a:rPr>
              <a:t>(</a:t>
            </a:r>
            <a:r>
              <a:rPr lang="en-US" altLang="en-US" sz="3200" b="1" i="1" dirty="0" err="1" smtClean="0">
                <a:solidFill>
                  <a:srgbClr val="C00000"/>
                </a:solidFill>
              </a:rPr>
              <a:t>t</a:t>
            </a:r>
            <a:r>
              <a:rPr lang="en-US" altLang="en-US" sz="3200" b="1" i="1" baseline="-25000" dirty="0" err="1" smtClean="0">
                <a:solidFill>
                  <a:srgbClr val="C00000"/>
                </a:solidFill>
              </a:rPr>
              <a:t>w</a:t>
            </a:r>
            <a:r>
              <a:rPr lang="en-US" altLang="en-US" sz="3200" b="1" dirty="0" smtClean="0">
                <a:solidFill>
                  <a:srgbClr val="C00000"/>
                </a:solidFill>
              </a:rPr>
              <a:t>): </a:t>
            </a:r>
            <a:r>
              <a:rPr lang="en-US" altLang="en-US" sz="3200" b="1" dirty="0"/>
              <a:t>This time includes all overheads that are determined by the </a:t>
            </a:r>
            <a:r>
              <a:rPr lang="en-US" altLang="en-US" sz="3200" b="1" dirty="0">
                <a:solidFill>
                  <a:srgbClr val="000099"/>
                </a:solidFill>
              </a:rPr>
              <a:t>length</a:t>
            </a:r>
            <a:r>
              <a:rPr lang="en-US" altLang="en-US" sz="3200" b="1" dirty="0"/>
              <a:t> of the message. This includes </a:t>
            </a:r>
            <a:r>
              <a:rPr lang="en-US" altLang="en-US" sz="3200" b="1" dirty="0" err="1" smtClean="0"/>
              <a:t>bandwidh</a:t>
            </a:r>
            <a:r>
              <a:rPr lang="en-US" altLang="en-US" sz="3200" b="1" dirty="0" smtClean="0"/>
              <a:t> </a:t>
            </a:r>
            <a:r>
              <a:rPr lang="en-US" altLang="en-US" sz="3200" b="1" dirty="0"/>
              <a:t>of links, and buffering overheads, etc.</a:t>
            </a:r>
          </a:p>
          <a:p>
            <a:pPr lvl="1" algn="just"/>
            <a:r>
              <a:rPr lang="en-US" b="1" dirty="0"/>
              <a:t>If channel bandwidth is r words/s then each word take </a:t>
            </a:r>
            <a:r>
              <a:rPr lang="en-US" altLang="en-US" b="1" i="1" dirty="0" err="1">
                <a:solidFill>
                  <a:srgbClr val="000099"/>
                </a:solidFill>
              </a:rPr>
              <a:t>t</a:t>
            </a:r>
            <a:r>
              <a:rPr lang="en-US" altLang="en-US" b="1" i="1" baseline="-25000" dirty="0" err="1">
                <a:solidFill>
                  <a:srgbClr val="000099"/>
                </a:solidFill>
              </a:rPr>
              <a:t>w</a:t>
            </a:r>
            <a:r>
              <a:rPr lang="en-US" b="1" dirty="0">
                <a:solidFill>
                  <a:srgbClr val="000099"/>
                </a:solidFill>
              </a:rPr>
              <a:t>= 1/r </a:t>
            </a:r>
            <a:r>
              <a:rPr lang="en-US" b="1" dirty="0"/>
              <a:t>to traverse the </a:t>
            </a:r>
            <a:r>
              <a:rPr lang="en-US" b="1" dirty="0" smtClean="0"/>
              <a:t>link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3200" b="1" dirty="0"/>
          </a:p>
          <a:p>
            <a:pPr marL="130175" indent="0" algn="just">
              <a:buNone/>
            </a:pPr>
            <a:endParaRPr lang="en-US" alt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3200" b="1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alt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 Passing Costs in Parallel </a:t>
            </a:r>
            <a:r>
              <a:rPr lang="en-US" dirty="0" smtClean="0"/>
              <a:t>Computers (</a:t>
            </a:r>
            <a:r>
              <a:rPr lang="en-US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131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altLang="en-US" sz="3200" b="1" dirty="0">
                <a:solidFill>
                  <a:srgbClr val="C00000"/>
                </a:solidFill>
              </a:rPr>
              <a:t>Store-and-Forward Routing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A message traversing multiple hops is </a:t>
            </a:r>
            <a:r>
              <a:rPr lang="en-US" altLang="en-US" b="1" dirty="0">
                <a:solidFill>
                  <a:srgbClr val="000099"/>
                </a:solidFill>
              </a:rPr>
              <a:t>completely received </a:t>
            </a:r>
            <a:r>
              <a:rPr lang="en-US" altLang="en-US" b="1" dirty="0" smtClean="0"/>
              <a:t>at </a:t>
            </a:r>
            <a:r>
              <a:rPr lang="en-US" altLang="en-US" b="1" dirty="0"/>
              <a:t>intermediate hop before being forwarded </a:t>
            </a:r>
            <a:r>
              <a:rPr lang="en-US" altLang="en-US" b="1" dirty="0" smtClean="0"/>
              <a:t>to </a:t>
            </a:r>
            <a:r>
              <a:rPr lang="en-US" altLang="en-US" b="1" dirty="0"/>
              <a:t>next </a:t>
            </a:r>
            <a:r>
              <a:rPr lang="en-US" altLang="en-US" b="1" dirty="0" smtClean="0"/>
              <a:t>hop</a:t>
            </a: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total communication cost </a:t>
            </a:r>
            <a:r>
              <a:rPr lang="en-US" altLang="en-US" b="1" dirty="0"/>
              <a:t>for a message of size m words to traverse l communication links is</a:t>
            </a:r>
          </a:p>
          <a:p>
            <a:pPr marL="130175" indent="0" algn="just">
              <a:buNone/>
            </a:pPr>
            <a:endParaRPr lang="en-US" alt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In most platforms</a:t>
            </a:r>
            <a:r>
              <a:rPr lang="en-US" altLang="en-US" b="1" dirty="0" smtClean="0"/>
              <a:t>,</a:t>
            </a:r>
            <a:r>
              <a:rPr lang="en-US" altLang="en-US" b="1" i="1" dirty="0" smtClean="0">
                <a:solidFill>
                  <a:srgbClr val="C00000"/>
                </a:solidFill>
              </a:rPr>
              <a:t>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h</a:t>
            </a:r>
            <a:r>
              <a:rPr lang="en-US" altLang="en-US" b="1" dirty="0" smtClean="0"/>
              <a:t> </a:t>
            </a:r>
            <a:r>
              <a:rPr lang="en-US" altLang="en-US" b="1" dirty="0"/>
              <a:t>is small and the above expression can be approximated </a:t>
            </a:r>
            <a:r>
              <a:rPr lang="en-US" altLang="en-US" b="1" dirty="0" smtClean="0"/>
              <a:t>by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32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b="1" i="1" dirty="0"/>
              <a:t>Cost of header transfer at each hop (step) </a:t>
            </a:r>
            <a:r>
              <a:rPr lang="en-US" altLang="en-US" b="1" i="1" dirty="0" err="1" smtClean="0"/>
              <a:t>t</a:t>
            </a:r>
            <a:r>
              <a:rPr lang="en-US" altLang="en-US" b="1" i="1" baseline="-25000" dirty="0" err="1" smtClean="0"/>
              <a:t>h</a:t>
            </a:r>
            <a:r>
              <a:rPr lang="en-US" altLang="en-US" b="1" i="1" dirty="0"/>
              <a:t> </a:t>
            </a:r>
            <a:r>
              <a:rPr lang="en-US" altLang="en-US" b="1" i="1" dirty="0" smtClean="0"/>
              <a:t>		</a:t>
            </a:r>
            <a:r>
              <a:rPr lang="en-US" altLang="en-US" b="1" i="1" dirty="0" err="1" smtClean="0"/>
              <a:t>t</a:t>
            </a:r>
            <a:r>
              <a:rPr lang="en-US" altLang="en-US" b="1" i="1" baseline="-25000" dirty="0" err="1"/>
              <a:t>s</a:t>
            </a:r>
            <a:r>
              <a:rPr lang="en-US" altLang="en-US" b="1" i="1" dirty="0" smtClean="0"/>
              <a:t> </a:t>
            </a:r>
            <a:r>
              <a:rPr lang="en-US" altLang="en-US" b="1" i="1" dirty="0"/>
              <a:t>is startup time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b="1" i="1" dirty="0" err="1"/>
              <a:t>m</a:t>
            </a:r>
            <a:r>
              <a:rPr lang="en-US" altLang="en-US" b="1" i="1" dirty="0" err="1" smtClean="0"/>
              <a:t>t</a:t>
            </a:r>
            <a:r>
              <a:rPr lang="en-US" altLang="en-US" b="1" i="1" baseline="-25000" dirty="0" err="1" smtClean="0"/>
              <a:t>w</a:t>
            </a:r>
            <a:r>
              <a:rPr lang="en-US" b="1" i="1" dirty="0" smtClean="0"/>
              <a:t> is </a:t>
            </a:r>
            <a:r>
              <a:rPr lang="en-US" b="1" i="1" dirty="0"/>
              <a:t>cost of transferring m words over </a:t>
            </a:r>
            <a:r>
              <a:rPr lang="en-US" b="1" i="1" dirty="0" smtClean="0"/>
              <a:t>the </a:t>
            </a:r>
            <a:r>
              <a:rPr lang="en-US" b="1" i="1" dirty="0"/>
              <a:t>link</a:t>
            </a:r>
          </a:p>
          <a:p>
            <a:pPr lvl="1"/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 Passing Costs in Parallel </a:t>
            </a:r>
            <a:r>
              <a:rPr lang="en-US" dirty="0" smtClean="0"/>
              <a:t>Computers (</a:t>
            </a:r>
            <a:r>
              <a:rPr lang="en-US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Picture 8" descr="img91">
            <a:extLst>
              <a:ext uri="{FF2B5EF4-FFF2-40B4-BE49-F238E27FC236}">
                <a16:creationId xmlns:a16="http://schemas.microsoft.com/office/drawing/2014/main" xmlns="" id="{883ED7B8-B71F-4E95-B299-B0D085D89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643" y="3770816"/>
            <a:ext cx="35814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 descr="img92">
            <a:extLst>
              <a:ext uri="{FF2B5EF4-FFF2-40B4-BE49-F238E27FC236}">
                <a16:creationId xmlns:a16="http://schemas.microsoft.com/office/drawing/2014/main" xmlns="" id="{837345C9-839D-4D58-B1F3-88740905D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318" y="5197758"/>
            <a:ext cx="268605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30145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altLang="en-US" sz="3200" b="1" dirty="0">
                <a:solidFill>
                  <a:srgbClr val="C00000"/>
                </a:solidFill>
              </a:rPr>
              <a:t>Packet Routing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Store-and-forward makes </a:t>
            </a:r>
            <a:r>
              <a:rPr lang="en-US" altLang="en-US" b="1" dirty="0">
                <a:solidFill>
                  <a:srgbClr val="000099"/>
                </a:solidFill>
              </a:rPr>
              <a:t>poor use</a:t>
            </a:r>
            <a:r>
              <a:rPr lang="en-US" altLang="en-US" b="1" dirty="0"/>
              <a:t> of communication </a:t>
            </a:r>
            <a:r>
              <a:rPr lang="en-US" altLang="en-US" b="1" dirty="0" smtClean="0"/>
              <a:t>resources </a:t>
            </a: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Packet routing </a:t>
            </a:r>
            <a:r>
              <a:rPr lang="en-US" altLang="en-US" b="1" dirty="0">
                <a:solidFill>
                  <a:srgbClr val="000099"/>
                </a:solidFill>
              </a:rPr>
              <a:t>breaks messages </a:t>
            </a:r>
            <a:r>
              <a:rPr lang="en-US" altLang="en-US" b="1" dirty="0"/>
              <a:t>into packets and pipelines them through the </a:t>
            </a:r>
            <a:r>
              <a:rPr lang="en-US" altLang="en-US" b="1" dirty="0" smtClean="0"/>
              <a:t>network </a:t>
            </a: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Since packets may take different paths, each </a:t>
            </a:r>
            <a:r>
              <a:rPr lang="en-US" altLang="en-US" b="1" dirty="0">
                <a:solidFill>
                  <a:srgbClr val="000099"/>
                </a:solidFill>
              </a:rPr>
              <a:t>packet must carry </a:t>
            </a:r>
            <a:r>
              <a:rPr lang="en-US" altLang="en-US" b="1" dirty="0"/>
              <a:t>routing information, error checking, sequencing, and other related header </a:t>
            </a:r>
            <a:r>
              <a:rPr lang="en-US" altLang="en-US" b="1" dirty="0" smtClean="0"/>
              <a:t>information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b="1" dirty="0" smtClean="0"/>
              <a:t>Error checking (parity information),  sequencing (order number)</a:t>
            </a:r>
            <a:endParaRPr lang="en-US" alt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Related headers: layers headers, addressing headers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total communication time for packet routing </a:t>
            </a:r>
            <a:r>
              <a:rPr lang="en-US" altLang="en-US" b="1" dirty="0"/>
              <a:t>is approximated by: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Here factor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w</a:t>
            </a:r>
            <a:r>
              <a:rPr lang="en-US" altLang="en-US" b="1" dirty="0" smtClean="0"/>
              <a:t> </a:t>
            </a:r>
            <a:r>
              <a:rPr lang="en-US" altLang="en-US" b="1" dirty="0"/>
              <a:t>also accounts for </a:t>
            </a:r>
            <a:r>
              <a:rPr lang="en-US" altLang="en-US" b="1" dirty="0">
                <a:solidFill>
                  <a:srgbClr val="000099"/>
                </a:solidFill>
              </a:rPr>
              <a:t>overheads</a:t>
            </a:r>
            <a:r>
              <a:rPr lang="en-US" altLang="en-US" b="1" dirty="0"/>
              <a:t> in packet </a:t>
            </a:r>
            <a:r>
              <a:rPr lang="en-US" altLang="en-US" b="1" dirty="0" smtClean="0"/>
              <a:t>headers</a:t>
            </a:r>
            <a:endParaRPr lang="en-US" alt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 Passing Costs in Parallel </a:t>
            </a:r>
            <a:r>
              <a:rPr lang="en-US" dirty="0" smtClean="0"/>
              <a:t>Computers (</a:t>
            </a:r>
            <a:r>
              <a:rPr lang="en-US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8" name="Picture 7" descr="img95">
            <a:extLst>
              <a:ext uri="{FF2B5EF4-FFF2-40B4-BE49-F238E27FC236}">
                <a16:creationId xmlns:a16="http://schemas.microsoft.com/office/drawing/2014/main" xmlns="" id="{8143F665-6287-4510-93F4-39E9534D7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83341" y="5828131"/>
            <a:ext cx="33337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52538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altLang="en-US" sz="3200" b="1" dirty="0">
                <a:solidFill>
                  <a:srgbClr val="C00000"/>
                </a:solidFill>
              </a:rPr>
              <a:t>Cut-Through Routing </a:t>
            </a:r>
            <a:endParaRPr lang="en-US" alt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Takes </a:t>
            </a:r>
            <a:r>
              <a:rPr lang="en-US" altLang="en-US" b="1" dirty="0"/>
              <a:t>the concept of packet routing to an extreme by further dividing messages into basic units called </a:t>
            </a:r>
            <a:r>
              <a:rPr lang="en-US" altLang="en-US" b="1" dirty="0">
                <a:solidFill>
                  <a:srgbClr val="000099"/>
                </a:solidFill>
              </a:rPr>
              <a:t>flits</a:t>
            </a:r>
            <a:r>
              <a:rPr lang="en-US" altLang="en-US" b="1" dirty="0"/>
              <a:t> or flow control </a:t>
            </a:r>
            <a:r>
              <a:rPr lang="en-US" altLang="en-US" b="1" dirty="0" smtClean="0"/>
              <a:t>digits </a:t>
            </a: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Since </a:t>
            </a:r>
            <a:r>
              <a:rPr lang="en-US" altLang="en-US" b="1" dirty="0"/>
              <a:t>flits are typically small</a:t>
            </a:r>
            <a:r>
              <a:rPr lang="en-US" altLang="en-US" b="1" dirty="0" smtClean="0"/>
              <a:t>, the </a:t>
            </a:r>
            <a:r>
              <a:rPr lang="en-US" altLang="en-US" b="1" dirty="0">
                <a:solidFill>
                  <a:srgbClr val="000099"/>
                </a:solidFill>
              </a:rPr>
              <a:t>header information </a:t>
            </a:r>
            <a:r>
              <a:rPr lang="en-US" altLang="en-US" b="1" dirty="0"/>
              <a:t>must be </a:t>
            </a:r>
            <a:r>
              <a:rPr lang="en-US" altLang="en-US" b="1" dirty="0" smtClean="0"/>
              <a:t>minimized</a:t>
            </a: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This </a:t>
            </a:r>
            <a:r>
              <a:rPr lang="en-US" altLang="en-US" b="1" dirty="0"/>
              <a:t>is done by forcing all flits to take the </a:t>
            </a:r>
            <a:r>
              <a:rPr lang="en-US" altLang="en-US" b="1" dirty="0">
                <a:solidFill>
                  <a:srgbClr val="000099"/>
                </a:solidFill>
              </a:rPr>
              <a:t>same path</a:t>
            </a:r>
            <a:r>
              <a:rPr lang="en-US" altLang="en-US" b="1" dirty="0"/>
              <a:t>, in </a:t>
            </a:r>
            <a:r>
              <a:rPr lang="en-US" altLang="en-US" b="1" dirty="0" smtClean="0"/>
              <a:t>sequence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A tracer message first </a:t>
            </a:r>
            <a:r>
              <a:rPr lang="en-US" altLang="en-US" b="1" dirty="0" smtClean="0">
                <a:solidFill>
                  <a:srgbClr val="000099"/>
                </a:solidFill>
              </a:rPr>
              <a:t>programs</a:t>
            </a:r>
            <a:r>
              <a:rPr lang="en-US" altLang="en-US" b="1" dirty="0" smtClean="0"/>
              <a:t> all intermediate routers. All flits then take the same route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 Passing Costs in Parallel </a:t>
            </a:r>
            <a:r>
              <a:rPr lang="en-US" dirty="0" smtClean="0"/>
              <a:t>Computers (</a:t>
            </a:r>
            <a:r>
              <a:rPr lang="en-US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9072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altLang="en-US" sz="3200" b="1" dirty="0">
                <a:solidFill>
                  <a:srgbClr val="C00000"/>
                </a:solidFill>
              </a:rPr>
              <a:t>Cut-Through </a:t>
            </a:r>
            <a:r>
              <a:rPr lang="en-US" altLang="en-US" sz="3200" b="1" dirty="0" smtClean="0">
                <a:solidFill>
                  <a:srgbClr val="C00000"/>
                </a:solidFill>
              </a:rPr>
              <a:t>Routing (Cont.) </a:t>
            </a:r>
            <a:endParaRPr lang="en-US" alt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Error </a:t>
            </a:r>
            <a:r>
              <a:rPr lang="en-US" altLang="en-US" b="1" dirty="0"/>
              <a:t>checks are </a:t>
            </a:r>
            <a:r>
              <a:rPr lang="en-US" altLang="en-US" b="1" dirty="0">
                <a:solidFill>
                  <a:srgbClr val="000099"/>
                </a:solidFill>
              </a:rPr>
              <a:t>performed</a:t>
            </a:r>
            <a:r>
              <a:rPr lang="en-US" altLang="en-US" b="1" dirty="0"/>
              <a:t> </a:t>
            </a:r>
            <a:r>
              <a:rPr lang="en-US" altLang="en-US" b="1" dirty="0" smtClean="0"/>
              <a:t>on </a:t>
            </a:r>
            <a:r>
              <a:rPr lang="en-US" altLang="en-US" b="1" dirty="0"/>
              <a:t>entire message, as opposed to </a:t>
            </a:r>
            <a:r>
              <a:rPr lang="en-US" altLang="en-US" b="1" dirty="0" smtClean="0"/>
              <a:t>flits </a:t>
            </a:r>
            <a:endParaRPr lang="en-US" altLang="en-US" b="1" dirty="0" smtClean="0">
              <a:solidFill>
                <a:srgbClr val="000099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99"/>
                </a:solidFill>
              </a:rPr>
              <a:t>No </a:t>
            </a:r>
            <a:r>
              <a:rPr lang="en-US" altLang="en-US" b="1" dirty="0">
                <a:solidFill>
                  <a:srgbClr val="000099"/>
                </a:solidFill>
              </a:rPr>
              <a:t>sequence numbers </a:t>
            </a:r>
            <a:r>
              <a:rPr lang="en-US" altLang="en-US" b="1" dirty="0"/>
              <a:t>are </a:t>
            </a:r>
            <a:r>
              <a:rPr lang="en-US" altLang="en-US" b="1" dirty="0" smtClean="0"/>
              <a:t>needed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Sequencing information is not needed as all the packets are following same path which ensures </a:t>
            </a:r>
            <a:r>
              <a:rPr lang="en-US" altLang="en-US" b="1" dirty="0">
                <a:solidFill>
                  <a:srgbClr val="000099"/>
                </a:solidFill>
              </a:rPr>
              <a:t>in-order</a:t>
            </a:r>
            <a:r>
              <a:rPr lang="en-US" altLang="en-US" b="1" dirty="0"/>
              <a:t> </a:t>
            </a:r>
            <a:r>
              <a:rPr lang="en-US" altLang="en-US" b="1" dirty="0" smtClean="0"/>
              <a:t>delivery</a:t>
            </a: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total communication time for cut-through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0099"/>
                </a:solidFill>
              </a:rPr>
              <a:t>routing</a:t>
            </a:r>
            <a:r>
              <a:rPr lang="en-US" altLang="en-US" b="1" dirty="0"/>
              <a:t> is approximated by: </a:t>
            </a:r>
          </a:p>
          <a:p>
            <a:pPr marL="130175" indent="0" algn="just">
              <a:buNone/>
            </a:pP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This is </a:t>
            </a:r>
            <a:r>
              <a:rPr lang="en-US" altLang="en-US" b="1" dirty="0">
                <a:solidFill>
                  <a:srgbClr val="000099"/>
                </a:solidFill>
              </a:rPr>
              <a:t>identical</a:t>
            </a:r>
            <a:r>
              <a:rPr lang="en-US" altLang="en-US" b="1" dirty="0"/>
              <a:t> to packet routing, however,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w</a:t>
            </a:r>
            <a:r>
              <a:rPr lang="en-US" altLang="en-US" b="1" dirty="0" smtClean="0"/>
              <a:t> </a:t>
            </a:r>
            <a:r>
              <a:rPr lang="en-US" altLang="en-US" b="1" dirty="0"/>
              <a:t>is typically much </a:t>
            </a:r>
            <a:r>
              <a:rPr lang="en-US" altLang="en-US" b="1" dirty="0" smtClean="0"/>
              <a:t>smaller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Header of the message takes </a:t>
            </a:r>
            <a:r>
              <a:rPr lang="en-US" altLang="en-US" b="1" dirty="0" smtClean="0"/>
              <a:t>l*</a:t>
            </a:r>
            <a:r>
              <a:rPr lang="en-US" altLang="en-US" b="1" i="1" dirty="0"/>
              <a:t> </a:t>
            </a:r>
            <a:r>
              <a:rPr lang="en-US" altLang="en-US" b="1" i="1" dirty="0" err="1" smtClean="0"/>
              <a:t>t</a:t>
            </a:r>
            <a:r>
              <a:rPr lang="en-US" altLang="en-US" b="1" i="1" baseline="-25000" dirty="0" err="1" smtClean="0"/>
              <a:t>h</a:t>
            </a:r>
            <a:r>
              <a:rPr lang="en-US" altLang="en-US" b="1" dirty="0" smtClean="0"/>
              <a:t> </a:t>
            </a:r>
            <a:r>
              <a:rPr lang="en-US" altLang="en-US" b="1" dirty="0"/>
              <a:t>to reach the destination </a:t>
            </a:r>
            <a:r>
              <a:rPr lang="en-US" altLang="en-US" b="1" dirty="0" smtClean="0"/>
              <a:t>and entire </a:t>
            </a:r>
            <a:r>
              <a:rPr lang="en-US" altLang="en-US" b="1" dirty="0"/>
              <a:t>message arrives in time </a:t>
            </a:r>
            <a:r>
              <a:rPr lang="en-US" altLang="en-US" b="1" dirty="0" smtClean="0"/>
              <a:t>m</a:t>
            </a:r>
            <a:r>
              <a:rPr lang="en-US" altLang="en-US" b="1" i="1" dirty="0"/>
              <a:t>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w</a:t>
            </a:r>
            <a:r>
              <a:rPr lang="en-US" altLang="en-US" b="1" dirty="0" smtClean="0"/>
              <a:t> </a:t>
            </a:r>
            <a:r>
              <a:rPr lang="en-US" altLang="en-US" b="1" dirty="0"/>
              <a:t>after the message header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 Passing Costs in Parallel </a:t>
            </a:r>
            <a:r>
              <a:rPr lang="en-US" dirty="0" smtClean="0"/>
              <a:t>Computers (</a:t>
            </a:r>
            <a:r>
              <a:rPr lang="en-US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Picture 7" descr="img95">
            <a:extLst>
              <a:ext uri="{FF2B5EF4-FFF2-40B4-BE49-F238E27FC236}">
                <a16:creationId xmlns:a16="http://schemas.microsoft.com/office/drawing/2014/main" xmlns="" id="{3DA518EC-6886-41ED-AB2E-9ECF37425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22271" y="4343854"/>
            <a:ext cx="33337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42215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371" y="142189"/>
            <a:ext cx="9673399" cy="81575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Message Passing Costs in Parallel </a:t>
            </a:r>
            <a:r>
              <a:rPr lang="en-US" altLang="en-US" dirty="0" smtClean="0"/>
              <a:t>Computers (Cont.)</a:t>
            </a:r>
            <a:endParaRPr lang="en-US" dirty="0"/>
          </a:p>
        </p:txBody>
      </p:sp>
      <p:pic>
        <p:nvPicPr>
          <p:cNvPr id="8" name="Picture 5" descr="routing">
            <a:extLst>
              <a:ext uri="{FF2B5EF4-FFF2-40B4-BE49-F238E27FC236}">
                <a16:creationId xmlns:a16="http://schemas.microsoft.com/office/drawing/2014/main" xmlns="" id="{8375F00D-4D7B-43CA-88B5-79DEC077B5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0" t="-2315" r="-2130" b="-2315"/>
          <a:stretch>
            <a:fillRect/>
          </a:stretch>
        </p:blipFill>
        <p:spPr>
          <a:xfrm>
            <a:off x="6200635" y="690293"/>
            <a:ext cx="4475465" cy="590005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D71461F-4732-4392-AF63-B53EE2F3F405}"/>
              </a:ext>
            </a:extLst>
          </p:cNvPr>
          <p:cNvSpPr/>
          <p:nvPr/>
        </p:nvSpPr>
        <p:spPr>
          <a:xfrm>
            <a:off x="1628634" y="162340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/>
              <a:t>(a) through a store-and-forward communication </a:t>
            </a:r>
            <a:r>
              <a:rPr lang="en-US" altLang="en-US" dirty="0" smtClean="0"/>
              <a:t>network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72B89E9-0D60-4B76-B01B-5C9C7B08B1EC}"/>
              </a:ext>
            </a:extLst>
          </p:cNvPr>
          <p:cNvSpPr/>
          <p:nvPr/>
        </p:nvSpPr>
        <p:spPr>
          <a:xfrm>
            <a:off x="1628634" y="343240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/>
              <a:t>b) and (c) extending the concept to cut-through </a:t>
            </a:r>
            <a:r>
              <a:rPr lang="en-US" altLang="en-US" dirty="0" smtClean="0"/>
              <a:t>routing 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72B89E9-0D60-4B76-B01B-5C9C7B08B1EC}"/>
              </a:ext>
            </a:extLst>
          </p:cNvPr>
          <p:cNvSpPr/>
          <p:nvPr/>
        </p:nvSpPr>
        <p:spPr>
          <a:xfrm>
            <a:off x="1257003" y="476130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Shaded regions here </a:t>
            </a:r>
            <a:r>
              <a:rPr lang="en-US" b="1" dirty="0"/>
              <a:t>represent</a:t>
            </a:r>
            <a:r>
              <a:rPr lang="en-US" dirty="0"/>
              <a:t> the time where message is in transit (travel)</a:t>
            </a:r>
          </a:p>
          <a:p>
            <a:r>
              <a:rPr lang="en-US" dirty="0"/>
              <a:t>The </a:t>
            </a:r>
            <a:r>
              <a:rPr lang="en-US" b="1" dirty="0"/>
              <a:t>startup time </a:t>
            </a:r>
            <a:r>
              <a:rPr lang="en-US" dirty="0"/>
              <a:t>associated with this message transfer is assumed to be zero</a:t>
            </a:r>
          </a:p>
        </p:txBody>
      </p:sp>
    </p:spTree>
    <p:extLst>
      <p:ext uri="{BB962C8B-B14F-4D97-AF65-F5344CB8AC3E}">
        <p14:creationId xmlns:p14="http://schemas.microsoft.com/office/powerpoint/2010/main" val="23487203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Simplified Cost Model for Communicating Messages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cost of communicating a message </a:t>
            </a:r>
            <a:r>
              <a:rPr lang="en-US" altLang="en-US" b="1" dirty="0"/>
              <a:t>between two nodes l hops away using cut-through routing is given </a:t>
            </a:r>
            <a:r>
              <a:rPr lang="en-US" altLang="en-US" b="1" dirty="0" smtClean="0"/>
              <a:t>by:</a:t>
            </a: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In this expression,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h</a:t>
            </a:r>
            <a:r>
              <a:rPr lang="en-US" altLang="en-US" b="1" dirty="0" smtClean="0"/>
              <a:t> </a:t>
            </a:r>
            <a:r>
              <a:rPr lang="en-US" altLang="en-US" b="1" dirty="0"/>
              <a:t>is typically </a:t>
            </a:r>
            <a:r>
              <a:rPr lang="en-US" altLang="en-US" b="1" dirty="0">
                <a:solidFill>
                  <a:srgbClr val="000099"/>
                </a:solidFill>
              </a:rPr>
              <a:t>smaller</a:t>
            </a:r>
            <a:r>
              <a:rPr lang="en-US" altLang="en-US" b="1" dirty="0"/>
              <a:t> than </a:t>
            </a:r>
            <a:r>
              <a:rPr lang="en-US" altLang="en-US" b="1" i="1" dirty="0" err="1" smtClean="0"/>
              <a:t>t</a:t>
            </a:r>
            <a:r>
              <a:rPr lang="en-US" altLang="en-US" b="1" i="1" baseline="-25000" dirty="0" err="1" smtClean="0"/>
              <a:t>s</a:t>
            </a:r>
            <a:r>
              <a:rPr lang="en-US" altLang="en-US" b="1" dirty="0" smtClean="0"/>
              <a:t> </a:t>
            </a:r>
            <a:r>
              <a:rPr lang="en-US" altLang="en-US" b="1" dirty="0"/>
              <a:t>and </a:t>
            </a:r>
            <a:r>
              <a:rPr lang="en-US" altLang="en-US" b="1" i="1" dirty="0" err="1" smtClean="0"/>
              <a:t>t</a:t>
            </a:r>
            <a:r>
              <a:rPr lang="en-US" altLang="en-US" b="1" i="1" baseline="-25000" dirty="0" err="1" smtClean="0"/>
              <a:t>w</a:t>
            </a:r>
            <a:r>
              <a:rPr lang="en-US" altLang="en-US" b="1" dirty="0" smtClean="0"/>
              <a:t>. </a:t>
            </a:r>
            <a:r>
              <a:rPr lang="en-US" altLang="en-US" b="1" dirty="0"/>
              <a:t>For this reason, the second term in the RHS does not show, particularly, when m is </a:t>
            </a:r>
            <a:r>
              <a:rPr lang="en-US" altLang="en-US" b="1" dirty="0" smtClean="0"/>
              <a:t>large</a:t>
            </a: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For these reasons, we can approximate the </a:t>
            </a:r>
            <a:r>
              <a:rPr lang="en-US" altLang="en-US" b="1" dirty="0">
                <a:solidFill>
                  <a:srgbClr val="000099"/>
                </a:solidFill>
              </a:rPr>
              <a:t>cost of message</a:t>
            </a:r>
            <a:r>
              <a:rPr lang="en-US" altLang="en-US" b="1" dirty="0"/>
              <a:t> transfer </a:t>
            </a:r>
            <a:r>
              <a:rPr lang="en-US" altLang="en-US" b="1" dirty="0" smtClean="0"/>
              <a:t>by: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For </a:t>
            </a:r>
            <a:r>
              <a:rPr lang="en-US" b="1" dirty="0"/>
              <a:t>communication using flits, start-up time </a:t>
            </a:r>
            <a:r>
              <a:rPr lang="en-US" b="1" dirty="0">
                <a:solidFill>
                  <a:srgbClr val="000099"/>
                </a:solidFill>
              </a:rPr>
              <a:t>dominates</a:t>
            </a:r>
            <a:r>
              <a:rPr lang="en-US" b="1" dirty="0"/>
              <a:t> the node </a:t>
            </a:r>
            <a:r>
              <a:rPr lang="en-US" b="1" dirty="0" smtClean="0"/>
              <a:t>latencies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 Passing Costs in Parallel </a:t>
            </a:r>
            <a:r>
              <a:rPr lang="en-US" dirty="0" smtClean="0"/>
              <a:t>Computers (</a:t>
            </a:r>
            <a:r>
              <a:rPr lang="en-US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7" name="Picture 10" descr="img96">
            <a:extLst>
              <a:ext uri="{FF2B5EF4-FFF2-40B4-BE49-F238E27FC236}">
                <a16:creationId xmlns:a16="http://schemas.microsoft.com/office/drawing/2014/main" xmlns="" id="{0F888527-452E-4A49-959D-F30B82751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9125" y="2800350"/>
            <a:ext cx="33337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" name="Picture 12" descr="img97">
            <a:extLst>
              <a:ext uri="{FF2B5EF4-FFF2-40B4-BE49-F238E27FC236}">
                <a16:creationId xmlns:a16="http://schemas.microsoft.com/office/drawing/2014/main" xmlns="" id="{DA6786F1-12F0-4CB3-9C1B-BE616B2A2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9125" y="5332419"/>
            <a:ext cx="2581275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41211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Simplified Cost Model for Communicating Messages </a:t>
            </a:r>
            <a:r>
              <a:rPr lang="en-US" altLang="en-US" b="1" dirty="0" smtClean="0">
                <a:solidFill>
                  <a:srgbClr val="C00000"/>
                </a:solidFill>
              </a:rPr>
              <a:t>(Cont.)</a:t>
            </a:r>
            <a:endParaRPr lang="en-US" altLang="en-US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It </a:t>
            </a:r>
            <a:r>
              <a:rPr lang="en-US" altLang="en-US" b="1" dirty="0"/>
              <a:t>is important to note that the original expression for communication time is </a:t>
            </a:r>
            <a:r>
              <a:rPr lang="en-US" altLang="en-US" b="1" dirty="0">
                <a:solidFill>
                  <a:srgbClr val="000099"/>
                </a:solidFill>
              </a:rPr>
              <a:t>valid</a:t>
            </a:r>
            <a:r>
              <a:rPr lang="en-US" altLang="en-US" b="1" dirty="0"/>
              <a:t> for only uncongested </a:t>
            </a:r>
            <a:r>
              <a:rPr lang="en-US" altLang="en-US" b="1" dirty="0" smtClean="0"/>
              <a:t>networks </a:t>
            </a: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Different communication patterns </a:t>
            </a:r>
            <a:r>
              <a:rPr lang="en-US" altLang="en-US" b="1" dirty="0">
                <a:solidFill>
                  <a:srgbClr val="000099"/>
                </a:solidFill>
              </a:rPr>
              <a:t>congest</a:t>
            </a:r>
            <a:r>
              <a:rPr lang="en-US" altLang="en-US" b="1" dirty="0"/>
              <a:t> different networks to varying </a:t>
            </a:r>
            <a:r>
              <a:rPr lang="en-US" altLang="en-US" b="1" dirty="0" smtClean="0"/>
              <a:t>extents </a:t>
            </a: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b="1" dirty="0"/>
              <a:t>It is important to understand and </a:t>
            </a:r>
            <a:r>
              <a:rPr lang="en-US" altLang="en-US" b="1" dirty="0">
                <a:solidFill>
                  <a:srgbClr val="000099"/>
                </a:solidFill>
              </a:rPr>
              <a:t>account</a:t>
            </a:r>
            <a:r>
              <a:rPr lang="en-US" altLang="en-US" b="1" dirty="0"/>
              <a:t> for this in the communication time </a:t>
            </a:r>
            <a:r>
              <a:rPr lang="en-US" altLang="en-US" b="1" dirty="0" smtClean="0"/>
              <a:t>accordingly</a:t>
            </a:r>
            <a:endParaRPr lang="en-US" alt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 Passing Costs in Parallel </a:t>
            </a:r>
            <a:r>
              <a:rPr lang="en-US" dirty="0" smtClean="0"/>
              <a:t>Computers (</a:t>
            </a:r>
            <a:r>
              <a:rPr lang="en-US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461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Motivating Parallelism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The </a:t>
            </a:r>
            <a:r>
              <a:rPr lang="en-US" b="1" dirty="0"/>
              <a:t>Memory / Disk Speed </a:t>
            </a:r>
            <a:r>
              <a:rPr lang="en-US" b="1" dirty="0" smtClean="0"/>
              <a:t>Argument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Speed mismatch between processor and DRAM can be reduced using parallel platforms and aggregated </a:t>
            </a:r>
            <a:r>
              <a:rPr lang="en-US" b="1" dirty="0" smtClean="0"/>
              <a:t>caches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The </a:t>
            </a:r>
            <a:r>
              <a:rPr lang="en-US" b="1" dirty="0"/>
              <a:t>Data Communication Argument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Analyses </a:t>
            </a:r>
            <a:r>
              <a:rPr lang="en-US" b="1" dirty="0"/>
              <a:t>on large scale data can be performed over the network using parallel </a:t>
            </a:r>
            <a:r>
              <a:rPr lang="en-US" b="1" dirty="0" smtClean="0"/>
              <a:t>techniques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779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Types </a:t>
            </a:r>
            <a:r>
              <a:rPr lang="en-US" sz="3200" b="1" dirty="0"/>
              <a:t>of </a:t>
            </a:r>
            <a:r>
              <a:rPr lang="en-US" sz="3200" b="1" dirty="0" smtClean="0"/>
              <a:t>Parallelism</a:t>
            </a:r>
            <a:r>
              <a:rPr lang="en-US" sz="3200" b="1" dirty="0"/>
              <a:t>	</a:t>
            </a:r>
            <a:endParaRPr lang="en-US" sz="32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Data Parallelism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Independent </a:t>
            </a:r>
            <a:r>
              <a:rPr lang="en-US" b="1" dirty="0"/>
              <a:t>tasks applying the same operation to different elements of a data </a:t>
            </a:r>
            <a:r>
              <a:rPr lang="en-US" b="1" dirty="0" smtClean="0"/>
              <a:t>set</a:t>
            </a:r>
            <a:endParaRPr lang="en-US" sz="28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Functional Parallelism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sz="2400" b="1" dirty="0" smtClean="0"/>
              <a:t>Independent </a:t>
            </a:r>
            <a:r>
              <a:rPr lang="en-US" sz="2400" b="1" dirty="0"/>
              <a:t>tasks applying different operations to different data </a:t>
            </a:r>
            <a:r>
              <a:rPr lang="en-US" sz="2400" b="1" dirty="0" smtClean="0"/>
              <a:t>elements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Pipelining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Effective </a:t>
            </a:r>
            <a:r>
              <a:rPr lang="en-US" b="1" dirty="0"/>
              <a:t>method of attaining parallelism on the uniprocessor architectures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7258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Multi-Processor vs. </a:t>
            </a:r>
            <a:r>
              <a:rPr lang="en-US" sz="3200" b="1" dirty="0" smtClean="0"/>
              <a:t>Multi-Computer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Multi-Processor </a:t>
            </a:r>
            <a:r>
              <a:rPr lang="en-US" b="1" dirty="0"/>
              <a:t>- Multiple CPUs with a shared </a:t>
            </a:r>
            <a:r>
              <a:rPr lang="en-US" b="1" dirty="0" smtClean="0"/>
              <a:t>memory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Centralized </a:t>
            </a:r>
            <a:r>
              <a:rPr lang="en-US" b="1" dirty="0"/>
              <a:t>Multi-Processor - All the memory is at one place and has Uniform Memory Access (UMA) </a:t>
            </a:r>
            <a:r>
              <a:rPr lang="en-US" b="1" dirty="0" smtClean="0"/>
              <a:t>architecture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Distributed </a:t>
            </a:r>
            <a:r>
              <a:rPr lang="en-US" b="1" dirty="0"/>
              <a:t>Multi-processor - Distributed collection of memories forms one logical address space. Use Non-Uniform Memory Access (NUMA) </a:t>
            </a:r>
            <a:r>
              <a:rPr lang="en-US" b="1" dirty="0" smtClean="0"/>
              <a:t>architecture</a:t>
            </a:r>
            <a:endParaRPr lang="en-US" sz="3200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Multi-Computer </a:t>
            </a:r>
            <a:r>
              <a:rPr lang="en-US" b="1" dirty="0"/>
              <a:t>- Each processor has disjoint </a:t>
            </a:r>
            <a:r>
              <a:rPr lang="en-US" b="1" dirty="0" smtClean="0"/>
              <a:t>memory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Asymmetric </a:t>
            </a:r>
            <a:r>
              <a:rPr lang="en-US" b="1" dirty="0"/>
              <a:t>Multi-Computers </a:t>
            </a:r>
          </a:p>
          <a:p>
            <a:pPr lvl="3" algn="just">
              <a:buClr>
                <a:srgbClr val="0000A8"/>
              </a:buClr>
              <a:buFont typeface="Wingdings" panose="05000000000000000000" pitchFamily="2" charset="2"/>
              <a:buChar char="§"/>
            </a:pPr>
            <a:r>
              <a:rPr lang="en-US" b="1" dirty="0" smtClean="0"/>
              <a:t>A </a:t>
            </a:r>
            <a:r>
              <a:rPr lang="en-US" b="1" dirty="0"/>
              <a:t>front-end computer interacts with users and I/O </a:t>
            </a:r>
            <a:r>
              <a:rPr lang="en-US" b="1" dirty="0" smtClean="0"/>
              <a:t>devices</a:t>
            </a:r>
          </a:p>
          <a:p>
            <a:pPr lvl="3" algn="just">
              <a:buClr>
                <a:srgbClr val="0000A8"/>
              </a:buClr>
              <a:buFont typeface="Wingdings" panose="05000000000000000000" pitchFamily="2" charset="2"/>
              <a:buChar char="§"/>
            </a:pPr>
            <a:r>
              <a:rPr lang="en-US" b="1" dirty="0" smtClean="0"/>
              <a:t>The </a:t>
            </a:r>
            <a:r>
              <a:rPr lang="en-US" b="1" dirty="0"/>
              <a:t>back-end processors are dedicated for processing </a:t>
            </a:r>
            <a:endParaRPr lang="en-US" sz="3200" b="1" dirty="0"/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Symmetric Multi-Computers</a:t>
            </a:r>
          </a:p>
          <a:p>
            <a:pPr lvl="3" algn="just">
              <a:buClr>
                <a:srgbClr val="0000A8"/>
              </a:buClr>
              <a:buFont typeface="Wingdings" panose="05000000000000000000" pitchFamily="2" charset="2"/>
              <a:buChar char="§"/>
            </a:pPr>
            <a:r>
              <a:rPr lang="en-US" b="1" dirty="0" smtClean="0"/>
              <a:t>Every </a:t>
            </a:r>
            <a:r>
              <a:rPr lang="en-US" b="1" dirty="0"/>
              <a:t>computer executes same </a:t>
            </a:r>
            <a:r>
              <a:rPr lang="en-US" b="1" dirty="0" smtClean="0"/>
              <a:t>OS</a:t>
            </a:r>
          </a:p>
          <a:p>
            <a:pPr lvl="3" algn="just">
              <a:buClr>
                <a:srgbClr val="0000A8"/>
              </a:buClr>
              <a:buFont typeface="Wingdings" panose="05000000000000000000" pitchFamily="2" charset="2"/>
              <a:buChar char="§"/>
            </a:pPr>
            <a:r>
              <a:rPr lang="en-US" b="1" dirty="0" smtClean="0"/>
              <a:t>This </a:t>
            </a:r>
            <a:r>
              <a:rPr lang="en-US" b="1" dirty="0"/>
              <a:t>enables multiple users to concurrently login, edit and compile their programs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577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>
                <a:sym typeface="+mn-ea"/>
              </a:rPr>
              <a:t>Cluster vs. Network of </a:t>
            </a:r>
            <a:r>
              <a:rPr lang="en-US" sz="3200" b="1" dirty="0" smtClean="0">
                <a:sym typeface="+mn-ea"/>
              </a:rPr>
              <a:t>Workstations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>
                <a:sym typeface="+mn-ea"/>
              </a:rPr>
              <a:t>Cluster </a:t>
            </a:r>
            <a:r>
              <a:rPr lang="en-US" b="1" dirty="0">
                <a:sym typeface="+mn-ea"/>
              </a:rPr>
              <a:t>- Co-located collection of computer with same version of </a:t>
            </a:r>
            <a:r>
              <a:rPr lang="en-US" b="1" dirty="0" smtClean="0">
                <a:sym typeface="+mn-ea"/>
              </a:rPr>
              <a:t>OS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>
                <a:sym typeface="+mn-ea"/>
              </a:rPr>
              <a:t>Network </a:t>
            </a:r>
            <a:r>
              <a:rPr lang="en-US" b="1" dirty="0">
                <a:sym typeface="+mn-ea"/>
              </a:rPr>
              <a:t>of Workstations - Dispersed collection of computers with different versions of </a:t>
            </a:r>
            <a:r>
              <a:rPr lang="en-US" b="1" dirty="0" smtClean="0">
                <a:sym typeface="+mn-ea"/>
              </a:rPr>
              <a:t>OS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ym typeface="+mn-ea"/>
              </a:rPr>
              <a:t>Cache Coherence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>
                <a:sym typeface="+mn-ea"/>
              </a:rPr>
              <a:t>Cache continuously </a:t>
            </a:r>
            <a:r>
              <a:rPr lang="en-US" b="1" dirty="0">
                <a:sym typeface="+mn-ea"/>
              </a:rPr>
              <a:t>needs to be updated for current </a:t>
            </a:r>
            <a:r>
              <a:rPr lang="en-US" b="1" dirty="0" smtClean="0">
                <a:sym typeface="+mn-ea"/>
              </a:rPr>
              <a:t>values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>
                <a:sym typeface="+mn-ea"/>
              </a:rPr>
              <a:t>Snooping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>
                <a:sym typeface="+mn-ea"/>
              </a:rPr>
              <a:t>Snoopy protocols achieve data consistency between cache and memory through a bus based memory system 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>
              <a:sym typeface="+mn-e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>
              <a:sym typeface="+mn-ea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8452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ym typeface="+mn-ea"/>
              </a:rPr>
              <a:t>Branch </a:t>
            </a:r>
            <a:r>
              <a:rPr lang="en-US" sz="3200" b="1" dirty="0">
                <a:sym typeface="+mn-ea"/>
              </a:rPr>
              <a:t>Prediction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>
                <a:sym typeface="+mn-ea"/>
              </a:rPr>
              <a:t>Used in CPU design to guess the outcome of a conditional operation and prepare for the most likely </a:t>
            </a:r>
            <a:r>
              <a:rPr lang="en-US" b="1" dirty="0" smtClean="0">
                <a:sym typeface="+mn-ea"/>
              </a:rPr>
              <a:t>result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Architecture </a:t>
            </a:r>
            <a:r>
              <a:rPr lang="en-US" sz="3200" b="1" dirty="0"/>
              <a:t>of an Ideal Parallel Computer – PRAM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Extension to ideal sequential model: Random Access Machine (RAM)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Consist of p processors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Global memory (Unbounded size, Uniformly accessible to all processors with same address space)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>
              <a:sym typeface="+mn-ea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>
              <a:sym typeface="+mn-e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>
              <a:sym typeface="+mn-ea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993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PRAM </a:t>
            </a:r>
            <a:r>
              <a:rPr lang="en-US" sz="3200" b="1" dirty="0"/>
              <a:t>Classes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Exclusive-Read, Exclusive-Write (EREW) PRAM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Concurrent-Read, Exclusive-Write (CREW) PRAM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Exclusive-Read, Concurrent-Write (ERCW) PRAM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Concurrent-Read, Concurrent-Write (CRCW) PRAM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PRAM Arbitration Protocols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Concurrent writes do create semantic inconsistencies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We need an arbitration mechanism to resolve concurrent write access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Common, Arbitrary, Priority, Sum protocols can be </a:t>
            </a:r>
            <a:r>
              <a:rPr lang="en-US" b="1" dirty="0" smtClean="0"/>
              <a:t>used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3468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Physical </a:t>
            </a:r>
            <a:r>
              <a:rPr lang="en-US" sz="3200" b="1" dirty="0"/>
              <a:t>Complexity of an Ideal Parallel Computer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Processors </a:t>
            </a:r>
            <a:r>
              <a:rPr lang="en-US" b="1" dirty="0"/>
              <a:t>and memories are connected via switches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Switches </a:t>
            </a:r>
            <a:r>
              <a:rPr lang="en-US" b="1" dirty="0"/>
              <a:t>must operate in O(1) time at the level of words, for a system of p processors and m words, the switch complexity is O(</a:t>
            </a:r>
            <a:r>
              <a:rPr lang="en-US" b="1" dirty="0" err="1"/>
              <a:t>mp</a:t>
            </a:r>
            <a:r>
              <a:rPr lang="en-US" b="1" dirty="0"/>
              <a:t>)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For </a:t>
            </a:r>
            <a:r>
              <a:rPr lang="en-US" b="1" dirty="0"/>
              <a:t>meaningful values of p and m, a true PRAM is not realizable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>
              <a:sym typeface="+mn-ea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>
              <a:sym typeface="+mn-e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>
              <a:sym typeface="+mn-ea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7994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Communication Costs in Parallel Machines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Message Passing Costs in Parallel Computers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Startup time, Per-hop time, Per-word transfer time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Store-and-Forward </a:t>
            </a:r>
            <a:r>
              <a:rPr lang="en-US" b="1" dirty="0" smtClean="0"/>
              <a:t>Routing</a:t>
            </a:r>
          </a:p>
          <a:p>
            <a:pPr marL="463550" lvl="1" indent="0">
              <a:buNone/>
            </a:pPr>
            <a:r>
              <a:rPr lang="en-US" b="1" dirty="0" smtClean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Packet Routing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Cut-Through </a:t>
            </a:r>
            <a:r>
              <a:rPr lang="en-US" b="1" dirty="0"/>
              <a:t>Routing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Simplified </a:t>
            </a:r>
            <a:r>
              <a:rPr lang="en-US" b="1" dirty="0"/>
              <a:t>Cost Model for Communicating Messages 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  <p:pic>
        <p:nvPicPr>
          <p:cNvPr id="4" name="Picture 8" descr="img91">
            <a:extLst>
              <a:ext uri="{FF2B5EF4-FFF2-40B4-BE49-F238E27FC236}">
                <a16:creationId xmlns:a16="http://schemas.microsoft.com/office/drawing/2014/main" xmlns="" id="{883ED7B8-B71F-4E95-B299-B0D085D89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046" y="2886920"/>
            <a:ext cx="35814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img95">
            <a:extLst>
              <a:ext uri="{FF2B5EF4-FFF2-40B4-BE49-F238E27FC236}">
                <a16:creationId xmlns:a16="http://schemas.microsoft.com/office/drawing/2014/main" xmlns="" id="{8143F665-6287-4510-93F4-39E9534D7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0154" y="3691524"/>
            <a:ext cx="33337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" name="Picture 7" descr="img95">
            <a:extLst>
              <a:ext uri="{FF2B5EF4-FFF2-40B4-BE49-F238E27FC236}">
                <a16:creationId xmlns:a16="http://schemas.microsoft.com/office/drawing/2014/main" xmlns="" id="{8143F665-6287-4510-93F4-39E9534D7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4268" y="4408151"/>
            <a:ext cx="33337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12" descr="img97">
            <a:extLst>
              <a:ext uri="{FF2B5EF4-FFF2-40B4-BE49-F238E27FC236}">
                <a16:creationId xmlns:a16="http://schemas.microsoft.com/office/drawing/2014/main" xmlns="" id="{DA6786F1-12F0-4CB3-9C1B-BE616B2A2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20554" y="5186199"/>
            <a:ext cx="2581275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97808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Book: Introduction </a:t>
            </a:r>
            <a:r>
              <a:rPr lang="en-US" sz="3200" b="1" dirty="0"/>
              <a:t>to Parallel Computing by </a:t>
            </a:r>
            <a:r>
              <a:rPr lang="en-US" sz="3200" b="1" dirty="0" err="1"/>
              <a:t>Ananth</a:t>
            </a:r>
            <a:r>
              <a:rPr lang="en-US" sz="3200" b="1" dirty="0"/>
              <a:t> </a:t>
            </a:r>
            <a:r>
              <a:rPr lang="en-US" sz="3200" b="1" dirty="0" err="1"/>
              <a:t>Grama</a:t>
            </a:r>
            <a:r>
              <a:rPr lang="en-US" sz="3200" b="1" dirty="0"/>
              <a:t> and </a:t>
            </a:r>
            <a:r>
              <a:rPr lang="en-US" sz="3200" b="1" dirty="0" err="1"/>
              <a:t>Anshul</a:t>
            </a:r>
            <a:r>
              <a:rPr lang="en-US" sz="3200" b="1" dirty="0"/>
              <a:t> </a:t>
            </a:r>
            <a:r>
              <a:rPr lang="en-US" sz="3200" b="1" dirty="0" smtClean="0"/>
              <a:t>Gupta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Chapter 1: Introduction to Parallel Computing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1.1 </a:t>
            </a:r>
            <a:r>
              <a:rPr lang="en-US" b="1" dirty="0" smtClean="0"/>
              <a:t>Motivating Parallelism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Flynn, M., “Some Computer Organizations and Their Effectiveness,” IEEE Transactions on Computers, Vol. C-21, No. 9, September 1972</a:t>
            </a:r>
            <a:r>
              <a:rPr lang="en-US" sz="3200" b="1" dirty="0" smtClean="0"/>
              <a:t>.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Kumar, V., </a:t>
            </a:r>
            <a:r>
              <a:rPr lang="en-US" sz="3200" b="1" dirty="0" err="1"/>
              <a:t>Grama</a:t>
            </a:r>
            <a:r>
              <a:rPr lang="en-US" sz="3200" b="1" dirty="0"/>
              <a:t>, A., Gupta, A., &amp; </a:t>
            </a:r>
            <a:r>
              <a:rPr lang="en-US" sz="3200" b="1" dirty="0" err="1"/>
              <a:t>Karypis</a:t>
            </a:r>
            <a:r>
              <a:rPr lang="en-US" sz="3200" b="1" dirty="0"/>
              <a:t>, G. (1994). Introduction to parallel computing (Vol. 110). Redwood City, CA: Benjamin/Cummings.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914400" lvl="2" indent="0" algn="just">
              <a:buClr>
                <a:srgbClr val="0000A8"/>
              </a:buClr>
              <a:buNone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Resources</a:t>
            </a:r>
          </a:p>
        </p:txBody>
      </p:sp>
    </p:spTree>
    <p:extLst>
      <p:ext uri="{BB962C8B-B14F-4D97-AF65-F5344CB8AC3E}">
        <p14:creationId xmlns:p14="http://schemas.microsoft.com/office/powerpoint/2010/main" val="26366945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948278"/>
            <a:ext cx="10515600" cy="894622"/>
          </a:xfrm>
        </p:spPr>
        <p:txBody>
          <a:bodyPr/>
          <a:lstStyle/>
          <a:p>
            <a:pPr algn="ctr"/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66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2197</TotalTime>
  <Words>2865</Words>
  <Application>Microsoft Office PowerPoint</Application>
  <PresentationFormat>Widescreen</PresentationFormat>
  <Paragraphs>422</Paragraphs>
  <Slides>52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Calibri Light</vt:lpstr>
      <vt:lpstr>Wingdings</vt:lpstr>
      <vt:lpstr>Office Theme</vt:lpstr>
      <vt:lpstr>CS 3006 Parallel and Distributed Computing Lecture 8</vt:lpstr>
      <vt:lpstr>Miscellaneous Topics</vt:lpstr>
      <vt:lpstr>Outline</vt:lpstr>
      <vt:lpstr>Outline (Cont.)</vt:lpstr>
      <vt:lpstr>Outline (Cont.)</vt:lpstr>
      <vt:lpstr>Motivating Parallelism</vt:lpstr>
      <vt:lpstr>Motivating Parallelism (Cont.)</vt:lpstr>
      <vt:lpstr>Motivating Parallelism (Cont.)</vt:lpstr>
      <vt:lpstr>Types of Parallelism</vt:lpstr>
      <vt:lpstr>Types of Parallelism (Cont.)</vt:lpstr>
      <vt:lpstr>Types of Parallelism (Cont.)</vt:lpstr>
      <vt:lpstr>Types of Parallelism (Cont.)</vt:lpstr>
      <vt:lpstr>Types of Parallelism (Cont.)</vt:lpstr>
      <vt:lpstr>Types of Parallelism (Cont.)</vt:lpstr>
      <vt:lpstr>Types of Parallelism (Cont.)</vt:lpstr>
      <vt:lpstr>Multi-Processor vs. Multi-Computer</vt:lpstr>
      <vt:lpstr>Multi-Processor vs. Multi-Computer (Cont.)</vt:lpstr>
      <vt:lpstr>Multi-Processor vs. Multi-Computer (Cont.)</vt:lpstr>
      <vt:lpstr>Multi-Processor vs. Multi-Computer (Cont.)</vt:lpstr>
      <vt:lpstr>Multi-Processor vs. Multi-Computer (Cont.)</vt:lpstr>
      <vt:lpstr>Multi-Processor vs. Multi-Computer (Cont.)</vt:lpstr>
      <vt:lpstr>Cluster vs. Network of Workstations</vt:lpstr>
      <vt:lpstr>Cache Coherence</vt:lpstr>
      <vt:lpstr>Snooping</vt:lpstr>
      <vt:lpstr>Branch Prediction</vt:lpstr>
      <vt:lpstr>Physical Organization of Parallel Platforms</vt:lpstr>
      <vt:lpstr>Graphical Representation of PRAM</vt:lpstr>
      <vt:lpstr>Parallel Random Access Machine (PRAM)</vt:lpstr>
      <vt:lpstr>PRAM Classes</vt:lpstr>
      <vt:lpstr>PRAM Arbitration Protocols</vt:lpstr>
      <vt:lpstr>PRAM Arbitration Protocols (Cont.)</vt:lpstr>
      <vt:lpstr>Physical Complexity of an Ideal Parallel Computer</vt:lpstr>
      <vt:lpstr>Communication Costs in Parallel Machines</vt:lpstr>
      <vt:lpstr>Message Passing Costs in Parallel Computers</vt:lpstr>
      <vt:lpstr>Message Passing Costs in Parallel Computers (Cont)</vt:lpstr>
      <vt:lpstr>Message Passing Costs in Parallel Computers (Cont)</vt:lpstr>
      <vt:lpstr>Message Passing Costs in Parallel Computers (Cont)</vt:lpstr>
      <vt:lpstr>Message Passing Costs in Parallel Computers (Cont)</vt:lpstr>
      <vt:lpstr>Message Passing Costs in Parallel Computers (Cont)</vt:lpstr>
      <vt:lpstr>Message Passing Costs in Parallel Computers (Cont.)</vt:lpstr>
      <vt:lpstr>Message Passing Costs in Parallel Computers (Cont)</vt:lpstr>
      <vt:lpstr>Message Passing Costs in Parallel Computers (Cont)</vt:lpstr>
      <vt:lpstr>Summary</vt:lpstr>
      <vt:lpstr>Summary (Cont.)</vt:lpstr>
      <vt:lpstr>Summary (Cont.)</vt:lpstr>
      <vt:lpstr>Summary (Cont.)</vt:lpstr>
      <vt:lpstr>Summary (Cont.)</vt:lpstr>
      <vt:lpstr>Summary (Cont.)</vt:lpstr>
      <vt:lpstr>Summary (Cont.)</vt:lpstr>
      <vt:lpstr>Summary (Cont.)</vt:lpstr>
      <vt:lpstr>Additional Resources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HP</cp:lastModifiedBy>
  <cp:revision>415</cp:revision>
  <dcterms:created xsi:type="dcterms:W3CDTF">2020-01-18T07:24:00Z</dcterms:created>
  <dcterms:modified xsi:type="dcterms:W3CDTF">2024-02-22T06:06:02Z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DBCDF73CD2C44F1492F6933E9F753A38</vt:lpwstr>
  </property>
  <property fmtid="{D5CDD505-2E9C-101B-9397-08002B2CF9AE}" pid="3" name="KSOProductBuildVer">
    <vt:lpwstr>1033-11.2.0.11380</vt:lpwstr>
  </property>
</Properties>
</file>