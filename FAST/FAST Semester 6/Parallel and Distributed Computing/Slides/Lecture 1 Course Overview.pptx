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5"/>
  </p:notesMasterIdLst>
  <p:sldIdLst>
    <p:sldId id="1393" r:id="rId2"/>
    <p:sldId id="1554" r:id="rId3"/>
    <p:sldId id="1528" r:id="rId4"/>
    <p:sldId id="1545" r:id="rId5"/>
    <p:sldId id="1519" r:id="rId6"/>
    <p:sldId id="1543" r:id="rId7"/>
    <p:sldId id="1555" r:id="rId8"/>
    <p:sldId id="1556" r:id="rId9"/>
    <p:sldId id="1501" r:id="rId10"/>
    <p:sldId id="1536" r:id="rId11"/>
    <p:sldId id="1520" r:id="rId12"/>
    <p:sldId id="1523" r:id="rId13"/>
    <p:sldId id="1524" r:id="rId14"/>
    <p:sldId id="1525" r:id="rId15"/>
    <p:sldId id="1526" r:id="rId16"/>
    <p:sldId id="1529" r:id="rId17"/>
    <p:sldId id="1530" r:id="rId18"/>
    <p:sldId id="1531" r:id="rId19"/>
    <p:sldId id="1532" r:id="rId20"/>
    <p:sldId id="1534" r:id="rId21"/>
    <p:sldId id="1537" r:id="rId22"/>
    <p:sldId id="1535" r:id="rId23"/>
    <p:sldId id="1542" r:id="rId24"/>
    <p:sldId id="1538" r:id="rId25"/>
    <p:sldId id="1540" r:id="rId26"/>
    <p:sldId id="1541" r:id="rId27"/>
    <p:sldId id="1516" r:id="rId28"/>
    <p:sldId id="1517" r:id="rId29"/>
    <p:sldId id="1504" r:id="rId30"/>
    <p:sldId id="1505" r:id="rId31"/>
    <p:sldId id="1506" r:id="rId32"/>
    <p:sldId id="1507" r:id="rId33"/>
    <p:sldId id="1508" r:id="rId34"/>
    <p:sldId id="1509" r:id="rId35"/>
    <p:sldId id="1546" r:id="rId36"/>
    <p:sldId id="1547" r:id="rId37"/>
    <p:sldId id="1548" r:id="rId38"/>
    <p:sldId id="1549" r:id="rId39"/>
    <p:sldId id="1544" r:id="rId40"/>
    <p:sldId id="1552" r:id="rId41"/>
    <p:sldId id="1550" r:id="rId42"/>
    <p:sldId id="1551" r:id="rId43"/>
    <p:sldId id="144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C000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15" autoAdjust="0"/>
    <p:restoredTop sz="92998" autoAdjust="0"/>
  </p:normalViewPr>
  <p:slideViewPr>
    <p:cSldViewPr snapToGrid="0" snapToObjects="1">
      <p:cViewPr varScale="1">
        <p:scale>
          <a:sx n="69" d="100"/>
          <a:sy n="69" d="100"/>
        </p:scale>
        <p:origin x="348" y="72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40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42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078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28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46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6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59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1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23711"/>
            <a:ext cx="9144000" cy="16557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605433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00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Students’ </a:t>
            </a:r>
            <a:r>
              <a:rPr lang="en-US" sz="3200" b="1" dirty="0" smtClean="0"/>
              <a:t>Background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Few Basic </a:t>
            </a:r>
            <a:r>
              <a:rPr lang="en-US" sz="3200" b="1" dirty="0" smtClean="0"/>
              <a:t>Questions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Instructor's </a:t>
            </a:r>
            <a:r>
              <a:rPr lang="en-US" sz="3200" b="1" dirty="0" smtClean="0"/>
              <a:t>Background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Classroom Etiquettes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Tentative </a:t>
            </a:r>
            <a:r>
              <a:rPr lang="en-US" sz="3200" b="1" dirty="0"/>
              <a:t>Grading </a:t>
            </a:r>
            <a:r>
              <a:rPr lang="en-US" sz="3200" b="1" dirty="0" smtClean="0"/>
              <a:t>Policy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Administrative Information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6918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Course Learning </a:t>
            </a:r>
            <a:r>
              <a:rPr lang="en-US" sz="3200" b="1" dirty="0" smtClean="0"/>
              <a:t>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Textbooks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Reference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Aim </a:t>
            </a:r>
            <a:r>
              <a:rPr lang="en-US" sz="3200" b="1" dirty="0"/>
              <a:t>of the </a:t>
            </a:r>
            <a:r>
              <a:rPr lang="en-US" sz="3200" b="1" dirty="0" smtClean="0"/>
              <a:t>Course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Tentative </a:t>
            </a:r>
            <a:r>
              <a:rPr lang="en-US" sz="3200" b="1" dirty="0"/>
              <a:t>Course </a:t>
            </a:r>
            <a:r>
              <a:rPr lang="en-US" sz="3200" b="1" dirty="0" smtClean="0"/>
              <a:t>Outline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smtClean="0"/>
              <a:t>Summary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97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FSC / A Level / ICS?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College</a:t>
            </a:r>
            <a:r>
              <a:rPr lang="en-US" sz="3200" b="1" dirty="0"/>
              <a:t>?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Home </a:t>
            </a:r>
            <a:r>
              <a:rPr lang="en-US" sz="3200" b="1" dirty="0"/>
              <a:t>Town?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CGPA</a:t>
            </a:r>
            <a:r>
              <a:rPr lang="en-US" sz="3200" b="1" dirty="0"/>
              <a:t>? (Optional)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Students’ 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214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parallel computing?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distributed computing?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parallel and distributed computing?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Applications that use parallel and distributed computing?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A8"/>
                </a:solidFill>
                <a:sym typeface="+mn-ea"/>
              </a:rPr>
              <a:t>Few Basic Questions</a:t>
            </a:r>
            <a:endParaRPr lang="en-US" dirty="0">
              <a:solidFill>
                <a:srgbClr val="0000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979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parallel computing?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Multiple </a:t>
            </a:r>
            <a:r>
              <a:rPr lang="en-US" b="1" dirty="0" smtClean="0">
                <a:solidFill>
                  <a:srgbClr val="0000A8"/>
                </a:solidFill>
              </a:rPr>
              <a:t>processors or cores </a:t>
            </a:r>
            <a:r>
              <a:rPr lang="en-US" b="1" dirty="0"/>
              <a:t>working in parallel as part of </a:t>
            </a:r>
            <a:r>
              <a:rPr lang="en-US" b="1" dirty="0">
                <a:solidFill>
                  <a:srgbClr val="0000A8"/>
                </a:solidFill>
              </a:rPr>
              <a:t>one integrated </a:t>
            </a:r>
            <a:r>
              <a:rPr lang="en-US" b="1" dirty="0" smtClean="0"/>
              <a:t>system.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Normally, on a </a:t>
            </a:r>
            <a:r>
              <a:rPr lang="en-US" b="1" dirty="0">
                <a:solidFill>
                  <a:srgbClr val="0000A8"/>
                </a:solidFill>
              </a:rPr>
              <a:t>single geographical location </a:t>
            </a:r>
            <a:r>
              <a:rPr lang="en-US" b="1" dirty="0"/>
              <a:t>with </a:t>
            </a:r>
            <a:r>
              <a:rPr lang="en-US" b="1" dirty="0">
                <a:solidFill>
                  <a:srgbClr val="0000A8"/>
                </a:solidFill>
              </a:rPr>
              <a:t>no network </a:t>
            </a:r>
            <a:r>
              <a:rPr lang="en-US" b="1" dirty="0" smtClean="0"/>
              <a:t>involved.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distributed computing?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Multiple </a:t>
            </a:r>
            <a:r>
              <a:rPr lang="en-US" b="1" dirty="0">
                <a:solidFill>
                  <a:srgbClr val="0000A8"/>
                </a:solidFill>
              </a:rPr>
              <a:t>autonomous computers </a:t>
            </a:r>
            <a:r>
              <a:rPr lang="en-US" b="1" dirty="0"/>
              <a:t>working together as part of </a:t>
            </a:r>
            <a:r>
              <a:rPr lang="en-US" b="1" dirty="0">
                <a:solidFill>
                  <a:srgbClr val="0000A8"/>
                </a:solidFill>
              </a:rPr>
              <a:t>one integrated </a:t>
            </a:r>
            <a:r>
              <a:rPr lang="en-US" b="1" dirty="0"/>
              <a:t>system. </a:t>
            </a:r>
            <a:endParaRPr lang="en-US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Dispersed on </a:t>
            </a:r>
            <a:r>
              <a:rPr lang="en-US" b="1" dirty="0">
                <a:solidFill>
                  <a:srgbClr val="0000A8"/>
                </a:solidFill>
              </a:rPr>
              <a:t>multiple geographical locations </a:t>
            </a:r>
            <a:r>
              <a:rPr lang="en-US" b="1" dirty="0"/>
              <a:t>connected with the help of </a:t>
            </a:r>
            <a:r>
              <a:rPr lang="en-US" b="1" dirty="0">
                <a:solidFill>
                  <a:srgbClr val="0000A8"/>
                </a:solidFill>
              </a:rPr>
              <a:t>network</a:t>
            </a:r>
            <a:r>
              <a:rPr lang="en-US" b="1" dirty="0" smtClean="0"/>
              <a:t>.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A8"/>
                </a:solidFill>
                <a:sym typeface="+mn-ea"/>
              </a:rPr>
              <a:t>Few Basic Questions (Cont.)</a:t>
            </a:r>
            <a:endParaRPr lang="en-US" dirty="0">
              <a:solidFill>
                <a:srgbClr val="0000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What is parallel and distributed computing?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Combination of </a:t>
            </a:r>
            <a:r>
              <a:rPr lang="en-US" b="1" dirty="0">
                <a:solidFill>
                  <a:srgbClr val="0000A8"/>
                </a:solidFill>
              </a:rPr>
              <a:t>both</a:t>
            </a:r>
            <a:r>
              <a:rPr lang="en-US" b="1" dirty="0"/>
              <a:t> parallel and distributed computing.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Applications that use parallel and distributed computing?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Google Search Engine, </a:t>
            </a:r>
            <a:r>
              <a:rPr lang="en-US" b="1" dirty="0">
                <a:solidFill>
                  <a:srgbClr val="0000A8"/>
                </a:solidFill>
              </a:rPr>
              <a:t>Facebook</a:t>
            </a:r>
            <a:r>
              <a:rPr lang="en-US" b="1" dirty="0"/>
              <a:t>, Netflix and many others.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00A8"/>
                </a:solidFill>
                <a:sym typeface="+mn-ea"/>
              </a:rPr>
              <a:t>Few Basic Questions (Cont.)</a:t>
            </a:r>
            <a:endParaRPr lang="en-US" dirty="0">
              <a:solidFill>
                <a:srgbClr val="0000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1923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CS Lecturer </a:t>
            </a:r>
            <a:r>
              <a:rPr lang="en-US" sz="3200" b="1" dirty="0"/>
              <a:t>– </a:t>
            </a:r>
            <a:r>
              <a:rPr lang="en-US" sz="3200" b="1" dirty="0" smtClean="0"/>
              <a:t>FAST NUCES LHR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Computer Networks (CS Core) – Fall 23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Parallel and Distributed Computing (CS Core</a:t>
            </a:r>
            <a:r>
              <a:rPr lang="en-US" b="1" dirty="0" smtClean="0"/>
              <a:t>) – Fall 23</a:t>
            </a:r>
            <a:endParaRPr lang="en-US" b="1" dirty="0"/>
          </a:p>
          <a:p>
            <a:pPr marL="815975" lvl="1" indent="-342900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Introduction to Cloud Computing </a:t>
            </a:r>
            <a:r>
              <a:rPr lang="en-US" b="1" dirty="0"/>
              <a:t>(CS </a:t>
            </a:r>
            <a:r>
              <a:rPr lang="en-US" b="1" dirty="0" smtClean="0"/>
              <a:t>Elective) </a:t>
            </a:r>
            <a:r>
              <a:rPr lang="en-US" b="1" dirty="0"/>
              <a:t>– </a:t>
            </a:r>
            <a:r>
              <a:rPr lang="en-US" b="1" dirty="0" smtClean="0"/>
              <a:t>Summer </a:t>
            </a:r>
            <a:r>
              <a:rPr lang="en-US" b="1" dirty="0"/>
              <a:t>23</a:t>
            </a:r>
          </a:p>
          <a:p>
            <a:pPr marL="815975" lvl="1" indent="-342900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Parallel </a:t>
            </a:r>
            <a:r>
              <a:rPr lang="en-US" b="1" dirty="0"/>
              <a:t>and Distributed Computing (CS Core) – </a:t>
            </a:r>
            <a:r>
              <a:rPr lang="en-US" b="1" dirty="0" smtClean="0"/>
              <a:t>Spring 23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Introduction to Cloud Computing (CS Elective) – </a:t>
            </a:r>
            <a:r>
              <a:rPr lang="en-US" b="1" dirty="0" smtClean="0"/>
              <a:t>Spring </a:t>
            </a:r>
            <a:r>
              <a:rPr lang="en-US" b="1" dirty="0"/>
              <a:t>23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8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Cloud Specialist, </a:t>
            </a:r>
            <a:r>
              <a:rPr lang="en-US" sz="3200" b="1" dirty="0" err="1" smtClean="0"/>
              <a:t>Multilynx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Worked as cloud specialist in </a:t>
            </a:r>
            <a:r>
              <a:rPr lang="en-US" b="1" dirty="0" err="1" smtClean="0"/>
              <a:t>Multilynx</a:t>
            </a:r>
            <a:r>
              <a:rPr lang="en-US" b="1" dirty="0" smtClean="0"/>
              <a:t> cloud support on </a:t>
            </a:r>
            <a:r>
              <a:rPr lang="en-US" b="1" dirty="0" smtClean="0">
                <a:solidFill>
                  <a:srgbClr val="0000A8"/>
                </a:solidFill>
              </a:rPr>
              <a:t>Jazz’s </a:t>
            </a:r>
            <a:r>
              <a:rPr lang="en-US" b="1" dirty="0" err="1" smtClean="0">
                <a:solidFill>
                  <a:srgbClr val="0000A8"/>
                </a:solidFill>
              </a:rPr>
              <a:t>Garaj</a:t>
            </a:r>
            <a:r>
              <a:rPr lang="en-US" b="1" dirty="0" smtClean="0">
                <a:solidFill>
                  <a:srgbClr val="0000A8"/>
                </a:solidFill>
              </a:rPr>
              <a:t> cloud services</a:t>
            </a:r>
            <a:r>
              <a:rPr lang="en-US" b="1" dirty="0" smtClean="0"/>
              <a:t> project.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Ability to handle all sorts of customers from day-one (no prior training require) on </a:t>
            </a:r>
            <a:r>
              <a:rPr lang="en-US" b="1" dirty="0" smtClean="0">
                <a:solidFill>
                  <a:srgbClr val="0000A8"/>
                </a:solidFill>
              </a:rPr>
              <a:t>VMware vSphere </a:t>
            </a:r>
            <a:r>
              <a:rPr lang="en-US" b="1" dirty="0" smtClean="0"/>
              <a:t>and </a:t>
            </a:r>
            <a:r>
              <a:rPr lang="en-US" b="1" dirty="0" smtClean="0">
                <a:solidFill>
                  <a:srgbClr val="0000A8"/>
                </a:solidFill>
              </a:rPr>
              <a:t>Microsoft Azure </a:t>
            </a:r>
            <a:r>
              <a:rPr lang="en-US" b="1" dirty="0" smtClean="0"/>
              <a:t>cloud platforms.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Public cloud management on </a:t>
            </a:r>
            <a:r>
              <a:rPr lang="en-US" b="1" dirty="0">
                <a:solidFill>
                  <a:srgbClr val="7030A0"/>
                </a:solidFill>
              </a:rPr>
              <a:t>VMware vSphere </a:t>
            </a:r>
            <a:r>
              <a:rPr lang="en-US" b="1" dirty="0"/>
              <a:t>(</a:t>
            </a:r>
            <a:r>
              <a:rPr lang="en-US" b="1" dirty="0" err="1"/>
              <a:t>vCloud</a:t>
            </a:r>
            <a:r>
              <a:rPr lang="en-US" b="1" dirty="0"/>
              <a:t> Director 10.2, </a:t>
            </a:r>
            <a:r>
              <a:rPr lang="en-US" b="1" dirty="0" err="1"/>
              <a:t>vCenter</a:t>
            </a:r>
            <a:r>
              <a:rPr lang="en-US" b="1" dirty="0"/>
              <a:t> 7, </a:t>
            </a:r>
            <a:r>
              <a:rPr lang="en-US" b="1" dirty="0" err="1"/>
              <a:t>vRealize</a:t>
            </a:r>
            <a:r>
              <a:rPr lang="en-US" b="1" dirty="0"/>
              <a:t> Operations 8.2, and NSX-T 3.0).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03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Cloud Specialist, </a:t>
            </a:r>
            <a:r>
              <a:rPr lang="en-US" sz="3200" b="1" dirty="0" err="1" smtClean="0"/>
              <a:t>Multilynx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Providing </a:t>
            </a:r>
            <a:r>
              <a:rPr lang="en-US" b="1" dirty="0">
                <a:solidFill>
                  <a:srgbClr val="0000A8"/>
                </a:solidFill>
              </a:rPr>
              <a:t>managed</a:t>
            </a:r>
            <a:r>
              <a:rPr lang="en-US" b="1" dirty="0"/>
              <a:t> services (like Windows, Linux, Ubuntu, and </a:t>
            </a:r>
            <a:r>
              <a:rPr lang="en-US" b="1" dirty="0" err="1"/>
              <a:t>RedHat</a:t>
            </a:r>
            <a:r>
              <a:rPr lang="en-US" b="1" dirty="0"/>
              <a:t> OS level support along </a:t>
            </a:r>
            <a:r>
              <a:rPr lang="en-US" b="1" dirty="0" smtClean="0"/>
              <a:t>with web-hosting </a:t>
            </a:r>
            <a:r>
              <a:rPr lang="en-US" b="1" dirty="0"/>
              <a:t>and database server configurations) to cloud tenants</a:t>
            </a:r>
            <a:r>
              <a:rPr lang="en-US" b="1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Interactions </a:t>
            </a:r>
            <a:r>
              <a:rPr lang="en-US" b="1" dirty="0"/>
              <a:t>with internal teams to ensure </a:t>
            </a:r>
            <a:r>
              <a:rPr lang="en-US" b="1" dirty="0" smtClean="0"/>
              <a:t>Unified Threat Management (</a:t>
            </a:r>
            <a:r>
              <a:rPr lang="en-US" b="1" dirty="0" smtClean="0">
                <a:solidFill>
                  <a:srgbClr val="0000A8"/>
                </a:solidFill>
              </a:rPr>
              <a:t>UTM</a:t>
            </a:r>
            <a:r>
              <a:rPr lang="en-US" b="1" dirty="0" smtClean="0"/>
              <a:t>) </a:t>
            </a:r>
            <a:r>
              <a:rPr lang="en-US" b="1" dirty="0"/>
              <a:t>enablement, </a:t>
            </a:r>
            <a:r>
              <a:rPr lang="en-US" b="1" dirty="0">
                <a:solidFill>
                  <a:srgbClr val="0000A8"/>
                </a:solidFill>
              </a:rPr>
              <a:t>IP Sec VPN</a:t>
            </a:r>
            <a:r>
              <a:rPr lang="en-US" b="1" dirty="0"/>
              <a:t>, </a:t>
            </a:r>
            <a:r>
              <a:rPr lang="en-US" b="1" dirty="0" smtClean="0"/>
              <a:t>Multiprotocol Label Switching (</a:t>
            </a:r>
            <a:r>
              <a:rPr lang="en-US" b="1" dirty="0" smtClean="0">
                <a:solidFill>
                  <a:srgbClr val="0000A8"/>
                </a:solidFill>
              </a:rPr>
              <a:t>MPLS</a:t>
            </a:r>
            <a:r>
              <a:rPr lang="en-US" b="1" dirty="0" smtClean="0"/>
              <a:t>), </a:t>
            </a:r>
            <a:r>
              <a:rPr lang="en-US" b="1" dirty="0"/>
              <a:t>and </a:t>
            </a:r>
            <a:r>
              <a:rPr lang="en-US" b="1" dirty="0" smtClean="0"/>
              <a:t>Session Initiation Protocol (</a:t>
            </a:r>
            <a:r>
              <a:rPr lang="en-US" b="1" dirty="0" smtClean="0">
                <a:solidFill>
                  <a:srgbClr val="0000A8"/>
                </a:solidFill>
              </a:rPr>
              <a:t>SIP</a:t>
            </a:r>
            <a:r>
              <a:rPr lang="en-US" b="1" dirty="0" smtClean="0"/>
              <a:t>) connectivity for </a:t>
            </a:r>
            <a:r>
              <a:rPr lang="en-US" b="1" dirty="0"/>
              <a:t>cloud tenants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289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Cloud Specialist, </a:t>
            </a:r>
            <a:r>
              <a:rPr lang="en-US" sz="3200" b="1" dirty="0" err="1" smtClean="0"/>
              <a:t>Multilynx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Providing </a:t>
            </a:r>
            <a:r>
              <a:rPr lang="en-US" b="1" dirty="0"/>
              <a:t>managed services related to </a:t>
            </a:r>
            <a:r>
              <a:rPr lang="en-US" b="1" dirty="0">
                <a:solidFill>
                  <a:srgbClr val="0000A8"/>
                </a:solidFill>
              </a:rPr>
              <a:t>security</a:t>
            </a:r>
            <a:r>
              <a:rPr lang="en-US" b="1" dirty="0"/>
              <a:t> like Endpoint </a:t>
            </a:r>
            <a:r>
              <a:rPr lang="en-US" b="1" dirty="0" smtClean="0"/>
              <a:t>Detection </a:t>
            </a:r>
            <a:r>
              <a:rPr lang="en-US" b="1" dirty="0"/>
              <a:t>and </a:t>
            </a:r>
            <a:r>
              <a:rPr lang="en-US" b="1" dirty="0" smtClean="0"/>
              <a:t>Response </a:t>
            </a:r>
            <a:r>
              <a:rPr lang="en-US" b="1" dirty="0"/>
              <a:t>(</a:t>
            </a:r>
            <a:r>
              <a:rPr lang="en-US" b="1" dirty="0">
                <a:solidFill>
                  <a:srgbClr val="0000A8"/>
                </a:solidFill>
              </a:rPr>
              <a:t>EDR</a:t>
            </a:r>
            <a:r>
              <a:rPr lang="en-US" b="1" dirty="0"/>
              <a:t>), </a:t>
            </a:r>
            <a:r>
              <a:rPr lang="en-US" b="1" dirty="0" err="1" smtClean="0">
                <a:solidFill>
                  <a:srgbClr val="0000A8"/>
                </a:solidFill>
              </a:rPr>
              <a:t>Qualys</a:t>
            </a:r>
            <a:r>
              <a:rPr lang="en-US" b="1" dirty="0" smtClean="0">
                <a:solidFill>
                  <a:srgbClr val="0000A8"/>
                </a:solidFill>
              </a:rPr>
              <a:t> agent </a:t>
            </a:r>
            <a:r>
              <a:rPr lang="en-US" b="1" dirty="0" smtClean="0"/>
              <a:t>installation and management (vulnerabilities detection and recommended solution), </a:t>
            </a:r>
            <a:r>
              <a:rPr lang="en-US" b="1" dirty="0"/>
              <a:t>and Linux </a:t>
            </a:r>
            <a:r>
              <a:rPr lang="en-US" b="1" dirty="0" smtClean="0"/>
              <a:t>Security Information and Event Management (</a:t>
            </a:r>
            <a:r>
              <a:rPr lang="en-US" b="1" dirty="0" smtClean="0">
                <a:solidFill>
                  <a:srgbClr val="0000A8"/>
                </a:solidFill>
              </a:rPr>
              <a:t>SIEM</a:t>
            </a:r>
            <a:r>
              <a:rPr lang="en-US" b="1" dirty="0" smtClean="0"/>
              <a:t>) </a:t>
            </a:r>
            <a:r>
              <a:rPr lang="en-US" b="1" dirty="0"/>
              <a:t>configurations for SOC team to ensure cloud infrastructure security.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Public cloud </a:t>
            </a:r>
            <a:r>
              <a:rPr lang="en-US" b="1" dirty="0"/>
              <a:t>logs tracking using </a:t>
            </a:r>
            <a:r>
              <a:rPr lang="en-US" b="1" dirty="0" smtClean="0">
                <a:solidFill>
                  <a:srgbClr val="0000A8"/>
                </a:solidFill>
              </a:rPr>
              <a:t>Jira</a:t>
            </a:r>
            <a:r>
              <a:rPr lang="en-US" b="1" dirty="0" smtClean="0"/>
              <a:t> for </a:t>
            </a:r>
            <a:r>
              <a:rPr lang="en-US" b="1" dirty="0"/>
              <a:t>smooth operations of cloud services</a:t>
            </a:r>
            <a:r>
              <a:rPr lang="en-US" b="1" dirty="0" smtClean="0"/>
              <a:t>.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Jira - Issues </a:t>
            </a:r>
            <a:r>
              <a:rPr lang="en-US" b="1" dirty="0"/>
              <a:t>and project tracking </a:t>
            </a:r>
            <a:r>
              <a:rPr lang="en-US" b="1" dirty="0" smtClean="0"/>
              <a:t>software used in software development and cloud environment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958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AM Network Support – Cloud Operation, PTCL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Public </a:t>
            </a:r>
            <a:r>
              <a:rPr lang="en-US" b="1" dirty="0"/>
              <a:t>Cloud management on platforms like VMware </a:t>
            </a:r>
            <a:r>
              <a:rPr lang="en-US" b="1" dirty="0" smtClean="0"/>
              <a:t>vSphere, </a:t>
            </a:r>
            <a:r>
              <a:rPr lang="en-US" b="1" dirty="0">
                <a:solidFill>
                  <a:srgbClr val="0000A8"/>
                </a:solidFill>
              </a:rPr>
              <a:t>Microsoft Azure Stack</a:t>
            </a:r>
            <a:r>
              <a:rPr lang="en-US" b="1" dirty="0"/>
              <a:t> and </a:t>
            </a:r>
            <a:r>
              <a:rPr lang="en-US" b="1" dirty="0">
                <a:solidFill>
                  <a:srgbClr val="0000A8"/>
                </a:solidFill>
              </a:rPr>
              <a:t>Microsoft </a:t>
            </a:r>
            <a:r>
              <a:rPr lang="en-US" b="1" dirty="0" smtClean="0">
                <a:solidFill>
                  <a:srgbClr val="0000A8"/>
                </a:solidFill>
              </a:rPr>
              <a:t>Hyper-V</a:t>
            </a:r>
            <a:r>
              <a:rPr lang="en-US" b="1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Interact </a:t>
            </a:r>
            <a:r>
              <a:rPr lang="en-US" b="1" dirty="0"/>
              <a:t>with stakeholders (</a:t>
            </a:r>
            <a:r>
              <a:rPr lang="en-US" b="1" dirty="0">
                <a:solidFill>
                  <a:srgbClr val="0000A8"/>
                </a:solidFill>
              </a:rPr>
              <a:t>tenants, data center, transmission, network, and business teams</a:t>
            </a:r>
            <a:r>
              <a:rPr lang="en-US" b="1" dirty="0"/>
              <a:t>) </a:t>
            </a:r>
            <a:r>
              <a:rPr lang="en-US" b="1" dirty="0" smtClean="0"/>
              <a:t>to ensure </a:t>
            </a:r>
            <a:r>
              <a:rPr lang="en-US" b="1" dirty="0"/>
              <a:t>coordinated operations management of cloud services and to provide technical </a:t>
            </a:r>
            <a:r>
              <a:rPr lang="en-US" b="1" dirty="0" smtClean="0"/>
              <a:t>details relating </a:t>
            </a:r>
            <a:r>
              <a:rPr lang="en-US" b="1" dirty="0"/>
              <a:t>to cloud services platforms and their comparisons as per clients’ services </a:t>
            </a:r>
            <a:r>
              <a:rPr lang="en-US" b="1" dirty="0" smtClean="0"/>
              <a:t>requirements.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760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AM Network Support – Cloud Operation, </a:t>
            </a:r>
            <a:r>
              <a:rPr lang="en-US" b="1" dirty="0" smtClean="0"/>
              <a:t>PTCL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Supervise </a:t>
            </a:r>
            <a:r>
              <a:rPr lang="en-US" b="1" dirty="0"/>
              <a:t>process of </a:t>
            </a:r>
            <a:r>
              <a:rPr lang="en-US" b="1" dirty="0">
                <a:solidFill>
                  <a:srgbClr val="0000A8"/>
                </a:solidFill>
              </a:rPr>
              <a:t>configuration management, patch management and </a:t>
            </a:r>
            <a:r>
              <a:rPr lang="en-US" b="1" dirty="0" smtClean="0">
                <a:solidFill>
                  <a:srgbClr val="0000A8"/>
                </a:solidFill>
              </a:rPr>
              <a:t>vulnerability assessment </a:t>
            </a:r>
            <a:r>
              <a:rPr lang="en-US" b="1" dirty="0"/>
              <a:t>across cloud infrastructure to ensure security, governance, and </a:t>
            </a:r>
            <a:r>
              <a:rPr lang="en-US" b="1" dirty="0" smtClean="0"/>
              <a:t>compliance objectives </a:t>
            </a:r>
            <a:r>
              <a:rPr lang="en-US" b="1" dirty="0"/>
              <a:t>of the department.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Ensure </a:t>
            </a:r>
            <a:r>
              <a:rPr lang="en-US" b="1" dirty="0"/>
              <a:t>process improvement, documentation and audit activities related to </a:t>
            </a:r>
            <a:r>
              <a:rPr lang="en-US" b="1" dirty="0" smtClean="0"/>
              <a:t>different certifications </a:t>
            </a:r>
            <a:r>
              <a:rPr lang="en-US" b="1" dirty="0"/>
              <a:t>i.e. </a:t>
            </a:r>
            <a:r>
              <a:rPr lang="en-US" b="1" dirty="0" smtClean="0"/>
              <a:t>Payment Card Industry Data Security Standard (</a:t>
            </a:r>
            <a:r>
              <a:rPr lang="en-US" b="1" dirty="0" smtClean="0">
                <a:solidFill>
                  <a:srgbClr val="0000A8"/>
                </a:solidFill>
              </a:rPr>
              <a:t>PCI DSS</a:t>
            </a:r>
            <a:r>
              <a:rPr lang="en-US" b="1" dirty="0" smtClean="0"/>
              <a:t>), Telecommunications Industry Standard (</a:t>
            </a:r>
            <a:r>
              <a:rPr lang="en-US" b="1" dirty="0" smtClean="0">
                <a:solidFill>
                  <a:srgbClr val="0000A8"/>
                </a:solidFill>
              </a:rPr>
              <a:t>TIA-942</a:t>
            </a:r>
            <a:r>
              <a:rPr lang="en-US" b="1" dirty="0" smtClean="0"/>
              <a:t>) and </a:t>
            </a:r>
            <a:r>
              <a:rPr lang="en-US" b="1" dirty="0" smtClean="0">
                <a:solidFill>
                  <a:srgbClr val="0000A8"/>
                </a:solidFill>
              </a:rPr>
              <a:t>ISO/IEC </a:t>
            </a:r>
            <a:r>
              <a:rPr lang="en-US" b="1" dirty="0">
                <a:solidFill>
                  <a:srgbClr val="0000A8"/>
                </a:solidFill>
              </a:rPr>
              <a:t>22237</a:t>
            </a:r>
            <a:r>
              <a:rPr lang="en-US" b="1" dirty="0"/>
              <a:t>, for cloud and NOC functions, catering both current </a:t>
            </a:r>
            <a:r>
              <a:rPr lang="en-US" b="1" dirty="0" smtClean="0"/>
              <a:t>and future </a:t>
            </a:r>
            <a:r>
              <a:rPr lang="en-US" b="1" dirty="0"/>
              <a:t>needs.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AM Network Support – Data Center, PTCL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Worked </a:t>
            </a:r>
            <a:r>
              <a:rPr lang="en-US" b="1" dirty="0"/>
              <a:t>in </a:t>
            </a:r>
            <a:r>
              <a:rPr lang="en-US" b="1" dirty="0">
                <a:solidFill>
                  <a:srgbClr val="0000A8"/>
                </a:solidFill>
              </a:rPr>
              <a:t>TIA-942 certified Tier-3 </a:t>
            </a:r>
            <a:r>
              <a:rPr lang="en-US" b="1" dirty="0"/>
              <a:t>co-location data center on </a:t>
            </a:r>
            <a:r>
              <a:rPr lang="en-US" b="1" dirty="0">
                <a:solidFill>
                  <a:srgbClr val="0000A8"/>
                </a:solidFill>
              </a:rPr>
              <a:t>Schneider Electric</a:t>
            </a:r>
            <a:r>
              <a:rPr lang="en-US" b="1" dirty="0"/>
              <a:t> </a:t>
            </a:r>
            <a:r>
              <a:rPr lang="en-US" b="1" dirty="0" smtClean="0"/>
              <a:t>infrastructure and </a:t>
            </a:r>
            <a:r>
              <a:rPr lang="en-US" b="1" dirty="0"/>
              <a:t>on </a:t>
            </a:r>
            <a:r>
              <a:rPr lang="en-US" b="1" dirty="0">
                <a:solidFill>
                  <a:srgbClr val="0000A8"/>
                </a:solidFill>
              </a:rPr>
              <a:t>Juniper</a:t>
            </a:r>
            <a:r>
              <a:rPr lang="en-US" b="1" dirty="0"/>
              <a:t> </a:t>
            </a:r>
            <a:r>
              <a:rPr lang="en-US" b="1" dirty="0" smtClean="0"/>
              <a:t>networks.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Provide </a:t>
            </a:r>
            <a:r>
              <a:rPr lang="en-US" b="1" dirty="0"/>
              <a:t>assistance in managing the Shell part of Data Center which includes </a:t>
            </a:r>
            <a:r>
              <a:rPr lang="en-US" b="1" dirty="0">
                <a:solidFill>
                  <a:srgbClr val="0000A8"/>
                </a:solidFill>
              </a:rPr>
              <a:t>BMS</a:t>
            </a:r>
            <a:r>
              <a:rPr lang="en-US" b="1" dirty="0"/>
              <a:t> </a:t>
            </a:r>
            <a:r>
              <a:rPr lang="en-US" b="1" dirty="0" smtClean="0"/>
              <a:t>monitoring, Access </a:t>
            </a:r>
            <a:r>
              <a:rPr lang="en-US" b="1" dirty="0"/>
              <a:t>Control systems, Heating, Ventilation, and Air Conditioning (</a:t>
            </a:r>
            <a:r>
              <a:rPr lang="en-US" b="1" dirty="0">
                <a:solidFill>
                  <a:srgbClr val="0000A8"/>
                </a:solidFill>
              </a:rPr>
              <a:t>HVAC</a:t>
            </a:r>
            <a:r>
              <a:rPr lang="en-US" b="1" dirty="0"/>
              <a:t>) system, Very Early </a:t>
            </a:r>
            <a:r>
              <a:rPr lang="en-US" b="1" dirty="0" smtClean="0"/>
              <a:t>Smoke Detection </a:t>
            </a:r>
            <a:r>
              <a:rPr lang="en-US" b="1" dirty="0"/>
              <a:t>Apparatus (</a:t>
            </a:r>
            <a:r>
              <a:rPr lang="en-US" b="1" dirty="0">
                <a:solidFill>
                  <a:srgbClr val="0000A8"/>
                </a:solidFill>
              </a:rPr>
              <a:t>VESDA</a:t>
            </a:r>
            <a:r>
              <a:rPr lang="en-US" b="1" dirty="0"/>
              <a:t>) system, and Power Management Module (</a:t>
            </a:r>
            <a:r>
              <a:rPr lang="en-US" b="1" dirty="0">
                <a:solidFill>
                  <a:srgbClr val="0000A8"/>
                </a:solidFill>
              </a:rPr>
              <a:t>PMM</a:t>
            </a:r>
            <a:r>
              <a:rPr lang="en-US" b="1" dirty="0"/>
              <a:t>) for data </a:t>
            </a:r>
            <a:r>
              <a:rPr lang="en-US" b="1" dirty="0" smtClean="0"/>
              <a:t>centers.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Involved </a:t>
            </a:r>
            <a:r>
              <a:rPr lang="en-US" b="1" dirty="0"/>
              <a:t>in the </a:t>
            </a:r>
            <a:r>
              <a:rPr lang="en-US" b="1" dirty="0">
                <a:solidFill>
                  <a:srgbClr val="0000A8"/>
                </a:solidFill>
              </a:rPr>
              <a:t>HP ProLiant servers </a:t>
            </a:r>
            <a:r>
              <a:rPr lang="en-US" b="1" dirty="0"/>
              <a:t>configurations during cloud infrastructure deployment.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Instructor’s Background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603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09" y="1346443"/>
            <a:ext cx="7017809" cy="5414562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Data Center Building Management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7327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776" y="1613507"/>
            <a:ext cx="5701754" cy="4307439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ym typeface="+mn-ea"/>
              </a:rPr>
              <a:t>Heating Ventilation and Air Conditioning (HVAC)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86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Very Early Smoke Detection Apparatus (VESDA)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398" y="1560594"/>
            <a:ext cx="5452354" cy="4430037"/>
          </a:xfrm>
        </p:spPr>
      </p:pic>
    </p:spTree>
    <p:extLst>
      <p:ext uri="{BB962C8B-B14F-4D97-AF65-F5344CB8AC3E}">
        <p14:creationId xmlns:p14="http://schemas.microsoft.com/office/powerpoint/2010/main" val="29800746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Power Management Module (PMM) – 150 kVA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723" y="1663386"/>
            <a:ext cx="4258826" cy="4365297"/>
          </a:xfrm>
        </p:spPr>
      </p:pic>
    </p:spTree>
    <p:extLst>
      <p:ext uri="{BB962C8B-B14F-4D97-AF65-F5344CB8AC3E}">
        <p14:creationId xmlns:p14="http://schemas.microsoft.com/office/powerpoint/2010/main" val="12669109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52" y="1346443"/>
            <a:ext cx="2857899" cy="2924583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Center Components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075" y="1862674"/>
            <a:ext cx="4829849" cy="2038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370" y="5040307"/>
            <a:ext cx="4791744" cy="13336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8" y="4845017"/>
            <a:ext cx="5877745" cy="17242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601" y="653796"/>
            <a:ext cx="2972215" cy="378195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364343" y="1250407"/>
            <a:ext cx="1480457" cy="192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Rack</a:t>
            </a:r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4775200" y="1613040"/>
            <a:ext cx="1882729" cy="192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Server Front</a:t>
            </a:r>
            <a:endParaRPr lang="en-US" sz="2000" b="1" dirty="0"/>
          </a:p>
        </p:txBody>
      </p:sp>
      <p:sp>
        <p:nvSpPr>
          <p:cNvPr id="13" name="Rectangle 12"/>
          <p:cNvSpPr/>
          <p:nvPr/>
        </p:nvSpPr>
        <p:spPr>
          <a:xfrm>
            <a:off x="8510924" y="4759547"/>
            <a:ext cx="1480457" cy="192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Server Back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1596572" y="4475300"/>
            <a:ext cx="2084504" cy="152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EX 4200 Switch</a:t>
            </a:r>
            <a:endParaRPr lang="en-US" sz="2000" b="1" dirty="0"/>
          </a:p>
        </p:txBody>
      </p:sp>
      <p:sp>
        <p:nvSpPr>
          <p:cNvPr id="15" name="Rectangle 14"/>
          <p:cNvSpPr/>
          <p:nvPr/>
        </p:nvSpPr>
        <p:spPr>
          <a:xfrm>
            <a:off x="9477829" y="311549"/>
            <a:ext cx="1875971" cy="1920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MX 960 Router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7141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Management Trainee, PTCL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Worked in </a:t>
            </a:r>
            <a:r>
              <a:rPr lang="en-US" b="1" dirty="0" smtClean="0">
                <a:solidFill>
                  <a:srgbClr val="0000A8"/>
                </a:solidFill>
              </a:rPr>
              <a:t>traffic shaping implementation </a:t>
            </a:r>
            <a:r>
              <a:rPr lang="en-US" b="1" dirty="0" smtClean="0"/>
              <a:t>using pipes in Free BSD OS.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Worked </a:t>
            </a:r>
            <a:r>
              <a:rPr lang="en-US" b="1" dirty="0"/>
              <a:t>on project to identify company’s </a:t>
            </a:r>
            <a:r>
              <a:rPr lang="en-US" b="1" dirty="0">
                <a:solidFill>
                  <a:srgbClr val="0000A8"/>
                </a:solidFill>
              </a:rPr>
              <a:t>grey areas </a:t>
            </a:r>
            <a:r>
              <a:rPr lang="en-US" b="1" dirty="0"/>
              <a:t>and to suggest strategies to remove </a:t>
            </a:r>
            <a:r>
              <a:rPr lang="en-US" b="1" dirty="0" smtClean="0"/>
              <a:t>or lesson </a:t>
            </a:r>
            <a:r>
              <a:rPr lang="en-US" b="1" dirty="0"/>
              <a:t>those areas</a:t>
            </a:r>
            <a:r>
              <a:rPr lang="en-US" b="1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Attended </a:t>
            </a:r>
            <a:r>
              <a:rPr lang="en-US" b="1" dirty="0">
                <a:solidFill>
                  <a:srgbClr val="0000A8"/>
                </a:solidFill>
              </a:rPr>
              <a:t>trainings</a:t>
            </a:r>
            <a:r>
              <a:rPr lang="en-US" b="1" dirty="0"/>
              <a:t> on Dashboard Reporting with MS Excel, Business Process </a:t>
            </a:r>
            <a:r>
              <a:rPr lang="en-US" b="1" dirty="0" smtClean="0"/>
              <a:t>Improvement and </a:t>
            </a:r>
            <a:r>
              <a:rPr lang="en-US" b="1" dirty="0"/>
              <a:t>Re-engineering, Fire Safety and Emergency Response, Developing Effective </a:t>
            </a:r>
            <a:r>
              <a:rPr lang="en-US" b="1" dirty="0" smtClean="0"/>
              <a:t>Strategist, and </a:t>
            </a:r>
            <a:r>
              <a:rPr lang="en-US" b="1" dirty="0"/>
              <a:t>Data Center </a:t>
            </a:r>
            <a:r>
              <a:rPr lang="en-US" b="1" dirty="0" smtClean="0"/>
              <a:t>Maintenance.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Provide presentations on 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CRM </a:t>
            </a:r>
            <a:r>
              <a:rPr lang="en-US" b="1" dirty="0"/>
              <a:t>of </a:t>
            </a:r>
            <a:r>
              <a:rPr lang="en-US" b="1" dirty="0" smtClean="0"/>
              <a:t>Call </a:t>
            </a:r>
            <a:r>
              <a:rPr lang="en-US" b="1" dirty="0"/>
              <a:t>C</a:t>
            </a:r>
            <a:r>
              <a:rPr lang="en-US" b="1" dirty="0" smtClean="0"/>
              <a:t>enters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C</a:t>
            </a:r>
            <a:r>
              <a:rPr lang="en-US" b="1" dirty="0" smtClean="0"/>
              <a:t>arrier </a:t>
            </a:r>
            <a:r>
              <a:rPr lang="en-US" b="1" dirty="0"/>
              <a:t>and </a:t>
            </a:r>
            <a:r>
              <a:rPr lang="en-US" b="1" dirty="0" smtClean="0"/>
              <a:t>Wholesale </a:t>
            </a:r>
            <a:r>
              <a:rPr lang="en-US" b="1" dirty="0"/>
              <a:t>S</a:t>
            </a:r>
            <a:r>
              <a:rPr lang="en-US" b="1" dirty="0" smtClean="0"/>
              <a:t>ervices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D</a:t>
            </a:r>
            <a:r>
              <a:rPr lang="en-US" b="1" dirty="0" smtClean="0"/>
              <a:t>igital </a:t>
            </a:r>
            <a:r>
              <a:rPr lang="en-US" b="1" dirty="0"/>
              <a:t>S</a:t>
            </a:r>
            <a:r>
              <a:rPr lang="en-US" b="1" dirty="0" smtClean="0"/>
              <a:t>ervices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A</a:t>
            </a:r>
            <a:r>
              <a:rPr lang="en-US" b="1" dirty="0" smtClean="0"/>
              <a:t>fter </a:t>
            </a:r>
            <a:r>
              <a:rPr lang="en-US" b="1" dirty="0"/>
              <a:t>S</a:t>
            </a:r>
            <a:r>
              <a:rPr lang="en-US" b="1" dirty="0" smtClean="0"/>
              <a:t>ales Services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8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Certifications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Microsoft </a:t>
            </a:r>
            <a:r>
              <a:rPr lang="en-US" b="1" dirty="0"/>
              <a:t>Certified: Azure </a:t>
            </a:r>
            <a:r>
              <a:rPr lang="en-US" b="1" dirty="0" smtClean="0"/>
              <a:t>Fundamentals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Microsoft </a:t>
            </a:r>
            <a:r>
              <a:rPr lang="en-US" b="1" dirty="0"/>
              <a:t>Certified: Azure Administrator </a:t>
            </a:r>
            <a:r>
              <a:rPr lang="en-US" b="1" dirty="0" smtClean="0"/>
              <a:t>Associate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Fortinet - NSE </a:t>
            </a:r>
            <a:r>
              <a:rPr lang="en-US" b="1" dirty="0"/>
              <a:t>1 Network Security </a:t>
            </a:r>
            <a:r>
              <a:rPr lang="en-US" b="1" dirty="0" smtClean="0"/>
              <a:t>Associate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Fortinet - NSE </a:t>
            </a:r>
            <a:r>
              <a:rPr lang="en-US" b="1" dirty="0"/>
              <a:t>2 Network Security </a:t>
            </a:r>
            <a:r>
              <a:rPr lang="en-US" b="1" dirty="0" smtClean="0"/>
              <a:t>Associate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Fortinet - NSE </a:t>
            </a:r>
            <a:r>
              <a:rPr lang="en-US" b="1" dirty="0"/>
              <a:t>3 Network Security </a:t>
            </a:r>
            <a:r>
              <a:rPr lang="en-US" b="1" dirty="0" smtClean="0"/>
              <a:t>Associate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Lean </a:t>
            </a:r>
            <a:r>
              <a:rPr lang="en-US" b="1" dirty="0"/>
              <a:t>Six Sigma Green </a:t>
            </a:r>
            <a:r>
              <a:rPr lang="en-US" b="1" dirty="0" smtClean="0"/>
              <a:t>Belt Certification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7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Badges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AWS Academy Educator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CCNA: Introduction to Networks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CCNA: Switching, Routing, and Wireless Essentials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CCNA: Enterprise Networking, Security, and Automation </a:t>
            </a:r>
            <a:endParaRPr lang="en-US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3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/>
              <a:t>Master of Science – Computer Science – UCP LHR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Thesis: Cyber </a:t>
            </a:r>
            <a:r>
              <a:rPr lang="en-US" sz="2800" b="1" dirty="0"/>
              <a:t>Risk Modelling for </a:t>
            </a:r>
            <a:r>
              <a:rPr lang="en-US" sz="2800" b="1" dirty="0" smtClean="0"/>
              <a:t>Ransomware Attacks </a:t>
            </a:r>
            <a:r>
              <a:rPr lang="en-US" sz="2800" b="1" dirty="0"/>
              <a:t>in Business Sectors [Implemented in </a:t>
            </a:r>
            <a:r>
              <a:rPr lang="en-US" sz="2800" b="1" dirty="0" smtClean="0"/>
              <a:t>R]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purpose of the work was to propose </a:t>
            </a:r>
            <a:r>
              <a:rPr lang="en-US" b="1" dirty="0" smtClean="0"/>
              <a:t>and implement </a:t>
            </a:r>
            <a:r>
              <a:rPr lang="en-US" b="1" dirty="0"/>
              <a:t>a </a:t>
            </a:r>
            <a:r>
              <a:rPr lang="en-US" b="1" dirty="0">
                <a:solidFill>
                  <a:srgbClr val="0000A8"/>
                </a:solidFill>
              </a:rPr>
              <a:t>generalized mathematical </a:t>
            </a:r>
            <a:r>
              <a:rPr lang="en-US" b="1" dirty="0" smtClean="0">
                <a:solidFill>
                  <a:srgbClr val="0000A8"/>
                </a:solidFill>
              </a:rPr>
              <a:t>model</a:t>
            </a:r>
            <a:r>
              <a:rPr lang="en-US" b="1" dirty="0" smtClean="0"/>
              <a:t> (consisting </a:t>
            </a:r>
            <a:r>
              <a:rPr lang="en-US" b="1" dirty="0"/>
              <a:t>of parameters, </a:t>
            </a:r>
            <a:r>
              <a:rPr lang="en-US" b="1" dirty="0" smtClean="0"/>
              <a:t>mathematical equations </a:t>
            </a:r>
            <a:r>
              <a:rPr lang="en-US" b="1" dirty="0"/>
              <a:t>and Monte Carlo simulation) </a:t>
            </a:r>
            <a:r>
              <a:rPr lang="en-US" b="1" dirty="0" smtClean="0"/>
              <a:t>for </a:t>
            </a:r>
            <a:r>
              <a:rPr lang="en-US" b="1" dirty="0" smtClean="0">
                <a:solidFill>
                  <a:srgbClr val="0000A8"/>
                </a:solidFill>
              </a:rPr>
              <a:t>cyber </a:t>
            </a:r>
            <a:r>
              <a:rPr lang="en-US" b="1" dirty="0">
                <a:solidFill>
                  <a:srgbClr val="0000A8"/>
                </a:solidFill>
              </a:rPr>
              <a:t>risk estimation of ransomware </a:t>
            </a:r>
            <a:r>
              <a:rPr lang="en-US" b="1" dirty="0" smtClean="0">
                <a:solidFill>
                  <a:srgbClr val="0000A8"/>
                </a:solidFill>
              </a:rPr>
              <a:t>attacks</a:t>
            </a:r>
            <a:r>
              <a:rPr lang="en-US" b="1" dirty="0" smtClean="0"/>
              <a:t> on </a:t>
            </a:r>
            <a:r>
              <a:rPr lang="en-US" b="1" dirty="0">
                <a:solidFill>
                  <a:srgbClr val="0000A8"/>
                </a:solidFill>
              </a:rPr>
              <a:t>personal computers </a:t>
            </a:r>
            <a:r>
              <a:rPr lang="en-US" b="1" dirty="0"/>
              <a:t>of different </a:t>
            </a:r>
            <a:r>
              <a:rPr lang="en-US" b="1" dirty="0" smtClean="0">
                <a:solidFill>
                  <a:srgbClr val="0000A8"/>
                </a:solidFill>
              </a:rPr>
              <a:t>organization categories </a:t>
            </a:r>
            <a:r>
              <a:rPr lang="en-US" b="1" dirty="0"/>
              <a:t>(micro, small, medium, large, </a:t>
            </a:r>
            <a:r>
              <a:rPr lang="en-US" b="1" dirty="0" smtClean="0"/>
              <a:t>and giant</a:t>
            </a:r>
            <a:r>
              <a:rPr lang="en-US" b="1" dirty="0"/>
              <a:t>) and for different </a:t>
            </a:r>
            <a:r>
              <a:rPr lang="en-US" b="1" dirty="0">
                <a:solidFill>
                  <a:srgbClr val="0000A8"/>
                </a:solidFill>
              </a:rPr>
              <a:t>industrial </a:t>
            </a:r>
            <a:r>
              <a:rPr lang="en-US" b="1" dirty="0" smtClean="0">
                <a:solidFill>
                  <a:srgbClr val="0000A8"/>
                </a:solidFill>
              </a:rPr>
              <a:t>sectors </a:t>
            </a:r>
            <a:r>
              <a:rPr lang="en-US" b="1" dirty="0" smtClean="0"/>
              <a:t>(information </a:t>
            </a:r>
            <a:r>
              <a:rPr lang="en-US" b="1" dirty="0"/>
              <a:t>technology, finance, retails </a:t>
            </a:r>
            <a:r>
              <a:rPr lang="en-US" b="1" dirty="0" smtClean="0"/>
              <a:t>and other).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56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/>
              <a:t>Master of Science – Computer Science – UCP LHR</a:t>
            </a:r>
          </a:p>
          <a:p>
            <a:pPr marL="130175" indent="0" algn="just">
              <a:buNone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Publications: D</a:t>
            </a:r>
            <a:r>
              <a:rPr lang="en-US" sz="3200" b="1" dirty="0"/>
              <a:t>. </a:t>
            </a:r>
            <a:r>
              <a:rPr lang="en-US" sz="3200" b="1" dirty="0" err="1"/>
              <a:t>Farhat</a:t>
            </a:r>
            <a:r>
              <a:rPr lang="en-US" sz="3200" b="1" dirty="0"/>
              <a:t> and M.S. Awan, "</a:t>
            </a:r>
            <a:r>
              <a:rPr lang="en-US" sz="3200" b="1" dirty="0">
                <a:solidFill>
                  <a:srgbClr val="0000A8"/>
                </a:solidFill>
              </a:rPr>
              <a:t>A Brief Survey </a:t>
            </a:r>
            <a:r>
              <a:rPr lang="en-US" sz="3200" b="1" dirty="0" smtClean="0">
                <a:solidFill>
                  <a:srgbClr val="0000A8"/>
                </a:solidFill>
              </a:rPr>
              <a:t>on Ransomware </a:t>
            </a:r>
            <a:r>
              <a:rPr lang="en-US" sz="3200" b="1" dirty="0">
                <a:solidFill>
                  <a:srgbClr val="0000A8"/>
                </a:solidFill>
              </a:rPr>
              <a:t>with the Perspective of </a:t>
            </a:r>
            <a:r>
              <a:rPr lang="en-US" sz="3200" b="1" dirty="0" smtClean="0">
                <a:solidFill>
                  <a:srgbClr val="0000A8"/>
                </a:solidFill>
              </a:rPr>
              <a:t>Internet Security </a:t>
            </a:r>
            <a:r>
              <a:rPr lang="en-US" sz="3200" b="1" dirty="0">
                <a:solidFill>
                  <a:srgbClr val="0000A8"/>
                </a:solidFill>
              </a:rPr>
              <a:t>Threat Reports</a:t>
            </a:r>
            <a:r>
              <a:rPr lang="en-US" sz="3200" b="1" dirty="0"/>
              <a:t>," IEEE </a:t>
            </a:r>
            <a:r>
              <a:rPr lang="en-US" sz="3200" b="1" dirty="0" err="1"/>
              <a:t>Xplore</a:t>
            </a:r>
            <a:r>
              <a:rPr lang="en-US" sz="3200" b="1" dirty="0"/>
              <a:t>, </a:t>
            </a:r>
            <a:r>
              <a:rPr lang="en-US" sz="3200" b="1" dirty="0" smtClean="0"/>
              <a:t>9</a:t>
            </a:r>
            <a:r>
              <a:rPr lang="en-US" sz="3200" b="1" baseline="30000" dirty="0" smtClean="0"/>
              <a:t>th</a:t>
            </a:r>
            <a:r>
              <a:rPr lang="en-US" sz="3200" b="1" dirty="0" smtClean="0"/>
              <a:t> International </a:t>
            </a:r>
            <a:r>
              <a:rPr lang="en-US" sz="3200" b="1" dirty="0"/>
              <a:t>Symposium on Digital </a:t>
            </a:r>
            <a:r>
              <a:rPr lang="en-US" sz="3200" b="1" dirty="0" smtClean="0"/>
              <a:t>Forensics and </a:t>
            </a:r>
            <a:r>
              <a:rPr lang="en-US" sz="3200" b="1" dirty="0"/>
              <a:t>Security (ISDFS), 28-29 Jun, 2021.</a:t>
            </a:r>
            <a:endParaRPr lang="en-US" b="1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82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/>
              <a:t>Bachelor of Science </a:t>
            </a:r>
            <a:r>
              <a:rPr lang="en-US" sz="3200" b="1" dirty="0"/>
              <a:t>– </a:t>
            </a:r>
            <a:r>
              <a:rPr lang="en-US" sz="3200" b="1" dirty="0" smtClean="0"/>
              <a:t>Computer Science FAST </a:t>
            </a:r>
            <a:r>
              <a:rPr lang="en-US" sz="3200" b="1" dirty="0"/>
              <a:t>NUCES </a:t>
            </a:r>
            <a:r>
              <a:rPr lang="en-US" sz="3200" b="1" dirty="0" smtClean="0"/>
              <a:t>ISB</a:t>
            </a:r>
            <a:endParaRPr lang="en-US" sz="3200" b="1" dirty="0"/>
          </a:p>
          <a:p>
            <a:pPr marL="130175" indent="0" algn="just">
              <a:buNone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FYP</a:t>
            </a:r>
            <a:r>
              <a:rPr lang="en-US" b="1" dirty="0"/>
              <a:t>: AWD </a:t>
            </a:r>
            <a:r>
              <a:rPr lang="en-US" b="1" dirty="0" smtClean="0"/>
              <a:t>Analyzer </a:t>
            </a:r>
            <a:r>
              <a:rPr lang="en-US" b="1" dirty="0"/>
              <a:t>[Implemented in </a:t>
            </a:r>
            <a:r>
              <a:rPr lang="en-US" b="1" dirty="0" smtClean="0"/>
              <a:t>Python and </a:t>
            </a:r>
            <a:r>
              <a:rPr lang="en-US" b="1" dirty="0"/>
              <a:t>ASP.NET]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>
                <a:solidFill>
                  <a:srgbClr val="0000A8"/>
                </a:solidFill>
              </a:rPr>
              <a:t>web interface </a:t>
            </a:r>
            <a:r>
              <a:rPr lang="en-US" b="1" dirty="0"/>
              <a:t>that </a:t>
            </a:r>
            <a:r>
              <a:rPr lang="en-US" b="1" dirty="0" smtClean="0"/>
              <a:t>provided </a:t>
            </a:r>
            <a:r>
              <a:rPr lang="en-US" b="1" dirty="0" smtClean="0">
                <a:solidFill>
                  <a:srgbClr val="0000A8"/>
                </a:solidFill>
              </a:rPr>
              <a:t>analytical </a:t>
            </a:r>
            <a:r>
              <a:rPr lang="en-US" b="1" dirty="0">
                <a:solidFill>
                  <a:srgbClr val="0000A8"/>
                </a:solidFill>
              </a:rPr>
              <a:t>feedback </a:t>
            </a:r>
            <a:r>
              <a:rPr lang="en-US" b="1" dirty="0"/>
              <a:t>based on </a:t>
            </a:r>
            <a:r>
              <a:rPr lang="en-US" b="1" dirty="0">
                <a:solidFill>
                  <a:srgbClr val="0000A8"/>
                </a:solidFill>
              </a:rPr>
              <a:t>user reviews </a:t>
            </a:r>
            <a:r>
              <a:rPr lang="en-US" b="1" dirty="0" smtClean="0"/>
              <a:t>and </a:t>
            </a:r>
            <a:r>
              <a:rPr lang="en-US" b="1" dirty="0" smtClean="0">
                <a:solidFill>
                  <a:srgbClr val="0000A8"/>
                </a:solidFill>
              </a:rPr>
              <a:t>product’s </a:t>
            </a:r>
            <a:r>
              <a:rPr lang="en-US" b="1" dirty="0">
                <a:solidFill>
                  <a:srgbClr val="0000A8"/>
                </a:solidFill>
              </a:rPr>
              <a:t>specifications</a:t>
            </a:r>
            <a:r>
              <a:rPr lang="en-US" b="1" dirty="0"/>
              <a:t>. It </a:t>
            </a:r>
            <a:r>
              <a:rPr lang="en-US" b="1" dirty="0">
                <a:solidFill>
                  <a:srgbClr val="0000A8"/>
                </a:solidFill>
              </a:rPr>
              <a:t>scraped</a:t>
            </a:r>
            <a:r>
              <a:rPr lang="en-US" b="1" dirty="0"/>
              <a:t> reviews </a:t>
            </a:r>
            <a:r>
              <a:rPr lang="en-US" b="1" dirty="0" smtClean="0"/>
              <a:t>data from </a:t>
            </a:r>
            <a:r>
              <a:rPr lang="en-US" b="1" dirty="0"/>
              <a:t>different websites (under legal </a:t>
            </a:r>
            <a:r>
              <a:rPr lang="en-US" b="1" dirty="0" smtClean="0"/>
              <a:t>constraints) and </a:t>
            </a:r>
            <a:r>
              <a:rPr lang="en-US" b="1" dirty="0"/>
              <a:t>provided feedback using </a:t>
            </a:r>
            <a:r>
              <a:rPr lang="en-US" b="1" dirty="0">
                <a:solidFill>
                  <a:srgbClr val="0000A8"/>
                </a:solidFill>
              </a:rPr>
              <a:t>sentiment </a:t>
            </a:r>
            <a:r>
              <a:rPr lang="en-US" b="1" dirty="0" smtClean="0">
                <a:solidFill>
                  <a:srgbClr val="0000A8"/>
                </a:solidFill>
              </a:rPr>
              <a:t>analysis </a:t>
            </a:r>
            <a:r>
              <a:rPr lang="en-US" b="1" dirty="0" smtClean="0"/>
              <a:t>by </a:t>
            </a:r>
            <a:r>
              <a:rPr lang="en-US" b="1" dirty="0"/>
              <a:t>implementing </a:t>
            </a:r>
            <a:r>
              <a:rPr lang="en-US" b="1" dirty="0">
                <a:solidFill>
                  <a:srgbClr val="0000A8"/>
                </a:solidFill>
              </a:rPr>
              <a:t>bag of words</a:t>
            </a:r>
            <a:r>
              <a:rPr lang="en-US" b="1" dirty="0"/>
              <a:t> and </a:t>
            </a:r>
            <a:r>
              <a:rPr lang="en-US" b="1" dirty="0" smtClean="0">
                <a:solidFill>
                  <a:srgbClr val="0000A8"/>
                </a:solidFill>
              </a:rPr>
              <a:t>random forests </a:t>
            </a:r>
            <a:r>
              <a:rPr lang="en-US" b="1" dirty="0" smtClean="0"/>
              <a:t>algorithms.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Instructor’s Background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00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80</a:t>
            </a:r>
            <a:r>
              <a:rPr lang="en-US" b="1" dirty="0"/>
              <a:t>% </a:t>
            </a:r>
            <a:r>
              <a:rPr lang="en-US" b="1" dirty="0">
                <a:solidFill>
                  <a:srgbClr val="0000A8"/>
                </a:solidFill>
              </a:rPr>
              <a:t>attendance</a:t>
            </a:r>
            <a:r>
              <a:rPr lang="en-US" b="1" dirty="0"/>
              <a:t> is mandatory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Students </a:t>
            </a:r>
            <a:r>
              <a:rPr lang="en-US" b="1" dirty="0">
                <a:solidFill>
                  <a:srgbClr val="0000A8"/>
                </a:solidFill>
              </a:rPr>
              <a:t>participation</a:t>
            </a:r>
            <a:r>
              <a:rPr lang="en-US" b="1" dirty="0"/>
              <a:t> </a:t>
            </a:r>
            <a:r>
              <a:rPr lang="en-US" b="1" dirty="0" smtClean="0"/>
              <a:t>in the </a:t>
            </a:r>
            <a:r>
              <a:rPr lang="en-US" b="1" dirty="0"/>
              <a:t>class is mandatory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Talking among each other is not appreciated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If a </a:t>
            </a:r>
            <a:r>
              <a:rPr lang="en-US" b="1" dirty="0">
                <a:solidFill>
                  <a:srgbClr val="0000A8"/>
                </a:solidFill>
              </a:rPr>
              <a:t>key term </a:t>
            </a:r>
            <a:r>
              <a:rPr lang="en-US" b="1" dirty="0"/>
              <a:t>is confusing to you, raise hand and ask the instructor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Cases of </a:t>
            </a:r>
            <a:r>
              <a:rPr lang="en-US" b="1" dirty="0">
                <a:solidFill>
                  <a:srgbClr val="0000A8"/>
                </a:solidFill>
              </a:rPr>
              <a:t>plagiarism</a:t>
            </a:r>
            <a:r>
              <a:rPr lang="en-US" b="1" dirty="0"/>
              <a:t> will lead to marks and/or grade reduction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Classroom </a:t>
            </a:r>
            <a:r>
              <a:rPr lang="en-US" dirty="0" smtClean="0"/>
              <a:t>Etiquettes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07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721618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3000" b="1" dirty="0"/>
              <a:t>Course grades will be based on </a:t>
            </a:r>
            <a:r>
              <a:rPr lang="en-US" sz="3000" b="1" dirty="0">
                <a:solidFill>
                  <a:srgbClr val="0000A8"/>
                </a:solidFill>
              </a:rPr>
              <a:t>absolute grading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 smtClean="0"/>
              <a:t>Quizzes </a:t>
            </a:r>
            <a:r>
              <a:rPr lang="en-US" sz="3000" b="1" dirty="0">
                <a:sym typeface="Wingdings" panose="05000000000000000000" pitchFamily="2" charset="2"/>
              </a:rPr>
              <a:t> 10</a:t>
            </a:r>
            <a:r>
              <a:rPr lang="en-US" sz="3000" b="1" dirty="0"/>
              <a:t>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3 to 4, Announced, no retake, may be best-of quizzes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/>
              <a:t>Assignments </a:t>
            </a:r>
            <a:r>
              <a:rPr lang="en-US" sz="3000" b="1" dirty="0">
                <a:sym typeface="Wingdings" panose="05000000000000000000" pitchFamily="2" charset="2"/>
              </a:rPr>
              <a:t> 10</a:t>
            </a:r>
            <a:r>
              <a:rPr lang="en-US" sz="3000" b="1" dirty="0"/>
              <a:t>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3 to 4, Announced, no retake, may be best-of </a:t>
            </a:r>
            <a:r>
              <a:rPr lang="en-US" b="1" dirty="0" smtClean="0"/>
              <a:t>assignments</a:t>
            </a:r>
            <a:endParaRPr lang="en-US" sz="30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 smtClean="0"/>
              <a:t>Course </a:t>
            </a:r>
            <a:r>
              <a:rPr lang="en-US" sz="3000" b="1" dirty="0"/>
              <a:t>Project </a:t>
            </a:r>
            <a:r>
              <a:rPr lang="en-US" sz="3000" b="1" dirty="0">
                <a:sym typeface="Wingdings" panose="05000000000000000000" pitchFamily="2" charset="2"/>
              </a:rPr>
              <a:t> 10</a:t>
            </a:r>
            <a:r>
              <a:rPr lang="en-US" sz="3000" b="1" dirty="0"/>
              <a:t>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Research based project</a:t>
            </a:r>
            <a:endParaRPr lang="en-US" sz="3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/>
              <a:t>Midterm I and Midterm II </a:t>
            </a:r>
            <a:r>
              <a:rPr lang="en-US" sz="3000" b="1" dirty="0">
                <a:sym typeface="Wingdings" panose="05000000000000000000" pitchFamily="2" charset="2"/>
              </a:rPr>
              <a:t> 30</a:t>
            </a:r>
            <a:r>
              <a:rPr lang="en-US" sz="3000" b="1" dirty="0"/>
              <a:t>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/>
              <a:t>Final Exam </a:t>
            </a:r>
            <a:r>
              <a:rPr lang="en-US" sz="3000" b="1" dirty="0">
                <a:sym typeface="Wingdings" panose="05000000000000000000" pitchFamily="2" charset="2"/>
              </a:rPr>
              <a:t> 40%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Comprehensive exam (all course contents included)</a:t>
            </a:r>
          </a:p>
          <a:p>
            <a:pPr marL="130175" indent="0">
              <a:buNone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</a:t>
            </a:r>
            <a:r>
              <a:rPr lang="en-US" dirty="0"/>
              <a:t>Grading Policy</a:t>
            </a:r>
          </a:p>
        </p:txBody>
      </p:sp>
    </p:spTree>
    <p:extLst>
      <p:ext uri="{BB962C8B-B14F-4D97-AF65-F5344CB8AC3E}">
        <p14:creationId xmlns:p14="http://schemas.microsoft.com/office/powerpoint/2010/main" val="10363068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Office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Office 55, First </a:t>
            </a:r>
            <a:r>
              <a:rPr lang="en-US" sz="2000" b="1" dirty="0"/>
              <a:t>Floor, </a:t>
            </a:r>
            <a:r>
              <a:rPr lang="en-US" sz="2000" b="1" dirty="0" smtClean="0"/>
              <a:t>New CS Building 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Email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danyal.farhat@lhr.nu.edu.pk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Office </a:t>
            </a:r>
            <a:r>
              <a:rPr lang="en-US" b="1" dirty="0" smtClean="0"/>
              <a:t>Hours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 smtClean="0"/>
              <a:t>TBD</a:t>
            </a: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Website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smtClean="0"/>
              <a:t>Classroom </a:t>
            </a:r>
            <a:r>
              <a:rPr lang="en-US" sz="2000" b="1" dirty="0"/>
              <a:t>Code (PDC </a:t>
            </a:r>
            <a:r>
              <a:rPr lang="en-US" sz="2000" b="1" dirty="0" smtClean="0"/>
              <a:t>BCS 6G): </a:t>
            </a:r>
            <a:r>
              <a:rPr lang="en-US" sz="2000" b="1" dirty="0"/>
              <a:t>dtv37hr</a:t>
            </a:r>
            <a:endParaRPr lang="en-US" sz="20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Classroom Code (PDC </a:t>
            </a:r>
            <a:r>
              <a:rPr lang="en-US" sz="2000" b="1" dirty="0" smtClean="0"/>
              <a:t>BCS 6H): </a:t>
            </a:r>
            <a:r>
              <a:rPr lang="en-US" sz="2000" b="1" dirty="0"/>
              <a:t>ykspnw5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Classroom Code (PDC </a:t>
            </a:r>
            <a:r>
              <a:rPr lang="en-US" sz="2000" b="1" dirty="0" smtClean="0"/>
              <a:t>BDS 6A): </a:t>
            </a:r>
            <a:r>
              <a:rPr lang="en-US" sz="2000" b="1" dirty="0"/>
              <a:t>edkgmo4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Administrative </a:t>
            </a:r>
            <a:r>
              <a:rPr lang="en-US" dirty="0" smtClean="0"/>
              <a:t>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396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Demonstrate </a:t>
            </a:r>
            <a:r>
              <a:rPr lang="en-US" sz="3200" b="1" dirty="0"/>
              <a:t>understanding of various </a:t>
            </a:r>
            <a:r>
              <a:rPr lang="en-US" sz="3200" b="1" dirty="0">
                <a:solidFill>
                  <a:srgbClr val="0000A8"/>
                </a:solidFill>
              </a:rPr>
              <a:t>concepts involved </a:t>
            </a:r>
            <a:r>
              <a:rPr lang="en-US" sz="3200" b="1" dirty="0"/>
              <a:t>in parallel and distributed computer architectures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Implement </a:t>
            </a:r>
            <a:r>
              <a:rPr lang="en-US" sz="3200" b="1" dirty="0"/>
              <a:t>different </a:t>
            </a:r>
            <a:r>
              <a:rPr lang="en-US" sz="3200" b="1" dirty="0">
                <a:solidFill>
                  <a:srgbClr val="0000A8"/>
                </a:solidFill>
              </a:rPr>
              <a:t>parallel and distributed programming paradigms</a:t>
            </a:r>
            <a:r>
              <a:rPr lang="en-US" sz="3200" b="1" dirty="0"/>
              <a:t> and algorithms using </a:t>
            </a:r>
            <a:r>
              <a:rPr lang="en-US" sz="3200" b="1" dirty="0" smtClean="0"/>
              <a:t>Message-Passing </a:t>
            </a:r>
            <a:r>
              <a:rPr lang="en-US" sz="3200" b="1" dirty="0"/>
              <a:t>Interface (MPI) and </a:t>
            </a:r>
            <a:r>
              <a:rPr lang="en-US" sz="3200" b="1" dirty="0" err="1"/>
              <a:t>OpenMP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Perform </a:t>
            </a:r>
            <a:r>
              <a:rPr lang="en-US" sz="3200" b="1" dirty="0">
                <a:solidFill>
                  <a:srgbClr val="0000A8"/>
                </a:solidFill>
              </a:rPr>
              <a:t>analytical modelling, dependence, and performance analysis </a:t>
            </a:r>
            <a:r>
              <a:rPr lang="en-US" sz="3200" b="1" dirty="0"/>
              <a:t>of parallel algorithms and programs</a:t>
            </a: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Course </a:t>
            </a:r>
            <a:r>
              <a:rPr lang="en-US" dirty="0"/>
              <a:t>Learning Outcomes (CLOs)</a:t>
            </a:r>
          </a:p>
        </p:txBody>
      </p:sp>
    </p:spTree>
    <p:extLst>
      <p:ext uri="{BB962C8B-B14F-4D97-AF65-F5344CB8AC3E}">
        <p14:creationId xmlns:p14="http://schemas.microsoft.com/office/powerpoint/2010/main" val="1733863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A8"/>
                </a:solidFill>
              </a:rPr>
              <a:t>Introduction </a:t>
            </a:r>
            <a:r>
              <a:rPr lang="en-US" sz="3200" b="1" dirty="0">
                <a:solidFill>
                  <a:srgbClr val="0000A8"/>
                </a:solidFill>
              </a:rPr>
              <a:t>to Parallel Computing </a:t>
            </a:r>
            <a:r>
              <a:rPr lang="en-US" sz="3200" b="1" dirty="0"/>
              <a:t>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Gupta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A8"/>
                </a:solidFill>
              </a:rPr>
              <a:t>Distributed </a:t>
            </a:r>
            <a:r>
              <a:rPr lang="en-US" sz="3200" b="1" dirty="0">
                <a:solidFill>
                  <a:srgbClr val="0000A8"/>
                </a:solidFill>
              </a:rPr>
              <a:t>Systems: Concept and Design</a:t>
            </a:r>
            <a:r>
              <a:rPr lang="en-US" sz="3200" b="1" dirty="0"/>
              <a:t> by George </a:t>
            </a:r>
            <a:r>
              <a:rPr lang="en-US" sz="3200" b="1" dirty="0" err="1"/>
              <a:t>Coulouris</a:t>
            </a:r>
            <a:r>
              <a:rPr lang="en-US" sz="3200" b="1" dirty="0"/>
              <a:t>, Gordon Blair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A8"/>
                </a:solidFill>
              </a:rPr>
              <a:t>Using </a:t>
            </a:r>
            <a:r>
              <a:rPr lang="en-US" sz="3200" b="1" dirty="0" err="1">
                <a:solidFill>
                  <a:srgbClr val="0000A8"/>
                </a:solidFill>
              </a:rPr>
              <a:t>OpenMP</a:t>
            </a:r>
            <a:r>
              <a:rPr lang="en-US" sz="3200" b="1" dirty="0">
                <a:solidFill>
                  <a:srgbClr val="0000A8"/>
                </a:solidFill>
              </a:rPr>
              <a:t>: Portable Shared Memory Parallel Programming</a:t>
            </a:r>
            <a:r>
              <a:rPr lang="en-US" sz="3200" b="1" dirty="0"/>
              <a:t> by Barbara Chapman, Gabriele </a:t>
            </a:r>
            <a:r>
              <a:rPr lang="en-US" sz="3200" b="1" dirty="0" err="1"/>
              <a:t>Jost</a:t>
            </a:r>
            <a:r>
              <a:rPr lang="en-US" sz="3200" b="1" dirty="0"/>
              <a:t>, Ruud van der Pas.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Textbooks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642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A8"/>
                </a:solidFill>
              </a:rPr>
              <a:t>Distributed </a:t>
            </a:r>
            <a:r>
              <a:rPr lang="en-US" sz="3200" b="1" dirty="0">
                <a:solidFill>
                  <a:srgbClr val="0000A8"/>
                </a:solidFill>
              </a:rPr>
              <a:t>Systems: Principles and Paradigms</a:t>
            </a:r>
            <a:r>
              <a:rPr lang="en-US" sz="3200" b="1" dirty="0"/>
              <a:t>, A. S. Tanenbaum and M. V. </a:t>
            </a:r>
            <a:r>
              <a:rPr lang="en-US" sz="3200" b="1" dirty="0" err="1"/>
              <a:t>Steen,Prentice</a:t>
            </a:r>
            <a:r>
              <a:rPr lang="en-US" sz="3200" b="1" dirty="0"/>
              <a:t> Hall, 2nd Edition, 2007.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A8"/>
                </a:solidFill>
              </a:rPr>
              <a:t>Distributed </a:t>
            </a:r>
            <a:r>
              <a:rPr lang="en-US" sz="3200" b="1" dirty="0">
                <a:solidFill>
                  <a:srgbClr val="0000A8"/>
                </a:solidFill>
              </a:rPr>
              <a:t>and Cloud Computing: Clusters, Grids, Clouds, and the Future Internet</a:t>
            </a:r>
            <a:r>
              <a:rPr lang="en-US" sz="3200" b="1" dirty="0"/>
              <a:t>, K Hwang, J </a:t>
            </a:r>
            <a:r>
              <a:rPr lang="en-US" sz="3200" b="1" dirty="0" err="1"/>
              <a:t>Dongarra</a:t>
            </a:r>
            <a:r>
              <a:rPr lang="en-US" sz="3200" b="1" dirty="0"/>
              <a:t> and GC. C. Fox, Elsevier, 1st Ed.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Reference 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48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To </a:t>
            </a:r>
            <a:r>
              <a:rPr lang="en-US" sz="3200" b="1" dirty="0"/>
              <a:t>understand the </a:t>
            </a:r>
            <a:r>
              <a:rPr lang="en-US" sz="3200" b="1" dirty="0">
                <a:solidFill>
                  <a:srgbClr val="0000A8"/>
                </a:solidFill>
              </a:rPr>
              <a:t>fundamental concepts </a:t>
            </a:r>
            <a:r>
              <a:rPr lang="en-US" sz="3200" b="1" dirty="0"/>
              <a:t>of parallel and distributed </a:t>
            </a:r>
            <a:r>
              <a:rPr lang="en-US" sz="3200" b="1" dirty="0" smtClean="0"/>
              <a:t>computing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Design </a:t>
            </a:r>
            <a:r>
              <a:rPr lang="en-US" sz="3200" b="1" dirty="0"/>
              <a:t>and analysis of </a:t>
            </a:r>
            <a:r>
              <a:rPr lang="en-US" sz="3200" b="1" dirty="0" smtClean="0">
                <a:solidFill>
                  <a:srgbClr val="0000A8"/>
                </a:solidFill>
              </a:rPr>
              <a:t>parallel algorithms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Analyze </a:t>
            </a:r>
            <a:r>
              <a:rPr lang="en-US" sz="3200" b="1" dirty="0"/>
              <a:t>different problems and develop </a:t>
            </a:r>
            <a:r>
              <a:rPr lang="en-US" sz="3200" b="1" dirty="0">
                <a:solidFill>
                  <a:srgbClr val="0000A8"/>
                </a:solidFill>
              </a:rPr>
              <a:t>parallel programming solutions</a:t>
            </a:r>
            <a:r>
              <a:rPr lang="en-US" sz="3200" b="1" dirty="0"/>
              <a:t> of those </a:t>
            </a:r>
            <a:r>
              <a:rPr lang="en-US" sz="3200" b="1" dirty="0" smtClean="0"/>
              <a:t>problems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Study </a:t>
            </a:r>
            <a:r>
              <a:rPr lang="en-US" sz="3200" b="1" dirty="0"/>
              <a:t>the </a:t>
            </a:r>
            <a:r>
              <a:rPr lang="en-US" sz="3200" b="1" dirty="0">
                <a:solidFill>
                  <a:srgbClr val="0000A8"/>
                </a:solidFill>
              </a:rPr>
              <a:t>challenges of Parallel and Distributed systems </a:t>
            </a:r>
            <a:r>
              <a:rPr lang="en-US" sz="3200" b="1" dirty="0"/>
              <a:t>and how to cope with them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A8"/>
                </a:solidFill>
              </a:rPr>
              <a:t>Aim of the Course</a:t>
            </a:r>
          </a:p>
        </p:txBody>
      </p:sp>
    </p:spTree>
    <p:extLst>
      <p:ext uri="{BB962C8B-B14F-4D97-AF65-F5344CB8AC3E}">
        <p14:creationId xmlns:p14="http://schemas.microsoft.com/office/powerpoint/2010/main" val="11050057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Course Overview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Introduction </a:t>
            </a:r>
            <a:r>
              <a:rPr lang="en-US" sz="3200" b="1" dirty="0"/>
              <a:t>to </a:t>
            </a:r>
            <a:r>
              <a:rPr lang="en-US" sz="3200" b="1" dirty="0" smtClean="0"/>
              <a:t>Parallel </a:t>
            </a:r>
            <a:r>
              <a:rPr lang="en-US" sz="3200" b="1" dirty="0"/>
              <a:t>and </a:t>
            </a:r>
            <a:r>
              <a:rPr lang="en-US" sz="3200" b="1" dirty="0" smtClean="0"/>
              <a:t>Distributed Computing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Amdahl’s law and Karp-Flatt Metric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Flynn’s Classical </a:t>
            </a:r>
            <a:r>
              <a:rPr lang="en-US" sz="3200" b="1" dirty="0"/>
              <a:t>T</a:t>
            </a:r>
            <a:r>
              <a:rPr lang="en-US" sz="3200" b="1" dirty="0" smtClean="0"/>
              <a:t>axonomy and Processor to Memory Connection Strategies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Network Topologies for Parallel Architectures, Evaluating Static Inter-Connection in Terms of Cost, Diameter, Bisection Width, and Arc Connectivity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Course 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027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Principles of Parallel Algorithm Design, </a:t>
            </a:r>
            <a:r>
              <a:rPr lang="en-US" sz="3200" b="1" dirty="0" smtClean="0"/>
              <a:t>Task Dependency </a:t>
            </a:r>
            <a:r>
              <a:rPr lang="en-US" sz="3200" b="1" dirty="0"/>
              <a:t>Graphs, Granularity </a:t>
            </a:r>
            <a:r>
              <a:rPr lang="en-US" sz="3200" b="1" dirty="0" smtClean="0"/>
              <a:t>and Concurrency</a:t>
            </a:r>
            <a:r>
              <a:rPr lang="en-US" sz="3200" b="1" dirty="0"/>
              <a:t>, Task Interaction Graphs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Programming Shared Address Space </a:t>
            </a:r>
            <a:r>
              <a:rPr lang="en-US" sz="3200" b="1" dirty="0" smtClean="0"/>
              <a:t>Platforms using </a:t>
            </a:r>
            <a:r>
              <a:rPr lang="en-US" sz="3200" b="1" dirty="0"/>
              <a:t>POSIX Thread </a:t>
            </a:r>
            <a:r>
              <a:rPr lang="en-US" sz="3200" b="1" dirty="0" smtClean="0"/>
              <a:t>API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Shared </a:t>
            </a:r>
            <a:r>
              <a:rPr lang="en-US" sz="3200" b="1" dirty="0" smtClean="0"/>
              <a:t>Memory </a:t>
            </a:r>
            <a:r>
              <a:rPr lang="en-US" sz="3200" b="1" dirty="0"/>
              <a:t>Programming with </a:t>
            </a:r>
            <a:r>
              <a:rPr lang="en-US" sz="3200" b="1" dirty="0" err="1" smtClean="0"/>
              <a:t>OpenMP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Synchronization Constructs in </a:t>
            </a:r>
            <a:r>
              <a:rPr lang="en-US" sz="3200" b="1" dirty="0" err="1" smtClean="0"/>
              <a:t>OpenMP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Decomposition and Mapping Techniques</a:t>
            </a: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Course 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401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Introduction to Distributed </a:t>
            </a:r>
            <a:r>
              <a:rPr lang="en-US" sz="3200" b="1" dirty="0" smtClean="0"/>
              <a:t>Systems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Types of Distributed System </a:t>
            </a:r>
            <a:r>
              <a:rPr lang="en-US" sz="3200" b="1" dirty="0" smtClean="0"/>
              <a:t>Architecture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Distributed Operating Systems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Types of Distributed </a:t>
            </a:r>
            <a:r>
              <a:rPr lang="en-US" sz="3200" b="1" dirty="0" smtClean="0"/>
              <a:t>Systems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Cluster Computing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Grid Computing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Cloud Computing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Course 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6706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Operations 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One-to-All Broadcast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All-to-One Reduction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Broadcast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Reduction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 Reduce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Prefix </a:t>
            </a:r>
            <a:r>
              <a:rPr lang="en-US" b="1" dirty="0" smtClean="0"/>
              <a:t>Sum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Scatter </a:t>
            </a:r>
            <a:r>
              <a:rPr lang="en-US" b="1" dirty="0"/>
              <a:t>and </a:t>
            </a:r>
            <a:r>
              <a:rPr lang="en-US" b="1" dirty="0" smtClean="0"/>
              <a:t>Gather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Personalized (Total Exchange)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Programming </a:t>
            </a:r>
            <a:r>
              <a:rPr lang="en-US" sz="3200" b="1" dirty="0"/>
              <a:t>Distributed Machines Using Message Passing Interface (MPI)</a:t>
            </a: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Course 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4044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59230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Fault Tolerance Techniques: </a:t>
            </a:r>
            <a:r>
              <a:rPr lang="en-US" sz="3200" b="1" dirty="0" smtClean="0"/>
              <a:t>Hardware Redundancy</a:t>
            </a:r>
            <a:r>
              <a:rPr lang="en-US" sz="3200" b="1" dirty="0"/>
              <a:t>, Time Redundancy, </a:t>
            </a:r>
            <a:r>
              <a:rPr lang="en-US" sz="3200" b="1" dirty="0" smtClean="0"/>
              <a:t>Information Redundancy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Distributed </a:t>
            </a:r>
            <a:r>
              <a:rPr lang="en-US" sz="3200" b="1" dirty="0"/>
              <a:t>File </a:t>
            </a:r>
            <a:r>
              <a:rPr lang="en-US" sz="3200" b="1" dirty="0" smtClean="0"/>
              <a:t>System, HDFS</a:t>
            </a:r>
            <a:r>
              <a:rPr lang="en-US" sz="3200" b="1" dirty="0"/>
              <a:t>, MapReduce, Yarn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Remote Procedure Calls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Web </a:t>
            </a:r>
            <a:r>
              <a:rPr lang="en-US" sz="3200" b="1" dirty="0" smtClean="0"/>
              <a:t>Services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Logical Clocks and Vector </a:t>
            </a:r>
            <a:r>
              <a:rPr lang="en-US" sz="3200" b="1" dirty="0" smtClean="0"/>
              <a:t>Clocks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RAFT - A Consensus Algorithm for </a:t>
            </a:r>
            <a:r>
              <a:rPr lang="en-US" sz="3200" b="1" dirty="0" smtClean="0"/>
              <a:t>Replicated Log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Course Project Presentations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Tentative Course 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6601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Students</a:t>
            </a:r>
            <a:r>
              <a:rPr lang="en-US" sz="3200" b="1" dirty="0"/>
              <a:t>’ </a:t>
            </a:r>
            <a:r>
              <a:rPr lang="en-US" sz="3200" b="1" dirty="0" smtClean="0"/>
              <a:t>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Few </a:t>
            </a:r>
            <a:r>
              <a:rPr lang="en-US" sz="3200" b="1" dirty="0"/>
              <a:t>Basic </a:t>
            </a:r>
            <a:r>
              <a:rPr lang="en-US" sz="3200" b="1" dirty="0" smtClean="0"/>
              <a:t>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Instructor's </a:t>
            </a:r>
            <a:r>
              <a:rPr lang="en-US" sz="3200" b="1" dirty="0"/>
              <a:t>Background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Cloud Platforms - VMware vSphere,  </a:t>
            </a:r>
            <a:r>
              <a:rPr lang="en-US" b="1" dirty="0" smtClean="0"/>
              <a:t>AWS, MS </a:t>
            </a:r>
            <a:r>
              <a:rPr lang="en-US" b="1" dirty="0"/>
              <a:t>Azure Stack, </a:t>
            </a:r>
            <a:r>
              <a:rPr lang="en-US" b="1" dirty="0" smtClean="0"/>
              <a:t>and MS </a:t>
            </a:r>
            <a:r>
              <a:rPr lang="en-US" b="1" dirty="0"/>
              <a:t>Hyper-V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Networking Domain </a:t>
            </a:r>
            <a:r>
              <a:rPr lang="en-US" b="1" dirty="0"/>
              <a:t>- IP Sec VPN, MPLS, </a:t>
            </a:r>
            <a:r>
              <a:rPr lang="en-US" b="1" dirty="0" smtClean="0"/>
              <a:t>and SIP connectivity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Security Domain </a:t>
            </a:r>
            <a:r>
              <a:rPr lang="en-US" b="1" dirty="0"/>
              <a:t>- UTM, EDR, </a:t>
            </a:r>
            <a:r>
              <a:rPr lang="en-US" b="1" dirty="0" err="1" smtClean="0"/>
              <a:t>Qualys</a:t>
            </a:r>
            <a:r>
              <a:rPr lang="en-US" b="1" dirty="0" smtClean="0"/>
              <a:t> and SIEM </a:t>
            </a:r>
            <a:r>
              <a:rPr lang="en-US" b="1" dirty="0"/>
              <a:t>Integration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Management </a:t>
            </a:r>
            <a:r>
              <a:rPr lang="en-US" b="1" dirty="0" smtClean="0"/>
              <a:t>Domain </a:t>
            </a:r>
            <a:r>
              <a:rPr lang="en-US" b="1" dirty="0"/>
              <a:t>- Jira, Lean Six Sigma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Industry Standards - PCI DSS, TIA-942, I</a:t>
            </a:r>
            <a:r>
              <a:rPr lang="en-US" b="1" dirty="0" smtClean="0"/>
              <a:t>SO/IEC 22237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26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Instructor's Background (Cont.)</a:t>
            </a: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Data </a:t>
            </a:r>
            <a:r>
              <a:rPr lang="en-US" b="1" dirty="0"/>
              <a:t>Center Building Management </a:t>
            </a:r>
            <a:r>
              <a:rPr lang="en-US" b="1" dirty="0" smtClean="0"/>
              <a:t>System (BMS)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Heating </a:t>
            </a:r>
            <a:r>
              <a:rPr lang="en-US" b="1" dirty="0"/>
              <a:t>Ventilation and Air Conditioning (HVAC)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Very </a:t>
            </a:r>
            <a:r>
              <a:rPr lang="en-US" b="1" dirty="0"/>
              <a:t>Early Smoke Detection Apparatus (VESDA)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Power </a:t>
            </a:r>
            <a:r>
              <a:rPr lang="en-US" b="1" dirty="0"/>
              <a:t>Management Module (PMM) – 150 kVA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Data </a:t>
            </a:r>
            <a:r>
              <a:rPr lang="en-US" b="1" dirty="0"/>
              <a:t>Center </a:t>
            </a:r>
            <a:r>
              <a:rPr lang="en-US" b="1" dirty="0" smtClean="0"/>
              <a:t>Components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337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61078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Classroom Etiquettes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Attendance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Students Participation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Tentative Grading </a:t>
            </a:r>
            <a:r>
              <a:rPr lang="en-US" sz="3200" b="1" dirty="0" smtClean="0"/>
              <a:t>Policy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Absolute Grading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Administrative </a:t>
            </a:r>
            <a:r>
              <a:rPr lang="en-US" sz="3200" b="1" dirty="0" smtClean="0"/>
              <a:t>Information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Course Learning </a:t>
            </a:r>
            <a:r>
              <a:rPr lang="en-US" sz="3200" b="1" dirty="0" smtClean="0"/>
              <a:t>Outcomes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Concepts </a:t>
            </a:r>
            <a:r>
              <a:rPr lang="en-US" b="1" dirty="0"/>
              <a:t>of </a:t>
            </a:r>
            <a:r>
              <a:rPr lang="en-US" b="1" dirty="0" smtClean="0"/>
              <a:t>Parallel </a:t>
            </a:r>
            <a:r>
              <a:rPr lang="en-US" b="1" dirty="0"/>
              <a:t>and </a:t>
            </a:r>
            <a:r>
              <a:rPr lang="en-US" b="1" dirty="0" smtClean="0"/>
              <a:t>Distributed </a:t>
            </a:r>
            <a:r>
              <a:rPr lang="en-US" b="1" dirty="0"/>
              <a:t>C</a:t>
            </a:r>
            <a:r>
              <a:rPr lang="en-US" b="1" dirty="0" smtClean="0"/>
              <a:t>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Programming Paradigms </a:t>
            </a:r>
            <a:r>
              <a:rPr lang="en-US" b="1" dirty="0"/>
              <a:t>- </a:t>
            </a:r>
            <a:r>
              <a:rPr lang="en-US" b="1" dirty="0" err="1" smtClean="0"/>
              <a:t>Pthread</a:t>
            </a:r>
            <a:r>
              <a:rPr lang="en-US" b="1" dirty="0"/>
              <a:t>, </a:t>
            </a:r>
            <a:r>
              <a:rPr lang="en-US" b="1" dirty="0" err="1"/>
              <a:t>OpenMP</a:t>
            </a:r>
            <a:r>
              <a:rPr lang="en-US" b="1" dirty="0"/>
              <a:t>, and </a:t>
            </a:r>
            <a:r>
              <a:rPr lang="en-US" b="1" dirty="0" smtClean="0"/>
              <a:t>MPI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Analytical Modelling</a:t>
            </a:r>
            <a:r>
              <a:rPr lang="en-US" b="1" dirty="0"/>
              <a:t>, </a:t>
            </a:r>
            <a:r>
              <a:rPr lang="en-US" b="1" dirty="0" smtClean="0"/>
              <a:t>Algorithm dependence, </a:t>
            </a:r>
            <a:r>
              <a:rPr lang="en-US" b="1" dirty="0"/>
              <a:t>and </a:t>
            </a:r>
            <a:r>
              <a:rPr lang="en-US" b="1" dirty="0" smtClean="0"/>
              <a:t>Performance Analysis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378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Textbooks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Reference </a:t>
            </a:r>
            <a:r>
              <a:rPr lang="en-US" sz="3200" b="1" dirty="0" smtClean="0"/>
              <a:t>Books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Aim of the </a:t>
            </a:r>
            <a:r>
              <a:rPr lang="en-US" sz="3200" b="1" dirty="0" smtClean="0"/>
              <a:t>Course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Fundamental Concepts </a:t>
            </a:r>
            <a:r>
              <a:rPr lang="en-US" b="1" dirty="0"/>
              <a:t>of </a:t>
            </a:r>
            <a:r>
              <a:rPr lang="en-US" b="1" dirty="0" smtClean="0"/>
              <a:t>Parallel and Distributed 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Design </a:t>
            </a:r>
            <a:r>
              <a:rPr lang="en-US" b="1" dirty="0"/>
              <a:t>and </a:t>
            </a:r>
            <a:r>
              <a:rPr lang="en-US" b="1" dirty="0" smtClean="0"/>
              <a:t>Analysis </a:t>
            </a:r>
            <a:r>
              <a:rPr lang="en-US" b="1" dirty="0"/>
              <a:t>of P</a:t>
            </a:r>
            <a:r>
              <a:rPr lang="en-US" b="1" dirty="0" smtClean="0"/>
              <a:t>arallel </a:t>
            </a:r>
            <a:r>
              <a:rPr lang="en-US" b="1" dirty="0"/>
              <a:t>and </a:t>
            </a:r>
            <a:r>
              <a:rPr lang="en-US" b="1" dirty="0" smtClean="0"/>
              <a:t>Distributed </a:t>
            </a:r>
            <a:r>
              <a:rPr lang="en-US" b="1" dirty="0"/>
              <a:t>A</a:t>
            </a:r>
            <a:r>
              <a:rPr lang="en-US" b="1" dirty="0" smtClean="0"/>
              <a:t>lgorithms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Challenges </a:t>
            </a:r>
            <a:r>
              <a:rPr lang="en-US" b="1" dirty="0"/>
              <a:t>of PDC and their </a:t>
            </a:r>
            <a:r>
              <a:rPr lang="en-US" b="1" dirty="0" smtClean="0"/>
              <a:t>Recommended Solutions 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Tentative Course </a:t>
            </a:r>
            <a:r>
              <a:rPr lang="en-US" sz="3200" b="1" dirty="0" smtClean="0"/>
              <a:t>Outline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911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1951</Words>
  <Application>Microsoft Office PowerPoint</Application>
  <PresentationFormat>Widescreen</PresentationFormat>
  <Paragraphs>307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CS 3006 Parallel and Distributed Computing Lecture 1</vt:lpstr>
      <vt:lpstr>Course Overview</vt:lpstr>
      <vt:lpstr>Outline</vt:lpstr>
      <vt:lpstr>Outline (Cont.)</vt:lpstr>
      <vt:lpstr>Students’ Background</vt:lpstr>
      <vt:lpstr>Few Basic Questions</vt:lpstr>
      <vt:lpstr>Few Basic Questions (Cont.)</vt:lpstr>
      <vt:lpstr>Few Basic Questions (Cont.)</vt:lpstr>
      <vt:lpstr>Instructor’s Background</vt:lpstr>
      <vt:lpstr>Instructor’s Background</vt:lpstr>
      <vt:lpstr>Instructor’s Background (Cont.)</vt:lpstr>
      <vt:lpstr>Instructor’s Background (Cont.)</vt:lpstr>
      <vt:lpstr>Instructor’s Background (Cont.)</vt:lpstr>
      <vt:lpstr>Instructor’s Background (Cont.)</vt:lpstr>
      <vt:lpstr>Instructor’s Background (Cont.)</vt:lpstr>
      <vt:lpstr>Data Center Building Management System</vt:lpstr>
      <vt:lpstr>Heating Ventilation and Air Conditioning (HVAC)</vt:lpstr>
      <vt:lpstr>Very Early Smoke Detection Apparatus (VESDA) </vt:lpstr>
      <vt:lpstr>Power Management Module (PMM) – 150 kVA</vt:lpstr>
      <vt:lpstr>Data Center Components</vt:lpstr>
      <vt:lpstr>Instructor’s Background (Cont.)</vt:lpstr>
      <vt:lpstr>Instructor’s Background (Cont.)</vt:lpstr>
      <vt:lpstr>Instructor’s Background (Cont.)</vt:lpstr>
      <vt:lpstr>Instructor’s Background (Cont.)</vt:lpstr>
      <vt:lpstr>Instructor’s Background (Cont.)</vt:lpstr>
      <vt:lpstr>Instructor’s Background (Cont.)</vt:lpstr>
      <vt:lpstr>Classroom Etiquettes</vt:lpstr>
      <vt:lpstr>Tentative Grading Policy</vt:lpstr>
      <vt:lpstr>Administrative Information</vt:lpstr>
      <vt:lpstr>Course Learning Outcomes (CLOs)</vt:lpstr>
      <vt:lpstr>Textbooks</vt:lpstr>
      <vt:lpstr>Reference Books</vt:lpstr>
      <vt:lpstr>Aim of the Course</vt:lpstr>
      <vt:lpstr>Tentative Course Outline</vt:lpstr>
      <vt:lpstr>Tentative Course Outline (Cont.)</vt:lpstr>
      <vt:lpstr>Tentative Course Outline (Cont.)</vt:lpstr>
      <vt:lpstr>Tentative Course Outline (Cont.)</vt:lpstr>
      <vt:lpstr>Tentative Course Outline (Cont.)</vt:lpstr>
      <vt:lpstr>Summary</vt:lpstr>
      <vt:lpstr>Summary (Cont.)</vt:lpstr>
      <vt:lpstr>Summary (Cont.)</vt:lpstr>
      <vt:lpstr>Summary (Cont.)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408</cp:revision>
  <dcterms:created xsi:type="dcterms:W3CDTF">2020-01-18T07:24:00Z</dcterms:created>
  <dcterms:modified xsi:type="dcterms:W3CDTF">2024-01-26T10:32:46Z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