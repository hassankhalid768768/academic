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8"/>
  </p:notesMasterIdLst>
  <p:sldIdLst>
    <p:sldId id="1539" r:id="rId2"/>
    <p:sldId id="1450" r:id="rId3"/>
    <p:sldId id="1540" r:id="rId4"/>
    <p:sldId id="1541" r:id="rId5"/>
    <p:sldId id="1542" r:id="rId6"/>
    <p:sldId id="1533" r:id="rId7"/>
    <p:sldId id="1534" r:id="rId8"/>
    <p:sldId id="1476" r:id="rId9"/>
    <p:sldId id="1523" r:id="rId10"/>
    <p:sldId id="1493" r:id="rId11"/>
    <p:sldId id="1535" r:id="rId12"/>
    <p:sldId id="1486" r:id="rId13"/>
    <p:sldId id="1536" r:id="rId14"/>
    <p:sldId id="1530" r:id="rId15"/>
    <p:sldId id="1488" r:id="rId16"/>
    <p:sldId id="1496" r:id="rId17"/>
    <p:sldId id="1500" r:id="rId18"/>
    <p:sldId id="1537" r:id="rId19"/>
    <p:sldId id="1538" r:id="rId20"/>
    <p:sldId id="1505" r:id="rId21"/>
    <p:sldId id="1504" r:id="rId22"/>
    <p:sldId id="1506" r:id="rId23"/>
    <p:sldId id="1507" r:id="rId24"/>
    <p:sldId id="1508" r:id="rId25"/>
    <p:sldId id="1531" r:id="rId26"/>
    <p:sldId id="1509" r:id="rId27"/>
    <p:sldId id="1510" r:id="rId28"/>
    <p:sldId id="1513" r:id="rId29"/>
    <p:sldId id="1528" r:id="rId30"/>
    <p:sldId id="1514" r:id="rId31"/>
    <p:sldId id="1543" r:id="rId32"/>
    <p:sldId id="1544" r:id="rId33"/>
    <p:sldId id="1545" r:id="rId34"/>
    <p:sldId id="1546" r:id="rId35"/>
    <p:sldId id="1532" r:id="rId36"/>
    <p:sldId id="1448"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6">
          <p15:clr>
            <a:srgbClr val="A4A3A4"/>
          </p15:clr>
        </p15:guide>
        <p15:guide id="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A8"/>
    <a:srgbClr val="00A800"/>
    <a:srgbClr val="000099"/>
    <a:srgbClr val="00C000"/>
    <a:srgbClr val="3C6CDF"/>
    <a:srgbClr val="9CDFF9"/>
    <a:srgbClr val="B8C2C9"/>
    <a:srgbClr val="D6DCE0"/>
    <a:srgbClr val="0000A3"/>
    <a:srgbClr val="01008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533"/>
    <p:restoredTop sz="88689" autoAdjust="0"/>
  </p:normalViewPr>
  <p:slideViewPr>
    <p:cSldViewPr snapToGrid="0" snapToObjects="1">
      <p:cViewPr varScale="1">
        <p:scale>
          <a:sx n="66" d="100"/>
          <a:sy n="66" d="100"/>
        </p:scale>
        <p:origin x="468" y="66"/>
      </p:cViewPr>
      <p:guideLst>
        <p:guide orient="horz" pos="96"/>
        <p:guide/>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53024D-5FCD-D142-BBE1-7B391F60AD88}" type="datetimeFigureOut">
              <a:rPr lang="en-US" smtClean="0"/>
              <a:t>2/18/2024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91EEAC-CFEF-9647-876F-EABC6B8338D7}" type="slidenum">
              <a:rPr lang="en-US" smtClean="0"/>
              <a:t>‹#›</a:t>
            </a:fld>
            <a:endParaRPr lang="en-US" dirty="0"/>
          </a:p>
        </p:txBody>
      </p:sp>
    </p:spTree>
    <p:extLst>
      <p:ext uri="{BB962C8B-B14F-4D97-AF65-F5344CB8AC3E}">
        <p14:creationId xmlns:p14="http://schemas.microsoft.com/office/powerpoint/2010/main" val="20918187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1EEAC-CFEF-9647-876F-EABC6B8338D7}" type="slidenum">
              <a:rPr lang="en-US" smtClean="0"/>
              <a:t>1</a:t>
            </a:fld>
            <a:endParaRPr lang="en-US" dirty="0"/>
          </a:p>
        </p:txBody>
      </p:sp>
    </p:spTree>
    <p:extLst>
      <p:ext uri="{BB962C8B-B14F-4D97-AF65-F5344CB8AC3E}">
        <p14:creationId xmlns:p14="http://schemas.microsoft.com/office/powerpoint/2010/main" val="37342559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1EEAC-CFEF-9647-876F-EABC6B8338D7}" type="slidenum">
              <a:rPr lang="en-US" smtClean="0"/>
              <a:t>2</a:t>
            </a:fld>
            <a:endParaRPr lang="en-US" dirty="0"/>
          </a:p>
        </p:txBody>
      </p:sp>
    </p:spTree>
    <p:extLst>
      <p:ext uri="{BB962C8B-B14F-4D97-AF65-F5344CB8AC3E}">
        <p14:creationId xmlns:p14="http://schemas.microsoft.com/office/powerpoint/2010/main" val="19621401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1EEAC-CFEF-9647-876F-EABC6B8338D7}" type="slidenum">
              <a:rPr lang="en-US" smtClean="0"/>
              <a:t>8</a:t>
            </a:fld>
            <a:endParaRPr lang="en-US" dirty="0"/>
          </a:p>
        </p:txBody>
      </p:sp>
    </p:spTree>
    <p:extLst>
      <p:ext uri="{BB962C8B-B14F-4D97-AF65-F5344CB8AC3E}">
        <p14:creationId xmlns:p14="http://schemas.microsoft.com/office/powerpoint/2010/main" val="2570150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1EEAC-CFEF-9647-876F-EABC6B8338D7}" type="slidenum">
              <a:rPr lang="en-US" smtClean="0"/>
              <a:t>9</a:t>
            </a:fld>
            <a:endParaRPr lang="en-US" dirty="0"/>
          </a:p>
        </p:txBody>
      </p:sp>
    </p:spTree>
    <p:extLst>
      <p:ext uri="{BB962C8B-B14F-4D97-AF65-F5344CB8AC3E}">
        <p14:creationId xmlns:p14="http://schemas.microsoft.com/office/powerpoint/2010/main" val="9367179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1EEAC-CFEF-9647-876F-EABC6B8338D7}" type="slidenum">
              <a:rPr lang="en-US" smtClean="0"/>
              <a:t>10</a:t>
            </a:fld>
            <a:endParaRPr lang="en-US" dirty="0"/>
          </a:p>
        </p:txBody>
      </p:sp>
    </p:spTree>
    <p:extLst>
      <p:ext uri="{BB962C8B-B14F-4D97-AF65-F5344CB8AC3E}">
        <p14:creationId xmlns:p14="http://schemas.microsoft.com/office/powerpoint/2010/main" val="5963244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1EEAC-CFEF-9647-876F-EABC6B8338D7}" type="slidenum">
              <a:rPr lang="en-US" smtClean="0"/>
              <a:t>12</a:t>
            </a:fld>
            <a:endParaRPr lang="en-US" dirty="0"/>
          </a:p>
        </p:txBody>
      </p:sp>
    </p:spTree>
    <p:extLst>
      <p:ext uri="{BB962C8B-B14F-4D97-AF65-F5344CB8AC3E}">
        <p14:creationId xmlns:p14="http://schemas.microsoft.com/office/powerpoint/2010/main" val="882327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1EEAC-CFEF-9647-876F-EABC6B8338D7}" type="slidenum">
              <a:rPr lang="en-US" smtClean="0"/>
              <a:t>13</a:t>
            </a:fld>
            <a:endParaRPr lang="en-US" dirty="0"/>
          </a:p>
        </p:txBody>
      </p:sp>
    </p:spTree>
    <p:extLst>
      <p:ext uri="{BB962C8B-B14F-4D97-AF65-F5344CB8AC3E}">
        <p14:creationId xmlns:p14="http://schemas.microsoft.com/office/powerpoint/2010/main" val="38783445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1EEAC-CFEF-9647-876F-EABC6B8338D7}" type="slidenum">
              <a:rPr lang="en-US" smtClean="0"/>
              <a:t>16</a:t>
            </a:fld>
            <a:endParaRPr lang="en-US" dirty="0"/>
          </a:p>
        </p:txBody>
      </p:sp>
    </p:spTree>
    <p:extLst>
      <p:ext uri="{BB962C8B-B14F-4D97-AF65-F5344CB8AC3E}">
        <p14:creationId xmlns:p14="http://schemas.microsoft.com/office/powerpoint/2010/main" val="23900348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1EEAC-CFEF-9647-876F-EABC6B8338D7}" type="slidenum">
              <a:rPr lang="en-US" smtClean="0"/>
              <a:t>17</a:t>
            </a:fld>
            <a:endParaRPr lang="en-US" dirty="0"/>
          </a:p>
        </p:txBody>
      </p:sp>
    </p:spTree>
    <p:extLst>
      <p:ext uri="{BB962C8B-B14F-4D97-AF65-F5344CB8AC3E}">
        <p14:creationId xmlns:p14="http://schemas.microsoft.com/office/powerpoint/2010/main" val="26603823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1EEAC-CFEF-9647-876F-EABC6B8338D7}" type="slidenum">
              <a:rPr lang="en-US" smtClean="0"/>
              <a:t>18</a:t>
            </a:fld>
            <a:endParaRPr lang="en-US" dirty="0"/>
          </a:p>
        </p:txBody>
      </p:sp>
    </p:spTree>
    <p:extLst>
      <p:ext uri="{BB962C8B-B14F-4D97-AF65-F5344CB8AC3E}">
        <p14:creationId xmlns:p14="http://schemas.microsoft.com/office/powerpoint/2010/main" val="11444246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1EEAC-CFEF-9647-876F-EABC6B8338D7}" type="slidenum">
              <a:rPr lang="en-US" smtClean="0"/>
              <a:t>19</a:t>
            </a:fld>
            <a:endParaRPr lang="en-US" dirty="0"/>
          </a:p>
        </p:txBody>
      </p:sp>
    </p:spTree>
    <p:extLst>
      <p:ext uri="{BB962C8B-B14F-4D97-AF65-F5344CB8AC3E}">
        <p14:creationId xmlns:p14="http://schemas.microsoft.com/office/powerpoint/2010/main" val="40715610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1EEAC-CFEF-9647-876F-EABC6B8338D7}" type="slidenum">
              <a:rPr lang="en-US" smtClean="0"/>
              <a:t>20</a:t>
            </a:fld>
            <a:endParaRPr lang="en-US" dirty="0"/>
          </a:p>
        </p:txBody>
      </p:sp>
    </p:spTree>
    <p:extLst>
      <p:ext uri="{BB962C8B-B14F-4D97-AF65-F5344CB8AC3E}">
        <p14:creationId xmlns:p14="http://schemas.microsoft.com/office/powerpoint/2010/main" val="16218686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1EEAC-CFEF-9647-876F-EABC6B8338D7}" type="slidenum">
              <a:rPr lang="en-US" smtClean="0"/>
              <a:t>21</a:t>
            </a:fld>
            <a:endParaRPr lang="en-US" dirty="0"/>
          </a:p>
        </p:txBody>
      </p:sp>
    </p:spTree>
    <p:extLst>
      <p:ext uri="{BB962C8B-B14F-4D97-AF65-F5344CB8AC3E}">
        <p14:creationId xmlns:p14="http://schemas.microsoft.com/office/powerpoint/2010/main" val="37856249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1EEAC-CFEF-9647-876F-EABC6B8338D7}" type="slidenum">
              <a:rPr lang="en-US" smtClean="0"/>
              <a:t>22</a:t>
            </a:fld>
            <a:endParaRPr lang="en-US" dirty="0"/>
          </a:p>
        </p:txBody>
      </p:sp>
    </p:spTree>
    <p:extLst>
      <p:ext uri="{BB962C8B-B14F-4D97-AF65-F5344CB8AC3E}">
        <p14:creationId xmlns:p14="http://schemas.microsoft.com/office/powerpoint/2010/main" val="41140606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1EEAC-CFEF-9647-876F-EABC6B8338D7}" type="slidenum">
              <a:rPr lang="en-US" smtClean="0"/>
              <a:t>23</a:t>
            </a:fld>
            <a:endParaRPr lang="en-US" dirty="0"/>
          </a:p>
        </p:txBody>
      </p:sp>
    </p:spTree>
    <p:extLst>
      <p:ext uri="{BB962C8B-B14F-4D97-AF65-F5344CB8AC3E}">
        <p14:creationId xmlns:p14="http://schemas.microsoft.com/office/powerpoint/2010/main" val="25832320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1EEAC-CFEF-9647-876F-EABC6B8338D7}" type="slidenum">
              <a:rPr lang="en-US" smtClean="0"/>
              <a:t>24</a:t>
            </a:fld>
            <a:endParaRPr lang="en-US" dirty="0"/>
          </a:p>
        </p:txBody>
      </p:sp>
    </p:spTree>
    <p:extLst>
      <p:ext uri="{BB962C8B-B14F-4D97-AF65-F5344CB8AC3E}">
        <p14:creationId xmlns:p14="http://schemas.microsoft.com/office/powerpoint/2010/main" val="31978126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1EEAC-CFEF-9647-876F-EABC6B8338D7}" type="slidenum">
              <a:rPr lang="en-US" smtClean="0"/>
              <a:t>25</a:t>
            </a:fld>
            <a:endParaRPr lang="en-US" dirty="0"/>
          </a:p>
        </p:txBody>
      </p:sp>
    </p:spTree>
    <p:extLst>
      <p:ext uri="{BB962C8B-B14F-4D97-AF65-F5344CB8AC3E}">
        <p14:creationId xmlns:p14="http://schemas.microsoft.com/office/powerpoint/2010/main" val="7905980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1EEAC-CFEF-9647-876F-EABC6B8338D7}" type="slidenum">
              <a:rPr lang="en-US" smtClean="0"/>
              <a:t>26</a:t>
            </a:fld>
            <a:endParaRPr lang="en-US" dirty="0"/>
          </a:p>
        </p:txBody>
      </p:sp>
    </p:spTree>
    <p:extLst>
      <p:ext uri="{BB962C8B-B14F-4D97-AF65-F5344CB8AC3E}">
        <p14:creationId xmlns:p14="http://schemas.microsoft.com/office/powerpoint/2010/main" val="27320945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1EEAC-CFEF-9647-876F-EABC6B8338D7}" type="slidenum">
              <a:rPr lang="en-US" smtClean="0"/>
              <a:t>27</a:t>
            </a:fld>
            <a:endParaRPr lang="en-US" dirty="0"/>
          </a:p>
        </p:txBody>
      </p:sp>
    </p:spTree>
    <p:extLst>
      <p:ext uri="{BB962C8B-B14F-4D97-AF65-F5344CB8AC3E}">
        <p14:creationId xmlns:p14="http://schemas.microsoft.com/office/powerpoint/2010/main" val="12152967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1EEAC-CFEF-9647-876F-EABC6B8338D7}" type="slidenum">
              <a:rPr lang="en-US" smtClean="0"/>
              <a:t>28</a:t>
            </a:fld>
            <a:endParaRPr lang="en-US" dirty="0"/>
          </a:p>
        </p:txBody>
      </p:sp>
    </p:spTree>
    <p:extLst>
      <p:ext uri="{BB962C8B-B14F-4D97-AF65-F5344CB8AC3E}">
        <p14:creationId xmlns:p14="http://schemas.microsoft.com/office/powerpoint/2010/main" val="6472436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1EEAC-CFEF-9647-876F-EABC6B8338D7}" type="slidenum">
              <a:rPr lang="en-US" smtClean="0"/>
              <a:t>29</a:t>
            </a:fld>
            <a:endParaRPr lang="en-US" dirty="0"/>
          </a:p>
        </p:txBody>
      </p:sp>
    </p:spTree>
    <p:extLst>
      <p:ext uri="{BB962C8B-B14F-4D97-AF65-F5344CB8AC3E}">
        <p14:creationId xmlns:p14="http://schemas.microsoft.com/office/powerpoint/2010/main" val="395070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1EEAC-CFEF-9647-876F-EABC6B8338D7}" type="slidenum">
              <a:rPr lang="en-US" smtClean="0"/>
              <a:t>30</a:t>
            </a:fld>
            <a:endParaRPr lang="en-US" dirty="0"/>
          </a:p>
        </p:txBody>
      </p:sp>
    </p:spTree>
    <p:extLst>
      <p:ext uri="{BB962C8B-B14F-4D97-AF65-F5344CB8AC3E}">
        <p14:creationId xmlns:p14="http://schemas.microsoft.com/office/powerpoint/2010/main" val="32163622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1EEAC-CFEF-9647-876F-EABC6B8338D7}" type="slidenum">
              <a:rPr lang="en-US" smtClean="0"/>
              <a:t>35</a:t>
            </a:fld>
            <a:endParaRPr lang="en-US" dirty="0"/>
          </a:p>
        </p:txBody>
      </p:sp>
    </p:spTree>
    <p:extLst>
      <p:ext uri="{BB962C8B-B14F-4D97-AF65-F5344CB8AC3E}">
        <p14:creationId xmlns:p14="http://schemas.microsoft.com/office/powerpoint/2010/main" val="31570138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j-lt"/>
              </a:defRPr>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Slide Number Placeholder 5"/>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10" name="Slide Number Placeholder 5"/>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8" name="Slide Number Placeholder 5"/>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38200" y="6356350"/>
            <a:ext cx="2743200" cy="365125"/>
          </a:xfrm>
        </p:spPr>
        <p:txBody>
          <a:bodyPr/>
          <a:lstStyle/>
          <a:p>
            <a:fld id="{FDE934FF-F4E1-47C5-9CA5-30A81DDE2BE4}" type="datetimeFigureOut">
              <a:rPr lang="en-US" smtClean="0"/>
              <a:t>2/18/2024</a:t>
            </a:fld>
            <a:endParaRPr lang="en-US"/>
          </a:p>
        </p:txBody>
      </p:sp>
      <p:sp>
        <p:nvSpPr>
          <p:cNvPr id="5" name="Footer Placeholder 4"/>
          <p:cNvSpPr>
            <a:spLocks noGrp="1"/>
          </p:cNvSpPr>
          <p:nvPr>
            <p:ph type="ftr" sz="quarter" idx="11"/>
          </p:nvPr>
        </p:nvSpPr>
        <p:spPr>
          <a:xfrm>
            <a:off x="4038600" y="6356350"/>
            <a:ext cx="4114800" cy="365125"/>
          </a:xfrm>
        </p:spPr>
        <p:txBody>
          <a:bodyPr/>
          <a:lstStyle/>
          <a:p>
            <a:endParaRPr lang="en-US"/>
          </a:p>
        </p:txBody>
      </p:sp>
      <p:sp>
        <p:nvSpPr>
          <p:cNvPr id="6" name="Slide Number Placeholder 5"/>
          <p:cNvSpPr>
            <a:spLocks noGrp="1"/>
          </p:cNvSpPr>
          <p:nvPr>
            <p:ph type="sldNum" sz="quarter" idx="12"/>
          </p:nvPr>
        </p:nvSpPr>
        <p:spPr/>
        <p:txBody>
          <a:bodyPr/>
          <a:lstStyle/>
          <a:p>
            <a:r>
              <a:rPr lang="en-US" dirty="0"/>
              <a:t>Introduction: 1-</a:t>
            </a:r>
            <a:fld id="{C4204591-24BD-A542-B9D5-F8D8A88D2FEE}"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451821"/>
            <a:ext cx="10515600" cy="89462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lvl1pPr algn="l" defTabSz="914400" rtl="0" eaLnBrk="1" latinLnBrk="0" hangingPunct="1">
        <a:lnSpc>
          <a:spcPct val="90000"/>
        </a:lnSpc>
        <a:spcBef>
          <a:spcPct val="0"/>
        </a:spcBef>
        <a:buNone/>
        <a:defRPr sz="4000" b="1" kern="1200">
          <a:solidFill>
            <a:srgbClr val="0000A3"/>
          </a:solidFill>
          <a:latin typeface="+mn-lt"/>
          <a:ea typeface="+mj-ea"/>
          <a:cs typeface="+mj-cs"/>
        </a:defRPr>
      </a:lvl1pPr>
    </p:titleStyle>
    <p:bodyStyle>
      <a:lvl1pPr marL="352425" indent="-222250" algn="l" defTabSz="914400" rtl="0" eaLnBrk="1" latinLnBrk="0" hangingPunct="1">
        <a:lnSpc>
          <a:spcPct val="90000"/>
        </a:lnSpc>
        <a:spcBef>
          <a:spcPts val="1000"/>
        </a:spcBef>
        <a:buClr>
          <a:srgbClr val="0000A3"/>
        </a:buClr>
        <a:buFont typeface="Wingdings" panose="05000000000000000000" pitchFamily="2" charset="2"/>
        <a:buChar char="§"/>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800" dirty="0" smtClean="0"/>
              <a:t>CS 3006</a:t>
            </a:r>
            <a:br>
              <a:rPr lang="en-US" sz="4800" dirty="0" smtClean="0"/>
            </a:br>
            <a:r>
              <a:rPr lang="en-US" sz="4800" dirty="0" smtClean="0"/>
              <a:t>Parallel and Distributed Computing</a:t>
            </a:r>
            <a:r>
              <a:rPr lang="en-US" sz="4800" dirty="0"/>
              <a:t/>
            </a:r>
            <a:br>
              <a:rPr lang="en-US" sz="4800" dirty="0"/>
            </a:br>
            <a:r>
              <a:rPr lang="en-US" sz="4800" dirty="0"/>
              <a:t>Lecture 6</a:t>
            </a:r>
          </a:p>
        </p:txBody>
      </p:sp>
      <p:sp>
        <p:nvSpPr>
          <p:cNvPr id="3" name="Subtitle 2"/>
          <p:cNvSpPr>
            <a:spLocks noGrp="1"/>
          </p:cNvSpPr>
          <p:nvPr>
            <p:ph type="subTitle" idx="1"/>
          </p:nvPr>
        </p:nvSpPr>
        <p:spPr/>
        <p:txBody>
          <a:bodyPr>
            <a:noAutofit/>
          </a:bodyPr>
          <a:lstStyle/>
          <a:p>
            <a:r>
              <a:rPr lang="en-US" sz="3200" b="1" dirty="0" smtClean="0"/>
              <a:t>Danyal </a:t>
            </a:r>
            <a:r>
              <a:rPr lang="en-US" sz="3200" b="1" dirty="0" err="1"/>
              <a:t>Farhat</a:t>
            </a:r>
            <a:endParaRPr lang="en-US" sz="3200" b="1" dirty="0"/>
          </a:p>
          <a:p>
            <a:r>
              <a:rPr lang="en-US" sz="3200" b="1" dirty="0"/>
              <a:t>FAST School of Computing</a:t>
            </a:r>
          </a:p>
          <a:p>
            <a:r>
              <a:rPr lang="en-US" sz="3200" b="1" dirty="0" smtClean="0"/>
              <a:t>NUCES </a:t>
            </a:r>
            <a:r>
              <a:rPr lang="en-US" sz="3200" b="1" dirty="0"/>
              <a:t>Lahore</a:t>
            </a:r>
          </a:p>
          <a:p>
            <a:endParaRPr lang="en-US" sz="3200" b="1" dirty="0"/>
          </a:p>
          <a:p>
            <a:endParaRPr lang="en-US" sz="3200" b="1" dirty="0"/>
          </a:p>
        </p:txBody>
      </p:sp>
    </p:spTree>
    <p:extLst>
      <p:ext uri="{BB962C8B-B14F-4D97-AF65-F5344CB8AC3E}">
        <p14:creationId xmlns:p14="http://schemas.microsoft.com/office/powerpoint/2010/main" val="2781404004"/>
      </p:ext>
    </p:extLst>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64343" y="2524237"/>
            <a:ext cx="9144000" cy="665163"/>
          </a:xfrm>
        </p:spPr>
        <p:txBody>
          <a:bodyPr>
            <a:noAutofit/>
          </a:bodyPr>
          <a:lstStyle/>
          <a:p>
            <a:pPr lvl="0"/>
            <a:r>
              <a:rPr lang="en-US" sz="4400" dirty="0"/>
              <a:t>Decomposition and Mapping Techniques</a:t>
            </a:r>
          </a:p>
        </p:txBody>
      </p:sp>
    </p:spTree>
    <p:extLst>
      <p:ext uri="{BB962C8B-B14F-4D97-AF65-F5344CB8AC3E}">
        <p14:creationId xmlns:p14="http://schemas.microsoft.com/office/powerpoint/2010/main" val="451099156"/>
      </p:ext>
    </p:extLst>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38200" y="1724027"/>
            <a:ext cx="10515600" cy="4546144"/>
          </a:xfrm>
        </p:spPr>
        <p:txBody>
          <a:bodyPr>
            <a:noAutofit/>
          </a:bodyPr>
          <a:lstStyle/>
          <a:p>
            <a:pPr>
              <a:buFont typeface="Arial" panose="020B0604020202020204" pitchFamily="34" charset="0"/>
              <a:buChar char="•"/>
            </a:pPr>
            <a:r>
              <a:rPr lang="en-US" b="1" dirty="0" smtClean="0"/>
              <a:t>Decomposition Techniques</a:t>
            </a:r>
            <a:endParaRPr lang="en-US" b="1" dirty="0"/>
          </a:p>
          <a:p>
            <a:pPr>
              <a:buFont typeface="Arial" panose="020B0604020202020204" pitchFamily="34" charset="0"/>
              <a:buChar char="•"/>
            </a:pPr>
            <a:r>
              <a:rPr lang="en-US" b="1" dirty="0"/>
              <a:t>Recursive </a:t>
            </a:r>
            <a:r>
              <a:rPr lang="en-US" b="1" dirty="0" smtClean="0"/>
              <a:t>Decomposition</a:t>
            </a:r>
            <a:endParaRPr lang="en-US" b="1" dirty="0"/>
          </a:p>
          <a:p>
            <a:pPr>
              <a:buFont typeface="Arial" panose="020B0604020202020204" pitchFamily="34" charset="0"/>
              <a:buChar char="•"/>
            </a:pPr>
            <a:r>
              <a:rPr lang="en-US" b="1" dirty="0"/>
              <a:t>Finding the Minimum </a:t>
            </a:r>
            <a:r>
              <a:rPr lang="en-US" b="1" dirty="0" smtClean="0"/>
              <a:t>Number</a:t>
            </a:r>
            <a:endParaRPr lang="en-US" b="1" dirty="0"/>
          </a:p>
          <a:p>
            <a:pPr>
              <a:buFont typeface="Arial" panose="020B0604020202020204" pitchFamily="34" charset="0"/>
              <a:buChar char="•"/>
            </a:pPr>
            <a:r>
              <a:rPr lang="en-US" b="1" dirty="0"/>
              <a:t>Recursive Decomposition Example: Quick </a:t>
            </a:r>
            <a:r>
              <a:rPr lang="en-US" b="1" dirty="0" smtClean="0"/>
              <a:t>Sort</a:t>
            </a:r>
            <a:endParaRPr lang="en-US" b="1" dirty="0"/>
          </a:p>
          <a:p>
            <a:pPr>
              <a:buFont typeface="Arial" panose="020B0604020202020204" pitchFamily="34" charset="0"/>
              <a:buChar char="•"/>
            </a:pPr>
            <a:r>
              <a:rPr lang="en-US" b="1" dirty="0"/>
              <a:t>Data </a:t>
            </a:r>
            <a:r>
              <a:rPr lang="en-US" b="1" dirty="0" smtClean="0"/>
              <a:t>Decomposition</a:t>
            </a:r>
            <a:endParaRPr lang="en-US" b="1" dirty="0"/>
          </a:p>
          <a:p>
            <a:pPr>
              <a:buFont typeface="Arial" panose="020B0604020202020204" pitchFamily="34" charset="0"/>
              <a:buChar char="•"/>
            </a:pPr>
            <a:r>
              <a:rPr lang="en-US" b="1" dirty="0"/>
              <a:t>Exploratory </a:t>
            </a:r>
            <a:r>
              <a:rPr lang="en-US" b="1" dirty="0" smtClean="0"/>
              <a:t>Decomposition</a:t>
            </a:r>
            <a:endParaRPr lang="en-US" b="1" dirty="0"/>
          </a:p>
          <a:p>
            <a:pPr>
              <a:buFont typeface="Arial" panose="020B0604020202020204" pitchFamily="34" charset="0"/>
              <a:buChar char="•"/>
            </a:pPr>
            <a:r>
              <a:rPr lang="en-US" b="1" dirty="0"/>
              <a:t>Speculative Decomposition </a:t>
            </a:r>
          </a:p>
          <a:p>
            <a:pPr>
              <a:buFont typeface="Arial" panose="020B0604020202020204" pitchFamily="34" charset="0"/>
              <a:buChar char="•"/>
            </a:pPr>
            <a:r>
              <a:rPr lang="en-US" b="1" dirty="0"/>
              <a:t>Hybrid </a:t>
            </a:r>
            <a:r>
              <a:rPr lang="en-US" b="1" dirty="0" smtClean="0"/>
              <a:t>Decomposition</a:t>
            </a:r>
            <a:endParaRPr lang="en-US" b="1" dirty="0"/>
          </a:p>
        </p:txBody>
      </p:sp>
      <p:sp>
        <p:nvSpPr>
          <p:cNvPr id="3" name="Title 2"/>
          <p:cNvSpPr>
            <a:spLocks noGrp="1"/>
          </p:cNvSpPr>
          <p:nvPr>
            <p:ph type="title"/>
          </p:nvPr>
        </p:nvSpPr>
        <p:spPr/>
        <p:txBody>
          <a:bodyPr/>
          <a:lstStyle/>
          <a:p>
            <a:r>
              <a:rPr lang="en-US" dirty="0" smtClean="0"/>
              <a:t>Outline</a:t>
            </a:r>
            <a:endParaRPr lang="en-US" dirty="0"/>
          </a:p>
        </p:txBody>
      </p:sp>
    </p:spTree>
    <p:extLst>
      <p:ext uri="{BB962C8B-B14F-4D97-AF65-F5344CB8AC3E}">
        <p14:creationId xmlns:p14="http://schemas.microsoft.com/office/powerpoint/2010/main" val="23858535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38200" y="1724027"/>
            <a:ext cx="10515600" cy="4546144"/>
          </a:xfrm>
        </p:spPr>
        <p:txBody>
          <a:bodyPr>
            <a:noAutofit/>
          </a:bodyPr>
          <a:lstStyle/>
          <a:p>
            <a:pPr>
              <a:buFont typeface="Arial" panose="020B0604020202020204" pitchFamily="34" charset="0"/>
              <a:buChar char="•"/>
            </a:pPr>
            <a:r>
              <a:rPr lang="en-US" b="1" dirty="0" smtClean="0"/>
              <a:t>Mapping Schemes</a:t>
            </a:r>
          </a:p>
          <a:p>
            <a:pPr lvl="1">
              <a:buFont typeface="Wingdings" panose="05000000000000000000" pitchFamily="2" charset="2"/>
              <a:buChar char="Ø"/>
            </a:pPr>
            <a:r>
              <a:rPr lang="en-US" b="1" dirty="0" smtClean="0"/>
              <a:t>Static Mapping</a:t>
            </a:r>
          </a:p>
          <a:p>
            <a:pPr lvl="1">
              <a:buFont typeface="Wingdings" panose="05000000000000000000" pitchFamily="2" charset="2"/>
              <a:buChar char="Ø"/>
            </a:pPr>
            <a:r>
              <a:rPr lang="en-US" b="1" dirty="0" smtClean="0"/>
              <a:t>Dynamic Mapping</a:t>
            </a:r>
            <a:endParaRPr lang="en-US" b="1" dirty="0"/>
          </a:p>
          <a:p>
            <a:pPr>
              <a:buFont typeface="Arial" panose="020B0604020202020204" pitchFamily="34" charset="0"/>
              <a:buChar char="•"/>
            </a:pPr>
            <a:r>
              <a:rPr lang="en-US" b="1" dirty="0"/>
              <a:t>Schemes for Static </a:t>
            </a:r>
            <a:r>
              <a:rPr lang="en-US" b="1" dirty="0" smtClean="0"/>
              <a:t>Mapping</a:t>
            </a:r>
          </a:p>
          <a:p>
            <a:pPr lvl="1">
              <a:buFont typeface="Wingdings" panose="05000000000000000000" pitchFamily="2" charset="2"/>
              <a:buChar char="Ø"/>
            </a:pPr>
            <a:r>
              <a:rPr lang="en-US" b="1" dirty="0" smtClean="0"/>
              <a:t>Block </a:t>
            </a:r>
            <a:r>
              <a:rPr lang="en-US" b="1" dirty="0"/>
              <a:t>distribution (</a:t>
            </a:r>
            <a:r>
              <a:rPr lang="en-US" b="1" dirty="0" smtClean="0"/>
              <a:t>1D)</a:t>
            </a:r>
          </a:p>
          <a:p>
            <a:pPr lvl="1">
              <a:buFont typeface="Wingdings" panose="05000000000000000000" pitchFamily="2" charset="2"/>
              <a:buChar char="Ø"/>
            </a:pPr>
            <a:r>
              <a:rPr lang="en-US" b="1" dirty="0" smtClean="0"/>
              <a:t>Block </a:t>
            </a:r>
            <a:r>
              <a:rPr lang="en-US" b="1" dirty="0"/>
              <a:t>distribution (</a:t>
            </a:r>
            <a:r>
              <a:rPr lang="en-US" b="1" dirty="0" smtClean="0"/>
              <a:t>2D)</a:t>
            </a:r>
          </a:p>
          <a:p>
            <a:pPr lvl="1">
              <a:buFont typeface="Wingdings" panose="05000000000000000000" pitchFamily="2" charset="2"/>
              <a:buChar char="Ø"/>
            </a:pPr>
            <a:r>
              <a:rPr lang="en-US" b="1" dirty="0" smtClean="0"/>
              <a:t>Cyclic </a:t>
            </a:r>
            <a:r>
              <a:rPr lang="en-US" b="1" dirty="0"/>
              <a:t>distribution </a:t>
            </a:r>
            <a:endParaRPr lang="en-US" b="1" dirty="0" smtClean="0"/>
          </a:p>
          <a:p>
            <a:pPr lvl="1">
              <a:buFont typeface="Wingdings" panose="05000000000000000000" pitchFamily="2" charset="2"/>
              <a:buChar char="Ø"/>
            </a:pPr>
            <a:r>
              <a:rPr lang="en-US" b="1" dirty="0" smtClean="0"/>
              <a:t>Block-Cyclic distribution</a:t>
            </a:r>
          </a:p>
          <a:p>
            <a:pPr lvl="1">
              <a:buFont typeface="Wingdings" panose="05000000000000000000" pitchFamily="2" charset="2"/>
              <a:buChar char="Ø"/>
            </a:pPr>
            <a:r>
              <a:rPr lang="en-US" b="1" dirty="0" smtClean="0"/>
              <a:t>Randomized-Block </a:t>
            </a:r>
            <a:r>
              <a:rPr lang="en-US" b="1" dirty="0"/>
              <a:t>distribution (solution: </a:t>
            </a:r>
            <a:r>
              <a:rPr lang="en-US" b="1" dirty="0" smtClean="0"/>
              <a:t>1D)</a:t>
            </a:r>
          </a:p>
          <a:p>
            <a:pPr lvl="1">
              <a:buFont typeface="Wingdings" panose="05000000000000000000" pitchFamily="2" charset="2"/>
              <a:buChar char="Ø"/>
            </a:pPr>
            <a:r>
              <a:rPr lang="en-US" b="1" dirty="0" smtClean="0"/>
              <a:t>Randomized-Block </a:t>
            </a:r>
            <a:r>
              <a:rPr lang="en-US" b="1" dirty="0"/>
              <a:t>distribution (solution: 2D</a:t>
            </a:r>
            <a:r>
              <a:rPr lang="en-US" b="1" dirty="0" smtClean="0"/>
              <a:t>)</a:t>
            </a:r>
            <a:endParaRPr lang="en-US" b="1" dirty="0"/>
          </a:p>
        </p:txBody>
      </p:sp>
      <p:sp>
        <p:nvSpPr>
          <p:cNvPr id="3" name="Title 2"/>
          <p:cNvSpPr>
            <a:spLocks noGrp="1"/>
          </p:cNvSpPr>
          <p:nvPr>
            <p:ph type="title"/>
          </p:nvPr>
        </p:nvSpPr>
        <p:spPr/>
        <p:txBody>
          <a:bodyPr/>
          <a:lstStyle/>
          <a:p>
            <a:r>
              <a:rPr lang="en-US" dirty="0" smtClean="0"/>
              <a:t>Outline (Cont.)</a:t>
            </a:r>
            <a:endParaRPr lang="en-US" dirty="0"/>
          </a:p>
        </p:txBody>
      </p:sp>
    </p:spTree>
    <p:extLst>
      <p:ext uri="{BB962C8B-B14F-4D97-AF65-F5344CB8AC3E}">
        <p14:creationId xmlns:p14="http://schemas.microsoft.com/office/powerpoint/2010/main" val="14373724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38200" y="1724027"/>
            <a:ext cx="10515600" cy="4546144"/>
          </a:xfrm>
        </p:spPr>
        <p:txBody>
          <a:bodyPr>
            <a:noAutofit/>
          </a:bodyPr>
          <a:lstStyle/>
          <a:p>
            <a:pPr>
              <a:buFont typeface="Arial" panose="020B0604020202020204" pitchFamily="34" charset="0"/>
              <a:buChar char="•"/>
            </a:pPr>
            <a:r>
              <a:rPr lang="en-US" b="1" dirty="0" smtClean="0"/>
              <a:t>Random </a:t>
            </a:r>
            <a:r>
              <a:rPr lang="en-US" b="1" dirty="0"/>
              <a:t>D</a:t>
            </a:r>
            <a:r>
              <a:rPr lang="en-US" b="1" dirty="0" smtClean="0"/>
              <a:t>istribution</a:t>
            </a:r>
            <a:endParaRPr lang="en-US" b="1" dirty="0"/>
          </a:p>
          <a:p>
            <a:pPr>
              <a:buFont typeface="Arial" panose="020B0604020202020204" pitchFamily="34" charset="0"/>
              <a:buChar char="•"/>
            </a:pPr>
            <a:endParaRPr lang="en-US" b="1" dirty="0"/>
          </a:p>
          <a:p>
            <a:pPr>
              <a:buFont typeface="Arial" panose="020B0604020202020204" pitchFamily="34" charset="0"/>
              <a:buChar char="•"/>
            </a:pPr>
            <a:r>
              <a:rPr lang="en-US" b="1" dirty="0"/>
              <a:t>Graph Partitioning</a:t>
            </a:r>
          </a:p>
          <a:p>
            <a:pPr>
              <a:buFont typeface="Arial" panose="020B0604020202020204" pitchFamily="34" charset="0"/>
              <a:buChar char="•"/>
            </a:pPr>
            <a:endParaRPr lang="en-US" b="1" dirty="0"/>
          </a:p>
          <a:p>
            <a:pPr>
              <a:buFont typeface="Arial" panose="020B0604020202020204" pitchFamily="34" charset="0"/>
              <a:buChar char="•"/>
            </a:pPr>
            <a:r>
              <a:rPr lang="en-US" b="1" dirty="0"/>
              <a:t>Summary</a:t>
            </a:r>
          </a:p>
          <a:p>
            <a:pPr>
              <a:buFont typeface="Arial" panose="020B0604020202020204" pitchFamily="34" charset="0"/>
              <a:buChar char="•"/>
            </a:pPr>
            <a:endParaRPr lang="en-US" b="1" dirty="0"/>
          </a:p>
          <a:p>
            <a:pPr>
              <a:buFont typeface="Arial" panose="020B0604020202020204" pitchFamily="34" charset="0"/>
              <a:buChar char="•"/>
            </a:pPr>
            <a:r>
              <a:rPr lang="en-US" b="1" dirty="0"/>
              <a:t>Additional Resources</a:t>
            </a:r>
          </a:p>
          <a:p>
            <a:pPr>
              <a:buFont typeface="Arial" panose="020B0604020202020204" pitchFamily="34" charset="0"/>
              <a:buChar char="•"/>
            </a:pPr>
            <a:endParaRPr lang="en-US" b="1" dirty="0"/>
          </a:p>
        </p:txBody>
      </p:sp>
      <p:sp>
        <p:nvSpPr>
          <p:cNvPr id="3" name="Title 2"/>
          <p:cNvSpPr>
            <a:spLocks noGrp="1"/>
          </p:cNvSpPr>
          <p:nvPr>
            <p:ph type="title"/>
          </p:nvPr>
        </p:nvSpPr>
        <p:spPr/>
        <p:txBody>
          <a:bodyPr/>
          <a:lstStyle/>
          <a:p>
            <a:r>
              <a:rPr lang="en-US" dirty="0" smtClean="0"/>
              <a:t>Outline (Cont.)</a:t>
            </a:r>
            <a:endParaRPr lang="en-US" dirty="0"/>
          </a:p>
        </p:txBody>
      </p:sp>
    </p:spTree>
    <p:extLst>
      <p:ext uri="{BB962C8B-B14F-4D97-AF65-F5344CB8AC3E}">
        <p14:creationId xmlns:p14="http://schemas.microsoft.com/office/powerpoint/2010/main" val="390329247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402090"/>
            <a:ext cx="10515600" cy="5040999"/>
          </a:xfrm>
        </p:spPr>
        <p:txBody>
          <a:bodyPr>
            <a:noAutofit/>
          </a:bodyPr>
          <a:lstStyle/>
          <a:p>
            <a:pPr marL="130175" indent="0" algn="just">
              <a:buNone/>
            </a:pPr>
            <a:r>
              <a:rPr lang="en-US" b="1" dirty="0">
                <a:solidFill>
                  <a:srgbClr val="C00000"/>
                </a:solidFill>
              </a:rPr>
              <a:t>How to decompose a task into various subtasks? </a:t>
            </a:r>
          </a:p>
          <a:p>
            <a:pPr algn="just">
              <a:buFont typeface="Arial" panose="020B0604020202020204" pitchFamily="34" charset="0"/>
              <a:buChar char="•"/>
            </a:pPr>
            <a:r>
              <a:rPr lang="en-US" b="1" dirty="0"/>
              <a:t>While there is </a:t>
            </a:r>
            <a:r>
              <a:rPr lang="en-US" b="1" dirty="0" smtClean="0">
                <a:solidFill>
                  <a:srgbClr val="0000A8"/>
                </a:solidFill>
              </a:rPr>
              <a:t>no single recipe </a:t>
            </a:r>
            <a:r>
              <a:rPr lang="en-US" b="1" dirty="0" smtClean="0"/>
              <a:t>that </a:t>
            </a:r>
            <a:r>
              <a:rPr lang="en-US" b="1" dirty="0"/>
              <a:t>works for all problems, we present a set of commonly used techniques that apply to broad classes of problems. These include: </a:t>
            </a:r>
          </a:p>
          <a:p>
            <a:pPr lvl="1" algn="just">
              <a:buFont typeface="Wingdings" panose="05000000000000000000" pitchFamily="2" charset="2"/>
              <a:buChar char="Ø"/>
            </a:pPr>
            <a:r>
              <a:rPr lang="en-US" b="1" dirty="0"/>
              <a:t>recursive decomposition </a:t>
            </a:r>
          </a:p>
          <a:p>
            <a:pPr lvl="1" algn="just">
              <a:buFont typeface="Wingdings" panose="05000000000000000000" pitchFamily="2" charset="2"/>
              <a:buChar char="Ø"/>
            </a:pPr>
            <a:r>
              <a:rPr lang="en-US" b="1" dirty="0"/>
              <a:t>data decomposition </a:t>
            </a:r>
          </a:p>
          <a:p>
            <a:pPr lvl="1" algn="just">
              <a:buFont typeface="Wingdings" panose="05000000000000000000" pitchFamily="2" charset="2"/>
              <a:buChar char="Ø"/>
            </a:pPr>
            <a:r>
              <a:rPr lang="en-US" b="1" dirty="0"/>
              <a:t>exploratory decomposition </a:t>
            </a:r>
          </a:p>
          <a:p>
            <a:pPr lvl="1" algn="just">
              <a:buFont typeface="Wingdings" panose="05000000000000000000" pitchFamily="2" charset="2"/>
              <a:buChar char="Ø"/>
            </a:pPr>
            <a:r>
              <a:rPr lang="en-US" b="1" dirty="0"/>
              <a:t>speculative decomposition </a:t>
            </a:r>
          </a:p>
          <a:p>
            <a:pPr algn="just">
              <a:buFont typeface="Arial" panose="020B0604020202020204" pitchFamily="34" charset="0"/>
              <a:buChar char="•"/>
            </a:pPr>
            <a:r>
              <a:rPr lang="en-US" b="1" dirty="0"/>
              <a:t>General purpose vs. Special purpose</a:t>
            </a:r>
          </a:p>
          <a:p>
            <a:pPr lvl="1" algn="just">
              <a:buFont typeface="Wingdings" panose="05000000000000000000" pitchFamily="2" charset="2"/>
              <a:buChar char="Ø"/>
            </a:pPr>
            <a:r>
              <a:rPr lang="en-US" b="1" dirty="0"/>
              <a:t>The recursive and data decomposition techniques are relatively </a:t>
            </a:r>
            <a:r>
              <a:rPr lang="en-US" b="1" dirty="0">
                <a:solidFill>
                  <a:srgbClr val="0000A8"/>
                </a:solidFill>
              </a:rPr>
              <a:t>general purpose </a:t>
            </a:r>
            <a:r>
              <a:rPr lang="en-US" b="1" dirty="0"/>
              <a:t>as they can be used to decompose a wide variety of problems.</a:t>
            </a:r>
          </a:p>
          <a:p>
            <a:pPr lvl="1" algn="just">
              <a:buFont typeface="Wingdings" panose="05000000000000000000" pitchFamily="2" charset="2"/>
              <a:buChar char="Ø"/>
            </a:pPr>
            <a:r>
              <a:rPr lang="en-US" b="1" dirty="0"/>
              <a:t>The speculative and exploratory techniques are more of a </a:t>
            </a:r>
            <a:r>
              <a:rPr lang="en-US" b="1" dirty="0">
                <a:solidFill>
                  <a:srgbClr val="0000A8"/>
                </a:solidFill>
              </a:rPr>
              <a:t>special purpose </a:t>
            </a:r>
            <a:r>
              <a:rPr lang="en-US" b="1" dirty="0"/>
              <a:t>nature because they apply to specific classes of problems.</a:t>
            </a:r>
          </a:p>
          <a:p>
            <a:pPr algn="just">
              <a:buFont typeface="Arial" panose="020B0604020202020204" pitchFamily="34" charset="0"/>
              <a:buChar char="•"/>
            </a:pPr>
            <a:endParaRPr lang="en-US" b="1" dirty="0"/>
          </a:p>
        </p:txBody>
      </p:sp>
      <p:sp>
        <p:nvSpPr>
          <p:cNvPr id="6" name="Title 5"/>
          <p:cNvSpPr>
            <a:spLocks noGrp="1"/>
          </p:cNvSpPr>
          <p:nvPr>
            <p:ph type="title"/>
          </p:nvPr>
        </p:nvSpPr>
        <p:spPr/>
        <p:txBody>
          <a:bodyPr>
            <a:normAutofit/>
          </a:bodyPr>
          <a:lstStyle/>
          <a:p>
            <a:r>
              <a:rPr lang="en-US" dirty="0"/>
              <a:t>Decomposition Techniques</a:t>
            </a:r>
          </a:p>
        </p:txBody>
      </p:sp>
    </p:spTree>
    <p:extLst>
      <p:ext uri="{BB962C8B-B14F-4D97-AF65-F5344CB8AC3E}">
        <p14:creationId xmlns:p14="http://schemas.microsoft.com/office/powerpoint/2010/main" val="1126951299"/>
      </p:ext>
    </p:extLst>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402090"/>
            <a:ext cx="10515600" cy="5040999"/>
          </a:xfrm>
        </p:spPr>
        <p:txBody>
          <a:bodyPr>
            <a:noAutofit/>
          </a:bodyPr>
          <a:lstStyle/>
          <a:p>
            <a:pPr algn="just">
              <a:buFont typeface="Arial" panose="020B0604020202020204" pitchFamily="34" charset="0"/>
              <a:buChar char="•"/>
            </a:pPr>
            <a:r>
              <a:rPr lang="en-US" b="1" dirty="0"/>
              <a:t>Generally suited to problems that are solved using the </a:t>
            </a:r>
            <a:r>
              <a:rPr lang="en-US" b="1" dirty="0">
                <a:solidFill>
                  <a:srgbClr val="0000A8"/>
                </a:solidFill>
              </a:rPr>
              <a:t>divide-and-conquer </a:t>
            </a:r>
            <a:r>
              <a:rPr lang="en-US" b="1" dirty="0"/>
              <a:t>strategy. </a:t>
            </a:r>
          </a:p>
          <a:p>
            <a:pPr algn="just">
              <a:buFont typeface="Arial" panose="020B0604020202020204" pitchFamily="34" charset="0"/>
              <a:buChar char="•"/>
            </a:pPr>
            <a:endParaRPr lang="en-US" b="1" dirty="0"/>
          </a:p>
          <a:p>
            <a:pPr algn="just">
              <a:buFont typeface="Arial" panose="020B0604020202020204" pitchFamily="34" charset="0"/>
              <a:buChar char="•"/>
            </a:pPr>
            <a:r>
              <a:rPr lang="en-US" b="1" dirty="0"/>
              <a:t>A given problem is first </a:t>
            </a:r>
            <a:r>
              <a:rPr lang="en-US" b="1" dirty="0">
                <a:solidFill>
                  <a:srgbClr val="0000A8"/>
                </a:solidFill>
              </a:rPr>
              <a:t>decomposed</a:t>
            </a:r>
            <a:r>
              <a:rPr lang="en-US" b="1" dirty="0"/>
              <a:t> into a set of sub-problems. </a:t>
            </a:r>
          </a:p>
          <a:p>
            <a:pPr algn="just">
              <a:buFont typeface="Arial" panose="020B0604020202020204" pitchFamily="34" charset="0"/>
              <a:buChar char="•"/>
            </a:pPr>
            <a:endParaRPr lang="en-US" b="1" dirty="0"/>
          </a:p>
          <a:p>
            <a:pPr algn="just">
              <a:buFont typeface="Arial" panose="020B0604020202020204" pitchFamily="34" charset="0"/>
              <a:buChar char="•"/>
            </a:pPr>
            <a:r>
              <a:rPr lang="en-US" b="1" dirty="0"/>
              <a:t>These sub-problems are recursively decomposed further until a </a:t>
            </a:r>
            <a:r>
              <a:rPr lang="en-US" b="1" dirty="0">
                <a:solidFill>
                  <a:srgbClr val="0000A8"/>
                </a:solidFill>
              </a:rPr>
              <a:t>desired granularity </a:t>
            </a:r>
            <a:r>
              <a:rPr lang="en-US" b="1" dirty="0"/>
              <a:t>is reached. </a:t>
            </a:r>
          </a:p>
          <a:p>
            <a:pPr algn="just">
              <a:buFont typeface="Arial" panose="020B0604020202020204" pitchFamily="34" charset="0"/>
              <a:buChar char="•"/>
            </a:pPr>
            <a:endParaRPr lang="en-US" b="1" dirty="0"/>
          </a:p>
          <a:p>
            <a:pPr algn="just">
              <a:buFont typeface="Arial" panose="020B0604020202020204" pitchFamily="34" charset="0"/>
              <a:buChar char="•"/>
            </a:pPr>
            <a:r>
              <a:rPr lang="en-US" b="1" dirty="0"/>
              <a:t>A natural </a:t>
            </a:r>
            <a:r>
              <a:rPr lang="en-US" b="1" dirty="0">
                <a:solidFill>
                  <a:srgbClr val="0000A8"/>
                </a:solidFill>
              </a:rPr>
              <a:t>concurrency exists </a:t>
            </a:r>
            <a:r>
              <a:rPr lang="en-US" b="1" dirty="0"/>
              <a:t>as different sub-problems can be solved concurrently.</a:t>
            </a:r>
          </a:p>
          <a:p>
            <a:pPr marL="130175" indent="0" algn="just">
              <a:buNone/>
            </a:pPr>
            <a:endParaRPr lang="en-US" b="1" dirty="0"/>
          </a:p>
        </p:txBody>
      </p:sp>
      <p:sp>
        <p:nvSpPr>
          <p:cNvPr id="6" name="Title 5"/>
          <p:cNvSpPr>
            <a:spLocks noGrp="1"/>
          </p:cNvSpPr>
          <p:nvPr>
            <p:ph type="title"/>
          </p:nvPr>
        </p:nvSpPr>
        <p:spPr/>
        <p:txBody>
          <a:bodyPr>
            <a:normAutofit/>
          </a:bodyPr>
          <a:lstStyle/>
          <a:p>
            <a:r>
              <a:rPr lang="en-US" dirty="0"/>
              <a:t>Recursive Decomposition</a:t>
            </a:r>
          </a:p>
        </p:txBody>
      </p:sp>
    </p:spTree>
    <p:extLst>
      <p:ext uri="{BB962C8B-B14F-4D97-AF65-F5344CB8AC3E}">
        <p14:creationId xmlns:p14="http://schemas.microsoft.com/office/powerpoint/2010/main" val="1066475373"/>
      </p:ext>
    </p:extLst>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402090"/>
            <a:ext cx="10515600" cy="5274481"/>
          </a:xfrm>
        </p:spPr>
        <p:txBody>
          <a:bodyPr>
            <a:noAutofit/>
          </a:bodyPr>
          <a:lstStyle/>
          <a:p>
            <a:pPr algn="just">
              <a:buFont typeface="Arial" panose="020B0604020202020204" pitchFamily="34" charset="0"/>
              <a:buChar char="•"/>
            </a:pPr>
            <a:r>
              <a:rPr lang="en-US" b="1" dirty="0" smtClean="0"/>
              <a:t>The </a:t>
            </a:r>
            <a:r>
              <a:rPr lang="en-US" b="1" dirty="0"/>
              <a:t>problem of finding the minimum number in a given list (or indeed any other associative operation such as sum, AND, etc.) can be fashioned as a divide-and-conquer algorithm. </a:t>
            </a:r>
            <a:endParaRPr lang="en-US" b="1" dirty="0" smtClean="0"/>
          </a:p>
          <a:p>
            <a:pPr algn="just">
              <a:buFont typeface="Arial" panose="020B0604020202020204" pitchFamily="34" charset="0"/>
              <a:buChar char="•"/>
            </a:pPr>
            <a:r>
              <a:rPr lang="en-US" b="1" dirty="0" smtClean="0"/>
              <a:t>We </a:t>
            </a:r>
            <a:r>
              <a:rPr lang="en-US" b="1" dirty="0"/>
              <a:t>first start with a </a:t>
            </a:r>
            <a:r>
              <a:rPr lang="en-US" b="1" dirty="0">
                <a:solidFill>
                  <a:srgbClr val="0000A8"/>
                </a:solidFill>
              </a:rPr>
              <a:t>simple serial loop </a:t>
            </a:r>
            <a:r>
              <a:rPr lang="en-US" b="1" dirty="0"/>
              <a:t>for computing the minimum entry in a given list: </a:t>
            </a:r>
            <a:endParaRPr lang="en-US" b="1" dirty="0" smtClean="0"/>
          </a:p>
          <a:p>
            <a:pPr marL="463550" lvl="1" indent="0" algn="just">
              <a:buNone/>
            </a:pPr>
            <a:r>
              <a:rPr lang="en-US" b="1" dirty="0" smtClean="0"/>
              <a:t>1</a:t>
            </a:r>
            <a:r>
              <a:rPr lang="en-US" b="1" dirty="0"/>
              <a:t>. procedure SERIAL_MIN (A, n)	</a:t>
            </a:r>
            <a:endParaRPr lang="en-US" b="1" dirty="0" smtClean="0"/>
          </a:p>
          <a:p>
            <a:pPr marL="463550" lvl="1" indent="0" algn="just">
              <a:buNone/>
            </a:pPr>
            <a:r>
              <a:rPr lang="en-US" b="1" dirty="0" smtClean="0"/>
              <a:t>2</a:t>
            </a:r>
            <a:r>
              <a:rPr lang="en-US" b="1" dirty="0"/>
              <a:t>. </a:t>
            </a:r>
            <a:r>
              <a:rPr lang="en-US" b="1" dirty="0" smtClean="0"/>
              <a:t>begin</a:t>
            </a:r>
          </a:p>
          <a:p>
            <a:pPr marL="463550" lvl="1" indent="0" algn="just">
              <a:buNone/>
            </a:pPr>
            <a:r>
              <a:rPr lang="en-US" b="1" dirty="0" smtClean="0"/>
              <a:t>3</a:t>
            </a:r>
            <a:r>
              <a:rPr lang="en-US" b="1" dirty="0"/>
              <a:t>. min = A[0</a:t>
            </a:r>
            <a:r>
              <a:rPr lang="en-US" b="1" dirty="0" smtClean="0"/>
              <a:t>];</a:t>
            </a:r>
          </a:p>
          <a:p>
            <a:pPr marL="463550" lvl="1" indent="0" algn="just">
              <a:buNone/>
            </a:pPr>
            <a:r>
              <a:rPr lang="en-US" b="1" dirty="0" smtClean="0"/>
              <a:t>4</a:t>
            </a:r>
            <a:r>
              <a:rPr lang="en-US" b="1" dirty="0"/>
              <a:t>. for </a:t>
            </a:r>
            <a:r>
              <a:rPr lang="en-US" b="1" dirty="0" err="1"/>
              <a:t>i</a:t>
            </a:r>
            <a:r>
              <a:rPr lang="en-US" b="1" dirty="0"/>
              <a:t> := 1 to n − 1 </a:t>
            </a:r>
            <a:r>
              <a:rPr lang="en-US" b="1" dirty="0" smtClean="0"/>
              <a:t>do</a:t>
            </a:r>
          </a:p>
          <a:p>
            <a:pPr marL="463550" lvl="1" indent="0" algn="just">
              <a:buNone/>
            </a:pPr>
            <a:r>
              <a:rPr lang="en-US" b="1" dirty="0" smtClean="0"/>
              <a:t>5. 		if </a:t>
            </a:r>
            <a:r>
              <a:rPr lang="en-US" b="1" dirty="0"/>
              <a:t>(A[</a:t>
            </a:r>
            <a:r>
              <a:rPr lang="en-US" b="1" dirty="0" err="1"/>
              <a:t>i</a:t>
            </a:r>
            <a:r>
              <a:rPr lang="en-US" b="1" dirty="0"/>
              <a:t>] &lt; min) min := A[</a:t>
            </a:r>
            <a:r>
              <a:rPr lang="en-US" b="1" dirty="0" err="1"/>
              <a:t>i</a:t>
            </a:r>
            <a:r>
              <a:rPr lang="en-US" b="1" dirty="0" smtClean="0"/>
              <a:t>];</a:t>
            </a:r>
          </a:p>
          <a:p>
            <a:pPr marL="463550" lvl="1" indent="0" algn="just">
              <a:buNone/>
            </a:pPr>
            <a:r>
              <a:rPr lang="en-US" b="1" dirty="0" smtClean="0"/>
              <a:t>6</a:t>
            </a:r>
            <a:r>
              <a:rPr lang="en-US" b="1" dirty="0"/>
              <a:t>. </a:t>
            </a:r>
            <a:r>
              <a:rPr lang="en-US" b="1" dirty="0" err="1" smtClean="0"/>
              <a:t>endfor</a:t>
            </a:r>
            <a:r>
              <a:rPr lang="en-US" b="1" dirty="0" smtClean="0"/>
              <a:t>;</a:t>
            </a:r>
          </a:p>
          <a:p>
            <a:pPr marL="463550" lvl="1" indent="0" algn="just">
              <a:buNone/>
            </a:pPr>
            <a:r>
              <a:rPr lang="en-US" b="1" dirty="0" smtClean="0"/>
              <a:t>7</a:t>
            </a:r>
            <a:r>
              <a:rPr lang="en-US" b="1" dirty="0"/>
              <a:t>. return </a:t>
            </a:r>
            <a:r>
              <a:rPr lang="en-US" b="1" dirty="0" smtClean="0"/>
              <a:t>min;</a:t>
            </a:r>
          </a:p>
          <a:p>
            <a:pPr marL="463550" lvl="1" indent="0" algn="just">
              <a:buNone/>
            </a:pPr>
            <a:r>
              <a:rPr lang="en-US" b="1" dirty="0" smtClean="0"/>
              <a:t>8</a:t>
            </a:r>
            <a:r>
              <a:rPr lang="en-US" b="1" dirty="0"/>
              <a:t>. end SERIAL_MIN</a:t>
            </a:r>
          </a:p>
          <a:p>
            <a:pPr marL="130175" indent="0" algn="just">
              <a:buNone/>
            </a:pPr>
            <a:endParaRPr lang="en-US" b="1" dirty="0"/>
          </a:p>
          <a:p>
            <a:pPr marL="130175" indent="0" algn="just">
              <a:buNone/>
            </a:pPr>
            <a:endParaRPr lang="en-US" b="1" dirty="0"/>
          </a:p>
        </p:txBody>
      </p:sp>
      <p:sp>
        <p:nvSpPr>
          <p:cNvPr id="6" name="Title 5"/>
          <p:cNvSpPr>
            <a:spLocks noGrp="1"/>
          </p:cNvSpPr>
          <p:nvPr>
            <p:ph type="title"/>
          </p:nvPr>
        </p:nvSpPr>
        <p:spPr/>
        <p:txBody>
          <a:bodyPr>
            <a:normAutofit/>
          </a:bodyPr>
          <a:lstStyle/>
          <a:p>
            <a:r>
              <a:rPr lang="en-US" dirty="0"/>
              <a:t>Finding the </a:t>
            </a:r>
            <a:r>
              <a:rPr lang="en-US" dirty="0" smtClean="0"/>
              <a:t>Minimum Number</a:t>
            </a:r>
            <a:endParaRPr lang="en-US" dirty="0"/>
          </a:p>
        </p:txBody>
      </p:sp>
    </p:spTree>
    <p:extLst>
      <p:ext uri="{BB962C8B-B14F-4D97-AF65-F5344CB8AC3E}">
        <p14:creationId xmlns:p14="http://schemas.microsoft.com/office/powerpoint/2010/main" val="250777945"/>
      </p:ext>
    </p:extLst>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dirty="0"/>
              <a:t>Finding the </a:t>
            </a:r>
            <a:r>
              <a:rPr lang="en-US" dirty="0" smtClean="0"/>
              <a:t>Minimum Number (Cont.)</a:t>
            </a:r>
            <a:endParaRPr lang="en-US" dirty="0"/>
          </a:p>
        </p:txBody>
      </p:sp>
      <p:sp>
        <p:nvSpPr>
          <p:cNvPr id="2" name="Content Placeholder 1"/>
          <p:cNvSpPr>
            <a:spLocks noGrp="1"/>
          </p:cNvSpPr>
          <p:nvPr>
            <p:ph idx="1"/>
          </p:nvPr>
        </p:nvSpPr>
        <p:spPr>
          <a:xfrm>
            <a:off x="838200" y="1401327"/>
            <a:ext cx="10515600" cy="4351338"/>
          </a:xfrm>
        </p:spPr>
        <p:txBody>
          <a:bodyPr>
            <a:noAutofit/>
          </a:bodyPr>
          <a:lstStyle/>
          <a:p>
            <a:pPr marL="0" indent="0">
              <a:spcBef>
                <a:spcPct val="20000"/>
              </a:spcBef>
              <a:buNone/>
            </a:pPr>
            <a:r>
              <a:rPr lang="en-US" sz="2400" b="1" dirty="0"/>
              <a:t>procedure RECURSIVE_MIN (</a:t>
            </a:r>
            <a:r>
              <a:rPr lang="en-US" sz="2400" b="1" i="1" dirty="0"/>
              <a:t>A, n</a:t>
            </a:r>
            <a:r>
              <a:rPr lang="en-US" sz="2400" b="1" dirty="0"/>
              <a:t>) </a:t>
            </a:r>
            <a:br>
              <a:rPr lang="en-US" sz="2400" b="1" dirty="0"/>
            </a:br>
            <a:r>
              <a:rPr lang="en-US" sz="2400" b="1" dirty="0"/>
              <a:t>begin </a:t>
            </a:r>
            <a:br>
              <a:rPr lang="en-US" sz="2400" b="1" dirty="0"/>
            </a:br>
            <a:r>
              <a:rPr lang="en-US" sz="2400" b="1" dirty="0"/>
              <a:t>	if ( </a:t>
            </a:r>
            <a:r>
              <a:rPr lang="en-US" sz="2400" b="1" i="1" dirty="0"/>
              <a:t>n </a:t>
            </a:r>
            <a:r>
              <a:rPr lang="en-US" sz="2400" b="1" dirty="0"/>
              <a:t>=</a:t>
            </a:r>
            <a:r>
              <a:rPr lang="en-US" sz="2400" b="1" i="1" dirty="0"/>
              <a:t> </a:t>
            </a:r>
            <a:r>
              <a:rPr lang="en-US" sz="2400" b="1" dirty="0"/>
              <a:t>1 ) then </a:t>
            </a:r>
            <a:br>
              <a:rPr lang="en-US" sz="2400" b="1" dirty="0"/>
            </a:br>
            <a:r>
              <a:rPr lang="en-US" sz="2400" b="1" dirty="0"/>
              <a:t>		</a:t>
            </a:r>
            <a:r>
              <a:rPr lang="en-US" sz="2400" b="1" i="1" dirty="0"/>
              <a:t>min</a:t>
            </a:r>
            <a:r>
              <a:rPr lang="en-US" sz="2400" b="1" dirty="0"/>
              <a:t> := </a:t>
            </a:r>
            <a:r>
              <a:rPr lang="en-US" sz="2400" b="1" i="1" dirty="0"/>
              <a:t>A</a:t>
            </a:r>
            <a:r>
              <a:rPr lang="en-US" sz="2400" b="1" dirty="0"/>
              <a:t> [0</a:t>
            </a:r>
            <a:r>
              <a:rPr lang="en-US" sz="2400" b="1" dirty="0" smtClean="0"/>
              <a:t>]; </a:t>
            </a:r>
            <a:endParaRPr lang="en-US" sz="2400" b="1" dirty="0"/>
          </a:p>
          <a:p>
            <a:pPr marL="0" indent="0">
              <a:spcBef>
                <a:spcPct val="20000"/>
              </a:spcBef>
              <a:buNone/>
            </a:pPr>
            <a:r>
              <a:rPr lang="en-US" sz="2400" b="1" dirty="0"/>
              <a:t>	else </a:t>
            </a:r>
            <a:br>
              <a:rPr lang="en-US" sz="2400" b="1" dirty="0"/>
            </a:br>
            <a:r>
              <a:rPr lang="en-US" sz="2400" b="1" dirty="0"/>
              <a:t>		</a:t>
            </a:r>
            <a:r>
              <a:rPr lang="en-US" sz="2400" b="1" i="1" dirty="0" err="1"/>
              <a:t>lmin</a:t>
            </a:r>
            <a:r>
              <a:rPr lang="en-US" sz="2400" b="1" dirty="0"/>
              <a:t> = RECURSIVE_MIN ( </a:t>
            </a:r>
            <a:r>
              <a:rPr lang="en-US" sz="2400" b="1" i="1" dirty="0"/>
              <a:t>A</a:t>
            </a:r>
            <a:r>
              <a:rPr lang="en-US" sz="2400" b="1" dirty="0"/>
              <a:t>, </a:t>
            </a:r>
            <a:r>
              <a:rPr lang="en-US" sz="2400" b="1" i="1" dirty="0"/>
              <a:t>n/2</a:t>
            </a:r>
            <a:r>
              <a:rPr lang="en-US" sz="2400" b="1" dirty="0"/>
              <a:t> ); </a:t>
            </a:r>
            <a:br>
              <a:rPr lang="en-US" sz="2400" b="1" dirty="0"/>
            </a:br>
            <a:r>
              <a:rPr lang="en-US" sz="2400" b="1" dirty="0"/>
              <a:t>		</a:t>
            </a:r>
            <a:r>
              <a:rPr lang="en-US" sz="2400" b="1" i="1" dirty="0" err="1"/>
              <a:t>rmin</a:t>
            </a:r>
            <a:r>
              <a:rPr lang="en-US" sz="2400" b="1" dirty="0"/>
              <a:t> = RECURSIVE_MIN (  &amp;(</a:t>
            </a:r>
            <a:r>
              <a:rPr lang="en-US" sz="2400" b="1" i="1" dirty="0"/>
              <a:t>A</a:t>
            </a:r>
            <a:r>
              <a:rPr lang="en-US" sz="2400" b="1" dirty="0"/>
              <a:t>[n/2]), </a:t>
            </a:r>
            <a:r>
              <a:rPr lang="en-US" sz="2400" b="1" i="1" dirty="0"/>
              <a:t>n - n/2</a:t>
            </a:r>
            <a:r>
              <a:rPr lang="en-US" sz="2400" b="1" dirty="0"/>
              <a:t> ); </a:t>
            </a:r>
          </a:p>
          <a:p>
            <a:pPr marL="0" indent="0">
              <a:spcBef>
                <a:spcPct val="20000"/>
              </a:spcBef>
              <a:buNone/>
            </a:pPr>
            <a:r>
              <a:rPr lang="en-US" sz="2400" b="1" dirty="0"/>
              <a:t/>
            </a:r>
            <a:br>
              <a:rPr lang="en-US" sz="2400" b="1" dirty="0"/>
            </a:br>
            <a:r>
              <a:rPr lang="en-US" sz="2400" b="1" dirty="0"/>
              <a:t>		if (</a:t>
            </a:r>
            <a:r>
              <a:rPr lang="en-US" sz="2400" b="1" i="1" dirty="0" err="1"/>
              <a:t>lmin</a:t>
            </a:r>
            <a:r>
              <a:rPr lang="en-US" sz="2400" b="1" dirty="0"/>
              <a:t>  &lt; </a:t>
            </a:r>
            <a:r>
              <a:rPr lang="en-US" sz="2400" b="1" i="1" dirty="0" err="1"/>
              <a:t>rmin</a:t>
            </a:r>
            <a:r>
              <a:rPr lang="en-US" sz="2400" b="1" dirty="0"/>
              <a:t>) then </a:t>
            </a:r>
            <a:br>
              <a:rPr lang="en-US" sz="2400" b="1" dirty="0"/>
            </a:br>
            <a:r>
              <a:rPr lang="en-US" sz="2400" b="1" dirty="0"/>
              <a:t>			</a:t>
            </a:r>
            <a:r>
              <a:rPr lang="en-US" sz="2400" b="1" i="1" dirty="0"/>
              <a:t>min</a:t>
            </a:r>
            <a:r>
              <a:rPr lang="en-US" sz="2400" b="1" dirty="0"/>
              <a:t> = </a:t>
            </a:r>
            <a:r>
              <a:rPr lang="en-US" sz="2400" b="1" i="1" dirty="0" err="1"/>
              <a:t>lmin</a:t>
            </a:r>
            <a:r>
              <a:rPr lang="en-US" sz="2400" b="1" dirty="0"/>
              <a:t>; </a:t>
            </a:r>
            <a:br>
              <a:rPr lang="en-US" sz="2400" b="1" dirty="0"/>
            </a:br>
            <a:r>
              <a:rPr lang="en-US" sz="2400" b="1" dirty="0"/>
              <a:t>		else </a:t>
            </a:r>
            <a:br>
              <a:rPr lang="en-US" sz="2400" b="1" dirty="0"/>
            </a:br>
            <a:r>
              <a:rPr lang="en-US" sz="2400" b="1" dirty="0"/>
              <a:t>			</a:t>
            </a:r>
            <a:r>
              <a:rPr lang="en-US" sz="2400" b="1" i="1" dirty="0"/>
              <a:t>min</a:t>
            </a:r>
            <a:r>
              <a:rPr lang="en-US" sz="2400" b="1" dirty="0"/>
              <a:t> = </a:t>
            </a:r>
            <a:r>
              <a:rPr lang="en-US" sz="2400" b="1" i="1" dirty="0" err="1"/>
              <a:t>rmin</a:t>
            </a:r>
            <a:r>
              <a:rPr lang="en-US" sz="2400" b="1" dirty="0"/>
              <a:t>; </a:t>
            </a:r>
            <a:br>
              <a:rPr lang="en-US" sz="2400" b="1" dirty="0"/>
            </a:br>
            <a:r>
              <a:rPr lang="en-US" sz="2400" b="1" dirty="0"/>
              <a:t>		</a:t>
            </a:r>
            <a:r>
              <a:rPr lang="en-US" sz="2400" b="1" dirty="0" err="1"/>
              <a:t>endelse</a:t>
            </a:r>
            <a:r>
              <a:rPr lang="en-US" sz="2400" b="1" dirty="0"/>
              <a:t>; </a:t>
            </a:r>
            <a:br>
              <a:rPr lang="en-US" sz="2400" b="1" dirty="0"/>
            </a:br>
            <a:r>
              <a:rPr lang="en-US" sz="2400" b="1" dirty="0"/>
              <a:t>	</a:t>
            </a:r>
            <a:r>
              <a:rPr lang="en-US" sz="2400" b="1" dirty="0" err="1"/>
              <a:t>endelse</a:t>
            </a:r>
            <a:r>
              <a:rPr lang="en-US" sz="2400" b="1" dirty="0"/>
              <a:t>; </a:t>
            </a:r>
            <a:br>
              <a:rPr lang="en-US" sz="2400" b="1" dirty="0"/>
            </a:br>
            <a:r>
              <a:rPr lang="en-US" sz="2400" b="1" dirty="0"/>
              <a:t>return </a:t>
            </a:r>
            <a:r>
              <a:rPr lang="en-US" sz="2400" b="1" i="1" dirty="0"/>
              <a:t>min</a:t>
            </a:r>
            <a:r>
              <a:rPr lang="en-US" sz="2400" b="1" dirty="0"/>
              <a:t>; </a:t>
            </a:r>
            <a:br>
              <a:rPr lang="en-US" sz="2400" b="1" dirty="0"/>
            </a:br>
            <a:r>
              <a:rPr lang="en-US" sz="2400" b="1" dirty="0"/>
              <a:t>end RECURSIVE_MIN </a:t>
            </a:r>
          </a:p>
          <a:p>
            <a:pPr marL="342900" indent="-342900">
              <a:lnSpc>
                <a:spcPct val="110000"/>
              </a:lnSpc>
              <a:spcBef>
                <a:spcPct val="20000"/>
              </a:spcBef>
            </a:pPr>
            <a:endParaRPr lang="en-US" sz="2400" b="1" dirty="0"/>
          </a:p>
          <a:p>
            <a:pPr marL="342900" indent="-342900">
              <a:lnSpc>
                <a:spcPct val="110000"/>
              </a:lnSpc>
              <a:spcBef>
                <a:spcPct val="20000"/>
              </a:spcBef>
            </a:pPr>
            <a:endParaRPr lang="en-US" sz="2400" b="1" dirty="0"/>
          </a:p>
          <a:p>
            <a:endParaRPr lang="en-US" sz="2400" b="1" dirty="0"/>
          </a:p>
          <a:p>
            <a:pPr marL="130175" indent="0">
              <a:buNone/>
            </a:pPr>
            <a:endParaRPr lang="en-US" sz="2400" b="1" dirty="0"/>
          </a:p>
        </p:txBody>
      </p:sp>
    </p:spTree>
    <p:extLst>
      <p:ext uri="{BB962C8B-B14F-4D97-AF65-F5344CB8AC3E}">
        <p14:creationId xmlns:p14="http://schemas.microsoft.com/office/powerpoint/2010/main" val="2639064043"/>
      </p:ext>
    </p:extLst>
  </p:cSld>
  <p:clrMapOvr>
    <a:masterClrMapping/>
  </p:clrMapOvr>
  <p:transition spd="slow">
    <p:push di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dirty="0"/>
              <a:t>Finding the Minimum Number (Cont.)</a:t>
            </a:r>
          </a:p>
        </p:txBody>
      </p:sp>
      <p:sp>
        <p:nvSpPr>
          <p:cNvPr id="2" name="Content Placeholder 1"/>
          <p:cNvSpPr>
            <a:spLocks noGrp="1"/>
          </p:cNvSpPr>
          <p:nvPr>
            <p:ph idx="1"/>
          </p:nvPr>
        </p:nvSpPr>
        <p:spPr/>
        <p:txBody>
          <a:bodyPr>
            <a:normAutofit/>
          </a:bodyPr>
          <a:lstStyle/>
          <a:p>
            <a:pPr algn="just">
              <a:buFont typeface="Arial" panose="020B0604020202020204" pitchFamily="34" charset="0"/>
              <a:buChar char="•"/>
            </a:pPr>
            <a:r>
              <a:rPr lang="en-US" b="1" dirty="0"/>
              <a:t>The code in the previous foil can be decomposed naturally using a recursive decomposition strategy. We illustrate this with the following example of finding the minimum number in the set {4, 9, 1, 7, 8, 11, 2, 12}. The </a:t>
            </a:r>
            <a:r>
              <a:rPr lang="en-US" b="1" dirty="0">
                <a:solidFill>
                  <a:srgbClr val="0000A8"/>
                </a:solidFill>
              </a:rPr>
              <a:t>task dependency graph </a:t>
            </a:r>
            <a:r>
              <a:rPr lang="en-US" b="1" dirty="0"/>
              <a:t>associated with this computation is as follows: </a:t>
            </a:r>
          </a:p>
          <a:p>
            <a:pPr algn="just">
              <a:buFont typeface="Arial" panose="020B0604020202020204" pitchFamily="34" charset="0"/>
              <a:buChar char="•"/>
            </a:pPr>
            <a:endParaRPr lang="en-US" b="1" dirty="0"/>
          </a:p>
        </p:txBody>
      </p:sp>
      <p:pic>
        <p:nvPicPr>
          <p:cNvPr id="4" name="Picture 3" descr="minimumdq"/>
          <p:cNvPicPr>
            <a:picLocks noChangeAspect="1" noChangeArrowheads="1"/>
          </p:cNvPicPr>
          <p:nvPr/>
        </p:nvPicPr>
        <p:blipFill>
          <a:blip r:embed="rId3" cstate="print"/>
          <a:srcRect/>
          <a:stretch>
            <a:fillRect/>
          </a:stretch>
        </p:blipFill>
        <p:spPr>
          <a:xfrm>
            <a:off x="2657511" y="3325436"/>
            <a:ext cx="7603368" cy="2561456"/>
          </a:xfrm>
          <a:prstGeom prst="rect">
            <a:avLst/>
          </a:prstGeom>
          <a:noFill/>
          <a:ln/>
        </p:spPr>
      </p:pic>
    </p:spTree>
    <p:extLst>
      <p:ext uri="{BB962C8B-B14F-4D97-AF65-F5344CB8AC3E}">
        <p14:creationId xmlns:p14="http://schemas.microsoft.com/office/powerpoint/2010/main" val="616134359"/>
      </p:ext>
    </p:extLst>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402090"/>
            <a:ext cx="10515600" cy="5040999"/>
          </a:xfrm>
        </p:spPr>
        <p:txBody>
          <a:bodyPr>
            <a:noAutofit/>
          </a:bodyPr>
          <a:lstStyle/>
          <a:p>
            <a:pPr algn="just">
              <a:buFont typeface="Arial" panose="020B0604020202020204" pitchFamily="34" charset="0"/>
              <a:buChar char="•"/>
            </a:pPr>
            <a:r>
              <a:rPr lang="en-US" b="1" dirty="0"/>
              <a:t>Once we have selected a </a:t>
            </a:r>
            <a:r>
              <a:rPr lang="en-US" b="1" dirty="0">
                <a:solidFill>
                  <a:srgbClr val="0000A8"/>
                </a:solidFill>
              </a:rPr>
              <a:t>pivot value</a:t>
            </a:r>
            <a:r>
              <a:rPr lang="en-US" b="1" dirty="0"/>
              <a:t>, partitioning places all the elements less than the pivot in the left part of the array and all elements greater than the pivot in the right part of the array and the pivot is in the slot between them</a:t>
            </a:r>
            <a:r>
              <a:rPr lang="en-US" b="1" dirty="0" smtClean="0"/>
              <a:t>.</a:t>
            </a:r>
            <a:endParaRPr lang="en-US" b="1" dirty="0"/>
          </a:p>
          <a:p>
            <a:pPr algn="just">
              <a:buFont typeface="Arial" panose="020B0604020202020204" pitchFamily="34" charset="0"/>
              <a:buChar char="•"/>
            </a:pPr>
            <a:r>
              <a:rPr lang="en-US" b="1" dirty="0"/>
              <a:t>The </a:t>
            </a:r>
            <a:r>
              <a:rPr lang="en-US" b="1" dirty="0" smtClean="0"/>
              <a:t>pivot </a:t>
            </a:r>
            <a:r>
              <a:rPr lang="en-US" b="1" dirty="0"/>
              <a:t>element ends up in the position it </a:t>
            </a:r>
            <a:r>
              <a:rPr lang="en-US" b="1" dirty="0">
                <a:solidFill>
                  <a:srgbClr val="0000A8"/>
                </a:solidFill>
              </a:rPr>
              <a:t>retains</a:t>
            </a:r>
            <a:r>
              <a:rPr lang="en-US" b="1" dirty="0"/>
              <a:t> in the final sorted </a:t>
            </a:r>
            <a:r>
              <a:rPr lang="en-US" b="1" dirty="0" smtClean="0"/>
              <a:t>order</a:t>
            </a:r>
            <a:endParaRPr lang="en-US" b="1" dirty="0"/>
          </a:p>
          <a:p>
            <a:pPr algn="just">
              <a:buFont typeface="Arial" panose="020B0604020202020204" pitchFamily="34" charset="0"/>
              <a:buChar char="•"/>
            </a:pPr>
            <a:r>
              <a:rPr lang="en-US" b="1" dirty="0"/>
              <a:t>After partitioning </a:t>
            </a:r>
            <a:r>
              <a:rPr lang="en-US" b="1" dirty="0">
                <a:solidFill>
                  <a:srgbClr val="0000A8"/>
                </a:solidFill>
              </a:rPr>
              <a:t>no element flops</a:t>
            </a:r>
            <a:r>
              <a:rPr lang="en-US" b="1" dirty="0"/>
              <a:t> to the other side of the pivot in the final sorted </a:t>
            </a:r>
            <a:r>
              <a:rPr lang="en-US" b="1" dirty="0" smtClean="0"/>
              <a:t>order</a:t>
            </a:r>
            <a:endParaRPr lang="en-US" b="1" dirty="0"/>
          </a:p>
          <a:p>
            <a:pPr algn="just">
              <a:buFont typeface="Arial" panose="020B0604020202020204" pitchFamily="34" charset="0"/>
              <a:buChar char="•"/>
            </a:pPr>
            <a:r>
              <a:rPr lang="en-US" b="1" dirty="0"/>
              <a:t>Thus we can </a:t>
            </a:r>
            <a:r>
              <a:rPr lang="en-US" b="1" dirty="0">
                <a:solidFill>
                  <a:srgbClr val="0000A8"/>
                </a:solidFill>
              </a:rPr>
              <a:t>sort the elements </a:t>
            </a:r>
            <a:r>
              <a:rPr lang="en-US" b="1" dirty="0"/>
              <a:t>to the left of the pivot and the right of the pivot </a:t>
            </a:r>
            <a:r>
              <a:rPr lang="en-US" b="1" dirty="0" smtClean="0"/>
              <a:t>independently</a:t>
            </a:r>
            <a:endParaRPr lang="en-US" b="1" dirty="0"/>
          </a:p>
        </p:txBody>
      </p:sp>
      <p:sp>
        <p:nvSpPr>
          <p:cNvPr id="6" name="Title 5"/>
          <p:cNvSpPr>
            <a:spLocks noGrp="1"/>
          </p:cNvSpPr>
          <p:nvPr>
            <p:ph type="title"/>
          </p:nvPr>
        </p:nvSpPr>
        <p:spPr/>
        <p:txBody>
          <a:bodyPr>
            <a:normAutofit/>
          </a:bodyPr>
          <a:lstStyle/>
          <a:p>
            <a:r>
              <a:rPr lang="en-US" dirty="0"/>
              <a:t>Recursive Decomposition Example: Quick Sort</a:t>
            </a:r>
          </a:p>
        </p:txBody>
      </p:sp>
    </p:spTree>
    <p:extLst>
      <p:ext uri="{BB962C8B-B14F-4D97-AF65-F5344CB8AC3E}">
        <p14:creationId xmlns:p14="http://schemas.microsoft.com/office/powerpoint/2010/main" val="2131802623"/>
      </p:ext>
    </p:extLst>
  </p:cSld>
  <p:clrMapOvr>
    <a:masterClrMapping/>
  </p:clrMapOvr>
  <p:transition spd="slow">
    <p:push dir="u"/>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dirty="0"/>
              <a:t>Recursive Decomposition Example: Quick </a:t>
            </a:r>
            <a:r>
              <a:rPr lang="en-US" dirty="0" smtClean="0"/>
              <a:t>Sort </a:t>
            </a:r>
            <a:endParaRPr lang="en-US" dirty="0"/>
          </a:p>
        </p:txBody>
      </p:sp>
      <p:pic>
        <p:nvPicPr>
          <p:cNvPr id="7" name="Content Placeholder 6"/>
          <p:cNvPicPr>
            <a:picLocks noGrp="1" noChangeAspect="1"/>
          </p:cNvPicPr>
          <p:nvPr>
            <p:ph idx="1"/>
          </p:nvPr>
        </p:nvPicPr>
        <p:blipFill>
          <a:blip r:embed="rId3"/>
          <a:stretch>
            <a:fillRect/>
          </a:stretch>
        </p:blipFill>
        <p:spPr>
          <a:xfrm>
            <a:off x="1887311" y="1607700"/>
            <a:ext cx="7860634" cy="4450669"/>
          </a:xfrm>
          <a:prstGeom prst="rect">
            <a:avLst/>
          </a:prstGeom>
        </p:spPr>
      </p:pic>
    </p:spTree>
    <p:extLst>
      <p:ext uri="{BB962C8B-B14F-4D97-AF65-F5344CB8AC3E}">
        <p14:creationId xmlns:p14="http://schemas.microsoft.com/office/powerpoint/2010/main" val="3615661639"/>
      </p:ext>
    </p:extLst>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pt-BR" dirty="0"/>
              <a:t>Quicksort Pseudo-code</a:t>
            </a:r>
            <a:endParaRPr lang="en-US" dirty="0"/>
          </a:p>
        </p:txBody>
      </p:sp>
      <p:sp>
        <p:nvSpPr>
          <p:cNvPr id="2" name="Content Placeholder 1"/>
          <p:cNvSpPr>
            <a:spLocks noGrp="1"/>
          </p:cNvSpPr>
          <p:nvPr>
            <p:ph idx="1"/>
          </p:nvPr>
        </p:nvSpPr>
        <p:spPr/>
        <p:txBody>
          <a:bodyPr>
            <a:normAutofit fontScale="92500" lnSpcReduction="10000"/>
          </a:bodyPr>
          <a:lstStyle/>
          <a:p>
            <a:pPr>
              <a:buFont typeface="Arial" panose="020B0604020202020204" pitchFamily="34" charset="0"/>
              <a:buChar char="•"/>
            </a:pPr>
            <a:r>
              <a:rPr lang="en-US" b="1" dirty="0"/>
              <a:t>Quicksort(A, low, high)</a:t>
            </a:r>
          </a:p>
          <a:p>
            <a:pPr lvl="1"/>
            <a:r>
              <a:rPr lang="en-US" sz="2000" b="1" dirty="0"/>
              <a:t>If (low &lt; high)</a:t>
            </a:r>
          </a:p>
          <a:p>
            <a:pPr lvl="1"/>
            <a:r>
              <a:rPr lang="en-US" sz="2000" b="1" dirty="0" err="1"/>
              <a:t>pivotLocation</a:t>
            </a:r>
            <a:r>
              <a:rPr lang="en-US" sz="2000" b="1" dirty="0"/>
              <a:t> = Partition(A, low, high)</a:t>
            </a:r>
          </a:p>
          <a:p>
            <a:pPr lvl="1"/>
            <a:r>
              <a:rPr lang="en-US" sz="2000" b="1" dirty="0"/>
              <a:t>Quicksort(A, low, </a:t>
            </a:r>
            <a:r>
              <a:rPr lang="en-US" sz="2000" b="1" dirty="0" err="1"/>
              <a:t>pivotLocation</a:t>
            </a:r>
            <a:r>
              <a:rPr lang="en-US" sz="2000" b="1" dirty="0"/>
              <a:t> - 1)</a:t>
            </a:r>
          </a:p>
          <a:p>
            <a:pPr lvl="1"/>
            <a:r>
              <a:rPr lang="en-US" sz="2000" b="1" dirty="0"/>
              <a:t>Quicksort(A, </a:t>
            </a:r>
            <a:r>
              <a:rPr lang="en-US" sz="2000" b="1" dirty="0" err="1"/>
              <a:t>pivotLocation</a:t>
            </a:r>
            <a:r>
              <a:rPr lang="en-US" sz="2000" b="1" dirty="0"/>
              <a:t> + 1, high)</a:t>
            </a:r>
          </a:p>
          <a:p>
            <a:pPr lvl="1"/>
            <a:endParaRPr lang="en-US" sz="800" b="1" dirty="0"/>
          </a:p>
          <a:p>
            <a:pPr>
              <a:buFont typeface="Arial" panose="020B0604020202020204" pitchFamily="34" charset="0"/>
              <a:buChar char="•"/>
            </a:pPr>
            <a:r>
              <a:rPr lang="en-US" b="1" dirty="0"/>
              <a:t>Partition(A, low, high)</a:t>
            </a:r>
          </a:p>
          <a:p>
            <a:pPr lvl="1"/>
            <a:r>
              <a:rPr lang="en-US" sz="2000" b="1" dirty="0"/>
              <a:t>Pivot = A[low]</a:t>
            </a:r>
          </a:p>
          <a:p>
            <a:pPr lvl="1"/>
            <a:r>
              <a:rPr lang="en-US" sz="2000" b="1" dirty="0" err="1"/>
              <a:t>Leftwall</a:t>
            </a:r>
            <a:r>
              <a:rPr lang="en-US" sz="2000" b="1" dirty="0"/>
              <a:t> = low</a:t>
            </a:r>
          </a:p>
          <a:p>
            <a:pPr lvl="1"/>
            <a:r>
              <a:rPr lang="en-US" sz="2000" b="1" dirty="0"/>
              <a:t>For (</a:t>
            </a:r>
            <a:r>
              <a:rPr lang="en-US" sz="2000" b="1" dirty="0" err="1"/>
              <a:t>i</a:t>
            </a:r>
            <a:r>
              <a:rPr lang="en-US" sz="2000" b="1" dirty="0"/>
              <a:t> = low +1 to high)</a:t>
            </a:r>
          </a:p>
          <a:p>
            <a:pPr lvl="2"/>
            <a:r>
              <a:rPr lang="en-US" b="1" dirty="0"/>
              <a:t>if (A[</a:t>
            </a:r>
            <a:r>
              <a:rPr lang="en-US" b="1" dirty="0" err="1"/>
              <a:t>i</a:t>
            </a:r>
            <a:r>
              <a:rPr lang="en-US" b="1" dirty="0"/>
              <a:t>] &lt; pivot)</a:t>
            </a:r>
          </a:p>
          <a:p>
            <a:pPr lvl="3"/>
            <a:r>
              <a:rPr lang="en-US" sz="2000" b="1" dirty="0" err="1"/>
              <a:t>leftwall</a:t>
            </a:r>
            <a:r>
              <a:rPr lang="en-US" sz="2000" b="1" dirty="0"/>
              <a:t> = </a:t>
            </a:r>
            <a:r>
              <a:rPr lang="en-US" sz="2000" b="1" dirty="0" err="1"/>
              <a:t>leftwall</a:t>
            </a:r>
            <a:r>
              <a:rPr lang="en-US" sz="2000" b="1" dirty="0"/>
              <a:t> + 1</a:t>
            </a:r>
          </a:p>
          <a:p>
            <a:pPr lvl="3"/>
            <a:r>
              <a:rPr lang="en-US" sz="2000" b="1" dirty="0"/>
              <a:t>Swap (A[</a:t>
            </a:r>
            <a:r>
              <a:rPr lang="en-US" sz="2000" b="1" dirty="0" err="1"/>
              <a:t>i</a:t>
            </a:r>
            <a:r>
              <a:rPr lang="en-US" sz="2000" b="1" dirty="0"/>
              <a:t>], A[</a:t>
            </a:r>
            <a:r>
              <a:rPr lang="en-US" sz="2000" b="1" dirty="0" err="1"/>
              <a:t>leftwall</a:t>
            </a:r>
            <a:r>
              <a:rPr lang="en-US" sz="2000" b="1" dirty="0"/>
              <a:t>])</a:t>
            </a:r>
          </a:p>
          <a:p>
            <a:pPr lvl="1"/>
            <a:r>
              <a:rPr lang="en-US" b="1" dirty="0"/>
              <a:t>Swap(A[low], A[</a:t>
            </a:r>
            <a:r>
              <a:rPr lang="en-US" b="1" dirty="0" err="1"/>
              <a:t>leftwall</a:t>
            </a:r>
            <a:r>
              <a:rPr lang="en-US" b="1" dirty="0"/>
              <a:t>])</a:t>
            </a:r>
          </a:p>
          <a:p>
            <a:pPr marL="130175" indent="0">
              <a:buNone/>
            </a:pPr>
            <a:endParaRPr lang="en-US" b="1" dirty="0"/>
          </a:p>
        </p:txBody>
      </p:sp>
    </p:spTree>
    <p:extLst>
      <p:ext uri="{BB962C8B-B14F-4D97-AF65-F5344CB8AC3E}">
        <p14:creationId xmlns:p14="http://schemas.microsoft.com/office/powerpoint/2010/main" val="1589100105"/>
      </p:ext>
    </p:extLst>
  </p:cSld>
  <p:clrMapOvr>
    <a:masterClrMapping/>
  </p:clrMapOvr>
  <p:transition spd="slow">
    <p:push dir="u"/>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402090"/>
            <a:ext cx="10515600" cy="5040999"/>
          </a:xfrm>
        </p:spPr>
        <p:txBody>
          <a:bodyPr>
            <a:noAutofit/>
          </a:bodyPr>
          <a:lstStyle/>
          <a:p>
            <a:pPr algn="just">
              <a:buFont typeface="Arial" panose="020B0604020202020204" pitchFamily="34" charset="0"/>
              <a:buChar char="•"/>
            </a:pPr>
            <a:r>
              <a:rPr lang="en-US" b="1" dirty="0"/>
              <a:t>Used for deriving </a:t>
            </a:r>
            <a:r>
              <a:rPr lang="en-US" b="1" dirty="0">
                <a:solidFill>
                  <a:srgbClr val="0000A8"/>
                </a:solidFill>
              </a:rPr>
              <a:t>concurrency</a:t>
            </a:r>
            <a:r>
              <a:rPr lang="en-US" b="1" dirty="0"/>
              <a:t> in algorithms that operate on large data structures.</a:t>
            </a:r>
          </a:p>
          <a:p>
            <a:pPr lvl="1" algn="just">
              <a:buFont typeface="Wingdings" panose="05000000000000000000" pitchFamily="2" charset="2"/>
              <a:buChar char="Ø"/>
            </a:pPr>
            <a:r>
              <a:rPr lang="en-US" b="1" dirty="0"/>
              <a:t>Example: Matrix multiplication</a:t>
            </a:r>
          </a:p>
          <a:p>
            <a:pPr algn="just">
              <a:buFont typeface="Arial" panose="020B0604020202020204" pitchFamily="34" charset="0"/>
              <a:buChar char="•"/>
            </a:pPr>
            <a:r>
              <a:rPr lang="en-US" b="1" dirty="0">
                <a:solidFill>
                  <a:srgbClr val="0000A8"/>
                </a:solidFill>
              </a:rPr>
              <a:t>Identify</a:t>
            </a:r>
            <a:r>
              <a:rPr lang="en-US" b="1" dirty="0"/>
              <a:t> the data on which computations are performed. </a:t>
            </a:r>
          </a:p>
          <a:p>
            <a:pPr algn="just">
              <a:buFont typeface="Arial" panose="020B0604020202020204" pitchFamily="34" charset="0"/>
              <a:buChar char="•"/>
            </a:pPr>
            <a:r>
              <a:rPr lang="en-US" b="1" dirty="0">
                <a:solidFill>
                  <a:srgbClr val="0000A8"/>
                </a:solidFill>
              </a:rPr>
              <a:t>Partition</a:t>
            </a:r>
            <a:r>
              <a:rPr lang="en-US" b="1" dirty="0"/>
              <a:t> this data across various tasks. </a:t>
            </a:r>
          </a:p>
          <a:p>
            <a:pPr algn="just">
              <a:buFont typeface="Arial" panose="020B0604020202020204" pitchFamily="34" charset="0"/>
              <a:buChar char="•"/>
            </a:pPr>
            <a:r>
              <a:rPr lang="en-US" b="1" dirty="0"/>
              <a:t>This partitioning </a:t>
            </a:r>
            <a:r>
              <a:rPr lang="en-US" b="1" dirty="0">
                <a:solidFill>
                  <a:srgbClr val="0000A8"/>
                </a:solidFill>
              </a:rPr>
              <a:t>induces</a:t>
            </a:r>
            <a:r>
              <a:rPr lang="en-US" b="1" dirty="0"/>
              <a:t> a decomposition of the problem. </a:t>
            </a:r>
          </a:p>
          <a:p>
            <a:pPr algn="just">
              <a:buFont typeface="Arial" panose="020B0604020202020204" pitchFamily="34" charset="0"/>
              <a:buChar char="•"/>
            </a:pPr>
            <a:r>
              <a:rPr lang="en-US" b="1" dirty="0"/>
              <a:t>Data can be </a:t>
            </a:r>
            <a:r>
              <a:rPr lang="en-US" b="1" dirty="0">
                <a:solidFill>
                  <a:srgbClr val="0000A8"/>
                </a:solidFill>
              </a:rPr>
              <a:t>partitioned</a:t>
            </a:r>
            <a:r>
              <a:rPr lang="en-US" b="1" dirty="0"/>
              <a:t> in various ways - this critically impacts performance of a parallel algorithm. </a:t>
            </a:r>
          </a:p>
          <a:p>
            <a:pPr algn="just">
              <a:buFont typeface="Arial" panose="020B0604020202020204" pitchFamily="34" charset="0"/>
              <a:buChar char="•"/>
            </a:pPr>
            <a:r>
              <a:rPr lang="en-US" b="1" dirty="0"/>
              <a:t>Often, each element of the output can be </a:t>
            </a:r>
            <a:r>
              <a:rPr lang="en-US" b="1" dirty="0">
                <a:solidFill>
                  <a:srgbClr val="0000A8"/>
                </a:solidFill>
              </a:rPr>
              <a:t>computed</a:t>
            </a:r>
            <a:r>
              <a:rPr lang="en-US" b="1" dirty="0"/>
              <a:t> independently of others (but simply as a function of the input). </a:t>
            </a:r>
          </a:p>
          <a:p>
            <a:pPr algn="just">
              <a:buFont typeface="Arial" panose="020B0604020202020204" pitchFamily="34" charset="0"/>
              <a:buChar char="•"/>
            </a:pPr>
            <a:r>
              <a:rPr lang="en-US" b="1" dirty="0"/>
              <a:t>A </a:t>
            </a:r>
            <a:r>
              <a:rPr lang="en-US" b="1" dirty="0">
                <a:solidFill>
                  <a:srgbClr val="0000A8"/>
                </a:solidFill>
              </a:rPr>
              <a:t>partition of the output </a:t>
            </a:r>
            <a:r>
              <a:rPr lang="en-US" b="1" dirty="0"/>
              <a:t>across tasks decomposes the problem naturally. </a:t>
            </a:r>
          </a:p>
          <a:p>
            <a:pPr algn="just">
              <a:buFont typeface="Arial" panose="020B0604020202020204" pitchFamily="34" charset="0"/>
              <a:buChar char="•"/>
            </a:pPr>
            <a:endParaRPr lang="en-US" sz="3200" b="1" dirty="0"/>
          </a:p>
        </p:txBody>
      </p:sp>
      <p:sp>
        <p:nvSpPr>
          <p:cNvPr id="6" name="Title 5"/>
          <p:cNvSpPr>
            <a:spLocks noGrp="1"/>
          </p:cNvSpPr>
          <p:nvPr>
            <p:ph type="title"/>
          </p:nvPr>
        </p:nvSpPr>
        <p:spPr/>
        <p:txBody>
          <a:bodyPr>
            <a:normAutofit/>
          </a:bodyPr>
          <a:lstStyle/>
          <a:p>
            <a:r>
              <a:rPr lang="en-US" sz="3600" dirty="0"/>
              <a:t>Data Decomposition</a:t>
            </a:r>
          </a:p>
        </p:txBody>
      </p:sp>
    </p:spTree>
    <p:extLst>
      <p:ext uri="{BB962C8B-B14F-4D97-AF65-F5344CB8AC3E}">
        <p14:creationId xmlns:p14="http://schemas.microsoft.com/office/powerpoint/2010/main" val="4168686140"/>
      </p:ext>
    </p:extLst>
  </p:cSld>
  <p:clrMapOvr>
    <a:masterClrMapping/>
  </p:clrMapOvr>
  <p:transition spd="slow">
    <p:push dir="u"/>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402090"/>
            <a:ext cx="10515600" cy="5040999"/>
          </a:xfrm>
        </p:spPr>
        <p:txBody>
          <a:bodyPr>
            <a:noAutofit/>
          </a:bodyPr>
          <a:lstStyle/>
          <a:p>
            <a:pPr algn="just">
              <a:buFont typeface="Arial" panose="020B0604020202020204" pitchFamily="34" charset="0"/>
              <a:buChar char="•"/>
            </a:pPr>
            <a:r>
              <a:rPr lang="en-US" sz="3200" b="1" dirty="0"/>
              <a:t>Consider the problem of multiplying two n x n matrices A and B to yield matrix C. The output matrix C can be partitioned into </a:t>
            </a:r>
            <a:r>
              <a:rPr lang="en-US" sz="3200" b="1" dirty="0">
                <a:solidFill>
                  <a:srgbClr val="0000A8"/>
                </a:solidFill>
              </a:rPr>
              <a:t>four tasks </a:t>
            </a:r>
            <a:r>
              <a:rPr lang="en-US" sz="3200" b="1" dirty="0"/>
              <a:t>as follows: </a:t>
            </a:r>
          </a:p>
          <a:p>
            <a:pPr algn="just">
              <a:buFont typeface="Arial" panose="020B0604020202020204" pitchFamily="34" charset="0"/>
              <a:buChar char="•"/>
            </a:pPr>
            <a:endParaRPr lang="en-US" sz="3200" b="1" dirty="0"/>
          </a:p>
        </p:txBody>
      </p:sp>
      <p:sp>
        <p:nvSpPr>
          <p:cNvPr id="6" name="Title 5"/>
          <p:cNvSpPr>
            <a:spLocks noGrp="1"/>
          </p:cNvSpPr>
          <p:nvPr>
            <p:ph type="title"/>
          </p:nvPr>
        </p:nvSpPr>
        <p:spPr/>
        <p:txBody>
          <a:bodyPr>
            <a:normAutofit/>
          </a:bodyPr>
          <a:lstStyle/>
          <a:p>
            <a:r>
              <a:rPr lang="en-US" sz="3600" dirty="0"/>
              <a:t>Data </a:t>
            </a:r>
            <a:r>
              <a:rPr lang="en-US" sz="3600" dirty="0" smtClean="0"/>
              <a:t>Decomposition (Cont.)</a:t>
            </a:r>
            <a:endParaRPr lang="en-US" sz="3600" dirty="0"/>
          </a:p>
        </p:txBody>
      </p:sp>
      <p:grpSp>
        <p:nvGrpSpPr>
          <p:cNvPr id="4" name="Group 28"/>
          <p:cNvGrpSpPr>
            <a:grpSpLocks/>
          </p:cNvGrpSpPr>
          <p:nvPr/>
        </p:nvGrpSpPr>
        <p:grpSpPr bwMode="auto">
          <a:xfrm>
            <a:off x="2132484" y="2975932"/>
            <a:ext cx="7927032" cy="3315072"/>
            <a:chOff x="336" y="1392"/>
            <a:chExt cx="5088" cy="2448"/>
          </a:xfrm>
        </p:grpSpPr>
        <p:pic>
          <p:nvPicPr>
            <p:cNvPr id="7" name="Picture 7" descr="img19"/>
            <p:cNvPicPr>
              <a:picLocks noChangeAspect="1" noChangeArrowheads="1"/>
            </p:cNvPicPr>
            <p:nvPr/>
          </p:nvPicPr>
          <p:blipFill>
            <a:blip r:embed="rId2" cstate="print"/>
            <a:srcRect/>
            <a:stretch>
              <a:fillRect/>
            </a:stretch>
          </p:blipFill>
          <p:spPr bwMode="auto">
            <a:xfrm>
              <a:off x="336" y="1392"/>
              <a:ext cx="5088" cy="715"/>
            </a:xfrm>
            <a:prstGeom prst="rect">
              <a:avLst/>
            </a:prstGeom>
            <a:noFill/>
            <a:ln/>
            <a:effectLst/>
          </p:spPr>
        </p:pic>
        <p:pic>
          <p:nvPicPr>
            <p:cNvPr id="8" name="Picture 23" descr="img20"/>
            <p:cNvPicPr>
              <a:picLocks noChangeAspect="1" noChangeArrowheads="1"/>
            </p:cNvPicPr>
            <p:nvPr/>
          </p:nvPicPr>
          <p:blipFill>
            <a:blip r:embed="rId3" cstate="print"/>
            <a:srcRect/>
            <a:stretch>
              <a:fillRect/>
            </a:stretch>
          </p:blipFill>
          <p:spPr bwMode="auto">
            <a:xfrm>
              <a:off x="1842" y="2292"/>
              <a:ext cx="2334" cy="396"/>
            </a:xfrm>
            <a:prstGeom prst="rect">
              <a:avLst/>
            </a:prstGeom>
            <a:noFill/>
            <a:ln/>
            <a:effectLst/>
          </p:spPr>
        </p:pic>
        <p:pic>
          <p:nvPicPr>
            <p:cNvPr id="9" name="Picture 25" descr="img21"/>
            <p:cNvPicPr>
              <a:picLocks noChangeAspect="1" noChangeArrowheads="1"/>
            </p:cNvPicPr>
            <p:nvPr/>
          </p:nvPicPr>
          <p:blipFill>
            <a:blip r:embed="rId4" cstate="print"/>
            <a:srcRect/>
            <a:stretch>
              <a:fillRect/>
            </a:stretch>
          </p:blipFill>
          <p:spPr bwMode="auto">
            <a:xfrm>
              <a:off x="1842" y="2688"/>
              <a:ext cx="2334" cy="396"/>
            </a:xfrm>
            <a:prstGeom prst="rect">
              <a:avLst/>
            </a:prstGeom>
            <a:noFill/>
          </p:spPr>
        </p:pic>
        <p:pic>
          <p:nvPicPr>
            <p:cNvPr id="10" name="Picture 26" descr="img22"/>
            <p:cNvPicPr>
              <a:picLocks noChangeAspect="1" noChangeArrowheads="1"/>
            </p:cNvPicPr>
            <p:nvPr/>
          </p:nvPicPr>
          <p:blipFill>
            <a:blip r:embed="rId5" cstate="print"/>
            <a:srcRect/>
            <a:stretch>
              <a:fillRect/>
            </a:stretch>
          </p:blipFill>
          <p:spPr bwMode="auto">
            <a:xfrm>
              <a:off x="1872" y="3060"/>
              <a:ext cx="2334" cy="396"/>
            </a:xfrm>
            <a:prstGeom prst="rect">
              <a:avLst/>
            </a:prstGeom>
            <a:noFill/>
          </p:spPr>
        </p:pic>
        <p:pic>
          <p:nvPicPr>
            <p:cNvPr id="11" name="Picture 27" descr="img23"/>
            <p:cNvPicPr>
              <a:picLocks noChangeAspect="1" noChangeArrowheads="1"/>
            </p:cNvPicPr>
            <p:nvPr/>
          </p:nvPicPr>
          <p:blipFill>
            <a:blip r:embed="rId6" cstate="print"/>
            <a:srcRect/>
            <a:stretch>
              <a:fillRect/>
            </a:stretch>
          </p:blipFill>
          <p:spPr bwMode="auto">
            <a:xfrm>
              <a:off x="1890" y="3444"/>
              <a:ext cx="2334" cy="396"/>
            </a:xfrm>
            <a:prstGeom prst="rect">
              <a:avLst/>
            </a:prstGeom>
            <a:noFill/>
          </p:spPr>
        </p:pic>
      </p:grpSp>
    </p:spTree>
    <p:extLst>
      <p:ext uri="{BB962C8B-B14F-4D97-AF65-F5344CB8AC3E}">
        <p14:creationId xmlns:p14="http://schemas.microsoft.com/office/powerpoint/2010/main" val="1993513287"/>
      </p:ext>
    </p:extLst>
  </p:cSld>
  <p:clrMapOvr>
    <a:masterClrMapping/>
  </p:clrMapOvr>
  <p:transition spd="slow">
    <p:push dir="u"/>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402090"/>
            <a:ext cx="10515600" cy="5143853"/>
          </a:xfrm>
        </p:spPr>
        <p:txBody>
          <a:bodyPr>
            <a:noAutofit/>
          </a:bodyPr>
          <a:lstStyle/>
          <a:p>
            <a:pPr algn="just">
              <a:buFont typeface="Arial" panose="020B0604020202020204" pitchFamily="34" charset="0"/>
              <a:buChar char="•"/>
            </a:pPr>
            <a:r>
              <a:rPr lang="en-US" sz="3000" b="1" dirty="0"/>
              <a:t>Search through a </a:t>
            </a:r>
            <a:r>
              <a:rPr lang="en-US" sz="3000" b="1" dirty="0">
                <a:solidFill>
                  <a:srgbClr val="0000A8"/>
                </a:solidFill>
              </a:rPr>
              <a:t>predefined space </a:t>
            </a:r>
            <a:r>
              <a:rPr lang="en-US" sz="3000" b="1" dirty="0"/>
              <a:t>for solution</a:t>
            </a:r>
          </a:p>
          <a:p>
            <a:pPr algn="just">
              <a:buFont typeface="Arial" panose="020B0604020202020204" pitchFamily="34" charset="0"/>
              <a:buChar char="•"/>
            </a:pPr>
            <a:r>
              <a:rPr lang="en-US" sz="3000" b="1" dirty="0"/>
              <a:t>Search space can be </a:t>
            </a:r>
            <a:r>
              <a:rPr lang="en-US" sz="3000" b="1" dirty="0">
                <a:solidFill>
                  <a:srgbClr val="0000A8"/>
                </a:solidFill>
              </a:rPr>
              <a:t>partitioned into tasks </a:t>
            </a:r>
            <a:r>
              <a:rPr lang="en-US" sz="3000" b="1" dirty="0"/>
              <a:t>which can be processed independently</a:t>
            </a:r>
          </a:p>
          <a:p>
            <a:pPr algn="just">
              <a:buFont typeface="Arial" panose="020B0604020202020204" pitchFamily="34" charset="0"/>
              <a:buChar char="•"/>
            </a:pPr>
            <a:r>
              <a:rPr lang="en-US" sz="3000" b="1" dirty="0"/>
              <a:t>A simple example is </a:t>
            </a:r>
            <a:r>
              <a:rPr lang="en-US" sz="3000" b="1" dirty="0">
                <a:solidFill>
                  <a:srgbClr val="0000A8"/>
                </a:solidFill>
              </a:rPr>
              <a:t>tile puzzle </a:t>
            </a:r>
            <a:r>
              <a:rPr lang="en-US" sz="3000" b="1" dirty="0"/>
              <a:t>to transform a given initial state to desired final state</a:t>
            </a:r>
          </a:p>
          <a:p>
            <a:pPr marL="130175" indent="0" algn="just">
              <a:buNone/>
            </a:pPr>
            <a:r>
              <a:rPr lang="en-US" sz="3000" b="1" dirty="0">
                <a:solidFill>
                  <a:srgbClr val="C00000"/>
                </a:solidFill>
              </a:rPr>
              <a:t>Solution algorithm </a:t>
            </a:r>
          </a:p>
          <a:p>
            <a:pPr lvl="1" algn="just"/>
            <a:r>
              <a:rPr lang="en-US" sz="2600" b="1" dirty="0"/>
              <a:t>Subsequent configurations are </a:t>
            </a:r>
            <a:r>
              <a:rPr lang="en-US" sz="2600" b="1" dirty="0">
                <a:solidFill>
                  <a:srgbClr val="0000A8"/>
                </a:solidFill>
              </a:rPr>
              <a:t>generated</a:t>
            </a:r>
            <a:r>
              <a:rPr lang="en-US" sz="2600" b="1" dirty="0"/>
              <a:t> based on current configuration </a:t>
            </a:r>
          </a:p>
          <a:p>
            <a:pPr lvl="1" algn="just"/>
            <a:r>
              <a:rPr lang="en-US" sz="2600" b="1" dirty="0"/>
              <a:t>Each configuration is then </a:t>
            </a:r>
            <a:r>
              <a:rPr lang="en-US" sz="2600" b="1" dirty="0">
                <a:solidFill>
                  <a:srgbClr val="0000A8"/>
                </a:solidFill>
              </a:rPr>
              <a:t>explored</a:t>
            </a:r>
            <a:r>
              <a:rPr lang="en-US" sz="2600" b="1" dirty="0"/>
              <a:t> as an independent </a:t>
            </a:r>
            <a:r>
              <a:rPr lang="en-US" sz="2600" b="1" dirty="0" smtClean="0"/>
              <a:t>task</a:t>
            </a:r>
            <a:endParaRPr lang="en-US" sz="3000" b="1" dirty="0"/>
          </a:p>
          <a:p>
            <a:pPr algn="just">
              <a:buFont typeface="Arial" panose="020B0604020202020204" pitchFamily="34" charset="0"/>
              <a:buChar char="•"/>
            </a:pPr>
            <a:r>
              <a:rPr lang="en-US" sz="3000" b="1" dirty="0"/>
              <a:t>Tasks induced by exploratory decomposition can be </a:t>
            </a:r>
            <a:r>
              <a:rPr lang="en-US" sz="3000" b="1" dirty="0">
                <a:solidFill>
                  <a:srgbClr val="0000A8"/>
                </a:solidFill>
              </a:rPr>
              <a:t>terminated</a:t>
            </a:r>
            <a:r>
              <a:rPr lang="en-US" sz="3000" b="1" dirty="0"/>
              <a:t> before finishing as soon as desired solution is found by any one task.</a:t>
            </a:r>
          </a:p>
        </p:txBody>
      </p:sp>
      <p:sp>
        <p:nvSpPr>
          <p:cNvPr id="6" name="Title 5"/>
          <p:cNvSpPr>
            <a:spLocks noGrp="1"/>
          </p:cNvSpPr>
          <p:nvPr>
            <p:ph type="title"/>
          </p:nvPr>
        </p:nvSpPr>
        <p:spPr/>
        <p:txBody>
          <a:bodyPr>
            <a:normAutofit/>
          </a:bodyPr>
          <a:lstStyle/>
          <a:p>
            <a:r>
              <a:rPr lang="en-US" dirty="0"/>
              <a:t>Exploratory Decomposition</a:t>
            </a:r>
          </a:p>
        </p:txBody>
      </p:sp>
    </p:spTree>
    <p:extLst>
      <p:ext uri="{BB962C8B-B14F-4D97-AF65-F5344CB8AC3E}">
        <p14:creationId xmlns:p14="http://schemas.microsoft.com/office/powerpoint/2010/main" val="1871026629"/>
      </p:ext>
    </p:extLst>
  </p:cSld>
  <p:clrMapOvr>
    <a:masterClrMapping/>
  </p:clrMapOvr>
  <p:transition spd="slow">
    <p:push dir="u"/>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dirty="0"/>
              <a:t>Exploratory </a:t>
            </a:r>
            <a:r>
              <a:rPr lang="en-US" dirty="0" smtClean="0"/>
              <a:t>Decomposition (Cont.)</a:t>
            </a:r>
            <a:endParaRPr lang="en-US" dirty="0"/>
          </a:p>
        </p:txBody>
      </p:sp>
      <p:sp>
        <p:nvSpPr>
          <p:cNvPr id="3" name="Content Placeholder 2"/>
          <p:cNvSpPr>
            <a:spLocks noGrp="1"/>
          </p:cNvSpPr>
          <p:nvPr>
            <p:ph idx="1"/>
          </p:nvPr>
        </p:nvSpPr>
        <p:spPr/>
        <p:txBody>
          <a:bodyPr/>
          <a:lstStyle/>
          <a:p>
            <a:endParaRPr lang="en-US"/>
          </a:p>
        </p:txBody>
      </p:sp>
      <p:pic>
        <p:nvPicPr>
          <p:cNvPr id="5" name="Picture 4"/>
          <p:cNvPicPr>
            <a:picLocks noChangeAspect="1"/>
          </p:cNvPicPr>
          <p:nvPr/>
        </p:nvPicPr>
        <p:blipFill>
          <a:blip r:embed="rId3"/>
          <a:stretch>
            <a:fillRect/>
          </a:stretch>
        </p:blipFill>
        <p:spPr>
          <a:xfrm>
            <a:off x="838200" y="1360957"/>
            <a:ext cx="10515600" cy="5424517"/>
          </a:xfrm>
          <a:prstGeom prst="rect">
            <a:avLst/>
          </a:prstGeom>
        </p:spPr>
      </p:pic>
    </p:spTree>
    <p:extLst>
      <p:ext uri="{BB962C8B-B14F-4D97-AF65-F5344CB8AC3E}">
        <p14:creationId xmlns:p14="http://schemas.microsoft.com/office/powerpoint/2010/main" val="3163439012"/>
      </p:ext>
    </p:extLst>
  </p:cSld>
  <p:clrMapOvr>
    <a:masterClrMapping/>
  </p:clrMapOvr>
  <p:transition spd="slow">
    <p:push dir="u"/>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402090"/>
            <a:ext cx="10515600" cy="5143853"/>
          </a:xfrm>
        </p:spPr>
        <p:txBody>
          <a:bodyPr>
            <a:noAutofit/>
          </a:bodyPr>
          <a:lstStyle/>
          <a:p>
            <a:pPr algn="just">
              <a:buFont typeface="Arial" panose="020B0604020202020204" pitchFamily="34" charset="0"/>
              <a:buChar char="•"/>
            </a:pPr>
            <a:r>
              <a:rPr lang="en-US" sz="3200" b="1" dirty="0"/>
              <a:t>This decomposition is used when a program may take </a:t>
            </a:r>
            <a:r>
              <a:rPr lang="en-US" sz="3200" b="1" dirty="0">
                <a:solidFill>
                  <a:srgbClr val="0000A8"/>
                </a:solidFill>
              </a:rPr>
              <a:t>one of many possible</a:t>
            </a:r>
            <a:r>
              <a:rPr lang="en-US" sz="3200" b="1" dirty="0"/>
              <a:t> computationally significant branches depending on the output of other computations that precede it</a:t>
            </a:r>
          </a:p>
          <a:p>
            <a:pPr algn="just">
              <a:buFont typeface="Arial" panose="020B0604020202020204" pitchFamily="34" charset="0"/>
              <a:buChar char="•"/>
            </a:pPr>
            <a:r>
              <a:rPr lang="en-US" sz="3200" b="1" dirty="0"/>
              <a:t>Dependencies between tasks </a:t>
            </a:r>
            <a:r>
              <a:rPr lang="en-US" sz="3200" b="1" dirty="0">
                <a:solidFill>
                  <a:srgbClr val="0000A8"/>
                </a:solidFill>
              </a:rPr>
              <a:t>are not known </a:t>
            </a:r>
            <a:r>
              <a:rPr lang="en-US" sz="3200" b="1" dirty="0"/>
              <a:t>a-priori</a:t>
            </a:r>
          </a:p>
          <a:p>
            <a:pPr algn="just">
              <a:buFont typeface="Arial" panose="020B0604020202020204" pitchFamily="34" charset="0"/>
              <a:buChar char="•"/>
            </a:pPr>
            <a:r>
              <a:rPr lang="en-US" sz="3200" b="1" dirty="0"/>
              <a:t>For example: a </a:t>
            </a:r>
            <a:r>
              <a:rPr lang="en-US" sz="3200" b="1" dirty="0">
                <a:solidFill>
                  <a:srgbClr val="0000A8"/>
                </a:solidFill>
              </a:rPr>
              <a:t>switch-statement</a:t>
            </a:r>
          </a:p>
          <a:p>
            <a:pPr algn="just">
              <a:buFont typeface="Arial" panose="020B0604020202020204" pitchFamily="34" charset="0"/>
              <a:buChar char="•"/>
            </a:pPr>
            <a:r>
              <a:rPr lang="en-US" sz="3200" b="1" dirty="0"/>
              <a:t>These function/s are </a:t>
            </a:r>
            <a:r>
              <a:rPr lang="en-US" sz="3200" b="1" dirty="0">
                <a:solidFill>
                  <a:srgbClr val="0000A8"/>
                </a:solidFill>
              </a:rPr>
              <a:t>turned into tasks </a:t>
            </a:r>
            <a:r>
              <a:rPr lang="en-US" sz="3200" b="1" dirty="0"/>
              <a:t>and carried out before the condition is even evaluated</a:t>
            </a:r>
          </a:p>
          <a:p>
            <a:pPr algn="just">
              <a:buFont typeface="Arial" panose="020B0604020202020204" pitchFamily="34" charset="0"/>
              <a:buChar char="•"/>
            </a:pPr>
            <a:r>
              <a:rPr lang="en-US" sz="3200" b="1" dirty="0"/>
              <a:t>As soon as the condition has been evaluated, only the </a:t>
            </a:r>
            <a:r>
              <a:rPr lang="en-US" sz="3200" b="1" dirty="0">
                <a:solidFill>
                  <a:srgbClr val="0000A8"/>
                </a:solidFill>
              </a:rPr>
              <a:t>results of one task </a:t>
            </a:r>
            <a:r>
              <a:rPr lang="en-US" sz="3200" b="1" dirty="0"/>
              <a:t>are used, all others, if computed, are thrown </a:t>
            </a:r>
            <a:r>
              <a:rPr lang="en-US" sz="3200" b="1" dirty="0" smtClean="0"/>
              <a:t>away</a:t>
            </a:r>
            <a:endParaRPr lang="en-US" sz="3200" b="1" dirty="0"/>
          </a:p>
        </p:txBody>
      </p:sp>
      <p:sp>
        <p:nvSpPr>
          <p:cNvPr id="6" name="Title 5"/>
          <p:cNvSpPr>
            <a:spLocks noGrp="1"/>
          </p:cNvSpPr>
          <p:nvPr>
            <p:ph type="title"/>
          </p:nvPr>
        </p:nvSpPr>
        <p:spPr/>
        <p:txBody>
          <a:bodyPr>
            <a:normAutofit/>
          </a:bodyPr>
          <a:lstStyle/>
          <a:p>
            <a:r>
              <a:rPr lang="en-US" dirty="0"/>
              <a:t>Speculative Decomposition </a:t>
            </a:r>
          </a:p>
        </p:txBody>
      </p:sp>
    </p:spTree>
    <p:extLst>
      <p:ext uri="{BB962C8B-B14F-4D97-AF65-F5344CB8AC3E}">
        <p14:creationId xmlns:p14="http://schemas.microsoft.com/office/powerpoint/2010/main" val="4260688977"/>
      </p:ext>
    </p:extLst>
  </p:cSld>
  <p:clrMapOvr>
    <a:masterClrMapping/>
  </p:clrMapOvr>
  <p:transition spd="slow">
    <p:push dir="u"/>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402090"/>
            <a:ext cx="10515600" cy="5143853"/>
          </a:xfrm>
        </p:spPr>
        <p:txBody>
          <a:bodyPr>
            <a:noAutofit/>
          </a:bodyPr>
          <a:lstStyle/>
          <a:p>
            <a:pPr algn="just">
              <a:buFont typeface="Arial" panose="020B0604020202020204" pitchFamily="34" charset="0"/>
              <a:buChar char="•"/>
            </a:pPr>
            <a:r>
              <a:rPr lang="en-US" sz="3000" b="1" dirty="0"/>
              <a:t>Steps:</a:t>
            </a:r>
          </a:p>
          <a:p>
            <a:pPr lvl="1" algn="just">
              <a:buFont typeface="Wingdings" panose="05000000000000000000" pitchFamily="2" charset="2"/>
              <a:buChar char="Ø"/>
            </a:pPr>
            <a:r>
              <a:rPr lang="en-US" sz="2600" b="1" dirty="0" smtClean="0"/>
              <a:t>Speculate (</a:t>
            </a:r>
            <a:r>
              <a:rPr lang="en-US" sz="2600" b="1" dirty="0"/>
              <a:t>guess) the </a:t>
            </a:r>
            <a:r>
              <a:rPr lang="en-US" sz="2600" b="1" dirty="0">
                <a:solidFill>
                  <a:srgbClr val="0000A8"/>
                </a:solidFill>
              </a:rPr>
              <a:t>output</a:t>
            </a:r>
            <a:r>
              <a:rPr lang="en-US" sz="2600" b="1" dirty="0"/>
              <a:t> of previous stage</a:t>
            </a:r>
          </a:p>
          <a:p>
            <a:pPr lvl="1" algn="just">
              <a:buFont typeface="Wingdings" panose="05000000000000000000" pitchFamily="2" charset="2"/>
              <a:buChar char="Ø"/>
            </a:pPr>
            <a:r>
              <a:rPr lang="en-US" sz="2600" b="1" dirty="0"/>
              <a:t>Start </a:t>
            </a:r>
            <a:r>
              <a:rPr lang="en-US" sz="2600" b="1" dirty="0">
                <a:solidFill>
                  <a:srgbClr val="0000A8"/>
                </a:solidFill>
              </a:rPr>
              <a:t>performing computations </a:t>
            </a:r>
            <a:r>
              <a:rPr lang="en-US" sz="2600" b="1" dirty="0"/>
              <a:t>in the next stage before even the completion of the previous stage.</a:t>
            </a:r>
          </a:p>
          <a:p>
            <a:pPr lvl="1" algn="just">
              <a:buFont typeface="Wingdings" panose="05000000000000000000" pitchFamily="2" charset="2"/>
              <a:buChar char="Ø"/>
            </a:pPr>
            <a:r>
              <a:rPr lang="en-US" sz="2600" b="1" dirty="0"/>
              <a:t>After availability of the output of previous stage, if </a:t>
            </a:r>
            <a:r>
              <a:rPr lang="en-US" sz="2600" b="1" dirty="0">
                <a:solidFill>
                  <a:srgbClr val="0000A8"/>
                </a:solidFill>
              </a:rPr>
              <a:t>speculation was correct</a:t>
            </a:r>
            <a:r>
              <a:rPr lang="en-US" sz="2600" b="1" dirty="0"/>
              <a:t> than most of the computation for next step would have already been done.    </a:t>
            </a:r>
            <a:endParaRPr lang="en-US" sz="3000" b="1" dirty="0"/>
          </a:p>
          <a:p>
            <a:pPr algn="just">
              <a:buFont typeface="Arial" panose="020B0604020202020204" pitchFamily="34" charset="0"/>
              <a:buChar char="•"/>
            </a:pPr>
            <a:r>
              <a:rPr lang="en-US" sz="3000" b="1" dirty="0"/>
              <a:t>Switch Example:</a:t>
            </a:r>
          </a:p>
          <a:p>
            <a:pPr marL="463550" lvl="1" indent="0" algn="just">
              <a:buNone/>
            </a:pPr>
            <a:r>
              <a:rPr lang="en-US" sz="2600" b="1" dirty="0"/>
              <a:t>Calculate expression for the </a:t>
            </a:r>
            <a:r>
              <a:rPr lang="en-US" sz="2600" b="1" dirty="0">
                <a:solidFill>
                  <a:srgbClr val="0000A8"/>
                </a:solidFill>
              </a:rPr>
              <a:t>switch</a:t>
            </a:r>
            <a:r>
              <a:rPr lang="en-US" sz="2600" b="1" dirty="0"/>
              <a:t> condition -&gt; task 0  </a:t>
            </a:r>
          </a:p>
          <a:p>
            <a:pPr marL="463550" lvl="1" indent="0" algn="just">
              <a:buNone/>
            </a:pPr>
            <a:r>
              <a:rPr lang="en-US" sz="2600" b="1" dirty="0"/>
              <a:t>	Case 0: Multiply vector </a:t>
            </a:r>
            <a:r>
              <a:rPr lang="en-US" sz="2600" b="1" dirty="0">
                <a:solidFill>
                  <a:srgbClr val="0000A8"/>
                </a:solidFill>
              </a:rPr>
              <a:t>b</a:t>
            </a:r>
            <a:r>
              <a:rPr lang="en-US" sz="2600" b="1" dirty="0"/>
              <a:t> with matrix A -&gt; task 1</a:t>
            </a:r>
          </a:p>
          <a:p>
            <a:pPr marL="463550" lvl="1" indent="0" algn="just">
              <a:buNone/>
            </a:pPr>
            <a:r>
              <a:rPr lang="en-US" sz="2600" b="1" dirty="0"/>
              <a:t>	Case 1: Multiply vector </a:t>
            </a:r>
            <a:r>
              <a:rPr lang="en-US" sz="2600" b="1" dirty="0">
                <a:solidFill>
                  <a:srgbClr val="0000A8"/>
                </a:solidFill>
              </a:rPr>
              <a:t>c</a:t>
            </a:r>
            <a:r>
              <a:rPr lang="en-US" sz="2600" b="1" dirty="0"/>
              <a:t> with matrix A -&gt; task 2</a:t>
            </a:r>
          </a:p>
          <a:p>
            <a:pPr marL="463550" lvl="1" indent="0" algn="just">
              <a:buNone/>
            </a:pPr>
            <a:r>
              <a:rPr lang="en-US" sz="2600" b="1" dirty="0"/>
              <a:t>	Case 2: Multiply vector </a:t>
            </a:r>
            <a:r>
              <a:rPr lang="en-US" sz="2600" b="1" dirty="0">
                <a:solidFill>
                  <a:srgbClr val="0000A8"/>
                </a:solidFill>
              </a:rPr>
              <a:t>d</a:t>
            </a:r>
            <a:r>
              <a:rPr lang="en-US" sz="2600" b="1" dirty="0"/>
              <a:t> with matrix A -&gt; task 3</a:t>
            </a:r>
          </a:p>
          <a:p>
            <a:pPr marL="463550" lvl="1" indent="0" algn="just">
              <a:buNone/>
            </a:pPr>
            <a:r>
              <a:rPr lang="en-US" sz="2600" b="1" dirty="0"/>
              <a:t> display result -&gt; task 4 </a:t>
            </a:r>
          </a:p>
        </p:txBody>
      </p:sp>
      <p:sp>
        <p:nvSpPr>
          <p:cNvPr id="6" name="Title 5"/>
          <p:cNvSpPr>
            <a:spLocks noGrp="1"/>
          </p:cNvSpPr>
          <p:nvPr>
            <p:ph type="title"/>
          </p:nvPr>
        </p:nvSpPr>
        <p:spPr/>
        <p:txBody>
          <a:bodyPr>
            <a:normAutofit/>
          </a:bodyPr>
          <a:lstStyle/>
          <a:p>
            <a:r>
              <a:rPr lang="en-US" dirty="0"/>
              <a:t>Speculative Decomposition (Cont.)</a:t>
            </a:r>
          </a:p>
        </p:txBody>
      </p:sp>
    </p:spTree>
    <p:extLst>
      <p:ext uri="{BB962C8B-B14F-4D97-AF65-F5344CB8AC3E}">
        <p14:creationId xmlns:p14="http://schemas.microsoft.com/office/powerpoint/2010/main" val="1078728069"/>
      </p:ext>
    </p:extLst>
  </p:cSld>
  <p:clrMapOvr>
    <a:masterClrMapping/>
  </p:clrMapOvr>
  <p:transition spd="slow">
    <p:push dir="u"/>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402090"/>
            <a:ext cx="10515600" cy="5143853"/>
          </a:xfrm>
        </p:spPr>
        <p:txBody>
          <a:bodyPr>
            <a:noAutofit/>
          </a:bodyPr>
          <a:lstStyle/>
          <a:p>
            <a:pPr algn="just">
              <a:buFont typeface="Arial" panose="020B0604020202020204" pitchFamily="34" charset="0"/>
              <a:buChar char="•"/>
            </a:pPr>
            <a:r>
              <a:rPr lang="en-US" sz="3000" b="1" dirty="0"/>
              <a:t>Decomposition technique are not exclusive</a:t>
            </a:r>
          </a:p>
          <a:p>
            <a:pPr lvl="1" algn="just">
              <a:buFont typeface="Wingdings" panose="05000000000000000000" pitchFamily="2" charset="2"/>
              <a:buChar char="Ø"/>
            </a:pPr>
            <a:r>
              <a:rPr lang="en-US" sz="2600" b="1" dirty="0"/>
              <a:t>We often need to </a:t>
            </a:r>
            <a:r>
              <a:rPr lang="en-US" sz="2600" b="1" dirty="0">
                <a:solidFill>
                  <a:srgbClr val="0000A8"/>
                </a:solidFill>
              </a:rPr>
              <a:t>combine</a:t>
            </a:r>
            <a:r>
              <a:rPr lang="en-US" sz="2600" b="1" dirty="0"/>
              <a:t> them together</a:t>
            </a:r>
          </a:p>
        </p:txBody>
      </p:sp>
      <p:sp>
        <p:nvSpPr>
          <p:cNvPr id="6" name="Title 5"/>
          <p:cNvSpPr>
            <a:spLocks noGrp="1"/>
          </p:cNvSpPr>
          <p:nvPr>
            <p:ph type="title"/>
          </p:nvPr>
        </p:nvSpPr>
        <p:spPr/>
        <p:txBody>
          <a:bodyPr>
            <a:normAutofit/>
          </a:bodyPr>
          <a:lstStyle/>
          <a:p>
            <a:r>
              <a:rPr lang="en-US" dirty="0"/>
              <a:t>Hybrid Decomposition</a:t>
            </a:r>
          </a:p>
        </p:txBody>
      </p:sp>
      <p:pic>
        <p:nvPicPr>
          <p:cNvPr id="7" name="Picture 6"/>
          <p:cNvPicPr>
            <a:picLocks noChangeAspect="1"/>
          </p:cNvPicPr>
          <p:nvPr/>
        </p:nvPicPr>
        <p:blipFill>
          <a:blip r:embed="rId3"/>
          <a:stretch>
            <a:fillRect/>
          </a:stretch>
        </p:blipFill>
        <p:spPr>
          <a:xfrm>
            <a:off x="2219346" y="2551517"/>
            <a:ext cx="7753308" cy="1951658"/>
          </a:xfrm>
          <a:prstGeom prst="rect">
            <a:avLst/>
          </a:prstGeom>
        </p:spPr>
      </p:pic>
    </p:spTree>
    <p:extLst>
      <p:ext uri="{BB962C8B-B14F-4D97-AF65-F5344CB8AC3E}">
        <p14:creationId xmlns:p14="http://schemas.microsoft.com/office/powerpoint/2010/main" val="2161675300"/>
      </p:ext>
    </p:extLst>
  </p:cSld>
  <p:clrMapOvr>
    <a:masterClrMapping/>
  </p:clrMapOvr>
  <p:transition spd="slow">
    <p:push dir="u"/>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402090"/>
            <a:ext cx="10515600" cy="5143853"/>
          </a:xfrm>
        </p:spPr>
        <p:txBody>
          <a:bodyPr>
            <a:noAutofit/>
          </a:bodyPr>
          <a:lstStyle/>
          <a:p>
            <a:pPr marL="130175" indent="0" algn="just">
              <a:buNone/>
            </a:pPr>
            <a:r>
              <a:rPr lang="en-US" sz="2600" b="1" dirty="0">
                <a:solidFill>
                  <a:srgbClr val="C00000"/>
                </a:solidFill>
              </a:rPr>
              <a:t>Static </a:t>
            </a:r>
            <a:r>
              <a:rPr lang="en-US" sz="2600" b="1" dirty="0" smtClean="0">
                <a:solidFill>
                  <a:srgbClr val="C00000"/>
                </a:solidFill>
              </a:rPr>
              <a:t>Mapping:</a:t>
            </a:r>
            <a:endParaRPr lang="en-US" sz="2600" b="1" dirty="0">
              <a:solidFill>
                <a:srgbClr val="C00000"/>
              </a:solidFill>
            </a:endParaRPr>
          </a:p>
          <a:p>
            <a:pPr algn="just">
              <a:buFont typeface="Arial" panose="020B0604020202020204" pitchFamily="34" charset="0"/>
              <a:buChar char="•"/>
            </a:pPr>
            <a:r>
              <a:rPr lang="en-US" sz="2600" b="1" dirty="0"/>
              <a:t>Distributing the tasks among the processes </a:t>
            </a:r>
            <a:r>
              <a:rPr lang="en-US" sz="2600" b="1" dirty="0">
                <a:solidFill>
                  <a:srgbClr val="0000A8"/>
                </a:solidFill>
              </a:rPr>
              <a:t>before execution </a:t>
            </a:r>
            <a:r>
              <a:rPr lang="en-US" sz="2600" b="1" dirty="0"/>
              <a:t>of the program</a:t>
            </a:r>
          </a:p>
          <a:p>
            <a:pPr lvl="1" algn="just">
              <a:buFont typeface="Wingdings" panose="05000000000000000000" pitchFamily="2" charset="2"/>
              <a:buChar char="Ø"/>
            </a:pPr>
            <a:r>
              <a:rPr lang="en-US" sz="2200" b="1" dirty="0"/>
              <a:t>E.g., usually used in situation where </a:t>
            </a:r>
            <a:r>
              <a:rPr lang="en-US" sz="2200" b="1" dirty="0">
                <a:solidFill>
                  <a:srgbClr val="0000A8"/>
                </a:solidFill>
              </a:rPr>
              <a:t>total number of tasks and their sizes </a:t>
            </a:r>
            <a:r>
              <a:rPr lang="en-US" sz="2200" b="1" dirty="0"/>
              <a:t>are known before the execution of the program</a:t>
            </a:r>
          </a:p>
          <a:p>
            <a:pPr algn="just">
              <a:buFont typeface="Arial" panose="020B0604020202020204" pitchFamily="34" charset="0"/>
              <a:buChar char="•"/>
            </a:pPr>
            <a:r>
              <a:rPr lang="en-US" sz="2600" b="1" dirty="0"/>
              <a:t>Easy to implement in massage passing </a:t>
            </a:r>
            <a:r>
              <a:rPr lang="en-US" sz="2600" b="1" dirty="0" smtClean="0"/>
              <a:t>paradigm</a:t>
            </a:r>
          </a:p>
          <a:p>
            <a:pPr algn="just">
              <a:buFont typeface="Arial" panose="020B0604020202020204" pitchFamily="34" charset="0"/>
              <a:buChar char="•"/>
            </a:pPr>
            <a:endParaRPr lang="en-US" sz="2600" b="1" dirty="0"/>
          </a:p>
          <a:p>
            <a:pPr marL="130175" indent="0" algn="just">
              <a:buNone/>
            </a:pPr>
            <a:r>
              <a:rPr lang="en-US" sz="2600" b="1" dirty="0">
                <a:solidFill>
                  <a:srgbClr val="C00000"/>
                </a:solidFill>
              </a:rPr>
              <a:t>Dynamic </a:t>
            </a:r>
            <a:r>
              <a:rPr lang="en-US" sz="2600" b="1" dirty="0" smtClean="0">
                <a:solidFill>
                  <a:srgbClr val="C00000"/>
                </a:solidFill>
              </a:rPr>
              <a:t>Mapping:</a:t>
            </a:r>
            <a:endParaRPr lang="en-US" sz="2600" b="1" dirty="0">
              <a:solidFill>
                <a:srgbClr val="C00000"/>
              </a:solidFill>
            </a:endParaRPr>
          </a:p>
          <a:p>
            <a:pPr algn="just">
              <a:buFont typeface="Arial" panose="020B0604020202020204" pitchFamily="34" charset="0"/>
              <a:buChar char="•"/>
            </a:pPr>
            <a:r>
              <a:rPr lang="en-US" sz="2600" b="1" dirty="0"/>
              <a:t>When total number of tasks </a:t>
            </a:r>
            <a:r>
              <a:rPr lang="en-US" sz="2600" b="1" dirty="0">
                <a:solidFill>
                  <a:srgbClr val="0000A8"/>
                </a:solidFill>
              </a:rPr>
              <a:t>are not known </a:t>
            </a:r>
            <a:r>
              <a:rPr lang="en-US" sz="2600" b="1" dirty="0"/>
              <a:t>a priori</a:t>
            </a:r>
          </a:p>
          <a:p>
            <a:pPr lvl="1" algn="just">
              <a:buFont typeface="Wingdings" panose="05000000000000000000" pitchFamily="2" charset="2"/>
              <a:buChar char="Ø"/>
            </a:pPr>
            <a:r>
              <a:rPr lang="en-US" sz="2200" b="1" dirty="0"/>
              <a:t>(OR) when task sizes are unknown</a:t>
            </a:r>
          </a:p>
          <a:p>
            <a:pPr lvl="2" algn="just">
              <a:buClr>
                <a:srgbClr val="0000A8"/>
              </a:buClr>
              <a:buFont typeface="Wingdings" panose="05000000000000000000" pitchFamily="2" charset="2"/>
              <a:buChar char="ü"/>
            </a:pPr>
            <a:r>
              <a:rPr lang="en-US" sz="1800" b="1" dirty="0"/>
              <a:t>In this case static mapping can lead to </a:t>
            </a:r>
            <a:r>
              <a:rPr lang="en-US" sz="1800" b="1" dirty="0">
                <a:solidFill>
                  <a:srgbClr val="0000A8"/>
                </a:solidFill>
              </a:rPr>
              <a:t>serious </a:t>
            </a:r>
            <a:r>
              <a:rPr lang="en-US" sz="1800" b="1" dirty="0" smtClean="0">
                <a:solidFill>
                  <a:srgbClr val="0000A8"/>
                </a:solidFill>
              </a:rPr>
              <a:t>load-imbalances</a:t>
            </a:r>
            <a:r>
              <a:rPr lang="en-US" sz="1800" b="1" dirty="0"/>
              <a:t>			</a:t>
            </a:r>
          </a:p>
          <a:p>
            <a:pPr algn="just">
              <a:buFont typeface="Arial" panose="020B0604020202020204" pitchFamily="34" charset="0"/>
              <a:buChar char="•"/>
            </a:pPr>
            <a:endParaRPr lang="en-US" sz="2600" b="1" dirty="0"/>
          </a:p>
        </p:txBody>
      </p:sp>
      <p:sp>
        <p:nvSpPr>
          <p:cNvPr id="6" name="Title 5"/>
          <p:cNvSpPr>
            <a:spLocks noGrp="1"/>
          </p:cNvSpPr>
          <p:nvPr>
            <p:ph type="title"/>
          </p:nvPr>
        </p:nvSpPr>
        <p:spPr/>
        <p:txBody>
          <a:bodyPr>
            <a:normAutofit/>
          </a:bodyPr>
          <a:lstStyle/>
          <a:p>
            <a:r>
              <a:rPr lang="en-US" dirty="0"/>
              <a:t>Mapping Schemes</a:t>
            </a:r>
          </a:p>
        </p:txBody>
      </p:sp>
    </p:spTree>
    <p:extLst>
      <p:ext uri="{BB962C8B-B14F-4D97-AF65-F5344CB8AC3E}">
        <p14:creationId xmlns:p14="http://schemas.microsoft.com/office/powerpoint/2010/main" val="1740766617"/>
      </p:ext>
    </p:extLst>
  </p:cSld>
  <p:clrMapOvr>
    <a:masterClrMapping/>
  </p:clrMapOvr>
  <p:transition spd="slow">
    <p:push dir="u"/>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402090"/>
            <a:ext cx="10515600" cy="5143853"/>
          </a:xfrm>
        </p:spPr>
        <p:txBody>
          <a:bodyPr>
            <a:noAutofit/>
          </a:bodyPr>
          <a:lstStyle/>
          <a:p>
            <a:pPr algn="just">
              <a:buFont typeface="Arial" panose="020B0604020202020204" pitchFamily="34" charset="0"/>
              <a:buChar char="•"/>
            </a:pPr>
            <a:r>
              <a:rPr lang="en-US" sz="2400" b="1" dirty="0"/>
              <a:t>Block distribution (1D</a:t>
            </a:r>
            <a:r>
              <a:rPr lang="en-US" sz="2400" b="1" dirty="0" smtClean="0"/>
              <a:t>)</a:t>
            </a:r>
          </a:p>
          <a:p>
            <a:pPr algn="just">
              <a:buFont typeface="Arial" panose="020B0604020202020204" pitchFamily="34" charset="0"/>
              <a:buChar char="•"/>
            </a:pPr>
            <a:endParaRPr lang="en-US" sz="3200" b="1" dirty="0" smtClean="0"/>
          </a:p>
          <a:p>
            <a:pPr algn="just">
              <a:buFont typeface="Arial" panose="020B0604020202020204" pitchFamily="34" charset="0"/>
              <a:buChar char="•"/>
            </a:pPr>
            <a:endParaRPr lang="en-US" sz="3200" b="1" dirty="0"/>
          </a:p>
          <a:p>
            <a:pPr marL="130175" indent="0" algn="just">
              <a:buNone/>
            </a:pPr>
            <a:endParaRPr lang="en-US" sz="3200" b="1" dirty="0"/>
          </a:p>
          <a:p>
            <a:pPr algn="just">
              <a:buFont typeface="Arial" panose="020B0604020202020204" pitchFamily="34" charset="0"/>
              <a:buChar char="•"/>
            </a:pPr>
            <a:endParaRPr lang="en-US" sz="2000" b="1" dirty="0" smtClean="0"/>
          </a:p>
          <a:p>
            <a:pPr algn="just">
              <a:buFont typeface="Arial" panose="020B0604020202020204" pitchFamily="34" charset="0"/>
              <a:buChar char="•"/>
            </a:pPr>
            <a:r>
              <a:rPr lang="en-US" sz="2000" b="1" dirty="0" smtClean="0"/>
              <a:t>Block </a:t>
            </a:r>
            <a:r>
              <a:rPr lang="en-US" sz="2000" b="1" dirty="0"/>
              <a:t>distribution (2D)</a:t>
            </a:r>
          </a:p>
          <a:p>
            <a:pPr algn="just">
              <a:buFont typeface="Arial" panose="020B0604020202020204" pitchFamily="34" charset="0"/>
              <a:buChar char="•"/>
            </a:pPr>
            <a:endParaRPr lang="en-US" sz="3200" b="1" dirty="0"/>
          </a:p>
        </p:txBody>
      </p:sp>
      <p:sp>
        <p:nvSpPr>
          <p:cNvPr id="6" name="Title 5"/>
          <p:cNvSpPr>
            <a:spLocks noGrp="1"/>
          </p:cNvSpPr>
          <p:nvPr>
            <p:ph type="title"/>
          </p:nvPr>
        </p:nvSpPr>
        <p:spPr/>
        <p:txBody>
          <a:bodyPr>
            <a:normAutofit/>
          </a:bodyPr>
          <a:lstStyle/>
          <a:p>
            <a:r>
              <a:rPr lang="en-US" dirty="0"/>
              <a:t>Schemes for Static Mapping</a:t>
            </a:r>
          </a:p>
        </p:txBody>
      </p:sp>
      <p:pic>
        <p:nvPicPr>
          <p:cNvPr id="7" name="Picture 6"/>
          <p:cNvPicPr>
            <a:picLocks noChangeAspect="1"/>
          </p:cNvPicPr>
          <p:nvPr/>
        </p:nvPicPr>
        <p:blipFill>
          <a:blip r:embed="rId3"/>
          <a:stretch>
            <a:fillRect/>
          </a:stretch>
        </p:blipFill>
        <p:spPr>
          <a:xfrm>
            <a:off x="3495452" y="1736831"/>
            <a:ext cx="4464495" cy="2176534"/>
          </a:xfrm>
          <a:prstGeom prst="rect">
            <a:avLst/>
          </a:prstGeom>
        </p:spPr>
      </p:pic>
      <p:pic>
        <p:nvPicPr>
          <p:cNvPr id="8" name="Picture 7"/>
          <p:cNvPicPr>
            <a:picLocks noChangeAspect="1"/>
          </p:cNvPicPr>
          <p:nvPr/>
        </p:nvPicPr>
        <p:blipFill>
          <a:blip r:embed="rId4"/>
          <a:stretch>
            <a:fillRect/>
          </a:stretch>
        </p:blipFill>
        <p:spPr>
          <a:xfrm>
            <a:off x="3495452" y="4306065"/>
            <a:ext cx="5143500" cy="2295525"/>
          </a:xfrm>
          <a:prstGeom prst="rect">
            <a:avLst/>
          </a:prstGeom>
        </p:spPr>
      </p:pic>
    </p:spTree>
    <p:extLst>
      <p:ext uri="{BB962C8B-B14F-4D97-AF65-F5344CB8AC3E}">
        <p14:creationId xmlns:p14="http://schemas.microsoft.com/office/powerpoint/2010/main" val="2368054987"/>
      </p:ext>
    </p:extLst>
  </p:cSld>
  <p:clrMapOvr>
    <a:masterClrMapping/>
  </p:clrMapOvr>
  <p:transition spd="slow">
    <p:push dir="u"/>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dirty="0"/>
              <a:t>Schemes for Static </a:t>
            </a:r>
            <a:r>
              <a:rPr lang="en-US" dirty="0" smtClean="0"/>
              <a:t>Mapping (Cont.)</a:t>
            </a:r>
            <a:endParaRPr lang="en-US" dirty="0"/>
          </a:p>
        </p:txBody>
      </p:sp>
      <p:pic>
        <p:nvPicPr>
          <p:cNvPr id="4" name="Content Placeholder 3"/>
          <p:cNvPicPr>
            <a:picLocks noGrp="1" noChangeAspect="1"/>
          </p:cNvPicPr>
          <p:nvPr>
            <p:ph idx="1"/>
          </p:nvPr>
        </p:nvPicPr>
        <p:blipFill>
          <a:blip r:embed="rId3"/>
          <a:stretch>
            <a:fillRect/>
          </a:stretch>
        </p:blipFill>
        <p:spPr>
          <a:xfrm>
            <a:off x="1563914" y="1346443"/>
            <a:ext cx="8077200" cy="5019675"/>
          </a:xfrm>
          <a:prstGeom prst="rect">
            <a:avLst/>
          </a:prstGeom>
        </p:spPr>
      </p:pic>
    </p:spTree>
    <p:extLst>
      <p:ext uri="{BB962C8B-B14F-4D97-AF65-F5344CB8AC3E}">
        <p14:creationId xmlns:p14="http://schemas.microsoft.com/office/powerpoint/2010/main" val="68874679"/>
      </p:ext>
    </p:extLst>
  </p:cSld>
  <p:clrMapOvr>
    <a:masterClrMapping/>
  </p:clrMapOvr>
  <p:transition spd="slow">
    <p:push dir="u"/>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402090"/>
            <a:ext cx="10515600" cy="5143853"/>
          </a:xfrm>
        </p:spPr>
        <p:txBody>
          <a:bodyPr>
            <a:noAutofit/>
          </a:bodyPr>
          <a:lstStyle/>
          <a:p>
            <a:pPr>
              <a:buFont typeface="Arial" panose="020B0604020202020204" pitchFamily="34" charset="0"/>
              <a:buChar char="•"/>
            </a:pPr>
            <a:r>
              <a:rPr lang="en-US" sz="3200" b="1" dirty="0"/>
              <a:t>Cyclic distribution (HERE array size=4 x 4 and p=3)</a:t>
            </a:r>
          </a:p>
        </p:txBody>
      </p:sp>
      <p:sp>
        <p:nvSpPr>
          <p:cNvPr id="6" name="Title 5"/>
          <p:cNvSpPr>
            <a:spLocks noGrp="1"/>
          </p:cNvSpPr>
          <p:nvPr>
            <p:ph type="title"/>
          </p:nvPr>
        </p:nvSpPr>
        <p:spPr/>
        <p:txBody>
          <a:bodyPr>
            <a:normAutofit/>
          </a:bodyPr>
          <a:lstStyle/>
          <a:p>
            <a:r>
              <a:rPr lang="en-US" dirty="0"/>
              <a:t>Schemes for Static </a:t>
            </a:r>
            <a:r>
              <a:rPr lang="en-US" dirty="0" smtClean="0"/>
              <a:t>Mapping (Cont.)</a:t>
            </a:r>
            <a:endParaRPr lang="en-US" dirty="0"/>
          </a:p>
        </p:txBody>
      </p:sp>
      <p:pic>
        <p:nvPicPr>
          <p:cNvPr id="4" name="Picture 3"/>
          <p:cNvPicPr>
            <a:picLocks noChangeAspect="1"/>
          </p:cNvPicPr>
          <p:nvPr/>
        </p:nvPicPr>
        <p:blipFill>
          <a:blip r:embed="rId3"/>
          <a:stretch>
            <a:fillRect/>
          </a:stretch>
        </p:blipFill>
        <p:spPr>
          <a:xfrm>
            <a:off x="3357442" y="2004482"/>
            <a:ext cx="4104456" cy="3372063"/>
          </a:xfrm>
          <a:prstGeom prst="rect">
            <a:avLst/>
          </a:prstGeom>
        </p:spPr>
      </p:pic>
    </p:spTree>
    <p:extLst>
      <p:ext uri="{BB962C8B-B14F-4D97-AF65-F5344CB8AC3E}">
        <p14:creationId xmlns:p14="http://schemas.microsoft.com/office/powerpoint/2010/main" val="3670946933"/>
      </p:ext>
    </p:extLst>
  </p:cSld>
  <p:clrMapOvr>
    <a:masterClrMapping/>
  </p:clrMapOvr>
  <p:transition spd="slow">
    <p:push dir="u"/>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402090"/>
            <a:ext cx="10515600" cy="5143853"/>
          </a:xfrm>
        </p:spPr>
        <p:txBody>
          <a:bodyPr>
            <a:noAutofit/>
          </a:bodyPr>
          <a:lstStyle/>
          <a:p>
            <a:pPr>
              <a:buFont typeface="Arial" panose="020B0604020202020204" pitchFamily="34" charset="0"/>
              <a:buChar char="•"/>
            </a:pPr>
            <a:r>
              <a:rPr lang="en-US" sz="3200" b="1" dirty="0" smtClean="0"/>
              <a:t>Block-Cyclic </a:t>
            </a:r>
            <a:r>
              <a:rPr lang="en-US" sz="3200" b="1" dirty="0"/>
              <a:t>distribution</a:t>
            </a:r>
          </a:p>
        </p:txBody>
      </p:sp>
      <p:sp>
        <p:nvSpPr>
          <p:cNvPr id="6" name="Title 5"/>
          <p:cNvSpPr>
            <a:spLocks noGrp="1"/>
          </p:cNvSpPr>
          <p:nvPr>
            <p:ph type="title"/>
          </p:nvPr>
        </p:nvSpPr>
        <p:spPr/>
        <p:txBody>
          <a:bodyPr>
            <a:normAutofit/>
          </a:bodyPr>
          <a:lstStyle/>
          <a:p>
            <a:r>
              <a:rPr lang="en-US" dirty="0"/>
              <a:t>Schemes for Static </a:t>
            </a:r>
            <a:r>
              <a:rPr lang="en-US" dirty="0" smtClean="0"/>
              <a:t>Mapping (Cont.)</a:t>
            </a:r>
            <a:endParaRPr lang="en-US" dirty="0"/>
          </a:p>
        </p:txBody>
      </p:sp>
      <p:pic>
        <p:nvPicPr>
          <p:cNvPr id="7" name="Picture 6"/>
          <p:cNvPicPr>
            <a:picLocks noChangeAspect="1"/>
          </p:cNvPicPr>
          <p:nvPr/>
        </p:nvPicPr>
        <p:blipFill>
          <a:blip r:embed="rId3"/>
          <a:stretch>
            <a:fillRect/>
          </a:stretch>
        </p:blipFill>
        <p:spPr>
          <a:xfrm>
            <a:off x="2507860" y="2168362"/>
            <a:ext cx="6296025" cy="2295525"/>
          </a:xfrm>
          <a:prstGeom prst="rect">
            <a:avLst/>
          </a:prstGeom>
        </p:spPr>
      </p:pic>
    </p:spTree>
    <p:extLst>
      <p:ext uri="{BB962C8B-B14F-4D97-AF65-F5344CB8AC3E}">
        <p14:creationId xmlns:p14="http://schemas.microsoft.com/office/powerpoint/2010/main" val="3331121548"/>
      </p:ext>
    </p:extLst>
  </p:cSld>
  <p:clrMapOvr>
    <a:masterClrMapping/>
  </p:clrMapOvr>
  <p:transition spd="slow">
    <p:push dir="u"/>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402090"/>
            <a:ext cx="10515600" cy="5143853"/>
          </a:xfrm>
        </p:spPr>
        <p:txBody>
          <a:bodyPr>
            <a:noAutofit/>
          </a:bodyPr>
          <a:lstStyle/>
          <a:p>
            <a:r>
              <a:rPr lang="en-US" sz="2400" b="1" dirty="0"/>
              <a:t>Randomized-Block distribution (solution: 1D)</a:t>
            </a:r>
          </a:p>
          <a:p>
            <a:endParaRPr lang="en-US" sz="2400" b="1" dirty="0"/>
          </a:p>
          <a:p>
            <a:endParaRPr lang="en-US" sz="2400" b="1" dirty="0"/>
          </a:p>
          <a:p>
            <a:pPr marL="130175" indent="0">
              <a:buNone/>
            </a:pPr>
            <a:endParaRPr lang="en-US" sz="2400" b="1" dirty="0"/>
          </a:p>
          <a:p>
            <a:endParaRPr lang="en-US" sz="2400" b="1" dirty="0" smtClean="0"/>
          </a:p>
          <a:p>
            <a:r>
              <a:rPr lang="en-US" sz="2400" b="1" dirty="0" smtClean="0"/>
              <a:t>Randomized-Block distribution (solution: 2D)</a:t>
            </a:r>
          </a:p>
          <a:p>
            <a:endParaRPr lang="en-US" sz="2400" b="1" dirty="0" smtClean="0"/>
          </a:p>
          <a:p>
            <a:endParaRPr lang="en-US" sz="2400" b="1" dirty="0"/>
          </a:p>
          <a:p>
            <a:pPr algn="just">
              <a:buFont typeface="Arial" panose="020B0604020202020204" pitchFamily="34" charset="0"/>
              <a:buChar char="•"/>
            </a:pPr>
            <a:endParaRPr lang="en-US" sz="2400" b="1" dirty="0"/>
          </a:p>
        </p:txBody>
      </p:sp>
      <p:sp>
        <p:nvSpPr>
          <p:cNvPr id="6" name="Title 5"/>
          <p:cNvSpPr>
            <a:spLocks noGrp="1"/>
          </p:cNvSpPr>
          <p:nvPr>
            <p:ph type="title"/>
          </p:nvPr>
        </p:nvSpPr>
        <p:spPr/>
        <p:txBody>
          <a:bodyPr>
            <a:normAutofit/>
          </a:bodyPr>
          <a:lstStyle/>
          <a:p>
            <a:r>
              <a:rPr lang="en-US" dirty="0"/>
              <a:t>Schemes for Static Mapping (Cont.)</a:t>
            </a:r>
          </a:p>
        </p:txBody>
      </p:sp>
      <p:pic>
        <p:nvPicPr>
          <p:cNvPr id="7" name="Picture 6"/>
          <p:cNvPicPr>
            <a:picLocks noChangeAspect="1"/>
          </p:cNvPicPr>
          <p:nvPr/>
        </p:nvPicPr>
        <p:blipFill>
          <a:blip r:embed="rId3"/>
          <a:stretch>
            <a:fillRect/>
          </a:stretch>
        </p:blipFill>
        <p:spPr>
          <a:xfrm>
            <a:off x="3807177" y="1822964"/>
            <a:ext cx="3469407" cy="1691584"/>
          </a:xfrm>
          <a:prstGeom prst="rect">
            <a:avLst/>
          </a:prstGeom>
        </p:spPr>
      </p:pic>
      <p:pic>
        <p:nvPicPr>
          <p:cNvPr id="8" name="Picture 7"/>
          <p:cNvPicPr>
            <a:picLocks noChangeAspect="1"/>
          </p:cNvPicPr>
          <p:nvPr/>
        </p:nvPicPr>
        <p:blipFill>
          <a:blip r:embed="rId4"/>
          <a:stretch>
            <a:fillRect/>
          </a:stretch>
        </p:blipFill>
        <p:spPr>
          <a:xfrm>
            <a:off x="2222646" y="4000720"/>
            <a:ext cx="6645584" cy="2857280"/>
          </a:xfrm>
          <a:prstGeom prst="rect">
            <a:avLst/>
          </a:prstGeom>
        </p:spPr>
      </p:pic>
    </p:spTree>
    <p:extLst>
      <p:ext uri="{BB962C8B-B14F-4D97-AF65-F5344CB8AC3E}">
        <p14:creationId xmlns:p14="http://schemas.microsoft.com/office/powerpoint/2010/main" val="1346662788"/>
      </p:ext>
    </p:extLst>
  </p:cSld>
  <p:clrMapOvr>
    <a:masterClrMapping/>
  </p:clrMapOvr>
  <p:transition spd="slow">
    <p:push dir="u"/>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402090"/>
            <a:ext cx="10515600" cy="5143853"/>
          </a:xfrm>
        </p:spPr>
        <p:txBody>
          <a:bodyPr>
            <a:noAutofit/>
          </a:bodyPr>
          <a:lstStyle/>
          <a:p>
            <a:pPr marL="130175" indent="0" algn="just">
              <a:buNone/>
            </a:pPr>
            <a:r>
              <a:rPr lang="en-US" sz="3000" b="1" dirty="0" smtClean="0">
                <a:solidFill>
                  <a:srgbClr val="C00000"/>
                </a:solidFill>
              </a:rPr>
              <a:t>Why </a:t>
            </a:r>
            <a:r>
              <a:rPr lang="en-US" sz="3000" b="1" dirty="0">
                <a:solidFill>
                  <a:srgbClr val="C00000"/>
                </a:solidFill>
              </a:rPr>
              <a:t>randomized block cyclic distribution is not always used</a:t>
            </a:r>
            <a:r>
              <a:rPr lang="en-US" sz="3000" b="1" dirty="0" smtClean="0">
                <a:solidFill>
                  <a:srgbClr val="C00000"/>
                </a:solidFill>
              </a:rPr>
              <a:t>?</a:t>
            </a:r>
            <a:endParaRPr lang="en-US" sz="3000" b="1" dirty="0"/>
          </a:p>
          <a:p>
            <a:pPr algn="just">
              <a:buFont typeface="Arial" panose="020B0604020202020204" pitchFamily="34" charset="0"/>
              <a:buChar char="•"/>
            </a:pPr>
            <a:r>
              <a:rPr lang="en-US" sz="3000" b="1" dirty="0">
                <a:solidFill>
                  <a:srgbClr val="7030A0"/>
                </a:solidFill>
              </a:rPr>
              <a:t>Poor spatial </a:t>
            </a:r>
            <a:r>
              <a:rPr lang="en-US" sz="3000" b="1" dirty="0" smtClean="0">
                <a:solidFill>
                  <a:srgbClr val="7030A0"/>
                </a:solidFill>
              </a:rPr>
              <a:t>locality</a:t>
            </a:r>
          </a:p>
          <a:p>
            <a:pPr algn="just">
              <a:buFont typeface="Arial" panose="020B0604020202020204" pitchFamily="34" charset="0"/>
              <a:buChar char="•"/>
            </a:pPr>
            <a:r>
              <a:rPr lang="en-US" sz="3000" b="1" dirty="0" smtClean="0"/>
              <a:t>High </a:t>
            </a:r>
            <a:r>
              <a:rPr lang="en-US" sz="3000" b="1" dirty="0"/>
              <a:t>inter-process interaction</a:t>
            </a:r>
          </a:p>
          <a:p>
            <a:pPr algn="just">
              <a:buFont typeface="Arial" panose="020B0604020202020204" pitchFamily="34" charset="0"/>
              <a:buChar char="•"/>
            </a:pPr>
            <a:endParaRPr lang="en-US" sz="3000" b="1" dirty="0"/>
          </a:p>
        </p:txBody>
      </p:sp>
      <p:sp>
        <p:nvSpPr>
          <p:cNvPr id="6" name="Title 5"/>
          <p:cNvSpPr>
            <a:spLocks noGrp="1"/>
          </p:cNvSpPr>
          <p:nvPr>
            <p:ph type="title"/>
          </p:nvPr>
        </p:nvSpPr>
        <p:spPr/>
        <p:txBody>
          <a:bodyPr>
            <a:normAutofit/>
          </a:bodyPr>
          <a:lstStyle/>
          <a:p>
            <a:r>
              <a:rPr lang="en-US" dirty="0"/>
              <a:t>Schemes for Static Mapping (Cont.)</a:t>
            </a:r>
          </a:p>
        </p:txBody>
      </p:sp>
    </p:spTree>
    <p:extLst>
      <p:ext uri="{BB962C8B-B14F-4D97-AF65-F5344CB8AC3E}">
        <p14:creationId xmlns:p14="http://schemas.microsoft.com/office/powerpoint/2010/main" val="542112553"/>
      </p:ext>
    </p:extLst>
  </p:cSld>
  <p:clrMapOvr>
    <a:masterClrMapping/>
  </p:clrMapOvr>
  <p:transition spd="slow">
    <p:push dir="u"/>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402090"/>
            <a:ext cx="10515600" cy="5143853"/>
          </a:xfrm>
        </p:spPr>
        <p:txBody>
          <a:bodyPr>
            <a:noAutofit/>
          </a:bodyPr>
          <a:lstStyle/>
          <a:p>
            <a:pPr algn="just">
              <a:buFont typeface="Arial" panose="020B0604020202020204" pitchFamily="34" charset="0"/>
              <a:buChar char="•"/>
            </a:pPr>
            <a:r>
              <a:rPr lang="en-US" sz="3000" b="1" dirty="0"/>
              <a:t>A </a:t>
            </a:r>
            <a:r>
              <a:rPr lang="en-US" sz="3000" b="1" dirty="0">
                <a:solidFill>
                  <a:srgbClr val="0000A8"/>
                </a:solidFill>
              </a:rPr>
              <a:t>simulation</a:t>
            </a:r>
            <a:r>
              <a:rPr lang="en-US" sz="3000" b="1" dirty="0"/>
              <a:t> </a:t>
            </a:r>
            <a:r>
              <a:rPr lang="en-US" sz="3000" b="1" dirty="0">
                <a:solidFill>
                  <a:srgbClr val="0000A8"/>
                </a:solidFill>
              </a:rPr>
              <a:t>model</a:t>
            </a:r>
            <a:r>
              <a:rPr lang="en-US" sz="3000" b="1" dirty="0"/>
              <a:t> (using a mesh of tasks) for finding dispersion of water contaminant in a lake at different intervals of time.</a:t>
            </a:r>
          </a:p>
        </p:txBody>
      </p:sp>
      <p:sp>
        <p:nvSpPr>
          <p:cNvPr id="6" name="Title 5"/>
          <p:cNvSpPr>
            <a:spLocks noGrp="1"/>
          </p:cNvSpPr>
          <p:nvPr>
            <p:ph type="title"/>
          </p:nvPr>
        </p:nvSpPr>
        <p:spPr/>
        <p:txBody>
          <a:bodyPr>
            <a:normAutofit/>
          </a:bodyPr>
          <a:lstStyle/>
          <a:p>
            <a:r>
              <a:rPr lang="en-US" dirty="0"/>
              <a:t>Example</a:t>
            </a:r>
          </a:p>
        </p:txBody>
      </p:sp>
      <p:pic>
        <p:nvPicPr>
          <p:cNvPr id="4" name="Picture 3"/>
          <p:cNvPicPr>
            <a:picLocks noChangeAspect="1"/>
          </p:cNvPicPr>
          <p:nvPr/>
        </p:nvPicPr>
        <p:blipFill>
          <a:blip r:embed="rId3"/>
          <a:stretch>
            <a:fillRect/>
          </a:stretch>
        </p:blipFill>
        <p:spPr>
          <a:xfrm>
            <a:off x="2647950" y="2511889"/>
            <a:ext cx="6896100" cy="3352800"/>
          </a:xfrm>
          <a:prstGeom prst="rect">
            <a:avLst/>
          </a:prstGeom>
        </p:spPr>
      </p:pic>
    </p:spTree>
    <p:extLst>
      <p:ext uri="{BB962C8B-B14F-4D97-AF65-F5344CB8AC3E}">
        <p14:creationId xmlns:p14="http://schemas.microsoft.com/office/powerpoint/2010/main" val="2042568509"/>
      </p:ext>
    </p:extLst>
  </p:cSld>
  <p:clrMapOvr>
    <a:masterClrMapping/>
  </p:clrMapOvr>
  <p:transition spd="slow">
    <p:push dir="u"/>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dirty="0"/>
              <a:t>Random distribution</a:t>
            </a:r>
          </a:p>
        </p:txBody>
      </p:sp>
      <p:sp>
        <p:nvSpPr>
          <p:cNvPr id="3" name="Content Placeholder 2"/>
          <p:cNvSpPr>
            <a:spLocks noGrp="1"/>
          </p:cNvSpPr>
          <p:nvPr>
            <p:ph idx="1"/>
          </p:nvPr>
        </p:nvSpPr>
        <p:spPr/>
        <p:txBody>
          <a:bodyPr/>
          <a:lstStyle/>
          <a:p>
            <a:endParaRPr lang="en-US" dirty="0"/>
          </a:p>
        </p:txBody>
      </p:sp>
      <p:pic>
        <p:nvPicPr>
          <p:cNvPr id="5" name="Picture 4"/>
          <p:cNvPicPr>
            <a:picLocks noChangeAspect="1"/>
          </p:cNvPicPr>
          <p:nvPr/>
        </p:nvPicPr>
        <p:blipFill>
          <a:blip r:embed="rId3"/>
          <a:stretch>
            <a:fillRect/>
          </a:stretch>
        </p:blipFill>
        <p:spPr>
          <a:xfrm>
            <a:off x="838200" y="1666083"/>
            <a:ext cx="8162925" cy="4467225"/>
          </a:xfrm>
          <a:prstGeom prst="rect">
            <a:avLst/>
          </a:prstGeom>
        </p:spPr>
      </p:pic>
    </p:spTree>
    <p:extLst>
      <p:ext uri="{BB962C8B-B14F-4D97-AF65-F5344CB8AC3E}">
        <p14:creationId xmlns:p14="http://schemas.microsoft.com/office/powerpoint/2010/main" val="2044345904"/>
      </p:ext>
    </p:extLst>
  </p:cSld>
  <p:clrMapOvr>
    <a:masterClrMapping/>
  </p:clrMapOvr>
  <p:transition spd="slow">
    <p:push dir="u"/>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pPr algn="just"/>
            <a:r>
              <a:rPr lang="en-US" dirty="0"/>
              <a:t>Graph Partitioning</a:t>
            </a:r>
          </a:p>
        </p:txBody>
      </p:sp>
      <p:pic>
        <p:nvPicPr>
          <p:cNvPr id="4" name="Content Placeholder 3"/>
          <p:cNvPicPr>
            <a:picLocks noGrp="1" noChangeAspect="1"/>
          </p:cNvPicPr>
          <p:nvPr>
            <p:ph idx="1"/>
          </p:nvPr>
        </p:nvPicPr>
        <p:blipFill>
          <a:blip r:embed="rId3"/>
          <a:stretch>
            <a:fillRect/>
          </a:stretch>
        </p:blipFill>
        <p:spPr>
          <a:xfrm>
            <a:off x="1990725" y="1521165"/>
            <a:ext cx="8210550" cy="3819525"/>
          </a:xfrm>
          <a:prstGeom prst="rect">
            <a:avLst/>
          </a:prstGeom>
        </p:spPr>
      </p:pic>
    </p:spTree>
    <p:extLst>
      <p:ext uri="{BB962C8B-B14F-4D97-AF65-F5344CB8AC3E}">
        <p14:creationId xmlns:p14="http://schemas.microsoft.com/office/powerpoint/2010/main" val="3405348471"/>
      </p:ext>
    </p:extLst>
  </p:cSld>
  <p:clrMapOvr>
    <a:masterClrMapping/>
  </p:clrMapOvr>
  <p:transition spd="slow">
    <p:push dir="u"/>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38200" y="1724027"/>
            <a:ext cx="10515600" cy="4546144"/>
          </a:xfrm>
        </p:spPr>
        <p:txBody>
          <a:bodyPr>
            <a:noAutofit/>
          </a:bodyPr>
          <a:lstStyle/>
          <a:p>
            <a:pPr algn="just">
              <a:buFont typeface="Arial" panose="020B0604020202020204" pitchFamily="34" charset="0"/>
              <a:buChar char="•"/>
            </a:pPr>
            <a:r>
              <a:rPr lang="en-US" b="1" dirty="0" smtClean="0"/>
              <a:t>Decomposition Techniques</a:t>
            </a:r>
          </a:p>
          <a:p>
            <a:pPr lvl="1" algn="just">
              <a:buFont typeface="Wingdings" panose="05000000000000000000" pitchFamily="2" charset="2"/>
              <a:buChar char="Ø"/>
            </a:pPr>
            <a:r>
              <a:rPr lang="en-US" b="1" dirty="0" smtClean="0"/>
              <a:t>No </a:t>
            </a:r>
            <a:r>
              <a:rPr lang="en-US" b="1" dirty="0"/>
              <a:t>single recipe, multiple techniques, hybrid version can also be used </a:t>
            </a:r>
            <a:endParaRPr lang="en-US" b="1" dirty="0" smtClean="0"/>
          </a:p>
          <a:p>
            <a:pPr algn="just">
              <a:buFont typeface="Arial" panose="020B0604020202020204" pitchFamily="34" charset="0"/>
              <a:buChar char="•"/>
            </a:pPr>
            <a:r>
              <a:rPr lang="en-US" b="1" dirty="0" smtClean="0"/>
              <a:t>Recursive Decomposition</a:t>
            </a:r>
          </a:p>
          <a:p>
            <a:pPr lvl="1" algn="just">
              <a:buFont typeface="Wingdings" panose="05000000000000000000" pitchFamily="2" charset="2"/>
              <a:buChar char="Ø"/>
            </a:pPr>
            <a:r>
              <a:rPr lang="en-US" b="1" dirty="0" smtClean="0"/>
              <a:t>Divide </a:t>
            </a:r>
            <a:r>
              <a:rPr lang="en-US" b="1" dirty="0"/>
              <a:t>and conquer </a:t>
            </a:r>
            <a:r>
              <a:rPr lang="en-US" b="1" dirty="0" smtClean="0"/>
              <a:t>strategy</a:t>
            </a:r>
          </a:p>
          <a:p>
            <a:pPr lvl="1" algn="just">
              <a:buFont typeface="Wingdings" panose="05000000000000000000" pitchFamily="2" charset="2"/>
              <a:buChar char="Ø"/>
            </a:pPr>
            <a:r>
              <a:rPr lang="en-US" b="1" dirty="0" smtClean="0"/>
              <a:t>Examples</a:t>
            </a:r>
            <a:r>
              <a:rPr lang="en-US" b="1" dirty="0"/>
              <a:t>: Finding the Minimum Number, Quick sort and many </a:t>
            </a:r>
            <a:r>
              <a:rPr lang="en-US" b="1" dirty="0" smtClean="0"/>
              <a:t>others</a:t>
            </a:r>
          </a:p>
          <a:p>
            <a:pPr algn="just">
              <a:buFont typeface="Arial" panose="020B0604020202020204" pitchFamily="34" charset="0"/>
              <a:buChar char="•"/>
            </a:pPr>
            <a:r>
              <a:rPr lang="en-US" b="1" dirty="0" smtClean="0"/>
              <a:t>Data Decomposition</a:t>
            </a:r>
          </a:p>
          <a:p>
            <a:pPr lvl="1" algn="just">
              <a:buFont typeface="Wingdings" panose="05000000000000000000" pitchFamily="2" charset="2"/>
              <a:buChar char="Ø"/>
            </a:pPr>
            <a:r>
              <a:rPr lang="en-US" b="1" dirty="0" smtClean="0"/>
              <a:t>Data </a:t>
            </a:r>
            <a:r>
              <a:rPr lang="en-US" b="1" dirty="0"/>
              <a:t>of independent tasks is decomposed and mapped on multiple processors for parallel </a:t>
            </a:r>
            <a:r>
              <a:rPr lang="en-US" b="1" dirty="0" smtClean="0"/>
              <a:t>execution</a:t>
            </a:r>
          </a:p>
          <a:p>
            <a:pPr lvl="1" algn="just">
              <a:buFont typeface="Wingdings" panose="05000000000000000000" pitchFamily="2" charset="2"/>
              <a:buChar char="Ø"/>
            </a:pPr>
            <a:r>
              <a:rPr lang="en-US" b="1" dirty="0" smtClean="0"/>
              <a:t>Example</a:t>
            </a:r>
            <a:r>
              <a:rPr lang="en-US" b="1" dirty="0"/>
              <a:t>: Matrix </a:t>
            </a:r>
            <a:r>
              <a:rPr lang="en-US" b="1" dirty="0" smtClean="0"/>
              <a:t>Multiplication</a:t>
            </a:r>
            <a:endParaRPr lang="en-US" b="1" dirty="0"/>
          </a:p>
        </p:txBody>
      </p:sp>
      <p:sp>
        <p:nvSpPr>
          <p:cNvPr id="3" name="Title 2"/>
          <p:cNvSpPr>
            <a:spLocks noGrp="1"/>
          </p:cNvSpPr>
          <p:nvPr>
            <p:ph type="title"/>
          </p:nvPr>
        </p:nvSpPr>
        <p:spPr/>
        <p:txBody>
          <a:bodyPr/>
          <a:lstStyle/>
          <a:p>
            <a:r>
              <a:rPr lang="en-US" dirty="0" smtClean="0"/>
              <a:t>Summary</a:t>
            </a:r>
            <a:endParaRPr lang="en-US" dirty="0"/>
          </a:p>
        </p:txBody>
      </p:sp>
    </p:spTree>
    <p:extLst>
      <p:ext uri="{BB962C8B-B14F-4D97-AF65-F5344CB8AC3E}">
        <p14:creationId xmlns:p14="http://schemas.microsoft.com/office/powerpoint/2010/main" val="247088465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38200" y="1724027"/>
            <a:ext cx="10515600" cy="4546144"/>
          </a:xfrm>
        </p:spPr>
        <p:txBody>
          <a:bodyPr>
            <a:noAutofit/>
          </a:bodyPr>
          <a:lstStyle/>
          <a:p>
            <a:pPr algn="just">
              <a:buFont typeface="Arial" panose="020B0604020202020204" pitchFamily="34" charset="0"/>
              <a:buChar char="•"/>
            </a:pPr>
            <a:r>
              <a:rPr lang="en-US" b="1" dirty="0" smtClean="0"/>
              <a:t>Exploratory Decomposition</a:t>
            </a:r>
            <a:r>
              <a:rPr lang="en-US" b="1" dirty="0"/>
              <a:t>	</a:t>
            </a:r>
            <a:endParaRPr lang="en-US" b="1" dirty="0" smtClean="0"/>
          </a:p>
          <a:p>
            <a:pPr lvl="1" algn="just">
              <a:buFont typeface="Wingdings" panose="05000000000000000000" pitchFamily="2" charset="2"/>
              <a:buChar char="Ø"/>
            </a:pPr>
            <a:r>
              <a:rPr lang="en-US" b="1" dirty="0" smtClean="0"/>
              <a:t>Search </a:t>
            </a:r>
            <a:r>
              <a:rPr lang="en-US" b="1" dirty="0"/>
              <a:t>through a predefined space for </a:t>
            </a:r>
            <a:r>
              <a:rPr lang="en-US" b="1" dirty="0" smtClean="0"/>
              <a:t>solution</a:t>
            </a:r>
          </a:p>
          <a:p>
            <a:pPr lvl="1" algn="just">
              <a:buFont typeface="Wingdings" panose="05000000000000000000" pitchFamily="2" charset="2"/>
              <a:buChar char="Ø"/>
            </a:pPr>
            <a:r>
              <a:rPr lang="en-US" b="1" dirty="0" smtClean="0"/>
              <a:t>Example</a:t>
            </a:r>
            <a:r>
              <a:rPr lang="en-US" b="1" dirty="0"/>
              <a:t>: Tile </a:t>
            </a:r>
            <a:r>
              <a:rPr lang="en-US" b="1" dirty="0" smtClean="0"/>
              <a:t>puzzle</a:t>
            </a:r>
            <a:endParaRPr lang="en-US" b="1" dirty="0"/>
          </a:p>
          <a:p>
            <a:pPr algn="just">
              <a:buFont typeface="Arial" panose="020B0604020202020204" pitchFamily="34" charset="0"/>
              <a:buChar char="•"/>
            </a:pPr>
            <a:r>
              <a:rPr lang="en-US" b="1" dirty="0"/>
              <a:t>Speculative Decomposition </a:t>
            </a:r>
            <a:endParaRPr lang="en-US" b="1" dirty="0" smtClean="0"/>
          </a:p>
          <a:p>
            <a:pPr lvl="1" algn="just">
              <a:buFont typeface="Wingdings" panose="05000000000000000000" pitchFamily="2" charset="2"/>
              <a:buChar char="Ø"/>
            </a:pPr>
            <a:r>
              <a:rPr lang="en-US" b="1" dirty="0" smtClean="0"/>
              <a:t>Speculate </a:t>
            </a:r>
            <a:r>
              <a:rPr lang="en-US" b="1" dirty="0"/>
              <a:t>(guess) the output of previous </a:t>
            </a:r>
            <a:r>
              <a:rPr lang="en-US" b="1" dirty="0" smtClean="0"/>
              <a:t>stage</a:t>
            </a:r>
          </a:p>
          <a:p>
            <a:pPr lvl="1" algn="just">
              <a:buFont typeface="Wingdings" panose="05000000000000000000" pitchFamily="2" charset="2"/>
              <a:buChar char="Ø"/>
            </a:pPr>
            <a:r>
              <a:rPr lang="en-US" b="1" dirty="0" smtClean="0"/>
              <a:t>Start </a:t>
            </a:r>
            <a:r>
              <a:rPr lang="en-US" b="1" dirty="0"/>
              <a:t>performing computations in the next stage before even the completion of the previous </a:t>
            </a:r>
            <a:r>
              <a:rPr lang="en-US" b="1" dirty="0" smtClean="0"/>
              <a:t>stage</a:t>
            </a:r>
          </a:p>
          <a:p>
            <a:pPr lvl="1" algn="just">
              <a:buFont typeface="Wingdings" panose="05000000000000000000" pitchFamily="2" charset="2"/>
              <a:buChar char="Ø"/>
            </a:pPr>
            <a:r>
              <a:rPr lang="en-US" b="1" dirty="0" smtClean="0"/>
              <a:t>Example</a:t>
            </a:r>
            <a:r>
              <a:rPr lang="en-US" b="1" dirty="0"/>
              <a:t>: Switch </a:t>
            </a:r>
            <a:r>
              <a:rPr lang="en-US" b="1" dirty="0" smtClean="0"/>
              <a:t>statement</a:t>
            </a:r>
            <a:endParaRPr lang="en-US" b="1" dirty="0"/>
          </a:p>
          <a:p>
            <a:pPr algn="just">
              <a:buFont typeface="Arial" panose="020B0604020202020204" pitchFamily="34" charset="0"/>
              <a:buChar char="•"/>
            </a:pPr>
            <a:r>
              <a:rPr lang="en-US" b="1" dirty="0"/>
              <a:t>Hybrid </a:t>
            </a:r>
            <a:r>
              <a:rPr lang="en-US" b="1" dirty="0" smtClean="0"/>
              <a:t>Decomposition</a:t>
            </a:r>
          </a:p>
          <a:p>
            <a:pPr lvl="1" algn="just">
              <a:buFont typeface="Wingdings" panose="05000000000000000000" pitchFamily="2" charset="2"/>
              <a:buChar char="Ø"/>
            </a:pPr>
            <a:r>
              <a:rPr lang="en-US" b="1" dirty="0" smtClean="0"/>
              <a:t>Multiple </a:t>
            </a:r>
            <a:r>
              <a:rPr lang="en-US" b="1" dirty="0"/>
              <a:t>decomposition techniques can be used </a:t>
            </a:r>
            <a:r>
              <a:rPr lang="en-US" b="1" dirty="0" smtClean="0"/>
              <a:t>simultaneously</a:t>
            </a:r>
            <a:endParaRPr lang="en-US" b="1" dirty="0"/>
          </a:p>
        </p:txBody>
      </p:sp>
      <p:sp>
        <p:nvSpPr>
          <p:cNvPr id="3" name="Title 2"/>
          <p:cNvSpPr>
            <a:spLocks noGrp="1"/>
          </p:cNvSpPr>
          <p:nvPr>
            <p:ph type="title"/>
          </p:nvPr>
        </p:nvSpPr>
        <p:spPr/>
        <p:txBody>
          <a:bodyPr/>
          <a:lstStyle/>
          <a:p>
            <a:r>
              <a:rPr lang="en-US" dirty="0" smtClean="0"/>
              <a:t>Summary (Cont.)</a:t>
            </a:r>
            <a:endParaRPr lang="en-US" dirty="0"/>
          </a:p>
        </p:txBody>
      </p:sp>
    </p:spTree>
    <p:extLst>
      <p:ext uri="{BB962C8B-B14F-4D97-AF65-F5344CB8AC3E}">
        <p14:creationId xmlns:p14="http://schemas.microsoft.com/office/powerpoint/2010/main" val="140779339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38200" y="1724027"/>
            <a:ext cx="10515600" cy="4546144"/>
          </a:xfrm>
        </p:spPr>
        <p:txBody>
          <a:bodyPr>
            <a:noAutofit/>
          </a:bodyPr>
          <a:lstStyle/>
          <a:p>
            <a:pPr algn="just">
              <a:buFont typeface="Arial" panose="020B0604020202020204" pitchFamily="34" charset="0"/>
              <a:buChar char="•"/>
            </a:pPr>
            <a:r>
              <a:rPr lang="en-US" b="1" dirty="0" smtClean="0"/>
              <a:t>Mapping Schemes</a:t>
            </a:r>
          </a:p>
          <a:p>
            <a:pPr lvl="1" algn="just">
              <a:buFont typeface="Wingdings" panose="05000000000000000000" pitchFamily="2" charset="2"/>
              <a:buChar char="Ø"/>
            </a:pPr>
            <a:r>
              <a:rPr lang="en-US" b="1" dirty="0" smtClean="0"/>
              <a:t>Static Mapping</a:t>
            </a:r>
          </a:p>
          <a:p>
            <a:pPr lvl="2" algn="just">
              <a:buClr>
                <a:srgbClr val="0000A8"/>
              </a:buClr>
              <a:buFont typeface="Wingdings" panose="05000000000000000000" pitchFamily="2" charset="2"/>
              <a:buChar char="ü"/>
            </a:pPr>
            <a:r>
              <a:rPr lang="en-US" b="1" dirty="0" smtClean="0"/>
              <a:t>Tasks </a:t>
            </a:r>
            <a:r>
              <a:rPr lang="en-US" b="1" dirty="0"/>
              <a:t>distribution among the processes is done before the execution of the </a:t>
            </a:r>
            <a:r>
              <a:rPr lang="en-US" b="1" dirty="0" smtClean="0"/>
              <a:t>program</a:t>
            </a:r>
          </a:p>
          <a:p>
            <a:pPr lvl="2" algn="just">
              <a:buClr>
                <a:srgbClr val="0000A8"/>
              </a:buClr>
              <a:buFont typeface="Wingdings" panose="05000000000000000000" pitchFamily="2" charset="2"/>
              <a:buChar char="ü"/>
            </a:pPr>
            <a:r>
              <a:rPr lang="en-US" b="1" dirty="0" smtClean="0"/>
              <a:t>Total </a:t>
            </a:r>
            <a:r>
              <a:rPr lang="en-US" b="1" dirty="0"/>
              <a:t>number of tasks and their sizes are known a </a:t>
            </a:r>
            <a:r>
              <a:rPr lang="en-US" b="1" dirty="0" smtClean="0"/>
              <a:t>priori</a:t>
            </a:r>
            <a:endParaRPr lang="en-US" b="1" dirty="0"/>
          </a:p>
          <a:p>
            <a:pPr lvl="1" algn="just">
              <a:buFont typeface="Wingdings" panose="05000000000000000000" pitchFamily="2" charset="2"/>
              <a:buChar char="Ø"/>
            </a:pPr>
            <a:r>
              <a:rPr lang="en-US" b="1" dirty="0" smtClean="0"/>
              <a:t>Dynamic Mapping</a:t>
            </a:r>
          </a:p>
          <a:p>
            <a:pPr lvl="2" algn="just">
              <a:buClr>
                <a:srgbClr val="0000A8"/>
              </a:buClr>
              <a:buFont typeface="Wingdings" panose="05000000000000000000" pitchFamily="2" charset="2"/>
              <a:buChar char="ü"/>
            </a:pPr>
            <a:r>
              <a:rPr lang="en-US" b="1" dirty="0" smtClean="0"/>
              <a:t>Tasks </a:t>
            </a:r>
            <a:r>
              <a:rPr lang="en-US" b="1" dirty="0"/>
              <a:t>distribution among the processes is done </a:t>
            </a:r>
            <a:r>
              <a:rPr lang="en-US" b="1" dirty="0" err="1"/>
              <a:t>duuring</a:t>
            </a:r>
            <a:r>
              <a:rPr lang="en-US" b="1" dirty="0"/>
              <a:t> the execution of the </a:t>
            </a:r>
            <a:r>
              <a:rPr lang="en-US" b="1" dirty="0" smtClean="0"/>
              <a:t>program</a:t>
            </a:r>
          </a:p>
          <a:p>
            <a:pPr lvl="2" algn="just">
              <a:buClr>
                <a:srgbClr val="0000A8"/>
              </a:buClr>
              <a:buFont typeface="Wingdings" panose="05000000000000000000" pitchFamily="2" charset="2"/>
              <a:buChar char="ü"/>
            </a:pPr>
            <a:r>
              <a:rPr lang="en-US" b="1" dirty="0" smtClean="0"/>
              <a:t>Total </a:t>
            </a:r>
            <a:r>
              <a:rPr lang="en-US" b="1" dirty="0"/>
              <a:t>number of tasks and their sizes are not known a </a:t>
            </a:r>
            <a:r>
              <a:rPr lang="en-US" b="1" dirty="0" smtClean="0"/>
              <a:t>priori</a:t>
            </a:r>
            <a:endParaRPr lang="en-US" b="1" dirty="0"/>
          </a:p>
          <a:p>
            <a:pPr algn="just">
              <a:buFont typeface="Arial" panose="020B0604020202020204" pitchFamily="34" charset="0"/>
              <a:buChar char="•"/>
            </a:pPr>
            <a:r>
              <a:rPr lang="en-US" b="1" dirty="0"/>
              <a:t>Schemes for Static </a:t>
            </a:r>
            <a:r>
              <a:rPr lang="en-US" b="1" dirty="0" smtClean="0"/>
              <a:t>Mapping</a:t>
            </a:r>
          </a:p>
          <a:p>
            <a:pPr lvl="1" algn="just">
              <a:buFont typeface="Wingdings" panose="05000000000000000000" pitchFamily="2" charset="2"/>
              <a:buChar char="Ø"/>
            </a:pPr>
            <a:r>
              <a:rPr lang="en-US" b="1" dirty="0" smtClean="0"/>
              <a:t>1D &amp; 2D Block distribution</a:t>
            </a:r>
          </a:p>
          <a:p>
            <a:pPr lvl="1" algn="just">
              <a:buFont typeface="Wingdings" panose="05000000000000000000" pitchFamily="2" charset="2"/>
              <a:buChar char="Ø"/>
            </a:pPr>
            <a:r>
              <a:rPr lang="en-US" b="1" dirty="0" smtClean="0"/>
              <a:t>Cyclic distribution, Block-Cyclic distribution</a:t>
            </a:r>
          </a:p>
          <a:p>
            <a:pPr lvl="1" algn="just">
              <a:buFont typeface="Wingdings" panose="05000000000000000000" pitchFamily="2" charset="2"/>
              <a:buChar char="Ø"/>
            </a:pPr>
            <a:r>
              <a:rPr lang="en-US" b="1" dirty="0" smtClean="0"/>
              <a:t>1D &amp; 2D Randomized-Block distribution</a:t>
            </a:r>
          </a:p>
        </p:txBody>
      </p:sp>
      <p:sp>
        <p:nvSpPr>
          <p:cNvPr id="3" name="Title 2"/>
          <p:cNvSpPr>
            <a:spLocks noGrp="1"/>
          </p:cNvSpPr>
          <p:nvPr>
            <p:ph type="title"/>
          </p:nvPr>
        </p:nvSpPr>
        <p:spPr/>
        <p:txBody>
          <a:bodyPr/>
          <a:lstStyle/>
          <a:p>
            <a:r>
              <a:rPr lang="en-US" dirty="0" smtClean="0"/>
              <a:t>Summary (Cont.)</a:t>
            </a:r>
            <a:endParaRPr lang="en-US" dirty="0"/>
          </a:p>
        </p:txBody>
      </p:sp>
    </p:spTree>
    <p:extLst>
      <p:ext uri="{BB962C8B-B14F-4D97-AF65-F5344CB8AC3E}">
        <p14:creationId xmlns:p14="http://schemas.microsoft.com/office/powerpoint/2010/main" val="255780187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38200" y="1724027"/>
            <a:ext cx="10515600" cy="4546144"/>
          </a:xfrm>
        </p:spPr>
        <p:txBody>
          <a:bodyPr>
            <a:noAutofit/>
          </a:bodyPr>
          <a:lstStyle/>
          <a:p>
            <a:pPr algn="just">
              <a:buFont typeface="Arial" panose="020B0604020202020204" pitchFamily="34" charset="0"/>
              <a:buChar char="•"/>
            </a:pPr>
            <a:r>
              <a:rPr lang="en-US" b="1" dirty="0" smtClean="0"/>
              <a:t>Randomized </a:t>
            </a:r>
            <a:r>
              <a:rPr lang="en-US" b="1" dirty="0"/>
              <a:t>block cyclic distribution is not always </a:t>
            </a:r>
            <a:r>
              <a:rPr lang="en-US" b="1" dirty="0" smtClean="0"/>
              <a:t>used</a:t>
            </a:r>
          </a:p>
          <a:p>
            <a:pPr lvl="1" algn="just">
              <a:buFont typeface="Wingdings" panose="05000000000000000000" pitchFamily="2" charset="2"/>
              <a:buChar char="Ø"/>
            </a:pPr>
            <a:r>
              <a:rPr lang="en-US" b="1" dirty="0" smtClean="0"/>
              <a:t>Poor </a:t>
            </a:r>
            <a:r>
              <a:rPr lang="en-US" b="1" dirty="0"/>
              <a:t>spatial locality </a:t>
            </a:r>
          </a:p>
          <a:p>
            <a:pPr lvl="1" algn="just">
              <a:buFont typeface="Wingdings" panose="05000000000000000000" pitchFamily="2" charset="2"/>
              <a:buChar char="Ø"/>
            </a:pPr>
            <a:r>
              <a:rPr lang="en-US" b="1" dirty="0" smtClean="0"/>
              <a:t>High </a:t>
            </a:r>
            <a:r>
              <a:rPr lang="en-US" b="1" dirty="0"/>
              <a:t>inter-process </a:t>
            </a:r>
            <a:r>
              <a:rPr lang="en-US" b="1" dirty="0" smtClean="0"/>
              <a:t>interaction</a:t>
            </a:r>
            <a:endParaRPr lang="en-US" b="1" dirty="0"/>
          </a:p>
          <a:p>
            <a:pPr algn="just">
              <a:buFont typeface="Arial" panose="020B0604020202020204" pitchFamily="34" charset="0"/>
              <a:buChar char="•"/>
            </a:pPr>
            <a:endParaRPr lang="en-US" b="1" dirty="0" smtClean="0"/>
          </a:p>
          <a:p>
            <a:pPr algn="just">
              <a:buFont typeface="Arial" panose="020B0604020202020204" pitchFamily="34" charset="0"/>
              <a:buChar char="•"/>
            </a:pPr>
            <a:r>
              <a:rPr lang="en-US" b="1" dirty="0" smtClean="0"/>
              <a:t>Random Distribution</a:t>
            </a:r>
          </a:p>
          <a:p>
            <a:pPr lvl="1" algn="just">
              <a:buFont typeface="Wingdings" panose="05000000000000000000" pitchFamily="2" charset="2"/>
              <a:buChar char="Ø"/>
            </a:pPr>
            <a:r>
              <a:rPr lang="en-US" b="1" dirty="0" smtClean="0"/>
              <a:t>A </a:t>
            </a:r>
            <a:r>
              <a:rPr lang="en-US" b="1" dirty="0"/>
              <a:t>simulation model (using a mesh of tasks) for finding dispersion of water contaminant </a:t>
            </a:r>
          </a:p>
          <a:p>
            <a:pPr algn="just">
              <a:buFont typeface="Arial" panose="020B0604020202020204" pitchFamily="34" charset="0"/>
              <a:buChar char="•"/>
            </a:pPr>
            <a:endParaRPr lang="en-US" b="1" dirty="0" smtClean="0"/>
          </a:p>
          <a:p>
            <a:pPr algn="just">
              <a:buFont typeface="Arial" panose="020B0604020202020204" pitchFamily="34" charset="0"/>
              <a:buChar char="•"/>
            </a:pPr>
            <a:r>
              <a:rPr lang="en-US" b="1" dirty="0" smtClean="0"/>
              <a:t>Graph Partitioning</a:t>
            </a:r>
          </a:p>
          <a:p>
            <a:pPr lvl="1" algn="just">
              <a:buFont typeface="Wingdings" panose="05000000000000000000" pitchFamily="2" charset="2"/>
              <a:buChar char="Ø"/>
            </a:pPr>
            <a:r>
              <a:rPr lang="en-US" b="1" dirty="0" smtClean="0"/>
              <a:t>A </a:t>
            </a:r>
            <a:r>
              <a:rPr lang="en-US" b="1" dirty="0"/>
              <a:t>simulation model (using a mesh of tasks) for finding dispersion of water </a:t>
            </a:r>
            <a:r>
              <a:rPr lang="en-US" b="1" dirty="0" smtClean="0"/>
              <a:t>contaminant</a:t>
            </a:r>
            <a:endParaRPr lang="en-US" b="1" dirty="0"/>
          </a:p>
        </p:txBody>
      </p:sp>
      <p:sp>
        <p:nvSpPr>
          <p:cNvPr id="3" name="Title 2"/>
          <p:cNvSpPr>
            <a:spLocks noGrp="1"/>
          </p:cNvSpPr>
          <p:nvPr>
            <p:ph type="title"/>
          </p:nvPr>
        </p:nvSpPr>
        <p:spPr/>
        <p:txBody>
          <a:bodyPr/>
          <a:lstStyle/>
          <a:p>
            <a:r>
              <a:rPr lang="en-US" dirty="0" smtClean="0"/>
              <a:t>Summary (Cont.)</a:t>
            </a:r>
            <a:endParaRPr lang="en-US" dirty="0"/>
          </a:p>
        </p:txBody>
      </p:sp>
    </p:spTree>
    <p:extLst>
      <p:ext uri="{BB962C8B-B14F-4D97-AF65-F5344CB8AC3E}">
        <p14:creationId xmlns:p14="http://schemas.microsoft.com/office/powerpoint/2010/main" val="145580271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402090"/>
            <a:ext cx="10515600" cy="5143853"/>
          </a:xfrm>
        </p:spPr>
        <p:txBody>
          <a:bodyPr>
            <a:noAutofit/>
          </a:bodyPr>
          <a:lstStyle/>
          <a:p>
            <a:pPr algn="just">
              <a:buFont typeface="Arial" panose="020B0604020202020204" pitchFamily="34" charset="0"/>
              <a:buChar char="•"/>
            </a:pPr>
            <a:r>
              <a:rPr lang="en-US" sz="3000" b="1" dirty="0" smtClean="0"/>
              <a:t>Book: Introduction </a:t>
            </a:r>
            <a:r>
              <a:rPr lang="en-US" sz="3000" b="1" dirty="0"/>
              <a:t>to Parallel Computing by </a:t>
            </a:r>
            <a:r>
              <a:rPr lang="en-US" sz="3000" b="1" dirty="0" err="1"/>
              <a:t>Ananth</a:t>
            </a:r>
            <a:r>
              <a:rPr lang="en-US" sz="3000" b="1" dirty="0"/>
              <a:t> </a:t>
            </a:r>
            <a:r>
              <a:rPr lang="en-US" sz="3000" b="1" dirty="0" err="1"/>
              <a:t>Grama</a:t>
            </a:r>
            <a:r>
              <a:rPr lang="en-US" sz="3000" b="1" dirty="0"/>
              <a:t> and </a:t>
            </a:r>
            <a:r>
              <a:rPr lang="en-US" sz="3000" b="1" dirty="0" err="1"/>
              <a:t>Anshul</a:t>
            </a:r>
            <a:r>
              <a:rPr lang="en-US" sz="3000" b="1" dirty="0"/>
              <a:t> Gupta </a:t>
            </a:r>
          </a:p>
          <a:p>
            <a:pPr algn="just">
              <a:buFont typeface="Arial" panose="020B0604020202020204" pitchFamily="34" charset="0"/>
              <a:buChar char="•"/>
            </a:pPr>
            <a:endParaRPr lang="en-US" sz="3200" b="1" dirty="0" smtClean="0"/>
          </a:p>
          <a:p>
            <a:pPr lvl="1" algn="just">
              <a:buFont typeface="Wingdings" panose="05000000000000000000" pitchFamily="2" charset="2"/>
              <a:buChar char="Ø"/>
            </a:pPr>
            <a:r>
              <a:rPr lang="en-US" b="1" dirty="0" smtClean="0"/>
              <a:t>Chapter </a:t>
            </a:r>
            <a:r>
              <a:rPr lang="en-US" b="1" dirty="0"/>
              <a:t>3. Principles of </a:t>
            </a:r>
            <a:r>
              <a:rPr lang="en-US" b="1" dirty="0" smtClean="0"/>
              <a:t>Parallel Algorithm Design</a:t>
            </a:r>
          </a:p>
          <a:p>
            <a:pPr lvl="2" algn="just">
              <a:buFont typeface="Wingdings" panose="05000000000000000000" pitchFamily="2" charset="2"/>
              <a:buChar char="Ø"/>
            </a:pPr>
            <a:endParaRPr lang="en-US" sz="1800" b="1" dirty="0" smtClean="0"/>
          </a:p>
          <a:p>
            <a:pPr lvl="2" algn="just">
              <a:buClr>
                <a:srgbClr val="0000A8"/>
              </a:buClr>
              <a:buFont typeface="Wingdings" panose="05000000000000000000" pitchFamily="2" charset="2"/>
              <a:buChar char="ü"/>
            </a:pPr>
            <a:r>
              <a:rPr lang="en-US" b="1" dirty="0" smtClean="0"/>
              <a:t>Section </a:t>
            </a:r>
            <a:r>
              <a:rPr lang="en-US" b="1" dirty="0" smtClean="0"/>
              <a:t>3.2: Decomposition Techniques</a:t>
            </a:r>
          </a:p>
          <a:p>
            <a:pPr lvl="2" algn="just">
              <a:buClr>
                <a:srgbClr val="0000A8"/>
              </a:buClr>
              <a:buFont typeface="Wingdings" panose="05000000000000000000" pitchFamily="2" charset="2"/>
              <a:buChar char="ü"/>
            </a:pPr>
            <a:endParaRPr lang="en-US" b="1" dirty="0" smtClean="0"/>
          </a:p>
          <a:p>
            <a:pPr lvl="2" algn="just">
              <a:buClr>
                <a:srgbClr val="0000A8"/>
              </a:buClr>
              <a:buFont typeface="Wingdings" panose="05000000000000000000" pitchFamily="2" charset="2"/>
              <a:buChar char="ü"/>
            </a:pPr>
            <a:r>
              <a:rPr lang="en-US" b="1" dirty="0" smtClean="0"/>
              <a:t>Section </a:t>
            </a:r>
            <a:r>
              <a:rPr lang="en-US" b="1" dirty="0" smtClean="0"/>
              <a:t>3.4: </a:t>
            </a:r>
            <a:r>
              <a:rPr lang="en-US" b="1" dirty="0"/>
              <a:t>Mapping Techniques for Load Balancing</a:t>
            </a:r>
            <a:endParaRPr lang="en-US" b="1" dirty="0" smtClean="0"/>
          </a:p>
        </p:txBody>
      </p:sp>
      <p:sp>
        <p:nvSpPr>
          <p:cNvPr id="6" name="Title 5"/>
          <p:cNvSpPr>
            <a:spLocks noGrp="1"/>
          </p:cNvSpPr>
          <p:nvPr>
            <p:ph type="title"/>
          </p:nvPr>
        </p:nvSpPr>
        <p:spPr/>
        <p:txBody>
          <a:bodyPr>
            <a:normAutofit/>
          </a:bodyPr>
          <a:lstStyle/>
          <a:p>
            <a:r>
              <a:rPr lang="en-US" dirty="0"/>
              <a:t>Additional Resources</a:t>
            </a:r>
          </a:p>
        </p:txBody>
      </p:sp>
    </p:spTree>
    <p:extLst>
      <p:ext uri="{BB962C8B-B14F-4D97-AF65-F5344CB8AC3E}">
        <p14:creationId xmlns:p14="http://schemas.microsoft.com/office/powerpoint/2010/main" val="1133856889"/>
      </p:ext>
    </p:extLst>
  </p:cSld>
  <p:clrMapOvr>
    <a:masterClrMapping/>
  </p:clrMapOvr>
  <p:transition spd="slow">
    <p:push dir="u"/>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5000" y="2948278"/>
            <a:ext cx="10515600" cy="894622"/>
          </a:xfrm>
        </p:spPr>
        <p:txBody>
          <a:bodyPr/>
          <a:lstStyle/>
          <a:p>
            <a:pPr algn="ctr"/>
            <a:r>
              <a:rPr lang="en-US" dirty="0" smtClean="0"/>
              <a:t>Questions?</a:t>
            </a:r>
            <a:endParaRPr lang="en-US" dirty="0"/>
          </a:p>
        </p:txBody>
      </p:sp>
    </p:spTree>
    <p:extLst>
      <p:ext uri="{BB962C8B-B14F-4D97-AF65-F5344CB8AC3E}">
        <p14:creationId xmlns:p14="http://schemas.microsoft.com/office/powerpoint/2010/main" val="365122176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2220</TotalTime>
  <Words>1370</Words>
  <Application>Microsoft Office PowerPoint</Application>
  <PresentationFormat>Widescreen</PresentationFormat>
  <Paragraphs>242</Paragraphs>
  <Slides>36</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Calibri</vt:lpstr>
      <vt:lpstr>Calibri Light</vt:lpstr>
      <vt:lpstr>Wingdings</vt:lpstr>
      <vt:lpstr>Office Theme</vt:lpstr>
      <vt:lpstr>CS 3006 Parallel and Distributed Computing Lecture 6</vt:lpstr>
      <vt:lpstr>Decomposition and Mapping Techniques</vt:lpstr>
      <vt:lpstr>Outline</vt:lpstr>
      <vt:lpstr>Outline (Cont.)</vt:lpstr>
      <vt:lpstr>Outline (Cont.)</vt:lpstr>
      <vt:lpstr>Decomposition Techniques</vt:lpstr>
      <vt:lpstr>Recursive Decomposition</vt:lpstr>
      <vt:lpstr>Finding the Minimum Number</vt:lpstr>
      <vt:lpstr>Finding the Minimum Number (Cont.)</vt:lpstr>
      <vt:lpstr>Finding the Minimum Number (Cont.)</vt:lpstr>
      <vt:lpstr>Recursive Decomposition Example: Quick Sort</vt:lpstr>
      <vt:lpstr>Recursive Decomposition Example: Quick Sort </vt:lpstr>
      <vt:lpstr>Quicksort Pseudo-code</vt:lpstr>
      <vt:lpstr>Data Decomposition</vt:lpstr>
      <vt:lpstr>Data Decomposition (Cont.)</vt:lpstr>
      <vt:lpstr>Exploratory Decomposition</vt:lpstr>
      <vt:lpstr>Exploratory Decomposition (Cont.)</vt:lpstr>
      <vt:lpstr>Speculative Decomposition </vt:lpstr>
      <vt:lpstr>Speculative Decomposition (Cont.)</vt:lpstr>
      <vt:lpstr>Hybrid Decomposition</vt:lpstr>
      <vt:lpstr>Mapping Schemes</vt:lpstr>
      <vt:lpstr>Schemes for Static Mapping</vt:lpstr>
      <vt:lpstr>Schemes for Static Mapping (Cont.)</vt:lpstr>
      <vt:lpstr>Schemes for Static Mapping (Cont.)</vt:lpstr>
      <vt:lpstr>Schemes for Static Mapping (Cont.)</vt:lpstr>
      <vt:lpstr>Schemes for Static Mapping (Cont.)</vt:lpstr>
      <vt:lpstr>Schemes for Static Mapping (Cont.)</vt:lpstr>
      <vt:lpstr>Example</vt:lpstr>
      <vt:lpstr>Random distribution</vt:lpstr>
      <vt:lpstr>Graph Partitioning</vt:lpstr>
      <vt:lpstr>Summary</vt:lpstr>
      <vt:lpstr>Summary (Cont.)</vt:lpstr>
      <vt:lpstr>Summary (Cont.)</vt:lpstr>
      <vt:lpstr>Summary (Cont.)</vt:lpstr>
      <vt:lpstr>Additional Resources</vt:lpstr>
      <vt:lpstr>Questions?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James Kurose</dc:creator>
  <cp:lastModifiedBy>HP</cp:lastModifiedBy>
  <cp:revision>407</cp:revision>
  <dcterms:created xsi:type="dcterms:W3CDTF">2020-01-18T07:24:00Z</dcterms:created>
  <dcterms:modified xsi:type="dcterms:W3CDTF">2024-02-18T05:49:47Z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DBCDF73CD2C44F1492F6933E9F753A38</vt:lpwstr>
  </property>
  <property fmtid="{D5CDD505-2E9C-101B-9397-08002B2CF9AE}" pid="3" name="KSOProductBuildVer">
    <vt:lpwstr>1033-11.2.0.11380</vt:lpwstr>
  </property>
</Properties>
</file>