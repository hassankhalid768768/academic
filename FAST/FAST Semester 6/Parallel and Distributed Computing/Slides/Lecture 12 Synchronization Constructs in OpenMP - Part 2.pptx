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1565" r:id="rId2"/>
    <p:sldId id="1450" r:id="rId3"/>
    <p:sldId id="1566" r:id="rId4"/>
    <p:sldId id="1568" r:id="rId5"/>
    <p:sldId id="1538" r:id="rId6"/>
    <p:sldId id="1539" r:id="rId7"/>
    <p:sldId id="1476" r:id="rId8"/>
    <p:sldId id="1523" r:id="rId9"/>
    <p:sldId id="1540" r:id="rId10"/>
    <p:sldId id="1541" r:id="rId11"/>
    <p:sldId id="1546" r:id="rId12"/>
    <p:sldId id="1547" r:id="rId13"/>
    <p:sldId id="1548" r:id="rId14"/>
    <p:sldId id="1554" r:id="rId15"/>
    <p:sldId id="1555" r:id="rId16"/>
    <p:sldId id="1557" r:id="rId17"/>
    <p:sldId id="1559" r:id="rId18"/>
    <p:sldId id="1562" r:id="rId19"/>
    <p:sldId id="1563" r:id="rId20"/>
    <p:sldId id="1564" r:id="rId21"/>
    <p:sldId id="1567" r:id="rId22"/>
    <p:sldId id="1569" r:id="rId23"/>
    <p:sldId id="1532" r:id="rId24"/>
    <p:sldId id="144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6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8"/>
    <a:srgbClr val="00A800"/>
    <a:srgbClr val="000099"/>
    <a:srgbClr val="00C000"/>
    <a:srgbClr val="3C6CDF"/>
    <a:srgbClr val="9CDFF9"/>
    <a:srgbClr val="B8C2C9"/>
    <a:srgbClr val="D6DCE0"/>
    <a:srgbClr val="0000A3"/>
    <a:srgbClr val="0100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33"/>
    <p:restoredTop sz="88689" autoAdjust="0"/>
  </p:normalViewPr>
  <p:slideViewPr>
    <p:cSldViewPr snapToGrid="0" snapToObjects="1">
      <p:cViewPr varScale="1">
        <p:scale>
          <a:sx n="66" d="100"/>
          <a:sy n="66" d="100"/>
        </p:scale>
        <p:origin x="468" y="66"/>
      </p:cViewPr>
      <p:guideLst>
        <p:guide orient="horz" pos="96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3/16/2024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818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84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1401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97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616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Section 7.10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9F3A7D-D3FA-4135-B01A-B62728EDDE7E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40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want to integrate function 4.0 / (1 + x*x).</a:t>
            </a:r>
            <a:r>
              <a:rPr lang="en-US" baseline="0" dirty="0" smtClean="0"/>
              <a:t> The exact integral of this function is equal to Pi.</a:t>
            </a:r>
          </a:p>
          <a:p>
            <a:r>
              <a:rPr lang="en-US" baseline="0" dirty="0" smtClean="0"/>
              <a:t>We know that integration is the area under the curve. Thus, we can use summation as integration.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9F3A7D-D3FA-4135-B01A-B62728EDDE7E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13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50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717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28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2562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67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71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39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024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149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2212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480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6702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3111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8694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013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4pPr>
              <a:buFont typeface="Wingdings" pitchFamily="2" charset="2"/>
              <a:buChar char="§"/>
              <a:defRPr sz="1600"/>
            </a:lvl4pPr>
            <a:lvl5pPr>
              <a:buFont typeface="Wingdings" pitchFamily="2" charset="2"/>
              <a:buChar char="§"/>
              <a:defRPr sz="1600"/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9519583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CS 3006</a:t>
            </a:r>
            <a:br>
              <a:rPr lang="en-US" sz="4800" dirty="0" smtClean="0"/>
            </a:br>
            <a:r>
              <a:rPr lang="en-US" sz="4800" dirty="0" smtClean="0"/>
              <a:t>Parallel and Distributed Computing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Lecture </a:t>
            </a:r>
            <a:r>
              <a:rPr lang="en-US" sz="4800" dirty="0" smtClean="0"/>
              <a:t>12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Danyal </a:t>
            </a:r>
            <a:r>
              <a:rPr lang="en-US" sz="3200" b="1" dirty="0" err="1"/>
              <a:t>Farhat</a:t>
            </a:r>
            <a:endParaRPr lang="en-US" sz="3200" b="1" dirty="0"/>
          </a:p>
          <a:p>
            <a:r>
              <a:rPr lang="en-US" sz="3200" b="1" dirty="0"/>
              <a:t>FAST School of Computing</a:t>
            </a:r>
          </a:p>
          <a:p>
            <a:r>
              <a:rPr lang="en-US" sz="3200" b="1" dirty="0" smtClean="0"/>
              <a:t>NUCES </a:t>
            </a:r>
            <a:r>
              <a:rPr lang="en-US" sz="3200" b="1" dirty="0"/>
              <a:t>Lahore</a:t>
            </a:r>
          </a:p>
          <a:p>
            <a:endParaRPr lang="en-US" sz="3200" b="1" dirty="0"/>
          </a:p>
          <a:p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802709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4343" y="2524237"/>
            <a:ext cx="9144000" cy="665163"/>
          </a:xfrm>
        </p:spPr>
        <p:txBody>
          <a:bodyPr>
            <a:noAutofit/>
          </a:bodyPr>
          <a:lstStyle/>
          <a:p>
            <a:pPr lvl="0"/>
            <a:r>
              <a:rPr lang="en-US" sz="4400" dirty="0"/>
              <a:t>Synchronization Constructs in </a:t>
            </a:r>
            <a:r>
              <a:rPr lang="en-US" sz="4400" dirty="0" err="1" smtClean="0"/>
              <a:t>OpenMP</a:t>
            </a:r>
            <a:r>
              <a:rPr lang="en-US" sz="4400" dirty="0" smtClean="0"/>
              <a:t> – Part 2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510991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Loop </a:t>
            </a:r>
            <a:r>
              <a:rPr lang="en-US" sz="3200" b="1" dirty="0" err="1"/>
              <a:t>Worksharing</a:t>
            </a:r>
            <a:r>
              <a:rPr lang="en-US" sz="3200" b="1" dirty="0"/>
              <a:t> </a:t>
            </a:r>
            <a:r>
              <a:rPr lang="en-US" sz="3200" b="1" dirty="0" smtClean="0"/>
              <a:t>Construct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Numerical Integration: Pi </a:t>
            </a:r>
            <a:r>
              <a:rPr lang="en-US" sz="3200" b="1" dirty="0" smtClean="0"/>
              <a:t>program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Serial Pi </a:t>
            </a:r>
            <a:r>
              <a:rPr lang="en-US" sz="3200" b="1" dirty="0" smtClean="0"/>
              <a:t>Program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Parallel Pi </a:t>
            </a:r>
            <a:r>
              <a:rPr lang="en-US" sz="3200" b="1" dirty="0" smtClean="0"/>
              <a:t>Program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Parallel Pi Program using Mutual </a:t>
            </a:r>
            <a:r>
              <a:rPr lang="en-US" sz="3200" b="1" dirty="0" smtClean="0"/>
              <a:t>Exclusion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Pi Program using Reduction </a:t>
            </a:r>
            <a:r>
              <a:rPr lang="en-US" sz="3200" b="1" dirty="0" smtClean="0"/>
              <a:t>Clause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Sections </a:t>
            </a:r>
            <a:r>
              <a:rPr lang="en-US" sz="3200" b="1" dirty="0" smtClean="0"/>
              <a:t>Constructs</a:t>
            </a: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Combined </a:t>
            </a:r>
            <a:r>
              <a:rPr lang="en-US" sz="3200" b="1" dirty="0" smtClean="0"/>
              <a:t>Constructs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564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 smtClean="0"/>
              <a:t>Synchronization Locks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The Schedule Clause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Runtime Environment Routines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Summary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dirty="0"/>
              <a:t>Additional Resources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Outline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68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 </a:t>
            </a:r>
            <a:r>
              <a:rPr lang="en-US" dirty="0" err="1"/>
              <a:t>W</a:t>
            </a:r>
            <a:r>
              <a:rPr lang="en-US" dirty="0" err="1" smtClean="0"/>
              <a:t>orksharing</a:t>
            </a:r>
            <a:r>
              <a:rPr lang="en-US" dirty="0" smtClean="0"/>
              <a:t> Construct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3872" y="1403519"/>
            <a:ext cx="5343128" cy="54006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for(</a:t>
            </a:r>
            <a:r>
              <a:rPr lang="en-US" sz="1800" b="1" dirty="0" err="1"/>
              <a:t>i</a:t>
            </a:r>
            <a:r>
              <a:rPr lang="en-US" sz="1800" b="1" dirty="0"/>
              <a:t>=</a:t>
            </a:r>
            <a:r>
              <a:rPr lang="en-US" sz="1800" b="1" dirty="0" err="1"/>
              <a:t>istart;I</a:t>
            </a:r>
            <a:r>
              <a:rPr lang="en-US" sz="1800" b="1" dirty="0"/>
              <a:t>&lt;</a:t>
            </a:r>
            <a:r>
              <a:rPr lang="en-US" sz="1800" b="1" dirty="0" err="1"/>
              <a:t>iend;i</a:t>
            </a:r>
            <a:r>
              <a:rPr lang="en-US" sz="1800" b="1" dirty="0"/>
              <a:t>++)  { a[</a:t>
            </a:r>
            <a:r>
              <a:rPr lang="en-US" sz="1800" b="1" dirty="0" err="1"/>
              <a:t>i</a:t>
            </a:r>
            <a:r>
              <a:rPr lang="en-US" sz="1800" b="1" dirty="0"/>
              <a:t>] = a[</a:t>
            </a:r>
            <a:r>
              <a:rPr lang="en-US" sz="1800" b="1" dirty="0" err="1"/>
              <a:t>i</a:t>
            </a:r>
            <a:r>
              <a:rPr lang="en-US" sz="1800" b="1" dirty="0"/>
              <a:t>] + b[</a:t>
            </a:r>
            <a:r>
              <a:rPr lang="en-US" sz="1800" b="1" dirty="0" err="1"/>
              <a:t>i</a:t>
            </a:r>
            <a:r>
              <a:rPr lang="en-US" sz="1800" b="1" dirty="0" smtClean="0"/>
              <a:t>];}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 smtClean="0"/>
              <a:t>#</a:t>
            </a:r>
            <a:r>
              <a:rPr lang="en-US" sz="1800" b="1" dirty="0"/>
              <a:t>pragma </a:t>
            </a:r>
            <a:r>
              <a:rPr lang="en-US" sz="1800" b="1" dirty="0" err="1"/>
              <a:t>omp</a:t>
            </a:r>
            <a:r>
              <a:rPr lang="en-US" sz="1800" b="1" dirty="0"/>
              <a:t> parallel</a:t>
            </a:r>
          </a:p>
          <a:p>
            <a:pPr lvl="1"/>
            <a:r>
              <a:rPr lang="en-US" sz="1800" b="1" dirty="0"/>
              <a:t>{</a:t>
            </a:r>
          </a:p>
          <a:p>
            <a:pPr lvl="1"/>
            <a:r>
              <a:rPr lang="en-US" sz="1800" b="1" dirty="0" err="1"/>
              <a:t>int</a:t>
            </a:r>
            <a:r>
              <a:rPr lang="en-US" sz="1800" b="1" dirty="0"/>
              <a:t> id, </a:t>
            </a:r>
            <a:r>
              <a:rPr lang="en-US" sz="1800" b="1" dirty="0" err="1"/>
              <a:t>i</a:t>
            </a:r>
            <a:r>
              <a:rPr lang="en-US" sz="1800" b="1" dirty="0"/>
              <a:t>, </a:t>
            </a:r>
            <a:r>
              <a:rPr lang="en-US" sz="1800" b="1" dirty="0" err="1"/>
              <a:t>Nthrds</a:t>
            </a:r>
            <a:r>
              <a:rPr lang="en-US" sz="1800" b="1" dirty="0"/>
              <a:t>, </a:t>
            </a:r>
            <a:r>
              <a:rPr lang="en-US" sz="1800" b="1" dirty="0" err="1"/>
              <a:t>istart</a:t>
            </a:r>
            <a:r>
              <a:rPr lang="en-US" sz="1800" b="1" dirty="0"/>
              <a:t>, </a:t>
            </a:r>
            <a:r>
              <a:rPr lang="en-US" sz="1800" b="1" dirty="0" err="1"/>
              <a:t>iend</a:t>
            </a:r>
            <a:r>
              <a:rPr lang="en-US" sz="1800" b="1" dirty="0"/>
              <a:t>;</a:t>
            </a:r>
          </a:p>
          <a:p>
            <a:pPr lvl="1"/>
            <a:r>
              <a:rPr lang="en-US" sz="1800" b="1" dirty="0"/>
              <a:t>id = </a:t>
            </a:r>
            <a:r>
              <a:rPr lang="en-US" sz="1800" b="1" dirty="0" err="1"/>
              <a:t>omp_get_thread_num</a:t>
            </a:r>
            <a:r>
              <a:rPr lang="en-US" sz="1800" b="1" dirty="0"/>
              <a:t>();</a:t>
            </a:r>
          </a:p>
          <a:p>
            <a:pPr lvl="1"/>
            <a:r>
              <a:rPr lang="en-US" sz="1800" b="1" dirty="0" err="1"/>
              <a:t>Nthrds</a:t>
            </a:r>
            <a:r>
              <a:rPr lang="en-US" sz="1800" b="1" dirty="0"/>
              <a:t> = </a:t>
            </a:r>
            <a:r>
              <a:rPr lang="en-US" sz="1800" b="1" dirty="0" err="1"/>
              <a:t>omp_get_num_threads</a:t>
            </a:r>
            <a:r>
              <a:rPr lang="en-US" sz="1800" b="1" dirty="0"/>
              <a:t>();</a:t>
            </a:r>
          </a:p>
          <a:p>
            <a:pPr lvl="1"/>
            <a:r>
              <a:rPr lang="en-US" sz="1800" b="1" dirty="0" err="1"/>
              <a:t>istart</a:t>
            </a:r>
            <a:r>
              <a:rPr lang="en-US" sz="1800" b="1" dirty="0"/>
              <a:t> = id * N / </a:t>
            </a:r>
            <a:r>
              <a:rPr lang="en-US" sz="1800" b="1" dirty="0" err="1"/>
              <a:t>Nthrds</a:t>
            </a:r>
            <a:r>
              <a:rPr lang="en-US" sz="1800" b="1" dirty="0"/>
              <a:t>;</a:t>
            </a:r>
          </a:p>
          <a:p>
            <a:pPr lvl="1"/>
            <a:r>
              <a:rPr lang="en-US" sz="1800" b="1" dirty="0" err="1"/>
              <a:t>iend</a:t>
            </a:r>
            <a:r>
              <a:rPr lang="en-US" sz="1800" b="1" dirty="0"/>
              <a:t> = (id+1) * N / </a:t>
            </a:r>
            <a:r>
              <a:rPr lang="en-US" sz="1800" b="1" dirty="0" err="1"/>
              <a:t>Nthrds</a:t>
            </a:r>
            <a:r>
              <a:rPr lang="en-US" sz="1800" b="1" dirty="0"/>
              <a:t>;</a:t>
            </a:r>
          </a:p>
          <a:p>
            <a:pPr lvl="1"/>
            <a:r>
              <a:rPr lang="en-US" sz="1800" b="1" dirty="0"/>
              <a:t>for(</a:t>
            </a:r>
            <a:r>
              <a:rPr lang="en-US" sz="1800" b="1" dirty="0" err="1"/>
              <a:t>i</a:t>
            </a:r>
            <a:r>
              <a:rPr lang="en-US" sz="1800" b="1" dirty="0"/>
              <a:t>=</a:t>
            </a:r>
            <a:r>
              <a:rPr lang="en-US" sz="1800" b="1" dirty="0" err="1"/>
              <a:t>start;i</a:t>
            </a:r>
            <a:r>
              <a:rPr lang="en-US" sz="1800" b="1" dirty="0"/>
              <a:t>&lt;</a:t>
            </a:r>
            <a:r>
              <a:rPr lang="en-US" sz="1800" b="1" dirty="0" err="1"/>
              <a:t>iend</a:t>
            </a:r>
            <a:r>
              <a:rPr lang="en-US" sz="1800" b="1" dirty="0"/>
              <a:t>; </a:t>
            </a:r>
            <a:r>
              <a:rPr lang="en-US" sz="1800" b="1" dirty="0" err="1"/>
              <a:t>i</a:t>
            </a:r>
            <a:r>
              <a:rPr lang="en-US" sz="1800" b="1" dirty="0"/>
              <a:t>++) {a[</a:t>
            </a:r>
            <a:r>
              <a:rPr lang="en-US" sz="1800" b="1" dirty="0" err="1"/>
              <a:t>i</a:t>
            </a:r>
            <a:r>
              <a:rPr lang="en-US" sz="1800" b="1" dirty="0"/>
              <a:t>] = a[</a:t>
            </a:r>
            <a:r>
              <a:rPr lang="en-US" sz="1800" b="1" dirty="0" err="1"/>
              <a:t>i</a:t>
            </a:r>
            <a:r>
              <a:rPr lang="en-US" sz="1800" b="1" dirty="0"/>
              <a:t>] + b[</a:t>
            </a:r>
            <a:r>
              <a:rPr lang="en-US" sz="1800" b="1" dirty="0" err="1"/>
              <a:t>i</a:t>
            </a:r>
            <a:r>
              <a:rPr lang="en-US" sz="1800" b="1" dirty="0"/>
              <a:t>];}</a:t>
            </a:r>
          </a:p>
          <a:p>
            <a:pPr lvl="1"/>
            <a:r>
              <a:rPr lang="en-US" sz="1800" b="1" dirty="0"/>
              <a:t>}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#</a:t>
            </a:r>
            <a:r>
              <a:rPr lang="en-US" sz="1800" b="1" dirty="0" err="1"/>
              <a:t>pragma</a:t>
            </a:r>
            <a:r>
              <a:rPr lang="en-US" sz="1800" b="1" dirty="0"/>
              <a:t> </a:t>
            </a:r>
            <a:r>
              <a:rPr lang="en-US" sz="1800" b="1" dirty="0" err="1"/>
              <a:t>omp</a:t>
            </a:r>
            <a:r>
              <a:rPr lang="en-US" sz="1800" b="1" dirty="0"/>
              <a:t> parallel </a:t>
            </a:r>
          </a:p>
          <a:p>
            <a:pPr lvl="1"/>
            <a:r>
              <a:rPr lang="en-US" sz="1800" b="1" dirty="0"/>
              <a:t>#</a:t>
            </a:r>
            <a:r>
              <a:rPr lang="en-US" sz="1800" b="1" dirty="0" err="1"/>
              <a:t>pragma</a:t>
            </a:r>
            <a:r>
              <a:rPr lang="en-US" sz="1800" b="1" dirty="0"/>
              <a:t> </a:t>
            </a:r>
            <a:r>
              <a:rPr lang="en-US" sz="1800" b="1" dirty="0" err="1"/>
              <a:t>omp</a:t>
            </a:r>
            <a:r>
              <a:rPr lang="en-US" sz="1800" b="1" dirty="0"/>
              <a:t> for </a:t>
            </a:r>
          </a:p>
          <a:p>
            <a:pPr lvl="1"/>
            <a:r>
              <a:rPr lang="en-US" sz="1800" b="1" dirty="0"/>
              <a:t>for(</a:t>
            </a:r>
            <a:r>
              <a:rPr lang="en-US" sz="1800" b="1" dirty="0" err="1"/>
              <a:t>i</a:t>
            </a:r>
            <a:r>
              <a:rPr lang="en-US" sz="1800" b="1" dirty="0"/>
              <a:t>=0;I&lt;</a:t>
            </a:r>
            <a:r>
              <a:rPr lang="en-US" sz="1800" b="1" dirty="0" err="1"/>
              <a:t>N;i</a:t>
            </a:r>
            <a:r>
              <a:rPr lang="en-US" sz="1800" b="1" dirty="0"/>
              <a:t>++) { </a:t>
            </a:r>
          </a:p>
          <a:p>
            <a:pPr lvl="1"/>
            <a:r>
              <a:rPr lang="en-US" sz="1800" b="1" dirty="0"/>
              <a:t>a[</a:t>
            </a:r>
            <a:r>
              <a:rPr lang="en-US" sz="1800" b="1" dirty="0" err="1"/>
              <a:t>i</a:t>
            </a:r>
            <a:r>
              <a:rPr lang="en-US" sz="1800" b="1" dirty="0"/>
              <a:t>] = a[</a:t>
            </a:r>
            <a:r>
              <a:rPr lang="en-US" sz="1800" b="1" dirty="0" err="1"/>
              <a:t>i</a:t>
            </a:r>
            <a:r>
              <a:rPr lang="en-US" sz="1800" b="1" dirty="0"/>
              <a:t>] + b[</a:t>
            </a:r>
            <a:r>
              <a:rPr lang="en-US" sz="1800" b="1" dirty="0" err="1"/>
              <a:t>i</a:t>
            </a:r>
            <a:r>
              <a:rPr lang="en-US" sz="1800" b="1" dirty="0"/>
              <a:t>];}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847528" y="1340763"/>
            <a:ext cx="2952328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3025" tIns="36512" rIns="73025" bIns="36512" numCol="1" anchor="t" anchorCtr="0" compatLnSpc="1">
            <a:prstTxWarp prst="textNoShape">
              <a:avLst/>
            </a:prstTxWarp>
          </a:bodyPr>
          <a:lstStyle/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b="1" kern="0" dirty="0">
                <a:latin typeface="Calibri" pitchFamily="34" charset="0"/>
                <a:cs typeface="Calibri" pitchFamily="34" charset="0"/>
              </a:rPr>
              <a:t>Sequential Code</a:t>
            </a:r>
          </a:p>
          <a:p>
            <a:pPr marL="285750" indent="-28575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 smtClean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b="1" kern="0" dirty="0" err="1" smtClean="0">
                <a:latin typeface="Calibri" pitchFamily="34" charset="0"/>
                <a:cs typeface="Calibri" pitchFamily="34" charset="0"/>
              </a:rPr>
              <a:t>OpenMP</a:t>
            </a:r>
            <a:r>
              <a:rPr lang="en-US" b="1" kern="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b="1" kern="0" dirty="0">
                <a:latin typeface="Calibri" pitchFamily="34" charset="0"/>
                <a:cs typeface="Calibri" pitchFamily="34" charset="0"/>
              </a:rPr>
              <a:t>Parallel Region</a:t>
            </a: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endParaRPr lang="en-US" b="1" kern="0" dirty="0">
              <a:latin typeface="Calibri" pitchFamily="34" charset="0"/>
              <a:cs typeface="Calibri" pitchFamily="34" charset="0"/>
            </a:endParaRPr>
          </a:p>
          <a:p>
            <a:pPr marL="482600" indent="-482600" defTabSz="479425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333399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b="1" kern="0" dirty="0" err="1">
                <a:latin typeface="Calibri" pitchFamily="34" charset="0"/>
                <a:cs typeface="Calibri" pitchFamily="34" charset="0"/>
              </a:rPr>
              <a:t>OpenMP</a:t>
            </a:r>
            <a:r>
              <a:rPr lang="en-US" b="1" kern="0" dirty="0">
                <a:latin typeface="Calibri" pitchFamily="34" charset="0"/>
                <a:cs typeface="Calibri" pitchFamily="34" charset="0"/>
              </a:rPr>
              <a:t> parallel region and a </a:t>
            </a:r>
            <a:r>
              <a:rPr lang="en-US" b="1" kern="0" dirty="0" err="1">
                <a:latin typeface="Calibri" pitchFamily="34" charset="0"/>
                <a:cs typeface="Calibri" pitchFamily="34" charset="0"/>
              </a:rPr>
              <a:t>worksharing</a:t>
            </a:r>
            <a:r>
              <a:rPr lang="en-US" b="1" kern="0" dirty="0">
                <a:latin typeface="Calibri" pitchFamily="34" charset="0"/>
                <a:cs typeface="Calibri" pitchFamily="34" charset="0"/>
              </a:rPr>
              <a:t> for construct</a:t>
            </a:r>
          </a:p>
        </p:txBody>
      </p:sp>
    </p:spTree>
    <p:extLst>
      <p:ext uri="{BB962C8B-B14F-4D97-AF65-F5344CB8AC3E}">
        <p14:creationId xmlns:p14="http://schemas.microsoft.com/office/powerpoint/2010/main" val="4149646538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Numerical Integration: Pi 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7030A0"/>
                </a:solidFill>
              </a:rPr>
              <a:t>Mathematically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Integral can be approximated as a </a:t>
            </a:r>
            <a:r>
              <a:rPr lang="en-US" b="1" dirty="0" smtClean="0">
                <a:solidFill>
                  <a:srgbClr val="0000A8"/>
                </a:solidFill>
              </a:rPr>
              <a:t>sum of rectangles</a:t>
            </a:r>
            <a:r>
              <a:rPr lang="en-US" b="1" dirty="0" smtClean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Where each rectangle has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       width </a:t>
            </a:r>
            <a:r>
              <a:rPr lang="en-US" sz="2400" b="1" dirty="0" err="1"/>
              <a:t>Δx</a:t>
            </a:r>
            <a:r>
              <a:rPr lang="en-US" sz="2400" b="1" dirty="0"/>
              <a:t> and height F(xi) at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      </a:t>
            </a:r>
            <a:r>
              <a:rPr lang="en-US" sz="2400" b="1" dirty="0"/>
              <a:t>the middle of interval </a:t>
            </a:r>
            <a:r>
              <a:rPr lang="en-US" sz="2400" b="1" dirty="0" err="1"/>
              <a:t>i</a:t>
            </a:r>
            <a:r>
              <a:rPr lang="en-US" sz="2400" b="1" dirty="0"/>
              <a:t>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42271" y="1718406"/>
            <a:ext cx="2265809" cy="1235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95329" y="3492252"/>
            <a:ext cx="20955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3491" y="3448688"/>
            <a:ext cx="2664296" cy="26420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1218421" y="6090711"/>
            <a:ext cx="734481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1400" dirty="0">
                <a:solidFill>
                  <a:srgbClr val="000000"/>
                </a:solidFill>
                <a:latin typeface="Calibri" pitchFamily="34" charset="0"/>
              </a:rPr>
              <a:t>Source: http://openmp.org/mp-documents/omp-hands-on-SC08.pdf</a:t>
            </a:r>
          </a:p>
        </p:txBody>
      </p:sp>
    </p:spTree>
    <p:extLst>
      <p:ext uri="{BB962C8B-B14F-4D97-AF65-F5344CB8AC3E}">
        <p14:creationId xmlns:p14="http://schemas.microsoft.com/office/powerpoint/2010/main" val="85802814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274481"/>
          </a:xfrm>
        </p:spPr>
        <p:txBody>
          <a:bodyPr>
            <a:noAutofit/>
          </a:bodyPr>
          <a:lstStyle/>
          <a:p>
            <a:pPr marL="130175" indent="0">
              <a:buNone/>
            </a:pPr>
            <a:r>
              <a:rPr lang="en-US" sz="2200" b="1" dirty="0"/>
              <a:t>static long </a:t>
            </a:r>
            <a:r>
              <a:rPr lang="en-US" sz="2200" b="1" dirty="0" err="1"/>
              <a:t>num_steps</a:t>
            </a:r>
            <a:r>
              <a:rPr lang="en-US" sz="2200" b="1" dirty="0"/>
              <a:t> = </a:t>
            </a:r>
            <a:r>
              <a:rPr lang="en-US" sz="2200" b="1" dirty="0" smtClean="0"/>
              <a:t>100000</a:t>
            </a:r>
            <a:r>
              <a:rPr lang="en-US" sz="2200" b="1" dirty="0"/>
              <a:t>; </a:t>
            </a:r>
            <a:r>
              <a:rPr lang="en-US" sz="2200" b="1" dirty="0">
                <a:solidFill>
                  <a:srgbClr val="0000A8"/>
                </a:solidFill>
              </a:rPr>
              <a:t>// total rectangles</a:t>
            </a:r>
          </a:p>
          <a:p>
            <a:pPr marL="130175" indent="0">
              <a:buNone/>
            </a:pPr>
            <a:r>
              <a:rPr lang="en-US" sz="2200" b="1" dirty="0"/>
              <a:t>double step;</a:t>
            </a:r>
          </a:p>
          <a:p>
            <a:pPr marL="130175" indent="0">
              <a:buNone/>
            </a:pPr>
            <a:r>
              <a:rPr lang="en-US" sz="2200" b="1" dirty="0"/>
              <a:t>void main ()</a:t>
            </a:r>
          </a:p>
          <a:p>
            <a:pPr marL="130175" indent="0">
              <a:buNone/>
            </a:pPr>
            <a:r>
              <a:rPr lang="en-US" sz="2200" b="1" dirty="0"/>
              <a:t>{</a:t>
            </a:r>
          </a:p>
          <a:p>
            <a:pPr marL="130175" indent="0">
              <a:buNone/>
            </a:pPr>
            <a:r>
              <a:rPr lang="en-US" sz="2200" b="1" dirty="0"/>
              <a:t>  </a:t>
            </a:r>
            <a:r>
              <a:rPr lang="en-US" sz="2200" b="1" dirty="0" err="1"/>
              <a:t>int</a:t>
            </a:r>
            <a:r>
              <a:rPr lang="en-US" sz="2200" b="1" dirty="0"/>
              <a:t> </a:t>
            </a:r>
            <a:r>
              <a:rPr lang="en-US" sz="2200" b="1" dirty="0" err="1"/>
              <a:t>i</a:t>
            </a:r>
            <a:r>
              <a:rPr lang="en-US" sz="2200" b="1" dirty="0"/>
              <a:t>; double x, pi, sum = 0.0;</a:t>
            </a:r>
          </a:p>
          <a:p>
            <a:pPr marL="130175" indent="0">
              <a:buNone/>
            </a:pPr>
            <a:r>
              <a:rPr lang="en-US" sz="2200" b="1" dirty="0"/>
              <a:t>  step = 1.0/(double) </a:t>
            </a:r>
            <a:r>
              <a:rPr lang="en-US" sz="2200" b="1" dirty="0" err="1"/>
              <a:t>num_steps</a:t>
            </a:r>
            <a:r>
              <a:rPr lang="en-US" sz="2200" b="1" dirty="0"/>
              <a:t>; </a:t>
            </a:r>
            <a:r>
              <a:rPr lang="en-US" sz="2200" b="1" dirty="0">
                <a:solidFill>
                  <a:srgbClr val="0000A8"/>
                </a:solidFill>
              </a:rPr>
              <a:t>// </a:t>
            </a:r>
            <a:r>
              <a:rPr lang="en-US" sz="2200" b="1" dirty="0" smtClean="0">
                <a:solidFill>
                  <a:srgbClr val="0000A8"/>
                </a:solidFill>
              </a:rPr>
              <a:t>size </a:t>
            </a:r>
            <a:r>
              <a:rPr lang="en-US" sz="2200" b="1" dirty="0">
                <a:solidFill>
                  <a:srgbClr val="0000A8"/>
                </a:solidFill>
              </a:rPr>
              <a:t>of one rectangle</a:t>
            </a:r>
          </a:p>
          <a:p>
            <a:pPr marL="130175" indent="0">
              <a:buNone/>
            </a:pPr>
            <a:r>
              <a:rPr lang="en-US" sz="2200" b="1" dirty="0"/>
              <a:t>  for (</a:t>
            </a:r>
            <a:r>
              <a:rPr lang="en-US" sz="2200" b="1" dirty="0" err="1"/>
              <a:t>i</a:t>
            </a:r>
            <a:r>
              <a:rPr lang="en-US" sz="2200" b="1" dirty="0"/>
              <a:t>=0;i&lt; </a:t>
            </a:r>
            <a:r>
              <a:rPr lang="en-US" sz="2200" b="1" dirty="0" err="1"/>
              <a:t>num_steps</a:t>
            </a:r>
            <a:r>
              <a:rPr lang="en-US" sz="2200" b="1" dirty="0"/>
              <a:t>; </a:t>
            </a:r>
            <a:r>
              <a:rPr lang="en-US" sz="2200" b="1" dirty="0" err="1"/>
              <a:t>i</a:t>
            </a:r>
            <a:r>
              <a:rPr lang="en-US" sz="2200" b="1" dirty="0"/>
              <a:t>++){</a:t>
            </a:r>
          </a:p>
          <a:p>
            <a:pPr marL="130175" indent="0">
              <a:buNone/>
            </a:pPr>
            <a:r>
              <a:rPr lang="en-US" sz="2200" b="1" dirty="0"/>
              <a:t>    x = (i+0.5)*step; </a:t>
            </a:r>
            <a:r>
              <a:rPr lang="en-US" sz="2200" b="1" dirty="0">
                <a:solidFill>
                  <a:srgbClr val="0000A8"/>
                </a:solidFill>
              </a:rPr>
              <a:t>// rectangle </a:t>
            </a:r>
            <a:r>
              <a:rPr lang="en-US" sz="2200" b="1" dirty="0" smtClean="0">
                <a:solidFill>
                  <a:srgbClr val="0000A8"/>
                </a:solidFill>
              </a:rPr>
              <a:t>width</a:t>
            </a:r>
            <a:endParaRPr lang="en-US" sz="2200" b="1" dirty="0">
              <a:solidFill>
                <a:srgbClr val="0000A8"/>
              </a:solidFill>
            </a:endParaRPr>
          </a:p>
          <a:p>
            <a:pPr marL="130175" indent="0">
              <a:buNone/>
            </a:pPr>
            <a:r>
              <a:rPr lang="en-US" sz="2200" b="1" dirty="0"/>
              <a:t>    sum = </a:t>
            </a:r>
            <a:r>
              <a:rPr lang="en-US" sz="2200" b="1" dirty="0">
                <a:solidFill>
                  <a:srgbClr val="C00000"/>
                </a:solidFill>
              </a:rPr>
              <a:t>sum</a:t>
            </a:r>
            <a:r>
              <a:rPr lang="en-US" sz="2200" b="1" dirty="0"/>
              <a:t> + </a:t>
            </a:r>
            <a:r>
              <a:rPr lang="en-US" sz="2200" b="1" dirty="0">
                <a:solidFill>
                  <a:srgbClr val="0000A8"/>
                </a:solidFill>
              </a:rPr>
              <a:t>4.0/(1.0+x*x); // rectangle </a:t>
            </a:r>
            <a:r>
              <a:rPr lang="en-US" sz="2200" b="1" dirty="0" smtClean="0">
                <a:solidFill>
                  <a:srgbClr val="0000A8"/>
                </a:solidFill>
              </a:rPr>
              <a:t>area</a:t>
            </a:r>
            <a:r>
              <a:rPr lang="en-US" sz="2200" b="1" dirty="0" smtClean="0">
                <a:solidFill>
                  <a:srgbClr val="666699"/>
                </a:solidFill>
              </a:rPr>
              <a:t> </a:t>
            </a:r>
            <a:r>
              <a:rPr lang="en-US" sz="2200" b="1" dirty="0" smtClean="0">
                <a:solidFill>
                  <a:srgbClr val="C00000"/>
                </a:solidFill>
              </a:rPr>
              <a:t>// </a:t>
            </a:r>
            <a:r>
              <a:rPr lang="en-US" sz="2200" b="1" dirty="0">
                <a:solidFill>
                  <a:srgbClr val="C00000"/>
                </a:solidFill>
              </a:rPr>
              <a:t>integrating area</a:t>
            </a:r>
          </a:p>
          <a:p>
            <a:pPr marL="130175" indent="0">
              <a:buNone/>
            </a:pPr>
            <a:r>
              <a:rPr lang="en-US" sz="2200" b="1" dirty="0"/>
              <a:t> }</a:t>
            </a:r>
          </a:p>
          <a:p>
            <a:pPr marL="130175" indent="0">
              <a:buNone/>
            </a:pPr>
            <a:r>
              <a:rPr lang="en-US" sz="2200" b="1" dirty="0"/>
              <a:t>    pi = step * sum;</a:t>
            </a:r>
          </a:p>
          <a:p>
            <a:pPr marL="130175" indent="0">
              <a:buNone/>
            </a:pPr>
            <a:r>
              <a:rPr lang="en-US" sz="2200" b="1" dirty="0"/>
              <a:t>}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Serial Pi Program</a:t>
            </a:r>
          </a:p>
        </p:txBody>
      </p:sp>
    </p:spTree>
    <p:extLst>
      <p:ext uri="{BB962C8B-B14F-4D97-AF65-F5344CB8AC3E}">
        <p14:creationId xmlns:p14="http://schemas.microsoft.com/office/powerpoint/2010/main" val="25077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Pi </a:t>
            </a:r>
            <a:r>
              <a:rPr lang="en-US" dirty="0" smtClean="0"/>
              <a:t>Program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b="1" dirty="0"/>
              <a:t>static long </a:t>
            </a:r>
            <a:r>
              <a:rPr lang="en-US" b="1" dirty="0" err="1"/>
              <a:t>num_steps</a:t>
            </a:r>
            <a:r>
              <a:rPr lang="en-US" b="1" dirty="0"/>
              <a:t> = 100000;</a:t>
            </a:r>
          </a:p>
          <a:p>
            <a:pPr marL="130175" indent="0">
              <a:buNone/>
            </a:pPr>
            <a:r>
              <a:rPr lang="en-US" b="1" dirty="0"/>
              <a:t>double step;</a:t>
            </a:r>
          </a:p>
          <a:p>
            <a:pPr marL="130175" indent="0">
              <a:buNone/>
            </a:pPr>
            <a:r>
              <a:rPr lang="en-US" b="1" dirty="0">
                <a:solidFill>
                  <a:srgbClr val="0000A8"/>
                </a:solidFill>
              </a:rPr>
              <a:t>#define NUM_THREADS </a:t>
            </a:r>
            <a:r>
              <a:rPr lang="en-US" b="1" dirty="0" smtClean="0">
                <a:solidFill>
                  <a:srgbClr val="0000A8"/>
                </a:solidFill>
              </a:rPr>
              <a:t>4 	</a:t>
            </a:r>
            <a:endParaRPr lang="en-US" b="1" dirty="0"/>
          </a:p>
          <a:p>
            <a:pPr marL="130175" indent="0">
              <a:buNone/>
            </a:pPr>
            <a:r>
              <a:rPr lang="en-US" b="1" dirty="0" err="1"/>
              <a:t>int</a:t>
            </a:r>
            <a:r>
              <a:rPr lang="en-US" b="1" dirty="0"/>
              <a:t> _</a:t>
            </a:r>
            <a:r>
              <a:rPr lang="en-US" b="1" dirty="0" err="1"/>
              <a:t>tmain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argc</a:t>
            </a:r>
            <a:r>
              <a:rPr lang="en-US" b="1" dirty="0"/>
              <a:t>, _TCHAR* </a:t>
            </a:r>
            <a:r>
              <a:rPr lang="en-US" b="1" dirty="0" err="1"/>
              <a:t>argv</a:t>
            </a:r>
            <a:r>
              <a:rPr lang="en-US" b="1" dirty="0"/>
              <a:t>[])</a:t>
            </a:r>
          </a:p>
          <a:p>
            <a:pPr marL="130175" indent="0">
              <a:buNone/>
            </a:pPr>
            <a:r>
              <a:rPr lang="en-US" b="1" dirty="0"/>
              <a:t>{</a:t>
            </a:r>
          </a:p>
          <a:p>
            <a:pPr marL="130175" indent="0">
              <a:buNone/>
            </a:pPr>
            <a:r>
              <a:rPr lang="en-US" b="1" dirty="0"/>
              <a:t> 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, </a:t>
            </a:r>
            <a:r>
              <a:rPr lang="en-US" b="1" dirty="0" err="1"/>
              <a:t>nthreads</a:t>
            </a:r>
            <a:r>
              <a:rPr lang="en-US" b="1" dirty="0"/>
              <a:t>; </a:t>
            </a:r>
          </a:p>
          <a:p>
            <a:pPr marL="130175" indent="0">
              <a:buNone/>
            </a:pPr>
            <a:r>
              <a:rPr lang="en-US" b="1" dirty="0"/>
              <a:t>  double pi, sum[NUM_THREADS];</a:t>
            </a:r>
          </a:p>
          <a:p>
            <a:pPr marL="130175" indent="0">
              <a:buNone/>
            </a:pPr>
            <a:r>
              <a:rPr lang="en-US" b="1" dirty="0"/>
              <a:t>  step = 1.0/(double) </a:t>
            </a:r>
            <a:r>
              <a:rPr lang="en-US" b="1" dirty="0" err="1"/>
              <a:t>num_steps</a:t>
            </a:r>
            <a:r>
              <a:rPr lang="en-US" b="1" dirty="0"/>
              <a:t>;</a:t>
            </a:r>
          </a:p>
          <a:p>
            <a:pPr marL="130175" indent="0">
              <a:buNone/>
            </a:pPr>
            <a:r>
              <a:rPr lang="en-US" b="1" dirty="0">
                <a:solidFill>
                  <a:srgbClr val="0000A8"/>
                </a:solidFill>
              </a:rPr>
              <a:t>  </a:t>
            </a:r>
            <a:r>
              <a:rPr lang="en-US" b="1" dirty="0" err="1">
                <a:solidFill>
                  <a:srgbClr val="0000A8"/>
                </a:solidFill>
              </a:rPr>
              <a:t>omp_set_num_threads</a:t>
            </a:r>
            <a:r>
              <a:rPr lang="en-US" b="1" dirty="0">
                <a:solidFill>
                  <a:srgbClr val="0000A8"/>
                </a:solidFill>
              </a:rPr>
              <a:t>(NUM_THREADS</a:t>
            </a:r>
            <a:r>
              <a:rPr lang="en-US" b="1" dirty="0" smtClean="0">
                <a:solidFill>
                  <a:srgbClr val="0000A8"/>
                </a:solidFill>
              </a:rPr>
              <a:t>); </a:t>
            </a:r>
            <a:r>
              <a:rPr lang="en-US" b="1" dirty="0"/>
              <a:t>// Setting number of </a:t>
            </a:r>
            <a:r>
              <a:rPr lang="en-US" b="1" dirty="0" smtClean="0"/>
              <a:t>threads</a:t>
            </a:r>
            <a:endParaRPr lang="en-US" b="1" dirty="0">
              <a:solidFill>
                <a:srgbClr val="0000A8"/>
              </a:solidFill>
            </a:endParaRPr>
          </a:p>
          <a:p>
            <a:pPr marL="130175" indent="0">
              <a:buNone/>
            </a:pPr>
            <a:r>
              <a:rPr lang="en-US" b="1" dirty="0">
                <a:solidFill>
                  <a:srgbClr val="C00000"/>
                </a:solidFill>
              </a:rPr>
              <a:t>  </a:t>
            </a:r>
          </a:p>
          <a:p>
            <a:pPr marL="130175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90640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Pi </a:t>
            </a:r>
            <a:r>
              <a:rPr lang="en-US" dirty="0" smtClean="0"/>
              <a:t>Program (Cont.)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A8"/>
                </a:solidFill>
              </a:rPr>
              <a:t>#pragma </a:t>
            </a:r>
            <a:r>
              <a:rPr lang="en-US" sz="2000" b="1" dirty="0" err="1">
                <a:solidFill>
                  <a:srgbClr val="0000A8"/>
                </a:solidFill>
              </a:rPr>
              <a:t>omp</a:t>
            </a:r>
            <a:r>
              <a:rPr lang="en-US" sz="2000" b="1" dirty="0">
                <a:solidFill>
                  <a:srgbClr val="0000A8"/>
                </a:solidFill>
              </a:rPr>
              <a:t> parallel</a:t>
            </a:r>
          </a:p>
          <a:p>
            <a:pPr>
              <a:buNone/>
            </a:pPr>
            <a:r>
              <a:rPr lang="en-US" sz="2000" b="1" dirty="0"/>
              <a:t> {</a:t>
            </a:r>
          </a:p>
          <a:p>
            <a:pPr>
              <a:buNone/>
            </a:pPr>
            <a:r>
              <a:rPr lang="en-US" sz="2000" b="1" dirty="0"/>
              <a:t>   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, id, </a:t>
            </a:r>
            <a:r>
              <a:rPr lang="en-US" sz="2000" b="1" dirty="0" err="1"/>
              <a:t>nthrds</a:t>
            </a:r>
            <a:r>
              <a:rPr lang="en-US" sz="2000" b="1" dirty="0"/>
              <a:t>;</a:t>
            </a:r>
          </a:p>
          <a:p>
            <a:pPr>
              <a:buNone/>
            </a:pPr>
            <a:r>
              <a:rPr lang="en-US" sz="2000" b="1" dirty="0"/>
              <a:t>   double x;</a:t>
            </a:r>
          </a:p>
          <a:p>
            <a:pPr>
              <a:buNone/>
            </a:pPr>
            <a:r>
              <a:rPr lang="en-US" sz="2000" b="1" dirty="0"/>
              <a:t>   </a:t>
            </a:r>
            <a:r>
              <a:rPr lang="en-US" sz="2000" b="1" dirty="0">
                <a:solidFill>
                  <a:srgbClr val="0000A8"/>
                </a:solidFill>
              </a:rPr>
              <a:t>id = </a:t>
            </a:r>
            <a:r>
              <a:rPr lang="en-US" sz="2000" b="1" dirty="0" err="1">
                <a:solidFill>
                  <a:srgbClr val="0000A8"/>
                </a:solidFill>
              </a:rPr>
              <a:t>omp_get_thread_num</a:t>
            </a:r>
            <a:r>
              <a:rPr lang="en-US" sz="2000" b="1" dirty="0" smtClean="0">
                <a:solidFill>
                  <a:srgbClr val="0000A8"/>
                </a:solidFill>
              </a:rPr>
              <a:t>(); 		</a:t>
            </a:r>
            <a:r>
              <a:rPr lang="en-US" sz="2000" b="1" dirty="0" smtClean="0"/>
              <a:t>// </a:t>
            </a:r>
            <a:r>
              <a:rPr lang="en-US" sz="2000" b="1" dirty="0"/>
              <a:t>Getting thread Id (Unique Id for each thread</a:t>
            </a:r>
            <a:r>
              <a:rPr lang="en-US" sz="2000" b="1" dirty="0" smtClean="0"/>
              <a:t>)</a:t>
            </a: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0000A8"/>
                </a:solidFill>
              </a:rPr>
              <a:t>   </a:t>
            </a:r>
            <a:r>
              <a:rPr lang="en-US" sz="2000" b="1" dirty="0" err="1">
                <a:solidFill>
                  <a:srgbClr val="0000A8"/>
                </a:solidFill>
              </a:rPr>
              <a:t>nthrds</a:t>
            </a:r>
            <a:r>
              <a:rPr lang="en-US" sz="2000" b="1" dirty="0">
                <a:solidFill>
                  <a:srgbClr val="0000A8"/>
                </a:solidFill>
              </a:rPr>
              <a:t> = </a:t>
            </a:r>
            <a:r>
              <a:rPr lang="en-US" sz="2000" b="1" dirty="0" err="1">
                <a:solidFill>
                  <a:srgbClr val="0000A8"/>
                </a:solidFill>
              </a:rPr>
              <a:t>omp_get_num_threads</a:t>
            </a:r>
            <a:r>
              <a:rPr lang="en-US" sz="2000" b="1" dirty="0" smtClean="0">
                <a:solidFill>
                  <a:srgbClr val="0000A8"/>
                </a:solidFill>
              </a:rPr>
              <a:t>(); </a:t>
            </a: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2000" b="1" dirty="0" smtClean="0"/>
              <a:t>// </a:t>
            </a:r>
            <a:r>
              <a:rPr lang="en-US" sz="2000" b="1" dirty="0"/>
              <a:t>Number of threads in the </a:t>
            </a:r>
            <a:r>
              <a:rPr lang="en-US" sz="2000" b="1" dirty="0" smtClean="0"/>
              <a:t>program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   if(id == 0)</a:t>
            </a:r>
          </a:p>
          <a:p>
            <a:pPr>
              <a:buNone/>
            </a:pPr>
            <a:r>
              <a:rPr lang="en-US" sz="2000" b="1" dirty="0"/>
              <a:t>      </a:t>
            </a:r>
            <a:r>
              <a:rPr lang="en-US" sz="2000" b="1" dirty="0" err="1"/>
              <a:t>nthreads</a:t>
            </a:r>
            <a:r>
              <a:rPr lang="en-US" sz="2000" b="1" dirty="0"/>
              <a:t> = </a:t>
            </a:r>
            <a:r>
              <a:rPr lang="en-US" sz="2000" b="1" dirty="0" err="1"/>
              <a:t>nthrds</a:t>
            </a:r>
            <a:r>
              <a:rPr lang="en-US" sz="2000" b="1" dirty="0"/>
              <a:t>;</a:t>
            </a:r>
          </a:p>
          <a:p>
            <a:pPr>
              <a:buNone/>
            </a:pPr>
            <a:r>
              <a:rPr lang="nn-NO" sz="2000" b="1" dirty="0">
                <a:solidFill>
                  <a:srgbClr val="C00000"/>
                </a:solidFill>
              </a:rPr>
              <a:t>   </a:t>
            </a:r>
            <a:r>
              <a:rPr lang="nn-NO" sz="2000" b="1" dirty="0"/>
              <a:t>for (i=id, sum[id]=0.0;i&lt; num_steps; i=i+nthrds){</a:t>
            </a:r>
          </a:p>
          <a:p>
            <a:pPr>
              <a:buNone/>
            </a:pPr>
            <a:r>
              <a:rPr lang="en-US" sz="2000" b="1" dirty="0"/>
              <a:t>        x = (i+0.5)*step;  </a:t>
            </a:r>
            <a:r>
              <a:rPr lang="en-US" sz="2000" b="1" dirty="0">
                <a:solidFill>
                  <a:srgbClr val="0000A8"/>
                </a:solidFill>
              </a:rPr>
              <a:t>// rectangle width</a:t>
            </a:r>
          </a:p>
          <a:p>
            <a:pPr>
              <a:buNone/>
            </a:pPr>
            <a:r>
              <a:rPr lang="en-US" sz="2000" b="1" dirty="0"/>
              <a:t>        sum[id] += 4.0/(1.0+x*x); </a:t>
            </a:r>
            <a:r>
              <a:rPr lang="en-US" sz="2000" b="1" dirty="0">
                <a:solidFill>
                  <a:srgbClr val="0000A8"/>
                </a:solidFill>
              </a:rPr>
              <a:t>// array with </a:t>
            </a:r>
            <a:r>
              <a:rPr lang="en-US" sz="2000" b="1" dirty="0" smtClean="0">
                <a:solidFill>
                  <a:srgbClr val="0000A8"/>
                </a:solidFill>
              </a:rPr>
              <a:t>partial sum </a:t>
            </a:r>
            <a:r>
              <a:rPr lang="en-US" sz="2000" b="1" dirty="0">
                <a:solidFill>
                  <a:srgbClr val="0000A8"/>
                </a:solidFill>
              </a:rPr>
              <a:t>of each thread</a:t>
            </a:r>
          </a:p>
          <a:p>
            <a:pPr>
              <a:buNone/>
            </a:pPr>
            <a:r>
              <a:rPr lang="en-US" sz="2000" b="1" dirty="0"/>
              <a:t>      }</a:t>
            </a:r>
          </a:p>
          <a:p>
            <a:pPr>
              <a:buNone/>
            </a:pPr>
            <a:r>
              <a:rPr lang="en-US" sz="2000" b="1" dirty="0"/>
              <a:t>  </a:t>
            </a:r>
            <a:r>
              <a:rPr lang="en-US" sz="2000" b="1" dirty="0" smtClean="0"/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91266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Pi </a:t>
            </a:r>
            <a:r>
              <a:rPr lang="en-US" dirty="0" smtClean="0"/>
              <a:t>Program (Cont.)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for(</a:t>
            </a:r>
            <a:r>
              <a:rPr lang="en-US" b="1" dirty="0" err="1" smtClean="0"/>
              <a:t>i</a:t>
            </a:r>
            <a:r>
              <a:rPr lang="en-US" b="1" dirty="0" smtClean="0"/>
              <a:t>=0,pi=0.0; </a:t>
            </a:r>
            <a:r>
              <a:rPr lang="en-US" b="1" dirty="0" err="1" smtClean="0"/>
              <a:t>i</a:t>
            </a:r>
            <a:r>
              <a:rPr lang="en-US" b="1" dirty="0" smtClean="0"/>
              <a:t>&lt;</a:t>
            </a:r>
            <a:r>
              <a:rPr lang="en-US" b="1" dirty="0" err="1" smtClean="0"/>
              <a:t>nthreads</a:t>
            </a:r>
            <a:r>
              <a:rPr lang="en-US" b="1" dirty="0" smtClean="0"/>
              <a:t>; </a:t>
            </a:r>
            <a:r>
              <a:rPr lang="en-US" b="1" dirty="0" err="1" smtClean="0"/>
              <a:t>i</a:t>
            </a:r>
            <a:r>
              <a:rPr lang="en-US" b="1" dirty="0" smtClean="0"/>
              <a:t>++)</a:t>
            </a:r>
          </a:p>
          <a:p>
            <a:pPr>
              <a:buNone/>
            </a:pPr>
            <a:r>
              <a:rPr lang="en-US" b="1" dirty="0" smtClean="0"/>
              <a:t>        pi += sum[</a:t>
            </a:r>
            <a:r>
              <a:rPr lang="en-US" b="1" dirty="0" err="1" smtClean="0"/>
              <a:t>i</a:t>
            </a:r>
            <a:r>
              <a:rPr lang="en-US" b="1" dirty="0" smtClean="0"/>
              <a:t>] * step;</a:t>
            </a:r>
          </a:p>
          <a:p>
            <a:pPr>
              <a:buNone/>
            </a:pPr>
            <a:r>
              <a:rPr lang="en-US" b="1" dirty="0" smtClean="0"/>
              <a:t>    </a:t>
            </a:r>
            <a:r>
              <a:rPr lang="en-US" b="1" dirty="0" err="1" smtClean="0"/>
              <a:t>printf</a:t>
            </a:r>
            <a:r>
              <a:rPr lang="en-US" b="1" dirty="0" smtClean="0"/>
              <a:t>("%f\n", pi);</a:t>
            </a:r>
          </a:p>
          <a:p>
            <a:pPr>
              <a:buNone/>
            </a:pPr>
            <a:r>
              <a:rPr lang="en-US" b="1" dirty="0" smtClean="0"/>
              <a:t>    return 0;</a:t>
            </a:r>
          </a:p>
          <a:p>
            <a:pPr>
              <a:buNone/>
            </a:pPr>
            <a:r>
              <a:rPr lang="en-US" b="1" dirty="0" smtClean="0"/>
              <a:t>}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581546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Parallel Pi </a:t>
            </a:r>
            <a:r>
              <a:rPr lang="en-US" dirty="0" smtClean="0"/>
              <a:t>Program </a:t>
            </a:r>
            <a:r>
              <a:rPr lang="en-US" dirty="0"/>
              <a:t>using </a:t>
            </a:r>
            <a:r>
              <a:rPr lang="en-US" dirty="0" smtClean="0"/>
              <a:t>Mutual Exclusion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30175" indent="0">
              <a:buNone/>
            </a:pPr>
            <a:r>
              <a:rPr lang="en-US" b="1" dirty="0"/>
              <a:t>static long </a:t>
            </a:r>
            <a:r>
              <a:rPr lang="en-US" b="1" dirty="0" err="1"/>
              <a:t>num_steps</a:t>
            </a:r>
            <a:r>
              <a:rPr lang="en-US" b="1" dirty="0"/>
              <a:t> = 100000;</a:t>
            </a:r>
          </a:p>
          <a:p>
            <a:pPr marL="130175" indent="0">
              <a:buNone/>
            </a:pPr>
            <a:r>
              <a:rPr lang="en-US" b="1" dirty="0"/>
              <a:t>double step;</a:t>
            </a:r>
          </a:p>
          <a:p>
            <a:pPr marL="130175" indent="0">
              <a:buNone/>
            </a:pPr>
            <a:r>
              <a:rPr lang="en-US" b="1" dirty="0">
                <a:solidFill>
                  <a:srgbClr val="0000A8"/>
                </a:solidFill>
              </a:rPr>
              <a:t>#define NUM_THREADS </a:t>
            </a:r>
            <a:r>
              <a:rPr lang="en-US" b="1" dirty="0" smtClean="0">
                <a:solidFill>
                  <a:srgbClr val="0000A8"/>
                </a:solidFill>
              </a:rPr>
              <a:t>4 	</a:t>
            </a:r>
            <a:endParaRPr lang="en-US" b="1" dirty="0"/>
          </a:p>
          <a:p>
            <a:pPr marL="130175" indent="0">
              <a:buNone/>
            </a:pPr>
            <a:r>
              <a:rPr lang="en-US" b="1" dirty="0" err="1"/>
              <a:t>int</a:t>
            </a:r>
            <a:r>
              <a:rPr lang="en-US" b="1" dirty="0"/>
              <a:t> _</a:t>
            </a:r>
            <a:r>
              <a:rPr lang="en-US" b="1" dirty="0" err="1"/>
              <a:t>tmain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argc</a:t>
            </a:r>
            <a:r>
              <a:rPr lang="en-US" b="1" dirty="0"/>
              <a:t>, _TCHAR* </a:t>
            </a:r>
            <a:r>
              <a:rPr lang="en-US" b="1" dirty="0" err="1"/>
              <a:t>argv</a:t>
            </a:r>
            <a:r>
              <a:rPr lang="en-US" b="1" dirty="0"/>
              <a:t>[])</a:t>
            </a:r>
          </a:p>
          <a:p>
            <a:pPr marL="130175" indent="0">
              <a:buNone/>
            </a:pPr>
            <a:r>
              <a:rPr lang="en-US" b="1" dirty="0"/>
              <a:t>{</a:t>
            </a:r>
          </a:p>
          <a:p>
            <a:pPr marL="130175" indent="0">
              <a:buNone/>
            </a:pPr>
            <a:r>
              <a:rPr lang="en-US" b="1" dirty="0"/>
              <a:t> 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, </a:t>
            </a:r>
            <a:r>
              <a:rPr lang="en-US" b="1" dirty="0" err="1"/>
              <a:t>nthreads</a:t>
            </a:r>
            <a:r>
              <a:rPr lang="en-US" b="1" dirty="0"/>
              <a:t>; </a:t>
            </a:r>
          </a:p>
          <a:p>
            <a:pPr marL="130175" indent="0">
              <a:buNone/>
            </a:pPr>
            <a:r>
              <a:rPr lang="en-US" b="1" dirty="0"/>
              <a:t>  double pi, sum[NUM_THREADS];</a:t>
            </a:r>
          </a:p>
          <a:p>
            <a:pPr marL="130175" indent="0">
              <a:buNone/>
            </a:pPr>
            <a:r>
              <a:rPr lang="en-US" b="1" dirty="0"/>
              <a:t>  step = 1.0/(double) </a:t>
            </a:r>
            <a:r>
              <a:rPr lang="en-US" b="1" dirty="0" err="1"/>
              <a:t>num_steps</a:t>
            </a:r>
            <a:r>
              <a:rPr lang="en-US" b="1" dirty="0"/>
              <a:t>;</a:t>
            </a:r>
          </a:p>
          <a:p>
            <a:pPr marL="130175" indent="0">
              <a:buNone/>
            </a:pPr>
            <a:r>
              <a:rPr lang="en-US" b="1" dirty="0">
                <a:solidFill>
                  <a:srgbClr val="0000A8"/>
                </a:solidFill>
              </a:rPr>
              <a:t>  </a:t>
            </a:r>
            <a:r>
              <a:rPr lang="en-US" b="1" dirty="0" err="1">
                <a:solidFill>
                  <a:srgbClr val="0000A8"/>
                </a:solidFill>
              </a:rPr>
              <a:t>omp_set_num_threads</a:t>
            </a:r>
            <a:r>
              <a:rPr lang="en-US" b="1" dirty="0">
                <a:solidFill>
                  <a:srgbClr val="0000A8"/>
                </a:solidFill>
              </a:rPr>
              <a:t>(NUM_THREADS</a:t>
            </a:r>
            <a:r>
              <a:rPr lang="en-US" b="1" dirty="0" smtClean="0">
                <a:solidFill>
                  <a:srgbClr val="0000A8"/>
                </a:solidFill>
              </a:rPr>
              <a:t>); </a:t>
            </a:r>
            <a:r>
              <a:rPr lang="en-US" b="1" dirty="0"/>
              <a:t>// Setting number of </a:t>
            </a:r>
            <a:r>
              <a:rPr lang="en-US" b="1" dirty="0" smtClean="0"/>
              <a:t>threads</a:t>
            </a:r>
            <a:endParaRPr lang="en-US" b="1" dirty="0">
              <a:solidFill>
                <a:srgbClr val="0000A8"/>
              </a:solidFill>
            </a:endParaRPr>
          </a:p>
          <a:p>
            <a:pPr marL="130175" indent="0">
              <a:buNone/>
            </a:pPr>
            <a:r>
              <a:rPr lang="en-US" b="1" dirty="0">
                <a:solidFill>
                  <a:srgbClr val="C00000"/>
                </a:solidFill>
              </a:rPr>
              <a:t>  </a:t>
            </a:r>
          </a:p>
          <a:p>
            <a:pPr marL="130175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68945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 Pi Program using Mutual </a:t>
            </a:r>
            <a:r>
              <a:rPr lang="en-US" dirty="0" smtClean="0"/>
              <a:t>Exclusion (Cont.)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00A8"/>
                </a:solidFill>
              </a:rPr>
              <a:t>#pragma </a:t>
            </a:r>
            <a:r>
              <a:rPr lang="en-US" sz="2000" b="1" dirty="0" err="1">
                <a:solidFill>
                  <a:srgbClr val="0000A8"/>
                </a:solidFill>
              </a:rPr>
              <a:t>omp</a:t>
            </a:r>
            <a:r>
              <a:rPr lang="en-US" sz="2000" b="1" dirty="0">
                <a:solidFill>
                  <a:srgbClr val="0000A8"/>
                </a:solidFill>
              </a:rPr>
              <a:t> parallel</a:t>
            </a:r>
          </a:p>
          <a:p>
            <a:pPr>
              <a:buNone/>
            </a:pPr>
            <a:r>
              <a:rPr lang="en-US" sz="2000" b="1" dirty="0"/>
              <a:t> {</a:t>
            </a:r>
          </a:p>
          <a:p>
            <a:pPr>
              <a:buNone/>
            </a:pPr>
            <a:r>
              <a:rPr lang="en-US" sz="2000" b="1" dirty="0"/>
              <a:t>   </a:t>
            </a:r>
            <a:r>
              <a:rPr lang="en-US" sz="2000" b="1" dirty="0" err="1"/>
              <a:t>int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, id, </a:t>
            </a:r>
            <a:r>
              <a:rPr lang="en-US" sz="2000" b="1" dirty="0" err="1"/>
              <a:t>nthrds</a:t>
            </a:r>
            <a:r>
              <a:rPr lang="en-US" sz="2000" b="1" dirty="0"/>
              <a:t>;</a:t>
            </a:r>
          </a:p>
          <a:p>
            <a:pPr>
              <a:buNone/>
            </a:pPr>
            <a:r>
              <a:rPr lang="en-US" sz="2000" b="1" dirty="0"/>
              <a:t>   double x;</a:t>
            </a:r>
          </a:p>
          <a:p>
            <a:pPr>
              <a:buNone/>
            </a:pPr>
            <a:r>
              <a:rPr lang="en-US" sz="2000" b="1" dirty="0"/>
              <a:t>   </a:t>
            </a:r>
            <a:r>
              <a:rPr lang="en-US" sz="2000" b="1" dirty="0">
                <a:solidFill>
                  <a:srgbClr val="0000A8"/>
                </a:solidFill>
              </a:rPr>
              <a:t>id = </a:t>
            </a:r>
            <a:r>
              <a:rPr lang="en-US" sz="2000" b="1" dirty="0" err="1">
                <a:solidFill>
                  <a:srgbClr val="0000A8"/>
                </a:solidFill>
              </a:rPr>
              <a:t>omp_get_thread_num</a:t>
            </a:r>
            <a:r>
              <a:rPr lang="en-US" sz="2000" b="1" dirty="0" smtClean="0">
                <a:solidFill>
                  <a:srgbClr val="0000A8"/>
                </a:solidFill>
              </a:rPr>
              <a:t>(); 		</a:t>
            </a:r>
            <a:r>
              <a:rPr lang="en-US" sz="2000" b="1" dirty="0" smtClean="0"/>
              <a:t>// </a:t>
            </a:r>
            <a:r>
              <a:rPr lang="en-US" sz="2000" b="1" dirty="0"/>
              <a:t>Getting thread Id (Unique Id for each thread</a:t>
            </a:r>
            <a:r>
              <a:rPr lang="en-US" sz="2000" b="1" dirty="0" smtClean="0"/>
              <a:t>)</a:t>
            </a:r>
            <a:endParaRPr lang="en-US" sz="2000" b="1" dirty="0"/>
          </a:p>
          <a:p>
            <a:pPr>
              <a:buNone/>
            </a:pPr>
            <a:r>
              <a:rPr lang="en-US" sz="2000" b="1" dirty="0">
                <a:solidFill>
                  <a:srgbClr val="0000A8"/>
                </a:solidFill>
              </a:rPr>
              <a:t>   </a:t>
            </a:r>
            <a:r>
              <a:rPr lang="en-US" sz="2000" b="1" dirty="0" err="1">
                <a:solidFill>
                  <a:srgbClr val="0000A8"/>
                </a:solidFill>
              </a:rPr>
              <a:t>nthrds</a:t>
            </a:r>
            <a:r>
              <a:rPr lang="en-US" sz="2000" b="1" dirty="0">
                <a:solidFill>
                  <a:srgbClr val="0000A8"/>
                </a:solidFill>
              </a:rPr>
              <a:t> = </a:t>
            </a:r>
            <a:r>
              <a:rPr lang="en-US" sz="2000" b="1" dirty="0" err="1">
                <a:solidFill>
                  <a:srgbClr val="0000A8"/>
                </a:solidFill>
              </a:rPr>
              <a:t>omp_get_num_threads</a:t>
            </a:r>
            <a:r>
              <a:rPr lang="en-US" sz="2000" b="1" dirty="0" smtClean="0">
                <a:solidFill>
                  <a:srgbClr val="0000A8"/>
                </a:solidFill>
              </a:rPr>
              <a:t>(); </a:t>
            </a:r>
            <a:r>
              <a:rPr lang="en-US" sz="2000" dirty="0">
                <a:solidFill>
                  <a:srgbClr val="C00000"/>
                </a:solidFill>
              </a:rPr>
              <a:t>	</a:t>
            </a:r>
            <a:r>
              <a:rPr lang="en-US" sz="2000" b="1" dirty="0" smtClean="0"/>
              <a:t>// </a:t>
            </a:r>
            <a:r>
              <a:rPr lang="en-US" sz="2000" b="1" dirty="0"/>
              <a:t>Number of threads in the </a:t>
            </a:r>
            <a:r>
              <a:rPr lang="en-US" sz="2000" b="1" dirty="0" smtClean="0"/>
              <a:t>program</a:t>
            </a:r>
            <a:endParaRPr lang="en-US" sz="2000" b="1" dirty="0"/>
          </a:p>
          <a:p>
            <a:pPr>
              <a:buNone/>
            </a:pPr>
            <a:r>
              <a:rPr lang="en-US" sz="2000" b="1" dirty="0"/>
              <a:t>   if(id == 0)</a:t>
            </a:r>
          </a:p>
          <a:p>
            <a:pPr>
              <a:buNone/>
            </a:pPr>
            <a:r>
              <a:rPr lang="en-US" sz="2000" b="1" dirty="0"/>
              <a:t>      </a:t>
            </a:r>
            <a:r>
              <a:rPr lang="en-US" sz="2000" b="1" dirty="0" err="1"/>
              <a:t>nthreads</a:t>
            </a:r>
            <a:r>
              <a:rPr lang="en-US" sz="2000" b="1" dirty="0"/>
              <a:t> = </a:t>
            </a:r>
            <a:r>
              <a:rPr lang="en-US" sz="2000" b="1" dirty="0" err="1"/>
              <a:t>nthrds</a:t>
            </a:r>
            <a:r>
              <a:rPr lang="en-US" sz="2000" b="1" dirty="0"/>
              <a:t>;</a:t>
            </a:r>
          </a:p>
          <a:p>
            <a:pPr>
              <a:buNone/>
            </a:pPr>
            <a:r>
              <a:rPr lang="nn-NO" sz="2000" b="1" dirty="0">
                <a:solidFill>
                  <a:srgbClr val="C00000"/>
                </a:solidFill>
              </a:rPr>
              <a:t>   </a:t>
            </a:r>
            <a:r>
              <a:rPr lang="nn-NO" sz="2000" b="1" dirty="0"/>
              <a:t>for (i=id, sum[id]=0.0;i&lt; num_steps; i=i+nthrds){</a:t>
            </a:r>
          </a:p>
          <a:p>
            <a:pPr>
              <a:buNone/>
            </a:pPr>
            <a:r>
              <a:rPr lang="en-US" sz="2000" b="1" dirty="0"/>
              <a:t>        x = (i+0.5)*step;  </a:t>
            </a:r>
            <a:r>
              <a:rPr lang="en-US" sz="2000" b="1" dirty="0">
                <a:solidFill>
                  <a:srgbClr val="0000A8"/>
                </a:solidFill>
              </a:rPr>
              <a:t>// rectangle width</a:t>
            </a:r>
          </a:p>
          <a:p>
            <a:pPr>
              <a:buNone/>
            </a:pPr>
            <a:r>
              <a:rPr lang="en-US" sz="2000" b="1" dirty="0"/>
              <a:t>        sum[id] += 4.0/(1.0+x*x); </a:t>
            </a:r>
            <a:r>
              <a:rPr lang="en-US" sz="2000" b="1" dirty="0">
                <a:solidFill>
                  <a:srgbClr val="0000A8"/>
                </a:solidFill>
              </a:rPr>
              <a:t>// array with </a:t>
            </a:r>
            <a:r>
              <a:rPr lang="en-US" sz="2000" b="1" dirty="0" smtClean="0">
                <a:solidFill>
                  <a:srgbClr val="0000A8"/>
                </a:solidFill>
              </a:rPr>
              <a:t>partial sum </a:t>
            </a:r>
            <a:r>
              <a:rPr lang="en-US" sz="2000" b="1" dirty="0">
                <a:solidFill>
                  <a:srgbClr val="0000A8"/>
                </a:solidFill>
              </a:rPr>
              <a:t>of each thread</a:t>
            </a:r>
          </a:p>
          <a:p>
            <a:pPr>
              <a:buNone/>
            </a:pPr>
            <a:r>
              <a:rPr lang="en-US" sz="2000" b="1" dirty="0"/>
              <a:t>      }</a:t>
            </a:r>
          </a:p>
          <a:p>
            <a:pPr>
              <a:buNone/>
            </a:pPr>
            <a:r>
              <a:rPr lang="en-US" sz="2000" b="1" dirty="0"/>
              <a:t>  </a:t>
            </a:r>
            <a:r>
              <a:rPr lang="en-US" sz="2000" b="1" dirty="0" smtClean="0"/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6976803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Parallel Pi Program using Mutual Exclusion (Cont.)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000A8"/>
                </a:solidFill>
              </a:rPr>
              <a:t>#pragma  </a:t>
            </a:r>
            <a:r>
              <a:rPr lang="en-US" b="1" dirty="0" err="1">
                <a:solidFill>
                  <a:srgbClr val="0000A8"/>
                </a:solidFill>
              </a:rPr>
              <a:t>omp</a:t>
            </a:r>
            <a:r>
              <a:rPr lang="en-US" b="1" dirty="0">
                <a:solidFill>
                  <a:srgbClr val="0000A8"/>
                </a:solidFill>
              </a:rPr>
              <a:t> </a:t>
            </a:r>
            <a:r>
              <a:rPr lang="en-US" b="1" dirty="0" smtClean="0">
                <a:solidFill>
                  <a:srgbClr val="0000A8"/>
                </a:solidFill>
              </a:rPr>
              <a:t>critical		// Ensuring Mutual Exclusion </a:t>
            </a:r>
            <a:endParaRPr lang="en-US" b="1" dirty="0">
              <a:solidFill>
                <a:srgbClr val="0000A8"/>
              </a:solidFill>
            </a:endParaRPr>
          </a:p>
          <a:p>
            <a:pPr>
              <a:buNone/>
            </a:pPr>
            <a:r>
              <a:rPr lang="en-US" b="1" dirty="0"/>
              <a:t>     pi += (sum * step);</a:t>
            </a:r>
          </a:p>
          <a:p>
            <a:pPr>
              <a:buNone/>
            </a:pPr>
            <a:r>
              <a:rPr lang="en-US" b="1" dirty="0"/>
              <a:t>  }</a:t>
            </a:r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   </a:t>
            </a:r>
            <a:r>
              <a:rPr lang="en-US" b="1" dirty="0"/>
              <a:t>     </a:t>
            </a:r>
            <a:r>
              <a:rPr lang="en-US" b="1" dirty="0" err="1"/>
              <a:t>printf</a:t>
            </a:r>
            <a:r>
              <a:rPr lang="en-US" b="1" dirty="0"/>
              <a:t>("%f\n", pi);</a:t>
            </a:r>
          </a:p>
          <a:p>
            <a:pPr>
              <a:buNone/>
            </a:pPr>
            <a:r>
              <a:rPr lang="en-US" b="1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3338228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 </a:t>
            </a:r>
            <a:r>
              <a:rPr lang="en-US" dirty="0" smtClean="0"/>
              <a:t>Program </a:t>
            </a:r>
            <a:r>
              <a:rPr lang="en-US" dirty="0"/>
              <a:t>using </a:t>
            </a:r>
            <a:r>
              <a:rPr lang="en-US" dirty="0" smtClean="0"/>
              <a:t>Reduction Clause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b="1" dirty="0"/>
              <a:t>static long </a:t>
            </a:r>
            <a:r>
              <a:rPr lang="en-US" sz="1600" b="1" dirty="0" err="1"/>
              <a:t>num_steps</a:t>
            </a:r>
            <a:r>
              <a:rPr lang="en-US" sz="1600" b="1" dirty="0"/>
              <a:t> = 100000;</a:t>
            </a:r>
          </a:p>
          <a:p>
            <a:pPr>
              <a:buNone/>
            </a:pPr>
            <a:r>
              <a:rPr lang="en-US" sz="1600" b="1" dirty="0"/>
              <a:t>double step;</a:t>
            </a:r>
          </a:p>
          <a:p>
            <a:pPr>
              <a:buNone/>
            </a:pPr>
            <a:r>
              <a:rPr lang="en-US" sz="1600" b="1" dirty="0"/>
              <a:t>void main () {</a:t>
            </a:r>
          </a:p>
          <a:p>
            <a:pPr>
              <a:buNone/>
            </a:pPr>
            <a:r>
              <a:rPr lang="en-US" sz="1600" b="1" dirty="0"/>
              <a:t>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i</a:t>
            </a:r>
            <a:r>
              <a:rPr lang="en-US" sz="1600" b="1" dirty="0"/>
              <a:t>; double pi, sum = 0.0;</a:t>
            </a:r>
          </a:p>
          <a:p>
            <a:pPr>
              <a:buNone/>
            </a:pPr>
            <a:r>
              <a:rPr lang="en-US" sz="1600" b="1" dirty="0"/>
              <a:t>  step = 1.0/(double) </a:t>
            </a:r>
            <a:r>
              <a:rPr lang="en-US" sz="1600" b="1" dirty="0" err="1"/>
              <a:t>num_steps</a:t>
            </a:r>
            <a:r>
              <a:rPr lang="en-US" sz="1600" b="1" dirty="0"/>
              <a:t>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00A8"/>
                </a:solidFill>
              </a:rPr>
              <a:t>#pragma </a:t>
            </a:r>
            <a:r>
              <a:rPr lang="en-US" sz="1600" b="1" dirty="0" err="1" smtClean="0">
                <a:solidFill>
                  <a:srgbClr val="0000A8"/>
                </a:solidFill>
              </a:rPr>
              <a:t>omp</a:t>
            </a:r>
            <a:r>
              <a:rPr lang="en-US" sz="1600" b="1" dirty="0" smtClean="0">
                <a:solidFill>
                  <a:srgbClr val="0000A8"/>
                </a:solidFill>
              </a:rPr>
              <a:t> parallel </a:t>
            </a:r>
            <a:r>
              <a:rPr lang="en-US" sz="1600" b="1" dirty="0"/>
              <a:t>{</a:t>
            </a:r>
          </a:p>
          <a:p>
            <a:pPr>
              <a:buNone/>
            </a:pPr>
            <a:r>
              <a:rPr lang="en-US" sz="1600" b="1" dirty="0"/>
              <a:t>double x;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None/>
              <a:defRPr/>
            </a:pPr>
            <a:r>
              <a:rPr lang="en-US" sz="1600" b="1" dirty="0">
                <a:solidFill>
                  <a:srgbClr val="0000A8"/>
                </a:solidFill>
              </a:rPr>
              <a:t>#pragma </a:t>
            </a:r>
            <a:r>
              <a:rPr lang="en-US" sz="1600" b="1" dirty="0" err="1">
                <a:solidFill>
                  <a:srgbClr val="0000A8"/>
                </a:solidFill>
              </a:rPr>
              <a:t>omp</a:t>
            </a:r>
            <a:r>
              <a:rPr lang="en-US" sz="1600" b="1" dirty="0">
                <a:solidFill>
                  <a:srgbClr val="0000A8"/>
                </a:solidFill>
              </a:rPr>
              <a:t> for reduction(+:sum</a:t>
            </a:r>
            <a:r>
              <a:rPr lang="en-US" sz="1600" b="1" dirty="0" smtClean="0">
                <a:solidFill>
                  <a:srgbClr val="0000A8"/>
                </a:solidFill>
              </a:rPr>
              <a:t>)	</a:t>
            </a:r>
            <a:r>
              <a:rPr lang="en-US" sz="1600" b="1" dirty="0" smtClean="0"/>
              <a:t>// </a:t>
            </a:r>
            <a:r>
              <a:rPr lang="en-US" sz="1600" b="1" dirty="0"/>
              <a:t>reduction (op : list) is equivalent to reduction (+:sum</a:t>
            </a:r>
            <a:r>
              <a:rPr lang="en-US" sz="1600" b="1" dirty="0" smtClean="0"/>
              <a:t>)</a:t>
            </a:r>
            <a:endParaRPr lang="en-US" sz="1600" b="1" dirty="0"/>
          </a:p>
          <a:p>
            <a:pPr>
              <a:buNone/>
            </a:pPr>
            <a:r>
              <a:rPr lang="en-US" sz="1600" b="1" dirty="0"/>
              <a:t>  for (</a:t>
            </a:r>
            <a:r>
              <a:rPr lang="en-US" sz="1600" b="1" dirty="0" err="1"/>
              <a:t>i</a:t>
            </a:r>
            <a:r>
              <a:rPr lang="en-US" sz="1600" b="1" dirty="0"/>
              <a:t>=0;i&lt; </a:t>
            </a:r>
            <a:r>
              <a:rPr lang="en-US" sz="1600" b="1" dirty="0" err="1"/>
              <a:t>num_steps</a:t>
            </a:r>
            <a:r>
              <a:rPr lang="en-US" sz="1600" b="1" dirty="0"/>
              <a:t>; </a:t>
            </a:r>
            <a:r>
              <a:rPr lang="en-US" sz="1600" b="1" dirty="0" err="1"/>
              <a:t>i</a:t>
            </a:r>
            <a:r>
              <a:rPr lang="en-US" sz="1600" b="1" dirty="0"/>
              <a:t>++){</a:t>
            </a:r>
          </a:p>
          <a:p>
            <a:pPr>
              <a:buNone/>
            </a:pPr>
            <a:r>
              <a:rPr lang="en-US" sz="1600" b="1" dirty="0"/>
              <a:t>    x = (i+0.5)*step</a:t>
            </a:r>
            <a:r>
              <a:rPr lang="en-US" sz="1600" b="1" dirty="0" smtClean="0"/>
              <a:t>;</a:t>
            </a:r>
          </a:p>
          <a:p>
            <a:pPr>
              <a:buNone/>
            </a:pPr>
            <a:r>
              <a:rPr lang="en-US" sz="1600" b="1" dirty="0" smtClean="0">
                <a:solidFill>
                  <a:srgbClr val="0000A8"/>
                </a:solidFill>
              </a:rPr>
              <a:t>#pragma </a:t>
            </a:r>
            <a:r>
              <a:rPr lang="en-US" sz="1600" b="1" dirty="0" err="1">
                <a:solidFill>
                  <a:srgbClr val="0000A8"/>
                </a:solidFill>
              </a:rPr>
              <a:t>o</a:t>
            </a:r>
            <a:r>
              <a:rPr lang="en-US" sz="1600" b="1" dirty="0" err="1" smtClean="0">
                <a:solidFill>
                  <a:srgbClr val="0000A8"/>
                </a:solidFill>
              </a:rPr>
              <a:t>mp</a:t>
            </a:r>
            <a:r>
              <a:rPr lang="en-US" sz="1600" b="1" dirty="0" smtClean="0">
                <a:solidFill>
                  <a:srgbClr val="0000A8"/>
                </a:solidFill>
              </a:rPr>
              <a:t> critical</a:t>
            </a:r>
            <a:endParaRPr lang="en-US" sz="1600" b="1" dirty="0">
              <a:solidFill>
                <a:srgbClr val="0000A8"/>
              </a:solidFill>
            </a:endParaRPr>
          </a:p>
          <a:p>
            <a:pPr>
              <a:buNone/>
            </a:pPr>
            <a:r>
              <a:rPr lang="en-US" sz="1600" b="1" dirty="0"/>
              <a:t>    sum = sum + 4.0/(1.0+x*x);</a:t>
            </a:r>
          </a:p>
          <a:p>
            <a:pPr>
              <a:buNone/>
            </a:pPr>
            <a:r>
              <a:rPr lang="en-US" sz="1600" b="1" dirty="0"/>
              <a:t>  } }</a:t>
            </a:r>
          </a:p>
          <a:p>
            <a:pPr>
              <a:buNone/>
            </a:pPr>
            <a:r>
              <a:rPr lang="en-US" sz="1600" b="1" dirty="0"/>
              <a:t>    pi = step * sum;</a:t>
            </a:r>
          </a:p>
          <a:p>
            <a:pPr>
              <a:buNone/>
            </a:pPr>
            <a:r>
              <a:rPr lang="en-US" sz="1600" b="1" dirty="0" smtClean="0"/>
              <a:t>}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744613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Sections Constructs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800" b="1" dirty="0"/>
              <a:t>#pragma </a:t>
            </a:r>
            <a:r>
              <a:rPr lang="en-US" sz="1800" b="1" dirty="0" err="1"/>
              <a:t>omp</a:t>
            </a:r>
            <a:r>
              <a:rPr lang="en-US" sz="1800" b="1" dirty="0"/>
              <a:t> parallel</a:t>
            </a:r>
          </a:p>
          <a:p>
            <a:pPr>
              <a:buNone/>
            </a:pPr>
            <a:r>
              <a:rPr lang="en-US" sz="1800" b="1" dirty="0"/>
              <a:t>{</a:t>
            </a:r>
          </a:p>
          <a:p>
            <a:pPr>
              <a:buNone/>
            </a:pPr>
            <a:r>
              <a:rPr lang="en-US" sz="1800" b="1" dirty="0"/>
              <a:t>	#pragma </a:t>
            </a:r>
            <a:r>
              <a:rPr lang="en-US" sz="1800" b="1" dirty="0" err="1"/>
              <a:t>omp</a:t>
            </a:r>
            <a:r>
              <a:rPr lang="en-US" sz="1800" b="1" dirty="0"/>
              <a:t> sections</a:t>
            </a:r>
          </a:p>
          <a:p>
            <a:pPr>
              <a:buNone/>
            </a:pPr>
            <a:r>
              <a:rPr lang="en-US" sz="1800" b="1" dirty="0"/>
              <a:t>	{</a:t>
            </a:r>
          </a:p>
          <a:p>
            <a:pPr>
              <a:buNone/>
            </a:pPr>
            <a:r>
              <a:rPr lang="en-US" sz="1800" b="1" dirty="0"/>
              <a:t>		#pragma </a:t>
            </a:r>
            <a:r>
              <a:rPr lang="en-US" sz="1800" b="1" dirty="0" err="1"/>
              <a:t>omp</a:t>
            </a:r>
            <a:r>
              <a:rPr lang="en-US" sz="1800" b="1" dirty="0"/>
              <a:t> section</a:t>
            </a:r>
          </a:p>
          <a:p>
            <a:pPr>
              <a:buNone/>
            </a:pPr>
            <a:r>
              <a:rPr lang="en-US" sz="1800" b="1" dirty="0"/>
              <a:t>		(void) </a:t>
            </a:r>
            <a:r>
              <a:rPr lang="en-US" sz="1800" b="1" dirty="0" err="1"/>
              <a:t>funcA</a:t>
            </a:r>
            <a:r>
              <a:rPr lang="en-US" sz="1800" b="1" dirty="0"/>
              <a:t>();  </a:t>
            </a:r>
            <a:r>
              <a:rPr lang="en-US" sz="1800" b="1" dirty="0">
                <a:solidFill>
                  <a:srgbClr val="0000A8"/>
                </a:solidFill>
              </a:rPr>
              <a:t>// x-calculation</a:t>
            </a:r>
          </a:p>
          <a:p>
            <a:pPr>
              <a:buNone/>
            </a:pPr>
            <a:endParaRPr lang="en-US" sz="1800" b="1" dirty="0"/>
          </a:p>
          <a:p>
            <a:pPr>
              <a:buNone/>
            </a:pPr>
            <a:r>
              <a:rPr lang="en-US" sz="1800" b="1" dirty="0"/>
              <a:t>		#pragma </a:t>
            </a:r>
            <a:r>
              <a:rPr lang="en-US" sz="1800" b="1" dirty="0" err="1"/>
              <a:t>omp</a:t>
            </a:r>
            <a:r>
              <a:rPr lang="en-US" sz="1800" b="1" dirty="0"/>
              <a:t> section</a:t>
            </a:r>
          </a:p>
          <a:p>
            <a:pPr>
              <a:buNone/>
            </a:pPr>
            <a:r>
              <a:rPr lang="en-US" sz="1800" b="1" dirty="0"/>
              <a:t>		(void) </a:t>
            </a:r>
            <a:r>
              <a:rPr lang="en-US" sz="1800" b="1" dirty="0" err="1"/>
              <a:t>funcB</a:t>
            </a:r>
            <a:r>
              <a:rPr lang="en-US" sz="1800" b="1" dirty="0"/>
              <a:t>();</a:t>
            </a:r>
            <a:r>
              <a:rPr lang="en-US" sz="1800" b="1" dirty="0">
                <a:solidFill>
                  <a:srgbClr val="0000A8"/>
                </a:solidFill>
              </a:rPr>
              <a:t> // y-calculation</a:t>
            </a:r>
          </a:p>
          <a:p>
            <a:pPr>
              <a:buNone/>
            </a:pPr>
            <a:r>
              <a:rPr lang="en-US" sz="1800" b="1" dirty="0"/>
              <a:t>	} /*-- End of sections block --*/</a:t>
            </a:r>
          </a:p>
          <a:p>
            <a:pPr>
              <a:buNone/>
            </a:pPr>
            <a:r>
              <a:rPr lang="en-US" sz="1800" b="1" dirty="0"/>
              <a:t>} /*-- End of parallel region --*/</a:t>
            </a:r>
          </a:p>
        </p:txBody>
      </p:sp>
    </p:spTree>
    <p:extLst>
      <p:ext uri="{BB962C8B-B14F-4D97-AF65-F5344CB8AC3E}">
        <p14:creationId xmlns:p14="http://schemas.microsoft.com/office/powerpoint/2010/main" val="2111387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</a:t>
            </a:r>
            <a:r>
              <a:rPr lang="en-US" dirty="0" smtClean="0"/>
              <a:t>Constructs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43428" y="1346443"/>
            <a:ext cx="6734629" cy="483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513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Synchronization </a:t>
            </a:r>
            <a:r>
              <a:rPr lang="en-US" dirty="0" smtClean="0"/>
              <a:t>Locks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b="1" dirty="0" err="1"/>
              <a:t>omp</a:t>
            </a:r>
            <a:r>
              <a:rPr lang="en-US" b="1" dirty="0"/>
              <a:t> </a:t>
            </a:r>
            <a:r>
              <a:rPr lang="en-US" b="1" dirty="0" err="1"/>
              <a:t>init</a:t>
            </a:r>
            <a:r>
              <a:rPr lang="en-US" b="1" dirty="0"/>
              <a:t> lock()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omp</a:t>
            </a:r>
            <a:r>
              <a:rPr lang="en-US" b="1" dirty="0" smtClean="0"/>
              <a:t> </a:t>
            </a:r>
            <a:r>
              <a:rPr lang="en-US" b="1" dirty="0"/>
              <a:t>set lock()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omp_unset_lock</a:t>
            </a:r>
            <a:r>
              <a:rPr lang="en-US" b="1" dirty="0"/>
              <a:t>()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omp_test_lock</a:t>
            </a:r>
            <a:r>
              <a:rPr lang="en-US" b="1" dirty="0"/>
              <a:t>()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err="1" smtClean="0"/>
              <a:t>omp_destroy_lock</a:t>
            </a:r>
            <a:r>
              <a:rPr lang="en-US" b="1" dirty="0"/>
              <a:t>()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85767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Static: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Pre-determined and </a:t>
            </a:r>
            <a:r>
              <a:rPr lang="en-US" b="1" dirty="0">
                <a:solidFill>
                  <a:srgbClr val="0000A8"/>
                </a:solidFill>
              </a:rPr>
              <a:t>predictable</a:t>
            </a:r>
            <a:r>
              <a:rPr lang="en-US" b="1" dirty="0"/>
              <a:t> by the programmer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Scheduling</a:t>
            </a:r>
            <a:r>
              <a:rPr lang="en-US" b="1" dirty="0"/>
              <a:t> done at compile 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Least</a:t>
            </a:r>
            <a:r>
              <a:rPr lang="en-US" b="1" dirty="0"/>
              <a:t> </a:t>
            </a:r>
            <a:r>
              <a:rPr lang="en-US" b="1" dirty="0">
                <a:solidFill>
                  <a:srgbClr val="0000A8"/>
                </a:solidFill>
              </a:rPr>
              <a:t>work</a:t>
            </a:r>
            <a:r>
              <a:rPr lang="en-US" b="1" dirty="0"/>
              <a:t> at runtime</a:t>
            </a:r>
          </a:p>
          <a:p>
            <a:pPr marL="130175" indent="0" algn="just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Dynamic: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Unpredictable</a:t>
            </a:r>
            <a:r>
              <a:rPr lang="en-US" b="1" dirty="0"/>
              <a:t> and mostly used when task size is unknown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Complex scheduling used at </a:t>
            </a:r>
            <a:r>
              <a:rPr lang="en-US" b="1" dirty="0">
                <a:solidFill>
                  <a:srgbClr val="0000A8"/>
                </a:solidFill>
              </a:rPr>
              <a:t>run-time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00A8"/>
                </a:solidFill>
              </a:rPr>
              <a:t>Most work </a:t>
            </a:r>
            <a:r>
              <a:rPr lang="en-US" b="1" dirty="0"/>
              <a:t>at runtime 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Schedule Clause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316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040999"/>
          </a:xfrm>
        </p:spPr>
        <p:txBody>
          <a:bodyPr>
            <a:noAutofit/>
          </a:bodyPr>
          <a:lstStyle/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Guided: 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Special case of dynamic to reduce </a:t>
            </a:r>
            <a:r>
              <a:rPr lang="en-US" b="1" dirty="0">
                <a:solidFill>
                  <a:srgbClr val="0000A8"/>
                </a:solidFill>
              </a:rPr>
              <a:t>scheduling overhead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Larger chunks are selected at start and then its </a:t>
            </a:r>
            <a:r>
              <a:rPr lang="en-US" b="1" dirty="0">
                <a:solidFill>
                  <a:srgbClr val="0000A8"/>
                </a:solidFill>
              </a:rPr>
              <a:t>size is reduced </a:t>
            </a:r>
            <a:r>
              <a:rPr lang="en-US" b="1" dirty="0"/>
              <a:t>to get better distribution </a:t>
            </a:r>
          </a:p>
          <a:p>
            <a:pPr marL="130175" indent="0" algn="just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 marL="130175" indent="0" algn="just">
              <a:buNone/>
            </a:pPr>
            <a:r>
              <a:rPr lang="en-US" b="1" dirty="0" smtClean="0">
                <a:solidFill>
                  <a:srgbClr val="C00000"/>
                </a:solidFill>
              </a:rPr>
              <a:t>Runtime:</a:t>
            </a:r>
            <a:endParaRPr lang="en-US" b="1" dirty="0">
              <a:solidFill>
                <a:srgbClr val="C0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Scheduling technique could be </a:t>
            </a:r>
            <a:r>
              <a:rPr lang="en-US" b="1" dirty="0">
                <a:solidFill>
                  <a:srgbClr val="0000A8"/>
                </a:solidFill>
              </a:rPr>
              <a:t>selected at runtime </a:t>
            </a:r>
            <a:r>
              <a:rPr lang="en-US" b="1" dirty="0"/>
              <a:t>by using this clause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smtClean="0"/>
              <a:t>Schedule Clause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791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Runtime E</a:t>
            </a:r>
            <a:r>
              <a:rPr lang="en-US" dirty="0" smtClean="0"/>
              <a:t>nvironment Routines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 Modify/Check the number of threads</a:t>
            </a:r>
          </a:p>
          <a:p>
            <a:pPr marL="473075" lvl="1" indent="0" algn="just">
              <a:buNone/>
            </a:pPr>
            <a:r>
              <a:rPr lang="en-US" b="1" dirty="0" err="1" smtClean="0"/>
              <a:t>omp_set_num_threads</a:t>
            </a:r>
            <a:r>
              <a:rPr lang="en-US" b="1" dirty="0"/>
              <a:t>(), </a:t>
            </a:r>
            <a:r>
              <a:rPr lang="en-US" b="1" dirty="0" err="1"/>
              <a:t>omp_get_num_threads</a:t>
            </a:r>
            <a:r>
              <a:rPr lang="en-US" b="1" dirty="0"/>
              <a:t>(),</a:t>
            </a:r>
          </a:p>
          <a:p>
            <a:pPr marL="473075" lvl="1" indent="0" algn="just">
              <a:buNone/>
            </a:pPr>
            <a:r>
              <a:rPr lang="en-US" b="1" dirty="0" err="1"/>
              <a:t>omp_get_thread_num</a:t>
            </a:r>
            <a:r>
              <a:rPr lang="en-US" b="1" dirty="0"/>
              <a:t>(), </a:t>
            </a:r>
            <a:r>
              <a:rPr lang="en-US" b="1" dirty="0" err="1"/>
              <a:t>omp_get_max_threads</a:t>
            </a:r>
            <a:r>
              <a:rPr lang="en-US" b="1" dirty="0"/>
              <a:t>()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Are we in an active parallel region?</a:t>
            </a:r>
          </a:p>
          <a:p>
            <a:pPr marL="473075" lvl="1" indent="0" algn="just">
              <a:buNone/>
            </a:pPr>
            <a:r>
              <a:rPr lang="en-US" b="1" dirty="0"/>
              <a:t>– </a:t>
            </a:r>
            <a:r>
              <a:rPr lang="en-US" b="1" dirty="0" err="1"/>
              <a:t>omp_in_parallel</a:t>
            </a:r>
            <a:r>
              <a:rPr lang="en-US" b="1" dirty="0"/>
              <a:t>()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How many processors in the system?</a:t>
            </a:r>
          </a:p>
          <a:p>
            <a:pPr marL="463550" lvl="1" indent="0" algn="just">
              <a:buNone/>
            </a:pPr>
            <a:r>
              <a:rPr lang="en-US" b="1" dirty="0"/>
              <a:t>– </a:t>
            </a:r>
            <a:r>
              <a:rPr lang="en-US" b="1" dirty="0" err="1"/>
              <a:t>omp_num_procs</a:t>
            </a:r>
            <a:r>
              <a:rPr lang="en-US" b="1" dirty="0" smtClean="0"/>
              <a:t>()</a:t>
            </a:r>
            <a:endParaRPr lang="en-US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/>
              <a:t>Nested Parallelism</a:t>
            </a:r>
          </a:p>
          <a:p>
            <a:pPr marL="463550" lvl="1" indent="0" algn="just">
              <a:buNone/>
            </a:pPr>
            <a:r>
              <a:rPr lang="en-US" b="1" dirty="0" err="1"/>
              <a:t>Om_set_nested</a:t>
            </a:r>
            <a:r>
              <a:rPr lang="en-US" b="1" dirty="0"/>
              <a:t>(1)</a:t>
            </a:r>
          </a:p>
          <a:p>
            <a:pPr marL="463550" lvl="1" indent="0" algn="just">
              <a:buNone/>
            </a:pPr>
            <a:r>
              <a:rPr lang="en-US" b="1" dirty="0" err="1"/>
              <a:t>Omp_set_max_active_levels</a:t>
            </a:r>
            <a:r>
              <a:rPr lang="en-US" b="1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17495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Loop </a:t>
            </a:r>
            <a:r>
              <a:rPr lang="en-US" sz="2600" b="1" dirty="0" err="1"/>
              <a:t>Worksharing</a:t>
            </a:r>
            <a:r>
              <a:rPr lang="en-US" sz="2600" b="1" dirty="0"/>
              <a:t> </a:t>
            </a:r>
            <a:r>
              <a:rPr lang="en-US" sz="2600" b="1" dirty="0" smtClean="0"/>
              <a:t>Construct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Numerical Integration: Pi </a:t>
            </a:r>
            <a:r>
              <a:rPr lang="en-US" sz="2600" b="1" dirty="0" smtClean="0"/>
              <a:t>program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Serial Pi </a:t>
            </a:r>
            <a:r>
              <a:rPr lang="en-US" sz="2600" b="1" dirty="0" smtClean="0"/>
              <a:t>Program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Parallel Pi </a:t>
            </a:r>
            <a:r>
              <a:rPr lang="en-US" sz="2600" b="1" dirty="0" smtClean="0"/>
              <a:t>Program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1" dirty="0" smtClean="0"/>
              <a:t>Use </a:t>
            </a:r>
            <a:r>
              <a:rPr lang="en-US" sz="2200" b="1" dirty="0"/>
              <a:t>of </a:t>
            </a:r>
            <a:r>
              <a:rPr lang="en-US" sz="2200" b="1" dirty="0" err="1"/>
              <a:t>omp_set_num_threads</a:t>
            </a:r>
            <a:r>
              <a:rPr lang="en-US" sz="2200" b="1" dirty="0"/>
              <a:t>, #pragma </a:t>
            </a:r>
            <a:r>
              <a:rPr lang="en-US" sz="2200" b="1" dirty="0" err="1"/>
              <a:t>omp</a:t>
            </a:r>
            <a:r>
              <a:rPr lang="en-US" sz="2200" b="1" dirty="0"/>
              <a:t> parallel, and </a:t>
            </a:r>
            <a:r>
              <a:rPr lang="en-US" sz="2200" b="1" dirty="0" err="1" smtClean="0"/>
              <a:t>omp_get_num_threads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Parallel Pi Program using Mutual </a:t>
            </a:r>
            <a:r>
              <a:rPr lang="en-US" sz="2600" b="1" dirty="0" smtClean="0"/>
              <a:t>Exclusion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1" dirty="0" smtClean="0"/>
              <a:t>Use </a:t>
            </a:r>
            <a:r>
              <a:rPr lang="en-US" sz="2200" b="1" dirty="0"/>
              <a:t>of #pragma  </a:t>
            </a:r>
            <a:r>
              <a:rPr lang="en-US" sz="2200" b="1" dirty="0" err="1"/>
              <a:t>omp</a:t>
            </a:r>
            <a:r>
              <a:rPr lang="en-US" sz="2200" b="1" dirty="0"/>
              <a:t> </a:t>
            </a:r>
            <a:r>
              <a:rPr lang="en-US" sz="2200" b="1" dirty="0" smtClean="0"/>
              <a:t>critical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Pi Program using Reduction </a:t>
            </a:r>
            <a:r>
              <a:rPr lang="en-US" sz="2600" b="1" dirty="0" smtClean="0"/>
              <a:t>Clause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1" dirty="0" smtClean="0"/>
              <a:t>Use </a:t>
            </a:r>
            <a:r>
              <a:rPr lang="en-US" sz="2200" b="1" dirty="0"/>
              <a:t>of #pragma </a:t>
            </a:r>
            <a:r>
              <a:rPr lang="en-US" sz="2200" b="1" dirty="0" err="1"/>
              <a:t>omp</a:t>
            </a:r>
            <a:r>
              <a:rPr lang="en-US" sz="2200" b="1" dirty="0"/>
              <a:t> for reduction(+:sum</a:t>
            </a:r>
            <a:r>
              <a:rPr lang="en-US" sz="2200" b="1" dirty="0" smtClean="0"/>
              <a:t>)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4484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/>
              <a:t>Sections Constructs</a:t>
            </a:r>
          </a:p>
          <a:p>
            <a:pPr marL="130175" indent="0" algn="just">
              <a:buNone/>
            </a:pPr>
            <a:endParaRPr lang="en-US" sz="26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Combined Constructs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Synchronization Locks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The </a:t>
            </a:r>
            <a:r>
              <a:rPr lang="en-US" sz="2600" b="1" dirty="0"/>
              <a:t>Schedule </a:t>
            </a:r>
            <a:r>
              <a:rPr lang="en-US" sz="2600" b="1" dirty="0" smtClean="0"/>
              <a:t>Clause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200" b="1" dirty="0" smtClean="0"/>
              <a:t>Static</a:t>
            </a:r>
            <a:r>
              <a:rPr lang="en-US" sz="2200" b="1" dirty="0"/>
              <a:t>, Dynamic, Guided and </a:t>
            </a:r>
            <a:r>
              <a:rPr lang="en-US" sz="2200" b="1" dirty="0" smtClean="0"/>
              <a:t>Runtime</a:t>
            </a:r>
            <a:endParaRPr lang="en-US" sz="26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6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600" b="1" dirty="0" smtClean="0"/>
              <a:t>Runtime </a:t>
            </a:r>
            <a:r>
              <a:rPr lang="en-US" sz="2600" b="1" dirty="0"/>
              <a:t>Environment </a:t>
            </a:r>
            <a:r>
              <a:rPr lang="en-US" sz="2600" b="1" dirty="0" smtClean="0"/>
              <a:t>Routines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 (Cont.)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1605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02090"/>
            <a:ext cx="10515600" cy="5143853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0000A8"/>
                </a:solidFill>
              </a:rPr>
              <a:t>Introduction </a:t>
            </a:r>
            <a:r>
              <a:rPr lang="en-US" sz="3000" b="1" dirty="0">
                <a:solidFill>
                  <a:srgbClr val="0000A8"/>
                </a:solidFill>
              </a:rPr>
              <a:t>to Parallel Computing</a:t>
            </a:r>
            <a:r>
              <a:rPr lang="en-US" sz="3000" b="1" dirty="0"/>
              <a:t> by </a:t>
            </a:r>
            <a:r>
              <a:rPr lang="en-US" sz="3000" b="1" dirty="0" err="1"/>
              <a:t>Ananth</a:t>
            </a:r>
            <a:r>
              <a:rPr lang="en-US" sz="3000" b="1" dirty="0"/>
              <a:t> </a:t>
            </a:r>
            <a:r>
              <a:rPr lang="en-US" sz="3000" b="1" dirty="0" err="1"/>
              <a:t>Grama</a:t>
            </a:r>
            <a:r>
              <a:rPr lang="en-US" sz="3000" b="1" dirty="0"/>
              <a:t> and </a:t>
            </a:r>
            <a:r>
              <a:rPr lang="en-US" sz="3000" b="1" dirty="0" err="1"/>
              <a:t>Anshul</a:t>
            </a:r>
            <a:r>
              <a:rPr lang="en-US" sz="3000" b="1" dirty="0"/>
              <a:t> Gupta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Chapter </a:t>
            </a:r>
            <a:r>
              <a:rPr lang="en-US" sz="2600" b="1" dirty="0"/>
              <a:t>7: Programming Shared Address Space </a:t>
            </a:r>
            <a:r>
              <a:rPr lang="en-US" sz="2600" b="1" dirty="0" smtClean="0"/>
              <a:t>Platforms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000" b="1" dirty="0" smtClean="0">
                <a:solidFill>
                  <a:srgbClr val="0000A8"/>
                </a:solidFill>
              </a:rPr>
              <a:t>Introduction </a:t>
            </a:r>
            <a:r>
              <a:rPr lang="en-US" sz="3000" b="1" dirty="0">
                <a:solidFill>
                  <a:srgbClr val="0000A8"/>
                </a:solidFill>
              </a:rPr>
              <a:t>to </a:t>
            </a:r>
            <a:r>
              <a:rPr lang="en-US" sz="3000" b="1" dirty="0" err="1">
                <a:solidFill>
                  <a:srgbClr val="0000A8"/>
                </a:solidFill>
              </a:rPr>
              <a:t>OpenMP</a:t>
            </a:r>
            <a:r>
              <a:rPr lang="en-US" sz="3000" b="1" dirty="0"/>
              <a:t> by Tim Mattson (</a:t>
            </a:r>
            <a:r>
              <a:rPr lang="en-US" sz="3000" b="1" dirty="0" smtClean="0"/>
              <a:t>Intel)</a:t>
            </a:r>
          </a:p>
          <a:p>
            <a:pPr lvl="1" algn="just">
              <a:buFont typeface="Wingdings" panose="05000000000000000000" pitchFamily="2" charset="2"/>
              <a:buChar char="Ø"/>
            </a:pPr>
            <a:endParaRPr lang="en-US" sz="2600" b="1" dirty="0" smtClean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b="1" dirty="0" smtClean="0"/>
              <a:t>https</a:t>
            </a:r>
            <a:r>
              <a:rPr lang="en-US" sz="2600" b="1" dirty="0"/>
              <a:t>://</a:t>
            </a:r>
            <a:r>
              <a:rPr lang="en-US" sz="2600" b="1" dirty="0" smtClean="0"/>
              <a:t>www.youtube.com/watch?v=nE-xN4Bf8XI&amp;list=PLLX-Q6B8xqZ8n8bwjGdzBJ25X2utwnoEG&amp;index=1</a:t>
            </a:r>
            <a:endParaRPr lang="en-US" sz="2600" b="1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11338568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948278"/>
            <a:ext cx="10515600" cy="894622"/>
          </a:xfrm>
        </p:spPr>
        <p:txBody>
          <a:bodyPr/>
          <a:lstStyle/>
          <a:p>
            <a:pPr algn="ctr"/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22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821</Words>
  <Application>Microsoft Office PowerPoint</Application>
  <PresentationFormat>Widescreen</PresentationFormat>
  <Paragraphs>263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Wingdings</vt:lpstr>
      <vt:lpstr>Office Theme</vt:lpstr>
      <vt:lpstr>CS 3006 Parallel and Distributed Computing Lecture 12</vt:lpstr>
      <vt:lpstr>Synchronization Constructs in OpenMP – Part 2</vt:lpstr>
      <vt:lpstr>Outline</vt:lpstr>
      <vt:lpstr>Outline (Cont.)</vt:lpstr>
      <vt:lpstr>Loop Worksharing Construct</vt:lpstr>
      <vt:lpstr>Numerical Integration: Pi program</vt:lpstr>
      <vt:lpstr>Serial Pi Program</vt:lpstr>
      <vt:lpstr>Parallel Pi Program</vt:lpstr>
      <vt:lpstr>Parallel Pi Program (Cont.)</vt:lpstr>
      <vt:lpstr>Parallel Pi Program (Cont.)</vt:lpstr>
      <vt:lpstr>Parallel Pi Program using Mutual Exclusion</vt:lpstr>
      <vt:lpstr>Parallel Pi Program using Mutual Exclusion (Cont.)</vt:lpstr>
      <vt:lpstr>Parallel Pi Program using Mutual Exclusion (Cont.)</vt:lpstr>
      <vt:lpstr>Pi Program using Reduction Clause</vt:lpstr>
      <vt:lpstr>Sections Constructs</vt:lpstr>
      <vt:lpstr>Combined Constructs</vt:lpstr>
      <vt:lpstr>Synchronization Locks</vt:lpstr>
      <vt:lpstr>The Schedule Clause</vt:lpstr>
      <vt:lpstr>The Schedule Clause (Cont.)</vt:lpstr>
      <vt:lpstr>Runtime Environment Routines</vt:lpstr>
      <vt:lpstr>Summary</vt:lpstr>
      <vt:lpstr>Summary (Cont.)</vt:lpstr>
      <vt:lpstr>Additional Resources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HP</cp:lastModifiedBy>
  <cp:revision>435</cp:revision>
  <dcterms:created xsi:type="dcterms:W3CDTF">2020-01-18T07:24:00Z</dcterms:created>
  <dcterms:modified xsi:type="dcterms:W3CDTF">2024-03-16T08:34:56Z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DBCDF73CD2C44F1492F6933E9F753A38</vt:lpwstr>
  </property>
  <property fmtid="{D5CDD505-2E9C-101B-9397-08002B2CF9AE}" pid="3" name="KSOProductBuildVer">
    <vt:lpwstr>1033-11.2.0.11380</vt:lpwstr>
  </property>
</Properties>
</file>