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6"/>
  </p:notesMasterIdLst>
  <p:sldIdLst>
    <p:sldId id="1537" r:id="rId2"/>
    <p:sldId id="1450" r:id="rId3"/>
    <p:sldId id="1563" r:id="rId4"/>
    <p:sldId id="1582" r:id="rId5"/>
    <p:sldId id="1564" r:id="rId6"/>
    <p:sldId id="1533" r:id="rId7"/>
    <p:sldId id="1539" r:id="rId8"/>
    <p:sldId id="1567" r:id="rId9"/>
    <p:sldId id="1542" r:id="rId10"/>
    <p:sldId id="1568" r:id="rId11"/>
    <p:sldId id="1569" r:id="rId12"/>
    <p:sldId id="1570" r:id="rId13"/>
    <p:sldId id="1550" r:id="rId14"/>
    <p:sldId id="1551" r:id="rId15"/>
    <p:sldId id="1571" r:id="rId16"/>
    <p:sldId id="1552" r:id="rId17"/>
    <p:sldId id="1586" r:id="rId18"/>
    <p:sldId id="1538" r:id="rId19"/>
    <p:sldId id="1534" r:id="rId20"/>
    <p:sldId id="1574" r:id="rId21"/>
    <p:sldId id="1573" r:id="rId22"/>
    <p:sldId id="1575" r:id="rId23"/>
    <p:sldId id="1576" r:id="rId24"/>
    <p:sldId id="1578" r:id="rId25"/>
    <p:sldId id="1579" r:id="rId26"/>
    <p:sldId id="1580" r:id="rId27"/>
    <p:sldId id="1581" r:id="rId28"/>
    <p:sldId id="1572" r:id="rId29"/>
    <p:sldId id="1583" r:id="rId30"/>
    <p:sldId id="1562" r:id="rId31"/>
    <p:sldId id="1584" r:id="rId32"/>
    <p:sldId id="1585" r:id="rId33"/>
    <p:sldId id="1532" r:id="rId34"/>
    <p:sldId id="1448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6">
          <p15:clr>
            <a:srgbClr val="A4A3A4"/>
          </p15:clr>
        </p15:guide>
        <p15:guide id="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A8"/>
    <a:srgbClr val="00A800"/>
    <a:srgbClr val="000099"/>
    <a:srgbClr val="00C000"/>
    <a:srgbClr val="3C6CDF"/>
    <a:srgbClr val="9CDFF9"/>
    <a:srgbClr val="B8C2C9"/>
    <a:srgbClr val="D6DCE0"/>
    <a:srgbClr val="0000A3"/>
    <a:srgbClr val="0100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074" autoAdjust="0"/>
    <p:restoredTop sz="88689" autoAdjust="0"/>
  </p:normalViewPr>
  <p:slideViewPr>
    <p:cSldViewPr snapToGrid="0" snapToObjects="1">
      <p:cViewPr varScale="1">
        <p:scale>
          <a:sx n="66" d="100"/>
          <a:sy n="66" d="100"/>
        </p:scale>
        <p:origin x="486" y="66"/>
      </p:cViewPr>
      <p:guideLst>
        <p:guide orient="horz" pos="96"/>
        <p:guide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53024D-5FCD-D142-BBE1-7B391F60AD88}" type="datetimeFigureOut">
              <a:rPr lang="en-US" smtClean="0"/>
              <a:t>3/15/2024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91EEAC-CFEF-9647-876F-EABC6B8338D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18187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61731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21401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57239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94846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84325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12511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 smtClean="0"/>
              <a:t>GNU is an operating system.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50388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 smtClean="0"/>
              <a:t>GNU is an operating system.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19260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 smtClean="0"/>
              <a:t>GNU is an operating system.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66025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57040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 smtClean="0"/>
              <a:t>GNU is an operating system.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71312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 smtClean="0"/>
              <a:t>GNU is an operating system.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84596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9622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95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61232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133972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472469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081515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809205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29708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744349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266610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70138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24027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FDE934FF-F4E1-47C5-9CA5-30A81DDE2BE4}" type="datetimeFigureOut">
              <a:rPr lang="en-US" smtClean="0"/>
              <a:t>3/15/2024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rgbClr val="0000A3"/>
          </a:solidFill>
          <a:latin typeface="+mn-lt"/>
          <a:ea typeface="+mj-ea"/>
          <a:cs typeface="+mj-cs"/>
        </a:defRPr>
      </a:lvl1pPr>
    </p:titleStyle>
    <p:bodyStyle>
      <a:lvl1pPr marL="352425" indent="-222250" algn="l" defTabSz="914400" rtl="0" eaLnBrk="1" latinLnBrk="0" hangingPunct="1">
        <a:lnSpc>
          <a:spcPct val="90000"/>
        </a:lnSpc>
        <a:spcBef>
          <a:spcPts val="1000"/>
        </a:spcBef>
        <a:buClr>
          <a:srgbClr val="0000A3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95325" indent="-231775" algn="l" defTabSz="914400" rtl="0" eaLnBrk="1" latinLnBrk="0" hangingPunct="1">
        <a:lnSpc>
          <a:spcPct val="90000"/>
        </a:lnSpc>
        <a:spcBef>
          <a:spcPts val="500"/>
        </a:spcBef>
        <a:buClr>
          <a:srgbClr val="0000A8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wmf"/><Relationship Id="rId4" Type="http://schemas.openxmlformats.org/officeDocument/2006/relationships/oleObject" Target="../embeddings/oleObject1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 smtClean="0"/>
              <a:t>CS 3006</a:t>
            </a:r>
            <a:br>
              <a:rPr lang="en-US" sz="4800" dirty="0" smtClean="0"/>
            </a:br>
            <a:r>
              <a:rPr lang="en-US" sz="4800" dirty="0" smtClean="0"/>
              <a:t>Parallel and Distributed Computing</a:t>
            </a:r>
            <a:r>
              <a:rPr lang="en-US" sz="4800" dirty="0"/>
              <a:t/>
            </a:r>
            <a:br>
              <a:rPr lang="en-US" sz="4800" dirty="0"/>
            </a:br>
            <a:r>
              <a:rPr lang="en-US" sz="4800" dirty="0"/>
              <a:t>Lecture </a:t>
            </a:r>
            <a:r>
              <a:rPr lang="en-US" sz="4800" dirty="0" smtClean="0"/>
              <a:t>11</a:t>
            </a:r>
            <a:endParaRPr lang="en-US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US" sz="3200" b="1" dirty="0" smtClean="0"/>
              <a:t>Danyal </a:t>
            </a:r>
            <a:r>
              <a:rPr lang="en-US" sz="3200" b="1" dirty="0" err="1"/>
              <a:t>Farhat</a:t>
            </a:r>
            <a:endParaRPr lang="en-US" sz="3200" b="1" dirty="0"/>
          </a:p>
          <a:p>
            <a:r>
              <a:rPr lang="en-US" sz="3200" b="1" dirty="0"/>
              <a:t>FAST School of Computing</a:t>
            </a:r>
          </a:p>
          <a:p>
            <a:r>
              <a:rPr lang="en-US" sz="3200" b="1" dirty="0" smtClean="0"/>
              <a:t>NUCES </a:t>
            </a:r>
            <a:r>
              <a:rPr lang="en-US" sz="3200" b="1" dirty="0"/>
              <a:t>Lahore</a:t>
            </a:r>
          </a:p>
          <a:p>
            <a:endParaRPr lang="en-US" sz="3200" b="1" dirty="0"/>
          </a:p>
          <a:p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9537468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64343" y="2524237"/>
            <a:ext cx="9144000" cy="665163"/>
          </a:xfrm>
        </p:spPr>
        <p:txBody>
          <a:bodyPr>
            <a:noAutofit/>
          </a:bodyPr>
          <a:lstStyle/>
          <a:p>
            <a:pPr lvl="0"/>
            <a:r>
              <a:rPr lang="en-US" sz="4400" dirty="0" smtClean="0"/>
              <a:t>Synchronization Constructs </a:t>
            </a:r>
            <a:r>
              <a:rPr lang="en-US" sz="4400" dirty="0"/>
              <a:t>in </a:t>
            </a:r>
            <a:r>
              <a:rPr lang="en-US" sz="4400" dirty="0" err="1"/>
              <a:t>OpenMP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45109915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143853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Synchronization Clauses</a:t>
            </a:r>
            <a:endParaRPr lang="en-US" sz="32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Barrier </a:t>
            </a:r>
            <a:r>
              <a:rPr lang="en-US" sz="3200" b="1" dirty="0" smtClean="0"/>
              <a:t>Directive</a:t>
            </a:r>
            <a:endParaRPr lang="en-US" sz="32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Single </a:t>
            </a:r>
            <a:r>
              <a:rPr lang="en-US" sz="3200" b="1" dirty="0" smtClean="0"/>
              <a:t>Directive</a:t>
            </a:r>
            <a:endParaRPr lang="en-US" sz="32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Master </a:t>
            </a:r>
            <a:r>
              <a:rPr lang="en-US" sz="3200" b="1" dirty="0" smtClean="0"/>
              <a:t>Directive</a:t>
            </a:r>
            <a:endParaRPr lang="en-US" sz="32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Critical </a:t>
            </a:r>
            <a:r>
              <a:rPr lang="en-US" sz="3200" b="1" dirty="0" smtClean="0"/>
              <a:t>Section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Race Condition</a:t>
            </a:r>
            <a:endParaRPr lang="en-US" sz="32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Atomic </a:t>
            </a:r>
            <a:r>
              <a:rPr lang="en-US" sz="3200" b="1" dirty="0" smtClean="0"/>
              <a:t>Directive</a:t>
            </a:r>
            <a:endParaRPr lang="en-US" sz="3200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Outline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570391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143853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Environment </a:t>
            </a:r>
            <a:r>
              <a:rPr lang="en-US" sz="3200" b="1" dirty="0"/>
              <a:t>Variables in </a:t>
            </a:r>
            <a:r>
              <a:rPr lang="en-US" sz="3200" b="1" dirty="0" err="1" smtClean="0"/>
              <a:t>OpenMP</a:t>
            </a:r>
            <a:endParaRPr lang="en-US" sz="3200" b="1" dirty="0" smtClean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OMP_NUM_THREADS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OMP_DYNAMIC</a:t>
            </a:r>
          </a:p>
          <a:p>
            <a:pPr lvl="2" algn="just">
              <a:buClr>
                <a:srgbClr val="0000A8"/>
              </a:buClr>
              <a:buFont typeface="Wingdings" panose="05000000000000000000" pitchFamily="2" charset="2"/>
              <a:buChar char="ü"/>
            </a:pPr>
            <a:r>
              <a:rPr lang="en-US" b="1" dirty="0" err="1" smtClean="0"/>
              <a:t>OMP_Dynamic</a:t>
            </a:r>
            <a:r>
              <a:rPr lang="en-US" b="1" dirty="0" smtClean="0"/>
              <a:t> </a:t>
            </a:r>
            <a:r>
              <a:rPr lang="en-US" b="1" dirty="0"/>
              <a:t>[</a:t>
            </a:r>
            <a:r>
              <a:rPr lang="en-US" b="1" dirty="0" err="1" smtClean="0"/>
              <a:t>dynamic.c</a:t>
            </a:r>
            <a:r>
              <a:rPr lang="en-US" b="1" dirty="0" smtClean="0"/>
              <a:t>]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OMP_SCHEDULE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OMP_NESTED</a:t>
            </a:r>
          </a:p>
          <a:p>
            <a:pPr lvl="2" algn="just">
              <a:buClr>
                <a:srgbClr val="0000A8"/>
              </a:buClr>
              <a:buFont typeface="Wingdings" panose="05000000000000000000" pitchFamily="2" charset="2"/>
              <a:buChar char="ü"/>
            </a:pPr>
            <a:r>
              <a:rPr lang="en-US" b="1" dirty="0" smtClean="0"/>
              <a:t>OMP_NESTED </a:t>
            </a:r>
            <a:r>
              <a:rPr lang="en-US" b="1" dirty="0"/>
              <a:t>[</a:t>
            </a:r>
            <a:r>
              <a:rPr lang="en-US" b="1" dirty="0" err="1"/>
              <a:t>nested.c</a:t>
            </a:r>
            <a:r>
              <a:rPr lang="en-US" b="1" dirty="0" smtClean="0"/>
              <a:t>]</a:t>
            </a:r>
            <a:endParaRPr lang="en-US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Home Task</a:t>
            </a:r>
            <a:endParaRPr lang="en-US" sz="32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Summary</a:t>
            </a:r>
            <a:endParaRPr lang="en-US" sz="32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Additional Resources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3200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Outline (Cont.)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76268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143853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#pragma </a:t>
            </a:r>
            <a:r>
              <a:rPr lang="en-US" sz="3200" b="1" dirty="0" err="1"/>
              <a:t>omp</a:t>
            </a:r>
            <a:r>
              <a:rPr lang="en-US" sz="3200" b="1" dirty="0"/>
              <a:t> barrier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#pragma </a:t>
            </a:r>
            <a:r>
              <a:rPr lang="en-US" sz="3200" b="1" dirty="0" err="1"/>
              <a:t>omp</a:t>
            </a:r>
            <a:r>
              <a:rPr lang="en-US" sz="3200" b="1" dirty="0"/>
              <a:t> single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#pragma </a:t>
            </a:r>
            <a:r>
              <a:rPr lang="en-US" sz="3200" b="1" dirty="0" err="1"/>
              <a:t>omp</a:t>
            </a:r>
            <a:r>
              <a:rPr lang="en-US" sz="3200" b="1" dirty="0"/>
              <a:t> master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#pragma </a:t>
            </a:r>
            <a:r>
              <a:rPr lang="en-US" sz="3200" b="1" dirty="0" err="1"/>
              <a:t>omp</a:t>
            </a:r>
            <a:r>
              <a:rPr lang="en-US" sz="3200" b="1" dirty="0"/>
              <a:t> critical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#pragma </a:t>
            </a:r>
            <a:r>
              <a:rPr lang="en-US" sz="3200" b="1" dirty="0" err="1"/>
              <a:t>omp</a:t>
            </a:r>
            <a:r>
              <a:rPr lang="en-US" sz="3200" b="1" dirty="0"/>
              <a:t> atomic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#pragma </a:t>
            </a:r>
            <a:r>
              <a:rPr lang="en-US" sz="3200" b="1" dirty="0" err="1"/>
              <a:t>omp</a:t>
            </a:r>
            <a:r>
              <a:rPr lang="en-US" sz="3200" b="1" dirty="0"/>
              <a:t> ordered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#pragma </a:t>
            </a:r>
            <a:r>
              <a:rPr lang="en-US" sz="3200" b="1" dirty="0" err="1"/>
              <a:t>omp</a:t>
            </a:r>
            <a:r>
              <a:rPr lang="en-US" sz="3200" b="1" dirty="0"/>
              <a:t> flush[(list)]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#pragma </a:t>
            </a:r>
            <a:r>
              <a:rPr lang="en-US" sz="3200" b="1" dirty="0" err="1"/>
              <a:t>omp</a:t>
            </a:r>
            <a:r>
              <a:rPr lang="en-US" sz="3200" b="1" dirty="0"/>
              <a:t> </a:t>
            </a:r>
            <a:r>
              <a:rPr lang="en-US" sz="3200" b="1" dirty="0" err="1"/>
              <a:t>threadprivate</a:t>
            </a:r>
            <a:r>
              <a:rPr lang="en-US" sz="3200" b="1" dirty="0"/>
              <a:t>(variable list)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3200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sz="3200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Synchronization Clauses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067431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040999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On encountering this directive, all threads in a team </a:t>
            </a:r>
            <a:r>
              <a:rPr lang="en-US" b="1" dirty="0">
                <a:solidFill>
                  <a:srgbClr val="0000A8"/>
                </a:solidFill>
              </a:rPr>
              <a:t>wait</a:t>
            </a:r>
            <a:r>
              <a:rPr lang="en-US" b="1" dirty="0"/>
              <a:t> until others have caught up, and then </a:t>
            </a:r>
            <a:r>
              <a:rPr lang="en-US" b="1" dirty="0" smtClean="0"/>
              <a:t>release</a:t>
            </a:r>
            <a:endParaRPr lang="en-US" b="1" dirty="0"/>
          </a:p>
          <a:p>
            <a:pPr marL="130175" indent="0" algn="ctr">
              <a:buNone/>
            </a:pPr>
            <a:r>
              <a:rPr lang="en-US" b="1" dirty="0">
                <a:solidFill>
                  <a:srgbClr val="0000A8"/>
                </a:solidFill>
              </a:rPr>
              <a:t>#pragma </a:t>
            </a:r>
            <a:r>
              <a:rPr lang="en-US" b="1" dirty="0" err="1">
                <a:solidFill>
                  <a:srgbClr val="0000A8"/>
                </a:solidFill>
              </a:rPr>
              <a:t>omp</a:t>
            </a:r>
            <a:r>
              <a:rPr lang="en-US" b="1" dirty="0">
                <a:solidFill>
                  <a:srgbClr val="0000A8"/>
                </a:solidFill>
              </a:rPr>
              <a:t> barrier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Barrier Directive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5872" y="3267352"/>
            <a:ext cx="2247737" cy="242064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1281" y="3267352"/>
            <a:ext cx="3677163" cy="2438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34445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Single Directive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A single directive specifies a structured block that is executed by a </a:t>
            </a:r>
            <a:r>
              <a:rPr lang="en-US" b="1" dirty="0">
                <a:solidFill>
                  <a:srgbClr val="0000A8"/>
                </a:solidFill>
              </a:rPr>
              <a:t>single (arbitrary) thread </a:t>
            </a:r>
            <a:r>
              <a:rPr lang="en-US" b="1" dirty="0"/>
              <a:t>in parallel region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Implicit </a:t>
            </a:r>
            <a:r>
              <a:rPr lang="en-US" b="1" dirty="0" smtClean="0"/>
              <a:t>barrier</a:t>
            </a:r>
            <a:endParaRPr lang="en-US" b="1" dirty="0"/>
          </a:p>
          <a:p>
            <a:pPr marL="130175" indent="0" algn="ctr">
              <a:buNone/>
            </a:pPr>
            <a:r>
              <a:rPr lang="en-US" b="1" dirty="0">
                <a:solidFill>
                  <a:srgbClr val="0000A8"/>
                </a:solidFill>
              </a:rPr>
              <a:t>#pragma </a:t>
            </a:r>
            <a:r>
              <a:rPr lang="en-US" b="1" dirty="0" err="1">
                <a:solidFill>
                  <a:srgbClr val="0000A8"/>
                </a:solidFill>
              </a:rPr>
              <a:t>omp</a:t>
            </a:r>
            <a:r>
              <a:rPr lang="en-US" b="1" dirty="0">
                <a:solidFill>
                  <a:srgbClr val="0000A8"/>
                </a:solidFill>
              </a:rPr>
              <a:t> single [clause list]</a:t>
            </a:r>
          </a:p>
          <a:p>
            <a:pPr marL="130175" indent="0" algn="ctr">
              <a:buNone/>
            </a:pPr>
            <a:r>
              <a:rPr lang="en-US" b="1" dirty="0"/>
              <a:t>structured block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52516671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Master Directive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The master directive is a specialization of the single directive in which only the </a:t>
            </a:r>
            <a:r>
              <a:rPr lang="en-US" b="1" dirty="0">
                <a:solidFill>
                  <a:srgbClr val="0000A8"/>
                </a:solidFill>
              </a:rPr>
              <a:t>master thread executes</a:t>
            </a:r>
            <a:r>
              <a:rPr lang="en-US" b="1" dirty="0"/>
              <a:t> the structured block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No implicit </a:t>
            </a:r>
            <a:r>
              <a:rPr lang="en-US" b="1" dirty="0" smtClean="0"/>
              <a:t>barrier</a:t>
            </a:r>
            <a:endParaRPr lang="en-US" b="1" dirty="0"/>
          </a:p>
          <a:p>
            <a:pPr marL="130175" indent="0" algn="ctr">
              <a:buNone/>
            </a:pPr>
            <a:r>
              <a:rPr lang="en-US" b="1" dirty="0">
                <a:solidFill>
                  <a:srgbClr val="0000A8"/>
                </a:solidFill>
              </a:rPr>
              <a:t>#pragma </a:t>
            </a:r>
            <a:r>
              <a:rPr lang="en-US" b="1" dirty="0" err="1">
                <a:solidFill>
                  <a:srgbClr val="0000A8"/>
                </a:solidFill>
              </a:rPr>
              <a:t>omp</a:t>
            </a:r>
            <a:r>
              <a:rPr lang="en-US" b="1" dirty="0">
                <a:solidFill>
                  <a:srgbClr val="0000A8"/>
                </a:solidFill>
              </a:rPr>
              <a:t> master </a:t>
            </a:r>
          </a:p>
          <a:p>
            <a:pPr marL="130175" indent="0" algn="ctr">
              <a:buNone/>
            </a:pPr>
            <a:r>
              <a:rPr lang="en-US" b="1" dirty="0"/>
              <a:t>structured block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91080256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040999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A Critical Section is a code segment that has a shared variable and need to be executed as an </a:t>
            </a:r>
            <a:r>
              <a:rPr lang="en-US" b="1" dirty="0">
                <a:solidFill>
                  <a:srgbClr val="0000A8"/>
                </a:solidFill>
              </a:rPr>
              <a:t>atomic</a:t>
            </a:r>
            <a:r>
              <a:rPr lang="en-US" b="1" dirty="0"/>
              <a:t> </a:t>
            </a:r>
            <a:r>
              <a:rPr lang="en-US" b="1" dirty="0" smtClean="0"/>
              <a:t>action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It </a:t>
            </a:r>
            <a:r>
              <a:rPr lang="en-US" b="1" dirty="0"/>
              <a:t>means that in a group of cooperating processes/threads, at a given point of time, only </a:t>
            </a:r>
            <a:r>
              <a:rPr lang="en-US" b="1" dirty="0">
                <a:solidFill>
                  <a:srgbClr val="0000A8"/>
                </a:solidFill>
              </a:rPr>
              <a:t>one process </a:t>
            </a:r>
            <a:r>
              <a:rPr lang="en-US" b="1" dirty="0"/>
              <a:t>must be executing its critical </a:t>
            </a:r>
            <a:r>
              <a:rPr lang="en-US" b="1" dirty="0" smtClean="0"/>
              <a:t>section</a:t>
            </a:r>
          </a:p>
          <a:p>
            <a:pPr marL="130175" indent="0" algn="ctr">
              <a:buNone/>
            </a:pPr>
            <a:endParaRPr lang="en-US" b="1" dirty="0" smtClean="0">
              <a:solidFill>
                <a:srgbClr val="0000A8"/>
              </a:solidFill>
            </a:endParaRPr>
          </a:p>
          <a:p>
            <a:pPr marL="130175" indent="0" algn="ctr">
              <a:buNone/>
            </a:pPr>
            <a:r>
              <a:rPr lang="en-US" b="1" dirty="0" smtClean="0">
                <a:solidFill>
                  <a:srgbClr val="0000A8"/>
                </a:solidFill>
              </a:rPr>
              <a:t>#</a:t>
            </a:r>
            <a:r>
              <a:rPr lang="en-US" b="1" dirty="0">
                <a:solidFill>
                  <a:srgbClr val="0000A8"/>
                </a:solidFill>
              </a:rPr>
              <a:t>pragma </a:t>
            </a:r>
            <a:r>
              <a:rPr lang="en-US" b="1" dirty="0" err="1">
                <a:solidFill>
                  <a:srgbClr val="0000A8"/>
                </a:solidFill>
              </a:rPr>
              <a:t>omp</a:t>
            </a:r>
            <a:r>
              <a:rPr lang="en-US" b="1" dirty="0">
                <a:solidFill>
                  <a:srgbClr val="0000A8"/>
                </a:solidFill>
              </a:rPr>
              <a:t> </a:t>
            </a:r>
            <a:r>
              <a:rPr lang="en-US" b="1" dirty="0" smtClean="0">
                <a:solidFill>
                  <a:srgbClr val="0000A8"/>
                </a:solidFill>
              </a:rPr>
              <a:t>critical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 smtClean="0"/>
              <a:t>An</a:t>
            </a:r>
            <a:r>
              <a:rPr lang="en-US" b="1" dirty="0"/>
              <a:t> operation acting on shared memory is </a:t>
            </a:r>
            <a:r>
              <a:rPr lang="en-US" b="1" dirty="0">
                <a:solidFill>
                  <a:srgbClr val="0000A8"/>
                </a:solidFill>
              </a:rPr>
              <a:t>atomic</a:t>
            </a:r>
            <a:r>
              <a:rPr lang="en-US" b="1" dirty="0"/>
              <a:t> if it completes in a single step relative to other threads (no other thread can observe the modification half-complete}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/>
          </a:p>
          <a:p>
            <a:pPr marL="130175" indent="0" algn="ctr">
              <a:buNone/>
            </a:pPr>
            <a:endParaRPr lang="en-US" b="1" dirty="0">
              <a:solidFill>
                <a:srgbClr val="0000A8"/>
              </a:solidFill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Critical </a:t>
            </a:r>
            <a:r>
              <a:rPr lang="en-US" dirty="0" smtClean="0"/>
              <a:t>Section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864398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040999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b="1" dirty="0" smtClean="0"/>
              <a:t>Forces </a:t>
            </a:r>
            <a:r>
              <a:rPr lang="en-US" b="1" dirty="0"/>
              <a:t>threads to be </a:t>
            </a:r>
            <a:r>
              <a:rPr lang="en-US" b="1" dirty="0" err="1">
                <a:solidFill>
                  <a:srgbClr val="0000A8"/>
                </a:solidFill>
              </a:rPr>
              <a:t>mutex</a:t>
            </a:r>
            <a:r>
              <a:rPr lang="en-US" b="1" dirty="0">
                <a:solidFill>
                  <a:srgbClr val="0000A8"/>
                </a:solidFill>
              </a:rPr>
              <a:t> </a:t>
            </a:r>
            <a:r>
              <a:rPr lang="en-US" b="1" dirty="0"/>
              <a:t>(mutually exclusive)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/>
              <a:t>Only one thread at a time </a:t>
            </a:r>
            <a:r>
              <a:rPr lang="en-US" b="1" dirty="0">
                <a:solidFill>
                  <a:srgbClr val="0000A8"/>
                </a:solidFill>
              </a:rPr>
              <a:t>executes</a:t>
            </a:r>
            <a:r>
              <a:rPr lang="en-US" b="1" dirty="0"/>
              <a:t> the given code section</a:t>
            </a:r>
          </a:p>
          <a:p>
            <a:pPr marL="130175" indent="0" algn="just">
              <a:buNone/>
            </a:pPr>
            <a:r>
              <a:rPr lang="en-US" sz="2400" b="1" dirty="0"/>
              <a:t>double area, pi, x;</a:t>
            </a:r>
          </a:p>
          <a:p>
            <a:pPr marL="130175" indent="0" algn="just">
              <a:buNone/>
            </a:pPr>
            <a:r>
              <a:rPr lang="en-US" sz="2400" b="1" dirty="0" err="1"/>
              <a:t>int</a:t>
            </a:r>
            <a:r>
              <a:rPr lang="en-US" sz="2400" b="1" dirty="0"/>
              <a:t> </a:t>
            </a:r>
            <a:r>
              <a:rPr lang="en-US" sz="2400" b="1" dirty="0" err="1"/>
              <a:t>i</a:t>
            </a:r>
            <a:r>
              <a:rPr lang="en-US" sz="2400" b="1" dirty="0"/>
              <a:t>, n;</a:t>
            </a:r>
          </a:p>
          <a:p>
            <a:pPr marL="130175" indent="0" algn="just">
              <a:buNone/>
            </a:pPr>
            <a:r>
              <a:rPr lang="en-US" sz="2400" b="1" dirty="0"/>
              <a:t>...</a:t>
            </a:r>
          </a:p>
          <a:p>
            <a:pPr marL="130175" indent="0" algn="just">
              <a:buNone/>
            </a:pPr>
            <a:r>
              <a:rPr lang="en-US" sz="2400" b="1" dirty="0"/>
              <a:t>area = 0.0;</a:t>
            </a:r>
          </a:p>
          <a:p>
            <a:pPr marL="130175" indent="0" algn="just">
              <a:buNone/>
            </a:pPr>
            <a:r>
              <a:rPr lang="en-US" sz="2400" b="1" dirty="0"/>
              <a:t>for (</a:t>
            </a:r>
            <a:r>
              <a:rPr lang="en-US" sz="2400" b="1" dirty="0" err="1"/>
              <a:t>i</a:t>
            </a:r>
            <a:r>
              <a:rPr lang="en-US" sz="2400" b="1" dirty="0"/>
              <a:t> = 0; </a:t>
            </a:r>
            <a:r>
              <a:rPr lang="en-US" sz="2400" b="1" dirty="0" err="1"/>
              <a:t>i</a:t>
            </a:r>
            <a:r>
              <a:rPr lang="en-US" sz="2400" b="1" dirty="0"/>
              <a:t> &lt; n; </a:t>
            </a:r>
            <a:r>
              <a:rPr lang="en-US" sz="2400" b="1" dirty="0" err="1"/>
              <a:t>i</a:t>
            </a:r>
            <a:r>
              <a:rPr lang="en-US" sz="2400" b="1" dirty="0"/>
              <a:t>++) {</a:t>
            </a:r>
          </a:p>
          <a:p>
            <a:pPr marL="130175" indent="0" algn="just">
              <a:buNone/>
            </a:pPr>
            <a:r>
              <a:rPr lang="en-US" sz="2400" b="1" dirty="0"/>
              <a:t>   x += (i+0.5)/n; //can be calculated independently</a:t>
            </a:r>
          </a:p>
          <a:p>
            <a:pPr marL="130175" indent="0" algn="just">
              <a:buNone/>
            </a:pPr>
            <a:r>
              <a:rPr lang="en-US" sz="2400" b="1" dirty="0">
                <a:solidFill>
                  <a:srgbClr val="0000A8"/>
                </a:solidFill>
              </a:rPr>
              <a:t>   area += 4.0/(1.0 + x*x); //requires </a:t>
            </a:r>
            <a:r>
              <a:rPr lang="en-US" sz="2400" b="1" dirty="0" err="1">
                <a:solidFill>
                  <a:srgbClr val="0000A8"/>
                </a:solidFill>
              </a:rPr>
              <a:t>mutex</a:t>
            </a:r>
            <a:r>
              <a:rPr lang="en-US" sz="2400" b="1" dirty="0">
                <a:solidFill>
                  <a:srgbClr val="0000A8"/>
                </a:solidFill>
              </a:rPr>
              <a:t> </a:t>
            </a:r>
            <a:r>
              <a:rPr lang="en-US" sz="2400" b="1" dirty="0" smtClean="0">
                <a:solidFill>
                  <a:srgbClr val="0000A8"/>
                </a:solidFill>
              </a:rPr>
              <a:t>lock</a:t>
            </a:r>
            <a:endParaRPr lang="en-US" sz="2400" b="1" dirty="0"/>
          </a:p>
          <a:p>
            <a:pPr marL="130175" indent="0" algn="just">
              <a:buNone/>
            </a:pPr>
            <a:r>
              <a:rPr lang="en-US" sz="2400" b="1" dirty="0"/>
              <a:t>}</a:t>
            </a:r>
          </a:p>
          <a:p>
            <a:pPr marL="130175" indent="0" algn="just">
              <a:buNone/>
            </a:pPr>
            <a:r>
              <a:rPr lang="en-US" sz="2400" b="1" dirty="0"/>
              <a:t>pi = area / n;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Critical </a:t>
            </a:r>
            <a:r>
              <a:rPr lang="en-US" dirty="0" smtClean="0"/>
              <a:t>Section (Cont.)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813768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040999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If we simply parallelize the loop... A </a:t>
            </a:r>
            <a:r>
              <a:rPr lang="en-US" b="1" dirty="0">
                <a:solidFill>
                  <a:srgbClr val="0000A8"/>
                </a:solidFill>
              </a:rPr>
              <a:t>race condition </a:t>
            </a:r>
            <a:r>
              <a:rPr lang="en-US" b="1" dirty="0"/>
              <a:t>may  occur</a:t>
            </a:r>
          </a:p>
          <a:p>
            <a:pPr marL="130175" indent="0" algn="just">
              <a:buNone/>
            </a:pPr>
            <a:r>
              <a:rPr lang="en-US" sz="2400" b="1" dirty="0"/>
              <a:t>double area, pi, x;</a:t>
            </a:r>
          </a:p>
          <a:p>
            <a:pPr marL="130175" indent="0" algn="just">
              <a:buNone/>
            </a:pPr>
            <a:r>
              <a:rPr lang="en-US" sz="2400" b="1" dirty="0" err="1"/>
              <a:t>int</a:t>
            </a:r>
            <a:r>
              <a:rPr lang="en-US" sz="2400" b="1" dirty="0"/>
              <a:t> </a:t>
            </a:r>
            <a:r>
              <a:rPr lang="en-US" sz="2400" b="1" dirty="0" err="1"/>
              <a:t>i</a:t>
            </a:r>
            <a:r>
              <a:rPr lang="en-US" sz="2400" b="1" dirty="0"/>
              <a:t>, n;</a:t>
            </a:r>
          </a:p>
          <a:p>
            <a:pPr marL="130175" indent="0" algn="just">
              <a:buNone/>
            </a:pPr>
            <a:r>
              <a:rPr lang="en-US" sz="2400" b="1" dirty="0"/>
              <a:t>...</a:t>
            </a:r>
          </a:p>
          <a:p>
            <a:pPr marL="130175" indent="0" algn="just">
              <a:buNone/>
            </a:pPr>
            <a:r>
              <a:rPr lang="en-US" sz="2400" b="1" dirty="0"/>
              <a:t>area = 0.0;</a:t>
            </a:r>
          </a:p>
          <a:p>
            <a:pPr marL="130175" indent="0" algn="just">
              <a:buNone/>
            </a:pPr>
            <a:r>
              <a:rPr lang="en-US" sz="2400" b="1" dirty="0"/>
              <a:t>#pragma </a:t>
            </a:r>
            <a:r>
              <a:rPr lang="en-US" sz="2400" b="1" dirty="0" err="1"/>
              <a:t>omp</a:t>
            </a:r>
            <a:r>
              <a:rPr lang="en-US" sz="2400" b="1" dirty="0"/>
              <a:t> parallel for private(x)</a:t>
            </a:r>
          </a:p>
          <a:p>
            <a:pPr marL="130175" indent="0" algn="just">
              <a:buNone/>
            </a:pPr>
            <a:r>
              <a:rPr lang="en-US" sz="2400" b="1" dirty="0"/>
              <a:t>for (</a:t>
            </a:r>
            <a:r>
              <a:rPr lang="en-US" sz="2400" b="1" dirty="0" err="1"/>
              <a:t>i</a:t>
            </a:r>
            <a:r>
              <a:rPr lang="en-US" sz="2400" b="1" dirty="0"/>
              <a:t> = 0; </a:t>
            </a:r>
            <a:r>
              <a:rPr lang="en-US" sz="2400" b="1" dirty="0" err="1"/>
              <a:t>i</a:t>
            </a:r>
            <a:r>
              <a:rPr lang="en-US" sz="2400" b="1" dirty="0"/>
              <a:t> &lt; n; </a:t>
            </a:r>
            <a:r>
              <a:rPr lang="en-US" sz="2400" b="1" dirty="0" err="1"/>
              <a:t>i</a:t>
            </a:r>
            <a:r>
              <a:rPr lang="en-US" sz="2400" b="1" dirty="0"/>
              <a:t>++) {</a:t>
            </a:r>
          </a:p>
          <a:p>
            <a:pPr marL="130175" indent="0" algn="just">
              <a:buNone/>
            </a:pPr>
            <a:r>
              <a:rPr lang="en-US" sz="2400" b="1" dirty="0"/>
              <a:t>   x = (i+0.5)/n;</a:t>
            </a:r>
          </a:p>
          <a:p>
            <a:pPr marL="130175" indent="0" algn="just">
              <a:buNone/>
            </a:pPr>
            <a:r>
              <a:rPr lang="en-US" sz="2400" b="1" dirty="0"/>
              <a:t>   </a:t>
            </a:r>
            <a:r>
              <a:rPr lang="en-US" sz="2400" b="1" dirty="0">
                <a:solidFill>
                  <a:srgbClr val="0000A8"/>
                </a:solidFill>
              </a:rPr>
              <a:t>area += 4.0/(1.0 + x*x); //not atomic</a:t>
            </a:r>
          </a:p>
          <a:p>
            <a:pPr marL="130175" indent="0" algn="just">
              <a:buNone/>
            </a:pPr>
            <a:r>
              <a:rPr lang="en-US" sz="2400" b="1" dirty="0"/>
              <a:t>}</a:t>
            </a:r>
          </a:p>
          <a:p>
            <a:pPr marL="130175" indent="0" algn="just">
              <a:buNone/>
            </a:pPr>
            <a:r>
              <a:rPr lang="en-US" sz="2400" b="1" dirty="0"/>
              <a:t>pi = area / n;</a:t>
            </a:r>
          </a:p>
          <a:p>
            <a:pPr marL="130175" indent="0" algn="just">
              <a:buNone/>
            </a:pPr>
            <a:endParaRPr lang="en-US" sz="2400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Critical </a:t>
            </a:r>
            <a:r>
              <a:rPr lang="en-US" dirty="0" smtClean="0"/>
              <a:t>Section (Cont.)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691007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040999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C00000"/>
                </a:solidFill>
              </a:rPr>
              <a:t>Race Condition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2400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sz="2400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sz="2400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sz="2400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sz="2400" b="1" dirty="0"/>
          </a:p>
          <a:p>
            <a:pPr marL="130175" indent="0" algn="just">
              <a:buNone/>
            </a:pPr>
            <a:endParaRPr lang="en-US" sz="24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dirty="0"/>
              <a:t>Thread A reads value of area first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dirty="0"/>
              <a:t>Thread B reads value of area before A can update its value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dirty="0"/>
              <a:t>Thread A updates value of area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dirty="0"/>
              <a:t>Thread B ignores update by A and writes its incorrect value to area 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2400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sz="2400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sz="2400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Critical </a:t>
            </a:r>
            <a:r>
              <a:rPr lang="en-US" dirty="0" smtClean="0"/>
              <a:t>Section (Cont.)</a:t>
            </a:r>
            <a:endParaRPr lang="en-US" dirty="0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xmlns="" id="{503068CC-66CA-4BF7-9416-5522418AFD7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3027850"/>
              </p:ext>
            </p:extLst>
          </p:nvPr>
        </p:nvGraphicFramePr>
        <p:xfrm>
          <a:off x="1439375" y="1966085"/>
          <a:ext cx="6642619" cy="24259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3" name="SmartDraw" r:id="rId4" imgW="4212000" imgH="1737360" progId="SmartDraw.2">
                  <p:embed/>
                </p:oleObj>
              </mc:Choice>
              <mc:Fallback>
                <p:oleObj name="SmartDraw" r:id="rId4" imgW="4212000" imgH="1737360" progId="SmartDraw.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9375" y="1966085"/>
                        <a:ext cx="6642619" cy="2425959"/>
                      </a:xfrm>
                      <a:prstGeom prst="rect">
                        <a:avLst/>
                      </a:prstGeom>
                      <a:solidFill>
                        <a:srgbClr val="66CCFF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5400405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040999"/>
          </a:xfrm>
        </p:spPr>
        <p:txBody>
          <a:bodyPr>
            <a:noAutofit/>
          </a:bodyPr>
          <a:lstStyle/>
          <a:p>
            <a:pPr marL="130175" indent="0" algn="just">
              <a:buNone/>
            </a:pPr>
            <a:r>
              <a:rPr lang="en-US" b="1" dirty="0">
                <a:solidFill>
                  <a:srgbClr val="C00000"/>
                </a:solidFill>
              </a:rPr>
              <a:t>Race Condition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A race condition is created when one process may “</a:t>
            </a:r>
            <a:r>
              <a:rPr lang="en-US" b="1" dirty="0">
                <a:solidFill>
                  <a:srgbClr val="0000A8"/>
                </a:solidFill>
              </a:rPr>
              <a:t>race ahead</a:t>
            </a:r>
            <a:r>
              <a:rPr lang="en-US" b="1" dirty="0"/>
              <a:t>” of another and overwrite the change made by the first process to the shared variable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 err="1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Critical Section (Cont.)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2918" y="3310960"/>
            <a:ext cx="5609823" cy="2249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94642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040999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rgbClr val="C00000"/>
                </a:solidFill>
              </a:rPr>
              <a:t>Critical </a:t>
            </a:r>
            <a:r>
              <a:rPr lang="en-US" b="1" dirty="0">
                <a:solidFill>
                  <a:srgbClr val="C00000"/>
                </a:solidFill>
              </a:rPr>
              <a:t>section: </a:t>
            </a:r>
            <a:r>
              <a:rPr lang="en-US" b="1" dirty="0"/>
              <a:t>a portion of code that only thread at a time may execute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We denote a critical section by putting the </a:t>
            </a:r>
            <a:r>
              <a:rPr lang="en-US" b="1" dirty="0" smtClean="0"/>
              <a:t>pragma</a:t>
            </a:r>
          </a:p>
          <a:p>
            <a:pPr marL="130175" indent="0" algn="ctr">
              <a:buNone/>
            </a:pPr>
            <a:r>
              <a:rPr lang="en-US" b="1" dirty="0" smtClean="0">
                <a:solidFill>
                  <a:srgbClr val="0000A8"/>
                </a:solidFill>
              </a:rPr>
              <a:t>#pragma </a:t>
            </a:r>
            <a:r>
              <a:rPr lang="en-US" b="1" dirty="0" err="1">
                <a:solidFill>
                  <a:srgbClr val="0000A8"/>
                </a:solidFill>
              </a:rPr>
              <a:t>omp</a:t>
            </a:r>
            <a:r>
              <a:rPr lang="en-US" b="1" dirty="0">
                <a:solidFill>
                  <a:srgbClr val="0000A8"/>
                </a:solidFill>
              </a:rPr>
              <a:t> critical [(name)]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Optional identifier name can be used to </a:t>
            </a:r>
            <a:r>
              <a:rPr lang="en-US" b="1" dirty="0">
                <a:solidFill>
                  <a:srgbClr val="0000A8"/>
                </a:solidFill>
              </a:rPr>
              <a:t>identify</a:t>
            </a:r>
            <a:r>
              <a:rPr lang="en-US" b="1" dirty="0"/>
              <a:t> a critical region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Solves the problem but, as only one thread at a time may execute the statement;  it becomes </a:t>
            </a:r>
            <a:r>
              <a:rPr lang="en-US" b="1" dirty="0">
                <a:solidFill>
                  <a:srgbClr val="0000A8"/>
                </a:solidFill>
              </a:rPr>
              <a:t>sequential</a:t>
            </a:r>
            <a:r>
              <a:rPr lang="en-US" b="1" dirty="0"/>
              <a:t> </a:t>
            </a:r>
            <a:r>
              <a:rPr lang="en-US" b="1" dirty="0" smtClean="0"/>
              <a:t>code</a:t>
            </a:r>
            <a:endParaRPr lang="en-US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Critical Section (Cont.)</a:t>
            </a:r>
          </a:p>
        </p:txBody>
      </p:sp>
    </p:spTree>
    <p:extLst>
      <p:ext uri="{BB962C8B-B14F-4D97-AF65-F5344CB8AC3E}">
        <p14:creationId xmlns:p14="http://schemas.microsoft.com/office/powerpoint/2010/main" val="269940824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040999"/>
          </a:xfrm>
        </p:spPr>
        <p:txBody>
          <a:bodyPr>
            <a:noAutofit/>
          </a:bodyPr>
          <a:lstStyle/>
          <a:p>
            <a:pPr marL="130175" indent="0" algn="just">
              <a:buNone/>
            </a:pPr>
            <a:r>
              <a:rPr lang="en-US" b="1" dirty="0" smtClean="0">
                <a:solidFill>
                  <a:srgbClr val="C00000"/>
                </a:solidFill>
              </a:rPr>
              <a:t>Critical Section:</a:t>
            </a:r>
            <a:endParaRPr lang="en-US" b="1" dirty="0"/>
          </a:p>
          <a:p>
            <a:pPr marL="130175" indent="0" algn="just">
              <a:buNone/>
            </a:pPr>
            <a:r>
              <a:rPr lang="en-US" sz="2400" b="1" dirty="0"/>
              <a:t>double area, pi, x;</a:t>
            </a:r>
          </a:p>
          <a:p>
            <a:pPr marL="130175" indent="0" algn="just">
              <a:buNone/>
            </a:pPr>
            <a:r>
              <a:rPr lang="en-US" sz="2400" b="1" dirty="0" err="1"/>
              <a:t>int</a:t>
            </a:r>
            <a:r>
              <a:rPr lang="en-US" sz="2400" b="1" dirty="0"/>
              <a:t> </a:t>
            </a:r>
            <a:r>
              <a:rPr lang="en-US" sz="2400" b="1" dirty="0" err="1"/>
              <a:t>i</a:t>
            </a:r>
            <a:r>
              <a:rPr lang="en-US" sz="2400" b="1" dirty="0"/>
              <a:t>, n;</a:t>
            </a:r>
          </a:p>
          <a:p>
            <a:pPr marL="130175" indent="0" algn="just">
              <a:buNone/>
            </a:pPr>
            <a:r>
              <a:rPr lang="en-US" sz="2400" b="1" dirty="0" smtClean="0"/>
              <a:t>area </a:t>
            </a:r>
            <a:r>
              <a:rPr lang="en-US" sz="2400" b="1" dirty="0"/>
              <a:t>= 0.0;</a:t>
            </a:r>
          </a:p>
          <a:p>
            <a:pPr marL="130175" indent="0" algn="just">
              <a:buNone/>
            </a:pPr>
            <a:r>
              <a:rPr lang="en-US" sz="2400" b="1" dirty="0"/>
              <a:t>#pragma </a:t>
            </a:r>
            <a:r>
              <a:rPr lang="en-US" sz="2400" b="1" dirty="0" err="1"/>
              <a:t>omp</a:t>
            </a:r>
            <a:r>
              <a:rPr lang="en-US" sz="2400" b="1" dirty="0"/>
              <a:t> parallel for private(x)</a:t>
            </a:r>
          </a:p>
          <a:p>
            <a:pPr marL="130175" indent="0" algn="just">
              <a:buNone/>
            </a:pPr>
            <a:r>
              <a:rPr lang="en-US" sz="2400" b="1" dirty="0"/>
              <a:t>for (</a:t>
            </a:r>
            <a:r>
              <a:rPr lang="en-US" sz="2400" b="1" dirty="0" err="1"/>
              <a:t>i</a:t>
            </a:r>
            <a:r>
              <a:rPr lang="en-US" sz="2400" b="1" dirty="0"/>
              <a:t> = 0; </a:t>
            </a:r>
            <a:r>
              <a:rPr lang="en-US" sz="2400" b="1" dirty="0" err="1"/>
              <a:t>i</a:t>
            </a:r>
            <a:r>
              <a:rPr lang="en-US" sz="2400" b="1" dirty="0"/>
              <a:t> &lt; n; </a:t>
            </a:r>
            <a:r>
              <a:rPr lang="en-US" sz="2400" b="1" dirty="0" err="1"/>
              <a:t>i</a:t>
            </a:r>
            <a:r>
              <a:rPr lang="en-US" sz="2400" b="1" dirty="0"/>
              <a:t>++) {</a:t>
            </a:r>
          </a:p>
          <a:p>
            <a:pPr marL="130175" indent="0" algn="just">
              <a:buNone/>
            </a:pPr>
            <a:r>
              <a:rPr lang="en-US" sz="2400" b="1" dirty="0"/>
              <a:t>   x = (i+0.5)/n;</a:t>
            </a:r>
          </a:p>
          <a:p>
            <a:pPr marL="130175" indent="0" algn="just">
              <a:buNone/>
            </a:pPr>
            <a:r>
              <a:rPr lang="en-US" sz="2400" b="1" dirty="0">
                <a:solidFill>
                  <a:srgbClr val="0000A8"/>
                </a:solidFill>
              </a:rPr>
              <a:t>#pragma </a:t>
            </a:r>
            <a:r>
              <a:rPr lang="en-US" sz="2400" b="1" dirty="0" err="1">
                <a:solidFill>
                  <a:srgbClr val="0000A8"/>
                </a:solidFill>
              </a:rPr>
              <a:t>omp</a:t>
            </a:r>
            <a:r>
              <a:rPr lang="en-US" sz="2400" b="1" dirty="0">
                <a:solidFill>
                  <a:srgbClr val="0000A8"/>
                </a:solidFill>
              </a:rPr>
              <a:t> critical</a:t>
            </a:r>
          </a:p>
          <a:p>
            <a:pPr marL="130175" indent="0" algn="just">
              <a:buNone/>
            </a:pPr>
            <a:r>
              <a:rPr lang="en-US" sz="2400" b="1" dirty="0"/>
              <a:t>   area += 4.0/(1.0 + x*x);</a:t>
            </a:r>
          </a:p>
          <a:p>
            <a:pPr marL="130175" indent="0" algn="just">
              <a:buNone/>
            </a:pPr>
            <a:r>
              <a:rPr lang="en-US" sz="2400" b="1" dirty="0"/>
              <a:t>}</a:t>
            </a:r>
          </a:p>
          <a:p>
            <a:pPr marL="130175" indent="0" algn="just">
              <a:buNone/>
            </a:pPr>
            <a:r>
              <a:rPr lang="en-US" sz="2400" b="1" dirty="0"/>
              <a:t>pi = area / n;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2400" b="1" dirty="0" smtClean="0"/>
          </a:p>
          <a:p>
            <a:pPr algn="just">
              <a:buFont typeface="Arial" panose="020B0604020202020204" pitchFamily="34" charset="0"/>
              <a:buChar char="•"/>
            </a:pPr>
            <a:endParaRPr lang="en-US" sz="2400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sz="2400" b="1" dirty="0" smtClean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96257" y="446385"/>
            <a:ext cx="10515600" cy="894622"/>
          </a:xfrm>
        </p:spPr>
        <p:txBody>
          <a:bodyPr>
            <a:normAutofit/>
          </a:bodyPr>
          <a:lstStyle/>
          <a:p>
            <a:r>
              <a:rPr lang="en-US" dirty="0"/>
              <a:t>Critical Section (Cont.)</a:t>
            </a:r>
          </a:p>
        </p:txBody>
      </p:sp>
      <p:pic>
        <p:nvPicPr>
          <p:cNvPr id="4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7886" y="1109741"/>
            <a:ext cx="3556000" cy="2328403"/>
          </a:xfrm>
          <a:prstGeom prst="rect">
            <a:avLst/>
          </a:prstGeom>
        </p:spPr>
      </p:pic>
      <p:pic>
        <p:nvPicPr>
          <p:cNvPr id="7" name="Content Placeholder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7886" y="3493791"/>
            <a:ext cx="3556000" cy="2926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33010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040999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The atomic directive specifies that the </a:t>
            </a:r>
            <a:r>
              <a:rPr lang="en-US" b="1" dirty="0">
                <a:solidFill>
                  <a:srgbClr val="0000A8"/>
                </a:solidFill>
              </a:rPr>
              <a:t>single memory location update </a:t>
            </a:r>
            <a:r>
              <a:rPr lang="en-US" b="1" dirty="0"/>
              <a:t>should be performed as an atomic operation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/>
          </a:p>
          <a:p>
            <a:pPr marL="130175" indent="0" algn="ctr">
              <a:buNone/>
            </a:pPr>
            <a:r>
              <a:rPr lang="en-US" b="1" dirty="0">
                <a:solidFill>
                  <a:srgbClr val="0000A8"/>
                </a:solidFill>
              </a:rPr>
              <a:t>#pragma </a:t>
            </a:r>
            <a:r>
              <a:rPr lang="en-US" b="1" dirty="0" err="1">
                <a:solidFill>
                  <a:srgbClr val="0000A8"/>
                </a:solidFill>
              </a:rPr>
              <a:t>omp</a:t>
            </a:r>
            <a:r>
              <a:rPr lang="en-US" b="1" dirty="0">
                <a:solidFill>
                  <a:srgbClr val="0000A8"/>
                </a:solidFill>
              </a:rPr>
              <a:t> atomic</a:t>
            </a:r>
          </a:p>
          <a:p>
            <a:pPr marL="130175" indent="0" algn="ctr">
              <a:buNone/>
            </a:pPr>
            <a:r>
              <a:rPr lang="en-US" b="1" dirty="0"/>
              <a:t>Update instruction e.g., x++</a:t>
            </a:r>
          </a:p>
          <a:p>
            <a:pPr marL="130175" indent="0" algn="just">
              <a:buNone/>
            </a:pPr>
            <a:endParaRPr lang="en-US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Atomic Directive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325040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04099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/>
              <a:t>#pragma </a:t>
            </a:r>
            <a:r>
              <a:rPr lang="en-US" sz="2400" b="1" dirty="0" err="1"/>
              <a:t>omp</a:t>
            </a:r>
            <a:r>
              <a:rPr lang="en-US" sz="2400" b="1" dirty="0"/>
              <a:t> parallel for</a:t>
            </a:r>
          </a:p>
          <a:p>
            <a:pPr marL="0" indent="0">
              <a:buNone/>
            </a:pPr>
            <a:r>
              <a:rPr lang="en-US" sz="2400" b="1" dirty="0"/>
              <a:t>  {</a:t>
            </a:r>
          </a:p>
          <a:p>
            <a:pPr marL="0" indent="0">
              <a:buNone/>
            </a:pPr>
            <a:r>
              <a:rPr lang="en-US" sz="2400" b="1" dirty="0"/>
              <a:t>	for (</a:t>
            </a:r>
            <a:r>
              <a:rPr lang="en-US" sz="2400" b="1" dirty="0" err="1"/>
              <a:t>i</a:t>
            </a:r>
            <a:r>
              <a:rPr lang="en-US" sz="2400" b="1" dirty="0"/>
              <a:t>=0; </a:t>
            </a:r>
            <a:r>
              <a:rPr lang="en-US" sz="2400" b="1" dirty="0" err="1"/>
              <a:t>i</a:t>
            </a:r>
            <a:r>
              <a:rPr lang="en-US" sz="2400" b="1" dirty="0"/>
              <a:t>++, </a:t>
            </a:r>
            <a:r>
              <a:rPr lang="en-US" sz="2400" b="1" dirty="0" err="1"/>
              <a:t>i</a:t>
            </a:r>
            <a:r>
              <a:rPr lang="en-US" sz="2400" b="1" dirty="0"/>
              <a:t>&lt;n)</a:t>
            </a:r>
          </a:p>
          <a:p>
            <a:pPr marL="0" indent="0">
              <a:buNone/>
            </a:pPr>
            <a:r>
              <a:rPr lang="en-US" sz="2400" b="1" dirty="0"/>
              <a:t>	{</a:t>
            </a:r>
          </a:p>
          <a:p>
            <a:pPr marL="0" indent="0">
              <a:buNone/>
            </a:pPr>
            <a:r>
              <a:rPr lang="en-US" sz="2400" b="1" dirty="0"/>
              <a:t>		</a:t>
            </a:r>
            <a:r>
              <a:rPr lang="en-US" sz="2400" b="1" dirty="0">
                <a:solidFill>
                  <a:srgbClr val="0000A8"/>
                </a:solidFill>
              </a:rPr>
              <a:t>#pragma </a:t>
            </a:r>
            <a:r>
              <a:rPr lang="en-US" sz="2400" b="1" dirty="0" err="1">
                <a:solidFill>
                  <a:srgbClr val="0000A8"/>
                </a:solidFill>
              </a:rPr>
              <a:t>omp</a:t>
            </a:r>
            <a:r>
              <a:rPr lang="en-US" sz="2400" b="1" dirty="0">
                <a:solidFill>
                  <a:srgbClr val="0000A8"/>
                </a:solidFill>
              </a:rPr>
              <a:t> atomic 	</a:t>
            </a:r>
            <a:r>
              <a:rPr lang="en-US" sz="2400" b="1" dirty="0"/>
              <a:t>// Shortcut for critical section</a:t>
            </a:r>
          </a:p>
          <a:p>
            <a:pPr marL="0" indent="0">
              <a:buNone/>
            </a:pPr>
            <a:r>
              <a:rPr lang="en-US" sz="2400" b="1" dirty="0"/>
              <a:t>		</a:t>
            </a:r>
            <a:r>
              <a:rPr lang="en-US" sz="2400" b="1" dirty="0" err="1"/>
              <a:t>ic</a:t>
            </a:r>
            <a:r>
              <a:rPr lang="en-US" sz="2400" b="1" dirty="0"/>
              <a:t> = </a:t>
            </a:r>
            <a:r>
              <a:rPr lang="en-US" sz="2400" b="1" dirty="0" err="1"/>
              <a:t>ic</a:t>
            </a:r>
            <a:r>
              <a:rPr lang="en-US" sz="2400" b="1" dirty="0"/>
              <a:t> + </a:t>
            </a:r>
            <a:r>
              <a:rPr lang="en-US" sz="2400" b="1" dirty="0" err="1"/>
              <a:t>bigfunc</a:t>
            </a:r>
            <a:r>
              <a:rPr lang="en-US" sz="2400" b="1" dirty="0"/>
              <a:t>();    		// Little faster than critical overhead</a:t>
            </a:r>
          </a:p>
          <a:p>
            <a:pPr marL="0" indent="0">
              <a:buNone/>
            </a:pPr>
            <a:r>
              <a:rPr lang="en-US" sz="2400" b="1" dirty="0"/>
              <a:t>	}</a:t>
            </a:r>
          </a:p>
          <a:p>
            <a:pPr marL="0" indent="0">
              <a:buNone/>
            </a:pPr>
            <a:r>
              <a:rPr lang="en-US" sz="2400" b="1" dirty="0"/>
              <a:t>	</a:t>
            </a:r>
            <a:r>
              <a:rPr lang="en-US" sz="2400" b="1" dirty="0" err="1"/>
              <a:t>printf</a:t>
            </a:r>
            <a:r>
              <a:rPr lang="en-US" sz="2400" b="1" dirty="0"/>
              <a:t>("counter = %d\n", </a:t>
            </a:r>
            <a:r>
              <a:rPr lang="en-US" sz="2400" b="1" dirty="0" err="1"/>
              <a:t>ic</a:t>
            </a:r>
            <a:r>
              <a:rPr lang="en-US" sz="2400" b="1" dirty="0"/>
              <a:t>);</a:t>
            </a:r>
          </a:p>
          <a:p>
            <a:pPr marL="0" indent="0">
              <a:buNone/>
            </a:pPr>
            <a:r>
              <a:rPr lang="en-US" sz="2400" b="1" dirty="0"/>
              <a:t>  }</a:t>
            </a:r>
          </a:p>
          <a:p>
            <a:pPr marL="0" indent="0">
              <a:buNone/>
            </a:pPr>
            <a:r>
              <a:rPr lang="en-US" sz="2400" b="1" dirty="0"/>
              <a:t>Supported functions</a:t>
            </a:r>
          </a:p>
          <a:p>
            <a:pPr marL="569913" lvl="1" indent="0">
              <a:buNone/>
            </a:pPr>
            <a:r>
              <a:rPr lang="en-US" b="1" dirty="0"/>
              <a:t>+, *, -, /, &amp;, ^, |, &lt;&lt;, &gt;&gt;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Atomic 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Directive (Cont.)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46581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040999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b="1" dirty="0" err="1"/>
              <a:t>OpenMP</a:t>
            </a:r>
            <a:r>
              <a:rPr lang="en-US" b="1" dirty="0"/>
              <a:t> provides additional </a:t>
            </a:r>
            <a:r>
              <a:rPr lang="en-US" b="1" dirty="0">
                <a:solidFill>
                  <a:srgbClr val="0000A8"/>
                </a:solidFill>
              </a:rPr>
              <a:t>environment variables </a:t>
            </a:r>
            <a:r>
              <a:rPr lang="en-US" b="1" dirty="0"/>
              <a:t>that help control execution of parallel programs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OMP_NUM_THREADS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OMP_DYNAMIC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OMP_SCHEDULE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OMP_NESTED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Environment Variables in </a:t>
            </a:r>
            <a:r>
              <a:rPr lang="en-US" altLang="en-US" dirty="0" err="1">
                <a:ea typeface="ＭＳ Ｐゴシック" panose="020B0600070205080204" pitchFamily="34" charset="-128"/>
              </a:rPr>
              <a:t>OpenMP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455088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040999"/>
          </a:xfrm>
        </p:spPr>
        <p:txBody>
          <a:bodyPr>
            <a:noAutofit/>
          </a:bodyPr>
          <a:lstStyle/>
          <a:p>
            <a:pPr marL="130175" indent="0" algn="just">
              <a:buNone/>
            </a:pPr>
            <a:r>
              <a:rPr lang="en-US" b="1" dirty="0">
                <a:solidFill>
                  <a:srgbClr val="C00000"/>
                </a:solidFill>
              </a:rPr>
              <a:t>OMP_NUM_THREADS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Specifies the default </a:t>
            </a:r>
            <a:r>
              <a:rPr lang="en-US" b="1" dirty="0">
                <a:solidFill>
                  <a:srgbClr val="0000A8"/>
                </a:solidFill>
              </a:rPr>
              <a:t>number of threads </a:t>
            </a:r>
            <a:r>
              <a:rPr lang="en-US" b="1" dirty="0"/>
              <a:t>created upon entering a parallel </a:t>
            </a:r>
            <a:r>
              <a:rPr lang="en-US" b="1" dirty="0" smtClean="0"/>
              <a:t>region</a:t>
            </a:r>
            <a:endParaRPr lang="en-US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The number of threads can be </a:t>
            </a:r>
            <a:r>
              <a:rPr lang="en-US" b="1" dirty="0">
                <a:solidFill>
                  <a:srgbClr val="0000A8"/>
                </a:solidFill>
              </a:rPr>
              <a:t>changed</a:t>
            </a:r>
            <a:r>
              <a:rPr lang="en-US" b="1" dirty="0"/>
              <a:t> during run-time using: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err="1" smtClean="0"/>
              <a:t>omp_set_num_threads</a:t>
            </a:r>
            <a:r>
              <a:rPr lang="en-US" b="1" dirty="0" smtClean="0"/>
              <a:t> (</a:t>
            </a:r>
            <a:r>
              <a:rPr lang="en-US" b="1" dirty="0" err="1"/>
              <a:t>int</a:t>
            </a:r>
            <a:r>
              <a:rPr lang="en-US" b="1" dirty="0"/>
              <a:t> threads) routine  [OR]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err="1"/>
              <a:t>num_threads</a:t>
            </a:r>
            <a:r>
              <a:rPr lang="en-US" b="1" dirty="0"/>
              <a:t> </a:t>
            </a:r>
            <a:r>
              <a:rPr lang="en-US" b="1" dirty="0" smtClean="0"/>
              <a:t>clause ---&gt; </a:t>
            </a:r>
            <a:r>
              <a:rPr lang="en-US" b="1" dirty="0" err="1"/>
              <a:t>num_threads</a:t>
            </a:r>
            <a:r>
              <a:rPr lang="en-US" b="1" dirty="0"/>
              <a:t>(</a:t>
            </a:r>
            <a:r>
              <a:rPr lang="en-US" b="1" dirty="0" err="1"/>
              <a:t>int</a:t>
            </a:r>
            <a:r>
              <a:rPr lang="en-US" b="1" dirty="0"/>
              <a:t> threads)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Setting OMP_NUM_THREADS to 4 using </a:t>
            </a:r>
            <a:r>
              <a:rPr lang="en-US" b="1" dirty="0">
                <a:solidFill>
                  <a:srgbClr val="0000A8"/>
                </a:solidFill>
              </a:rPr>
              <a:t>bash</a:t>
            </a:r>
            <a:r>
              <a:rPr lang="en-US" b="1" dirty="0" smtClean="0"/>
              <a:t>: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“export OMP_NUM_THREADS=4” </a:t>
            </a:r>
            <a:endParaRPr lang="en-US" b="1" dirty="0"/>
          </a:p>
          <a:p>
            <a:pPr marL="130175" indent="0" algn="just">
              <a:buNone/>
            </a:pPr>
            <a:endParaRPr lang="en-US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Environment Variables in </a:t>
            </a:r>
            <a:r>
              <a:rPr lang="en-US" dirty="0" err="1" smtClean="0"/>
              <a:t>OpenMP</a:t>
            </a:r>
            <a:r>
              <a:rPr lang="en-US" dirty="0" smtClean="0"/>
              <a:t> (Cont.)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287585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040999"/>
          </a:xfrm>
        </p:spPr>
        <p:txBody>
          <a:bodyPr>
            <a:noAutofit/>
          </a:bodyPr>
          <a:lstStyle/>
          <a:p>
            <a:pPr marL="130175" indent="0" algn="just">
              <a:buNone/>
            </a:pPr>
            <a:r>
              <a:rPr lang="en-US" b="1" dirty="0" smtClean="0">
                <a:solidFill>
                  <a:srgbClr val="C00000"/>
                </a:solidFill>
              </a:rPr>
              <a:t>OMP_DYNAMIC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 smtClean="0"/>
              <a:t>When </a:t>
            </a:r>
            <a:r>
              <a:rPr lang="en-US" b="1" dirty="0"/>
              <a:t>set to TRUE, allows the number of threads to be </a:t>
            </a:r>
            <a:r>
              <a:rPr lang="en-US" b="1" dirty="0">
                <a:solidFill>
                  <a:srgbClr val="0000A8"/>
                </a:solidFill>
              </a:rPr>
              <a:t>controlled</a:t>
            </a:r>
            <a:r>
              <a:rPr lang="en-US" b="1" dirty="0"/>
              <a:t> at </a:t>
            </a:r>
            <a:r>
              <a:rPr lang="en-US" b="1" dirty="0" smtClean="0"/>
              <a:t>runtime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It </a:t>
            </a:r>
            <a:r>
              <a:rPr lang="en-US" b="1" dirty="0"/>
              <a:t>means </a:t>
            </a:r>
            <a:r>
              <a:rPr lang="en-US" b="1" dirty="0" err="1"/>
              <a:t>Openmp</a:t>
            </a:r>
            <a:r>
              <a:rPr lang="en-US" b="1" dirty="0"/>
              <a:t> will use its dynamic adjustment algorithm to create number of threads that may optimize system performance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In case </a:t>
            </a:r>
            <a:r>
              <a:rPr lang="en-US" b="1" dirty="0"/>
              <a:t>of </a:t>
            </a:r>
            <a:r>
              <a:rPr lang="en-US" b="1" dirty="0" smtClean="0"/>
              <a:t>TRUE, </a:t>
            </a:r>
            <a:r>
              <a:rPr lang="en-US" b="1" dirty="0"/>
              <a:t>total number of threads generated </a:t>
            </a:r>
            <a:r>
              <a:rPr lang="en-US" b="1" dirty="0">
                <a:solidFill>
                  <a:srgbClr val="0000A8"/>
                </a:solidFill>
              </a:rPr>
              <a:t>may not be equal</a:t>
            </a:r>
            <a:r>
              <a:rPr lang="en-US" b="1" dirty="0"/>
              <a:t> to the threads requested by using the </a:t>
            </a:r>
            <a:r>
              <a:rPr lang="en-US" b="1" dirty="0" err="1"/>
              <a:t>omp_set_num</a:t>
            </a:r>
            <a:r>
              <a:rPr lang="en-US" b="1" dirty="0"/>
              <a:t> threads() function or the </a:t>
            </a:r>
            <a:r>
              <a:rPr lang="en-US" b="1" dirty="0" err="1"/>
              <a:t>num_threads</a:t>
            </a:r>
            <a:r>
              <a:rPr lang="en-US" b="1" dirty="0"/>
              <a:t> </a:t>
            </a:r>
            <a:r>
              <a:rPr lang="en-US" b="1" dirty="0" smtClean="0"/>
              <a:t>clause</a:t>
            </a:r>
            <a:endParaRPr lang="en-US" b="1" dirty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In case </a:t>
            </a:r>
            <a:r>
              <a:rPr lang="en-US" b="1" dirty="0"/>
              <a:t>of FALSE, usually total </a:t>
            </a:r>
            <a:r>
              <a:rPr lang="en-US" b="1" dirty="0" smtClean="0"/>
              <a:t>number </a:t>
            </a:r>
            <a:r>
              <a:rPr lang="en-US" b="1" dirty="0"/>
              <a:t>of generated threads in a parallel region become </a:t>
            </a:r>
            <a:r>
              <a:rPr lang="en-US" b="1" dirty="0">
                <a:solidFill>
                  <a:srgbClr val="0000A8"/>
                </a:solidFill>
              </a:rPr>
              <a:t>as requested </a:t>
            </a:r>
            <a:r>
              <a:rPr lang="en-US" b="1" dirty="0"/>
              <a:t>by the </a:t>
            </a:r>
            <a:r>
              <a:rPr lang="en-US" b="1" dirty="0" err="1"/>
              <a:t>num_threads</a:t>
            </a:r>
            <a:r>
              <a:rPr lang="en-US" b="1" dirty="0"/>
              <a:t> </a:t>
            </a:r>
            <a:r>
              <a:rPr lang="en-US" b="1" dirty="0" smtClean="0"/>
              <a:t>clause</a:t>
            </a:r>
            <a:endParaRPr lang="en-US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Environment Variables in </a:t>
            </a:r>
            <a:r>
              <a:rPr lang="en-US" dirty="0" err="1" smtClean="0"/>
              <a:t>OpenMP</a:t>
            </a:r>
            <a:r>
              <a:rPr lang="en-US" dirty="0" smtClean="0"/>
              <a:t> (Cont.)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776380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040999"/>
          </a:xfrm>
        </p:spPr>
        <p:txBody>
          <a:bodyPr>
            <a:noAutofit/>
          </a:bodyPr>
          <a:lstStyle/>
          <a:p>
            <a:pPr marL="130175" indent="0" algn="just">
              <a:buNone/>
            </a:pPr>
            <a:r>
              <a:rPr lang="en-US" b="1" dirty="0">
                <a:solidFill>
                  <a:srgbClr val="C00000"/>
                </a:solidFill>
              </a:rPr>
              <a:t>OMP_DYNAMIC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 err="1" smtClean="0"/>
              <a:t>OpenMP</a:t>
            </a:r>
            <a:r>
              <a:rPr lang="en-US" b="1" dirty="0" smtClean="0"/>
              <a:t> </a:t>
            </a:r>
            <a:r>
              <a:rPr lang="en-US" b="1" dirty="0"/>
              <a:t>routines for setting/getting dynamic status:</a:t>
            </a:r>
          </a:p>
          <a:p>
            <a:pPr lvl="1" algn="just">
              <a:buFont typeface="Wingdings" panose="05000000000000000000" pitchFamily="2" charset="2"/>
              <a:buChar char="Ø"/>
            </a:pPr>
            <a:endParaRPr lang="en-US" b="1" dirty="0" smtClean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void </a:t>
            </a:r>
            <a:r>
              <a:rPr lang="en-US" b="1" dirty="0" err="1"/>
              <a:t>omp_set_dynamic</a:t>
            </a:r>
            <a:r>
              <a:rPr lang="en-US" b="1" dirty="0"/>
              <a:t> (</a:t>
            </a:r>
            <a:r>
              <a:rPr lang="en-US" b="1" dirty="0" err="1"/>
              <a:t>int</a:t>
            </a:r>
            <a:r>
              <a:rPr lang="en-US" b="1" dirty="0"/>
              <a:t> flag); //disables if flag=0</a:t>
            </a:r>
          </a:p>
          <a:p>
            <a:pPr lvl="1" algn="just">
              <a:buFont typeface="Wingdings" panose="05000000000000000000" pitchFamily="2" charset="2"/>
              <a:buChar char="Ø"/>
            </a:pPr>
            <a:endParaRPr lang="en-US" b="1" dirty="0" smtClean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Should </a:t>
            </a:r>
            <a:r>
              <a:rPr lang="en-US" b="1" dirty="0"/>
              <a:t>be called from outside of a parallel region</a:t>
            </a:r>
          </a:p>
          <a:p>
            <a:pPr lvl="1" algn="just">
              <a:buFont typeface="Wingdings" panose="05000000000000000000" pitchFamily="2" charset="2"/>
              <a:buChar char="Ø"/>
            </a:pPr>
            <a:endParaRPr lang="en-US" b="1" dirty="0" smtClean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err="1" smtClean="0"/>
              <a:t>int</a:t>
            </a:r>
            <a:r>
              <a:rPr lang="en-US" b="1" dirty="0" smtClean="0"/>
              <a:t> </a:t>
            </a:r>
            <a:r>
              <a:rPr lang="en-US" b="1" dirty="0" err="1"/>
              <a:t>omp_get_dynamic</a:t>
            </a:r>
            <a:r>
              <a:rPr lang="en-US" b="1" dirty="0"/>
              <a:t> (); //return value of dynamic status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Environment Variables in </a:t>
            </a:r>
            <a:r>
              <a:rPr lang="en-US" dirty="0" err="1" smtClean="0"/>
              <a:t>OpenMP</a:t>
            </a:r>
            <a:r>
              <a:rPr lang="en-US" dirty="0" smtClean="0"/>
              <a:t> (Cont.)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828658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040999"/>
          </a:xfrm>
        </p:spPr>
        <p:txBody>
          <a:bodyPr>
            <a:noAutofit/>
          </a:bodyPr>
          <a:lstStyle/>
          <a:p>
            <a:pPr marL="130175" indent="0" algn="just">
              <a:buNone/>
            </a:pPr>
            <a:r>
              <a:rPr lang="en-US" sz="2000" b="1" dirty="0" smtClean="0"/>
              <a:t>workers </a:t>
            </a:r>
            <a:r>
              <a:rPr lang="en-US" sz="2000" b="1" dirty="0"/>
              <a:t>= </a:t>
            </a:r>
            <a:r>
              <a:rPr lang="en-US" sz="2000" b="1" dirty="0" err="1"/>
              <a:t>omp_get_max_threads</a:t>
            </a:r>
            <a:r>
              <a:rPr lang="en-US" sz="2000" b="1" dirty="0"/>
              <a:t>(); </a:t>
            </a:r>
            <a:r>
              <a:rPr lang="en-US" sz="2000" b="1" dirty="0">
                <a:solidFill>
                  <a:srgbClr val="0000A8"/>
                </a:solidFill>
              </a:rPr>
              <a:t>//can use </a:t>
            </a:r>
            <a:r>
              <a:rPr lang="en-US" sz="2000" b="1" dirty="0" err="1">
                <a:solidFill>
                  <a:srgbClr val="0000A8"/>
                </a:solidFill>
              </a:rPr>
              <a:t>num_procs</a:t>
            </a:r>
            <a:endParaRPr lang="en-US" sz="2000" b="1" dirty="0">
              <a:solidFill>
                <a:srgbClr val="0000A8"/>
              </a:solidFill>
            </a:endParaRPr>
          </a:p>
          <a:p>
            <a:pPr marL="130175" indent="0" algn="just">
              <a:buNone/>
            </a:pPr>
            <a:r>
              <a:rPr lang="en-US" sz="2000" b="1" dirty="0" err="1"/>
              <a:t>printf</a:t>
            </a:r>
            <a:r>
              <a:rPr lang="en-US" sz="2000" b="1" dirty="0">
                <a:solidFill>
                  <a:srgbClr val="0000A8"/>
                </a:solidFill>
              </a:rPr>
              <a:t>("%d maximum allowed threads\n</a:t>
            </a:r>
            <a:r>
              <a:rPr lang="en-US" sz="2000" b="1" dirty="0"/>
              <a:t>", workers);</a:t>
            </a:r>
          </a:p>
          <a:p>
            <a:pPr marL="130175" indent="0" algn="just">
              <a:buNone/>
            </a:pPr>
            <a:r>
              <a:rPr lang="en-US" sz="2000" b="1" dirty="0" err="1"/>
              <a:t>printf</a:t>
            </a:r>
            <a:r>
              <a:rPr lang="en-US" sz="2000" b="1" dirty="0"/>
              <a:t>("</a:t>
            </a:r>
            <a:r>
              <a:rPr lang="en-US" sz="2000" b="1" dirty="0">
                <a:solidFill>
                  <a:srgbClr val="0000A8"/>
                </a:solidFill>
              </a:rPr>
              <a:t>total number of allocated cores are:%d\n</a:t>
            </a:r>
            <a:r>
              <a:rPr lang="en-US" sz="2000" b="1" dirty="0"/>
              <a:t>", </a:t>
            </a:r>
            <a:r>
              <a:rPr lang="en-US" sz="2000" b="1" dirty="0" err="1"/>
              <a:t>omp_get_num_procs</a:t>
            </a:r>
            <a:r>
              <a:rPr lang="en-US" sz="2000" b="1" dirty="0"/>
              <a:t>());</a:t>
            </a:r>
          </a:p>
          <a:p>
            <a:pPr marL="130175" indent="0" algn="just">
              <a:buNone/>
            </a:pPr>
            <a:r>
              <a:rPr lang="en-US" sz="2000" b="1" dirty="0" err="1"/>
              <a:t>omp_set_dynamic</a:t>
            </a:r>
            <a:r>
              <a:rPr lang="en-US" sz="2000" b="1" dirty="0"/>
              <a:t>(1</a:t>
            </a:r>
            <a:r>
              <a:rPr lang="en-US" sz="2000" b="1" dirty="0" smtClean="0"/>
              <a:t>);  </a:t>
            </a:r>
            <a:r>
              <a:rPr lang="en-US" sz="2000" b="1" dirty="0" smtClean="0">
                <a:solidFill>
                  <a:srgbClr val="0000A8"/>
                </a:solidFill>
              </a:rPr>
              <a:t>// dynamic adjustment enabled</a:t>
            </a:r>
            <a:endParaRPr lang="en-US" sz="2000" b="1" dirty="0">
              <a:solidFill>
                <a:srgbClr val="0000A8"/>
              </a:solidFill>
            </a:endParaRPr>
          </a:p>
          <a:p>
            <a:pPr marL="130175" indent="0" algn="just">
              <a:buNone/>
            </a:pPr>
            <a:r>
              <a:rPr lang="en-US" sz="2000" b="1" dirty="0" err="1"/>
              <a:t>omp_set_num_threads</a:t>
            </a:r>
            <a:r>
              <a:rPr lang="en-US" sz="2000" b="1" dirty="0"/>
              <a:t>(8);</a:t>
            </a:r>
          </a:p>
          <a:p>
            <a:pPr marL="130175" indent="0" algn="just">
              <a:buNone/>
            </a:pPr>
            <a:r>
              <a:rPr lang="en-US" sz="2000" b="1" dirty="0" err="1"/>
              <a:t>printf</a:t>
            </a:r>
            <a:r>
              <a:rPr lang="en-US" sz="2000" b="1" dirty="0"/>
              <a:t>("</a:t>
            </a:r>
            <a:r>
              <a:rPr lang="en-US" sz="2000" b="1" dirty="0">
                <a:solidFill>
                  <a:srgbClr val="0000A8"/>
                </a:solidFill>
              </a:rPr>
              <a:t>total number of requested when dynamic is true are:%d\n</a:t>
            </a:r>
            <a:r>
              <a:rPr lang="en-US" sz="2000" b="1" dirty="0"/>
              <a:t>", 1</a:t>
            </a:r>
            <a:r>
              <a:rPr lang="en-US" sz="2000" b="1" dirty="0" smtClean="0"/>
              <a:t>);</a:t>
            </a:r>
            <a:endParaRPr lang="en-US" sz="2000" b="1" dirty="0"/>
          </a:p>
          <a:p>
            <a:pPr marL="130175" indent="0" algn="just">
              <a:buNone/>
            </a:pPr>
            <a:r>
              <a:rPr lang="en-US" sz="2000" b="1" dirty="0"/>
              <a:t>#pragma </a:t>
            </a:r>
            <a:r>
              <a:rPr lang="en-US" sz="2000" b="1" dirty="0" err="1"/>
              <a:t>omp</a:t>
            </a:r>
            <a:r>
              <a:rPr lang="en-US" sz="2000" b="1" dirty="0"/>
              <a:t> parallel </a:t>
            </a:r>
            <a:r>
              <a:rPr lang="en-US" sz="2000" b="1" dirty="0" smtClean="0"/>
              <a:t>{</a:t>
            </a:r>
            <a:endParaRPr lang="en-US" sz="2000" b="1" dirty="0"/>
          </a:p>
          <a:p>
            <a:pPr marL="130175" indent="0" algn="just">
              <a:buNone/>
            </a:pPr>
            <a:r>
              <a:rPr lang="en-US" sz="2000" b="1" dirty="0" smtClean="0"/>
              <a:t>	#</a:t>
            </a:r>
            <a:r>
              <a:rPr lang="en-US" sz="2000" b="1" dirty="0"/>
              <a:t>pragma </a:t>
            </a:r>
            <a:r>
              <a:rPr lang="en-US" sz="2000" b="1" dirty="0" err="1"/>
              <a:t>omp</a:t>
            </a:r>
            <a:r>
              <a:rPr lang="en-US" sz="2000" b="1" dirty="0"/>
              <a:t> single </a:t>
            </a:r>
            <a:r>
              <a:rPr lang="en-US" sz="2000" b="1" dirty="0" err="1"/>
              <a:t>nowait</a:t>
            </a:r>
            <a:endParaRPr lang="en-US" sz="2000" b="1" dirty="0"/>
          </a:p>
          <a:p>
            <a:pPr marL="130175" indent="0" algn="just">
              <a:buNone/>
            </a:pPr>
            <a:r>
              <a:rPr lang="en-US" sz="2000" b="1" dirty="0" smtClean="0"/>
              <a:t>	</a:t>
            </a:r>
            <a:r>
              <a:rPr lang="en-US" sz="2000" b="1" dirty="0" err="1" smtClean="0"/>
              <a:t>printf</a:t>
            </a:r>
            <a:r>
              <a:rPr lang="en-US" sz="2000" b="1" dirty="0"/>
              <a:t>("</a:t>
            </a:r>
            <a:r>
              <a:rPr lang="en-US" sz="2000" b="1" dirty="0">
                <a:solidFill>
                  <a:srgbClr val="0000A8"/>
                </a:solidFill>
              </a:rPr>
              <a:t>total threads in parallel region1=%d:\n</a:t>
            </a:r>
            <a:r>
              <a:rPr lang="en-US" sz="2000" b="1" dirty="0"/>
              <a:t>", </a:t>
            </a:r>
            <a:r>
              <a:rPr lang="en-US" sz="2000" b="1" dirty="0" err="1"/>
              <a:t>omp_get_num_threads</a:t>
            </a:r>
            <a:r>
              <a:rPr lang="en-US" sz="2000" b="1" dirty="0"/>
              <a:t>());</a:t>
            </a:r>
          </a:p>
          <a:p>
            <a:pPr marL="130175" indent="0" algn="just">
              <a:buNone/>
            </a:pPr>
            <a:r>
              <a:rPr lang="en-US" sz="2000" b="1" dirty="0" smtClean="0"/>
              <a:t>	#</a:t>
            </a:r>
            <a:r>
              <a:rPr lang="en-US" sz="2000" b="1" dirty="0"/>
              <a:t>pragma </a:t>
            </a:r>
            <a:r>
              <a:rPr lang="en-US" sz="2000" b="1" dirty="0" err="1"/>
              <a:t>omp</a:t>
            </a:r>
            <a:r>
              <a:rPr lang="en-US" sz="2000" b="1" dirty="0"/>
              <a:t> for </a:t>
            </a:r>
          </a:p>
          <a:p>
            <a:pPr marL="130175" indent="0" algn="just">
              <a:buNone/>
            </a:pPr>
            <a:r>
              <a:rPr lang="en-US" sz="2000" b="1" dirty="0" smtClean="0"/>
              <a:t>	for </a:t>
            </a:r>
            <a:r>
              <a:rPr lang="en-US" sz="2000" b="1" dirty="0"/>
              <a:t>(</a:t>
            </a:r>
            <a:r>
              <a:rPr lang="en-US" sz="2000" b="1" dirty="0" err="1"/>
              <a:t>i</a:t>
            </a:r>
            <a:r>
              <a:rPr lang="en-US" sz="2000" b="1" dirty="0"/>
              <a:t> = 0; </a:t>
            </a:r>
            <a:r>
              <a:rPr lang="en-US" sz="2000" b="1" dirty="0" err="1"/>
              <a:t>i</a:t>
            </a:r>
            <a:r>
              <a:rPr lang="en-US" sz="2000" b="1" dirty="0"/>
              <a:t> &lt; </a:t>
            </a:r>
            <a:r>
              <a:rPr lang="en-US" sz="2000" b="1" dirty="0" err="1"/>
              <a:t>mult</a:t>
            </a:r>
            <a:r>
              <a:rPr lang="en-US" sz="2000" b="1" dirty="0"/>
              <a:t>; </a:t>
            </a:r>
            <a:r>
              <a:rPr lang="en-US" sz="2000" b="1" dirty="0" err="1"/>
              <a:t>i</a:t>
            </a:r>
            <a:r>
              <a:rPr lang="en-US" sz="2000" b="1" dirty="0"/>
              <a:t>++)</a:t>
            </a:r>
          </a:p>
          <a:p>
            <a:pPr marL="130175" indent="0" algn="just">
              <a:buNone/>
            </a:pPr>
            <a:r>
              <a:rPr lang="en-US" sz="2000" b="1" dirty="0" smtClean="0"/>
              <a:t>	{</a:t>
            </a:r>
            <a:r>
              <a:rPr lang="en-US" sz="2000" b="1" dirty="0"/>
              <a:t>a = </a:t>
            </a:r>
            <a:r>
              <a:rPr lang="en-US" sz="2000" b="1" dirty="0" err="1"/>
              <a:t>complex_func</a:t>
            </a:r>
            <a:r>
              <a:rPr lang="en-US" sz="2000" b="1" dirty="0" smtClean="0"/>
              <a:t>();}</a:t>
            </a:r>
          </a:p>
          <a:p>
            <a:pPr marL="130175" indent="0" algn="just">
              <a:buNone/>
            </a:pPr>
            <a:r>
              <a:rPr lang="en-US" sz="2000" b="1" dirty="0" smtClean="0"/>
              <a:t> }</a:t>
            </a:r>
            <a:endParaRPr lang="en-US" sz="2000" b="1" dirty="0"/>
          </a:p>
          <a:p>
            <a:pPr marL="130175" indent="0" algn="just">
              <a:buNone/>
            </a:pPr>
            <a:endParaRPr lang="en-US" sz="2000" b="1" dirty="0"/>
          </a:p>
          <a:p>
            <a:pPr marL="130175" indent="0" algn="just">
              <a:buNone/>
            </a:pPr>
            <a:endParaRPr lang="en-US" sz="2000" b="1" dirty="0"/>
          </a:p>
          <a:p>
            <a:pPr marL="130175" indent="0" algn="just">
              <a:buNone/>
            </a:pPr>
            <a:endParaRPr lang="en-US" sz="2000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OMP_Dynamic</a:t>
            </a:r>
            <a:r>
              <a:rPr lang="en-US" dirty="0" smtClean="0"/>
              <a:t> [</a:t>
            </a:r>
            <a:r>
              <a:rPr lang="en-US" dirty="0" err="1" smtClean="0"/>
              <a:t>dynamic.c</a:t>
            </a:r>
            <a:r>
              <a:rPr lang="en-US" dirty="0" smtClean="0"/>
              <a:t>]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5FF7B16C-5E5F-43F9-BB8C-F73EE3BC02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5858" y="5098476"/>
            <a:ext cx="5206430" cy="1336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42235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040999"/>
          </a:xfrm>
        </p:spPr>
        <p:txBody>
          <a:bodyPr>
            <a:noAutofit/>
          </a:bodyPr>
          <a:lstStyle/>
          <a:p>
            <a:pPr marL="130175" indent="0" algn="just">
              <a:buNone/>
            </a:pPr>
            <a:r>
              <a:rPr lang="en-US" sz="2000" b="1" dirty="0" err="1" smtClean="0"/>
              <a:t>omp_set_dynamic</a:t>
            </a:r>
            <a:r>
              <a:rPr lang="en-US" sz="2000" b="1" dirty="0" smtClean="0"/>
              <a:t>(0); </a:t>
            </a:r>
            <a:r>
              <a:rPr lang="en-US" sz="2000" b="1" dirty="0">
                <a:solidFill>
                  <a:srgbClr val="0000A8"/>
                </a:solidFill>
              </a:rPr>
              <a:t>// dynamic adjustment </a:t>
            </a:r>
            <a:r>
              <a:rPr lang="en-US" sz="2000" b="1" dirty="0" smtClean="0">
                <a:solidFill>
                  <a:srgbClr val="0000A8"/>
                </a:solidFill>
              </a:rPr>
              <a:t>disabled</a:t>
            </a:r>
            <a:endParaRPr lang="en-US" sz="2000" b="1" dirty="0"/>
          </a:p>
          <a:p>
            <a:pPr marL="130175" indent="0" algn="just">
              <a:buNone/>
            </a:pPr>
            <a:r>
              <a:rPr lang="en-US" sz="2000" b="1" dirty="0" err="1"/>
              <a:t>omp_set_num_threads</a:t>
            </a:r>
            <a:r>
              <a:rPr lang="en-US" sz="2000" b="1" dirty="0"/>
              <a:t>(8);</a:t>
            </a:r>
          </a:p>
          <a:p>
            <a:pPr marL="130175" indent="0" algn="just">
              <a:buNone/>
            </a:pPr>
            <a:r>
              <a:rPr lang="en-US" sz="2000" b="1" dirty="0" err="1"/>
              <a:t>printf</a:t>
            </a:r>
            <a:r>
              <a:rPr lang="en-US" sz="2000" b="1" dirty="0"/>
              <a:t>("</a:t>
            </a:r>
            <a:r>
              <a:rPr lang="en-US" sz="2000" b="1" dirty="0">
                <a:solidFill>
                  <a:srgbClr val="0000A8"/>
                </a:solidFill>
              </a:rPr>
              <a:t>total number of requested when dynamic is false are:%d\n</a:t>
            </a:r>
            <a:r>
              <a:rPr lang="en-US" sz="2000" b="1" dirty="0"/>
              <a:t>", 8</a:t>
            </a:r>
            <a:r>
              <a:rPr lang="en-US" sz="2000" b="1" dirty="0" smtClean="0"/>
              <a:t>); </a:t>
            </a:r>
            <a:endParaRPr lang="en-US" sz="2000" b="1" dirty="0"/>
          </a:p>
          <a:p>
            <a:pPr marL="130175" indent="0" algn="just">
              <a:buNone/>
            </a:pPr>
            <a:r>
              <a:rPr lang="en-US" sz="2000" b="1" dirty="0"/>
              <a:t>#pragma </a:t>
            </a:r>
            <a:r>
              <a:rPr lang="en-US" sz="2000" b="1" dirty="0" err="1"/>
              <a:t>omp</a:t>
            </a:r>
            <a:r>
              <a:rPr lang="en-US" sz="2000" b="1" dirty="0"/>
              <a:t> parallel </a:t>
            </a:r>
          </a:p>
          <a:p>
            <a:pPr marL="130175" indent="0" algn="just">
              <a:buNone/>
            </a:pPr>
            <a:r>
              <a:rPr lang="en-US" sz="2000" b="1" dirty="0"/>
              <a:t>{</a:t>
            </a:r>
          </a:p>
          <a:p>
            <a:pPr marL="130175" indent="0" algn="just">
              <a:buNone/>
            </a:pPr>
            <a:r>
              <a:rPr lang="en-US" sz="2000" b="1" dirty="0"/>
              <a:t>#pragma </a:t>
            </a:r>
            <a:r>
              <a:rPr lang="en-US" sz="2000" b="1" dirty="0" err="1"/>
              <a:t>omp</a:t>
            </a:r>
            <a:r>
              <a:rPr lang="en-US" sz="2000" b="1" dirty="0"/>
              <a:t> single </a:t>
            </a:r>
            <a:r>
              <a:rPr lang="en-US" sz="2000" b="1" dirty="0" err="1"/>
              <a:t>nowait</a:t>
            </a:r>
            <a:endParaRPr lang="en-US" sz="2000" b="1" dirty="0"/>
          </a:p>
          <a:p>
            <a:pPr marL="130175" indent="0" algn="just">
              <a:buNone/>
            </a:pPr>
            <a:r>
              <a:rPr lang="en-US" sz="2000" b="1" dirty="0" err="1"/>
              <a:t>printf</a:t>
            </a:r>
            <a:r>
              <a:rPr lang="en-US" sz="2000" b="1" dirty="0"/>
              <a:t>("</a:t>
            </a:r>
            <a:r>
              <a:rPr lang="en-US" sz="2000" b="1" dirty="0">
                <a:solidFill>
                  <a:srgbClr val="0000A8"/>
                </a:solidFill>
              </a:rPr>
              <a:t>total threads in parallel region2=%d</a:t>
            </a:r>
            <a:r>
              <a:rPr lang="en-US" sz="2000" b="1" dirty="0"/>
              <a:t>:\n", </a:t>
            </a:r>
            <a:r>
              <a:rPr lang="en-US" sz="2000" b="1" dirty="0" err="1"/>
              <a:t>omp_get_num_threads</a:t>
            </a:r>
            <a:r>
              <a:rPr lang="en-US" sz="2000" b="1" dirty="0"/>
              <a:t>());</a:t>
            </a:r>
          </a:p>
          <a:p>
            <a:pPr marL="130175" indent="0" algn="just">
              <a:buNone/>
            </a:pPr>
            <a:r>
              <a:rPr lang="en-US" sz="2000" b="1" dirty="0"/>
              <a:t>#pragma </a:t>
            </a:r>
            <a:r>
              <a:rPr lang="en-US" sz="2000" b="1" dirty="0" err="1"/>
              <a:t>omp</a:t>
            </a:r>
            <a:r>
              <a:rPr lang="en-US" sz="2000" b="1" dirty="0"/>
              <a:t> for</a:t>
            </a:r>
          </a:p>
          <a:p>
            <a:pPr marL="130175" indent="0" algn="just">
              <a:buNone/>
            </a:pPr>
            <a:r>
              <a:rPr lang="en-US" sz="2000" b="1" dirty="0"/>
              <a:t>for (</a:t>
            </a:r>
            <a:r>
              <a:rPr lang="en-US" sz="2000" b="1" dirty="0" err="1"/>
              <a:t>i</a:t>
            </a:r>
            <a:r>
              <a:rPr lang="en-US" sz="2000" b="1" dirty="0"/>
              <a:t> = 0; </a:t>
            </a:r>
            <a:r>
              <a:rPr lang="en-US" sz="2000" b="1" dirty="0" err="1"/>
              <a:t>i</a:t>
            </a:r>
            <a:r>
              <a:rPr lang="en-US" sz="2000" b="1" dirty="0"/>
              <a:t> &lt; </a:t>
            </a:r>
            <a:r>
              <a:rPr lang="en-US" sz="2000" b="1" dirty="0" err="1"/>
              <a:t>mult</a:t>
            </a:r>
            <a:r>
              <a:rPr lang="en-US" sz="2000" b="1" dirty="0"/>
              <a:t>; </a:t>
            </a:r>
            <a:r>
              <a:rPr lang="en-US" sz="2000" b="1" dirty="0" err="1"/>
              <a:t>i</a:t>
            </a:r>
            <a:r>
              <a:rPr lang="en-US" sz="2000" b="1" dirty="0"/>
              <a:t>++)</a:t>
            </a:r>
          </a:p>
          <a:p>
            <a:pPr marL="130175" indent="0" algn="just">
              <a:buNone/>
            </a:pPr>
            <a:r>
              <a:rPr lang="en-US" sz="2000" b="1" dirty="0"/>
              <a:t>{a = </a:t>
            </a:r>
            <a:r>
              <a:rPr lang="en-US" sz="2000" b="1" dirty="0" err="1"/>
              <a:t>complex_func</a:t>
            </a:r>
            <a:r>
              <a:rPr lang="en-US" sz="2000" b="1" dirty="0"/>
              <a:t>();}</a:t>
            </a:r>
          </a:p>
          <a:p>
            <a:pPr marL="130175" indent="0" algn="just">
              <a:buNone/>
            </a:pPr>
            <a:r>
              <a:rPr lang="en-US" sz="2000" b="1" dirty="0"/>
              <a:t>}</a:t>
            </a:r>
          </a:p>
          <a:p>
            <a:pPr marL="130175" indent="0" algn="just">
              <a:buNone/>
            </a:pPr>
            <a:endParaRPr lang="en-US" sz="2000" b="1" dirty="0"/>
          </a:p>
          <a:p>
            <a:pPr marL="130175" indent="0" algn="just">
              <a:buNone/>
            </a:pPr>
            <a:endParaRPr lang="en-US" sz="2000" b="1" dirty="0"/>
          </a:p>
          <a:p>
            <a:pPr marL="130175" indent="0" algn="just">
              <a:buNone/>
            </a:pPr>
            <a:endParaRPr lang="en-US" sz="2000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OMP_DYNAMIC [</a:t>
            </a:r>
            <a:r>
              <a:rPr lang="en-US" dirty="0" err="1"/>
              <a:t>dynamic.c</a:t>
            </a:r>
            <a:r>
              <a:rPr lang="en-US" dirty="0" smtClean="0"/>
              <a:t>] (Cont.)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7ECA1FF5-C570-4785-8C62-29B8680A87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9202" y="4595885"/>
            <a:ext cx="5919848" cy="507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84005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040999"/>
          </a:xfrm>
        </p:spPr>
        <p:txBody>
          <a:bodyPr>
            <a:noAutofit/>
          </a:bodyPr>
          <a:lstStyle/>
          <a:p>
            <a:pPr marL="130175" indent="0" algn="just">
              <a:buNone/>
            </a:pPr>
            <a:r>
              <a:rPr lang="en-US" sz="3200" b="1" dirty="0" smtClean="0">
                <a:solidFill>
                  <a:srgbClr val="C00000"/>
                </a:solidFill>
              </a:rPr>
              <a:t>OMP_SCHEDULE</a:t>
            </a:r>
            <a:endParaRPr lang="en-US" sz="32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Controls the </a:t>
            </a:r>
            <a:r>
              <a:rPr lang="en-US" sz="3200" b="1" dirty="0">
                <a:solidFill>
                  <a:srgbClr val="0000A8"/>
                </a:solidFill>
              </a:rPr>
              <a:t>assignment of iteration spaces </a:t>
            </a:r>
            <a:r>
              <a:rPr lang="en-US" sz="3200" b="1" dirty="0"/>
              <a:t>associated with </a:t>
            </a:r>
            <a:r>
              <a:rPr lang="en-US" sz="3200" b="1" dirty="0" smtClean="0"/>
              <a:t>“for”</a:t>
            </a:r>
            <a:r>
              <a:rPr lang="en-US" sz="3200" b="1" dirty="0" smtClean="0">
                <a:solidFill>
                  <a:srgbClr val="0000A8"/>
                </a:solidFill>
              </a:rPr>
              <a:t> </a:t>
            </a:r>
            <a:r>
              <a:rPr lang="en-US" sz="3200" b="1" dirty="0"/>
              <a:t>directives that use the runtime scheduling class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Possible values: </a:t>
            </a:r>
            <a:r>
              <a:rPr lang="en-US" sz="3200" b="1" dirty="0">
                <a:solidFill>
                  <a:srgbClr val="0000A8"/>
                </a:solidFill>
              </a:rPr>
              <a:t>static</a:t>
            </a:r>
            <a:r>
              <a:rPr lang="en-US" sz="3200" b="1" dirty="0"/>
              <a:t>, </a:t>
            </a:r>
            <a:r>
              <a:rPr lang="en-US" sz="3200" b="1" dirty="0">
                <a:solidFill>
                  <a:srgbClr val="0000A8"/>
                </a:solidFill>
              </a:rPr>
              <a:t>dynamic</a:t>
            </a:r>
            <a:r>
              <a:rPr lang="en-US" sz="3200" b="1" dirty="0"/>
              <a:t>, and </a:t>
            </a:r>
            <a:r>
              <a:rPr lang="en-US" sz="3200" b="1" dirty="0">
                <a:solidFill>
                  <a:srgbClr val="0000A8"/>
                </a:solidFill>
              </a:rPr>
              <a:t>guided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/>
              <a:t>Can also be used along with chunk size [optional]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If chunk size is not </a:t>
            </a:r>
            <a:r>
              <a:rPr lang="en-US" sz="3200" b="1" dirty="0" smtClean="0"/>
              <a:t>specified, then </a:t>
            </a:r>
            <a:r>
              <a:rPr lang="en-US" sz="3200" b="1" dirty="0">
                <a:solidFill>
                  <a:srgbClr val="0000A8"/>
                </a:solidFill>
              </a:rPr>
              <a:t>default </a:t>
            </a:r>
            <a:r>
              <a:rPr lang="en-US" sz="3200" b="1" dirty="0" smtClean="0">
                <a:solidFill>
                  <a:srgbClr val="0000A8"/>
                </a:solidFill>
              </a:rPr>
              <a:t>chunk-size </a:t>
            </a:r>
            <a:r>
              <a:rPr lang="en-US" sz="3200" b="1" dirty="0" smtClean="0"/>
              <a:t>of </a:t>
            </a:r>
            <a:r>
              <a:rPr lang="en-US" sz="3200" b="1" dirty="0"/>
              <a:t>1 is </a:t>
            </a:r>
            <a:r>
              <a:rPr lang="en-US" sz="3200" b="1" dirty="0" smtClean="0"/>
              <a:t>used</a:t>
            </a:r>
            <a:endParaRPr lang="en-US" sz="32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Setting OMP_SCHEDULE to guided with minimum chunk size of 4 using </a:t>
            </a:r>
            <a:r>
              <a:rPr lang="en-US" sz="3200" b="1" dirty="0">
                <a:solidFill>
                  <a:srgbClr val="0000A8"/>
                </a:solidFill>
              </a:rPr>
              <a:t>Ubuntu</a:t>
            </a:r>
            <a:r>
              <a:rPr lang="en-US" sz="3200" b="1" dirty="0"/>
              <a:t>-based terminal: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“ </a:t>
            </a:r>
            <a:r>
              <a:rPr lang="en-US" b="1" dirty="0"/>
              <a:t>export OMP_SCHEDULE= </a:t>
            </a:r>
            <a:r>
              <a:rPr lang="en-US" b="1" dirty="0" smtClean="0"/>
              <a:t>"guided,4” ”</a:t>
            </a:r>
            <a:endParaRPr lang="en-US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sz="3200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Environment Variables in </a:t>
            </a:r>
            <a:r>
              <a:rPr lang="en-US" dirty="0" err="1"/>
              <a:t>OpenMP</a:t>
            </a:r>
            <a:r>
              <a:rPr lang="en-US" dirty="0"/>
              <a:t> (Cont.)</a:t>
            </a:r>
          </a:p>
        </p:txBody>
      </p:sp>
    </p:spTree>
    <p:extLst>
      <p:ext uri="{BB962C8B-B14F-4D97-AF65-F5344CB8AC3E}">
        <p14:creationId xmlns:p14="http://schemas.microsoft.com/office/powerpoint/2010/main" val="382096473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040999"/>
          </a:xfrm>
        </p:spPr>
        <p:txBody>
          <a:bodyPr>
            <a:noAutofit/>
          </a:bodyPr>
          <a:lstStyle/>
          <a:p>
            <a:pPr marL="130175" indent="0" algn="just">
              <a:buNone/>
            </a:pPr>
            <a:r>
              <a:rPr lang="en-US" sz="3200" b="1" dirty="0">
                <a:solidFill>
                  <a:srgbClr val="C00000"/>
                </a:solidFill>
              </a:rPr>
              <a:t>OMP_NESTED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Default value is </a:t>
            </a:r>
            <a:r>
              <a:rPr lang="en-US" sz="3200" b="1" dirty="0">
                <a:solidFill>
                  <a:srgbClr val="0000A8"/>
                </a:solidFill>
              </a:rPr>
              <a:t>FALSE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/>
              <a:t>While using nested parallel pragma inside another, the nested one is executed by the </a:t>
            </a:r>
            <a:r>
              <a:rPr lang="en-US" b="1" dirty="0">
                <a:solidFill>
                  <a:srgbClr val="0000A8"/>
                </a:solidFill>
              </a:rPr>
              <a:t>original team </a:t>
            </a:r>
            <a:r>
              <a:rPr lang="en-US" b="1" dirty="0"/>
              <a:t>instead of making new thread </a:t>
            </a:r>
            <a:r>
              <a:rPr lang="en-US" b="1" dirty="0" smtClean="0"/>
              <a:t>team </a:t>
            </a:r>
            <a:endParaRPr lang="en-US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When </a:t>
            </a:r>
            <a:r>
              <a:rPr lang="en-US" sz="3200" b="1" dirty="0">
                <a:solidFill>
                  <a:srgbClr val="0000A8"/>
                </a:solidFill>
              </a:rPr>
              <a:t>TRUE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/>
              <a:t>Enables nested parallelism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/>
              <a:t>While using nested parallel pragma code inside another, it makes a </a:t>
            </a:r>
            <a:r>
              <a:rPr lang="en-US" b="1" dirty="0">
                <a:solidFill>
                  <a:srgbClr val="0000A8"/>
                </a:solidFill>
              </a:rPr>
              <a:t>new team of threads </a:t>
            </a:r>
            <a:r>
              <a:rPr lang="en-US" b="1" dirty="0"/>
              <a:t>for executing the nested one.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Use </a:t>
            </a:r>
            <a:r>
              <a:rPr lang="en-US" sz="3200" b="1" dirty="0" err="1">
                <a:solidFill>
                  <a:srgbClr val="0000A8"/>
                </a:solidFill>
              </a:rPr>
              <a:t>omp_set_nested</a:t>
            </a:r>
            <a:r>
              <a:rPr lang="en-US" sz="3200" b="1" dirty="0">
                <a:solidFill>
                  <a:srgbClr val="0000A8"/>
                </a:solidFill>
              </a:rPr>
              <a:t>(</a:t>
            </a:r>
            <a:r>
              <a:rPr lang="en-US" sz="3200" b="1" dirty="0" err="1">
                <a:solidFill>
                  <a:srgbClr val="0000A8"/>
                </a:solidFill>
              </a:rPr>
              <a:t>int</a:t>
            </a:r>
            <a:r>
              <a:rPr lang="en-US" sz="3200" b="1" dirty="0">
                <a:solidFill>
                  <a:srgbClr val="0000A8"/>
                </a:solidFill>
              </a:rPr>
              <a:t> </a:t>
            </a:r>
            <a:r>
              <a:rPr lang="en-US" sz="3200" b="1" dirty="0" err="1">
                <a:solidFill>
                  <a:srgbClr val="0000A8"/>
                </a:solidFill>
              </a:rPr>
              <a:t>val</a:t>
            </a:r>
            <a:r>
              <a:rPr lang="en-US" sz="3200" b="1" dirty="0">
                <a:solidFill>
                  <a:srgbClr val="0000A8"/>
                </a:solidFill>
              </a:rPr>
              <a:t>) </a:t>
            </a:r>
            <a:r>
              <a:rPr lang="en-US" sz="3200" b="1" dirty="0"/>
              <a:t>with non-zero value to set this variable to </a:t>
            </a:r>
            <a:r>
              <a:rPr lang="en-US" sz="3200" b="1" dirty="0" smtClean="0"/>
              <a:t>TRUE</a:t>
            </a:r>
            <a:endParaRPr lang="en-US" sz="3200" b="1" dirty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/>
              <a:t>When called with ‘0’ as argument, it set the variable to </a:t>
            </a:r>
            <a:r>
              <a:rPr lang="en-US" b="1" dirty="0">
                <a:solidFill>
                  <a:srgbClr val="0000A8"/>
                </a:solidFill>
              </a:rPr>
              <a:t>FALSE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3200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Environment Variables in </a:t>
            </a:r>
            <a:r>
              <a:rPr lang="en-US" dirty="0" err="1"/>
              <a:t>OpenMP</a:t>
            </a:r>
            <a:r>
              <a:rPr lang="en-US" dirty="0"/>
              <a:t> (Cont.)</a:t>
            </a:r>
          </a:p>
        </p:txBody>
      </p:sp>
    </p:spTree>
    <p:extLst>
      <p:ext uri="{BB962C8B-B14F-4D97-AF65-F5344CB8AC3E}">
        <p14:creationId xmlns:p14="http://schemas.microsoft.com/office/powerpoint/2010/main" val="14715487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040999"/>
          </a:xfrm>
        </p:spPr>
        <p:txBody>
          <a:bodyPr>
            <a:noAutofit/>
          </a:bodyPr>
          <a:lstStyle/>
          <a:p>
            <a:pPr marL="130175" indent="0" algn="just">
              <a:buNone/>
            </a:pPr>
            <a:r>
              <a:rPr lang="en-US" sz="2000" b="1" dirty="0" err="1" smtClean="0">
                <a:solidFill>
                  <a:srgbClr val="0000A8"/>
                </a:solidFill>
              </a:rPr>
              <a:t>omp_set_nested</a:t>
            </a:r>
            <a:r>
              <a:rPr lang="en-US" sz="2000" b="1" dirty="0" smtClean="0">
                <a:solidFill>
                  <a:srgbClr val="0000A8"/>
                </a:solidFill>
              </a:rPr>
              <a:t>(0</a:t>
            </a:r>
            <a:r>
              <a:rPr lang="en-US" sz="2000" b="1" dirty="0">
                <a:solidFill>
                  <a:srgbClr val="0000A8"/>
                </a:solidFill>
              </a:rPr>
              <a:t>);</a:t>
            </a:r>
          </a:p>
          <a:p>
            <a:pPr marL="130175" indent="0" algn="just">
              <a:buNone/>
            </a:pPr>
            <a:r>
              <a:rPr lang="en-US" sz="2000" b="1" dirty="0"/>
              <a:t>#pragma </a:t>
            </a:r>
            <a:r>
              <a:rPr lang="en-US" sz="2000" b="1" dirty="0" err="1"/>
              <a:t>omp</a:t>
            </a:r>
            <a:r>
              <a:rPr lang="en-US" sz="2000" b="1" dirty="0"/>
              <a:t> parallel </a:t>
            </a:r>
            <a:r>
              <a:rPr lang="en-US" sz="2000" b="1" dirty="0" err="1"/>
              <a:t>num_threads</a:t>
            </a:r>
            <a:r>
              <a:rPr lang="en-US" sz="2000" b="1" dirty="0"/>
              <a:t>(2</a:t>
            </a:r>
            <a:r>
              <a:rPr lang="en-US" sz="2000" b="1" dirty="0" smtClean="0"/>
              <a:t>) {</a:t>
            </a:r>
            <a:endParaRPr lang="en-US" sz="2000" b="1" dirty="0"/>
          </a:p>
          <a:p>
            <a:pPr marL="130175" indent="0" algn="just">
              <a:buNone/>
            </a:pPr>
            <a:r>
              <a:rPr lang="en-US" sz="2000" b="1" dirty="0" smtClean="0"/>
              <a:t>	#</a:t>
            </a:r>
            <a:r>
              <a:rPr lang="en-US" sz="2000" b="1" dirty="0"/>
              <a:t>pragma </a:t>
            </a:r>
            <a:r>
              <a:rPr lang="en-US" sz="2000" b="1" dirty="0" err="1"/>
              <a:t>omp</a:t>
            </a:r>
            <a:r>
              <a:rPr lang="en-US" sz="2000" b="1" dirty="0"/>
              <a:t> single</a:t>
            </a:r>
          </a:p>
          <a:p>
            <a:pPr marL="130175" indent="0" algn="just">
              <a:buNone/>
            </a:pPr>
            <a:r>
              <a:rPr lang="en-US" sz="2000" b="1" dirty="0" smtClean="0"/>
              <a:t>	</a:t>
            </a:r>
            <a:r>
              <a:rPr lang="en-US" sz="2000" b="1" dirty="0" err="1" smtClean="0"/>
              <a:t>printf</a:t>
            </a:r>
            <a:r>
              <a:rPr lang="en-US" sz="2000" b="1" dirty="0"/>
              <a:t>("</a:t>
            </a:r>
            <a:r>
              <a:rPr lang="en-US" sz="2000" b="1" dirty="0">
                <a:solidFill>
                  <a:srgbClr val="0000A8"/>
                </a:solidFill>
              </a:rPr>
              <a:t>Level 1: number of threads in the team : %d\n</a:t>
            </a:r>
            <a:r>
              <a:rPr lang="en-US" sz="2000" b="1" dirty="0"/>
              <a:t>", 				   </a:t>
            </a:r>
            <a:r>
              <a:rPr lang="en-US" sz="2000" b="1" dirty="0" smtClean="0"/>
              <a:t>		</a:t>
            </a:r>
            <a:r>
              <a:rPr lang="en-US" sz="2000" b="1" dirty="0" err="1" smtClean="0"/>
              <a:t>omp_get_num_threads</a:t>
            </a:r>
            <a:r>
              <a:rPr lang="en-US" sz="2000" b="1" dirty="0" smtClean="0"/>
              <a:t>());</a:t>
            </a:r>
          </a:p>
          <a:p>
            <a:pPr marL="130175" indent="0" algn="just">
              <a:buNone/>
            </a:pPr>
            <a:endParaRPr lang="en-US" sz="2000" b="1" dirty="0"/>
          </a:p>
          <a:p>
            <a:pPr marL="130175" indent="0" algn="just">
              <a:buNone/>
            </a:pPr>
            <a:r>
              <a:rPr lang="en-US" sz="2000" b="1" dirty="0" smtClean="0"/>
              <a:t>	#</a:t>
            </a:r>
            <a:r>
              <a:rPr lang="en-US" sz="2000" b="1" dirty="0"/>
              <a:t>pragma </a:t>
            </a:r>
            <a:r>
              <a:rPr lang="en-US" sz="2000" b="1" dirty="0" err="1"/>
              <a:t>omp</a:t>
            </a:r>
            <a:r>
              <a:rPr lang="en-US" sz="2000" b="1" dirty="0"/>
              <a:t> parallel </a:t>
            </a:r>
            <a:r>
              <a:rPr lang="en-US" sz="2000" b="1" dirty="0" err="1"/>
              <a:t>num_threads</a:t>
            </a:r>
            <a:r>
              <a:rPr lang="en-US" sz="2000" b="1" dirty="0"/>
              <a:t>(4)</a:t>
            </a:r>
          </a:p>
          <a:p>
            <a:pPr marL="130175" indent="0" algn="just">
              <a:buNone/>
            </a:pPr>
            <a:r>
              <a:rPr lang="en-US" sz="2000" b="1" dirty="0" smtClean="0"/>
              <a:t>	{</a:t>
            </a:r>
            <a:endParaRPr lang="en-US" sz="2000" b="1" dirty="0"/>
          </a:p>
          <a:p>
            <a:pPr marL="130175" indent="0" algn="just">
              <a:buNone/>
            </a:pPr>
            <a:r>
              <a:rPr lang="en-US" sz="2000" b="1" dirty="0" smtClean="0"/>
              <a:t>		#</a:t>
            </a:r>
            <a:r>
              <a:rPr lang="en-US" sz="2000" b="1" dirty="0"/>
              <a:t>pragma </a:t>
            </a:r>
            <a:r>
              <a:rPr lang="en-US" sz="2000" b="1" dirty="0" err="1"/>
              <a:t>omp</a:t>
            </a:r>
            <a:r>
              <a:rPr lang="en-US" sz="2000" b="1" dirty="0"/>
              <a:t> single</a:t>
            </a:r>
          </a:p>
          <a:p>
            <a:pPr marL="130175" indent="0" algn="just">
              <a:buNone/>
            </a:pPr>
            <a:r>
              <a:rPr lang="en-US" sz="2000" b="1" dirty="0" smtClean="0"/>
              <a:t>		</a:t>
            </a:r>
            <a:r>
              <a:rPr lang="en-US" sz="2000" b="1" dirty="0" err="1" smtClean="0"/>
              <a:t>printf</a:t>
            </a:r>
            <a:r>
              <a:rPr lang="en-US" sz="2000" b="1" dirty="0"/>
              <a:t>("</a:t>
            </a:r>
            <a:r>
              <a:rPr lang="en-US" sz="2000" b="1" dirty="0">
                <a:solidFill>
                  <a:srgbClr val="0000A8"/>
                </a:solidFill>
              </a:rPr>
              <a:t>Level 2: number of threads in the team : %d\n</a:t>
            </a:r>
            <a:r>
              <a:rPr lang="en-US" sz="2000" b="1" dirty="0"/>
              <a:t>",</a:t>
            </a:r>
          </a:p>
          <a:p>
            <a:pPr marL="130175" indent="0" algn="just">
              <a:buNone/>
            </a:pPr>
            <a:r>
              <a:rPr lang="en-US" sz="2000" b="1" dirty="0"/>
              <a:t>        </a:t>
            </a:r>
            <a:r>
              <a:rPr lang="en-US" sz="2000" b="1" dirty="0" smtClean="0"/>
              <a:t>			</a:t>
            </a:r>
            <a:r>
              <a:rPr lang="en-US" sz="2000" b="1" dirty="0" err="1" smtClean="0"/>
              <a:t>omp_get_num_threads</a:t>
            </a:r>
            <a:r>
              <a:rPr lang="en-US" sz="2000" b="1" dirty="0" smtClean="0"/>
              <a:t>());</a:t>
            </a:r>
          </a:p>
          <a:p>
            <a:pPr marL="130175" indent="0" algn="just">
              <a:buNone/>
            </a:pPr>
            <a:r>
              <a:rPr lang="en-US" sz="2000" b="1" dirty="0" smtClean="0"/>
              <a:t>	}</a:t>
            </a:r>
          </a:p>
          <a:p>
            <a:pPr marL="130175" indent="0" algn="just">
              <a:buNone/>
            </a:pPr>
            <a:r>
              <a:rPr lang="en-US" sz="2000" b="1" dirty="0" smtClean="0"/>
              <a:t>}</a:t>
            </a:r>
            <a:endParaRPr lang="en-US" sz="2000" b="1" dirty="0"/>
          </a:p>
          <a:p>
            <a:pPr marL="130175" indent="0" algn="just">
              <a:buNone/>
            </a:pPr>
            <a:endParaRPr lang="en-US" sz="2000" b="1" dirty="0"/>
          </a:p>
          <a:p>
            <a:pPr marL="130175" indent="0" algn="just">
              <a:buNone/>
            </a:pPr>
            <a:endParaRPr lang="en-US" sz="2000" b="1" dirty="0"/>
          </a:p>
          <a:p>
            <a:pPr marL="130175" indent="0" algn="just">
              <a:buNone/>
            </a:pPr>
            <a:endParaRPr lang="en-US" sz="2000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OMP_NESTED [</a:t>
            </a:r>
            <a:r>
              <a:rPr lang="en-US" dirty="0" err="1" smtClean="0"/>
              <a:t>nested.c</a:t>
            </a:r>
            <a:r>
              <a:rPr lang="en-US" dirty="0" smtClean="0"/>
              <a:t>]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F5E6F2F3-B9BB-429D-9B26-BAA27DB8E7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3362" y="3922589"/>
            <a:ext cx="5180438" cy="759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58913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040999"/>
          </a:xfrm>
        </p:spPr>
        <p:txBody>
          <a:bodyPr>
            <a:noAutofit/>
          </a:bodyPr>
          <a:lstStyle/>
          <a:p>
            <a:pPr marL="130175" indent="0" algn="just">
              <a:buNone/>
            </a:pPr>
            <a:r>
              <a:rPr lang="en-US" sz="2000" b="1" dirty="0" err="1" smtClean="0">
                <a:solidFill>
                  <a:srgbClr val="0000A8"/>
                </a:solidFill>
              </a:rPr>
              <a:t>omp_set_nested</a:t>
            </a:r>
            <a:r>
              <a:rPr lang="en-US" sz="2000" b="1" dirty="0" smtClean="0">
                <a:solidFill>
                  <a:srgbClr val="0000A8"/>
                </a:solidFill>
              </a:rPr>
              <a:t>(1</a:t>
            </a:r>
            <a:r>
              <a:rPr lang="en-US" sz="2000" b="1" dirty="0">
                <a:solidFill>
                  <a:srgbClr val="0000A8"/>
                </a:solidFill>
              </a:rPr>
              <a:t>);</a:t>
            </a:r>
          </a:p>
          <a:p>
            <a:pPr marL="130175" indent="0" algn="just">
              <a:buNone/>
            </a:pPr>
            <a:r>
              <a:rPr lang="en-US" sz="2000" b="1" dirty="0"/>
              <a:t>#pragma </a:t>
            </a:r>
            <a:r>
              <a:rPr lang="en-US" sz="2000" b="1" dirty="0" err="1"/>
              <a:t>omp</a:t>
            </a:r>
            <a:r>
              <a:rPr lang="en-US" sz="2000" b="1" dirty="0"/>
              <a:t> parallel </a:t>
            </a:r>
            <a:r>
              <a:rPr lang="en-US" sz="2000" b="1" dirty="0" err="1"/>
              <a:t>num_threads</a:t>
            </a:r>
            <a:r>
              <a:rPr lang="en-US" sz="2000" b="1" dirty="0"/>
              <a:t>(2</a:t>
            </a:r>
            <a:r>
              <a:rPr lang="en-US" sz="2000" b="1" dirty="0" smtClean="0"/>
              <a:t>) {</a:t>
            </a:r>
            <a:endParaRPr lang="en-US" sz="2000" b="1" dirty="0"/>
          </a:p>
          <a:p>
            <a:pPr marL="130175" indent="0" algn="just">
              <a:buNone/>
            </a:pPr>
            <a:r>
              <a:rPr lang="en-US" sz="2000" b="1" dirty="0" smtClean="0"/>
              <a:t>	#</a:t>
            </a:r>
            <a:r>
              <a:rPr lang="en-US" sz="2000" b="1" dirty="0"/>
              <a:t>pragma </a:t>
            </a:r>
            <a:r>
              <a:rPr lang="en-US" sz="2000" b="1" dirty="0" err="1"/>
              <a:t>omp</a:t>
            </a:r>
            <a:r>
              <a:rPr lang="en-US" sz="2000" b="1" dirty="0"/>
              <a:t> single</a:t>
            </a:r>
          </a:p>
          <a:p>
            <a:pPr marL="130175" indent="0" algn="just">
              <a:buNone/>
            </a:pPr>
            <a:r>
              <a:rPr lang="en-US" sz="2000" b="1" dirty="0" smtClean="0"/>
              <a:t>	</a:t>
            </a:r>
            <a:r>
              <a:rPr lang="en-US" sz="2000" b="1" dirty="0" err="1" smtClean="0"/>
              <a:t>printf</a:t>
            </a:r>
            <a:r>
              <a:rPr lang="en-US" sz="2000" b="1" dirty="0"/>
              <a:t>("</a:t>
            </a:r>
            <a:r>
              <a:rPr lang="en-US" sz="2000" b="1" dirty="0">
                <a:solidFill>
                  <a:srgbClr val="0000A8"/>
                </a:solidFill>
              </a:rPr>
              <a:t>Level 1: number of threads in the team : %d\n</a:t>
            </a:r>
            <a:r>
              <a:rPr lang="en-US" sz="2000" b="1" dirty="0"/>
              <a:t>", 				       </a:t>
            </a:r>
            <a:r>
              <a:rPr lang="en-US" sz="2000" b="1" dirty="0" smtClean="0"/>
              <a:t>		</a:t>
            </a:r>
            <a:r>
              <a:rPr lang="en-US" sz="2000" b="1" dirty="0" err="1" smtClean="0"/>
              <a:t>omp_get_num_threads</a:t>
            </a:r>
            <a:r>
              <a:rPr lang="en-US" sz="2000" b="1" dirty="0"/>
              <a:t>());</a:t>
            </a:r>
          </a:p>
          <a:p>
            <a:pPr marL="130175" indent="0" algn="just">
              <a:buNone/>
            </a:pPr>
            <a:endParaRPr lang="en-US" sz="2000" b="1" dirty="0"/>
          </a:p>
          <a:p>
            <a:pPr marL="130175" indent="0" algn="just">
              <a:buNone/>
            </a:pPr>
            <a:r>
              <a:rPr lang="en-US" sz="2000" b="1" dirty="0" smtClean="0"/>
              <a:t>	#</a:t>
            </a:r>
            <a:r>
              <a:rPr lang="en-US" sz="2000" b="1" dirty="0"/>
              <a:t>pragma </a:t>
            </a:r>
            <a:r>
              <a:rPr lang="en-US" sz="2000" b="1" dirty="0" err="1"/>
              <a:t>omp</a:t>
            </a:r>
            <a:r>
              <a:rPr lang="en-US" sz="2000" b="1" dirty="0"/>
              <a:t> parallel </a:t>
            </a:r>
            <a:r>
              <a:rPr lang="en-US" sz="2000" b="1" dirty="0" err="1"/>
              <a:t>num_threads</a:t>
            </a:r>
            <a:r>
              <a:rPr lang="en-US" sz="2000" b="1" dirty="0"/>
              <a:t>(4)</a:t>
            </a:r>
          </a:p>
          <a:p>
            <a:pPr marL="130175" indent="0" algn="just">
              <a:buNone/>
            </a:pPr>
            <a:r>
              <a:rPr lang="en-US" sz="2000" b="1" dirty="0" smtClean="0"/>
              <a:t>	{</a:t>
            </a:r>
            <a:endParaRPr lang="en-US" sz="2000" b="1" dirty="0"/>
          </a:p>
          <a:p>
            <a:pPr marL="130175" indent="0" algn="just">
              <a:buNone/>
            </a:pPr>
            <a:r>
              <a:rPr lang="en-US" sz="2000" b="1" dirty="0" smtClean="0"/>
              <a:t>		#</a:t>
            </a:r>
            <a:r>
              <a:rPr lang="en-US" sz="2000" b="1" dirty="0"/>
              <a:t>pragma </a:t>
            </a:r>
            <a:r>
              <a:rPr lang="en-US" sz="2000" b="1" dirty="0" err="1"/>
              <a:t>omp</a:t>
            </a:r>
            <a:r>
              <a:rPr lang="en-US" sz="2000" b="1" dirty="0"/>
              <a:t> single</a:t>
            </a:r>
          </a:p>
          <a:p>
            <a:pPr marL="130175" indent="0" algn="just">
              <a:buNone/>
            </a:pPr>
            <a:r>
              <a:rPr lang="en-US" sz="2000" b="1" dirty="0" smtClean="0"/>
              <a:t>		</a:t>
            </a:r>
            <a:r>
              <a:rPr lang="en-US" sz="2000" b="1" dirty="0" err="1" smtClean="0"/>
              <a:t>printf</a:t>
            </a:r>
            <a:r>
              <a:rPr lang="en-US" sz="2000" b="1" dirty="0"/>
              <a:t>("</a:t>
            </a:r>
            <a:r>
              <a:rPr lang="en-US" sz="2000" b="1" dirty="0">
                <a:solidFill>
                  <a:srgbClr val="0000A8"/>
                </a:solidFill>
              </a:rPr>
              <a:t>Level 2: number of threads in the team : %d\n</a:t>
            </a:r>
            <a:r>
              <a:rPr lang="en-US" sz="2000" b="1" dirty="0"/>
              <a:t>",</a:t>
            </a:r>
          </a:p>
          <a:p>
            <a:pPr marL="130175" indent="0" algn="just">
              <a:buNone/>
            </a:pPr>
            <a:r>
              <a:rPr lang="en-US" sz="2000" b="1" dirty="0"/>
              <a:t>        </a:t>
            </a:r>
            <a:r>
              <a:rPr lang="en-US" sz="2000" b="1" dirty="0" smtClean="0"/>
              <a:t>			</a:t>
            </a:r>
            <a:r>
              <a:rPr lang="en-US" sz="2000" b="1" dirty="0" err="1" smtClean="0"/>
              <a:t>omp_get_num_threads</a:t>
            </a:r>
            <a:r>
              <a:rPr lang="en-US" sz="2000" b="1" dirty="0"/>
              <a:t>());</a:t>
            </a:r>
          </a:p>
          <a:p>
            <a:pPr marL="130175" indent="0" algn="just">
              <a:buNone/>
            </a:pPr>
            <a:r>
              <a:rPr lang="en-US" sz="2000" b="1" dirty="0" smtClean="0"/>
              <a:t>	}</a:t>
            </a:r>
            <a:endParaRPr lang="en-US" sz="2000" b="1" dirty="0"/>
          </a:p>
          <a:p>
            <a:pPr marL="130175" indent="0" algn="just">
              <a:buNone/>
            </a:pPr>
            <a:r>
              <a:rPr lang="en-US" sz="2000" b="1" dirty="0"/>
              <a:t>}</a:t>
            </a:r>
          </a:p>
          <a:p>
            <a:pPr marL="130175" indent="0" algn="just">
              <a:buNone/>
            </a:pPr>
            <a:endParaRPr lang="en-US" sz="2000" b="1" dirty="0"/>
          </a:p>
          <a:p>
            <a:pPr marL="130175" indent="0" algn="just">
              <a:buNone/>
            </a:pPr>
            <a:endParaRPr lang="en-US" sz="2000" b="1" dirty="0" err="1" smtClean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OMP_NESTED [</a:t>
            </a:r>
            <a:r>
              <a:rPr lang="en-US" dirty="0" err="1"/>
              <a:t>nested.c</a:t>
            </a:r>
            <a:r>
              <a:rPr lang="en-US" dirty="0"/>
              <a:t>]</a:t>
            </a:r>
            <a:r>
              <a:rPr lang="en-US" dirty="0" smtClean="0"/>
              <a:t> (Cont.)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CEB6A8A1-A2E4-4DE4-BF4D-E646704705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922589"/>
            <a:ext cx="5493574" cy="831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08656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040999"/>
          </a:xfrm>
        </p:spPr>
        <p:txBody>
          <a:bodyPr>
            <a:noAutofit/>
          </a:bodyPr>
          <a:lstStyle/>
          <a:p>
            <a:pPr marL="130175" indent="0">
              <a:buNone/>
            </a:pPr>
            <a:r>
              <a:rPr lang="en-US" sz="2000" b="1" dirty="0"/>
              <a:t>Provide the output of given code considering compiler will generate maximum </a:t>
            </a:r>
            <a:r>
              <a:rPr lang="en-US" sz="2000" b="1" dirty="0" smtClean="0">
                <a:solidFill>
                  <a:srgbClr val="0000A8"/>
                </a:solidFill>
              </a:rPr>
              <a:t>2 </a:t>
            </a:r>
            <a:r>
              <a:rPr lang="en-US" sz="2000" b="1" dirty="0">
                <a:solidFill>
                  <a:srgbClr val="0000A8"/>
                </a:solidFill>
              </a:rPr>
              <a:t>threads </a:t>
            </a:r>
            <a:r>
              <a:rPr lang="en-US" sz="2000" b="1" dirty="0"/>
              <a:t>if dynamic adjustment is enabled. </a:t>
            </a:r>
            <a:endParaRPr lang="en-US" sz="2000" b="1" dirty="0" smtClean="0"/>
          </a:p>
          <a:p>
            <a:pPr marL="130175" indent="0">
              <a:buNone/>
            </a:pPr>
            <a:r>
              <a:rPr lang="en-US" sz="1600" b="1" dirty="0" smtClean="0"/>
              <a:t>workers </a:t>
            </a:r>
            <a:r>
              <a:rPr lang="en-US" sz="1600" b="1" dirty="0"/>
              <a:t>= </a:t>
            </a:r>
            <a:r>
              <a:rPr lang="en-US" sz="1600" b="1" dirty="0" err="1"/>
              <a:t>omp_get_max_threads</a:t>
            </a:r>
            <a:r>
              <a:rPr lang="en-US" sz="1600" b="1" dirty="0"/>
              <a:t>(); 	//can use </a:t>
            </a:r>
            <a:r>
              <a:rPr lang="en-US" sz="1600" b="1" dirty="0" err="1" smtClean="0"/>
              <a:t>num_procs</a:t>
            </a:r>
            <a:endParaRPr lang="en-US" sz="1600" b="1" dirty="0" smtClean="0"/>
          </a:p>
          <a:p>
            <a:pPr marL="130175" indent="0">
              <a:buNone/>
            </a:pPr>
            <a:r>
              <a:rPr lang="en-US" sz="1600" b="1" dirty="0" err="1" smtClean="0"/>
              <a:t>printf</a:t>
            </a:r>
            <a:r>
              <a:rPr lang="en-US" sz="1600" b="1" dirty="0" smtClean="0"/>
              <a:t> </a:t>
            </a:r>
            <a:r>
              <a:rPr lang="en-US" sz="1600" b="1" dirty="0"/>
              <a:t>("%d maximum allowed threads\n", workers</a:t>
            </a:r>
            <a:r>
              <a:rPr lang="en-US" sz="1600" b="1" dirty="0" smtClean="0"/>
              <a:t>);</a:t>
            </a:r>
          </a:p>
          <a:p>
            <a:pPr marL="130175" indent="0">
              <a:buNone/>
            </a:pPr>
            <a:r>
              <a:rPr lang="en-US" sz="1600" b="1" dirty="0" err="1" smtClean="0"/>
              <a:t>printf</a:t>
            </a:r>
            <a:r>
              <a:rPr lang="en-US" sz="1600" b="1" dirty="0" smtClean="0"/>
              <a:t> </a:t>
            </a:r>
            <a:r>
              <a:rPr lang="en-US" sz="1600" b="1" dirty="0"/>
              <a:t>("Total number of allocated cores are:%d\n", </a:t>
            </a:r>
            <a:r>
              <a:rPr lang="en-US" sz="1600" b="1" dirty="0" err="1"/>
              <a:t>omp_get_num_procs</a:t>
            </a:r>
            <a:r>
              <a:rPr lang="en-US" sz="1600" b="1" dirty="0"/>
              <a:t>());</a:t>
            </a:r>
            <a:endParaRPr lang="en-US" sz="1600" dirty="0"/>
          </a:p>
          <a:p>
            <a:pPr marL="130175" indent="0">
              <a:buNone/>
            </a:pPr>
            <a:r>
              <a:rPr lang="en-US" sz="1600" b="1" dirty="0" err="1"/>
              <a:t>omp_set_dynamic</a:t>
            </a:r>
            <a:r>
              <a:rPr lang="en-US" sz="1600" b="1" dirty="0"/>
              <a:t>(1);  	// dynamic adjustment enabled</a:t>
            </a:r>
            <a:endParaRPr lang="en-US" sz="1600" dirty="0"/>
          </a:p>
          <a:p>
            <a:pPr marL="130175" indent="0">
              <a:buNone/>
            </a:pPr>
            <a:r>
              <a:rPr lang="en-US" sz="1600" b="1" dirty="0" err="1"/>
              <a:t>omp_set_num_threads</a:t>
            </a:r>
            <a:r>
              <a:rPr lang="en-US" sz="1600" b="1" dirty="0"/>
              <a:t>(8);</a:t>
            </a:r>
            <a:endParaRPr lang="en-US" sz="1600" dirty="0"/>
          </a:p>
          <a:p>
            <a:pPr marL="130175" indent="0">
              <a:buNone/>
            </a:pPr>
            <a:r>
              <a:rPr lang="en-US" sz="1600" b="1" dirty="0" err="1"/>
              <a:t>printf</a:t>
            </a:r>
            <a:r>
              <a:rPr lang="en-US" sz="1600" b="1" dirty="0"/>
              <a:t> ("Total number of requested when dynamic is true are:%d\n", 1);</a:t>
            </a:r>
            <a:endParaRPr lang="en-US" sz="1600" dirty="0"/>
          </a:p>
          <a:p>
            <a:pPr marL="130175" indent="0">
              <a:buNone/>
            </a:pPr>
            <a:r>
              <a:rPr lang="en-US" sz="1600" b="1" dirty="0"/>
              <a:t>#pragma </a:t>
            </a:r>
            <a:r>
              <a:rPr lang="en-US" sz="1600" b="1" dirty="0" err="1"/>
              <a:t>omp</a:t>
            </a:r>
            <a:r>
              <a:rPr lang="en-US" sz="1600" b="1" dirty="0"/>
              <a:t> parallel {</a:t>
            </a:r>
            <a:endParaRPr lang="en-US" sz="1600" dirty="0"/>
          </a:p>
          <a:p>
            <a:pPr marL="130175" indent="0">
              <a:buNone/>
            </a:pPr>
            <a:r>
              <a:rPr lang="en-US" sz="1600" b="1" dirty="0"/>
              <a:t>	#pragma </a:t>
            </a:r>
            <a:r>
              <a:rPr lang="en-US" sz="1600" b="1" dirty="0" err="1"/>
              <a:t>omp</a:t>
            </a:r>
            <a:r>
              <a:rPr lang="en-US" sz="1600" b="1" dirty="0"/>
              <a:t> single </a:t>
            </a:r>
            <a:r>
              <a:rPr lang="en-US" sz="1600" b="1" dirty="0" err="1"/>
              <a:t>nowait</a:t>
            </a:r>
            <a:endParaRPr lang="en-US" sz="1600" dirty="0"/>
          </a:p>
          <a:p>
            <a:pPr marL="130175" indent="0">
              <a:buNone/>
            </a:pPr>
            <a:r>
              <a:rPr lang="en-US" sz="1600" b="1" dirty="0"/>
              <a:t>	</a:t>
            </a:r>
            <a:r>
              <a:rPr lang="en-US" sz="1600" b="1" dirty="0" err="1"/>
              <a:t>printf</a:t>
            </a:r>
            <a:r>
              <a:rPr lang="en-US" sz="1600" b="1" dirty="0"/>
              <a:t>("Total threads in parallel region1=%d:\n", </a:t>
            </a:r>
            <a:r>
              <a:rPr lang="en-US" sz="1600" b="1" dirty="0" err="1"/>
              <a:t>omp_get_num_threads</a:t>
            </a:r>
            <a:r>
              <a:rPr lang="en-US" sz="1600" b="1" dirty="0"/>
              <a:t>());</a:t>
            </a:r>
            <a:endParaRPr lang="en-US" sz="1600" dirty="0"/>
          </a:p>
          <a:p>
            <a:pPr marL="130175" indent="0">
              <a:buNone/>
            </a:pPr>
            <a:r>
              <a:rPr lang="en-US" sz="1600" b="1" dirty="0"/>
              <a:t>	#pragma </a:t>
            </a:r>
            <a:r>
              <a:rPr lang="en-US" sz="1600" b="1" dirty="0" err="1"/>
              <a:t>omp</a:t>
            </a:r>
            <a:r>
              <a:rPr lang="en-US" sz="1600" b="1" dirty="0"/>
              <a:t> for </a:t>
            </a:r>
            <a:endParaRPr lang="en-US" sz="1600" dirty="0"/>
          </a:p>
          <a:p>
            <a:pPr marL="130175" indent="0">
              <a:buNone/>
            </a:pPr>
            <a:r>
              <a:rPr lang="en-US" sz="1600" b="1" dirty="0"/>
              <a:t>	for (</a:t>
            </a:r>
            <a:r>
              <a:rPr lang="en-US" sz="1600" b="1" dirty="0" err="1"/>
              <a:t>i</a:t>
            </a:r>
            <a:r>
              <a:rPr lang="en-US" sz="1600" b="1" dirty="0"/>
              <a:t> = 0; </a:t>
            </a:r>
            <a:r>
              <a:rPr lang="en-US" sz="1600" b="1" dirty="0" err="1"/>
              <a:t>i</a:t>
            </a:r>
            <a:r>
              <a:rPr lang="en-US" sz="1600" b="1" dirty="0"/>
              <a:t> &lt; </a:t>
            </a:r>
            <a:r>
              <a:rPr lang="en-US" sz="1600" b="1" dirty="0" err="1"/>
              <a:t>mult</a:t>
            </a:r>
            <a:r>
              <a:rPr lang="en-US" sz="1600" b="1" dirty="0"/>
              <a:t>; </a:t>
            </a:r>
            <a:r>
              <a:rPr lang="en-US" sz="1600" b="1" dirty="0" err="1"/>
              <a:t>i</a:t>
            </a:r>
            <a:r>
              <a:rPr lang="en-US" sz="1600" b="1" dirty="0"/>
              <a:t>++)</a:t>
            </a:r>
            <a:endParaRPr lang="en-US" sz="1600" dirty="0"/>
          </a:p>
          <a:p>
            <a:pPr marL="130175" indent="0">
              <a:buNone/>
            </a:pPr>
            <a:r>
              <a:rPr lang="en-US" sz="1600" b="1" dirty="0"/>
              <a:t>	{a = </a:t>
            </a:r>
            <a:r>
              <a:rPr lang="en-US" sz="1600" b="1" dirty="0" err="1"/>
              <a:t>complex_func</a:t>
            </a:r>
            <a:r>
              <a:rPr lang="en-US" sz="1600" b="1" dirty="0"/>
              <a:t>();}</a:t>
            </a:r>
            <a:endParaRPr lang="en-US" sz="1600" dirty="0"/>
          </a:p>
          <a:p>
            <a:pPr marL="130175" indent="0">
              <a:buNone/>
            </a:pPr>
            <a:r>
              <a:rPr lang="en-US" sz="1600" b="1" dirty="0"/>
              <a:t> </a:t>
            </a:r>
            <a:r>
              <a:rPr lang="en-US" sz="1600" b="1" dirty="0" smtClean="0"/>
              <a:t>}</a:t>
            </a:r>
            <a:endParaRPr lang="en-US" sz="1600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rgbClr val="7030A0"/>
                </a:solidFill>
                <a:ea typeface="ＭＳ Ｐゴシック" panose="020B0600070205080204" pitchFamily="34" charset="-128"/>
              </a:rPr>
              <a:t>Home Task</a:t>
            </a:r>
            <a:endParaRPr lang="en-US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33651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040999"/>
          </a:xfrm>
        </p:spPr>
        <p:txBody>
          <a:bodyPr>
            <a:noAutofit/>
          </a:bodyPr>
          <a:lstStyle/>
          <a:p>
            <a:pPr marL="130175" indent="0">
              <a:buNone/>
            </a:pPr>
            <a:r>
              <a:rPr lang="en-US" sz="1600" b="1" dirty="0" err="1" smtClean="0"/>
              <a:t>omp_set_dynamic</a:t>
            </a:r>
            <a:r>
              <a:rPr lang="en-US" sz="1600" b="1" dirty="0" smtClean="0"/>
              <a:t>(0</a:t>
            </a:r>
            <a:r>
              <a:rPr lang="en-US" sz="1600" b="1" dirty="0"/>
              <a:t>); 	// dynamic adjustment disabled</a:t>
            </a:r>
          </a:p>
          <a:p>
            <a:pPr marL="130175" indent="0">
              <a:buNone/>
            </a:pPr>
            <a:r>
              <a:rPr lang="en-US" sz="1600" b="1" dirty="0" err="1"/>
              <a:t>omp_set_num_threads</a:t>
            </a:r>
            <a:r>
              <a:rPr lang="en-US" sz="1600" b="1" dirty="0"/>
              <a:t>(6);</a:t>
            </a:r>
          </a:p>
          <a:p>
            <a:pPr marL="130175" indent="0">
              <a:buNone/>
            </a:pPr>
            <a:r>
              <a:rPr lang="en-US" sz="1600" b="1" dirty="0" err="1"/>
              <a:t>printf</a:t>
            </a:r>
            <a:r>
              <a:rPr lang="en-US" sz="1600" b="1" dirty="0"/>
              <a:t>("Total number of requested when dynamic is false are:%d\n", 6); </a:t>
            </a:r>
          </a:p>
          <a:p>
            <a:pPr marL="130175" indent="0">
              <a:buNone/>
            </a:pPr>
            <a:r>
              <a:rPr lang="en-US" sz="1600" b="1" dirty="0"/>
              <a:t>#pragma </a:t>
            </a:r>
            <a:r>
              <a:rPr lang="en-US" sz="1600" b="1" dirty="0" err="1"/>
              <a:t>omp</a:t>
            </a:r>
            <a:r>
              <a:rPr lang="en-US" sz="1600" b="1" dirty="0"/>
              <a:t> parallel </a:t>
            </a:r>
          </a:p>
          <a:p>
            <a:pPr marL="130175" indent="0">
              <a:buNone/>
            </a:pPr>
            <a:r>
              <a:rPr lang="en-US" sz="1600" b="1" dirty="0"/>
              <a:t>{</a:t>
            </a:r>
          </a:p>
          <a:p>
            <a:pPr marL="130175" indent="0">
              <a:buNone/>
            </a:pPr>
            <a:r>
              <a:rPr lang="en-US" sz="1600" b="1" dirty="0"/>
              <a:t>#pragma </a:t>
            </a:r>
            <a:r>
              <a:rPr lang="en-US" sz="1600" b="1" dirty="0" err="1"/>
              <a:t>omp</a:t>
            </a:r>
            <a:r>
              <a:rPr lang="en-US" sz="1600" b="1" dirty="0"/>
              <a:t> single </a:t>
            </a:r>
            <a:r>
              <a:rPr lang="en-US" sz="1600" b="1" dirty="0" err="1"/>
              <a:t>nowait</a:t>
            </a:r>
            <a:endParaRPr lang="en-US" sz="1600" b="1" dirty="0"/>
          </a:p>
          <a:p>
            <a:pPr marL="130175" indent="0">
              <a:buNone/>
            </a:pPr>
            <a:r>
              <a:rPr lang="en-US" sz="1600" b="1" dirty="0" err="1"/>
              <a:t>printf</a:t>
            </a:r>
            <a:r>
              <a:rPr lang="en-US" sz="1600" b="1" dirty="0"/>
              <a:t>("Total threads in parallel region2=%d:\n", </a:t>
            </a:r>
            <a:r>
              <a:rPr lang="en-US" sz="1600" b="1" dirty="0" err="1"/>
              <a:t>omp_get_num_threads</a:t>
            </a:r>
            <a:r>
              <a:rPr lang="en-US" sz="1600" b="1" dirty="0"/>
              <a:t>());</a:t>
            </a:r>
          </a:p>
          <a:p>
            <a:pPr marL="130175" indent="0">
              <a:buNone/>
            </a:pPr>
            <a:r>
              <a:rPr lang="en-US" sz="1600" b="1" dirty="0"/>
              <a:t>#pragma </a:t>
            </a:r>
            <a:r>
              <a:rPr lang="en-US" sz="1600" b="1" dirty="0" err="1"/>
              <a:t>omp</a:t>
            </a:r>
            <a:r>
              <a:rPr lang="en-US" sz="1600" b="1" dirty="0"/>
              <a:t> for</a:t>
            </a:r>
          </a:p>
          <a:p>
            <a:pPr marL="130175" indent="0">
              <a:buNone/>
            </a:pPr>
            <a:r>
              <a:rPr lang="en-US" sz="1600" b="1" dirty="0"/>
              <a:t>for (</a:t>
            </a:r>
            <a:r>
              <a:rPr lang="en-US" sz="1600" b="1" dirty="0" err="1"/>
              <a:t>i</a:t>
            </a:r>
            <a:r>
              <a:rPr lang="en-US" sz="1600" b="1" dirty="0"/>
              <a:t> = 0; </a:t>
            </a:r>
            <a:r>
              <a:rPr lang="en-US" sz="1600" b="1" dirty="0" err="1"/>
              <a:t>i</a:t>
            </a:r>
            <a:r>
              <a:rPr lang="en-US" sz="1600" b="1" dirty="0"/>
              <a:t> &lt; </a:t>
            </a:r>
            <a:r>
              <a:rPr lang="en-US" sz="1600" b="1" dirty="0" err="1"/>
              <a:t>mult</a:t>
            </a:r>
            <a:r>
              <a:rPr lang="en-US" sz="1600" b="1" dirty="0"/>
              <a:t>; </a:t>
            </a:r>
            <a:r>
              <a:rPr lang="en-US" sz="1600" b="1" dirty="0" err="1"/>
              <a:t>i</a:t>
            </a:r>
            <a:r>
              <a:rPr lang="en-US" sz="1600" b="1" dirty="0"/>
              <a:t>++)</a:t>
            </a:r>
          </a:p>
          <a:p>
            <a:pPr marL="130175" indent="0">
              <a:buNone/>
            </a:pPr>
            <a:r>
              <a:rPr lang="en-US" sz="1600" b="1" dirty="0"/>
              <a:t>{a = </a:t>
            </a:r>
            <a:r>
              <a:rPr lang="en-US" sz="1600" b="1" dirty="0" err="1"/>
              <a:t>complex_func</a:t>
            </a:r>
            <a:r>
              <a:rPr lang="en-US" sz="1600" b="1" dirty="0"/>
              <a:t>();}</a:t>
            </a:r>
          </a:p>
          <a:p>
            <a:pPr marL="130175" indent="0">
              <a:buNone/>
            </a:pPr>
            <a:r>
              <a:rPr lang="en-US" sz="1600" b="1" dirty="0"/>
              <a:t>}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rgbClr val="7030A0"/>
                </a:solidFill>
                <a:ea typeface="ＭＳ Ｐゴシック" panose="020B0600070205080204" pitchFamily="34" charset="-128"/>
              </a:rPr>
              <a:t>Home Task (Cont.)</a:t>
            </a:r>
            <a:endParaRPr lang="en-US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69227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143853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Synchronization Clauses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/>
              <a:t>B</a:t>
            </a:r>
            <a:r>
              <a:rPr lang="en-US" b="1" dirty="0" smtClean="0"/>
              <a:t>arrier</a:t>
            </a:r>
            <a:r>
              <a:rPr lang="en-US" b="1" dirty="0"/>
              <a:t>, single, master, critical, atomic etc</a:t>
            </a:r>
            <a:r>
              <a:rPr lang="en-US" b="1" dirty="0" smtClean="0"/>
              <a:t>.</a:t>
            </a:r>
            <a:endParaRPr lang="en-US" sz="32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Barrier </a:t>
            </a:r>
            <a:r>
              <a:rPr lang="en-US" sz="3200" b="1" dirty="0" smtClean="0"/>
              <a:t>Directive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On </a:t>
            </a:r>
            <a:r>
              <a:rPr lang="en-US" b="1" dirty="0"/>
              <a:t>encountering this directive, all threads in a team wait until others have caught up, and then </a:t>
            </a:r>
            <a:r>
              <a:rPr lang="en-US" b="1" dirty="0" smtClean="0"/>
              <a:t>release</a:t>
            </a:r>
            <a:endParaRPr lang="en-US" sz="32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Single </a:t>
            </a:r>
            <a:r>
              <a:rPr lang="en-US" sz="3200" b="1" dirty="0" smtClean="0"/>
              <a:t>Directive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A </a:t>
            </a:r>
            <a:r>
              <a:rPr lang="en-US" b="1" dirty="0"/>
              <a:t>single directive specifies a structured block that is executed by a single (arbitrary) thread in parallel </a:t>
            </a:r>
            <a:r>
              <a:rPr lang="en-US" b="1" dirty="0" smtClean="0"/>
              <a:t>region</a:t>
            </a:r>
            <a:endParaRPr lang="en-US" sz="32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Master </a:t>
            </a:r>
            <a:r>
              <a:rPr lang="en-US" sz="3200" b="1" dirty="0" smtClean="0"/>
              <a:t>Directive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The </a:t>
            </a:r>
            <a:r>
              <a:rPr lang="en-US" b="1" dirty="0"/>
              <a:t>master directive is a specialization of the single directive in which only the master thread executes the structured </a:t>
            </a:r>
            <a:r>
              <a:rPr lang="en-US" b="1" dirty="0" smtClean="0"/>
              <a:t>block</a:t>
            </a:r>
            <a:endParaRPr lang="en-US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Summary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837236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143853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Critical Section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A</a:t>
            </a:r>
            <a:r>
              <a:rPr lang="en-US" b="1" dirty="0"/>
              <a:t> Critical Section is a code segment that has a shared variable and need to be executed as an atomic </a:t>
            </a:r>
            <a:r>
              <a:rPr lang="en-US" b="1" dirty="0" smtClean="0"/>
              <a:t>action</a:t>
            </a:r>
            <a:endParaRPr lang="en-US" sz="3200" b="1" dirty="0" smtClean="0"/>
          </a:p>
          <a:p>
            <a:pPr algn="just">
              <a:buFont typeface="Arial" panose="020B0604020202020204" pitchFamily="34" charset="0"/>
              <a:buChar char="•"/>
            </a:pPr>
            <a:endParaRPr lang="en-US" sz="3200" b="1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Race Condition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A </a:t>
            </a:r>
            <a:r>
              <a:rPr lang="en-US" b="1" dirty="0"/>
              <a:t>race condition is created when one process may “race ahead” of another and overwrite the change made by the first process to the shared </a:t>
            </a:r>
            <a:r>
              <a:rPr lang="en-US" b="1" dirty="0" smtClean="0"/>
              <a:t>variable</a:t>
            </a:r>
            <a:endParaRPr lang="en-US" sz="3200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sz="3200" b="1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Atomic Directive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The </a:t>
            </a:r>
            <a:r>
              <a:rPr lang="en-US" b="1" dirty="0"/>
              <a:t>atomic directive specifies that the single memory location update should be performed as an atomic </a:t>
            </a:r>
            <a:r>
              <a:rPr lang="en-US" b="1" dirty="0" smtClean="0"/>
              <a:t>operation</a:t>
            </a:r>
            <a:endParaRPr lang="en-US" sz="3200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Summary (Cont.)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45259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143853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Environment </a:t>
            </a:r>
            <a:r>
              <a:rPr lang="en-US" sz="3200" b="1" dirty="0"/>
              <a:t>Variables in </a:t>
            </a:r>
            <a:r>
              <a:rPr lang="en-US" sz="3200" b="1" dirty="0" err="1" smtClean="0"/>
              <a:t>OpenMP</a:t>
            </a:r>
            <a:endParaRPr lang="en-US" sz="3200" b="1" dirty="0" smtClean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OMP_NUM_THREADS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OMP_DYNAMIC</a:t>
            </a:r>
          </a:p>
          <a:p>
            <a:pPr lvl="2" algn="just">
              <a:buClr>
                <a:srgbClr val="0000A8"/>
              </a:buClr>
              <a:buFont typeface="Wingdings" panose="05000000000000000000" pitchFamily="2" charset="2"/>
              <a:buChar char="ü"/>
            </a:pPr>
            <a:r>
              <a:rPr lang="en-US" b="1" dirty="0" err="1" smtClean="0"/>
              <a:t>OMP_Dynamic</a:t>
            </a:r>
            <a:r>
              <a:rPr lang="en-US" b="1" dirty="0" smtClean="0"/>
              <a:t> </a:t>
            </a:r>
            <a:r>
              <a:rPr lang="en-US" b="1" dirty="0"/>
              <a:t>[</a:t>
            </a:r>
            <a:r>
              <a:rPr lang="en-US" b="1" dirty="0" err="1" smtClean="0"/>
              <a:t>dynamic.c</a:t>
            </a:r>
            <a:r>
              <a:rPr lang="en-US" b="1" dirty="0" smtClean="0"/>
              <a:t>]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OMP_SCHEDULE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OMP_NESTED</a:t>
            </a:r>
          </a:p>
          <a:p>
            <a:pPr lvl="2" algn="just">
              <a:buClr>
                <a:srgbClr val="0000A8"/>
              </a:buClr>
              <a:buFont typeface="Wingdings" panose="05000000000000000000" pitchFamily="2" charset="2"/>
              <a:buChar char="ü"/>
            </a:pPr>
            <a:r>
              <a:rPr lang="en-US" b="1" dirty="0" smtClean="0"/>
              <a:t>OMP_NESTED </a:t>
            </a:r>
            <a:r>
              <a:rPr lang="en-US" b="1" dirty="0"/>
              <a:t>[</a:t>
            </a:r>
            <a:r>
              <a:rPr lang="en-US" b="1" dirty="0" err="1"/>
              <a:t>nested.c</a:t>
            </a:r>
            <a:r>
              <a:rPr lang="en-US" b="1" dirty="0" smtClean="0"/>
              <a:t>]</a:t>
            </a:r>
            <a:endParaRPr lang="en-US" sz="32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Home </a:t>
            </a:r>
            <a:r>
              <a:rPr lang="en-US" sz="3200" b="1" dirty="0" smtClean="0"/>
              <a:t>Task</a:t>
            </a:r>
            <a:endParaRPr lang="en-US" sz="3200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Summary (Cont.)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672184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143853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000" b="1" dirty="0" smtClean="0"/>
              <a:t>Book: Introduction </a:t>
            </a:r>
            <a:r>
              <a:rPr lang="en-US" sz="3000" b="1" dirty="0"/>
              <a:t>to Parallel Computing by </a:t>
            </a:r>
            <a:r>
              <a:rPr lang="en-US" sz="3000" b="1" dirty="0" err="1"/>
              <a:t>Ananth</a:t>
            </a:r>
            <a:r>
              <a:rPr lang="en-US" sz="3000" b="1" dirty="0"/>
              <a:t> </a:t>
            </a:r>
            <a:r>
              <a:rPr lang="en-US" sz="3000" b="1" dirty="0" err="1"/>
              <a:t>Grama</a:t>
            </a:r>
            <a:r>
              <a:rPr lang="en-US" sz="3000" b="1" dirty="0"/>
              <a:t> and </a:t>
            </a:r>
            <a:r>
              <a:rPr lang="en-US" sz="3000" b="1" dirty="0" err="1"/>
              <a:t>Anshul</a:t>
            </a:r>
            <a:r>
              <a:rPr lang="en-US" sz="3000" b="1" dirty="0"/>
              <a:t> Gupta 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3000" b="1" dirty="0" smtClean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600" b="1" dirty="0" smtClean="0"/>
              <a:t>Chapter </a:t>
            </a:r>
            <a:r>
              <a:rPr lang="en-US" sz="2600" b="1" dirty="0"/>
              <a:t>7: Programming Shared Address Space </a:t>
            </a:r>
            <a:r>
              <a:rPr lang="en-US" sz="2600" b="1" dirty="0" smtClean="0"/>
              <a:t>Platforms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30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000" b="1" dirty="0" smtClean="0"/>
              <a:t>Introduction </a:t>
            </a:r>
            <a:r>
              <a:rPr lang="en-US" sz="3000" b="1" dirty="0"/>
              <a:t>to </a:t>
            </a:r>
            <a:r>
              <a:rPr lang="en-US" sz="3000" b="1" dirty="0" err="1"/>
              <a:t>OpenMP</a:t>
            </a:r>
            <a:r>
              <a:rPr lang="en-US" sz="3000" b="1" dirty="0"/>
              <a:t> by Tim Mattson (</a:t>
            </a:r>
            <a:r>
              <a:rPr lang="en-US" sz="3000" b="1" dirty="0" smtClean="0"/>
              <a:t>Intel)</a:t>
            </a:r>
          </a:p>
          <a:p>
            <a:pPr lvl="1" algn="just">
              <a:buFont typeface="Wingdings" panose="05000000000000000000" pitchFamily="2" charset="2"/>
              <a:buChar char="Ø"/>
            </a:pPr>
            <a:endParaRPr lang="en-US" sz="2600" b="1" dirty="0" smtClean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600" b="1" dirty="0" smtClean="0"/>
              <a:t>https</a:t>
            </a:r>
            <a:r>
              <a:rPr lang="en-US" sz="2600" b="1" dirty="0"/>
              <a:t>://</a:t>
            </a:r>
            <a:r>
              <a:rPr lang="en-US" sz="2600" b="1" dirty="0" smtClean="0"/>
              <a:t>www.youtube.com/watch?v=nE-xN4Bf8XI&amp;list=PLLX-Q6B8xqZ8n8bwjGdzBJ25X2utwnoEG&amp;index=1</a:t>
            </a:r>
            <a:endParaRPr lang="en-US" sz="2600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Additional Resources</a:t>
            </a:r>
          </a:p>
        </p:txBody>
      </p:sp>
    </p:spTree>
    <p:extLst>
      <p:ext uri="{BB962C8B-B14F-4D97-AF65-F5344CB8AC3E}">
        <p14:creationId xmlns:p14="http://schemas.microsoft.com/office/powerpoint/2010/main" val="113385688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000" y="2948278"/>
            <a:ext cx="10515600" cy="894622"/>
          </a:xfrm>
        </p:spPr>
        <p:txBody>
          <a:bodyPr>
            <a:normAutofit/>
          </a:bodyPr>
          <a:lstStyle/>
          <a:p>
            <a:pPr algn="ctr"/>
            <a:r>
              <a:rPr lang="en-US" smtClean="0"/>
              <a:t>Questions?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1221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2671</TotalTime>
  <Words>1401</Words>
  <Application>Microsoft Office PowerPoint</Application>
  <PresentationFormat>Widescreen</PresentationFormat>
  <Paragraphs>332</Paragraphs>
  <Slides>34</Slides>
  <Notes>23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1" baseType="lpstr">
      <vt:lpstr>ＭＳ Ｐゴシック</vt:lpstr>
      <vt:lpstr>Arial</vt:lpstr>
      <vt:lpstr>Calibri</vt:lpstr>
      <vt:lpstr>Calibri Light</vt:lpstr>
      <vt:lpstr>Wingdings</vt:lpstr>
      <vt:lpstr>Office Theme</vt:lpstr>
      <vt:lpstr>SmartDraw</vt:lpstr>
      <vt:lpstr>CS 3006 Parallel and Distributed Computing Lecture 11</vt:lpstr>
      <vt:lpstr>Synchronization Constructs in OpenMP</vt:lpstr>
      <vt:lpstr>Outline</vt:lpstr>
      <vt:lpstr>Outline (Cont.)</vt:lpstr>
      <vt:lpstr>Synchronization Clauses</vt:lpstr>
      <vt:lpstr>Barrier Directive</vt:lpstr>
      <vt:lpstr>Single Directive</vt:lpstr>
      <vt:lpstr>Master Directive</vt:lpstr>
      <vt:lpstr>Critical Section</vt:lpstr>
      <vt:lpstr>Critical Section (Cont.)</vt:lpstr>
      <vt:lpstr>Critical Section (Cont.)</vt:lpstr>
      <vt:lpstr>Critical Section (Cont.)</vt:lpstr>
      <vt:lpstr>Critical Section (Cont.)</vt:lpstr>
      <vt:lpstr>Critical Section (Cont.)</vt:lpstr>
      <vt:lpstr>Critical Section (Cont.)</vt:lpstr>
      <vt:lpstr>Atomic Directive</vt:lpstr>
      <vt:lpstr>Atomic Directive (Cont.)</vt:lpstr>
      <vt:lpstr>Environment Variables in OpenMP</vt:lpstr>
      <vt:lpstr>Environment Variables in OpenMP (Cont.)</vt:lpstr>
      <vt:lpstr>Environment Variables in OpenMP (Cont.)</vt:lpstr>
      <vt:lpstr>Environment Variables in OpenMP (Cont.)</vt:lpstr>
      <vt:lpstr>OMP_Dynamic [dynamic.c]</vt:lpstr>
      <vt:lpstr>OMP_DYNAMIC [dynamic.c] (Cont.)</vt:lpstr>
      <vt:lpstr>Environment Variables in OpenMP (Cont.)</vt:lpstr>
      <vt:lpstr>Environment Variables in OpenMP (Cont.)</vt:lpstr>
      <vt:lpstr>OMP_NESTED [nested.c]</vt:lpstr>
      <vt:lpstr>OMP_NESTED [nested.c] (Cont.)</vt:lpstr>
      <vt:lpstr>Home Task</vt:lpstr>
      <vt:lpstr>Home Task (Cont.)</vt:lpstr>
      <vt:lpstr>Summary</vt:lpstr>
      <vt:lpstr>Summary (Cont.)</vt:lpstr>
      <vt:lpstr>Summary (Cont.)</vt:lpstr>
      <vt:lpstr>Additional Resources</vt:lpstr>
      <vt:lpstr>Questions?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James Kurose</dc:creator>
  <cp:lastModifiedBy>HP</cp:lastModifiedBy>
  <cp:revision>481</cp:revision>
  <dcterms:created xsi:type="dcterms:W3CDTF">2020-01-18T07:24:00Z</dcterms:created>
  <dcterms:modified xsi:type="dcterms:W3CDTF">2024-03-15T08:25:28Z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DBCDF73CD2C44F1492F6933E9F753A38</vt:lpwstr>
  </property>
  <property fmtid="{D5CDD505-2E9C-101B-9397-08002B2CF9AE}" pid="3" name="KSOProductBuildVer">
    <vt:lpwstr>1033-11.2.0.11380</vt:lpwstr>
  </property>
</Properties>
</file>