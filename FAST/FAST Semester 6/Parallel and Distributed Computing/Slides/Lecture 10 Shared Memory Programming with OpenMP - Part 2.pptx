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5"/>
  </p:notesMasterIdLst>
  <p:sldIdLst>
    <p:sldId id="1537" r:id="rId2"/>
    <p:sldId id="1450" r:id="rId3"/>
    <p:sldId id="1563" r:id="rId4"/>
    <p:sldId id="1564" r:id="rId5"/>
    <p:sldId id="1533" r:id="rId6"/>
    <p:sldId id="1539" r:id="rId7"/>
    <p:sldId id="1540" r:id="rId8"/>
    <p:sldId id="1542" r:id="rId9"/>
    <p:sldId id="1550" r:id="rId10"/>
    <p:sldId id="1551" r:id="rId11"/>
    <p:sldId id="1552" r:id="rId12"/>
    <p:sldId id="1538" r:id="rId13"/>
    <p:sldId id="1534" r:id="rId14"/>
    <p:sldId id="1544" r:id="rId15"/>
    <p:sldId id="1543" r:id="rId16"/>
    <p:sldId id="1545" r:id="rId17"/>
    <p:sldId id="1553" r:id="rId18"/>
    <p:sldId id="1554" r:id="rId19"/>
    <p:sldId id="1555" r:id="rId20"/>
    <p:sldId id="1546" r:id="rId21"/>
    <p:sldId id="1547" r:id="rId22"/>
    <p:sldId id="1556" r:id="rId23"/>
    <p:sldId id="1557" r:id="rId24"/>
    <p:sldId id="1558" r:id="rId25"/>
    <p:sldId id="1560" r:id="rId26"/>
    <p:sldId id="1561" r:id="rId27"/>
    <p:sldId id="1567" r:id="rId28"/>
    <p:sldId id="1562" r:id="rId29"/>
    <p:sldId id="1565" r:id="rId30"/>
    <p:sldId id="1568" r:id="rId31"/>
    <p:sldId id="1569" r:id="rId32"/>
    <p:sldId id="1532" r:id="rId33"/>
    <p:sldId id="144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A800"/>
    <a:srgbClr val="000099"/>
    <a:srgbClr val="00C000"/>
    <a:srgbClr val="3C6CDF"/>
    <a:srgbClr val="9CDFF9"/>
    <a:srgbClr val="B8C2C9"/>
    <a:srgbClr val="D6DCE0"/>
    <a:srgbClr val="0000A3"/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74" autoAdjust="0"/>
    <p:restoredTop sz="88689" autoAdjust="0"/>
  </p:normalViewPr>
  <p:slideViewPr>
    <p:cSldViewPr snapToGrid="0" snapToObjects="1">
      <p:cViewPr varScale="1">
        <p:scale>
          <a:sx n="66" d="100"/>
          <a:sy n="66" d="100"/>
        </p:scale>
        <p:origin x="486" y="66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3/15/2024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1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7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4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723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432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GNU is an operating system.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038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GNU is an operating system.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31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GNU is an operating system.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459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97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44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16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089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13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CS 3006</a:t>
            </a:r>
            <a:br>
              <a:rPr lang="en-US" sz="4800" dirty="0" smtClean="0"/>
            </a:br>
            <a:r>
              <a:rPr lang="en-US" sz="4800" dirty="0" smtClean="0"/>
              <a:t>Parallel and Distributed Computing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Lecture </a:t>
            </a:r>
            <a:r>
              <a:rPr lang="en-US" sz="4800" dirty="0" smtClean="0"/>
              <a:t>10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Danyal </a:t>
            </a:r>
            <a:r>
              <a:rPr lang="en-US" sz="3200" b="1" dirty="0" err="1"/>
              <a:t>Farhat</a:t>
            </a:r>
            <a:endParaRPr lang="en-US" sz="3200" b="1" dirty="0"/>
          </a:p>
          <a:p>
            <a:r>
              <a:rPr lang="en-US" sz="3200" b="1" dirty="0"/>
              <a:t>FAST School of Computing</a:t>
            </a:r>
          </a:p>
          <a:p>
            <a:r>
              <a:rPr lang="en-US" sz="3200" b="1" dirty="0" smtClean="0"/>
              <a:t>NUCES </a:t>
            </a:r>
            <a:r>
              <a:rPr lang="en-US" sz="3200" b="1" dirty="0"/>
              <a:t>Lahore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53746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4343" y="2524237"/>
            <a:ext cx="9144000" cy="665163"/>
          </a:xfrm>
        </p:spPr>
        <p:txBody>
          <a:bodyPr>
            <a:noAutofit/>
          </a:bodyPr>
          <a:lstStyle/>
          <a:p>
            <a:pPr lvl="0"/>
            <a:r>
              <a:rPr lang="en-US" sz="4400" dirty="0"/>
              <a:t>Lecture </a:t>
            </a:r>
            <a:r>
              <a:rPr lang="en-US" sz="4400" dirty="0" smtClean="0"/>
              <a:t>10 </a:t>
            </a:r>
            <a:r>
              <a:rPr lang="en-US" sz="4400" dirty="0"/>
              <a:t>Shared Memory Programming with </a:t>
            </a:r>
            <a:r>
              <a:rPr lang="en-US" sz="4400" dirty="0" err="1" smtClean="0"/>
              <a:t>OpenMP</a:t>
            </a:r>
            <a:r>
              <a:rPr lang="en-US" sz="4400" dirty="0" smtClean="0"/>
              <a:t> – Part 2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51099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Review </a:t>
            </a:r>
            <a:r>
              <a:rPr lang="en-US" sz="3200" b="1" dirty="0"/>
              <a:t>of </a:t>
            </a:r>
            <a:r>
              <a:rPr lang="en-US" sz="3200" b="1" dirty="0" err="1"/>
              <a:t>OpenMP</a:t>
            </a:r>
            <a:r>
              <a:rPr lang="en-US" sz="3200" b="1" dirty="0"/>
              <a:t> Library </a:t>
            </a:r>
            <a:r>
              <a:rPr lang="en-US" sz="3200" b="1" dirty="0" smtClean="0"/>
              <a:t>Functions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#pragma </a:t>
            </a:r>
            <a:r>
              <a:rPr lang="en-US" sz="3200" b="1" dirty="0" err="1"/>
              <a:t>omp</a:t>
            </a:r>
            <a:r>
              <a:rPr lang="en-US" sz="3200" b="1" dirty="0"/>
              <a:t> directive [clause list</a:t>
            </a:r>
            <a:r>
              <a:rPr lang="en-US" sz="3200" b="1" dirty="0" smtClean="0"/>
              <a:t>]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Difference between </a:t>
            </a:r>
            <a:r>
              <a:rPr lang="en-US" sz="3200" b="1" dirty="0" err="1"/>
              <a:t>omp</a:t>
            </a:r>
            <a:r>
              <a:rPr lang="en-US" sz="3200" b="1" dirty="0"/>
              <a:t> for and </a:t>
            </a:r>
            <a:r>
              <a:rPr lang="en-US" sz="3200" b="1" dirty="0" err="1"/>
              <a:t>omp</a:t>
            </a:r>
            <a:r>
              <a:rPr lang="en-US" sz="3200" b="1" dirty="0"/>
              <a:t> </a:t>
            </a:r>
            <a:r>
              <a:rPr lang="en-US" sz="3200" b="1" dirty="0" smtClean="0"/>
              <a:t>parallel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Some Useful Clauses in </a:t>
            </a:r>
            <a:r>
              <a:rPr lang="en-US" sz="3200" b="1" dirty="0" err="1"/>
              <a:t>OpenMP</a:t>
            </a: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private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firstprivate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lastprivate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Reduction Clause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Conditional Parallelism </a:t>
            </a:r>
            <a:r>
              <a:rPr lang="en-US" sz="3200" b="1" dirty="0" smtClean="0"/>
              <a:t>Clause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7039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Scheduling Loops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Static</a:t>
            </a:r>
            <a:r>
              <a:rPr lang="en-US" b="1" dirty="0"/>
              <a:t>: schedule(static, [chunk-size])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Dynamic</a:t>
            </a:r>
            <a:r>
              <a:rPr lang="en-US" b="1" dirty="0"/>
              <a:t>: schedule(dynamic, [chunk-size])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Guided</a:t>
            </a:r>
            <a:r>
              <a:rPr lang="en-US" b="1" dirty="0"/>
              <a:t>: schedule(guided, C): 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No Wait </a:t>
            </a:r>
            <a:r>
              <a:rPr lang="en-US" sz="3200" b="1" dirty="0" smtClean="0"/>
              <a:t>Clause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Functional/Task </a:t>
            </a:r>
            <a:r>
              <a:rPr lang="en-US" sz="3200" b="1" dirty="0" smtClean="0"/>
              <a:t>Parallelism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err="1"/>
              <a:t>omp</a:t>
            </a:r>
            <a:r>
              <a:rPr lang="en-US" sz="3200" b="1" dirty="0"/>
              <a:t> sections </a:t>
            </a:r>
            <a:r>
              <a:rPr lang="en-US" sz="3200" b="1" dirty="0" smtClean="0"/>
              <a:t>pragma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Home Task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Summary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Additional Resources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6743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Controlling Number of Threads and Processors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void </a:t>
            </a:r>
            <a:r>
              <a:rPr lang="en-US" b="1" dirty="0" err="1"/>
              <a:t>omp_set_num_threads</a:t>
            </a:r>
            <a:r>
              <a:rPr lang="en-US" b="1" dirty="0"/>
              <a:t> 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num_threads</a:t>
            </a:r>
            <a:r>
              <a:rPr lang="en-US" b="1" dirty="0"/>
              <a:t>);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omp_get_num_threads</a:t>
            </a:r>
            <a:r>
              <a:rPr lang="en-US" b="1" dirty="0"/>
              <a:t> ( );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omp_get_max_threads</a:t>
            </a:r>
            <a:r>
              <a:rPr lang="en-US" b="1" dirty="0"/>
              <a:t> ( );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omp_get_thread_num</a:t>
            </a:r>
            <a:r>
              <a:rPr lang="en-US" b="1" dirty="0"/>
              <a:t> ( );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omp_get_num_procs</a:t>
            </a:r>
            <a:r>
              <a:rPr lang="en-US" b="1" dirty="0"/>
              <a:t> ( );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omp_in_parallel</a:t>
            </a:r>
            <a:r>
              <a:rPr lang="en-US" b="1" dirty="0"/>
              <a:t> ( 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Controlling and Monitoring Thread Creation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void </a:t>
            </a:r>
            <a:r>
              <a:rPr lang="en-US" b="1" dirty="0" err="1"/>
              <a:t>omp_set_dynamic</a:t>
            </a:r>
            <a:r>
              <a:rPr lang="en-US" b="1" dirty="0"/>
              <a:t> 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dynamic_threads</a:t>
            </a:r>
            <a:r>
              <a:rPr lang="en-US" b="1" dirty="0"/>
              <a:t>);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omp_get_dynamic</a:t>
            </a:r>
            <a:r>
              <a:rPr lang="en-US" b="1" dirty="0"/>
              <a:t> ( );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void </a:t>
            </a:r>
            <a:r>
              <a:rPr lang="en-US" b="1" dirty="0" err="1"/>
              <a:t>omp_set_nested</a:t>
            </a:r>
            <a:r>
              <a:rPr lang="en-US" b="1" dirty="0"/>
              <a:t> (</a:t>
            </a:r>
            <a:r>
              <a:rPr lang="en-US" b="1" dirty="0" err="1"/>
              <a:t>int</a:t>
            </a:r>
            <a:r>
              <a:rPr lang="en-US" b="1" dirty="0"/>
              <a:t> nested);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omp_get_nested</a:t>
            </a:r>
            <a:r>
              <a:rPr lang="en-US" b="1" dirty="0"/>
              <a:t> ();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 of </a:t>
            </a:r>
            <a:r>
              <a:rPr lang="en-US" dirty="0" err="1"/>
              <a:t>OpenMP</a:t>
            </a:r>
            <a:r>
              <a:rPr lang="en-US" dirty="0"/>
              <a:t> Library Functions</a:t>
            </a:r>
          </a:p>
        </p:txBody>
      </p:sp>
    </p:spTree>
    <p:extLst>
      <p:ext uri="{BB962C8B-B14F-4D97-AF65-F5344CB8AC3E}">
        <p14:creationId xmlns:p14="http://schemas.microsoft.com/office/powerpoint/2010/main" val="29763444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#pragma </a:t>
            </a:r>
            <a:r>
              <a:rPr lang="en-US" dirty="0" err="1"/>
              <a:t>omp</a:t>
            </a:r>
            <a:r>
              <a:rPr lang="en-US" dirty="0"/>
              <a:t> directive [clause list]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#pragma </a:t>
            </a:r>
            <a:r>
              <a:rPr lang="en-US" b="1" dirty="0" err="1"/>
              <a:t>omp</a:t>
            </a:r>
            <a:r>
              <a:rPr lang="en-US" b="1" dirty="0"/>
              <a:t> parallel 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to </a:t>
            </a:r>
            <a:r>
              <a:rPr lang="en-US" b="1" dirty="0"/>
              <a:t>create concurrent </a:t>
            </a:r>
            <a:r>
              <a:rPr lang="en-US" b="1" dirty="0" smtClean="0"/>
              <a:t>threads 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#pragma </a:t>
            </a:r>
            <a:r>
              <a:rPr lang="en-US" b="1" dirty="0" err="1"/>
              <a:t>omp</a:t>
            </a:r>
            <a:r>
              <a:rPr lang="en-US" b="1" dirty="0"/>
              <a:t> for 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split </a:t>
            </a:r>
            <a:r>
              <a:rPr lang="en-US" b="1" dirty="0"/>
              <a:t>parallel iteration space across </a:t>
            </a:r>
            <a:r>
              <a:rPr lang="en-US" b="1" dirty="0" smtClean="0"/>
              <a:t>threads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#pragma </a:t>
            </a:r>
            <a:r>
              <a:rPr lang="en-US" b="1" dirty="0" err="1"/>
              <a:t>omp</a:t>
            </a:r>
            <a:r>
              <a:rPr lang="en-US" b="1"/>
              <a:t> </a:t>
            </a:r>
            <a:r>
              <a:rPr lang="en-US" b="1" smtClean="0"/>
              <a:t>sections 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when </a:t>
            </a:r>
            <a:r>
              <a:rPr lang="en-US" b="1" dirty="0"/>
              <a:t>different independent tasks need to be executed on different </a:t>
            </a:r>
            <a:r>
              <a:rPr lang="en-US" b="1" dirty="0" smtClean="0"/>
              <a:t>threads 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Note</a:t>
            </a:r>
            <a:r>
              <a:rPr lang="en-US" b="1" dirty="0"/>
              <a:t>: if no parallel directive, then for and sections directives would work serially 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251667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between </a:t>
            </a:r>
            <a:r>
              <a:rPr lang="en-US" i="1" dirty="0" err="1"/>
              <a:t>omp</a:t>
            </a:r>
            <a:r>
              <a:rPr lang="en-US" i="1" dirty="0"/>
              <a:t> for </a:t>
            </a:r>
            <a:r>
              <a:rPr lang="en-US" dirty="0"/>
              <a:t>and </a:t>
            </a:r>
            <a:r>
              <a:rPr lang="en-US" i="1" dirty="0" err="1"/>
              <a:t>omp</a:t>
            </a:r>
            <a:r>
              <a:rPr lang="en-US" i="1" dirty="0"/>
              <a:t> parallel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130175" indent="0" algn="just">
              <a:buNone/>
            </a:pPr>
            <a:r>
              <a:rPr lang="en-US" b="1" dirty="0" smtClean="0"/>
              <a:t>#</a:t>
            </a:r>
            <a:r>
              <a:rPr lang="en-US" b="1" dirty="0"/>
              <a:t>pragma </a:t>
            </a:r>
            <a:r>
              <a:rPr lang="en-US" b="1" dirty="0" err="1"/>
              <a:t>omp</a:t>
            </a:r>
            <a:r>
              <a:rPr lang="en-US" b="1" dirty="0"/>
              <a:t> </a:t>
            </a:r>
            <a:r>
              <a:rPr lang="en-US" b="1" dirty="0" smtClean="0"/>
              <a:t>parallel</a:t>
            </a:r>
          </a:p>
          <a:p>
            <a:pPr marL="130175" indent="0" algn="just">
              <a:buNone/>
            </a:pPr>
            <a:r>
              <a:rPr lang="en-US" b="1" dirty="0" smtClean="0"/>
              <a:t>{</a:t>
            </a:r>
          </a:p>
          <a:p>
            <a:pPr marL="130175" indent="0" algn="just">
              <a:buNone/>
            </a:pPr>
            <a:r>
              <a:rPr lang="en-US" b="1" dirty="0" smtClean="0"/>
              <a:t>#</a:t>
            </a:r>
            <a:r>
              <a:rPr lang="en-US" b="1" dirty="0"/>
              <a:t>pragma </a:t>
            </a:r>
            <a:r>
              <a:rPr lang="en-US" b="1" dirty="0" err="1"/>
              <a:t>omp</a:t>
            </a:r>
            <a:r>
              <a:rPr lang="en-US" b="1" dirty="0"/>
              <a:t> </a:t>
            </a:r>
            <a:r>
              <a:rPr lang="en-US" b="1" dirty="0" smtClean="0"/>
              <a:t>for</a:t>
            </a:r>
          </a:p>
          <a:p>
            <a:pPr marL="130175" indent="0" algn="just">
              <a:buNone/>
            </a:pPr>
            <a:r>
              <a:rPr lang="en-US" b="1" dirty="0"/>
              <a:t>	</a:t>
            </a:r>
            <a:r>
              <a:rPr lang="en-US" b="1" dirty="0" smtClean="0"/>
              <a:t>for 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 = 0 &lt; </a:t>
            </a:r>
            <a:r>
              <a:rPr lang="en-US" b="1" dirty="0" err="1"/>
              <a:t>i</a:t>
            </a:r>
            <a:r>
              <a:rPr lang="en-US" b="1" dirty="0"/>
              <a:t> &lt; n; </a:t>
            </a:r>
            <a:r>
              <a:rPr lang="en-US" b="1" dirty="0" err="1"/>
              <a:t>i</a:t>
            </a:r>
            <a:r>
              <a:rPr lang="en-US" b="1" dirty="0"/>
              <a:t>++) {  </a:t>
            </a:r>
            <a:endParaRPr lang="en-US" b="1" dirty="0" smtClean="0"/>
          </a:p>
          <a:p>
            <a:pPr marL="130175" indent="0" algn="just">
              <a:buNone/>
            </a:pPr>
            <a:r>
              <a:rPr lang="en-US" b="1" dirty="0"/>
              <a:t>	</a:t>
            </a:r>
            <a:r>
              <a:rPr lang="en-US" b="1" dirty="0" smtClean="0"/>
              <a:t>	//</a:t>
            </a:r>
            <a:r>
              <a:rPr lang="en-US" b="1" dirty="0" err="1"/>
              <a:t>omp</a:t>
            </a:r>
            <a:r>
              <a:rPr lang="en-US" b="1" dirty="0"/>
              <a:t> for schedules/distributes </a:t>
            </a:r>
            <a:r>
              <a:rPr lang="en-US" b="1" dirty="0" smtClean="0"/>
              <a:t>iterations </a:t>
            </a:r>
            <a:r>
              <a:rPr lang="en-US" b="1" dirty="0"/>
              <a:t>between the </a:t>
            </a:r>
            <a:r>
              <a:rPr lang="en-US" b="1" dirty="0" smtClean="0"/>
              <a:t>threads</a:t>
            </a:r>
          </a:p>
          <a:p>
            <a:pPr marL="130175" indent="0" algn="just">
              <a:buNone/>
            </a:pPr>
            <a:r>
              <a:rPr lang="en-US" b="1" dirty="0"/>
              <a:t>	</a:t>
            </a:r>
            <a:r>
              <a:rPr lang="en-US" b="1" dirty="0" smtClean="0"/>
              <a:t>	/* </a:t>
            </a:r>
            <a:r>
              <a:rPr lang="en-US" b="1" dirty="0"/>
              <a:t>body of parallel for loop </a:t>
            </a:r>
            <a:r>
              <a:rPr lang="en-US" b="1" dirty="0" smtClean="0"/>
              <a:t>*/</a:t>
            </a:r>
          </a:p>
          <a:p>
            <a:pPr marL="130175" indent="0" algn="just">
              <a:buNone/>
            </a:pPr>
            <a:r>
              <a:rPr lang="en-US" b="1" dirty="0"/>
              <a:t>	</a:t>
            </a:r>
            <a:r>
              <a:rPr lang="en-US" b="1" dirty="0" smtClean="0"/>
              <a:t>	}</a:t>
            </a:r>
            <a:endParaRPr lang="en-US" b="1" dirty="0"/>
          </a:p>
          <a:p>
            <a:pPr marL="130175" indent="0" algn="just">
              <a:buNone/>
            </a:pPr>
            <a:r>
              <a:rPr lang="en-US" b="1" dirty="0" smtClean="0"/>
              <a:t>}</a:t>
            </a:r>
          </a:p>
          <a:p>
            <a:pPr marL="130175" indent="0" algn="just">
              <a:buNone/>
            </a:pPr>
            <a:r>
              <a:rPr lang="en-US" b="1" dirty="0" smtClean="0"/>
              <a:t>is </a:t>
            </a:r>
            <a:r>
              <a:rPr lang="en-US" b="1" dirty="0"/>
              <a:t>same as </a:t>
            </a:r>
          </a:p>
          <a:p>
            <a:pPr marL="130175" indent="0" algn="just">
              <a:buNone/>
            </a:pPr>
            <a:r>
              <a:rPr lang="en-US" b="1" dirty="0" smtClean="0"/>
              <a:t>#pragma </a:t>
            </a:r>
            <a:r>
              <a:rPr lang="en-US" b="1" dirty="0" err="1"/>
              <a:t>omp</a:t>
            </a:r>
            <a:r>
              <a:rPr lang="en-US" b="1" dirty="0"/>
              <a:t> parallel for </a:t>
            </a:r>
            <a:endParaRPr lang="en-US" b="1" dirty="0" smtClean="0"/>
          </a:p>
          <a:p>
            <a:pPr marL="130175" indent="0" algn="just">
              <a:buNone/>
            </a:pPr>
            <a:r>
              <a:rPr lang="en-US" b="1" dirty="0" smtClean="0"/>
              <a:t>for 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 = 0 &lt; </a:t>
            </a:r>
            <a:r>
              <a:rPr lang="en-US" b="1" dirty="0" err="1"/>
              <a:t>i</a:t>
            </a:r>
            <a:r>
              <a:rPr lang="en-US" b="1" dirty="0"/>
              <a:t> &lt; n; </a:t>
            </a:r>
            <a:r>
              <a:rPr lang="en-US" b="1" dirty="0" err="1"/>
              <a:t>i</a:t>
            </a:r>
            <a:r>
              <a:rPr lang="en-US" b="1" dirty="0"/>
              <a:t>++) </a:t>
            </a:r>
            <a:r>
              <a:rPr lang="en-US" b="1" dirty="0" smtClean="0"/>
              <a:t>{</a:t>
            </a:r>
          </a:p>
          <a:p>
            <a:pPr marL="130175" indent="0" algn="just">
              <a:buNone/>
            </a:pPr>
            <a:r>
              <a:rPr lang="en-US" b="1" dirty="0"/>
              <a:t>	</a:t>
            </a:r>
            <a:r>
              <a:rPr lang="en-US" b="1" dirty="0" smtClean="0"/>
              <a:t>/* </a:t>
            </a:r>
            <a:r>
              <a:rPr lang="en-US" b="1" dirty="0"/>
              <a:t>body of parallel for loop </a:t>
            </a:r>
            <a:r>
              <a:rPr lang="en-US" b="1" dirty="0" smtClean="0"/>
              <a:t>*/</a:t>
            </a:r>
          </a:p>
          <a:p>
            <a:pPr marL="130175" indent="0" algn="just">
              <a:buNone/>
            </a:pPr>
            <a:r>
              <a:rPr lang="en-US" b="1" dirty="0" smtClean="0"/>
              <a:t>	}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13110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 clause is an optional, additional </a:t>
            </a:r>
            <a:r>
              <a:rPr lang="en-US" b="1" dirty="0">
                <a:solidFill>
                  <a:srgbClr val="0000A8"/>
                </a:solidFill>
              </a:rPr>
              <a:t>component</a:t>
            </a:r>
            <a:r>
              <a:rPr lang="en-US" b="1" dirty="0"/>
              <a:t> to a pragma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C00000"/>
                </a:solidFill>
              </a:rPr>
              <a:t>Private:</a:t>
            </a:r>
            <a:r>
              <a:rPr lang="en-US" b="1" dirty="0" smtClean="0"/>
              <a:t> The </a:t>
            </a:r>
            <a:r>
              <a:rPr lang="en-US" b="1" dirty="0"/>
              <a:t>private clause directs the compiler to make one or more </a:t>
            </a:r>
            <a:r>
              <a:rPr lang="en-US" b="1" dirty="0">
                <a:solidFill>
                  <a:srgbClr val="0000A8"/>
                </a:solidFill>
              </a:rPr>
              <a:t>variables</a:t>
            </a:r>
            <a:r>
              <a:rPr lang="en-US" b="1" dirty="0"/>
              <a:t> private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err="1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Useful Clauses in </a:t>
            </a:r>
            <a:r>
              <a:rPr lang="en-US" dirty="0" err="1"/>
              <a:t>OpenMP</a:t>
            </a:r>
            <a:endParaRPr 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="" xmlns:a16="http://schemas.microsoft.com/office/drawing/2014/main" id="{73249EEB-3038-4319-9BA5-8F8E6B88D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0028" y="2636745"/>
            <a:ext cx="8276575" cy="3396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 k=3;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#pragma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omp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parallel for default(shared) private(j) shared(k)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for (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0;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&lt; n;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++)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for (j = 0; j &lt; n;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j++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a[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][j] = MIN(a[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][j],a[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][k]+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tmp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Comments</a:t>
            </a: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Here the private variable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j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is undefined - 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when this parallel construct is entered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when this parallel construct is exited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6439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C00000"/>
                </a:solidFill>
              </a:rPr>
              <a:t>firstprivate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r>
              <a:rPr lang="en-US" b="1" dirty="0"/>
              <a:t>It directs the compiler to create private variables having initial values </a:t>
            </a:r>
            <a:r>
              <a:rPr lang="en-US" b="1" dirty="0">
                <a:solidFill>
                  <a:srgbClr val="0000A8"/>
                </a:solidFill>
              </a:rPr>
              <a:t>identical</a:t>
            </a:r>
            <a:r>
              <a:rPr lang="en-US" b="1" dirty="0"/>
              <a:t> to the value of the variable controlled by the master </a:t>
            </a:r>
            <a:r>
              <a:rPr lang="en-US" b="1" dirty="0" smtClean="0"/>
              <a:t>thread </a:t>
            </a:r>
            <a:r>
              <a:rPr lang="en-US" b="1" dirty="0"/>
              <a:t>as the loop is </a:t>
            </a:r>
            <a:r>
              <a:rPr lang="en-US" b="1" dirty="0" smtClean="0"/>
              <a:t>entered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Useful Clauses in </a:t>
            </a:r>
            <a:r>
              <a:rPr lang="en-US" dirty="0" err="1" smtClean="0"/>
              <a:t>OpenMP</a:t>
            </a:r>
            <a:r>
              <a:rPr lang="en-US" dirty="0" smtClean="0"/>
              <a:t> (Cont.)</a:t>
            </a:r>
            <a:endParaRPr 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="" xmlns:a16="http://schemas.microsoft.com/office/drawing/2014/main" id="{73249EEB-3038-4319-9BA5-8F8E6B88D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575" y="2636744"/>
            <a:ext cx="9783825" cy="22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complex_function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#pragma omp parallel for firstprivate(s) num_threads(2)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for (i = 0 </a:t>
            </a:r>
            <a:r>
              <a:rPr kumimoji="0" lang="nn-NO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; </a:t>
            </a:r>
            <a:r>
              <a:rPr kumimoji="0" lang="nn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 &lt; n </a:t>
            </a:r>
            <a:r>
              <a:rPr kumimoji="0" lang="nn-NO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; </a:t>
            </a:r>
            <a:r>
              <a:rPr kumimoji="0" lang="nn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 ++) (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s = s*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omp_get_thread_num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;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printf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(“S is %d at thread#%d\n”,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s,omp_get_thread_num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69464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C00000"/>
                </a:solidFill>
              </a:rPr>
              <a:t>lastprivate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r>
              <a:rPr lang="en-US" b="1" dirty="0"/>
              <a:t>used to </a:t>
            </a:r>
            <a:r>
              <a:rPr lang="en-US" b="1" dirty="0">
                <a:solidFill>
                  <a:srgbClr val="0000A8"/>
                </a:solidFill>
              </a:rPr>
              <a:t>copy back </a:t>
            </a:r>
            <a:r>
              <a:rPr lang="en-US" b="1" dirty="0"/>
              <a:t>to the master thread’s copy of the variable,  the private copy of the variable from the thread that executed the last </a:t>
            </a:r>
            <a:r>
              <a:rPr lang="en-US" b="1" dirty="0" smtClean="0"/>
              <a:t>iteration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Useful Clauses in </a:t>
            </a:r>
            <a:r>
              <a:rPr lang="en-US" dirty="0" err="1" smtClean="0"/>
              <a:t>OpenMP</a:t>
            </a:r>
            <a:r>
              <a:rPr lang="en-US" dirty="0" smtClean="0"/>
              <a:t> (Cont.)</a:t>
            </a:r>
            <a:endParaRPr lang="en-US" dirty="0"/>
          </a:p>
        </p:txBody>
      </p:sp>
      <p:sp>
        <p:nvSpPr>
          <p:cNvPr id="7" name="Text Box 3">
            <a:extLst>
              <a:ext uri="{FF2B5EF4-FFF2-40B4-BE49-F238E27FC236}">
                <a16:creationId xmlns="" xmlns:a16="http://schemas.microsoft.com/office/drawing/2014/main" id="{7CAFA15E-4A91-4630-9D86-0DC307245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175" y="2799348"/>
            <a:ext cx="8509225" cy="1782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complex_function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#pragma omp parallel for private(j) firstprivate(s) lastprivate(s)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for (i = 0 </a:t>
            </a:r>
            <a:r>
              <a:rPr kumimoji="0" lang="nn-NO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; </a:t>
            </a:r>
            <a:r>
              <a:rPr kumimoji="0" lang="nn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 &lt; n </a:t>
            </a:r>
            <a:r>
              <a:rPr kumimoji="0" lang="nn-NO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; </a:t>
            </a:r>
            <a:r>
              <a:rPr kumimoji="0" lang="nn-N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 ++) (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s +=1;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6F54"/>
              </a:buClr>
              <a:buSzPct val="75000"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printf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(“s after join:%d\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n”,s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);//value of s as it was for last iteration of the loop</a:t>
            </a:r>
          </a:p>
        </p:txBody>
      </p:sp>
    </p:spTree>
    <p:extLst>
      <p:ext uri="{BB962C8B-B14F-4D97-AF65-F5344CB8AC3E}">
        <p14:creationId xmlns:p14="http://schemas.microsoft.com/office/powerpoint/2010/main" val="26994082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 smtClean="0"/>
              <a:t>OpenMP</a:t>
            </a:r>
            <a:r>
              <a:rPr lang="en-US" b="1" dirty="0" smtClean="0"/>
              <a:t> </a:t>
            </a:r>
            <a:r>
              <a:rPr lang="en-US" b="1" dirty="0"/>
              <a:t>provides </a:t>
            </a:r>
            <a:r>
              <a:rPr lang="en-US" b="1" dirty="0">
                <a:solidFill>
                  <a:srgbClr val="0000A8"/>
                </a:solidFill>
              </a:rPr>
              <a:t>support</a:t>
            </a:r>
            <a:r>
              <a:rPr lang="en-US" b="1" dirty="0"/>
              <a:t> </a:t>
            </a:r>
            <a:r>
              <a:rPr lang="en-US" b="1" dirty="0" smtClean="0"/>
              <a:t>for Reductions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May </a:t>
            </a:r>
            <a:r>
              <a:rPr lang="en-US" b="1" dirty="0"/>
              <a:t>add reduction clause to </a:t>
            </a:r>
            <a:r>
              <a:rPr lang="en-US" b="1" dirty="0">
                <a:solidFill>
                  <a:srgbClr val="0000A8"/>
                </a:solidFill>
              </a:rPr>
              <a:t>parallel for </a:t>
            </a:r>
            <a:r>
              <a:rPr lang="en-US" b="1" dirty="0"/>
              <a:t>pragma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Specify </a:t>
            </a:r>
            <a:r>
              <a:rPr lang="en-US" b="1" dirty="0"/>
              <a:t>reduction </a:t>
            </a:r>
            <a:r>
              <a:rPr lang="en-US" b="1" dirty="0">
                <a:solidFill>
                  <a:srgbClr val="0000A8"/>
                </a:solidFill>
              </a:rPr>
              <a:t>operation</a:t>
            </a:r>
            <a:r>
              <a:rPr lang="en-US" b="1" dirty="0"/>
              <a:t> and reduction variable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 smtClean="0"/>
              <a:t>OpenMP</a:t>
            </a:r>
            <a:r>
              <a:rPr lang="en-US" b="1" dirty="0" smtClean="0"/>
              <a:t> </a:t>
            </a:r>
            <a:r>
              <a:rPr lang="en-US" b="1" dirty="0"/>
              <a:t>takes care of storing </a:t>
            </a:r>
            <a:r>
              <a:rPr lang="en-US" b="1" dirty="0">
                <a:solidFill>
                  <a:srgbClr val="0000A8"/>
                </a:solidFill>
              </a:rPr>
              <a:t>partial results </a:t>
            </a:r>
            <a:r>
              <a:rPr lang="en-US" b="1" dirty="0"/>
              <a:t>in private variables and combining partial results after the </a:t>
            </a:r>
            <a:r>
              <a:rPr lang="en-US" b="1" dirty="0" smtClean="0"/>
              <a:t>loop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Reduction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Clause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2504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The </a:t>
            </a:r>
            <a:r>
              <a:rPr lang="en-US" b="1" dirty="0"/>
              <a:t>reduction clause has this syntax:</a:t>
            </a:r>
            <a:br>
              <a:rPr lang="en-US" b="1" dirty="0"/>
            </a:br>
            <a:r>
              <a:rPr lang="en-US" b="1" dirty="0">
                <a:solidFill>
                  <a:srgbClr val="0000A8"/>
                </a:solidFill>
              </a:rPr>
              <a:t>reduction (&lt;op&gt; :&lt;variable</a:t>
            </a:r>
            <a:r>
              <a:rPr lang="en-US" b="1" dirty="0" smtClean="0">
                <a:solidFill>
                  <a:srgbClr val="0000A8"/>
                </a:solidFill>
              </a:rPr>
              <a:t>&gt;)</a:t>
            </a:r>
            <a:endParaRPr lang="en-US" b="1" dirty="0">
              <a:solidFill>
                <a:srgbClr val="0000A8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Operators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+	Sum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*	</a:t>
            </a:r>
            <a:r>
              <a:rPr lang="en-US" b="1" dirty="0" smtClean="0"/>
              <a:t>Product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&amp; Bitwise </a:t>
            </a:r>
            <a:r>
              <a:rPr lang="en-US" b="1" dirty="0"/>
              <a:t>and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|	</a:t>
            </a:r>
            <a:r>
              <a:rPr lang="en-US" b="1" dirty="0" smtClean="0"/>
              <a:t>Bitwise </a:t>
            </a:r>
            <a:r>
              <a:rPr lang="en-US" b="1" dirty="0"/>
              <a:t>or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^	</a:t>
            </a:r>
            <a:r>
              <a:rPr lang="en-US" b="1" dirty="0" smtClean="0"/>
              <a:t>Bitwise </a:t>
            </a:r>
            <a:r>
              <a:rPr lang="en-US" b="1" dirty="0"/>
              <a:t>exclusive or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&amp;&amp; Logical </a:t>
            </a:r>
            <a:r>
              <a:rPr lang="en-US" b="1" dirty="0"/>
              <a:t>and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|| Logical </a:t>
            </a:r>
            <a:r>
              <a:rPr lang="en-US" b="1" dirty="0"/>
              <a:t>or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err="1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Reduction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Clause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508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/>
              <a:t>double area, pi, x;</a:t>
            </a:r>
          </a:p>
          <a:p>
            <a:pPr marL="130175" indent="0" algn="just">
              <a:buNone/>
            </a:pP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, n;</a:t>
            </a:r>
          </a:p>
          <a:p>
            <a:pPr marL="130175" indent="0" algn="just">
              <a:buNone/>
            </a:pPr>
            <a:r>
              <a:rPr lang="en-US" b="1" dirty="0"/>
              <a:t>...</a:t>
            </a:r>
          </a:p>
          <a:p>
            <a:pPr marL="130175" indent="0" algn="just">
              <a:buNone/>
            </a:pPr>
            <a:r>
              <a:rPr lang="en-US" b="1" dirty="0"/>
              <a:t>area = 0.0;</a:t>
            </a:r>
          </a:p>
          <a:p>
            <a:pPr marL="130175" indent="0" algn="just">
              <a:buNone/>
            </a:pPr>
            <a:r>
              <a:rPr lang="en-US" b="1" dirty="0"/>
              <a:t>#pragma </a:t>
            </a:r>
            <a:r>
              <a:rPr lang="en-US" b="1" dirty="0" err="1"/>
              <a:t>omp</a:t>
            </a:r>
            <a:r>
              <a:rPr lang="en-US" b="1" dirty="0"/>
              <a:t> parallel for private(x) reduction(+:area)</a:t>
            </a:r>
          </a:p>
          <a:p>
            <a:pPr marL="130175" indent="0" algn="just">
              <a:buNone/>
            </a:pPr>
            <a:r>
              <a:rPr lang="en-US" b="1" dirty="0"/>
              <a:t>for (</a:t>
            </a:r>
            <a:r>
              <a:rPr lang="en-US" b="1" dirty="0" err="1"/>
              <a:t>i</a:t>
            </a:r>
            <a:r>
              <a:rPr lang="en-US" b="1" dirty="0"/>
              <a:t> = 0; </a:t>
            </a:r>
            <a:r>
              <a:rPr lang="en-US" b="1" dirty="0" err="1"/>
              <a:t>i</a:t>
            </a:r>
            <a:r>
              <a:rPr lang="en-US" b="1" dirty="0"/>
              <a:t> &lt; n; </a:t>
            </a:r>
            <a:r>
              <a:rPr lang="en-US" b="1" dirty="0" err="1"/>
              <a:t>i</a:t>
            </a:r>
            <a:r>
              <a:rPr lang="en-US" b="1" dirty="0"/>
              <a:t>++) {</a:t>
            </a:r>
          </a:p>
          <a:p>
            <a:pPr marL="130175" indent="0" algn="just">
              <a:buNone/>
            </a:pPr>
            <a:r>
              <a:rPr lang="en-US" b="1" dirty="0"/>
              <a:t>   x = (i+0.5)/n;</a:t>
            </a:r>
          </a:p>
          <a:p>
            <a:pPr marL="130175" indent="0" algn="just">
              <a:buNone/>
            </a:pPr>
            <a:r>
              <a:rPr lang="en-US" b="1" dirty="0"/>
              <a:t>   area += 4.0/(1.0 + x*x);</a:t>
            </a:r>
          </a:p>
          <a:p>
            <a:pPr marL="130175" indent="0" algn="just">
              <a:buNone/>
            </a:pPr>
            <a:r>
              <a:rPr lang="en-US" b="1" dirty="0"/>
              <a:t>}</a:t>
            </a:r>
          </a:p>
          <a:p>
            <a:pPr marL="130175" indent="0" algn="just">
              <a:buNone/>
            </a:pPr>
            <a:r>
              <a:rPr lang="en-US" b="1" dirty="0"/>
              <a:t>pi = area / n;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Reduction Clause (Cont.)</a:t>
            </a:r>
            <a:endParaRPr 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4176" y="3922589"/>
            <a:ext cx="2664296" cy="2642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028758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if Clause: </a:t>
            </a:r>
            <a:r>
              <a:rPr lang="en-US" b="1" dirty="0"/>
              <a:t>The </a:t>
            </a:r>
            <a:r>
              <a:rPr lang="en-US" b="1" dirty="0">
                <a:solidFill>
                  <a:srgbClr val="0000A8"/>
                </a:solidFill>
              </a:rPr>
              <a:t>if clause </a:t>
            </a:r>
            <a:r>
              <a:rPr lang="en-US" b="1" dirty="0"/>
              <a:t>gives us the ability to direct the compiler to insert code that </a:t>
            </a:r>
            <a:r>
              <a:rPr lang="en-US" b="1" dirty="0">
                <a:solidFill>
                  <a:srgbClr val="0000A8"/>
                </a:solidFill>
              </a:rPr>
              <a:t>determines</a:t>
            </a:r>
            <a:r>
              <a:rPr lang="en-US" b="1" dirty="0"/>
              <a:t> at run-time whether the loop should be executed in parallel or </a:t>
            </a:r>
            <a:r>
              <a:rPr lang="en-US" b="1" dirty="0" smtClean="0"/>
              <a:t>not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 clause has this syntax: </a:t>
            </a:r>
            <a:r>
              <a:rPr lang="en-US" b="1" dirty="0">
                <a:solidFill>
                  <a:srgbClr val="0000A8"/>
                </a:solidFill>
              </a:rPr>
              <a:t>if (&lt;scalar expression&gt; )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Conditional Parallelism Clause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="" xmlns:a16="http://schemas.microsoft.com/office/drawing/2014/main" id="{46E2E81E-0E19-45E2-A682-24EF6211C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489" y="3267528"/>
            <a:ext cx="8323551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double area, pi, x;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area = 0.0;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#pragma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omp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parallel for private(x) reduction(+:area)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if(n&gt;5000)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for (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0;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&lt; n;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++)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x = (i+0.5)/n;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area += 4.0/(1.0 + x*x);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pi = area / n;</a:t>
            </a:r>
          </a:p>
        </p:txBody>
      </p:sp>
    </p:spTree>
    <p:extLst>
      <p:ext uri="{BB962C8B-B14F-4D97-AF65-F5344CB8AC3E}">
        <p14:creationId xmlns:p14="http://schemas.microsoft.com/office/powerpoint/2010/main" val="23960797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Scheduling the loops means </a:t>
            </a:r>
            <a:r>
              <a:rPr lang="en-US" b="1" dirty="0">
                <a:solidFill>
                  <a:srgbClr val="0000A8"/>
                </a:solidFill>
              </a:rPr>
              <a:t>dividing</a:t>
            </a:r>
            <a:r>
              <a:rPr lang="en-US" b="1" dirty="0"/>
              <a:t> number of iterations between the </a:t>
            </a:r>
            <a:r>
              <a:rPr lang="en-US" b="1" dirty="0" smtClean="0"/>
              <a:t>processes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Syntax of schedule clause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00A8"/>
                </a:solidFill>
              </a:rPr>
              <a:t>schedule (&lt;type&gt;[,&lt;chunk&gt; </a:t>
            </a:r>
            <a:r>
              <a:rPr lang="en-US" b="1" dirty="0" smtClean="0">
                <a:solidFill>
                  <a:srgbClr val="0000A8"/>
                </a:solidFill>
              </a:rPr>
              <a:t>])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Schedule type is </a:t>
            </a:r>
            <a:r>
              <a:rPr lang="en-US" b="1" dirty="0">
                <a:solidFill>
                  <a:srgbClr val="0000A8"/>
                </a:solidFill>
              </a:rPr>
              <a:t>required</a:t>
            </a:r>
            <a:r>
              <a:rPr lang="en-US" b="1" dirty="0"/>
              <a:t> but, </a:t>
            </a:r>
            <a:r>
              <a:rPr lang="en-US" b="1" dirty="0" smtClean="0"/>
              <a:t>chunk </a:t>
            </a:r>
            <a:r>
              <a:rPr lang="en-US" b="1" dirty="0"/>
              <a:t>size </a:t>
            </a:r>
            <a:r>
              <a:rPr lang="en-US" b="1" dirty="0" smtClean="0"/>
              <a:t>optional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 chunk is a </a:t>
            </a:r>
            <a:r>
              <a:rPr lang="en-US" b="1" dirty="0">
                <a:solidFill>
                  <a:srgbClr val="0000A8"/>
                </a:solidFill>
              </a:rPr>
              <a:t>contiguous</a:t>
            </a:r>
            <a:r>
              <a:rPr lang="en-US" b="1" dirty="0"/>
              <a:t> range of iterations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Increasing chunk size reduces </a:t>
            </a:r>
            <a:r>
              <a:rPr lang="en-US" b="1" dirty="0">
                <a:solidFill>
                  <a:srgbClr val="0000A8"/>
                </a:solidFill>
              </a:rPr>
              <a:t>scheduling overhead </a:t>
            </a:r>
            <a:r>
              <a:rPr lang="en-US" b="1" dirty="0"/>
              <a:t>and may increase cache hit rate [due to operations on contiguous memory locations]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Decreasing chunk size allows </a:t>
            </a:r>
            <a:r>
              <a:rPr lang="en-US" b="1" dirty="0">
                <a:solidFill>
                  <a:srgbClr val="0000A8"/>
                </a:solidFill>
              </a:rPr>
              <a:t>finer balancing </a:t>
            </a:r>
            <a:r>
              <a:rPr lang="en-US" b="1" dirty="0"/>
              <a:t>of workloads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Scheduling Loops (a clause)</a:t>
            </a:r>
          </a:p>
        </p:txBody>
      </p:sp>
    </p:spTree>
    <p:extLst>
      <p:ext uri="{BB962C8B-B14F-4D97-AF65-F5344CB8AC3E}">
        <p14:creationId xmlns:p14="http://schemas.microsoft.com/office/powerpoint/2010/main" val="28228810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Static: </a:t>
            </a:r>
            <a:r>
              <a:rPr lang="en-US" b="1" dirty="0" smtClean="0">
                <a:solidFill>
                  <a:srgbClr val="C00000"/>
                </a:solidFill>
              </a:rPr>
              <a:t>schedule(static, [chunk-size</a:t>
            </a:r>
            <a:r>
              <a:rPr lang="en-US" b="1" dirty="0">
                <a:solidFill>
                  <a:srgbClr val="C00000"/>
                </a:solidFill>
              </a:rPr>
              <a:t>])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Splits the iteration space into </a:t>
            </a:r>
            <a:r>
              <a:rPr lang="en-US" b="1" dirty="0">
                <a:solidFill>
                  <a:srgbClr val="0000A8"/>
                </a:solidFill>
              </a:rPr>
              <a:t>equal chunks </a:t>
            </a:r>
            <a:r>
              <a:rPr lang="en-US" b="1" dirty="0"/>
              <a:t>of size chunk-size and assigns them to threads in a round-robin </a:t>
            </a:r>
            <a:r>
              <a:rPr lang="en-US" b="1" dirty="0" smtClean="0"/>
              <a:t>fashion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When </a:t>
            </a:r>
            <a:r>
              <a:rPr lang="en-US" b="1" dirty="0">
                <a:solidFill>
                  <a:srgbClr val="0000A8"/>
                </a:solidFill>
              </a:rPr>
              <a:t>no chunk-size </a:t>
            </a:r>
            <a:r>
              <a:rPr lang="en-US" b="1" dirty="0"/>
              <a:t>is specified, the iteration space is split into as many chunks as there are threads (i.e., size of each is n/</a:t>
            </a:r>
            <a:r>
              <a:rPr lang="en-US" b="1" dirty="0" err="1"/>
              <a:t>tot.threads</a:t>
            </a:r>
            <a:r>
              <a:rPr lang="en-US" b="1" dirty="0"/>
              <a:t>) and one chunk is assigned to each </a:t>
            </a:r>
            <a:r>
              <a:rPr lang="en-US" b="1" dirty="0" smtClean="0"/>
              <a:t>thread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Decision about </a:t>
            </a:r>
            <a:r>
              <a:rPr lang="en-US" b="1" dirty="0">
                <a:solidFill>
                  <a:srgbClr val="0000A8"/>
                </a:solidFill>
              </a:rPr>
              <a:t>work division </a:t>
            </a:r>
            <a:r>
              <a:rPr lang="en-US" b="1" dirty="0"/>
              <a:t>is done </a:t>
            </a:r>
            <a:r>
              <a:rPr lang="en-US" b="1" dirty="0" smtClean="0"/>
              <a:t>before </a:t>
            </a:r>
            <a:r>
              <a:rPr lang="en-US" b="1" dirty="0"/>
              <a:t>executing the </a:t>
            </a:r>
            <a:r>
              <a:rPr lang="en-US" b="1" dirty="0" smtClean="0"/>
              <a:t>code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Results in </a:t>
            </a:r>
            <a:r>
              <a:rPr lang="en-US" b="1" dirty="0">
                <a:solidFill>
                  <a:srgbClr val="0000A8"/>
                </a:solidFill>
              </a:rPr>
              <a:t>lower scheduling overhead</a:t>
            </a:r>
            <a:r>
              <a:rPr lang="en-US" b="1" dirty="0"/>
              <a:t>. But, can cause </a:t>
            </a:r>
            <a:r>
              <a:rPr lang="en-US" b="1" dirty="0">
                <a:solidFill>
                  <a:srgbClr val="0000A8"/>
                </a:solidFill>
              </a:rPr>
              <a:t>load-imbalance</a:t>
            </a:r>
            <a:r>
              <a:rPr lang="en-US" b="1" dirty="0"/>
              <a:t> if all processors are not of same </a:t>
            </a:r>
            <a:r>
              <a:rPr lang="en-US" b="1" dirty="0" smtClean="0"/>
              <a:t>compute-capability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#pragma </a:t>
            </a:r>
            <a:r>
              <a:rPr lang="en-US" b="1" dirty="0" err="1"/>
              <a:t>omp</a:t>
            </a:r>
            <a:r>
              <a:rPr lang="en-US" b="1" dirty="0"/>
              <a:t> for schedule(static, </a:t>
            </a:r>
            <a:r>
              <a:rPr lang="en-US" b="1" dirty="0" err="1"/>
              <a:t>chunk_size</a:t>
            </a:r>
            <a:r>
              <a:rPr lang="en-US" b="1" dirty="0"/>
              <a:t>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#pragma </a:t>
            </a:r>
            <a:r>
              <a:rPr lang="en-US" b="1" dirty="0" err="1"/>
              <a:t>omp</a:t>
            </a:r>
            <a:r>
              <a:rPr lang="en-US" b="1" dirty="0"/>
              <a:t> for schedule(static)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Scheduling Loops</a:t>
            </a:r>
          </a:p>
        </p:txBody>
      </p:sp>
    </p:spTree>
    <p:extLst>
      <p:ext uri="{BB962C8B-B14F-4D97-AF65-F5344CB8AC3E}">
        <p14:creationId xmlns:p14="http://schemas.microsoft.com/office/powerpoint/2010/main" val="661722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Scheduling </a:t>
            </a:r>
            <a:r>
              <a:rPr lang="en-US" dirty="0" smtClean="0"/>
              <a:t>Loops (Cont.)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5390907D-A9D5-405B-B734-8B3FAD4F1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763"/>
            <a:ext cx="10515600" cy="50419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b="1" dirty="0">
                <a:latin typeface="Century Gothic (Body)"/>
              </a:rPr>
              <a:t>Static: </a:t>
            </a:r>
            <a:r>
              <a:rPr lang="en-US" b="1" dirty="0">
                <a:solidFill>
                  <a:srgbClr val="C00000"/>
                </a:solidFill>
              </a:rPr>
              <a:t>schedule(static[, chunk-size])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Example when reducing chunk size improves load-balancing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parallel for private </a:t>
            </a:r>
            <a:r>
              <a:rPr 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(j) </a:t>
            </a:r>
            <a:r>
              <a:rPr lang="en-US" sz="2000" b="1" dirty="0">
                <a:solidFill>
                  <a:srgbClr val="0000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schedule(static, 1)</a:t>
            </a:r>
          </a:p>
          <a:p>
            <a:pPr marL="0" indent="0">
              <a:buNone/>
            </a:pPr>
            <a:r>
              <a:rPr lang="nn-NO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(i = 0; i &lt; n; i++)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for ( j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j &lt; n;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pt-B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a[i][j] = complex_func(i,j);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2963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Dynamic: </a:t>
            </a:r>
            <a:r>
              <a:rPr lang="en-US" b="1" dirty="0" smtClean="0">
                <a:solidFill>
                  <a:srgbClr val="C00000"/>
                </a:solidFill>
              </a:rPr>
              <a:t>schedule(dynamic, [chunk-size</a:t>
            </a:r>
            <a:r>
              <a:rPr lang="en-US" b="1" dirty="0">
                <a:solidFill>
                  <a:srgbClr val="C00000"/>
                </a:solidFill>
              </a:rPr>
              <a:t>])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 iteration space is partitioned into chunks given by </a:t>
            </a:r>
            <a:r>
              <a:rPr lang="en-US" b="1" dirty="0">
                <a:solidFill>
                  <a:srgbClr val="0000A8"/>
                </a:solidFill>
              </a:rPr>
              <a:t>chunk-size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Initially every thread is assigned </a:t>
            </a:r>
            <a:r>
              <a:rPr lang="en-US" b="1" dirty="0">
                <a:solidFill>
                  <a:srgbClr val="0000A8"/>
                </a:solidFill>
              </a:rPr>
              <a:t>single</a:t>
            </a:r>
            <a:r>
              <a:rPr lang="en-US" b="1" dirty="0"/>
              <a:t> </a:t>
            </a:r>
            <a:r>
              <a:rPr lang="en-US" b="1" dirty="0" smtClean="0"/>
              <a:t>chunk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The </a:t>
            </a:r>
            <a:r>
              <a:rPr lang="en-US" b="1" dirty="0"/>
              <a:t>decision for remaining iteration chunks is done on </a:t>
            </a:r>
            <a:r>
              <a:rPr lang="en-US" b="1" dirty="0">
                <a:solidFill>
                  <a:srgbClr val="0000A8"/>
                </a:solidFill>
              </a:rPr>
              <a:t>run-time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This means chunk is </a:t>
            </a:r>
            <a:r>
              <a:rPr lang="en-US" b="1" dirty="0">
                <a:solidFill>
                  <a:srgbClr val="0000A8"/>
                </a:solidFill>
              </a:rPr>
              <a:t>assigned to threads </a:t>
            </a:r>
            <a:r>
              <a:rPr lang="en-US" b="1" dirty="0"/>
              <a:t>as they become </a:t>
            </a:r>
            <a:r>
              <a:rPr lang="en-US" b="1" dirty="0" smtClean="0"/>
              <a:t>idle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This takes care of the </a:t>
            </a:r>
            <a:r>
              <a:rPr lang="en-US" b="1" dirty="0">
                <a:solidFill>
                  <a:srgbClr val="0000A8"/>
                </a:solidFill>
              </a:rPr>
              <a:t>temporal imbalances </a:t>
            </a:r>
            <a:r>
              <a:rPr lang="en-US" b="1" dirty="0"/>
              <a:t>resulting from static </a:t>
            </a:r>
            <a:r>
              <a:rPr lang="en-US" b="1" dirty="0" smtClean="0"/>
              <a:t>scheduling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If no chunk-size is specified, it </a:t>
            </a:r>
            <a:r>
              <a:rPr lang="en-US" b="1" dirty="0">
                <a:solidFill>
                  <a:srgbClr val="0000A8"/>
                </a:solidFill>
              </a:rPr>
              <a:t>defaults</a:t>
            </a:r>
            <a:r>
              <a:rPr lang="en-US" b="1" dirty="0"/>
              <a:t> to a single iteration per </a:t>
            </a:r>
            <a:r>
              <a:rPr lang="en-US" b="1" dirty="0" smtClean="0"/>
              <a:t>chunk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#pragma </a:t>
            </a:r>
            <a:r>
              <a:rPr lang="en-US" b="1" dirty="0" err="1"/>
              <a:t>omp</a:t>
            </a:r>
            <a:r>
              <a:rPr lang="en-US" b="1" dirty="0"/>
              <a:t> for schedule(dynamic, </a:t>
            </a:r>
            <a:r>
              <a:rPr lang="en-US" b="1" dirty="0" err="1"/>
              <a:t>chunk_size</a:t>
            </a:r>
            <a:r>
              <a:rPr lang="en-US" b="1" dirty="0"/>
              <a:t>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#pragma </a:t>
            </a:r>
            <a:r>
              <a:rPr lang="en-US" b="1" dirty="0" err="1"/>
              <a:t>omp</a:t>
            </a:r>
            <a:r>
              <a:rPr lang="en-US" b="1" dirty="0"/>
              <a:t> for schedule(dynamic)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Scheduling </a:t>
            </a:r>
            <a:r>
              <a:rPr lang="en-US" dirty="0" smtClean="0"/>
              <a:t>Loops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694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Guided</a:t>
            </a:r>
            <a:r>
              <a:rPr lang="en-US" b="1" dirty="0">
                <a:solidFill>
                  <a:srgbClr val="C00000"/>
                </a:solidFill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00A8"/>
                </a:solidFill>
              </a:rPr>
              <a:t>schedule(guided, C</a:t>
            </a:r>
            <a:r>
              <a:rPr lang="en-US" b="1" dirty="0">
                <a:solidFill>
                  <a:srgbClr val="0000A8"/>
                </a:solidFill>
              </a:rPr>
              <a:t>): </a:t>
            </a:r>
            <a:endParaRPr lang="en-US" b="1" dirty="0" smtClean="0">
              <a:solidFill>
                <a:srgbClr val="0000A8"/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D</a:t>
            </a:r>
            <a:r>
              <a:rPr lang="en-US" b="1" dirty="0" smtClean="0"/>
              <a:t>ynamic </a:t>
            </a:r>
            <a:r>
              <a:rPr lang="en-US" b="1" dirty="0">
                <a:solidFill>
                  <a:srgbClr val="0000A8"/>
                </a:solidFill>
              </a:rPr>
              <a:t>allocation</a:t>
            </a:r>
            <a:r>
              <a:rPr lang="en-US" b="1" dirty="0"/>
              <a:t> of chunks to tasks using guided self-scheduling </a:t>
            </a:r>
            <a:r>
              <a:rPr lang="en-US" b="1" dirty="0" smtClean="0"/>
              <a:t>heuristic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Initial </a:t>
            </a:r>
            <a:r>
              <a:rPr lang="en-US" b="1" dirty="0"/>
              <a:t>chunks are </a:t>
            </a:r>
            <a:r>
              <a:rPr lang="en-US" b="1" dirty="0">
                <a:solidFill>
                  <a:srgbClr val="0000A8"/>
                </a:solidFill>
              </a:rPr>
              <a:t>bigger</a:t>
            </a:r>
            <a:r>
              <a:rPr lang="en-US" b="1" dirty="0"/>
              <a:t>, later chunks are smaller, minimum chunk size is </a:t>
            </a:r>
            <a:r>
              <a:rPr lang="en-US" b="1" dirty="0" smtClean="0"/>
              <a:t>C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A8"/>
                </a:solidFill>
              </a:rPr>
              <a:t>schedule(guided): </a:t>
            </a:r>
            <a:endParaRPr lang="en-US" b="1" dirty="0" smtClean="0">
              <a:solidFill>
                <a:srgbClr val="0000A8"/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Guided </a:t>
            </a:r>
            <a:r>
              <a:rPr lang="en-US" b="1" dirty="0"/>
              <a:t>self-scheduling with </a:t>
            </a:r>
            <a:r>
              <a:rPr lang="en-US" b="1" dirty="0">
                <a:solidFill>
                  <a:srgbClr val="0000A8"/>
                </a:solidFill>
              </a:rPr>
              <a:t>minimum </a:t>
            </a:r>
            <a:r>
              <a:rPr lang="en-US" b="1" dirty="0"/>
              <a:t>chunk size 1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marL="130175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schedule(runtime): 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schedule </a:t>
            </a:r>
            <a:r>
              <a:rPr lang="en-US" b="1" dirty="0"/>
              <a:t>chosen at run-time </a:t>
            </a:r>
            <a:r>
              <a:rPr lang="en-US" b="1" dirty="0">
                <a:solidFill>
                  <a:srgbClr val="0000A8"/>
                </a:solidFill>
              </a:rPr>
              <a:t>based</a:t>
            </a:r>
            <a:r>
              <a:rPr lang="en-US" b="1" dirty="0"/>
              <a:t> on value of OMP_SCHEDULE </a:t>
            </a:r>
            <a:r>
              <a:rPr lang="en-US" b="1" dirty="0" err="1" smtClean="0"/>
              <a:t>env</a:t>
            </a:r>
            <a:r>
              <a:rPr lang="en-US" b="1" dirty="0" smtClean="0"/>
              <a:t>. variable 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Scheduling </a:t>
            </a:r>
            <a:r>
              <a:rPr lang="en-US" dirty="0" smtClean="0"/>
              <a:t>Loops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5430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Scheduling Loops(Summary)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="" xmlns:a16="http://schemas.microsoft.com/office/drawing/2014/main" id="{25104C18-1D71-4E38-9F88-8684B6641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8866" y="1346442"/>
            <a:ext cx="10445514" cy="476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3368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In order to avoid </a:t>
            </a:r>
            <a:r>
              <a:rPr lang="en-US" sz="3200" b="1" dirty="0">
                <a:solidFill>
                  <a:srgbClr val="0000A8"/>
                </a:solidFill>
              </a:rPr>
              <a:t>implicit</a:t>
            </a:r>
            <a:r>
              <a:rPr lang="en-US" sz="3200" b="1" dirty="0"/>
              <a:t> barrier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 thread can easily </a:t>
            </a:r>
            <a:r>
              <a:rPr lang="en-US" sz="3200" b="1" dirty="0">
                <a:solidFill>
                  <a:srgbClr val="0000A8"/>
                </a:solidFill>
              </a:rPr>
              <a:t>move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0000A8"/>
                </a:solidFill>
              </a:rPr>
              <a:t>to next </a:t>
            </a:r>
            <a:r>
              <a:rPr lang="en-US" sz="3200" b="1" dirty="0"/>
              <a:t>after completed its assign task/iterations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130175" indent="0" algn="ctr">
              <a:buNone/>
            </a:pPr>
            <a:r>
              <a:rPr lang="en-US" sz="3200" b="1" dirty="0">
                <a:solidFill>
                  <a:srgbClr val="0000A8"/>
                </a:solidFill>
              </a:rPr>
              <a:t>#pragma </a:t>
            </a:r>
            <a:r>
              <a:rPr lang="en-US" sz="3200" b="1" dirty="0" err="1">
                <a:solidFill>
                  <a:srgbClr val="0000A8"/>
                </a:solidFill>
              </a:rPr>
              <a:t>omp</a:t>
            </a:r>
            <a:r>
              <a:rPr lang="en-US" sz="3200" b="1" dirty="0">
                <a:solidFill>
                  <a:srgbClr val="0000A8"/>
                </a:solidFill>
              </a:rPr>
              <a:t> parallel for </a:t>
            </a:r>
            <a:r>
              <a:rPr lang="en-US" sz="3200" b="1" dirty="0" err="1">
                <a:solidFill>
                  <a:srgbClr val="0000A8"/>
                </a:solidFill>
              </a:rPr>
              <a:t>nowait</a:t>
            </a:r>
            <a:endParaRPr lang="en-US" sz="3200" b="1" dirty="0">
              <a:solidFill>
                <a:srgbClr val="0000A8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 Wait Clause</a:t>
            </a:r>
          </a:p>
        </p:txBody>
      </p:sp>
    </p:spTree>
    <p:extLst>
      <p:ext uri="{BB962C8B-B14F-4D97-AF65-F5344CB8AC3E}">
        <p14:creationId xmlns:p14="http://schemas.microsoft.com/office/powerpoint/2010/main" val="29173237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If your code is based on different </a:t>
            </a:r>
            <a:r>
              <a:rPr lang="en-US" sz="3200" b="1" dirty="0">
                <a:solidFill>
                  <a:srgbClr val="0000A8"/>
                </a:solidFill>
              </a:rPr>
              <a:t>segments or sections</a:t>
            </a:r>
            <a:r>
              <a:rPr lang="en-US" sz="3200" b="1" dirty="0"/>
              <a:t> that can be executed in </a:t>
            </a:r>
            <a:r>
              <a:rPr lang="en-US" sz="3200" b="1" dirty="0" smtClean="0"/>
              <a:t>parallel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Also known to as </a:t>
            </a:r>
            <a:r>
              <a:rPr lang="en-US" sz="3200" b="1" dirty="0">
                <a:solidFill>
                  <a:srgbClr val="0000A8"/>
                </a:solidFill>
              </a:rPr>
              <a:t>task parallelism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Functional/Task Parallelism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883" y="2946400"/>
            <a:ext cx="6966888" cy="349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813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1600" b="1" dirty="0"/>
              <a:t> #pragma </a:t>
            </a:r>
            <a:r>
              <a:rPr lang="en-US" sz="1600" b="1" dirty="0" err="1"/>
              <a:t>omp</a:t>
            </a:r>
            <a:r>
              <a:rPr lang="en-US" sz="1600" b="1" dirty="0"/>
              <a:t> parallel sections</a:t>
            </a:r>
          </a:p>
          <a:p>
            <a:pPr marL="130175" indent="0" algn="just">
              <a:buNone/>
            </a:pPr>
            <a:r>
              <a:rPr lang="en-US" sz="1600" b="1" dirty="0"/>
              <a:t>    {</a:t>
            </a:r>
          </a:p>
          <a:p>
            <a:pPr marL="130175" indent="0" algn="just">
              <a:buNone/>
            </a:pPr>
            <a:r>
              <a:rPr lang="en-US" sz="1600" b="1" dirty="0"/>
              <a:t>      #pragma </a:t>
            </a:r>
            <a:r>
              <a:rPr lang="en-US" sz="1600" b="1" dirty="0" err="1"/>
              <a:t>omp</a:t>
            </a:r>
            <a:r>
              <a:rPr lang="en-US" sz="1600" b="1" dirty="0"/>
              <a:t> section //[optional for 1st block] </a:t>
            </a:r>
          </a:p>
          <a:p>
            <a:pPr marL="130175" indent="0" algn="just">
              <a:buNone/>
            </a:pPr>
            <a:r>
              <a:rPr lang="en-US" sz="1600" b="1" dirty="0"/>
              <a:t>      v = alpha();</a:t>
            </a:r>
          </a:p>
          <a:p>
            <a:pPr marL="130175" indent="0" algn="just">
              <a:buNone/>
            </a:pPr>
            <a:r>
              <a:rPr lang="en-US" sz="1600" b="1" dirty="0"/>
              <a:t>      #pragma </a:t>
            </a:r>
            <a:r>
              <a:rPr lang="en-US" sz="1600" b="1" dirty="0" err="1"/>
              <a:t>omp</a:t>
            </a:r>
            <a:r>
              <a:rPr lang="en-US" sz="1600" b="1" dirty="0"/>
              <a:t> section</a:t>
            </a:r>
          </a:p>
          <a:p>
            <a:pPr marL="130175" indent="0" algn="just">
              <a:buNone/>
            </a:pPr>
            <a:r>
              <a:rPr lang="en-US" sz="1600" b="1" dirty="0"/>
              <a:t>      W = beta();</a:t>
            </a:r>
          </a:p>
          <a:p>
            <a:pPr marL="130175" indent="0" algn="just">
              <a:buNone/>
            </a:pPr>
            <a:r>
              <a:rPr lang="en-US" sz="1600" b="1" dirty="0"/>
              <a:t>      #pragma </a:t>
            </a:r>
            <a:r>
              <a:rPr lang="en-US" sz="1600" b="1" dirty="0" err="1"/>
              <a:t>omp</a:t>
            </a:r>
            <a:r>
              <a:rPr lang="en-US" sz="1600" b="1" dirty="0"/>
              <a:t> section</a:t>
            </a:r>
          </a:p>
          <a:p>
            <a:pPr marL="130175" indent="0" algn="just">
              <a:buNone/>
            </a:pPr>
            <a:r>
              <a:rPr lang="en-US" sz="1600" b="1" dirty="0"/>
              <a:t>      y = delta();</a:t>
            </a:r>
          </a:p>
          <a:p>
            <a:pPr marL="130175" indent="0" algn="just">
              <a:buNone/>
            </a:pPr>
            <a:r>
              <a:rPr lang="en-US" sz="1600" b="1" dirty="0"/>
              <a:t>    }</a:t>
            </a:r>
          </a:p>
          <a:p>
            <a:pPr marL="130175" indent="0" algn="just">
              <a:buNone/>
            </a:pPr>
            <a:r>
              <a:rPr lang="en-US" sz="1600" b="1" dirty="0"/>
              <a:t>  x = gamma(</a:t>
            </a:r>
            <a:r>
              <a:rPr lang="en-US" sz="1600" b="1" dirty="0" err="1"/>
              <a:t>v,w</a:t>
            </a:r>
            <a:r>
              <a:rPr lang="en-US" sz="1600" b="1" dirty="0"/>
              <a:t>);</a:t>
            </a:r>
          </a:p>
          <a:p>
            <a:pPr marL="130175" indent="0" algn="just">
              <a:buNone/>
            </a:pPr>
            <a:r>
              <a:rPr lang="en-US" sz="1600" b="1" dirty="0"/>
              <a:t>  </a:t>
            </a:r>
            <a:r>
              <a:rPr lang="en-US" sz="1600" b="1" dirty="0" err="1"/>
              <a:t>printf</a:t>
            </a:r>
            <a:r>
              <a:rPr lang="en-US" sz="1600" b="1" dirty="0"/>
              <a:t>(“%6.2f\n”, epsilon(</a:t>
            </a:r>
            <a:r>
              <a:rPr lang="en-US" sz="1600" b="1" dirty="0" err="1"/>
              <a:t>x,y</a:t>
            </a:r>
            <a:r>
              <a:rPr lang="en-US" sz="1600" b="1" dirty="0" smtClean="0"/>
              <a:t>));</a:t>
            </a:r>
            <a:endParaRPr lang="en-US" sz="16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#pragma </a:t>
            </a:r>
            <a:r>
              <a:rPr lang="en-US" sz="2400" b="1" dirty="0" err="1"/>
              <a:t>omp</a:t>
            </a:r>
            <a:r>
              <a:rPr lang="en-US" sz="2400" b="1" dirty="0"/>
              <a:t> parallel sections creates a </a:t>
            </a:r>
            <a:r>
              <a:rPr lang="en-US" sz="2400" b="1" dirty="0">
                <a:solidFill>
                  <a:srgbClr val="0000A8"/>
                </a:solidFill>
              </a:rPr>
              <a:t>team of threads </a:t>
            </a:r>
            <a:r>
              <a:rPr lang="en-US" sz="2400" b="1" dirty="0"/>
              <a:t>which executes the sections in the </a:t>
            </a:r>
            <a:r>
              <a:rPr lang="en-US" sz="2400" b="1" dirty="0" smtClean="0"/>
              <a:t>region in parallel</a:t>
            </a: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Sections that can be executed parallel are preceded by  ‘</a:t>
            </a:r>
            <a:r>
              <a:rPr lang="en-US" sz="2400" b="1" dirty="0" err="1">
                <a:solidFill>
                  <a:srgbClr val="0000A8"/>
                </a:solidFill>
              </a:rPr>
              <a:t>omp</a:t>
            </a:r>
            <a:r>
              <a:rPr lang="en-US" sz="2400" b="1" dirty="0">
                <a:solidFill>
                  <a:srgbClr val="0000A8"/>
                </a:solidFill>
              </a:rPr>
              <a:t> section</a:t>
            </a:r>
            <a:r>
              <a:rPr lang="en-US" sz="2400" b="1" dirty="0"/>
              <a:t>’ </a:t>
            </a:r>
            <a:r>
              <a:rPr lang="en-US" sz="2400" b="1" dirty="0" smtClean="0"/>
              <a:t>pragma</a:t>
            </a:r>
            <a:endParaRPr lang="en-US" sz="24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Parallel </a:t>
            </a:r>
            <a:r>
              <a:rPr lang="en-US" altLang="en-US" dirty="0">
                <a:ea typeface="ＭＳ Ｐゴシック" panose="020B0600070205080204" pitchFamily="34" charset="-128"/>
              </a:rPr>
              <a:t>sections, section pragmas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9239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118" y="1509486"/>
            <a:ext cx="8039763" cy="4281714"/>
          </a:xfr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</a:t>
            </a:r>
            <a:r>
              <a:rPr lang="en-US" dirty="0" smtClean="0"/>
              <a:t>Parallelism – Another Approach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8457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sections  pragma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130175" indent="0">
              <a:buNone/>
            </a:pPr>
            <a:r>
              <a:rPr lang="en-US" b="1" dirty="0"/>
              <a:t>#pragma </a:t>
            </a:r>
            <a:r>
              <a:rPr lang="en-US" b="1" dirty="0" err="1"/>
              <a:t>omp</a:t>
            </a:r>
            <a:r>
              <a:rPr lang="en-US" b="1" dirty="0"/>
              <a:t> </a:t>
            </a:r>
            <a:r>
              <a:rPr lang="en-US" b="1" dirty="0" smtClean="0"/>
              <a:t>parallel </a:t>
            </a:r>
            <a:r>
              <a:rPr lang="en-US" b="1" dirty="0" err="1" smtClean="0"/>
              <a:t>num_threds</a:t>
            </a:r>
            <a:r>
              <a:rPr lang="en-US" b="1" dirty="0" smtClean="0"/>
              <a:t>(2</a:t>
            </a:r>
            <a:r>
              <a:rPr lang="en-US" b="1" dirty="0"/>
              <a:t>)</a:t>
            </a:r>
          </a:p>
          <a:p>
            <a:pPr marL="130175" indent="0">
              <a:buNone/>
            </a:pPr>
            <a:r>
              <a:rPr lang="en-US" b="1" dirty="0"/>
              <a:t>   {</a:t>
            </a:r>
          </a:p>
          <a:p>
            <a:pPr marL="130175" indent="0">
              <a:buNone/>
            </a:pPr>
            <a:r>
              <a:rPr lang="en-US" b="1" dirty="0"/>
              <a:t>   #pragma </a:t>
            </a:r>
            <a:r>
              <a:rPr lang="en-US" b="1" dirty="0" err="1"/>
              <a:t>omp</a:t>
            </a:r>
            <a:r>
              <a:rPr lang="en-US" b="1" dirty="0"/>
              <a:t> sections</a:t>
            </a:r>
          </a:p>
          <a:p>
            <a:pPr marL="130175" indent="0">
              <a:buNone/>
            </a:pPr>
            <a:r>
              <a:rPr lang="en-US" b="1" dirty="0"/>
              <a:t>      {</a:t>
            </a:r>
          </a:p>
          <a:p>
            <a:pPr marL="130175" indent="0">
              <a:buNone/>
            </a:pPr>
            <a:r>
              <a:rPr lang="en-US" b="1" dirty="0"/>
              <a:t>      #pragma </a:t>
            </a:r>
            <a:r>
              <a:rPr lang="en-US" b="1" dirty="0" err="1"/>
              <a:t>omp</a:t>
            </a:r>
            <a:r>
              <a:rPr lang="en-US" b="1" dirty="0"/>
              <a:t> section //optional </a:t>
            </a:r>
          </a:p>
          <a:p>
            <a:pPr marL="130175" indent="0">
              <a:buNone/>
            </a:pPr>
            <a:r>
              <a:rPr lang="en-US" b="1" dirty="0"/>
              <a:t>      v = alpha();</a:t>
            </a:r>
          </a:p>
          <a:p>
            <a:pPr marL="130175" indent="0">
              <a:buNone/>
            </a:pPr>
            <a:r>
              <a:rPr lang="en-US" b="1" dirty="0"/>
              <a:t>      </a:t>
            </a:r>
          </a:p>
          <a:p>
            <a:pPr marL="130175" indent="0">
              <a:buNone/>
            </a:pPr>
            <a:r>
              <a:rPr lang="en-US" b="1" dirty="0" smtClean="0"/>
              <a:t>     #</a:t>
            </a:r>
            <a:r>
              <a:rPr lang="en-US" b="1" dirty="0"/>
              <a:t>pragma </a:t>
            </a:r>
            <a:r>
              <a:rPr lang="en-US" b="1" dirty="0" err="1"/>
              <a:t>omp</a:t>
            </a:r>
            <a:r>
              <a:rPr lang="en-US" b="1" dirty="0"/>
              <a:t> section</a:t>
            </a:r>
          </a:p>
          <a:p>
            <a:pPr marL="130175" indent="0">
              <a:buNone/>
            </a:pPr>
            <a:r>
              <a:rPr lang="en-US" b="1" dirty="0"/>
              <a:t>     </a:t>
            </a:r>
            <a:r>
              <a:rPr lang="en-US" b="1" dirty="0" smtClean="0"/>
              <a:t>w </a:t>
            </a:r>
            <a:r>
              <a:rPr lang="en-US" b="1" dirty="0"/>
              <a:t>= beta();</a:t>
            </a:r>
          </a:p>
          <a:p>
            <a:pPr marL="130175" indent="0">
              <a:buNone/>
            </a:pPr>
            <a:r>
              <a:rPr lang="en-US" b="1" dirty="0"/>
              <a:t>     </a:t>
            </a:r>
            <a:r>
              <a:rPr lang="en-US" b="1" dirty="0" smtClean="0"/>
              <a:t>} </a:t>
            </a:r>
            <a:r>
              <a:rPr lang="en-US" b="1" dirty="0"/>
              <a:t>// here an implicit barrier exists</a:t>
            </a:r>
          </a:p>
          <a:p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130175" indent="0">
              <a:buNone/>
            </a:pPr>
            <a:r>
              <a:rPr lang="en-US" b="1" dirty="0" smtClean="0"/>
              <a:t>     #</a:t>
            </a:r>
            <a:r>
              <a:rPr lang="en-US" b="1" dirty="0"/>
              <a:t>pragma </a:t>
            </a:r>
            <a:r>
              <a:rPr lang="en-US" b="1" dirty="0" err="1"/>
              <a:t>omp</a:t>
            </a:r>
            <a:r>
              <a:rPr lang="en-US" b="1" dirty="0"/>
              <a:t> sections</a:t>
            </a:r>
          </a:p>
          <a:p>
            <a:pPr marL="130175" indent="0">
              <a:buNone/>
            </a:pPr>
            <a:r>
              <a:rPr lang="en-US" b="1" dirty="0"/>
              <a:t>      {</a:t>
            </a:r>
          </a:p>
          <a:p>
            <a:pPr marL="130175" indent="0">
              <a:buNone/>
            </a:pPr>
            <a:r>
              <a:rPr lang="en-US" b="1" dirty="0"/>
              <a:t>         x = gamma(v, w);</a:t>
            </a:r>
          </a:p>
          <a:p>
            <a:pPr marL="130175" indent="0">
              <a:buNone/>
            </a:pPr>
            <a:r>
              <a:rPr lang="en-US" b="1" dirty="0"/>
              <a:t>      </a:t>
            </a:r>
            <a:endParaRPr lang="en-US" b="1" dirty="0" smtClean="0"/>
          </a:p>
          <a:p>
            <a:pPr marL="130175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#</a:t>
            </a:r>
            <a:r>
              <a:rPr lang="en-US" b="1" dirty="0"/>
              <a:t>pragma </a:t>
            </a:r>
            <a:r>
              <a:rPr lang="en-US" b="1" dirty="0" err="1"/>
              <a:t>omp</a:t>
            </a:r>
            <a:r>
              <a:rPr lang="en-US" b="1" dirty="0"/>
              <a:t> section</a:t>
            </a:r>
          </a:p>
          <a:p>
            <a:pPr marL="130175" indent="0">
              <a:buNone/>
            </a:pPr>
            <a:r>
              <a:rPr lang="en-US" b="1" dirty="0"/>
              <a:t>         y = delta();</a:t>
            </a:r>
          </a:p>
          <a:p>
            <a:pPr marL="130175" indent="0">
              <a:buNone/>
            </a:pPr>
            <a:r>
              <a:rPr lang="en-US" b="1" dirty="0"/>
              <a:t>      }</a:t>
            </a:r>
          </a:p>
          <a:p>
            <a:pPr marL="130175" indent="0">
              <a:buNone/>
            </a:pPr>
            <a:r>
              <a:rPr lang="en-US" b="1" dirty="0"/>
              <a:t>   </a:t>
            </a:r>
            <a:endParaRPr lang="en-US" b="1" dirty="0" smtClean="0"/>
          </a:p>
          <a:p>
            <a:pPr marL="130175" indent="0">
              <a:buNone/>
            </a:pPr>
            <a:r>
              <a:rPr lang="en-US" b="1" dirty="0" smtClean="0"/>
              <a:t>}</a:t>
            </a:r>
            <a:endParaRPr lang="en-US" b="1" dirty="0"/>
          </a:p>
          <a:p>
            <a:pPr marL="130175" indent="0">
              <a:buNone/>
            </a:pPr>
            <a:r>
              <a:rPr lang="en-US" b="1" dirty="0"/>
              <a:t>   </a:t>
            </a:r>
            <a:r>
              <a:rPr lang="en-US" b="1" dirty="0" err="1"/>
              <a:t>printf</a:t>
            </a:r>
            <a:r>
              <a:rPr lang="en-US" b="1" dirty="0"/>
              <a:t> ("%6.2f\n", epsilon(</a:t>
            </a:r>
            <a:r>
              <a:rPr lang="en-US" b="1" dirty="0" err="1"/>
              <a:t>x,y</a:t>
            </a:r>
            <a:r>
              <a:rPr lang="en-US" b="1" dirty="0"/>
              <a:t>));</a:t>
            </a:r>
          </a:p>
          <a:p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35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Appears inside a </a:t>
            </a:r>
            <a:r>
              <a:rPr lang="en-US" sz="3200" b="1" dirty="0">
                <a:solidFill>
                  <a:srgbClr val="0000A8"/>
                </a:solidFill>
              </a:rPr>
              <a:t>parallel block </a:t>
            </a:r>
            <a:r>
              <a:rPr lang="en-US" sz="3200" b="1" dirty="0"/>
              <a:t>of code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This pragma </a:t>
            </a:r>
            <a:r>
              <a:rPr lang="en-US" sz="3200" b="1" dirty="0">
                <a:solidFill>
                  <a:srgbClr val="0000A8"/>
                </a:solidFill>
              </a:rPr>
              <a:t>distributes</a:t>
            </a:r>
            <a:r>
              <a:rPr lang="en-US" sz="3200" b="1" dirty="0"/>
              <a:t> enclosed sections among the threads in the </a:t>
            </a:r>
            <a:r>
              <a:rPr lang="en-US" sz="3200" b="1" dirty="0" smtClean="0"/>
              <a:t>team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The difference between </a:t>
            </a:r>
            <a:r>
              <a:rPr lang="en-US" sz="3200" b="1" dirty="0" err="1"/>
              <a:t>omp</a:t>
            </a:r>
            <a:r>
              <a:rPr lang="en-US" sz="3200" b="1" dirty="0"/>
              <a:t> parallel sections and </a:t>
            </a:r>
            <a:r>
              <a:rPr lang="en-US" sz="3200" b="1" dirty="0" err="1"/>
              <a:t>omp</a:t>
            </a:r>
            <a:r>
              <a:rPr lang="en-US" sz="3200" b="1" dirty="0"/>
              <a:t> sections is </a:t>
            </a:r>
            <a:r>
              <a:rPr lang="en-US" sz="3200" b="1" dirty="0" smtClean="0"/>
              <a:t>that:</a:t>
            </a: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/>
              <a:t>Omp</a:t>
            </a:r>
            <a:r>
              <a:rPr lang="en-US" b="1" dirty="0"/>
              <a:t> parallel sections </a:t>
            </a:r>
            <a:r>
              <a:rPr lang="en-US" b="1" dirty="0">
                <a:solidFill>
                  <a:srgbClr val="0000A8"/>
                </a:solidFill>
              </a:rPr>
              <a:t>generate</a:t>
            </a:r>
            <a:r>
              <a:rPr lang="en-US" b="1" dirty="0"/>
              <a:t> its own team of threads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While simple </a:t>
            </a:r>
            <a:r>
              <a:rPr lang="en-US" b="1" dirty="0" err="1"/>
              <a:t>omp</a:t>
            </a:r>
            <a:r>
              <a:rPr lang="en-US" b="1" dirty="0"/>
              <a:t> sections pragma uses </a:t>
            </a:r>
            <a:r>
              <a:rPr lang="en-US" b="1" dirty="0">
                <a:solidFill>
                  <a:srgbClr val="0000A8"/>
                </a:solidFill>
              </a:rPr>
              <a:t>existing</a:t>
            </a:r>
            <a:r>
              <a:rPr lang="en-US" b="1" dirty="0"/>
              <a:t> team of threads and distributes section among the threads 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If multiple sections pragmas are </a:t>
            </a:r>
            <a:r>
              <a:rPr lang="en-US" sz="3200" b="1" dirty="0">
                <a:solidFill>
                  <a:srgbClr val="0000A8"/>
                </a:solidFill>
              </a:rPr>
              <a:t>inside</a:t>
            </a:r>
            <a:r>
              <a:rPr lang="en-US" sz="3200" b="1" dirty="0"/>
              <a:t> one parallel block, may reduce fork/join </a:t>
            </a:r>
            <a:r>
              <a:rPr lang="en-US" sz="3200" b="1" dirty="0" smtClean="0"/>
              <a:t>costs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i="1" dirty="0" err="1">
                <a:ea typeface="ＭＳ Ｐゴシック" panose="020B0600070205080204" pitchFamily="34" charset="-128"/>
              </a:rPr>
              <a:t>omp</a:t>
            </a:r>
            <a:r>
              <a:rPr lang="en-US" altLang="en-US" i="1" dirty="0">
                <a:ea typeface="ＭＳ Ｐゴシック" panose="020B0600070205080204" pitchFamily="34" charset="-128"/>
              </a:rPr>
              <a:t> sections</a:t>
            </a:r>
            <a:r>
              <a:rPr lang="en-US" altLang="en-US" dirty="0">
                <a:ea typeface="ＭＳ Ｐゴシック" panose="020B0600070205080204" pitchFamily="34" charset="-128"/>
              </a:rPr>
              <a:t> pragma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4174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Calculate the </a:t>
            </a:r>
            <a:r>
              <a:rPr lang="en-US" sz="3200" b="1" dirty="0">
                <a:solidFill>
                  <a:srgbClr val="0000A8"/>
                </a:solidFill>
              </a:rPr>
              <a:t>value of pi </a:t>
            </a:r>
            <a:r>
              <a:rPr lang="en-US" sz="3200" b="1" dirty="0"/>
              <a:t>using </a:t>
            </a:r>
            <a:r>
              <a:rPr lang="en-US" sz="3200" b="1" dirty="0">
                <a:solidFill>
                  <a:srgbClr val="0000A8"/>
                </a:solidFill>
              </a:rPr>
              <a:t>reduction</a:t>
            </a:r>
            <a:r>
              <a:rPr lang="en-US" sz="3200" b="1" dirty="0"/>
              <a:t> operation having parallel execution if and only if </a:t>
            </a:r>
            <a:r>
              <a:rPr lang="en-US" sz="3200" b="1" dirty="0">
                <a:solidFill>
                  <a:srgbClr val="0000A8"/>
                </a:solidFill>
              </a:rPr>
              <a:t>number of rectangles </a:t>
            </a:r>
            <a:r>
              <a:rPr lang="en-US" sz="3200" b="1" dirty="0"/>
              <a:t>(sub-areas) under the curve are greater than 10,000.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>
                <a:solidFill>
                  <a:srgbClr val="7030A0"/>
                </a:solidFill>
                <a:ea typeface="ＭＳ Ｐゴシック" panose="020B0600070205080204" pitchFamily="34" charset="-128"/>
              </a:rPr>
              <a:t>Home Task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0176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Review </a:t>
            </a:r>
            <a:r>
              <a:rPr lang="en-US" sz="3200" b="1" dirty="0"/>
              <a:t>of </a:t>
            </a:r>
            <a:r>
              <a:rPr lang="en-US" sz="3200" b="1" dirty="0" err="1"/>
              <a:t>OpenMP</a:t>
            </a:r>
            <a:r>
              <a:rPr lang="en-US" sz="3200" b="1" dirty="0"/>
              <a:t> Library </a:t>
            </a:r>
            <a:r>
              <a:rPr lang="en-US" sz="3200" b="1" dirty="0" smtClean="0"/>
              <a:t>Functions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Controlling </a:t>
            </a:r>
            <a:r>
              <a:rPr lang="en-US" b="1" dirty="0"/>
              <a:t>Number of Threads and </a:t>
            </a:r>
            <a:r>
              <a:rPr lang="en-US" b="1" dirty="0" smtClean="0"/>
              <a:t>Processors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Controlling </a:t>
            </a:r>
            <a:r>
              <a:rPr lang="en-US" b="1" dirty="0"/>
              <a:t>and Monitoring Thread </a:t>
            </a:r>
            <a:r>
              <a:rPr lang="en-US" b="1" dirty="0" smtClean="0"/>
              <a:t>Creation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#pragma </a:t>
            </a:r>
            <a:r>
              <a:rPr lang="en-US" sz="3200" b="1" dirty="0" err="1"/>
              <a:t>omp</a:t>
            </a:r>
            <a:r>
              <a:rPr lang="en-US" sz="3200" b="1" dirty="0"/>
              <a:t> directive [clause list</a:t>
            </a:r>
            <a:r>
              <a:rPr lang="en-US" sz="3200" b="1" dirty="0" smtClean="0"/>
              <a:t>]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#</a:t>
            </a:r>
            <a:r>
              <a:rPr lang="en-US" b="1" dirty="0"/>
              <a:t>pragma </a:t>
            </a:r>
            <a:r>
              <a:rPr lang="en-US" b="1" dirty="0" err="1"/>
              <a:t>omp</a:t>
            </a:r>
            <a:r>
              <a:rPr lang="en-US" b="1" dirty="0"/>
              <a:t> parallel - to create concurrent threads 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#</a:t>
            </a:r>
            <a:r>
              <a:rPr lang="en-US" b="1" dirty="0"/>
              <a:t>pragma </a:t>
            </a:r>
            <a:r>
              <a:rPr lang="en-US" b="1" dirty="0" err="1"/>
              <a:t>omp</a:t>
            </a:r>
            <a:r>
              <a:rPr lang="en-US" b="1" dirty="0"/>
              <a:t> for - split parallel iteration space across </a:t>
            </a:r>
            <a:r>
              <a:rPr lang="en-US" b="1" dirty="0" smtClean="0"/>
              <a:t>threads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#pragma </a:t>
            </a:r>
            <a:r>
              <a:rPr lang="en-US" b="1" dirty="0" err="1"/>
              <a:t>omp</a:t>
            </a:r>
            <a:r>
              <a:rPr lang="en-US" b="1" dirty="0"/>
              <a:t>  sections - when different independent tasks need to be executed on different threads 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Difference between </a:t>
            </a:r>
            <a:r>
              <a:rPr lang="en-US" sz="3200" b="1" dirty="0" err="1"/>
              <a:t>omp</a:t>
            </a:r>
            <a:r>
              <a:rPr lang="en-US" sz="3200" b="1" dirty="0"/>
              <a:t> for and </a:t>
            </a:r>
            <a:r>
              <a:rPr lang="en-US" sz="3200" b="1" dirty="0" err="1"/>
              <a:t>omp</a:t>
            </a:r>
            <a:r>
              <a:rPr lang="en-US" sz="3200" b="1" dirty="0"/>
              <a:t> </a:t>
            </a:r>
            <a:r>
              <a:rPr lang="en-US" sz="3200" b="1" dirty="0" smtClean="0"/>
              <a:t>parallel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3723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Some </a:t>
            </a:r>
            <a:r>
              <a:rPr lang="en-US" sz="3200" b="1" dirty="0"/>
              <a:t>Useful Clauses in </a:t>
            </a:r>
            <a:r>
              <a:rPr lang="en-US" sz="3200" b="1" dirty="0" err="1" smtClean="0"/>
              <a:t>OpenMP</a:t>
            </a:r>
            <a:endParaRPr lang="en-US" sz="32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</a:t>
            </a:r>
            <a:r>
              <a:rPr lang="en-US" b="1" dirty="0" smtClean="0"/>
              <a:t>rivate</a:t>
            </a:r>
            <a:r>
              <a:rPr lang="en-US" b="1" dirty="0"/>
              <a:t>: Directs compiler to make one or more variables </a:t>
            </a:r>
            <a:r>
              <a:rPr lang="en-US" b="1" dirty="0" smtClean="0"/>
              <a:t>private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firstprivate</a:t>
            </a:r>
            <a:r>
              <a:rPr lang="en-US" b="1" dirty="0"/>
              <a:t>: Directs compiler to create private variables having initial values identical to the value of the variable controlled by the master </a:t>
            </a:r>
            <a:r>
              <a:rPr lang="en-US" b="1" dirty="0" smtClean="0"/>
              <a:t>thread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lastprivate</a:t>
            </a:r>
            <a:r>
              <a:rPr lang="en-US" b="1" dirty="0"/>
              <a:t>: Used to copy back to the master thread’s copy of the </a:t>
            </a:r>
            <a:r>
              <a:rPr lang="en-US" b="1" dirty="0" smtClean="0"/>
              <a:t>variable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Reduction Clause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OpenMP</a:t>
            </a:r>
            <a:r>
              <a:rPr lang="en-US" b="1" dirty="0" smtClean="0"/>
              <a:t> </a:t>
            </a:r>
            <a:r>
              <a:rPr lang="en-US" b="1" dirty="0"/>
              <a:t>provides support for </a:t>
            </a:r>
            <a:r>
              <a:rPr lang="en-US" b="1" dirty="0" smtClean="0"/>
              <a:t>Reductions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OpenMP</a:t>
            </a:r>
            <a:r>
              <a:rPr lang="en-US" b="1" dirty="0" smtClean="0"/>
              <a:t> </a:t>
            </a:r>
            <a:r>
              <a:rPr lang="en-US" b="1" dirty="0"/>
              <a:t>takes care of storing partial results in private variables and combining partial results after the </a:t>
            </a:r>
            <a:r>
              <a:rPr lang="en-US" b="1" dirty="0" smtClean="0"/>
              <a:t>loop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3634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Conditional Parallelism Clause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The "if clause" gives the ability to direct the compiler to insert code that determines at run-time whether loop should be executed in parallel or not</a:t>
            </a:r>
          </a:p>
          <a:p>
            <a:pPr marL="130175" indent="0" algn="just">
              <a:buNone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Scheduling Loops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Static</a:t>
            </a:r>
            <a:r>
              <a:rPr lang="en-US" b="1" dirty="0"/>
              <a:t>: schedule(static, [chunk-size</a:t>
            </a:r>
            <a:r>
              <a:rPr lang="en-US" b="1" dirty="0" smtClean="0"/>
              <a:t>])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Dynamic</a:t>
            </a:r>
            <a:r>
              <a:rPr lang="en-US" b="1" dirty="0"/>
              <a:t>: schedule(dynamic, [chunk-size</a:t>
            </a:r>
            <a:r>
              <a:rPr lang="en-US" b="1" dirty="0" smtClean="0"/>
              <a:t>])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Guided</a:t>
            </a:r>
            <a:r>
              <a:rPr lang="en-US" b="1" dirty="0"/>
              <a:t>: schedule(guided, C): 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No </a:t>
            </a:r>
            <a:r>
              <a:rPr lang="en-US" sz="3200" b="1" dirty="0"/>
              <a:t>Wait </a:t>
            </a:r>
            <a:r>
              <a:rPr lang="en-US" sz="3200" b="1" dirty="0" smtClean="0"/>
              <a:t>Clause - Used </a:t>
            </a:r>
            <a:r>
              <a:rPr lang="en-US" sz="3200" b="1" dirty="0"/>
              <a:t>to avoid implicit barrier </a:t>
            </a:r>
            <a:endParaRPr lang="en-US" sz="3200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7267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Functional/Task Parallelism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Used if </a:t>
            </a:r>
            <a:r>
              <a:rPr lang="en-US" b="1" dirty="0"/>
              <a:t>code is based on different segments or sections that can be executed in </a:t>
            </a:r>
            <a:r>
              <a:rPr lang="en-US" b="1" dirty="0" smtClean="0"/>
              <a:t>parallel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err="1"/>
              <a:t>omp</a:t>
            </a:r>
            <a:r>
              <a:rPr lang="en-US" sz="3200" b="1" dirty="0"/>
              <a:t> sections pragma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/>
              <a:t>Omp</a:t>
            </a:r>
            <a:r>
              <a:rPr lang="en-US" b="1" dirty="0"/>
              <a:t> parallel sections generate its own team of threads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While simple </a:t>
            </a:r>
            <a:r>
              <a:rPr lang="en-US" b="1" dirty="0" err="1"/>
              <a:t>omp</a:t>
            </a:r>
            <a:r>
              <a:rPr lang="en-US" b="1" dirty="0"/>
              <a:t> sections pragma uses existing team of threads and distributes section among the threads 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Home Task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9199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Book: Introduction </a:t>
            </a:r>
            <a:r>
              <a:rPr lang="en-US" sz="3000" b="1" dirty="0"/>
              <a:t>to Parallel Computing by </a:t>
            </a:r>
            <a:r>
              <a:rPr lang="en-US" sz="3000" b="1" dirty="0" err="1"/>
              <a:t>Ananth</a:t>
            </a:r>
            <a:r>
              <a:rPr lang="en-US" sz="3000" b="1" dirty="0"/>
              <a:t> </a:t>
            </a:r>
            <a:r>
              <a:rPr lang="en-US" sz="3000" b="1" dirty="0" err="1"/>
              <a:t>Grama</a:t>
            </a:r>
            <a:r>
              <a:rPr lang="en-US" sz="3000" b="1" dirty="0"/>
              <a:t> and </a:t>
            </a:r>
            <a:r>
              <a:rPr lang="en-US" sz="3000" b="1" dirty="0" err="1"/>
              <a:t>Anshul</a:t>
            </a:r>
            <a:r>
              <a:rPr lang="en-US" sz="3000" b="1" dirty="0"/>
              <a:t> Gupta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Chapter </a:t>
            </a:r>
            <a:r>
              <a:rPr lang="en-US" sz="2600" b="1" dirty="0"/>
              <a:t>7: Programming Shared Address Space </a:t>
            </a:r>
            <a:r>
              <a:rPr lang="en-US" sz="2600" b="1" dirty="0" smtClean="0"/>
              <a:t>Platforms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Introduction </a:t>
            </a:r>
            <a:r>
              <a:rPr lang="en-US" sz="3000" b="1" dirty="0"/>
              <a:t>to </a:t>
            </a:r>
            <a:r>
              <a:rPr lang="en-US" sz="3000" b="1" dirty="0" err="1"/>
              <a:t>OpenMP</a:t>
            </a:r>
            <a:r>
              <a:rPr lang="en-US" sz="3000" b="1" dirty="0"/>
              <a:t> by Tim Mattson (</a:t>
            </a:r>
            <a:r>
              <a:rPr lang="en-US" sz="3000" b="1" dirty="0" smtClean="0"/>
              <a:t>Intel)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6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https</a:t>
            </a:r>
            <a:r>
              <a:rPr lang="en-US" sz="2600" b="1" dirty="0"/>
              <a:t>://</a:t>
            </a:r>
            <a:r>
              <a:rPr lang="en-US" sz="2600" b="1" dirty="0" smtClean="0"/>
              <a:t>www.youtube.com/watch?v=nE-xN4Bf8XI&amp;list=PLLX-Q6B8xqZ8n8bwjGdzBJ25X2utwnoEG&amp;index=1</a:t>
            </a:r>
            <a:endParaRPr lang="en-US" sz="26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11338568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48278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2480</TotalTime>
  <Words>1785</Words>
  <Application>Microsoft Office PowerPoint</Application>
  <PresentationFormat>Widescreen</PresentationFormat>
  <Paragraphs>293</Paragraphs>
  <Slides>33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ＭＳ Ｐゴシック</vt:lpstr>
      <vt:lpstr>Arial</vt:lpstr>
      <vt:lpstr>Calibri</vt:lpstr>
      <vt:lpstr>Calibri Light</vt:lpstr>
      <vt:lpstr>Century Gothic</vt:lpstr>
      <vt:lpstr>Century Gothic (Body)</vt:lpstr>
      <vt:lpstr>Courier New</vt:lpstr>
      <vt:lpstr>Wingdings</vt:lpstr>
      <vt:lpstr>Office Theme</vt:lpstr>
      <vt:lpstr>CS 3006 Parallel and Distributed Computing Lecture 10</vt:lpstr>
      <vt:lpstr>Lecture 10 Shared Memory Programming with OpenMP – Part 2</vt:lpstr>
      <vt:lpstr>Outline</vt:lpstr>
      <vt:lpstr>Outline (Cont.)</vt:lpstr>
      <vt:lpstr>Review of OpenMP Library Functions</vt:lpstr>
      <vt:lpstr>#pragma omp directive [clause list]</vt:lpstr>
      <vt:lpstr>Difference between omp for and omp parallel</vt:lpstr>
      <vt:lpstr>Some Useful Clauses in OpenMP</vt:lpstr>
      <vt:lpstr>Some Useful Clauses in OpenMP (Cont.)</vt:lpstr>
      <vt:lpstr>Some Useful Clauses in OpenMP (Cont.)</vt:lpstr>
      <vt:lpstr>Reduction Clause</vt:lpstr>
      <vt:lpstr>Reduction Clause (Cont.)</vt:lpstr>
      <vt:lpstr>Reduction Clause (Cont.)</vt:lpstr>
      <vt:lpstr>Conditional Parallelism Clause</vt:lpstr>
      <vt:lpstr>Scheduling Loops (a clause)</vt:lpstr>
      <vt:lpstr>Scheduling Loops</vt:lpstr>
      <vt:lpstr>Scheduling Loops (Cont.)</vt:lpstr>
      <vt:lpstr>Scheduling Loops (Cont.)</vt:lpstr>
      <vt:lpstr>Scheduling Loops (Cont.)</vt:lpstr>
      <vt:lpstr>Scheduling Loops(Summary)</vt:lpstr>
      <vt:lpstr>No Wait Clause</vt:lpstr>
      <vt:lpstr>Functional/Task Parallelism</vt:lpstr>
      <vt:lpstr>Parallel sections, section pragmas</vt:lpstr>
      <vt:lpstr>Functional Parallelism – Another Approach</vt:lpstr>
      <vt:lpstr>sections  pragma</vt:lpstr>
      <vt:lpstr>omp sections pragma</vt:lpstr>
      <vt:lpstr>Home Task</vt:lpstr>
      <vt:lpstr>Summary</vt:lpstr>
      <vt:lpstr>Summary (Cont.)</vt:lpstr>
      <vt:lpstr>Summary (Cont.)</vt:lpstr>
      <vt:lpstr>Summary (Cont.)</vt:lpstr>
      <vt:lpstr>Additional Resources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HP</cp:lastModifiedBy>
  <cp:revision>449</cp:revision>
  <dcterms:created xsi:type="dcterms:W3CDTF">2020-01-18T07:24:00Z</dcterms:created>
  <dcterms:modified xsi:type="dcterms:W3CDTF">2024-03-15T08:24:25Z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DBCDF73CD2C44F1492F6933E9F753A38</vt:lpwstr>
  </property>
  <property fmtid="{D5CDD505-2E9C-101B-9397-08002B2CF9AE}" pid="3" name="KSOProductBuildVer">
    <vt:lpwstr>1033-11.2.0.11380</vt:lpwstr>
  </property>
</Properties>
</file>