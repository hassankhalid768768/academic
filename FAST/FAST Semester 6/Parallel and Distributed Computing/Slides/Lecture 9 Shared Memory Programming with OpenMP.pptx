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1537" r:id="rId2"/>
    <p:sldId id="1450" r:id="rId3"/>
    <p:sldId id="1550" r:id="rId4"/>
    <p:sldId id="1552" r:id="rId5"/>
    <p:sldId id="1533" r:id="rId6"/>
    <p:sldId id="1539" r:id="rId7"/>
    <p:sldId id="1541" r:id="rId8"/>
    <p:sldId id="1540" r:id="rId9"/>
    <p:sldId id="1542" r:id="rId10"/>
    <p:sldId id="1538" r:id="rId11"/>
    <p:sldId id="1534" r:id="rId12"/>
    <p:sldId id="1521" r:id="rId13"/>
    <p:sldId id="1476" r:id="rId14"/>
    <p:sldId id="1544" r:id="rId15"/>
    <p:sldId id="1543" r:id="rId16"/>
    <p:sldId id="1545" r:id="rId17"/>
    <p:sldId id="1546" r:id="rId18"/>
    <p:sldId id="1547" r:id="rId19"/>
    <p:sldId id="1548" r:id="rId20"/>
    <p:sldId id="1549" r:id="rId21"/>
    <p:sldId id="1523" r:id="rId22"/>
    <p:sldId id="1535" r:id="rId23"/>
    <p:sldId id="1536" r:id="rId24"/>
    <p:sldId id="1556" r:id="rId25"/>
    <p:sldId id="1551" r:id="rId26"/>
    <p:sldId id="1553" r:id="rId27"/>
    <p:sldId id="1554" r:id="rId28"/>
    <p:sldId id="1555" r:id="rId29"/>
    <p:sldId id="1532" r:id="rId30"/>
    <p:sldId id="144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74" autoAdjust="0"/>
    <p:restoredTop sz="88689" autoAdjust="0"/>
  </p:normalViewPr>
  <p:slideViewPr>
    <p:cSldViewPr snapToGrid="0" snapToObjects="1">
      <p:cViewPr varScale="1">
        <p:scale>
          <a:sx n="66" d="100"/>
          <a:sy n="66" d="100"/>
        </p:scale>
        <p:origin x="486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17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GNU is an operating system.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38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20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50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17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kern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kern="0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Runtime function returning a thread ID = Unique identifier for each thread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9F3A7D-D3FA-4135-B01A-B62728EDDE7E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537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3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17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2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17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13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951958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53746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343" y="2524237"/>
            <a:ext cx="9144000" cy="665163"/>
          </a:xfrm>
        </p:spPr>
        <p:txBody>
          <a:bodyPr>
            <a:noAutofit/>
          </a:bodyPr>
          <a:lstStyle/>
          <a:p>
            <a:pPr lvl="0"/>
            <a:r>
              <a:rPr lang="en-US" sz="4400" dirty="0"/>
              <a:t>Shared </a:t>
            </a:r>
            <a:r>
              <a:rPr lang="en-US" sz="4400" dirty="0" smtClean="0"/>
              <a:t>Memory Programming </a:t>
            </a:r>
            <a:r>
              <a:rPr lang="en-US" sz="4400" dirty="0"/>
              <a:t>with </a:t>
            </a:r>
            <a:r>
              <a:rPr lang="en-US" sz="4400" dirty="0" err="1"/>
              <a:t>OpenMP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54614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Shared </a:t>
            </a:r>
            <a:r>
              <a:rPr lang="en-US" b="1" dirty="0"/>
              <a:t>Memory </a:t>
            </a:r>
            <a:r>
              <a:rPr lang="en-US" b="1" dirty="0" smtClean="0"/>
              <a:t>Programming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Shared-Memory Programming (Fork/Join Parallelism</a:t>
            </a:r>
            <a:r>
              <a:rPr lang="en-US" b="1" dirty="0" smtClean="0"/>
              <a:t>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Shared-Memory vs. Message Passing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Introduction to </a:t>
            </a:r>
            <a:r>
              <a:rPr lang="en-US" b="1" dirty="0" err="1"/>
              <a:t>OpenMP</a:t>
            </a:r>
            <a:r>
              <a:rPr lang="en-US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OpenMP</a:t>
            </a:r>
            <a:r>
              <a:rPr lang="en-US" b="1" dirty="0"/>
              <a:t> Solution Stack </a:t>
            </a:r>
            <a:r>
              <a:rPr lang="en-US" b="1" dirty="0" smtClean="0"/>
              <a:t>Model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Implementation using Visual Studio C</a:t>
            </a:r>
            <a:r>
              <a:rPr lang="en-US" b="1" dirty="0" smtClean="0"/>
              <a:t>++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does </a:t>
            </a:r>
            <a:r>
              <a:rPr lang="en-US" b="1" dirty="0" err="1"/>
              <a:t>OpenMP</a:t>
            </a:r>
            <a:r>
              <a:rPr lang="en-US" b="1" dirty="0"/>
              <a:t> </a:t>
            </a:r>
            <a:r>
              <a:rPr lang="en-US" b="1" dirty="0" smtClean="0"/>
              <a:t>work?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Pragmas</a:t>
            </a:r>
            <a:r>
              <a:rPr lang="en-US" b="1" dirty="0"/>
              <a:t>	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parallel </a:t>
            </a:r>
            <a:r>
              <a:rPr lang="en-US" b="1" dirty="0"/>
              <a:t>for </a:t>
            </a:r>
            <a:r>
              <a:rPr lang="en-US" b="1" dirty="0" smtClean="0"/>
              <a:t>Pragma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02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54614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Canonical </a:t>
            </a:r>
            <a:r>
              <a:rPr lang="en-US" b="1" dirty="0"/>
              <a:t>[allowed] Shape of for-loop </a:t>
            </a:r>
            <a:r>
              <a:rPr lang="en-US" b="1" dirty="0" smtClean="0"/>
              <a:t>Condition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Shared and Private </a:t>
            </a:r>
            <a:r>
              <a:rPr lang="en-US" b="1" dirty="0" smtClean="0"/>
              <a:t>Variables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Basic Library </a:t>
            </a:r>
            <a:r>
              <a:rPr lang="en-US" b="1" dirty="0" smtClean="0"/>
              <a:t>Functions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Program </a:t>
            </a:r>
            <a:r>
              <a:rPr lang="en-US" b="1" dirty="0" smtClean="0"/>
              <a:t>Structure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Program: Hello </a:t>
            </a:r>
            <a:r>
              <a:rPr lang="en-US" b="1" dirty="0" smtClean="0"/>
              <a:t>World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Home Task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Summary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Additional Resources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5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Physically: processors in a computer </a:t>
            </a:r>
            <a:r>
              <a:rPr lang="en-US" b="1" dirty="0">
                <a:solidFill>
                  <a:srgbClr val="0000A8"/>
                </a:solidFill>
              </a:rPr>
              <a:t>share access </a:t>
            </a:r>
            <a:r>
              <a:rPr lang="en-US" b="1" dirty="0"/>
              <a:t>to the same RAM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Virtually: threads running on the processors interact with one another via </a:t>
            </a:r>
            <a:r>
              <a:rPr lang="en-US" b="1" dirty="0">
                <a:solidFill>
                  <a:srgbClr val="0000A8"/>
                </a:solidFill>
              </a:rPr>
              <a:t>shared variables </a:t>
            </a:r>
            <a:r>
              <a:rPr lang="en-US" b="1" dirty="0"/>
              <a:t>in the common address space of a single process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Making performance improvements to serial code tends to be </a:t>
            </a:r>
            <a:r>
              <a:rPr lang="en-US" b="1" dirty="0">
                <a:solidFill>
                  <a:srgbClr val="0000A8"/>
                </a:solidFill>
              </a:rPr>
              <a:t>easier</a:t>
            </a:r>
            <a:r>
              <a:rPr lang="en-US" b="1" dirty="0"/>
              <a:t> with multithreading than with message passing paradigm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Message passing usually </a:t>
            </a:r>
            <a:r>
              <a:rPr lang="en-US" b="1" dirty="0">
                <a:solidFill>
                  <a:srgbClr val="0000A8"/>
                </a:solidFill>
              </a:rPr>
              <a:t>requires</a:t>
            </a:r>
            <a:r>
              <a:rPr lang="en-US" b="1" dirty="0"/>
              <a:t> the code/algorithm to be redesigned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Multithreading </a:t>
            </a:r>
            <a:r>
              <a:rPr lang="en-US" b="1" dirty="0">
                <a:solidFill>
                  <a:srgbClr val="0000A8"/>
                </a:solidFill>
              </a:rPr>
              <a:t>allows</a:t>
            </a:r>
            <a:r>
              <a:rPr lang="en-US" b="1" dirty="0"/>
              <a:t> incremental parallelism: take it one loop at a </a:t>
            </a:r>
            <a:r>
              <a:rPr lang="en-US" b="1" dirty="0" smtClean="0"/>
              <a:t>time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Clusters today are commonly made up of multiple processors per compute node; using </a:t>
            </a:r>
            <a:r>
              <a:rPr lang="en-US" b="1" dirty="0" err="1"/>
              <a:t>OpenMP</a:t>
            </a:r>
            <a:r>
              <a:rPr lang="en-US" b="1" dirty="0"/>
              <a:t> with MPI is a strategy to improve </a:t>
            </a:r>
            <a:r>
              <a:rPr lang="en-US" b="1" dirty="0">
                <a:solidFill>
                  <a:srgbClr val="0000A8"/>
                </a:solidFill>
              </a:rPr>
              <a:t>performance</a:t>
            </a:r>
            <a:r>
              <a:rPr lang="en-US" b="1" dirty="0"/>
              <a:t> at the two levels (i.e</a:t>
            </a:r>
            <a:r>
              <a:rPr lang="en-US" b="1" dirty="0" smtClean="0"/>
              <a:t>. </a:t>
            </a:r>
            <a:r>
              <a:rPr lang="en-US" b="1" dirty="0"/>
              <a:t>shared and distributed </a:t>
            </a:r>
            <a:r>
              <a:rPr lang="en-US" b="1" dirty="0" smtClean="0"/>
              <a:t>memory</a:t>
            </a:r>
            <a:r>
              <a:rPr lang="en-US" b="1" dirty="0"/>
              <a:t>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Shared Memory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3444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622214"/>
            <a:ext cx="8694057" cy="3787185"/>
          </a:xfr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Shared Memory Programming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66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Shared-Memory Programming </a:t>
            </a:r>
            <a:r>
              <a:rPr lang="en-US" altLang="en-US" sz="3600" dirty="0"/>
              <a:t>(Fork/Join Parallelism)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Multi-threaded programming is the most </a:t>
            </a:r>
            <a:r>
              <a:rPr lang="en-US" b="1" dirty="0">
                <a:solidFill>
                  <a:srgbClr val="0000A8"/>
                </a:solidFill>
              </a:rPr>
              <a:t>common</a:t>
            </a:r>
            <a:r>
              <a:rPr lang="en-US" b="1" dirty="0"/>
              <a:t> shared-memory programming </a:t>
            </a:r>
            <a:r>
              <a:rPr lang="en-US" b="1" dirty="0" smtClean="0"/>
              <a:t>methodology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serial code begins execution.  The process is the </a:t>
            </a:r>
            <a:r>
              <a:rPr lang="en-US" b="1" dirty="0">
                <a:solidFill>
                  <a:srgbClr val="0000A8"/>
                </a:solidFill>
              </a:rPr>
              <a:t>master thread </a:t>
            </a:r>
            <a:r>
              <a:rPr lang="en-US" b="1" dirty="0"/>
              <a:t>or only executing </a:t>
            </a:r>
            <a:r>
              <a:rPr lang="en-US" b="1" dirty="0" smtClean="0"/>
              <a:t>thread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When a parallel portion of the code is reached, the Master thread can </a:t>
            </a:r>
            <a:r>
              <a:rPr lang="en-US" b="1" dirty="0">
                <a:solidFill>
                  <a:srgbClr val="0000A8"/>
                </a:solidFill>
              </a:rPr>
              <a:t>“fork” </a:t>
            </a:r>
            <a:r>
              <a:rPr lang="en-US" b="1" dirty="0"/>
              <a:t>more threads to work on </a:t>
            </a:r>
            <a:r>
              <a:rPr lang="en-US" b="1" dirty="0" smtClean="0"/>
              <a:t>it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When the parallel portion of the code has completed, the threads </a:t>
            </a:r>
            <a:r>
              <a:rPr lang="en-US" b="1" dirty="0">
                <a:solidFill>
                  <a:srgbClr val="0000A8"/>
                </a:solidFill>
              </a:rPr>
              <a:t>“join” </a:t>
            </a:r>
            <a:r>
              <a:rPr lang="en-US" b="1" dirty="0"/>
              <a:t>again, and the master thread continues executing  the serial code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smtClean="0"/>
              <a:t>Introduction: 1-</a:t>
            </a:r>
            <a:fld id="{C4204591-24BD-A542-B9D5-F8D8A88D2FEE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="" xmlns:a16="http://schemas.microsoft.com/office/drawing/2014/main" id="{8587EDDB-A95F-4ABC-BE48-7AA9D01E6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037086"/>
              </p:ext>
            </p:extLst>
          </p:nvPr>
        </p:nvGraphicFramePr>
        <p:xfrm>
          <a:off x="6172200" y="1825625"/>
          <a:ext cx="3435350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SmartDraw" r:id="rId3" imgW="2013120" imgH="2724840" progId="SmartDraw.2">
                  <p:embed/>
                </p:oleObj>
              </mc:Choice>
              <mc:Fallback>
                <p:oleObj name="SmartDraw" r:id="rId3" imgW="2013120" imgH="2724840" progId="SmartDraw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825625"/>
                        <a:ext cx="3435350" cy="43513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32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Shared-Memory vs. Message Passing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Shared-Memory </a:t>
            </a:r>
            <a:r>
              <a:rPr lang="en-US" b="1" dirty="0">
                <a:solidFill>
                  <a:srgbClr val="C00000"/>
                </a:solidFill>
              </a:rPr>
              <a:t>M</a:t>
            </a:r>
            <a:r>
              <a:rPr lang="en-US" b="1" dirty="0" smtClean="0">
                <a:solidFill>
                  <a:srgbClr val="C00000"/>
                </a:solidFill>
              </a:rPr>
              <a:t>odel</a:t>
            </a:r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One</a:t>
            </a:r>
            <a:r>
              <a:rPr lang="en-US" b="1" dirty="0">
                <a:solidFill>
                  <a:srgbClr val="0000A8"/>
                </a:solidFill>
              </a:rPr>
              <a:t> active </a:t>
            </a:r>
            <a:r>
              <a:rPr lang="en-US" b="1" dirty="0"/>
              <a:t>thread at start and end of the program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Number of active threads inside program </a:t>
            </a:r>
            <a:r>
              <a:rPr lang="en-US" b="1" dirty="0">
                <a:solidFill>
                  <a:srgbClr val="0000A8"/>
                </a:solidFill>
              </a:rPr>
              <a:t>changes </a:t>
            </a:r>
            <a:r>
              <a:rPr lang="en-US" b="1" dirty="0"/>
              <a:t>dynamically</a:t>
            </a:r>
            <a:r>
              <a:rPr lang="en-US" b="1" dirty="0">
                <a:solidFill>
                  <a:srgbClr val="0000A8"/>
                </a:solidFill>
              </a:rPr>
              <a:t> </a:t>
            </a:r>
            <a:r>
              <a:rPr lang="en-US" b="1" dirty="0"/>
              <a:t>during </a:t>
            </a:r>
            <a:r>
              <a:rPr lang="en-US" b="1" dirty="0" smtClean="0"/>
              <a:t>execution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Supports </a:t>
            </a:r>
            <a:r>
              <a:rPr lang="en-US" b="1" dirty="0" smtClean="0">
                <a:solidFill>
                  <a:srgbClr val="0000A8"/>
                </a:solidFill>
              </a:rPr>
              <a:t>incremental </a:t>
            </a:r>
            <a:r>
              <a:rPr lang="en-US" b="1" dirty="0" smtClean="0"/>
              <a:t>parallelism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process of </a:t>
            </a:r>
            <a:r>
              <a:rPr lang="en-US" b="1" dirty="0">
                <a:solidFill>
                  <a:srgbClr val="0000A8"/>
                </a:solidFill>
              </a:rPr>
              <a:t>converting</a:t>
            </a:r>
            <a:r>
              <a:rPr lang="en-US" b="1" dirty="0"/>
              <a:t> a sequential program to a parallel program a little bit at a time</a:t>
            </a:r>
          </a:p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Message-Passing </a:t>
            </a:r>
            <a:r>
              <a:rPr lang="en-US" b="1" dirty="0">
                <a:solidFill>
                  <a:srgbClr val="C00000"/>
                </a:solidFill>
              </a:rPr>
              <a:t>M</a:t>
            </a:r>
            <a:r>
              <a:rPr lang="en-US" b="1" dirty="0" smtClean="0">
                <a:solidFill>
                  <a:srgbClr val="C00000"/>
                </a:solidFill>
              </a:rPr>
              <a:t>odel</a:t>
            </a:r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All processes remain </a:t>
            </a:r>
            <a:r>
              <a:rPr lang="en-US" b="1" dirty="0">
                <a:solidFill>
                  <a:srgbClr val="0000A8"/>
                </a:solidFill>
              </a:rPr>
              <a:t>active</a:t>
            </a:r>
            <a:r>
              <a:rPr lang="en-US" b="1" dirty="0"/>
              <a:t> throughout execution of program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Sequential-to-parallel transformation </a:t>
            </a:r>
            <a:r>
              <a:rPr lang="en-US" b="1" dirty="0">
                <a:solidFill>
                  <a:srgbClr val="0000A8"/>
                </a:solidFill>
              </a:rPr>
              <a:t>requires</a:t>
            </a:r>
            <a:r>
              <a:rPr lang="en-US" b="1" dirty="0"/>
              <a:t> major effort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A8"/>
                </a:solidFill>
              </a:rPr>
              <a:t>No</a:t>
            </a:r>
            <a:r>
              <a:rPr lang="en-US" b="1" dirty="0"/>
              <a:t> incremental parallelism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Transformation done in </a:t>
            </a:r>
            <a:r>
              <a:rPr lang="en-US" b="1" dirty="0">
                <a:solidFill>
                  <a:srgbClr val="0000A8"/>
                </a:solidFill>
              </a:rPr>
              <a:t>one giant step </a:t>
            </a:r>
            <a:r>
              <a:rPr lang="en-US" b="1" dirty="0"/>
              <a:t>rather than many tiny steps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13110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/>
              <a:t>OpenMP</a:t>
            </a:r>
            <a:r>
              <a:rPr lang="en-US" b="1" dirty="0"/>
              <a:t> has emerged as a </a:t>
            </a:r>
            <a:r>
              <a:rPr lang="en-US" b="1" dirty="0">
                <a:solidFill>
                  <a:srgbClr val="0000A8"/>
                </a:solidFill>
              </a:rPr>
              <a:t>standard</a:t>
            </a:r>
            <a:r>
              <a:rPr lang="en-US" b="1" dirty="0"/>
              <a:t> method for shared-memory </a:t>
            </a:r>
            <a:r>
              <a:rPr lang="en-US" b="1" dirty="0" smtClean="0"/>
              <a:t>programming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Same </a:t>
            </a:r>
            <a:r>
              <a:rPr lang="en-US" b="1" dirty="0"/>
              <a:t>as MPI has become the standard for </a:t>
            </a:r>
            <a:r>
              <a:rPr lang="en-US" b="1" dirty="0">
                <a:solidFill>
                  <a:srgbClr val="0000A8"/>
                </a:solidFill>
              </a:rPr>
              <a:t>distributed-memory</a:t>
            </a:r>
            <a:r>
              <a:rPr lang="en-US" b="1" dirty="0"/>
              <a:t> </a:t>
            </a:r>
            <a:r>
              <a:rPr lang="en-US" b="1" dirty="0" smtClean="0"/>
              <a:t>programming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Codes </a:t>
            </a:r>
            <a:r>
              <a:rPr lang="en-US" b="1" dirty="0"/>
              <a:t>are </a:t>
            </a:r>
            <a:r>
              <a:rPr lang="en-US" b="1" dirty="0">
                <a:solidFill>
                  <a:srgbClr val="0000A8"/>
                </a:solidFill>
              </a:rPr>
              <a:t>portable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Performance </a:t>
            </a:r>
            <a:r>
              <a:rPr lang="en-US" b="1" dirty="0"/>
              <a:t>is usually </a:t>
            </a:r>
            <a:r>
              <a:rPr lang="en-US" b="1" dirty="0">
                <a:solidFill>
                  <a:srgbClr val="0000A8"/>
                </a:solidFill>
              </a:rPr>
              <a:t>good</a:t>
            </a:r>
            <a:r>
              <a:rPr lang="en-US" b="1" dirty="0"/>
              <a:t> </a:t>
            </a:r>
            <a:r>
              <a:rPr lang="en-US" b="1" dirty="0" smtClean="0"/>
              <a:t>enough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Compiler support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C, C++ &amp; Fortran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Intel (</a:t>
            </a:r>
            <a:r>
              <a:rPr lang="en-US" b="1" dirty="0" err="1"/>
              <a:t>icc</a:t>
            </a:r>
            <a:r>
              <a:rPr lang="en-US" b="1" dirty="0"/>
              <a:t> -</a:t>
            </a:r>
            <a:r>
              <a:rPr lang="en-US" b="1" dirty="0" err="1"/>
              <a:t>openmp</a:t>
            </a:r>
            <a:r>
              <a:rPr lang="en-US" b="1" dirty="0"/>
              <a:t>), and GNU (</a:t>
            </a:r>
            <a:r>
              <a:rPr lang="en-US" b="1" dirty="0" err="1"/>
              <a:t>gcc</a:t>
            </a:r>
            <a:r>
              <a:rPr lang="en-US" b="1" dirty="0"/>
              <a:t> -</a:t>
            </a:r>
            <a:r>
              <a:rPr lang="en-US" b="1" dirty="0" err="1"/>
              <a:t>fopenmp</a:t>
            </a:r>
            <a:r>
              <a:rPr lang="en-US" b="1" dirty="0"/>
              <a:t>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OpenMP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439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/>
              <a:t>OpenMP</a:t>
            </a:r>
            <a:r>
              <a:rPr lang="en-US" b="1" dirty="0"/>
              <a:t> (Open Multi Processing) is an </a:t>
            </a:r>
            <a:r>
              <a:rPr lang="en-US" b="1" dirty="0">
                <a:solidFill>
                  <a:srgbClr val="0000A8"/>
                </a:solidFill>
              </a:rPr>
              <a:t>API</a:t>
            </a:r>
            <a:r>
              <a:rPr lang="en-US" b="1" dirty="0"/>
              <a:t> for writing multithreaded applications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Provides </a:t>
            </a:r>
            <a:r>
              <a:rPr lang="en-US" b="1" dirty="0"/>
              <a:t>an </a:t>
            </a:r>
            <a:r>
              <a:rPr lang="en-US" b="1" dirty="0">
                <a:solidFill>
                  <a:srgbClr val="0000A8"/>
                </a:solidFill>
              </a:rPr>
              <a:t>implementation model </a:t>
            </a:r>
            <a:r>
              <a:rPr lang="en-US" b="1" dirty="0"/>
              <a:t>to distribute and decompose the work across multiple processors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Uses </a:t>
            </a:r>
            <a:r>
              <a:rPr lang="en-US" b="1" dirty="0">
                <a:solidFill>
                  <a:srgbClr val="0000A8"/>
                </a:solidFill>
              </a:rPr>
              <a:t>threads</a:t>
            </a:r>
            <a:r>
              <a:rPr lang="en-US" b="1" dirty="0"/>
              <a:t> to deploy work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Greatly </a:t>
            </a:r>
            <a:r>
              <a:rPr lang="en-US" b="1" dirty="0">
                <a:solidFill>
                  <a:srgbClr val="0000A8"/>
                </a:solidFill>
              </a:rPr>
              <a:t>simplifies</a:t>
            </a:r>
            <a:r>
              <a:rPr lang="en-US" b="1" dirty="0"/>
              <a:t> writing multi-threaded (MT) programs in Fortran, C and C++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err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</a:t>
            </a:r>
            <a:r>
              <a:rPr lang="en-US" dirty="0" err="1"/>
              <a:t>OpenMP</a:t>
            </a:r>
            <a:r>
              <a:rPr lang="en-US" dirty="0"/>
              <a:t> </a:t>
            </a:r>
            <a:r>
              <a:rPr lang="en-US" dirty="0" smtClean="0"/>
              <a:t>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508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/>
              <a:t>OpenMP</a:t>
            </a:r>
            <a:r>
              <a:rPr lang="en-US" b="1" dirty="0"/>
              <a:t> is described by the API based on</a:t>
            </a:r>
            <a:r>
              <a:rPr lang="en-US" b="1" dirty="0" smtClean="0"/>
              <a:t>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set of </a:t>
            </a:r>
            <a:r>
              <a:rPr lang="en-US" b="1" dirty="0">
                <a:solidFill>
                  <a:srgbClr val="0000A8"/>
                </a:solidFill>
              </a:rPr>
              <a:t>compiler directives </a:t>
            </a:r>
            <a:r>
              <a:rPr lang="en-US" b="1" dirty="0"/>
              <a:t>for depicting the parallelism in the source code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 library of </a:t>
            </a:r>
            <a:r>
              <a:rPr lang="en-US" b="1" dirty="0">
                <a:solidFill>
                  <a:srgbClr val="0000A8"/>
                </a:solidFill>
              </a:rPr>
              <a:t>subroutines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 set of </a:t>
            </a:r>
            <a:r>
              <a:rPr lang="en-US" b="1" dirty="0">
                <a:solidFill>
                  <a:srgbClr val="0000A8"/>
                </a:solidFill>
              </a:rPr>
              <a:t>Environment Variables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directives in C and C++ are </a:t>
            </a:r>
            <a:r>
              <a:rPr lang="en-US" b="1" dirty="0">
                <a:solidFill>
                  <a:srgbClr val="0000A8"/>
                </a:solidFill>
              </a:rPr>
              <a:t>based</a:t>
            </a:r>
            <a:r>
              <a:rPr lang="en-US" b="1" dirty="0"/>
              <a:t> on the #pragma compiler </a:t>
            </a:r>
            <a:r>
              <a:rPr lang="en-US" b="1" dirty="0" smtClean="0"/>
              <a:t>directives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Works </a:t>
            </a:r>
            <a:r>
              <a:rPr lang="en-US" b="1" dirty="0"/>
              <a:t>on the basis of </a:t>
            </a:r>
            <a:r>
              <a:rPr lang="en-US" b="1" dirty="0">
                <a:solidFill>
                  <a:srgbClr val="0000A8"/>
                </a:solidFill>
              </a:rPr>
              <a:t>Fork-Join</a:t>
            </a:r>
            <a:r>
              <a:rPr lang="en-US" b="1" dirty="0"/>
              <a:t> model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err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</a:t>
            </a:r>
            <a:r>
              <a:rPr lang="en-US" dirty="0" err="1"/>
              <a:t>OpenMP</a:t>
            </a:r>
            <a:r>
              <a:rPr lang="en-US" dirty="0"/>
              <a:t> </a:t>
            </a:r>
            <a:r>
              <a:rPr lang="en-US" dirty="0" smtClean="0"/>
              <a:t>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758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OpenMP</a:t>
            </a:r>
            <a:r>
              <a:rPr lang="en-US" dirty="0"/>
              <a:t> </a:t>
            </a:r>
            <a:r>
              <a:rPr lang="en-US" dirty="0" smtClean="0"/>
              <a:t>Solution Stack Model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5143" y="1189951"/>
            <a:ext cx="8580058" cy="5095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132523" y="6341204"/>
            <a:ext cx="5176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Calibri" pitchFamily="34" charset="0"/>
              </a:rPr>
              <a:t>Source: http://openmp.org/mp-documents/omp-hands-on-SC08.pdf</a:t>
            </a:r>
            <a:endParaRPr lang="en-US" sz="1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2009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Turn on </a:t>
            </a:r>
            <a:r>
              <a:rPr lang="en-US" b="1" dirty="0" err="1"/>
              <a:t>OpneMP</a:t>
            </a:r>
            <a:r>
              <a:rPr lang="en-US" b="1" dirty="0"/>
              <a:t> support in Visual Studio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Project properties </a:t>
            </a:r>
            <a:r>
              <a:rPr lang="en-US" b="1" dirty="0">
                <a:sym typeface="Wingdings" pitchFamily="2" charset="2"/>
              </a:rPr>
              <a:t> Configuration  C/C++/Language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 using Visual Studio C++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8245" y="2400059"/>
            <a:ext cx="7929098" cy="4457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0777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C </a:t>
            </a:r>
            <a:r>
              <a:rPr lang="en-US" b="1" dirty="0"/>
              <a:t>programs often </a:t>
            </a:r>
            <a:r>
              <a:rPr lang="en-US" b="1" dirty="0">
                <a:solidFill>
                  <a:srgbClr val="0000A8"/>
                </a:solidFill>
              </a:rPr>
              <a:t>express</a:t>
            </a:r>
            <a:r>
              <a:rPr lang="en-US" b="1" dirty="0"/>
              <a:t> data-parallel operations as for </a:t>
            </a:r>
            <a:r>
              <a:rPr lang="en-US" b="1" dirty="0" smtClean="0"/>
              <a:t>loops</a:t>
            </a:r>
            <a:endParaRPr lang="en-US" b="1" dirty="0"/>
          </a:p>
          <a:p>
            <a:pPr marL="130175" indent="0" algn="just">
              <a:buNone/>
            </a:pPr>
            <a:r>
              <a:rPr lang="en-US" b="1" dirty="0" smtClean="0"/>
              <a:t>	for 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/>
              <a:t> = first; </a:t>
            </a:r>
            <a:r>
              <a:rPr lang="en-US" b="1" dirty="0" err="1"/>
              <a:t>i</a:t>
            </a:r>
            <a:r>
              <a:rPr lang="en-US" b="1" dirty="0"/>
              <a:t> &lt; size; </a:t>
            </a:r>
            <a:r>
              <a:rPr lang="en-US" b="1" dirty="0" err="1"/>
              <a:t>i</a:t>
            </a:r>
            <a:r>
              <a:rPr lang="en-US" b="1" dirty="0"/>
              <a:t> += </a:t>
            </a:r>
            <a:r>
              <a:rPr lang="en-US" b="1" dirty="0" smtClean="0"/>
              <a:t>2)</a:t>
            </a:r>
          </a:p>
          <a:p>
            <a:pPr marL="130175" indent="0" algn="just">
              <a:buNone/>
            </a:pPr>
            <a:r>
              <a:rPr lang="en-US" b="1" dirty="0"/>
              <a:t>	</a:t>
            </a:r>
            <a:r>
              <a:rPr lang="en-US" b="1" dirty="0" smtClean="0"/>
              <a:t>	marked[</a:t>
            </a:r>
            <a:r>
              <a:rPr lang="en-US" b="1" dirty="0" err="1" smtClean="0"/>
              <a:t>i</a:t>
            </a:r>
            <a:r>
              <a:rPr lang="en-US" b="1" dirty="0"/>
              <a:t>] = 1;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/>
              <a:t>OpenMP</a:t>
            </a:r>
            <a:r>
              <a:rPr lang="en-US" b="1" dirty="0"/>
              <a:t> makes it easy to </a:t>
            </a:r>
            <a:r>
              <a:rPr lang="en-US" b="1" dirty="0">
                <a:solidFill>
                  <a:srgbClr val="0000A8"/>
                </a:solidFill>
              </a:rPr>
              <a:t>indicate</a:t>
            </a:r>
            <a:r>
              <a:rPr lang="en-US" b="1" dirty="0"/>
              <a:t> when the iterations of a loop may execute in parallel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Compiler </a:t>
            </a:r>
            <a:r>
              <a:rPr lang="en-US" b="1" dirty="0">
                <a:solidFill>
                  <a:srgbClr val="0000A8"/>
                </a:solidFill>
              </a:rPr>
              <a:t>takes care </a:t>
            </a:r>
            <a:r>
              <a:rPr lang="en-US" b="1" dirty="0"/>
              <a:t>of generating code that forks/joins threads and allocates the iterations to threads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err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</a:t>
            </a:r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work?</a:t>
            </a:r>
          </a:p>
        </p:txBody>
      </p:sp>
    </p:spTree>
    <p:extLst>
      <p:ext uri="{BB962C8B-B14F-4D97-AF65-F5344CB8AC3E}">
        <p14:creationId xmlns:p14="http://schemas.microsoft.com/office/powerpoint/2010/main" val="2396079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Pragma</a:t>
            </a:r>
            <a:r>
              <a:rPr lang="en-US" b="1" dirty="0"/>
              <a:t>: a compiler </a:t>
            </a:r>
            <a:r>
              <a:rPr lang="en-US" b="1" dirty="0">
                <a:solidFill>
                  <a:srgbClr val="0000A8"/>
                </a:solidFill>
              </a:rPr>
              <a:t>directive</a:t>
            </a:r>
            <a:r>
              <a:rPr lang="en-US" b="1" dirty="0"/>
              <a:t> in C or C++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Stands for “</a:t>
            </a:r>
            <a:r>
              <a:rPr lang="en-US" b="1" dirty="0">
                <a:solidFill>
                  <a:srgbClr val="0000A8"/>
                </a:solidFill>
              </a:rPr>
              <a:t>pragmatic</a:t>
            </a:r>
            <a:r>
              <a:rPr lang="en-US" b="1" dirty="0"/>
              <a:t> information</a:t>
            </a:r>
            <a:r>
              <a:rPr lang="en-US" b="1" dirty="0" smtClean="0"/>
              <a:t>”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Pragmatic information : practical information, realistic </a:t>
            </a:r>
            <a:r>
              <a:rPr lang="en-US" b="1" dirty="0" smtClean="0"/>
              <a:t>insight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 way for the programmer to </a:t>
            </a:r>
            <a:r>
              <a:rPr lang="en-US" b="1" dirty="0">
                <a:solidFill>
                  <a:srgbClr val="0000A8"/>
                </a:solidFill>
              </a:rPr>
              <a:t>communicate</a:t>
            </a:r>
            <a:r>
              <a:rPr lang="en-US" b="1" dirty="0"/>
              <a:t> with the compiler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Compiler is </a:t>
            </a:r>
            <a:r>
              <a:rPr lang="en-US" b="1" dirty="0">
                <a:solidFill>
                  <a:srgbClr val="0000A8"/>
                </a:solidFill>
              </a:rPr>
              <a:t>free to ignore </a:t>
            </a:r>
            <a:r>
              <a:rPr lang="en-US" b="1" dirty="0"/>
              <a:t>pragmas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Syntax</a:t>
            </a:r>
            <a:r>
              <a:rPr lang="en-US" b="1" dirty="0" smtClean="0"/>
              <a:t>:</a:t>
            </a:r>
          </a:p>
          <a:p>
            <a:pPr marL="130175" indent="0" algn="just">
              <a:buNone/>
            </a:pPr>
            <a:r>
              <a:rPr lang="en-US" b="1" dirty="0"/>
              <a:t>	</a:t>
            </a:r>
            <a:r>
              <a:rPr lang="en-US" b="1" dirty="0" smtClean="0"/>
              <a:t>#</a:t>
            </a:r>
            <a:r>
              <a:rPr lang="en-US" b="1" dirty="0"/>
              <a:t>pragma </a:t>
            </a:r>
            <a:r>
              <a:rPr lang="en-US" b="1" dirty="0" err="1"/>
              <a:t>omp</a:t>
            </a:r>
            <a:r>
              <a:rPr lang="en-US" b="1" dirty="0"/>
              <a:t> &lt;rest of pragma&gt;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pragmas precede the regions that can be parallelize to </a:t>
            </a:r>
            <a:r>
              <a:rPr lang="en-US" b="1" dirty="0">
                <a:solidFill>
                  <a:srgbClr val="0000A8"/>
                </a:solidFill>
              </a:rPr>
              <a:t>flag the compiler </a:t>
            </a:r>
            <a:r>
              <a:rPr lang="en-US" b="1" dirty="0"/>
              <a:t>that performing operations in parallel does not affect the program semantics (i.e., doesn’t affect the program’s logic).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</a:t>
            </a:r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work</a:t>
            </a:r>
            <a:r>
              <a:rPr lang="en-US" dirty="0" smtClean="0"/>
              <a:t>? - Pragmas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881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Format</a:t>
            </a:r>
            <a:r>
              <a:rPr lang="en-US" b="1" dirty="0"/>
              <a:t>:</a:t>
            </a:r>
          </a:p>
          <a:p>
            <a:pPr marL="473075" lvl="1" indent="0" algn="just">
              <a:buNone/>
            </a:pPr>
            <a:r>
              <a:rPr lang="en-US" b="1" dirty="0"/>
              <a:t>#pragma </a:t>
            </a:r>
            <a:r>
              <a:rPr lang="en-US" b="1" dirty="0" err="1"/>
              <a:t>omp</a:t>
            </a:r>
            <a:r>
              <a:rPr lang="en-US" b="1" dirty="0"/>
              <a:t> parallel for</a:t>
            </a:r>
          </a:p>
          <a:p>
            <a:pPr marL="473075" lvl="1" indent="0" algn="just">
              <a:buNone/>
            </a:pPr>
            <a:r>
              <a:rPr lang="en-US" b="1" dirty="0"/>
              <a:t>for (</a:t>
            </a:r>
            <a:r>
              <a:rPr lang="en-US" b="1" dirty="0" err="1"/>
              <a:t>i</a:t>
            </a:r>
            <a:r>
              <a:rPr lang="en-US" b="1" dirty="0"/>
              <a:t> = 0; </a:t>
            </a:r>
            <a:r>
              <a:rPr lang="en-US" b="1" dirty="0" err="1"/>
              <a:t>i</a:t>
            </a:r>
            <a:r>
              <a:rPr lang="en-US" b="1" dirty="0"/>
              <a:t> &lt; N; </a:t>
            </a:r>
            <a:r>
              <a:rPr lang="en-US" b="1" dirty="0" err="1"/>
              <a:t>i</a:t>
            </a:r>
            <a:r>
              <a:rPr lang="en-US" b="1" dirty="0"/>
              <a:t>++)</a:t>
            </a:r>
          </a:p>
          <a:p>
            <a:pPr marL="473075" lvl="1" indent="0" algn="just">
              <a:buNone/>
            </a:pPr>
            <a:r>
              <a:rPr lang="en-US" b="1" dirty="0"/>
              <a:t>   a[</a:t>
            </a:r>
            <a:r>
              <a:rPr lang="en-US" b="1" dirty="0" err="1"/>
              <a:t>i</a:t>
            </a:r>
            <a:r>
              <a:rPr lang="en-US" b="1" dirty="0"/>
              <a:t>] = b[</a:t>
            </a:r>
            <a:r>
              <a:rPr lang="en-US" b="1" dirty="0" err="1"/>
              <a:t>i</a:t>
            </a:r>
            <a:r>
              <a:rPr lang="en-US" b="1" dirty="0"/>
              <a:t>] + c[</a:t>
            </a:r>
            <a:r>
              <a:rPr lang="en-US" b="1" dirty="0" err="1"/>
              <a:t>i</a:t>
            </a:r>
            <a:r>
              <a:rPr lang="en-US" b="1" dirty="0" smtClean="0"/>
              <a:t>];</a:t>
            </a:r>
          </a:p>
          <a:p>
            <a:pPr marL="473075" lvl="1" indent="0" algn="just">
              <a:buNone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Compiler must be able to verify </a:t>
            </a:r>
            <a:r>
              <a:rPr lang="en-US" b="1" dirty="0">
                <a:solidFill>
                  <a:srgbClr val="0000A8"/>
                </a:solidFill>
              </a:rPr>
              <a:t>total number of iteration </a:t>
            </a:r>
            <a:r>
              <a:rPr lang="en-US" b="1" dirty="0"/>
              <a:t>before executing the program, to parallelize it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Body of for-loop must </a:t>
            </a:r>
            <a:r>
              <a:rPr lang="en-US" b="1" dirty="0">
                <a:solidFill>
                  <a:srgbClr val="0000A8"/>
                </a:solidFill>
              </a:rPr>
              <a:t>not allow </a:t>
            </a:r>
            <a:r>
              <a:rPr lang="en-US" b="1" dirty="0"/>
              <a:t>premature exits (e.g.,  break, return, exit, or </a:t>
            </a:r>
            <a:r>
              <a:rPr lang="en-US" b="1" dirty="0" err="1"/>
              <a:t>goto</a:t>
            </a:r>
            <a:r>
              <a:rPr lang="en-US" b="1" dirty="0"/>
              <a:t> statements are not allowed</a:t>
            </a:r>
            <a:r>
              <a:rPr lang="en-US" b="1" dirty="0" smtClean="0"/>
              <a:t>)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However, loops with ‘continue’ statement are </a:t>
            </a:r>
            <a:r>
              <a:rPr lang="en-US" b="1" dirty="0">
                <a:solidFill>
                  <a:srgbClr val="0000A8"/>
                </a:solidFill>
              </a:rPr>
              <a:t>allowed</a:t>
            </a:r>
            <a:r>
              <a:rPr lang="en-US" b="1" dirty="0"/>
              <a:t> as it does not cause the premature </a:t>
            </a:r>
            <a:r>
              <a:rPr lang="en-US" b="1" dirty="0" smtClean="0"/>
              <a:t>exit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</a:t>
            </a:r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work</a:t>
            </a:r>
            <a:r>
              <a:rPr lang="en-US" dirty="0" smtClean="0"/>
              <a:t>? </a:t>
            </a:r>
            <a:r>
              <a:rPr lang="en-US" dirty="0"/>
              <a:t>- </a:t>
            </a:r>
            <a:r>
              <a:rPr lang="en-US" dirty="0" smtClean="0"/>
              <a:t>parallel </a:t>
            </a:r>
            <a:r>
              <a:rPr lang="en-US" dirty="0"/>
              <a:t>for </a:t>
            </a:r>
            <a:r>
              <a:rPr lang="en-US" dirty="0" smtClean="0"/>
              <a:t>Pragma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22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Canonical shape: allowed shape, traditional shape, according to </a:t>
            </a:r>
            <a:r>
              <a:rPr lang="en-US" sz="2400" b="1" dirty="0" smtClean="0"/>
              <a:t>rules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Here </a:t>
            </a:r>
            <a:r>
              <a:rPr lang="en-US" sz="2400" b="1" dirty="0"/>
              <a:t>‘</a:t>
            </a:r>
            <a:r>
              <a:rPr lang="en-US" sz="2400" b="1" dirty="0" err="1"/>
              <a:t>inc</a:t>
            </a:r>
            <a:r>
              <a:rPr lang="en-US" sz="2400" b="1" dirty="0"/>
              <a:t>’ can be any </a:t>
            </a:r>
            <a:r>
              <a:rPr lang="en-US" sz="2400" b="1" dirty="0" smtClean="0"/>
              <a:t>constant value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[allowed] Shape of </a:t>
            </a:r>
            <a:r>
              <a:rPr lang="en-US" i="1" dirty="0"/>
              <a:t>for-loop</a:t>
            </a:r>
            <a:r>
              <a:rPr lang="en-US" dirty="0"/>
              <a:t> Condition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="" xmlns:a16="http://schemas.microsoft.com/office/drawing/2014/main" id="{B121600C-CD33-4F3D-8DAE-058A0336F6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035392"/>
              </p:ext>
            </p:extLst>
          </p:nvPr>
        </p:nvGraphicFramePr>
        <p:xfrm>
          <a:off x="1906472" y="2506552"/>
          <a:ext cx="8050328" cy="38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3" imgW="3377880" imgH="1904760" progId="Equation.3">
                  <p:embed/>
                </p:oleObj>
              </mc:Choice>
              <mc:Fallback>
                <p:oleObj name="Equation" r:id="rId3" imgW="3377880" imgH="1904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472" y="2506552"/>
                        <a:ext cx="8050328" cy="38827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6336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Shared </a:t>
            </a:r>
            <a:r>
              <a:rPr lang="en-US" sz="3200" b="1" dirty="0" smtClean="0">
                <a:solidFill>
                  <a:srgbClr val="C00000"/>
                </a:solidFill>
              </a:rPr>
              <a:t>Variable: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Has </a:t>
            </a:r>
            <a:r>
              <a:rPr lang="en-US" sz="3200" b="1" dirty="0">
                <a:solidFill>
                  <a:srgbClr val="0000A8"/>
                </a:solidFill>
              </a:rPr>
              <a:t>same address </a:t>
            </a:r>
            <a:r>
              <a:rPr lang="en-US" sz="3200" b="1" dirty="0"/>
              <a:t>in execution context of every thread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Private Variable: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Has </a:t>
            </a:r>
            <a:r>
              <a:rPr lang="en-US" sz="3200" b="1" dirty="0">
                <a:solidFill>
                  <a:srgbClr val="0000A8"/>
                </a:solidFill>
              </a:rPr>
              <a:t>different address </a:t>
            </a:r>
            <a:r>
              <a:rPr lang="en-US" sz="3200" b="1" dirty="0"/>
              <a:t>in execution context of every thread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 </a:t>
            </a:r>
            <a:r>
              <a:rPr lang="en-US" sz="3200" b="1" dirty="0"/>
              <a:t>thread </a:t>
            </a:r>
            <a:r>
              <a:rPr lang="en-US" sz="3200" b="1" dirty="0">
                <a:solidFill>
                  <a:srgbClr val="0000A8"/>
                </a:solidFill>
              </a:rPr>
              <a:t>cannot access </a:t>
            </a:r>
            <a:r>
              <a:rPr lang="en-US" sz="3200" b="1" dirty="0"/>
              <a:t>the private variables of another thread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and Private </a:t>
            </a:r>
            <a:r>
              <a:rPr lang="en-US" dirty="0" smtClean="0"/>
              <a:t>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3237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 b="1" dirty="0" err="1">
                <a:solidFill>
                  <a:srgbClr val="0000A8"/>
                </a:solidFill>
                <a:ea typeface="ＭＳ Ｐゴシック" panose="020B0600070205080204" pitchFamily="34" charset="-128"/>
              </a:rPr>
              <a:t>omp_get_num_procs</a:t>
            </a:r>
            <a:endParaRPr lang="en-US" altLang="en-US" sz="3200" b="1" dirty="0">
              <a:solidFill>
                <a:srgbClr val="0000A8"/>
              </a:solidFill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r>
              <a:rPr lang="en-US" altLang="en-US" b="1" dirty="0" err="1">
                <a:ea typeface="ＭＳ Ｐゴシック" panose="020B0600070205080204" pitchFamily="34" charset="-128"/>
              </a:rPr>
              <a:t>int</a:t>
            </a:r>
            <a:r>
              <a:rPr lang="en-US" altLang="en-US" b="1" dirty="0">
                <a:ea typeface="ＭＳ Ｐゴシック" panose="020B0600070205080204" pitchFamily="34" charset="-128"/>
              </a:rPr>
              <a:t> procs =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omp_get_num_procs</a:t>
            </a:r>
            <a:r>
              <a:rPr lang="en-US" altLang="en-US" b="1" dirty="0">
                <a:ea typeface="ＭＳ Ｐゴシック" panose="020B0600070205080204" pitchFamily="34" charset="-128"/>
              </a:rPr>
              <a:t>()  </a:t>
            </a:r>
            <a:endParaRPr lang="en-US" altLang="en-US" b="1" dirty="0" smtClean="0"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	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				//</a:t>
            </a:r>
            <a:r>
              <a:rPr lang="en-US" altLang="en-US" b="1" dirty="0">
                <a:ea typeface="ＭＳ Ｐゴシック" panose="020B0600070205080204" pitchFamily="34" charset="-128"/>
              </a:rPr>
              <a:t>number of CPUs/cores in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machine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b="1" dirty="0" err="1">
                <a:solidFill>
                  <a:srgbClr val="0000A8"/>
                </a:solidFill>
                <a:ea typeface="ＭＳ Ｐゴシック" panose="020B0600070205080204" pitchFamily="34" charset="-128"/>
              </a:rPr>
              <a:t>omp_get_num_threads</a:t>
            </a:r>
            <a:endParaRPr lang="en-US" altLang="en-US" sz="3200" b="1" dirty="0">
              <a:solidFill>
                <a:srgbClr val="0000A8"/>
              </a:solidFill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r>
              <a:rPr lang="en-US" altLang="en-US" b="1" dirty="0" err="1">
                <a:ea typeface="ＭＳ Ｐゴシック" panose="020B0600070205080204" pitchFamily="34" charset="-128"/>
              </a:rPr>
              <a:t>int</a:t>
            </a:r>
            <a:r>
              <a:rPr lang="en-US" altLang="en-US" b="1" dirty="0">
                <a:ea typeface="ＭＳ Ｐゴシック" panose="020B0600070205080204" pitchFamily="34" charset="-128"/>
              </a:rPr>
              <a:t> threads = 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omp_get_num_threads</a:t>
            </a:r>
            <a:r>
              <a:rPr lang="en-US" altLang="en-US" b="1" dirty="0">
                <a:ea typeface="ＭＳ Ｐゴシック" panose="020B0600070205080204" pitchFamily="34" charset="-128"/>
              </a:rPr>
              <a:t>()  </a:t>
            </a:r>
            <a:endParaRPr lang="en-US" altLang="en-US" b="1" dirty="0" smtClean="0"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	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				</a:t>
            </a:r>
            <a:r>
              <a:rPr lang="en-US" altLang="en-US" b="1" smtClean="0">
                <a:ea typeface="ＭＳ Ｐゴシック" panose="020B0600070205080204" pitchFamily="34" charset="-128"/>
              </a:rPr>
              <a:t>//number </a:t>
            </a:r>
            <a:r>
              <a:rPr lang="en-US" altLang="en-US" b="1" dirty="0">
                <a:ea typeface="ＭＳ Ｐゴシック" panose="020B0600070205080204" pitchFamily="34" charset="-128"/>
              </a:rPr>
              <a:t>of active threads</a:t>
            </a:r>
          </a:p>
          <a:p>
            <a:pPr marL="463550" lvl="1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					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//</a:t>
            </a:r>
            <a:r>
              <a:rPr lang="en-US" altLang="en-US" b="1" dirty="0">
                <a:ea typeface="ＭＳ Ｐゴシック" panose="020B0600070205080204" pitchFamily="34" charset="-128"/>
              </a:rPr>
              <a:t>should be called from a parallel region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b="1" dirty="0" err="1">
                <a:solidFill>
                  <a:srgbClr val="0000A8"/>
                </a:solidFill>
                <a:ea typeface="ＭＳ Ｐゴシック" panose="020B0600070205080204" pitchFamily="34" charset="-128"/>
              </a:rPr>
              <a:t>omp_get_max_threads</a:t>
            </a:r>
            <a:endParaRPr lang="en-US" altLang="en-US" sz="3200" b="1" dirty="0">
              <a:solidFill>
                <a:srgbClr val="0000A8"/>
              </a:solidFill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r>
              <a:rPr lang="en-US" altLang="en-US" b="1" dirty="0" err="1">
                <a:ea typeface="ＭＳ Ｐゴシック" panose="020B0600070205080204" pitchFamily="34" charset="-128"/>
              </a:rPr>
              <a:t>printf</a:t>
            </a:r>
            <a:r>
              <a:rPr lang="en-US" altLang="en-US" b="1" dirty="0">
                <a:ea typeface="ＭＳ Ｐゴシック" panose="020B0600070205080204" pitchFamily="34" charset="-128"/>
              </a:rPr>
              <a:t>(“Only %d threads can be forked\n",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omp_get_max_threads</a:t>
            </a:r>
            <a:r>
              <a:rPr lang="en-US" altLang="en-US" b="1" dirty="0">
                <a:ea typeface="ＭＳ Ｐゴシック" panose="020B0600070205080204" pitchFamily="34" charset="-128"/>
              </a:rPr>
              <a:t>());</a:t>
            </a:r>
          </a:p>
          <a:p>
            <a:pPr marL="914400" lvl="2" indent="0">
              <a:buNone/>
            </a:pPr>
            <a:r>
              <a:rPr lang="en-US" altLang="en-US" sz="2400" b="1" dirty="0" smtClean="0">
                <a:ea typeface="ＭＳ Ｐゴシック" panose="020B0600070205080204" pitchFamily="34" charset="-128"/>
              </a:rPr>
              <a:t>				//</a:t>
            </a:r>
            <a:r>
              <a:rPr lang="en-US" altLang="en-US" sz="2400" b="1" dirty="0">
                <a:ea typeface="ＭＳ Ｐゴシック" panose="020B0600070205080204" pitchFamily="34" charset="-128"/>
              </a:rPr>
              <a:t>can be called outside of a parallel </a:t>
            </a:r>
            <a:r>
              <a:rPr lang="en-US" altLang="en-US" sz="2400" b="1" dirty="0" smtClean="0">
                <a:ea typeface="ＭＳ Ｐゴシック" panose="020B0600070205080204" pitchFamily="34" charset="-128"/>
              </a:rPr>
              <a:t>region </a:t>
            </a:r>
            <a:endParaRPr lang="en-US" altLang="en-US" sz="1600" b="1" dirty="0">
              <a:ea typeface="ＭＳ Ｐゴシック" panose="020B0600070205080204" pitchFamily="34" charset="-128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Basic </a:t>
            </a:r>
            <a:r>
              <a:rPr lang="en-US" altLang="en-US" dirty="0"/>
              <a:t>Library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4314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3200" b="1" dirty="0" err="1" smtClean="0">
                <a:solidFill>
                  <a:srgbClr val="0000A8"/>
                </a:solidFill>
                <a:ea typeface="ＭＳ Ｐゴシック" panose="020B0600070205080204" pitchFamily="34" charset="-128"/>
              </a:rPr>
              <a:t>omp_get_thread_num</a:t>
            </a:r>
            <a:endParaRPr lang="en-US" altLang="en-US" sz="3200" b="1" dirty="0">
              <a:solidFill>
                <a:srgbClr val="0000A8"/>
              </a:solidFill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endParaRPr lang="en-US" altLang="en-US" b="1" dirty="0" smtClean="0"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r>
              <a:rPr lang="en-US" altLang="en-US" b="1" dirty="0" err="1" smtClean="0">
                <a:ea typeface="ＭＳ Ｐゴシック" panose="020B0600070205080204" pitchFamily="34" charset="-128"/>
              </a:rPr>
              <a:t>printf</a:t>
            </a:r>
            <a:r>
              <a:rPr lang="en-US" altLang="en-US" b="1" dirty="0">
                <a:ea typeface="ＭＳ Ｐゴシック" panose="020B0600070205080204" pitchFamily="34" charset="-128"/>
              </a:rPr>
              <a:t>("Hello from thread id %d\n",</a:t>
            </a:r>
            <a:r>
              <a:rPr lang="en-US" altLang="en-US" b="1" dirty="0" err="1">
                <a:ea typeface="ＭＳ Ｐゴシック" panose="020B0600070205080204" pitchFamily="34" charset="-128"/>
              </a:rPr>
              <a:t>omp_get_thread_num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());</a:t>
            </a:r>
          </a:p>
          <a:p>
            <a:pPr marL="463550" lvl="1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	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				// return thread id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200" b="1" dirty="0" smtClean="0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3200" b="1" dirty="0" err="1" smtClean="0">
                <a:solidFill>
                  <a:srgbClr val="0000A8"/>
                </a:solidFill>
                <a:ea typeface="ＭＳ Ｐゴシック" panose="020B0600070205080204" pitchFamily="34" charset="-128"/>
              </a:rPr>
              <a:t>omp_set_num_threads</a:t>
            </a:r>
            <a:r>
              <a:rPr lang="en-US" altLang="en-US" sz="3200" b="1" dirty="0" smtClean="0">
                <a:solidFill>
                  <a:srgbClr val="0000A8"/>
                </a:solidFill>
                <a:ea typeface="ＭＳ Ｐゴシック" panose="020B0600070205080204" pitchFamily="34" charset="-128"/>
              </a:rPr>
              <a:t> </a:t>
            </a:r>
            <a:endParaRPr lang="en-US" altLang="en-US" sz="3200" dirty="0">
              <a:solidFill>
                <a:srgbClr val="0000A8"/>
              </a:solidFill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endParaRPr lang="en-US" b="1" dirty="0" smtClean="0"/>
          </a:p>
          <a:p>
            <a:pPr marL="463550" lvl="1" indent="0">
              <a:buNone/>
            </a:pPr>
            <a:r>
              <a:rPr lang="en-US" b="1" dirty="0" err="1" smtClean="0"/>
              <a:t>omp_set_dynamic</a:t>
            </a:r>
            <a:r>
              <a:rPr lang="en-US" b="1" dirty="0" smtClean="0"/>
              <a:t>(0</a:t>
            </a:r>
            <a:r>
              <a:rPr lang="en-US" b="1" dirty="0"/>
              <a:t>);</a:t>
            </a:r>
            <a:r>
              <a:rPr lang="en-US" altLang="en-US" b="1" dirty="0">
                <a:ea typeface="ＭＳ Ｐゴシック" panose="020B0600070205080204" pitchFamily="34" charset="-128"/>
              </a:rPr>
              <a:t> 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		// </a:t>
            </a:r>
            <a:r>
              <a:rPr lang="en-US" altLang="en-US" b="1" dirty="0">
                <a:ea typeface="ＭＳ Ｐゴシック" panose="020B0600070205080204" pitchFamily="34" charset="-128"/>
              </a:rPr>
              <a:t>disable</a:t>
            </a:r>
            <a:r>
              <a:rPr lang="en-US" b="1" dirty="0"/>
              <a:t> dynamic adjustment 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endParaRPr lang="en-US" altLang="en-US" b="1" dirty="0" smtClean="0">
              <a:ea typeface="ＭＳ Ｐゴシック" panose="020B0600070205080204" pitchFamily="34" charset="-128"/>
            </a:endParaRPr>
          </a:p>
          <a:p>
            <a:pPr marL="463550" lvl="1" indent="0">
              <a:buNone/>
            </a:pPr>
            <a:r>
              <a:rPr lang="en-US" altLang="en-US" b="1" dirty="0" err="1" smtClean="0">
                <a:ea typeface="ＭＳ Ｐゴシック" panose="020B0600070205080204" pitchFamily="34" charset="-128"/>
              </a:rPr>
              <a:t>omp_set_num_threads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(4</a:t>
            </a:r>
            <a:r>
              <a:rPr lang="en-US" altLang="en-US" b="1" dirty="0">
                <a:ea typeface="ＭＳ Ｐゴシック" panose="020B0600070205080204" pitchFamily="34" charset="-128"/>
              </a:rPr>
              <a:t>); 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	//</a:t>
            </a:r>
            <a:r>
              <a:rPr lang="en-US" altLang="en-US" b="1" dirty="0">
                <a:ea typeface="ＭＳ Ｐゴシック" panose="020B0600070205080204" pitchFamily="34" charset="-128"/>
              </a:rPr>
              <a:t>setting thread count to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Basic </a:t>
            </a:r>
            <a:r>
              <a:rPr lang="en-US" altLang="en-US" dirty="0"/>
              <a:t>Library </a:t>
            </a:r>
            <a:r>
              <a:rPr lang="en-US" altLang="en-US" dirty="0" smtClean="0"/>
              <a:t>Functions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642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 Structure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8765" y="1401763"/>
            <a:ext cx="6414470" cy="435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5950768"/>
            <a:ext cx="8153400" cy="35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en-US" sz="16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Introduction to Parallel Computing (Karypis and Co.)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640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Program: Hello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6854" y="1485417"/>
            <a:ext cx="3974976" cy="114225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400" b="1" dirty="0" smtClean="0"/>
              <a:t>       Runtime function to request a certain number of threads</a:t>
            </a:r>
            <a:endParaRPr lang="en-US" sz="24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000350" y="1181787"/>
            <a:ext cx="4536504" cy="4673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3025" tIns="36512" rIns="73025" bIns="36512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sz="1600" dirty="0"/>
              <a:t>#include &lt;</a:t>
            </a:r>
            <a:r>
              <a:rPr lang="en-US" sz="1600" dirty="0" err="1"/>
              <a:t>omp.h</a:t>
            </a:r>
            <a:r>
              <a:rPr lang="en-US" sz="1600" dirty="0"/>
              <a:t>&gt;</a:t>
            </a:r>
          </a:p>
          <a:p>
            <a:pPr lvl="1"/>
            <a:r>
              <a:rPr lang="en-US" sz="1600" dirty="0"/>
              <a:t>#include &lt;</a:t>
            </a:r>
            <a:r>
              <a:rPr lang="en-US" sz="1600" dirty="0" err="1"/>
              <a:t>iostream</a:t>
            </a:r>
            <a:r>
              <a:rPr lang="en-US" sz="1600" dirty="0"/>
              <a:t>&gt;</a:t>
            </a:r>
          </a:p>
          <a:p>
            <a:pPr lvl="1"/>
            <a:r>
              <a:rPr lang="en-US" sz="1600" dirty="0"/>
              <a:t>using namespace </a:t>
            </a:r>
            <a:r>
              <a:rPr lang="en-US" sz="1600" dirty="0" err="1"/>
              <a:t>std</a:t>
            </a:r>
            <a:r>
              <a:rPr lang="en-US" sz="1600" dirty="0"/>
              <a:t>;</a:t>
            </a:r>
            <a:endParaRPr lang="en-US" sz="1600" b="1" kern="0" dirty="0">
              <a:latin typeface="Calibri" pitchFamily="34" charset="0"/>
              <a:cs typeface="Calibri" pitchFamily="34" charset="0"/>
            </a:endParaRP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 err="1">
                <a:latin typeface="Calibri" pitchFamily="34" charset="0"/>
                <a:cs typeface="Calibri" pitchFamily="34" charset="0"/>
              </a:rPr>
              <a:t>int</a:t>
            </a: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main()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{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kern="0" dirty="0" err="1">
                <a:latin typeface="Calibri" pitchFamily="34" charset="0"/>
                <a:cs typeface="Calibri" pitchFamily="34" charset="0"/>
              </a:rPr>
              <a:t>omp_set_num_threads</a:t>
            </a: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(4);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kern="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#</a:t>
            </a:r>
            <a:r>
              <a:rPr lang="en-US" sz="2000" b="1" kern="0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pragma</a:t>
            </a:r>
            <a:r>
              <a:rPr lang="en-US" sz="2000" b="1" kern="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kern="0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omp</a:t>
            </a:r>
            <a:r>
              <a:rPr lang="en-US" sz="2000" b="1" kern="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parallel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{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   </a:t>
            </a:r>
            <a:r>
              <a:rPr lang="en-US" sz="2000" b="1" kern="0" dirty="0" err="1">
                <a:latin typeface="Calibri" pitchFamily="34" charset="0"/>
                <a:cs typeface="Calibri" pitchFamily="34" charset="0"/>
              </a:rPr>
              <a:t>int</a:t>
            </a: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Id = </a:t>
            </a:r>
            <a:r>
              <a:rPr lang="en-US" sz="2000" b="1" kern="0" dirty="0" err="1">
                <a:latin typeface="Calibri" pitchFamily="34" charset="0"/>
                <a:cs typeface="Calibri" pitchFamily="34" charset="0"/>
              </a:rPr>
              <a:t>omp_get_thread_num</a:t>
            </a: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();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endParaRPr lang="en-US" sz="2000" b="1" kern="0" dirty="0">
              <a:latin typeface="Calibri" pitchFamily="34" charset="0"/>
              <a:cs typeface="Calibri" pitchFamily="34" charset="0"/>
            </a:endParaRP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   </a:t>
            </a:r>
            <a:r>
              <a:rPr lang="en-US" sz="2000" b="1" kern="0" dirty="0" err="1">
                <a:latin typeface="Calibri" pitchFamily="34" charset="0"/>
                <a:cs typeface="Calibri" pitchFamily="34" charset="0"/>
              </a:rPr>
              <a:t>Printf</a:t>
            </a: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(“hello(%d)”, Id);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   </a:t>
            </a:r>
            <a:r>
              <a:rPr lang="en-US" sz="2000" b="1" kern="0" dirty="0" err="1">
                <a:latin typeface="Calibri" pitchFamily="34" charset="0"/>
                <a:cs typeface="Calibri" pitchFamily="34" charset="0"/>
              </a:rPr>
              <a:t>printf</a:t>
            </a: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(“world(%d)\n”, Id)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  }</a:t>
            </a:r>
          </a:p>
          <a:p>
            <a:pPr marL="939800" lvl="1" indent="-482600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  <a:defRPr/>
            </a:pPr>
            <a:r>
              <a:rPr lang="en-US" sz="2000" b="1" kern="0" dirty="0">
                <a:latin typeface="Calibri" pitchFamily="34" charset="0"/>
                <a:cs typeface="Calibri" pitchFamily="34" charset="0"/>
              </a:rPr>
              <a:t>}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flipV="1">
            <a:off x="5486551" y="2192492"/>
            <a:ext cx="1152128" cy="50405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706735" y="3890604"/>
            <a:ext cx="3169284" cy="96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3025" tIns="36512" rIns="73025" bIns="36512" numCol="1" anchor="t" anchorCtr="0" compatLnSpc="1">
            <a:prstTxWarp prst="textNoShape">
              <a:avLst/>
            </a:prstTxWarp>
          </a:bodyPr>
          <a:lstStyle/>
          <a:p>
            <a:pPr marL="482600" indent="-482600" algn="ctr" defTabSz="479425" eaLnBrk="0" hangingPunct="0">
              <a:lnSpc>
                <a:spcPct val="90000"/>
              </a:lnSpc>
              <a:spcBef>
                <a:spcPct val="30000"/>
              </a:spcBef>
              <a:buClr>
                <a:srgbClr val="333399"/>
              </a:buClr>
              <a:buSzPct val="100000"/>
            </a:pPr>
            <a:r>
              <a:rPr lang="en-US" b="1" kern="0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       Runtime function returning a thread ID</a:t>
            </a:r>
            <a:endParaRPr lang="en-US" sz="2400" b="1" kern="0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6269920" y="3988740"/>
            <a:ext cx="792088" cy="14401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879" y="4870169"/>
            <a:ext cx="2991267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415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Program: </a:t>
            </a:r>
            <a:r>
              <a:rPr lang="en-US" dirty="0" smtClean="0"/>
              <a:t>Hello World – 2</a:t>
            </a:r>
            <a:r>
              <a:rPr lang="en-US" baseline="30000" dirty="0" smtClean="0"/>
              <a:t>nd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>
              <a:buNone/>
              <a:defRPr/>
            </a:pPr>
            <a:r>
              <a:rPr lang="en-US" b="1" dirty="0" smtClean="0"/>
              <a:t>#include &lt;</a:t>
            </a:r>
            <a:r>
              <a:rPr lang="en-US" b="1" dirty="0" err="1" smtClean="0"/>
              <a:t>omp.h</a:t>
            </a:r>
            <a:r>
              <a:rPr lang="en-US" b="1" dirty="0" smtClean="0"/>
              <a:t>&gt;</a:t>
            </a:r>
          </a:p>
          <a:p>
            <a:pPr lvl="0">
              <a:buNone/>
              <a:defRPr/>
            </a:pP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 smtClean="0"/>
              <a:t>numT</a:t>
            </a:r>
            <a:r>
              <a:rPr lang="en-US" b="1" dirty="0" smtClean="0"/>
              <a:t>;</a:t>
            </a:r>
          </a:p>
          <a:p>
            <a:pPr lvl="0">
              <a:buNone/>
              <a:defRPr/>
            </a:pPr>
            <a:r>
              <a:rPr lang="en-US" b="1" dirty="0" err="1" smtClean="0"/>
              <a:t>int</a:t>
            </a:r>
            <a:r>
              <a:rPr lang="en-US" b="1" dirty="0" smtClean="0"/>
              <a:t> main()</a:t>
            </a:r>
          </a:p>
          <a:p>
            <a:pPr lvl="0">
              <a:buNone/>
              <a:defRPr/>
            </a:pPr>
            <a:r>
              <a:rPr lang="en-US" b="1" dirty="0" smtClean="0"/>
              <a:t>{ </a:t>
            </a:r>
          </a:p>
          <a:p>
            <a:pPr>
              <a:buNone/>
              <a:defRPr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#</a:t>
            </a:r>
            <a:r>
              <a:rPr lang="en-US" b="1" dirty="0" err="1" smtClean="0">
                <a:solidFill>
                  <a:srgbClr val="C00000"/>
                </a:solidFill>
              </a:rPr>
              <a:t>pragma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omp</a:t>
            </a:r>
            <a:r>
              <a:rPr lang="en-US" b="1" dirty="0" smtClean="0">
                <a:solidFill>
                  <a:srgbClr val="C00000"/>
                </a:solidFill>
              </a:rPr>
              <a:t> parallel </a:t>
            </a:r>
            <a:r>
              <a:rPr lang="en-US" b="1" dirty="0" err="1" smtClean="0">
                <a:solidFill>
                  <a:srgbClr val="C00000"/>
                </a:solidFill>
              </a:rPr>
              <a:t>num_threads</a:t>
            </a:r>
            <a:r>
              <a:rPr lang="en-US" b="1" dirty="0" smtClean="0">
                <a:solidFill>
                  <a:srgbClr val="C00000"/>
                </a:solidFill>
              </a:rPr>
              <a:t>(4)</a:t>
            </a:r>
          </a:p>
          <a:p>
            <a:pPr lvl="0">
              <a:buNone/>
              <a:defRPr/>
            </a:pP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 {</a:t>
            </a:r>
          </a:p>
          <a:p>
            <a:pPr lvl="0">
              <a:buNone/>
              <a:defRPr/>
            </a:pPr>
            <a:r>
              <a:rPr lang="en-US" b="1" dirty="0" smtClean="0"/>
              <a:t>    </a:t>
            </a:r>
            <a:r>
              <a:rPr lang="en-US" b="1" dirty="0" err="1" smtClean="0"/>
              <a:t>int</a:t>
            </a:r>
            <a:r>
              <a:rPr lang="en-US" b="1" dirty="0" smtClean="0"/>
              <a:t> Id = </a:t>
            </a:r>
            <a:r>
              <a:rPr lang="en-US" b="1" dirty="0" err="1" smtClean="0"/>
              <a:t>omp_get_thread_num</a:t>
            </a:r>
            <a:r>
              <a:rPr lang="en-US" b="1" dirty="0" smtClean="0"/>
              <a:t>();</a:t>
            </a:r>
          </a:p>
          <a:p>
            <a:pPr lvl="0">
              <a:buNone/>
              <a:defRPr/>
            </a:pPr>
            <a:r>
              <a:rPr lang="en-US" b="1" dirty="0" smtClean="0"/>
              <a:t>    </a:t>
            </a:r>
            <a:r>
              <a:rPr lang="en-US" b="1" dirty="0" err="1" smtClean="0"/>
              <a:t>numT</a:t>
            </a:r>
            <a:r>
              <a:rPr lang="en-US" b="1" dirty="0" smtClean="0"/>
              <a:t> = </a:t>
            </a:r>
            <a:r>
              <a:rPr lang="en-US" b="1" dirty="0" err="1" smtClean="0">
                <a:solidFill>
                  <a:srgbClr val="C00000"/>
                </a:solidFill>
              </a:rPr>
              <a:t>omp_get_num_threads</a:t>
            </a:r>
            <a:r>
              <a:rPr lang="en-US" b="1" dirty="0" smtClean="0">
                <a:solidFill>
                  <a:srgbClr val="C00000"/>
                </a:solidFill>
              </a:rPr>
              <a:t>();</a:t>
            </a:r>
          </a:p>
          <a:p>
            <a:pPr lvl="0">
              <a:buNone/>
              <a:defRPr/>
            </a:pPr>
            <a:r>
              <a:rPr lang="en-US" b="1" dirty="0" smtClean="0"/>
              <a:t>    </a:t>
            </a:r>
            <a:r>
              <a:rPr lang="en-US" b="1" dirty="0" err="1" smtClean="0"/>
              <a:t>Printf</a:t>
            </a:r>
            <a:r>
              <a:rPr lang="en-US" b="1" dirty="0" smtClean="0"/>
              <a:t> (“hello(%d)”, Id);</a:t>
            </a:r>
          </a:p>
          <a:p>
            <a:pPr lvl="0">
              <a:buNone/>
              <a:defRPr/>
            </a:pPr>
            <a:r>
              <a:rPr lang="en-US" b="1" dirty="0" smtClean="0"/>
              <a:t>    </a:t>
            </a:r>
            <a:r>
              <a:rPr lang="en-US" b="1" dirty="0" err="1" smtClean="0"/>
              <a:t>printf</a:t>
            </a:r>
            <a:r>
              <a:rPr lang="en-US" b="1" dirty="0" smtClean="0"/>
              <a:t> (“world(%d)\n”, Id)</a:t>
            </a:r>
          </a:p>
          <a:p>
            <a:pPr lvl="0">
              <a:buNone/>
              <a:defRPr/>
            </a:pPr>
            <a:r>
              <a:rPr lang="en-US" b="1" dirty="0" smtClean="0"/>
              <a:t>  }</a:t>
            </a:r>
          </a:p>
          <a:p>
            <a:pPr lvl="0">
              <a:buNone/>
              <a:defRPr/>
            </a:pPr>
            <a:r>
              <a:rPr lang="en-US" b="1" dirty="0" smtClean="0"/>
              <a:t>}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 rot="10800000" flipH="1" flipV="1">
            <a:off x="6312024" y="2139489"/>
            <a:ext cx="259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itchFamily="34" charset="0"/>
              </a:rPr>
              <a:t>Clause to request a certain number of threads</a:t>
            </a:r>
          </a:p>
        </p:txBody>
      </p:sp>
      <p:cxnSp>
        <p:nvCxnSpPr>
          <p:cNvPr id="6" name="Straight Arrow Connector 5"/>
          <p:cNvCxnSpPr>
            <a:stCxn id="4" idx="1"/>
          </p:cNvCxnSpPr>
          <p:nvPr/>
        </p:nvCxnSpPr>
        <p:spPr bwMode="auto">
          <a:xfrm flipH="1">
            <a:off x="5591944" y="2601154"/>
            <a:ext cx="720080" cy="76798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7" name="TextBox 6"/>
          <p:cNvSpPr txBox="1"/>
          <p:nvPr/>
        </p:nvSpPr>
        <p:spPr>
          <a:xfrm rot="10800000" flipH="1" flipV="1">
            <a:off x="6168008" y="4458056"/>
            <a:ext cx="2592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itchFamily="34" charset="0"/>
              </a:rPr>
              <a:t>Runtime function </a:t>
            </a:r>
          </a:p>
          <a:p>
            <a:r>
              <a:rPr lang="en-US" b="1" dirty="0">
                <a:latin typeface="Calibri" pitchFamily="34" charset="0"/>
              </a:rPr>
              <a:t>returning no. of threads actually created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5447928" y="4547818"/>
            <a:ext cx="648072" cy="9610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2695471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Write </a:t>
            </a:r>
            <a:r>
              <a:rPr lang="en-US" sz="3200" b="1" dirty="0"/>
              <a:t>an </a:t>
            </a:r>
            <a:r>
              <a:rPr lang="en-US" sz="3200" b="1" dirty="0" err="1"/>
              <a:t>OpenMP</a:t>
            </a:r>
            <a:r>
              <a:rPr lang="en-US" sz="3200" b="1" dirty="0"/>
              <a:t> program that should create </a:t>
            </a:r>
            <a:r>
              <a:rPr lang="en-US" sz="3200" b="1" dirty="0">
                <a:solidFill>
                  <a:srgbClr val="0000A8"/>
                </a:solidFill>
              </a:rPr>
              <a:t>2</a:t>
            </a:r>
            <a:r>
              <a:rPr lang="en-US" sz="3200" b="1" dirty="0" smtClean="0">
                <a:solidFill>
                  <a:srgbClr val="0000A8"/>
                </a:solidFill>
              </a:rPr>
              <a:t> </a:t>
            </a:r>
            <a:r>
              <a:rPr lang="en-US" sz="3200" b="1" dirty="0">
                <a:solidFill>
                  <a:srgbClr val="0000A8"/>
                </a:solidFill>
              </a:rPr>
              <a:t>threads </a:t>
            </a:r>
            <a:r>
              <a:rPr lang="en-US" sz="3200" b="1" dirty="0"/>
              <a:t>to run in parallel and display thread id of each created </a:t>
            </a:r>
            <a:r>
              <a:rPr lang="en-US" sz="3200" b="1" dirty="0" smtClean="0"/>
              <a:t>thread.</a:t>
            </a:r>
            <a:endParaRPr lang="en-US" sz="32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Home Task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3184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Shared </a:t>
            </a:r>
            <a:r>
              <a:rPr lang="en-US" sz="3200" b="1" dirty="0"/>
              <a:t>Memory </a:t>
            </a:r>
            <a:r>
              <a:rPr lang="en-US" sz="3200" b="1" dirty="0" smtClean="0"/>
              <a:t>Programming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Processors </a:t>
            </a:r>
            <a:r>
              <a:rPr lang="en-US" b="1" dirty="0"/>
              <a:t>share RAM, Threads share </a:t>
            </a:r>
            <a:r>
              <a:rPr lang="en-US" b="1" dirty="0" smtClean="0"/>
              <a:t>variables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Performance </a:t>
            </a:r>
            <a:r>
              <a:rPr lang="en-US" b="1" dirty="0"/>
              <a:t>improvement is easier with multithreading than with message passing </a:t>
            </a:r>
            <a:r>
              <a:rPr lang="en-US" b="1" dirty="0" smtClean="0"/>
              <a:t>paradigm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Shared-Memory Programming (Fork/Join </a:t>
            </a:r>
            <a:r>
              <a:rPr lang="en-US" sz="3200" b="1" dirty="0" smtClean="0"/>
              <a:t>Parallelism)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Using </a:t>
            </a:r>
            <a:r>
              <a:rPr lang="en-US" b="1" dirty="0"/>
              <a:t>"fork", master thread creates worker </a:t>
            </a:r>
            <a:r>
              <a:rPr lang="en-US" b="1" dirty="0" smtClean="0"/>
              <a:t>threads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Using </a:t>
            </a:r>
            <a:r>
              <a:rPr lang="en-US" b="1" dirty="0"/>
              <a:t>"join", worker threads return to the master </a:t>
            </a:r>
            <a:r>
              <a:rPr lang="en-US" b="1" dirty="0" smtClean="0"/>
              <a:t>thread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Shared-Memory vs. Message Passing Model 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Shared-Memory </a:t>
            </a:r>
            <a:r>
              <a:rPr lang="en-US" b="1" dirty="0"/>
              <a:t>Model: One active thread at start and end of program, incremental </a:t>
            </a:r>
            <a:r>
              <a:rPr lang="en-US" b="1" dirty="0" smtClean="0"/>
              <a:t>parallelism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Message-Passing </a:t>
            </a:r>
            <a:r>
              <a:rPr lang="en-US" b="1" dirty="0"/>
              <a:t>Model: All processors remain active throughout execution of program, no incremental </a:t>
            </a:r>
            <a:r>
              <a:rPr lang="en-US" b="1" dirty="0" smtClean="0"/>
              <a:t>parallelism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490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Introduction </a:t>
            </a:r>
            <a:r>
              <a:rPr lang="en-US" sz="3200" b="1" dirty="0"/>
              <a:t>to </a:t>
            </a:r>
            <a:r>
              <a:rPr lang="en-US" sz="3200" b="1" dirty="0" smtClean="0"/>
              <a:t>Open Multi Processing (</a:t>
            </a:r>
            <a:r>
              <a:rPr lang="en-US" sz="3200" b="1" dirty="0" err="1" smtClean="0"/>
              <a:t>OpenMP</a:t>
            </a:r>
            <a:r>
              <a:rPr lang="en-US" sz="3200" b="1" dirty="0" smtClean="0"/>
              <a:t>)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is an API for writing multithreaded </a:t>
            </a:r>
            <a:r>
              <a:rPr lang="en-US" b="1" dirty="0" smtClean="0"/>
              <a:t>applications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is described by the API based </a:t>
            </a:r>
            <a:r>
              <a:rPr lang="en-US" b="1" dirty="0" smtClean="0"/>
              <a:t>on: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 </a:t>
            </a:r>
            <a:r>
              <a:rPr lang="en-US" b="1" dirty="0"/>
              <a:t>set of compiler directives for depicting the parallelism in the source </a:t>
            </a:r>
            <a:r>
              <a:rPr lang="en-US" b="1" dirty="0" smtClean="0"/>
              <a:t>code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 </a:t>
            </a:r>
            <a:r>
              <a:rPr lang="en-US" b="1" dirty="0"/>
              <a:t>library of </a:t>
            </a:r>
            <a:r>
              <a:rPr lang="en-US" b="1" dirty="0" smtClean="0"/>
              <a:t>subroutines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 </a:t>
            </a:r>
            <a:r>
              <a:rPr lang="en-US" b="1" dirty="0"/>
              <a:t>set of Environment </a:t>
            </a:r>
            <a:r>
              <a:rPr lang="en-US" b="1" dirty="0" smtClean="0"/>
              <a:t>Variables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err="1"/>
              <a:t>OpenMP</a:t>
            </a:r>
            <a:r>
              <a:rPr lang="en-US" sz="3200" b="1" dirty="0"/>
              <a:t> Solution Stack </a:t>
            </a:r>
            <a:r>
              <a:rPr lang="en-US" sz="3200" b="1" dirty="0" smtClean="0"/>
              <a:t>Model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Implementation using Visual Studio C</a:t>
            </a:r>
            <a:r>
              <a:rPr lang="en-US" sz="3200" b="1" dirty="0" smtClean="0"/>
              <a:t>++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How does </a:t>
            </a:r>
            <a:r>
              <a:rPr lang="en-US" sz="3200" b="1" dirty="0" err="1"/>
              <a:t>OpenMP</a:t>
            </a:r>
            <a:r>
              <a:rPr lang="en-US" sz="3200" b="1" dirty="0"/>
              <a:t> </a:t>
            </a:r>
            <a:r>
              <a:rPr lang="en-US" sz="3200" b="1" dirty="0" smtClean="0"/>
              <a:t>work?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 </a:t>
            </a:r>
            <a:r>
              <a:rPr lang="en-US" b="1" dirty="0"/>
              <a:t>programs often express data-parallel operations as for </a:t>
            </a:r>
            <a:r>
              <a:rPr lang="en-US" b="1" dirty="0" smtClean="0"/>
              <a:t>loops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OpenMP</a:t>
            </a:r>
            <a:r>
              <a:rPr lang="en-US" b="1" dirty="0" smtClean="0"/>
              <a:t> </a:t>
            </a:r>
            <a:r>
              <a:rPr lang="en-US" b="1" dirty="0"/>
              <a:t>makes it easy to indicate when the iterations of a loop may execute in </a:t>
            </a:r>
            <a:r>
              <a:rPr lang="en-US" b="1" dirty="0" smtClean="0"/>
              <a:t>parallel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9835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Pragmas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</a:t>
            </a:r>
            <a:r>
              <a:rPr lang="en-US" b="1" dirty="0" smtClean="0"/>
              <a:t> </a:t>
            </a:r>
            <a:r>
              <a:rPr lang="en-US" b="1" dirty="0"/>
              <a:t>compiler directive in C or C</a:t>
            </a:r>
            <a:r>
              <a:rPr lang="en-US" b="1" dirty="0" smtClean="0"/>
              <a:t>++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way for the programmer to communicate with the </a:t>
            </a:r>
            <a:r>
              <a:rPr lang="en-US" b="1" dirty="0" smtClean="0"/>
              <a:t>compiler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 </a:t>
            </a:r>
            <a:r>
              <a:rPr lang="en-US" sz="3200" b="1" dirty="0"/>
              <a:t>for Pragma </a:t>
            </a:r>
            <a:r>
              <a:rPr lang="en-US" sz="3200" b="1" dirty="0" smtClean="0"/>
              <a:t>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Canonical [allowed] Shape of for-loop </a:t>
            </a:r>
            <a:r>
              <a:rPr lang="en-US" sz="3200" b="1" dirty="0" smtClean="0"/>
              <a:t>Condition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Shared and Private </a:t>
            </a:r>
            <a:r>
              <a:rPr lang="en-US" sz="3200" b="1" dirty="0" smtClean="0"/>
              <a:t>Variables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Shared </a:t>
            </a:r>
            <a:r>
              <a:rPr lang="en-US" b="1" dirty="0"/>
              <a:t>Variable: Has same address in execution context of every </a:t>
            </a:r>
            <a:r>
              <a:rPr lang="en-US" b="1" dirty="0" smtClean="0"/>
              <a:t>thread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Private </a:t>
            </a:r>
            <a:r>
              <a:rPr lang="en-US" b="1" dirty="0"/>
              <a:t>Variable: Has different address in execution context of every </a:t>
            </a:r>
            <a:r>
              <a:rPr lang="en-US" b="1" dirty="0" smtClean="0"/>
              <a:t>thread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49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Basic </a:t>
            </a:r>
            <a:r>
              <a:rPr lang="en-US" sz="3200" b="1" dirty="0"/>
              <a:t>Library </a:t>
            </a:r>
            <a:r>
              <a:rPr lang="en-US" sz="3200" b="1" dirty="0" smtClean="0"/>
              <a:t>Functions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omp_get_num_procs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omp_get_num_threads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omp_get_max_threads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omp_get_thread_num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err="1" smtClean="0"/>
              <a:t>omp_set_num_threads</a:t>
            </a:r>
            <a:r>
              <a:rPr lang="en-US" b="1" dirty="0" smtClean="0"/>
              <a:t> </a:t>
            </a:r>
            <a:r>
              <a:rPr lang="en-US" b="1" dirty="0"/>
              <a:t>	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Program Structure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First </a:t>
            </a:r>
            <a:r>
              <a:rPr lang="en-US" sz="3200" b="1" dirty="0"/>
              <a:t>Program: Hello World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/>
              <a:t>Home Task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0392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Book: Introduction </a:t>
            </a:r>
            <a:r>
              <a:rPr lang="en-US" sz="3000" b="1" dirty="0"/>
              <a:t>to Parallel Computing by </a:t>
            </a:r>
            <a:r>
              <a:rPr lang="en-US" sz="3000" b="1" dirty="0" err="1"/>
              <a:t>Ananth</a:t>
            </a:r>
            <a:r>
              <a:rPr lang="en-US" sz="3000" b="1" dirty="0"/>
              <a:t> </a:t>
            </a:r>
            <a:r>
              <a:rPr lang="en-US" sz="3000" b="1" dirty="0" err="1"/>
              <a:t>Grama</a:t>
            </a:r>
            <a:r>
              <a:rPr lang="en-US" sz="3000" b="1" dirty="0"/>
              <a:t> and </a:t>
            </a:r>
            <a:r>
              <a:rPr lang="en-US" sz="3000" b="1" dirty="0" err="1"/>
              <a:t>Anshul</a:t>
            </a:r>
            <a:r>
              <a:rPr lang="en-US" sz="3000" b="1" dirty="0"/>
              <a:t> Gupta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Chapter </a:t>
            </a:r>
            <a:r>
              <a:rPr lang="en-US" sz="2600" b="1" dirty="0"/>
              <a:t>7: Programming Shared Address Space </a:t>
            </a:r>
            <a:r>
              <a:rPr lang="en-US" sz="2600" b="1" dirty="0" smtClean="0"/>
              <a:t>Platforms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Introduction </a:t>
            </a:r>
            <a:r>
              <a:rPr lang="en-US" sz="3000" b="1" dirty="0"/>
              <a:t>to </a:t>
            </a:r>
            <a:r>
              <a:rPr lang="en-US" sz="3000" b="1" dirty="0" err="1"/>
              <a:t>OpenMP</a:t>
            </a:r>
            <a:r>
              <a:rPr lang="en-US" sz="3000" b="1" dirty="0"/>
              <a:t> by Tim Mattson (</a:t>
            </a:r>
            <a:r>
              <a:rPr lang="en-US" sz="3000" b="1" dirty="0" smtClean="0"/>
              <a:t>Intel)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6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https</a:t>
            </a:r>
            <a:r>
              <a:rPr lang="en-US" sz="2600" b="1" dirty="0"/>
              <a:t>://</a:t>
            </a:r>
            <a:r>
              <a:rPr lang="en-US" sz="2600" b="1" dirty="0" smtClean="0"/>
              <a:t>www.youtube.com/watch?v=nE-xN4Bf8XI&amp;list=PLLX-Q6B8xqZ8n8bwjGdzBJ25X2utwnoEG&amp;index=1</a:t>
            </a: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11338568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2258</TotalTime>
  <Words>1318</Words>
  <Application>Microsoft Office PowerPoint</Application>
  <PresentationFormat>Widescreen</PresentationFormat>
  <Paragraphs>243</Paragraphs>
  <Slides>30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ＭＳ Ｐゴシック</vt:lpstr>
      <vt:lpstr>Arial</vt:lpstr>
      <vt:lpstr>Calibri</vt:lpstr>
      <vt:lpstr>Calibri Light</vt:lpstr>
      <vt:lpstr>Wingdings</vt:lpstr>
      <vt:lpstr>Office Theme</vt:lpstr>
      <vt:lpstr>SmartDraw</vt:lpstr>
      <vt:lpstr>Equation</vt:lpstr>
      <vt:lpstr>CS 3006 Parallel and Distributed Computing Lecture 9</vt:lpstr>
      <vt:lpstr>Shared Memory Programming with OpenMP</vt:lpstr>
      <vt:lpstr>Outline</vt:lpstr>
      <vt:lpstr>Outline (Cont.)</vt:lpstr>
      <vt:lpstr>Shared Memory Programming</vt:lpstr>
      <vt:lpstr>Shared Memory Programming (Cont.)</vt:lpstr>
      <vt:lpstr>Shared-Memory Programming (Fork/Join Parallelism)</vt:lpstr>
      <vt:lpstr>Shared-Memory vs. Message Passing Model </vt:lpstr>
      <vt:lpstr>Introduction to OpenMP </vt:lpstr>
      <vt:lpstr>Introduction to OpenMP (Cont.)</vt:lpstr>
      <vt:lpstr>Introduction to OpenMP (Cont.)</vt:lpstr>
      <vt:lpstr>OpenMP Solution Stack Model</vt:lpstr>
      <vt:lpstr>Implementation using Visual Studio C++</vt:lpstr>
      <vt:lpstr>How does OpenMP work?</vt:lpstr>
      <vt:lpstr>How does OpenMP work? - Pragmas</vt:lpstr>
      <vt:lpstr>How does OpenMP work? - parallel for Pragma</vt:lpstr>
      <vt:lpstr>Canonical [allowed] Shape of for-loop Condition</vt:lpstr>
      <vt:lpstr>Shared and Private Variables</vt:lpstr>
      <vt:lpstr>Basic Library Functions</vt:lpstr>
      <vt:lpstr>Basic Library Functions (Cont.)</vt:lpstr>
      <vt:lpstr>Program Structure</vt:lpstr>
      <vt:lpstr>First Program: Hello World</vt:lpstr>
      <vt:lpstr>First Program: Hello World – 2nd Example</vt:lpstr>
      <vt:lpstr>Home Task</vt:lpstr>
      <vt:lpstr>Summary</vt:lpstr>
      <vt:lpstr>Summary (Cont.)</vt:lpstr>
      <vt:lpstr>Summary (Cont.)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432</cp:revision>
  <dcterms:created xsi:type="dcterms:W3CDTF">2020-01-18T07:24:00Z</dcterms:created>
  <dcterms:modified xsi:type="dcterms:W3CDTF">2024-03-14T06:58:32Z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