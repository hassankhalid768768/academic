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9"/>
  </p:notesMasterIdLst>
  <p:sldIdLst>
    <p:sldId id="1393" r:id="rId2"/>
    <p:sldId id="1450" r:id="rId3"/>
    <p:sldId id="1501" r:id="rId4"/>
    <p:sldId id="1503" r:id="rId5"/>
    <p:sldId id="1522" r:id="rId6"/>
    <p:sldId id="1475" r:id="rId7"/>
    <p:sldId id="1476" r:id="rId8"/>
    <p:sldId id="1473" r:id="rId9"/>
    <p:sldId id="1479" r:id="rId10"/>
    <p:sldId id="1492" r:id="rId11"/>
    <p:sldId id="1493" r:id="rId12"/>
    <p:sldId id="1486" r:id="rId13"/>
    <p:sldId id="1494" r:id="rId14"/>
    <p:sldId id="1488" r:id="rId15"/>
    <p:sldId id="1495" r:id="rId16"/>
    <p:sldId id="1496" r:id="rId17"/>
    <p:sldId id="1497" r:id="rId18"/>
    <p:sldId id="1498" r:id="rId19"/>
    <p:sldId id="1499" r:id="rId20"/>
    <p:sldId id="1508" r:id="rId21"/>
    <p:sldId id="1509" r:id="rId22"/>
    <p:sldId id="1510" r:id="rId23"/>
    <p:sldId id="1511" r:id="rId24"/>
    <p:sldId id="1512" r:id="rId25"/>
    <p:sldId id="1513" r:id="rId26"/>
    <p:sldId id="1514" r:id="rId27"/>
    <p:sldId id="1515" r:id="rId28"/>
    <p:sldId id="1517" r:id="rId29"/>
    <p:sldId id="1518" r:id="rId30"/>
    <p:sldId id="1502" r:id="rId31"/>
    <p:sldId id="1504" r:id="rId32"/>
    <p:sldId id="1505" r:id="rId33"/>
    <p:sldId id="1506" r:id="rId34"/>
    <p:sldId id="1521" r:id="rId35"/>
    <p:sldId id="1520" r:id="rId36"/>
    <p:sldId id="1500" r:id="rId37"/>
    <p:sldId id="144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00A800"/>
    <a:srgbClr val="00C000"/>
    <a:srgbClr val="3C6CDF"/>
    <a:srgbClr val="9CDFF9"/>
    <a:srgbClr val="B8C2C9"/>
    <a:srgbClr val="D6DCE0"/>
    <a:srgbClr val="0000A3"/>
    <a:srgbClr val="010086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15" autoAdjust="0"/>
    <p:restoredTop sz="79174" autoAdjust="0"/>
  </p:normalViewPr>
  <p:slideViewPr>
    <p:cSldViewPr snapToGrid="0" snapToObjects="1">
      <p:cViewPr varScale="1">
        <p:scale>
          <a:sx n="59" d="100"/>
          <a:sy n="59" d="100"/>
        </p:scale>
        <p:origin x="750" y="66"/>
      </p:cViewPr>
      <p:guideLst>
        <p:guide orient="horz" pos="96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1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408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140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704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150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758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562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358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324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32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062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346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154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76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6040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6026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530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518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6834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056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26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CS 3006</a:t>
            </a:r>
            <a:br>
              <a:rPr lang="en-US" sz="4800" dirty="0" smtClean="0"/>
            </a:br>
            <a:r>
              <a:rPr lang="en-US" sz="4800" dirty="0" smtClean="0"/>
              <a:t>Parallel and Distributed Computing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Lecture </a:t>
            </a:r>
            <a:r>
              <a:rPr lang="en-US" sz="4800" dirty="0" smtClean="0"/>
              <a:t>2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Danyal </a:t>
            </a:r>
            <a:r>
              <a:rPr lang="en-US" sz="3200" b="1" dirty="0" err="1"/>
              <a:t>Farhat</a:t>
            </a:r>
            <a:endParaRPr lang="en-US" sz="3200" b="1" dirty="0"/>
          </a:p>
          <a:p>
            <a:r>
              <a:rPr lang="en-US" sz="3200" b="1" dirty="0"/>
              <a:t>FAST School of Computing</a:t>
            </a:r>
          </a:p>
          <a:p>
            <a:r>
              <a:rPr lang="en-US" sz="3200" b="1" dirty="0" smtClean="0"/>
              <a:t>NUCES </a:t>
            </a:r>
            <a:r>
              <a:rPr lang="en-US" sz="3200" b="1" dirty="0"/>
              <a:t>Lahore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6605433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Introduction to </a:t>
            </a:r>
            <a:r>
              <a:rPr lang="en-US" sz="4800" dirty="0" smtClean="0"/>
              <a:t>Parallel and Distributed </a:t>
            </a:r>
            <a:r>
              <a:rPr lang="en-US" sz="4800" dirty="0"/>
              <a:t>Computing, Amdahl's Law and Karp-Flatt Metric</a:t>
            </a:r>
          </a:p>
        </p:txBody>
      </p:sp>
    </p:spTree>
    <p:extLst>
      <p:ext uri="{BB962C8B-B14F-4D97-AF65-F5344CB8AC3E}">
        <p14:creationId xmlns:p14="http://schemas.microsoft.com/office/powerpoint/2010/main" val="4510991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Motivation </a:t>
            </a:r>
            <a:r>
              <a:rPr lang="en-US" sz="3200" b="1" dirty="0"/>
              <a:t>for Parallel and Distributed </a:t>
            </a:r>
            <a:r>
              <a:rPr lang="en-US" sz="3200" b="1" dirty="0" smtClean="0"/>
              <a:t>Computing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Need for Parallelism</a:t>
            </a:r>
            <a:r>
              <a:rPr lang="en-US" sz="3200" b="1" dirty="0" smtClean="0"/>
              <a:t>?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Moore’s </a:t>
            </a:r>
            <a:r>
              <a:rPr lang="en-US" sz="3200" b="1" dirty="0" smtClean="0"/>
              <a:t>Law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Doubling </a:t>
            </a:r>
            <a:r>
              <a:rPr lang="en-US" b="1" dirty="0"/>
              <a:t>the transistors does doubles the speed? </a:t>
            </a: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Will </a:t>
            </a:r>
            <a:r>
              <a:rPr lang="en-US" b="1" dirty="0"/>
              <a:t>Moore’s law hold forever</a:t>
            </a:r>
            <a:r>
              <a:rPr lang="en-US" b="1" dirty="0" smtClean="0"/>
              <a:t>?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Need </a:t>
            </a:r>
            <a:r>
              <a:rPr lang="en-US" sz="3200" b="1" dirty="0"/>
              <a:t>for Parallel and Distributed </a:t>
            </a:r>
            <a:r>
              <a:rPr lang="en-US" sz="3200" b="1" dirty="0" smtClean="0"/>
              <a:t>Computing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Parallel </a:t>
            </a:r>
            <a:r>
              <a:rPr lang="en-US" sz="3200" b="1" dirty="0"/>
              <a:t>and Distributed </a:t>
            </a:r>
            <a:r>
              <a:rPr lang="en-US" sz="3200" b="1" dirty="0" smtClean="0"/>
              <a:t>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Distributed System vs Distributed </a:t>
            </a:r>
            <a:r>
              <a:rPr lang="en-US" sz="3200" b="1" dirty="0" smtClean="0"/>
              <a:t>Computing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270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Parallel Computing vs </a:t>
            </a:r>
            <a:r>
              <a:rPr lang="en-US" sz="3200" b="1" dirty="0"/>
              <a:t>Distributed </a:t>
            </a:r>
            <a:r>
              <a:rPr lang="en-US" sz="3200" b="1" dirty="0" smtClean="0"/>
              <a:t>Computing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Practical </a:t>
            </a:r>
            <a:r>
              <a:rPr lang="en-US" sz="3200" b="1" dirty="0"/>
              <a:t>Applications of P&amp;D Computing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Scientific Applications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Commercial Applications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Computer Systems </a:t>
            </a:r>
            <a:r>
              <a:rPr lang="en-US" b="1" dirty="0" smtClean="0"/>
              <a:t>Applications</a:t>
            </a:r>
            <a:endParaRPr lang="en-US" sz="32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Parallel </a:t>
            </a:r>
            <a:r>
              <a:rPr lang="en-US" sz="3200" b="1" dirty="0"/>
              <a:t>Computing Constraints / Scalability </a:t>
            </a:r>
            <a:r>
              <a:rPr lang="en-US" sz="3200" b="1" dirty="0" smtClean="0"/>
              <a:t>Issues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Outline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3645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Amdahl’s Law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Karp-Flatt Metric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Exercises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Summary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Additional Resources</a:t>
            </a:r>
            <a:endParaRPr lang="en-US" sz="32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Outline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3370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274481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Uniprocessor are </a:t>
            </a:r>
            <a:r>
              <a:rPr lang="en-US" b="1" dirty="0">
                <a:solidFill>
                  <a:srgbClr val="7030A0"/>
                </a:solidFill>
              </a:rPr>
              <a:t>fast</a:t>
            </a:r>
            <a:r>
              <a:rPr lang="en-US" b="1" dirty="0">
                <a:solidFill>
                  <a:srgbClr val="00A800"/>
                </a:solidFill>
              </a:rPr>
              <a:t> </a:t>
            </a:r>
            <a:r>
              <a:rPr lang="en-US" b="1" dirty="0"/>
              <a:t>but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Some problems require too much computation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Some problems use too much data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Some problems have too many parameters to </a:t>
            </a:r>
            <a:r>
              <a:rPr lang="en-US" b="1" dirty="0" smtClean="0"/>
              <a:t>explore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For example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Weather simulations, </a:t>
            </a:r>
            <a:r>
              <a:rPr lang="en-US" b="1" dirty="0" smtClean="0"/>
              <a:t>online gaming</a:t>
            </a:r>
            <a:r>
              <a:rPr lang="en-US" b="1" dirty="0"/>
              <a:t>, web </a:t>
            </a:r>
            <a:r>
              <a:rPr lang="en-US" b="1" dirty="0" smtClean="0"/>
              <a:t>servers</a:t>
            </a:r>
            <a:r>
              <a:rPr lang="en-US" b="1" dirty="0"/>
              <a:t>, code breaking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Motivation for Parallel and Distributed Computing</a:t>
            </a:r>
          </a:p>
        </p:txBody>
      </p:sp>
      <p:pic>
        <p:nvPicPr>
          <p:cNvPr id="4" name="Picture 3" descr="C:\Users\Faculty\Desktop\Typhoon_Mawar_2005_computer_simulation_thumbnail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861048"/>
            <a:ext cx="2593428" cy="232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Faculty\Desktop\blade2-small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435" y="4005063"/>
            <a:ext cx="3398981" cy="1944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6864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274481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Developing </a:t>
            </a:r>
            <a:r>
              <a:rPr lang="en-US" b="1" dirty="0">
                <a:solidFill>
                  <a:srgbClr val="0000A8"/>
                </a:solidFill>
              </a:rPr>
              <a:t>parallel hardware and software </a:t>
            </a:r>
            <a:r>
              <a:rPr lang="en-US" b="1" dirty="0"/>
              <a:t>has traditionally been time and effort intensive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If one is to view this in the context of rapidly improving </a:t>
            </a:r>
            <a:r>
              <a:rPr lang="en-US" b="1" dirty="0">
                <a:solidFill>
                  <a:srgbClr val="0000A8"/>
                </a:solidFill>
              </a:rPr>
              <a:t>uniprocessor speeds</a:t>
            </a:r>
            <a:r>
              <a:rPr lang="en-US" b="1" dirty="0"/>
              <a:t>, one is tempted to question the need for parallel computing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Latest trends in hardware design indicate that </a:t>
            </a:r>
            <a:r>
              <a:rPr lang="en-US" b="1" dirty="0" err="1"/>
              <a:t>uni</a:t>
            </a:r>
            <a:r>
              <a:rPr lang="en-US" b="1" dirty="0"/>
              <a:t>-processors may not be able to sustain the rate of realizable </a:t>
            </a:r>
            <a:r>
              <a:rPr lang="en-US" b="1" dirty="0">
                <a:solidFill>
                  <a:srgbClr val="0000A8"/>
                </a:solidFill>
              </a:rPr>
              <a:t>performance increments</a:t>
            </a:r>
            <a:r>
              <a:rPr lang="en-US" b="1" dirty="0"/>
              <a:t> in the </a:t>
            </a:r>
            <a:r>
              <a:rPr lang="en-US" b="1" dirty="0" smtClean="0"/>
              <a:t>future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 number of fundamental physical and computational </a:t>
            </a:r>
            <a:r>
              <a:rPr lang="en-US" b="1" dirty="0">
                <a:solidFill>
                  <a:srgbClr val="0000A8"/>
                </a:solidFill>
              </a:rPr>
              <a:t>limitations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The </a:t>
            </a:r>
            <a:r>
              <a:rPr lang="en-US" b="1" dirty="0">
                <a:solidFill>
                  <a:srgbClr val="0000A8"/>
                </a:solidFill>
              </a:rPr>
              <a:t>emergence</a:t>
            </a:r>
            <a:r>
              <a:rPr lang="en-US" b="1" dirty="0"/>
              <a:t> of standardized parallel programming environments, libraries, and hardware have significantly reduced time to develop (parallel) solution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Need for Parallelism?</a:t>
            </a:r>
          </a:p>
        </p:txBody>
      </p:sp>
    </p:spTree>
    <p:extLst>
      <p:ext uri="{BB962C8B-B14F-4D97-AF65-F5344CB8AC3E}">
        <p14:creationId xmlns:p14="http://schemas.microsoft.com/office/powerpoint/2010/main" val="2507779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274481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Number of transistors incorporated in a chip will approximately </a:t>
            </a:r>
            <a:r>
              <a:rPr lang="en-US" b="1" dirty="0">
                <a:solidFill>
                  <a:srgbClr val="0000A8"/>
                </a:solidFill>
              </a:rPr>
              <a:t>double</a:t>
            </a:r>
            <a:r>
              <a:rPr lang="en-US" b="1" dirty="0"/>
              <a:t> every 18 months.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Moore’s </a:t>
            </a:r>
            <a:r>
              <a:rPr lang="en-US" dirty="0" smtClean="0"/>
              <a:t>Law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884" y="2285340"/>
            <a:ext cx="6523997" cy="457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663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000" b="1" dirty="0" smtClean="0">
                <a:solidFill>
                  <a:srgbClr val="C00000"/>
                </a:solidFill>
              </a:rPr>
              <a:t>Doubling </a:t>
            </a:r>
            <a:r>
              <a:rPr lang="en-US" sz="3000" b="1" dirty="0">
                <a:solidFill>
                  <a:srgbClr val="C00000"/>
                </a:solidFill>
              </a:rPr>
              <a:t>the transistors does doubles the speed?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True </a:t>
            </a:r>
            <a:r>
              <a:rPr lang="en-US" sz="3000" b="1" dirty="0"/>
              <a:t>for single core chips but now the increase in number of transistor per processor is due to </a:t>
            </a:r>
            <a:r>
              <a:rPr lang="en-US" sz="3000" b="1" dirty="0">
                <a:solidFill>
                  <a:srgbClr val="7030A0"/>
                </a:solidFill>
              </a:rPr>
              <a:t>multi-core </a:t>
            </a:r>
            <a:r>
              <a:rPr lang="en-US" sz="3000" b="1" dirty="0" smtClean="0">
                <a:solidFill>
                  <a:srgbClr val="7030A0"/>
                </a:solidFill>
              </a:rPr>
              <a:t>CPU’s</a:t>
            </a:r>
            <a:endParaRPr lang="en-US" sz="3000" b="1" dirty="0">
              <a:solidFill>
                <a:srgbClr val="7030A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In multi-core CPUs, speed will depend on the </a:t>
            </a:r>
            <a:r>
              <a:rPr lang="en-US" sz="3000" b="1" dirty="0">
                <a:solidFill>
                  <a:srgbClr val="0000A8"/>
                </a:solidFill>
              </a:rPr>
              <a:t>proper utilization </a:t>
            </a:r>
            <a:r>
              <a:rPr lang="en-US" sz="3000" b="1" dirty="0"/>
              <a:t>of these parallel </a:t>
            </a:r>
            <a:r>
              <a:rPr lang="en-US" sz="3000" b="1" dirty="0" smtClean="0"/>
              <a:t>resources</a:t>
            </a:r>
            <a:endParaRPr lang="en-US" sz="3000" b="1" dirty="0"/>
          </a:p>
          <a:p>
            <a:pPr marL="130175" indent="0" algn="just">
              <a:buNone/>
            </a:pPr>
            <a:r>
              <a:rPr lang="en-US" sz="3000" b="1" dirty="0">
                <a:solidFill>
                  <a:srgbClr val="C00000"/>
                </a:solidFill>
              </a:rPr>
              <a:t>Will Moore’s law hold forever?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Adding multiple cores on single chip causes </a:t>
            </a:r>
            <a:r>
              <a:rPr lang="en-US" sz="3000" b="1" dirty="0">
                <a:solidFill>
                  <a:srgbClr val="0000A8"/>
                </a:solidFill>
              </a:rPr>
              <a:t>heat issues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Increasing the number of cores, may not be able to increase </a:t>
            </a:r>
            <a:r>
              <a:rPr lang="en-US" sz="3000" b="1" dirty="0">
                <a:solidFill>
                  <a:srgbClr val="0000A8"/>
                </a:solidFill>
              </a:rPr>
              <a:t>speeds</a:t>
            </a:r>
            <a:r>
              <a:rPr lang="en-US" sz="3000" b="1" dirty="0"/>
              <a:t> [Due to inter-process interactions</a:t>
            </a:r>
            <a:r>
              <a:rPr lang="en-US" sz="3000" b="1" dirty="0" smtClean="0"/>
              <a:t>]</a:t>
            </a: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Transistors would eventually reach the </a:t>
            </a:r>
            <a:r>
              <a:rPr lang="en-US" sz="3000" b="1" dirty="0">
                <a:solidFill>
                  <a:srgbClr val="0000A8"/>
                </a:solidFill>
              </a:rPr>
              <a:t>limits of miniaturization </a:t>
            </a:r>
            <a:r>
              <a:rPr lang="en-US" sz="3000" b="1" dirty="0"/>
              <a:t>at atomic levels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Moore’s </a:t>
            </a:r>
            <a:r>
              <a:rPr lang="en-US" dirty="0" smtClean="0"/>
              <a:t>Law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8806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Need </a:t>
            </a:r>
            <a:r>
              <a:rPr lang="en-US" sz="3000" b="1" dirty="0" smtClean="0"/>
              <a:t>for:</a:t>
            </a:r>
            <a:endParaRPr lang="en-US" sz="3000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Good </a:t>
            </a:r>
            <a:r>
              <a:rPr lang="en-US" sz="2600" b="1" dirty="0"/>
              <a:t>parallel </a:t>
            </a:r>
            <a:r>
              <a:rPr lang="en-US" sz="2600" b="1" dirty="0" smtClean="0"/>
              <a:t>hardware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Good </a:t>
            </a:r>
            <a:r>
              <a:rPr lang="en-US" sz="2600" b="1" dirty="0"/>
              <a:t>system software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Good </a:t>
            </a:r>
            <a:r>
              <a:rPr lang="en-US" sz="2600" b="1" dirty="0"/>
              <a:t>s</a:t>
            </a:r>
            <a:r>
              <a:rPr lang="en-US" sz="2600" b="1" dirty="0" smtClean="0"/>
              <a:t>equential </a:t>
            </a:r>
            <a:r>
              <a:rPr lang="en-US" sz="2600" b="1" dirty="0"/>
              <a:t>algorithms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Good </a:t>
            </a:r>
            <a:r>
              <a:rPr lang="en-US" sz="2600" b="1" dirty="0"/>
              <a:t>p</a:t>
            </a:r>
            <a:r>
              <a:rPr lang="en-US" sz="2600" b="1" dirty="0" smtClean="0"/>
              <a:t>arallel algorithms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Parallel and Distributed Systems</a:t>
            </a:r>
          </a:p>
          <a:p>
            <a:pPr marL="130175" indent="0" algn="just">
              <a:buNone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Need for Parallel and Distributed Computing</a:t>
            </a:r>
          </a:p>
        </p:txBody>
      </p:sp>
    </p:spTree>
    <p:extLst>
      <p:ext uri="{BB962C8B-B14F-4D97-AF65-F5344CB8AC3E}">
        <p14:creationId xmlns:p14="http://schemas.microsoft.com/office/powerpoint/2010/main" val="38018620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Parallel and distributed computing is going to be more and more important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/>
              <a:t>Dual and </a:t>
            </a:r>
            <a:r>
              <a:rPr lang="en-US" sz="2600" b="1" dirty="0">
                <a:solidFill>
                  <a:srgbClr val="0000A8"/>
                </a:solidFill>
              </a:rPr>
              <a:t>quad core processors </a:t>
            </a:r>
            <a:r>
              <a:rPr lang="en-US" sz="2600" b="1" dirty="0"/>
              <a:t>are very common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/>
              <a:t>Up to six and </a:t>
            </a:r>
            <a:r>
              <a:rPr lang="en-US" sz="2600" b="1" dirty="0">
                <a:solidFill>
                  <a:srgbClr val="0000A8"/>
                </a:solidFill>
              </a:rPr>
              <a:t>eight cores </a:t>
            </a:r>
            <a:r>
              <a:rPr lang="en-US" sz="2600" b="1" dirty="0"/>
              <a:t>for each CPU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rgbClr val="0000A8"/>
                </a:solidFill>
              </a:rPr>
              <a:t>Multithreading</a:t>
            </a:r>
            <a:r>
              <a:rPr lang="en-US" sz="2600" b="1" dirty="0"/>
              <a:t> is growing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Hardware structure or architecture is important for understanding how much it is possible to </a:t>
            </a:r>
            <a:r>
              <a:rPr lang="en-US" sz="3000" b="1" dirty="0">
                <a:solidFill>
                  <a:srgbClr val="0000A8"/>
                </a:solidFill>
              </a:rPr>
              <a:t>speed up </a:t>
            </a:r>
            <a:r>
              <a:rPr lang="en-US" sz="3000" b="1" dirty="0"/>
              <a:t>beyond a single CPU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Also </a:t>
            </a:r>
            <a:r>
              <a:rPr lang="en-US" sz="3000" b="1" dirty="0">
                <a:solidFill>
                  <a:srgbClr val="0000A8"/>
                </a:solidFill>
              </a:rPr>
              <a:t>capability of compilers </a:t>
            </a:r>
            <a:r>
              <a:rPr lang="en-US" sz="3000" b="1" dirty="0"/>
              <a:t>to generate efficient code is very </a:t>
            </a:r>
            <a:r>
              <a:rPr lang="en-US" sz="3000" b="1" dirty="0" smtClean="0"/>
              <a:t>important (e.g. converting for loop into threads)</a:t>
            </a: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/>
              <a:t>It is always </a:t>
            </a:r>
            <a:r>
              <a:rPr lang="en-US" sz="3000" b="1" dirty="0">
                <a:solidFill>
                  <a:srgbClr val="0000A8"/>
                </a:solidFill>
              </a:rPr>
              <a:t>difficult to distinguish </a:t>
            </a:r>
            <a:r>
              <a:rPr lang="en-US" sz="3000" b="1" dirty="0"/>
              <a:t>between HW and SW influences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 and 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6161343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>
                <a:solidFill>
                  <a:srgbClr val="C00000"/>
                </a:solidFill>
              </a:rPr>
              <a:t>Distributed </a:t>
            </a:r>
            <a:r>
              <a:rPr lang="en-US" sz="3200" b="1" dirty="0" smtClean="0">
                <a:solidFill>
                  <a:srgbClr val="C00000"/>
                </a:solidFill>
              </a:rPr>
              <a:t>Systems: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“A </a:t>
            </a:r>
            <a:r>
              <a:rPr lang="en-US" sz="3200" b="1" dirty="0"/>
              <a:t>collection of </a:t>
            </a:r>
            <a:r>
              <a:rPr lang="en-US" sz="3200" b="1" dirty="0">
                <a:solidFill>
                  <a:srgbClr val="0000A8"/>
                </a:solidFill>
              </a:rPr>
              <a:t>autonomous</a:t>
            </a:r>
            <a:r>
              <a:rPr lang="en-US" sz="3200" b="1" dirty="0"/>
              <a:t> computers, connected through a network and </a:t>
            </a:r>
            <a:r>
              <a:rPr lang="en-US" sz="3200" b="1" dirty="0">
                <a:solidFill>
                  <a:srgbClr val="7030A0"/>
                </a:solidFill>
              </a:rPr>
              <a:t>distribution </a:t>
            </a:r>
            <a:r>
              <a:rPr lang="en-US" sz="3200" b="1" dirty="0" smtClean="0">
                <a:solidFill>
                  <a:srgbClr val="7030A0"/>
                </a:solidFill>
              </a:rPr>
              <a:t>middleware</a:t>
            </a:r>
            <a:r>
              <a:rPr lang="en-US" sz="3200" b="1" dirty="0" smtClean="0"/>
              <a:t>.”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Enables </a:t>
            </a:r>
            <a:r>
              <a:rPr lang="en-US" sz="3200" b="1" dirty="0"/>
              <a:t>computers to </a:t>
            </a:r>
            <a:r>
              <a:rPr lang="en-US" sz="3200" b="1" dirty="0">
                <a:solidFill>
                  <a:srgbClr val="0000A8"/>
                </a:solidFill>
              </a:rPr>
              <a:t>coordinate</a:t>
            </a:r>
            <a:r>
              <a:rPr lang="en-US" sz="3200" b="1" dirty="0"/>
              <a:t> their activities and to share the resources of the </a:t>
            </a:r>
            <a:r>
              <a:rPr lang="en-US" sz="3200" b="1" dirty="0" smtClean="0"/>
              <a:t>system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The system is usually perceived as a single, </a:t>
            </a:r>
            <a:r>
              <a:rPr lang="en-US" sz="3200" b="1" dirty="0">
                <a:solidFill>
                  <a:srgbClr val="0000A8"/>
                </a:solidFill>
              </a:rPr>
              <a:t>integrated</a:t>
            </a:r>
            <a:r>
              <a:rPr lang="en-US" sz="3200" b="1" dirty="0"/>
              <a:t> computing </a:t>
            </a:r>
            <a:r>
              <a:rPr lang="en-US" sz="3200" b="1" dirty="0" smtClean="0"/>
              <a:t>facility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Mostly concerned with the </a:t>
            </a:r>
            <a:r>
              <a:rPr lang="en-US" sz="3200" b="1" dirty="0">
                <a:solidFill>
                  <a:srgbClr val="0000A8"/>
                </a:solidFill>
              </a:rPr>
              <a:t>hardware-based</a:t>
            </a:r>
            <a:r>
              <a:rPr lang="en-US" sz="3200" b="1" dirty="0"/>
              <a:t> </a:t>
            </a:r>
            <a:r>
              <a:rPr lang="en-US" sz="3200" b="1" dirty="0" smtClean="0"/>
              <a:t>accelerations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Distributed System vs Distributed </a:t>
            </a:r>
            <a:r>
              <a:rPr lang="en-US" dirty="0" smtClean="0"/>
              <a:t>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6616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Distributed Computing: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“A </a:t>
            </a:r>
            <a:r>
              <a:rPr lang="en-US" sz="3200" b="1" dirty="0"/>
              <a:t>specific use of distributed systems to split a large and complex processing into subparts and execute them in </a:t>
            </a:r>
            <a:r>
              <a:rPr lang="en-US" sz="3200" b="1" dirty="0">
                <a:solidFill>
                  <a:srgbClr val="0000A8"/>
                </a:solidFill>
              </a:rPr>
              <a:t>parallel</a:t>
            </a:r>
            <a:r>
              <a:rPr lang="en-US" sz="3200" b="1" dirty="0"/>
              <a:t> to increase the </a:t>
            </a:r>
            <a:r>
              <a:rPr lang="en-US" sz="3200" b="1" dirty="0" smtClean="0"/>
              <a:t>productivity.”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Computing mainly concerned with </a:t>
            </a:r>
            <a:r>
              <a:rPr lang="en-US" sz="3200" b="1" dirty="0">
                <a:solidFill>
                  <a:srgbClr val="0000A8"/>
                </a:solidFill>
              </a:rPr>
              <a:t>software-based </a:t>
            </a:r>
            <a:r>
              <a:rPr lang="en-US" sz="3200" b="1" dirty="0"/>
              <a:t>accelerations (i.e., designing and implementing algorithms)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Distributed System vs Distributed </a:t>
            </a:r>
            <a:r>
              <a:rPr lang="en-US" dirty="0" smtClean="0"/>
              <a:t>Computing (</a:t>
            </a:r>
            <a:r>
              <a:rPr lang="en-US" dirty="0" err="1" smtClean="0"/>
              <a:t>Cont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0754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Parallel Computing: 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The term is usually used for developing </a:t>
            </a:r>
            <a:r>
              <a:rPr lang="en-US" sz="3200" b="1" dirty="0">
                <a:solidFill>
                  <a:srgbClr val="0000A8"/>
                </a:solidFill>
              </a:rPr>
              <a:t>concurrent solutions</a:t>
            </a:r>
            <a:r>
              <a:rPr lang="en-US" sz="3200" b="1" dirty="0"/>
              <a:t> for following two types of the systems: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Multi-core Architecture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Many core architectures (i.e., GPU’s</a:t>
            </a:r>
            <a:r>
              <a:rPr lang="en-US" b="1" dirty="0" smtClean="0"/>
              <a:t>)</a:t>
            </a:r>
            <a:endParaRPr lang="en-US" sz="3200" b="1" dirty="0"/>
          </a:p>
          <a:p>
            <a:pPr marL="130175" indent="0" algn="just">
              <a:buNone/>
            </a:pPr>
            <a:r>
              <a:rPr lang="en-US" sz="3200" b="1" dirty="0">
                <a:solidFill>
                  <a:srgbClr val="C00000"/>
                </a:solidFill>
              </a:rPr>
              <a:t>Distributed </a:t>
            </a:r>
            <a:r>
              <a:rPr lang="en-US" sz="3200" b="1" dirty="0" smtClean="0">
                <a:solidFill>
                  <a:srgbClr val="C00000"/>
                </a:solidFill>
              </a:rPr>
              <a:t>Computing: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The </a:t>
            </a:r>
            <a:r>
              <a:rPr lang="en-US" sz="3200" b="1" dirty="0"/>
              <a:t>type of </a:t>
            </a:r>
            <a:r>
              <a:rPr lang="en-US" sz="3200" b="1" dirty="0" smtClean="0"/>
              <a:t>computing </a:t>
            </a:r>
            <a:r>
              <a:rPr lang="en-US" sz="3200" b="1" dirty="0"/>
              <a:t>mainly concerned with </a:t>
            </a:r>
            <a:r>
              <a:rPr lang="en-US" sz="3200" b="1" dirty="0">
                <a:solidFill>
                  <a:srgbClr val="0000A8"/>
                </a:solidFill>
              </a:rPr>
              <a:t>developing algorithms</a:t>
            </a:r>
            <a:r>
              <a:rPr lang="en-US" sz="3200" b="1" dirty="0"/>
              <a:t> for the distributed cluster </a:t>
            </a:r>
            <a:r>
              <a:rPr lang="en-US" sz="3200" b="1" dirty="0" smtClean="0"/>
              <a:t>systems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Here distributed means a </a:t>
            </a:r>
            <a:r>
              <a:rPr lang="en-US" sz="3200" b="1" dirty="0">
                <a:solidFill>
                  <a:srgbClr val="0000A8"/>
                </a:solidFill>
              </a:rPr>
              <a:t>geographical distance </a:t>
            </a:r>
            <a:r>
              <a:rPr lang="en-US" sz="3200" b="1" dirty="0"/>
              <a:t>between the computers without any </a:t>
            </a:r>
            <a:r>
              <a:rPr lang="en-US" sz="3200" b="1" dirty="0" smtClean="0"/>
              <a:t>shared-Memory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 vs Distributed Computing</a:t>
            </a:r>
          </a:p>
        </p:txBody>
      </p:sp>
    </p:spTree>
    <p:extLst>
      <p:ext uri="{BB962C8B-B14F-4D97-AF65-F5344CB8AC3E}">
        <p14:creationId xmlns:p14="http://schemas.microsoft.com/office/powerpoint/2010/main" val="19935132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vs Distributed </a:t>
            </a:r>
            <a:r>
              <a:rPr lang="en-US" dirty="0" smtClean="0"/>
              <a:t>Computing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01325"/>
            <a:ext cx="5181600" cy="4617464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>
                <a:solidFill>
                  <a:srgbClr val="C00000"/>
                </a:solidFill>
              </a:rPr>
              <a:t>Parallel </a:t>
            </a:r>
            <a:r>
              <a:rPr lang="en-US" sz="3200" b="1" dirty="0" smtClean="0">
                <a:solidFill>
                  <a:srgbClr val="C00000"/>
                </a:solidFill>
              </a:rPr>
              <a:t>Computing: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Shared </a:t>
            </a:r>
            <a:r>
              <a:rPr lang="en-US" b="1" dirty="0"/>
              <a:t>memory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Multiprocessors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Processors </a:t>
            </a:r>
            <a:r>
              <a:rPr lang="en-US" b="1" dirty="0"/>
              <a:t>share logical address spaces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Processors share physical memory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</a:t>
            </a:r>
            <a:r>
              <a:rPr lang="en-US" b="1" dirty="0" smtClean="0"/>
              <a:t>eferred </a:t>
            </a:r>
            <a:r>
              <a:rPr lang="en-US" b="1" dirty="0"/>
              <a:t>to the study of parallel algorithms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01325"/>
            <a:ext cx="5181600" cy="4617464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>
                <a:solidFill>
                  <a:srgbClr val="C00000"/>
                </a:solidFill>
              </a:rPr>
              <a:t>Distributed C</a:t>
            </a:r>
            <a:r>
              <a:rPr lang="en-US" sz="3200" b="1" dirty="0" smtClean="0">
                <a:solidFill>
                  <a:srgbClr val="C00000"/>
                </a:solidFill>
              </a:rPr>
              <a:t>omputing: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Distributed </a:t>
            </a:r>
            <a:r>
              <a:rPr lang="en-US" b="1" dirty="0"/>
              <a:t>memory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Clusters </a:t>
            </a:r>
            <a:r>
              <a:rPr lang="en-US" b="1" dirty="0"/>
              <a:t>of workstations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Processors do not share address </a:t>
            </a:r>
            <a:r>
              <a:rPr lang="en-US" b="1" dirty="0" smtClean="0"/>
              <a:t>space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There is no </a:t>
            </a:r>
            <a:r>
              <a:rPr lang="en-US" b="1" dirty="0"/>
              <a:t>sharing of physical </a:t>
            </a:r>
            <a:r>
              <a:rPr lang="en-US" b="1" dirty="0" smtClean="0"/>
              <a:t>memory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Study </a:t>
            </a:r>
            <a:r>
              <a:rPr lang="en-US" b="1" dirty="0"/>
              <a:t>of theoretical distributed algorithms or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195828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Scientific Applications: 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Functional and structural characterization of </a:t>
            </a:r>
            <a:r>
              <a:rPr lang="en-US" sz="3200" b="1" dirty="0">
                <a:solidFill>
                  <a:srgbClr val="0000A8"/>
                </a:solidFill>
              </a:rPr>
              <a:t>genes</a:t>
            </a:r>
            <a:r>
              <a:rPr lang="en-US" sz="3200" b="1" dirty="0">
                <a:solidFill>
                  <a:srgbClr val="00A800"/>
                </a:solidFill>
              </a:rPr>
              <a:t> </a:t>
            </a:r>
            <a:r>
              <a:rPr lang="en-US" sz="3200" b="1" dirty="0"/>
              <a:t>and </a:t>
            </a:r>
            <a:r>
              <a:rPr lang="en-US" sz="3200" b="1" dirty="0" smtClean="0"/>
              <a:t>proteins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Applications </a:t>
            </a:r>
            <a:r>
              <a:rPr lang="en-US" sz="3200" b="1" dirty="0"/>
              <a:t>in </a:t>
            </a:r>
            <a:r>
              <a:rPr lang="en-US" sz="3200" b="1" dirty="0">
                <a:solidFill>
                  <a:srgbClr val="0000A8"/>
                </a:solidFill>
              </a:rPr>
              <a:t>astrophysics</a:t>
            </a:r>
            <a:r>
              <a:rPr lang="en-US" sz="3200" b="1" dirty="0"/>
              <a:t> have explored the evolution of galaxies, thermonuclear processes, and the analysis of extremely large datasets from </a:t>
            </a:r>
            <a:r>
              <a:rPr lang="en-US" sz="3200" b="1" dirty="0" smtClean="0"/>
              <a:t>telescope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Advances in </a:t>
            </a:r>
            <a:r>
              <a:rPr lang="en-US" sz="3200" b="1" dirty="0">
                <a:solidFill>
                  <a:srgbClr val="0000A8"/>
                </a:solidFill>
              </a:rPr>
              <a:t>computational physics and chemistry </a:t>
            </a:r>
            <a:r>
              <a:rPr lang="en-US" sz="3200" b="1" dirty="0"/>
              <a:t>have explored new materials, understanding of chemical pathways, and more efficient processes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Practical Applications of P&amp;D Computing</a:t>
            </a:r>
          </a:p>
        </p:txBody>
      </p:sp>
    </p:spTree>
    <p:extLst>
      <p:ext uri="{BB962C8B-B14F-4D97-AF65-F5344CB8AC3E}">
        <p14:creationId xmlns:p14="http://schemas.microsoft.com/office/powerpoint/2010/main" val="32163357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Scientific Applications (Cont.): 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Weather </a:t>
            </a:r>
            <a:r>
              <a:rPr lang="en-US" sz="3200" b="1" dirty="0"/>
              <a:t>modeling for </a:t>
            </a:r>
            <a:r>
              <a:rPr lang="en-US" sz="3200" b="1" dirty="0">
                <a:solidFill>
                  <a:srgbClr val="0000A8"/>
                </a:solidFill>
              </a:rPr>
              <a:t>simulating</a:t>
            </a:r>
            <a:r>
              <a:rPr lang="en-US" sz="3200" b="1" dirty="0"/>
              <a:t> the track of natural hazards like extreme cyclones (storms), </a:t>
            </a:r>
            <a:r>
              <a:rPr lang="en-US" sz="3200" b="1" dirty="0" smtClean="0"/>
              <a:t>flood </a:t>
            </a:r>
            <a:r>
              <a:rPr lang="en-US" sz="3200" b="1" dirty="0"/>
              <a:t>prediction </a:t>
            </a: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Large </a:t>
            </a:r>
            <a:r>
              <a:rPr lang="en-US" sz="3200" b="1" dirty="0" err="1"/>
              <a:t>Hydron</a:t>
            </a:r>
            <a:r>
              <a:rPr lang="en-US" sz="3200" b="1" dirty="0"/>
              <a:t> Collider (LHC) at European Organization for Nuclear Research (CERN) </a:t>
            </a:r>
            <a:r>
              <a:rPr lang="en-US" sz="3200" b="1" dirty="0">
                <a:solidFill>
                  <a:srgbClr val="0000A8"/>
                </a:solidFill>
              </a:rPr>
              <a:t>generates petabytes of data </a:t>
            </a:r>
            <a:r>
              <a:rPr lang="en-US" sz="3200" b="1" dirty="0"/>
              <a:t>for a single collision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Practical Applications of P&amp;D </a:t>
            </a:r>
            <a:r>
              <a:rPr lang="en-US" dirty="0" smtClean="0"/>
              <a:t>Computing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4681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Commercial Applications: 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Some </a:t>
            </a:r>
            <a:r>
              <a:rPr lang="en-US" sz="3200" b="1" dirty="0" smtClean="0"/>
              <a:t>of the largest </a:t>
            </a:r>
            <a:r>
              <a:rPr lang="en-US" sz="3200" b="1" dirty="0"/>
              <a:t>parallel computers </a:t>
            </a:r>
            <a:r>
              <a:rPr lang="en-US" sz="3200" b="1" dirty="0" smtClean="0"/>
              <a:t>power </a:t>
            </a:r>
            <a:r>
              <a:rPr lang="en-US" sz="3200" b="1" dirty="0">
                <a:solidFill>
                  <a:srgbClr val="7030A0"/>
                </a:solidFill>
              </a:rPr>
              <a:t>Wall Street!</a:t>
            </a:r>
            <a:r>
              <a:rPr lang="en-US" sz="3200" b="1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Data </a:t>
            </a:r>
            <a:r>
              <a:rPr lang="en-US" sz="3200" b="1" dirty="0" smtClean="0"/>
              <a:t>mining analysis </a:t>
            </a:r>
            <a:r>
              <a:rPr lang="en-US" sz="3200" b="1" dirty="0"/>
              <a:t>for </a:t>
            </a:r>
            <a:r>
              <a:rPr lang="en-US" sz="3200" b="1" dirty="0">
                <a:solidFill>
                  <a:srgbClr val="0000A8"/>
                </a:solidFill>
              </a:rPr>
              <a:t>optimizing business </a:t>
            </a:r>
            <a:r>
              <a:rPr lang="en-US" sz="3200" b="1" dirty="0"/>
              <a:t>and marketing decisions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Large scale servers (</a:t>
            </a:r>
            <a:r>
              <a:rPr lang="en-US" sz="3200" b="1" dirty="0">
                <a:solidFill>
                  <a:srgbClr val="0000A8"/>
                </a:solidFill>
              </a:rPr>
              <a:t>mail and web servers</a:t>
            </a:r>
            <a:r>
              <a:rPr lang="en-US" sz="3200" b="1" dirty="0"/>
              <a:t>) are often implemented using parallel </a:t>
            </a:r>
            <a:r>
              <a:rPr lang="en-US" sz="3200" b="1" dirty="0" smtClean="0"/>
              <a:t>and distributed platforms 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Applications such as </a:t>
            </a:r>
            <a:r>
              <a:rPr lang="en-US" sz="3200" b="1" dirty="0">
                <a:solidFill>
                  <a:srgbClr val="0000A8"/>
                </a:solidFill>
              </a:rPr>
              <a:t>information retrieval and search </a:t>
            </a:r>
            <a:r>
              <a:rPr lang="en-US" sz="3200" b="1" dirty="0"/>
              <a:t>are typically powered by large </a:t>
            </a:r>
            <a:r>
              <a:rPr lang="en-US" sz="3200" b="1" dirty="0" smtClean="0"/>
              <a:t>clusters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Practical Applications of P&amp;D </a:t>
            </a:r>
            <a:r>
              <a:rPr lang="en-US" dirty="0" smtClean="0"/>
              <a:t>Computing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2728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Computer </a:t>
            </a:r>
            <a:r>
              <a:rPr lang="en-US" sz="3200" b="1" dirty="0">
                <a:solidFill>
                  <a:srgbClr val="C00000"/>
                </a:solidFill>
              </a:rPr>
              <a:t>Systems </a:t>
            </a:r>
            <a:r>
              <a:rPr lang="en-US" sz="3200" b="1" dirty="0" smtClean="0">
                <a:solidFill>
                  <a:srgbClr val="C00000"/>
                </a:solidFill>
              </a:rPr>
              <a:t>Applications:</a:t>
            </a:r>
            <a:endParaRPr lang="en-US" sz="3200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Network intrusion detection: </a:t>
            </a:r>
            <a:r>
              <a:rPr lang="en-US" sz="3200" b="1" dirty="0" smtClean="0"/>
              <a:t>a </a:t>
            </a:r>
            <a:r>
              <a:rPr lang="en-US" sz="3200" b="1" dirty="0"/>
              <a:t>large amount of data needs to be </a:t>
            </a:r>
            <a:r>
              <a:rPr lang="en-US" sz="3200" b="1" dirty="0">
                <a:solidFill>
                  <a:srgbClr val="0000A8"/>
                </a:solidFill>
              </a:rPr>
              <a:t>analyzed</a:t>
            </a:r>
            <a:r>
              <a:rPr lang="en-US" sz="3200" b="1" dirty="0"/>
              <a:t> and </a:t>
            </a:r>
            <a:r>
              <a:rPr lang="en-US" sz="3200" b="1" dirty="0" smtClean="0"/>
              <a:t>processed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Cryptography (the art of writing or solving codes) employs </a:t>
            </a:r>
            <a:r>
              <a:rPr lang="en-US" sz="3200" b="1" dirty="0">
                <a:solidFill>
                  <a:srgbClr val="0000A8"/>
                </a:solidFill>
              </a:rPr>
              <a:t>parallel infrastructures </a:t>
            </a:r>
            <a:r>
              <a:rPr lang="en-US" sz="3200" b="1" dirty="0"/>
              <a:t>and algorithms to solve complex </a:t>
            </a:r>
            <a:r>
              <a:rPr lang="en-US" sz="3200" b="1" dirty="0" smtClean="0"/>
              <a:t>codes – SHA 256 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Graphics </a:t>
            </a:r>
            <a:r>
              <a:rPr lang="en-US" sz="3200" b="1" dirty="0" smtClean="0"/>
              <a:t>processing – Each </a:t>
            </a:r>
            <a:r>
              <a:rPr lang="en-US" sz="3200" b="1" dirty="0" smtClean="0">
                <a:solidFill>
                  <a:srgbClr val="0000A8"/>
                </a:solidFill>
              </a:rPr>
              <a:t>pixel</a:t>
            </a:r>
            <a:r>
              <a:rPr lang="en-US" sz="3200" b="1" dirty="0" smtClean="0"/>
              <a:t> represents a binary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Embedded systems increasingly </a:t>
            </a:r>
            <a:r>
              <a:rPr lang="en-US" sz="3200" b="1" dirty="0">
                <a:solidFill>
                  <a:srgbClr val="0000A8"/>
                </a:solidFill>
              </a:rPr>
              <a:t>rely</a:t>
            </a:r>
            <a:r>
              <a:rPr lang="en-US" sz="3200" b="1" dirty="0"/>
              <a:t> on distributed control </a:t>
            </a:r>
            <a:r>
              <a:rPr lang="en-US" sz="3200" b="1" dirty="0" smtClean="0"/>
              <a:t>algorithms</a:t>
            </a:r>
            <a:r>
              <a:rPr lang="en-US" sz="3200" b="1" dirty="0"/>
              <a:t> </a:t>
            </a:r>
            <a:r>
              <a:rPr lang="en-US" sz="3200" b="1" dirty="0" smtClean="0"/>
              <a:t>- Modern </a:t>
            </a:r>
            <a:r>
              <a:rPr lang="en-US" sz="3200" b="1" dirty="0"/>
              <a:t>automobiles </a:t>
            </a:r>
            <a:r>
              <a:rPr lang="en-US" sz="3200" b="1" dirty="0" smtClean="0"/>
              <a:t>use embedded systems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Practical Applications of P&amp;D </a:t>
            </a:r>
            <a:r>
              <a:rPr lang="en-US" dirty="0" smtClean="0"/>
              <a:t>Computing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0407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274481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Parallel computing </a:t>
            </a:r>
            <a:r>
              <a:rPr lang="en-US" b="1" dirty="0"/>
              <a:t>requires designing the </a:t>
            </a:r>
            <a:r>
              <a:rPr lang="en-US" b="1" dirty="0">
                <a:solidFill>
                  <a:srgbClr val="0000A8"/>
                </a:solidFill>
              </a:rPr>
              <a:t>proper communication and synchronization mechanisms</a:t>
            </a:r>
            <a:r>
              <a:rPr lang="en-US" b="1" dirty="0"/>
              <a:t> between the processes </a:t>
            </a:r>
            <a:r>
              <a:rPr lang="en-US" b="1" dirty="0" smtClean="0"/>
              <a:t>and the </a:t>
            </a:r>
            <a:r>
              <a:rPr lang="en-US" b="1" dirty="0"/>
              <a:t>sub-tasks.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Exploring </a:t>
            </a:r>
            <a:r>
              <a:rPr lang="en-US" b="1" dirty="0" smtClean="0"/>
              <a:t>the </a:t>
            </a:r>
            <a:r>
              <a:rPr lang="en-US" b="1" dirty="0" smtClean="0">
                <a:solidFill>
                  <a:srgbClr val="0000A8"/>
                </a:solidFill>
              </a:rPr>
              <a:t>proper parallelism </a:t>
            </a:r>
            <a:r>
              <a:rPr lang="en-US" b="1" dirty="0" smtClean="0"/>
              <a:t>from </a:t>
            </a:r>
            <a:r>
              <a:rPr lang="en-US" b="1" dirty="0"/>
              <a:t>a problem is a hectic process.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The program must have </a:t>
            </a:r>
            <a:r>
              <a:rPr lang="en-US" b="1" dirty="0">
                <a:solidFill>
                  <a:srgbClr val="7030A0"/>
                </a:solidFill>
              </a:rPr>
              <a:t>low coupling and high cohesion </a:t>
            </a:r>
            <a:r>
              <a:rPr lang="en-US" b="1" dirty="0"/>
              <a:t>however it is difficult to create such programs.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Parallel computing </a:t>
            </a:r>
            <a:r>
              <a:rPr lang="en-US" b="1" dirty="0"/>
              <a:t>needs relatively </a:t>
            </a:r>
            <a:r>
              <a:rPr lang="en-US" b="1" dirty="0">
                <a:solidFill>
                  <a:srgbClr val="0000A8"/>
                </a:solidFill>
              </a:rPr>
              <a:t>more technical skills </a:t>
            </a:r>
            <a:r>
              <a:rPr lang="en-US" b="1" dirty="0"/>
              <a:t>to code a parallel program.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Parallel Computing Constraints / Scalability Issues</a:t>
            </a:r>
          </a:p>
        </p:txBody>
      </p:sp>
    </p:spTree>
    <p:extLst>
      <p:ext uri="{BB962C8B-B14F-4D97-AF65-F5344CB8AC3E}">
        <p14:creationId xmlns:p14="http://schemas.microsoft.com/office/powerpoint/2010/main" val="17063254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274481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Amdahl’s law is a formula which gives the </a:t>
            </a:r>
            <a:r>
              <a:rPr lang="en-US" b="1" dirty="0">
                <a:solidFill>
                  <a:srgbClr val="0000A8"/>
                </a:solidFill>
              </a:rPr>
              <a:t>theoretical speedup </a:t>
            </a:r>
            <a:r>
              <a:rPr lang="en-US" b="1" dirty="0"/>
              <a:t>in the execution of a task having </a:t>
            </a:r>
            <a:r>
              <a:rPr lang="en-US" b="1" dirty="0">
                <a:solidFill>
                  <a:srgbClr val="0000A8"/>
                </a:solidFill>
              </a:rPr>
              <a:t>fixed workload </a:t>
            </a:r>
            <a:r>
              <a:rPr lang="en-US" b="1" dirty="0"/>
              <a:t>that can be expected of a system whose </a:t>
            </a:r>
            <a:r>
              <a:rPr lang="en-US" b="1" dirty="0">
                <a:solidFill>
                  <a:srgbClr val="0000A8"/>
                </a:solidFill>
              </a:rPr>
              <a:t>resources are improved </a:t>
            </a:r>
            <a:r>
              <a:rPr lang="en-US" b="1" dirty="0"/>
              <a:t>(scalability)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Amdahl's </a:t>
            </a:r>
            <a:r>
              <a:rPr lang="en-US" b="1" dirty="0"/>
              <a:t>law is used in parallel computing to </a:t>
            </a:r>
            <a:r>
              <a:rPr lang="en-US" b="1" dirty="0">
                <a:solidFill>
                  <a:srgbClr val="0000A8"/>
                </a:solidFill>
              </a:rPr>
              <a:t>predict</a:t>
            </a:r>
            <a:r>
              <a:rPr lang="en-US" b="1" dirty="0"/>
              <a:t> the theoretical speedup when using multiple </a:t>
            </a:r>
            <a:r>
              <a:rPr lang="en-US" b="1" dirty="0" smtClean="0"/>
              <a:t>processors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Amdahl’s </a:t>
            </a:r>
            <a:r>
              <a:rPr lang="en-US" b="1" dirty="0"/>
              <a:t>law is named after scientist </a:t>
            </a:r>
            <a:r>
              <a:rPr lang="en-US" b="1" dirty="0">
                <a:solidFill>
                  <a:srgbClr val="0000A8"/>
                </a:solidFill>
              </a:rPr>
              <a:t>Gene Amdahl</a:t>
            </a:r>
            <a:r>
              <a:rPr lang="en-US" b="1" dirty="0"/>
              <a:t>, and was presented at the AFIPS Spring Joint Computer Conference in </a:t>
            </a:r>
            <a:r>
              <a:rPr lang="en-US" b="1" dirty="0" smtClean="0"/>
              <a:t>1967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Amdahl’s </a:t>
            </a:r>
            <a:r>
              <a:rPr lang="en-US" dirty="0" smtClean="0"/>
              <a:t>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618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Amdahl’s </a:t>
            </a:r>
            <a:r>
              <a:rPr lang="en-US" dirty="0" smtClean="0"/>
              <a:t>Law (Cont.)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30175" indent="0" algn="just">
              <a:buNone/>
            </a:pPr>
            <a:endParaRPr lang="en-US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2400" b="1" dirty="0" smtClean="0"/>
          </a:p>
          <a:p>
            <a:pPr marL="130175" indent="0"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smtClean="0"/>
              <a:t>p </a:t>
            </a:r>
            <a:r>
              <a:rPr lang="en-US" sz="2400" b="1" dirty="0"/>
              <a:t>is the ratio of “</a:t>
            </a:r>
            <a:r>
              <a:rPr lang="en-US" sz="2400" b="1" dirty="0">
                <a:solidFill>
                  <a:srgbClr val="0000A8"/>
                </a:solidFill>
              </a:rPr>
              <a:t>parallelizable code</a:t>
            </a:r>
            <a:r>
              <a:rPr lang="en-US" sz="2400" b="1" dirty="0"/>
              <a:t>” over “total execution time”, </a:t>
            </a:r>
            <a:r>
              <a:rPr lang="en-US" sz="2400" b="1" dirty="0" smtClean="0"/>
              <a:t> from </a:t>
            </a:r>
            <a:r>
              <a:rPr lang="en-US" sz="2400" b="1" dirty="0"/>
              <a:t>0 to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n is the </a:t>
            </a:r>
            <a:r>
              <a:rPr lang="en-US" sz="2400" b="1" dirty="0">
                <a:solidFill>
                  <a:srgbClr val="0000A8"/>
                </a:solidFill>
              </a:rPr>
              <a:t>number of processors </a:t>
            </a:r>
            <a:r>
              <a:rPr lang="en-US" sz="2400" b="1" dirty="0"/>
              <a:t>the code can </a:t>
            </a:r>
            <a:r>
              <a:rPr lang="en-US" sz="2400" b="1" dirty="0" smtClean="0"/>
              <a:t>use</a:t>
            </a: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If there are 4 processors and only 10% of the code is </a:t>
            </a:r>
            <a:r>
              <a:rPr lang="en-US" sz="2400" b="1" dirty="0" smtClean="0"/>
              <a:t>parallelizable</a:t>
            </a:r>
            <a:endParaRPr lang="en-US" sz="2400" b="1" dirty="0"/>
          </a:p>
          <a:p>
            <a:pPr marL="130175" indent="0">
              <a:buNone/>
            </a:pPr>
            <a:r>
              <a:rPr lang="en-US" sz="2400" b="1" dirty="0"/>
              <a:t>            Speedup = 1/(0.9+(0.1/4))</a:t>
            </a:r>
          </a:p>
          <a:p>
            <a:pPr marL="130175" indent="0">
              <a:buNone/>
            </a:pPr>
            <a:r>
              <a:rPr lang="en-US" sz="2400" b="1" dirty="0"/>
              <a:t>                              = 1.081</a:t>
            </a:r>
          </a:p>
          <a:p>
            <a:pPr marL="130175" indent="0">
              <a:buNone/>
            </a:pPr>
            <a:r>
              <a:rPr lang="en-US" sz="2400" b="1" dirty="0"/>
              <a:t>                                                      that is only 8% with 4 processors!!</a:t>
            </a:r>
          </a:p>
          <a:p>
            <a:pPr marL="130175" indent="0">
              <a:buNone/>
            </a:pPr>
            <a:endParaRPr lang="en-US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735" y="1864057"/>
            <a:ext cx="2838846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072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Scaling </a:t>
            </a:r>
            <a:r>
              <a:rPr lang="en-US" sz="3000" b="1" dirty="0" smtClean="0">
                <a:solidFill>
                  <a:srgbClr val="0000A8"/>
                </a:solidFill>
              </a:rPr>
              <a:t>falls off</a:t>
            </a:r>
            <a:r>
              <a:rPr lang="en-US" sz="3000" b="1" dirty="0" smtClean="0"/>
              <a:t> as the number of processors increases due to lock (barriers for </a:t>
            </a:r>
            <a:r>
              <a:rPr lang="en-US" sz="3000" b="1" dirty="0" smtClean="0">
                <a:solidFill>
                  <a:srgbClr val="0000A8"/>
                </a:solidFill>
              </a:rPr>
              <a:t>synchronizing masters and slaves</a:t>
            </a:r>
            <a:r>
              <a:rPr lang="en-US" sz="3000" b="1" dirty="0" smtClean="0"/>
              <a:t>) </a:t>
            </a:r>
            <a:r>
              <a:rPr lang="en-US" sz="3000" b="1" dirty="0"/>
              <a:t>and </a:t>
            </a:r>
            <a:r>
              <a:rPr lang="en-US" sz="3000" b="1" dirty="0">
                <a:solidFill>
                  <a:srgbClr val="0000A8"/>
                </a:solidFill>
              </a:rPr>
              <a:t>memory collisions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It </a:t>
            </a:r>
            <a:r>
              <a:rPr lang="en-US" sz="3000" b="1" dirty="0"/>
              <a:t>is very difficult to compute </a:t>
            </a:r>
            <a:r>
              <a:rPr lang="en-US" sz="3000" b="1" dirty="0" smtClean="0"/>
              <a:t>‘p’</a:t>
            </a:r>
            <a:endParaRPr lang="en-US" sz="3000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Serialized </a:t>
            </a:r>
            <a:r>
              <a:rPr lang="en-US" sz="2600" b="1" dirty="0"/>
              <a:t>regions not only in our code, also in kernel and in HW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/>
              <a:t>Private </a:t>
            </a:r>
            <a:r>
              <a:rPr lang="en-US" sz="3000" b="1" dirty="0">
                <a:solidFill>
                  <a:srgbClr val="0000A8"/>
                </a:solidFill>
              </a:rPr>
              <a:t>data cache</a:t>
            </a:r>
            <a:r>
              <a:rPr lang="en-US" sz="3000" b="1" dirty="0"/>
              <a:t> of multiprocessor systems has to be kept consistent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Amdahl’s Law (Cont.)</a:t>
            </a:r>
          </a:p>
        </p:txBody>
      </p:sp>
    </p:spTree>
    <p:extLst>
      <p:ext uri="{BB962C8B-B14F-4D97-AF65-F5344CB8AC3E}">
        <p14:creationId xmlns:p14="http://schemas.microsoft.com/office/powerpoint/2010/main" val="8299900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Amdahl’s Law (Cont.)</a:t>
            </a:r>
          </a:p>
        </p:txBody>
      </p:sp>
      <p:pic>
        <p:nvPicPr>
          <p:cNvPr id="4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205" y="1630036"/>
            <a:ext cx="6725589" cy="4686954"/>
          </a:xfrm>
        </p:spPr>
      </p:pic>
    </p:spTree>
    <p:extLst>
      <p:ext uri="{BB962C8B-B14F-4D97-AF65-F5344CB8AC3E}">
        <p14:creationId xmlns:p14="http://schemas.microsoft.com/office/powerpoint/2010/main" val="14325146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The performance improvement to be gained from using some faster mode of execution is </a:t>
            </a:r>
            <a:r>
              <a:rPr lang="en-US" sz="3200" b="1" dirty="0">
                <a:solidFill>
                  <a:srgbClr val="0000A8"/>
                </a:solidFill>
              </a:rPr>
              <a:t>limited</a:t>
            </a:r>
            <a:r>
              <a:rPr lang="en-US" sz="3200" b="1" dirty="0"/>
              <a:t> by the fraction of the time the faster mode can be used.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Adding more processors will improve the </a:t>
            </a:r>
            <a:r>
              <a:rPr lang="en-US" sz="3200" b="1" dirty="0">
                <a:solidFill>
                  <a:srgbClr val="0000A8"/>
                </a:solidFill>
              </a:rPr>
              <a:t>performance</a:t>
            </a:r>
            <a:r>
              <a:rPr lang="en-US" sz="3200" b="1" dirty="0"/>
              <a:t> only if the code to be executed can be equally parallelized.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Execution Time After Improvement = Execution Time Unaffected + ( Execution Time Affected / Amount of Improvement )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Amdahl’s Law (Cont.)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577" y="4883984"/>
            <a:ext cx="2838846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257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Amdahl’s law ignore the parallelization overhead due to which it </a:t>
            </a:r>
            <a:r>
              <a:rPr lang="en-US" b="1" dirty="0">
                <a:solidFill>
                  <a:srgbClr val="0000A8"/>
                </a:solidFill>
              </a:rPr>
              <a:t>overestimate</a:t>
            </a:r>
            <a:r>
              <a:rPr lang="en-US" b="1" dirty="0"/>
              <a:t> the achievable speedup.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The Karp - Flatt metric is used to calculate </a:t>
            </a:r>
            <a:r>
              <a:rPr lang="en-US" b="1" dirty="0">
                <a:solidFill>
                  <a:srgbClr val="0000A8"/>
                </a:solidFill>
              </a:rPr>
              <a:t>serial fraction </a:t>
            </a:r>
            <a:r>
              <a:rPr lang="en-US" b="1" dirty="0"/>
              <a:t>for a given parallel configuration.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Experimentally </a:t>
            </a:r>
            <a:r>
              <a:rPr lang="en-US" b="1" dirty="0">
                <a:solidFill>
                  <a:srgbClr val="0000A8"/>
                </a:solidFill>
              </a:rPr>
              <a:t>determined</a:t>
            </a:r>
            <a:r>
              <a:rPr lang="en-US" b="1" dirty="0"/>
              <a:t> serial fraction 𝑒 takes into account parallel overhead.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Detects other </a:t>
            </a:r>
            <a:r>
              <a:rPr lang="en-US" b="1" dirty="0">
                <a:solidFill>
                  <a:srgbClr val="0000A8"/>
                </a:solidFill>
              </a:rPr>
              <a:t>sources of overhead </a:t>
            </a:r>
            <a:r>
              <a:rPr lang="en-US" b="1" dirty="0"/>
              <a:t>or inefficiency ignored in speedup model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Process startup time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Process synchronization time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Imbalanced workload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Architectural overhead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Karp-Flatt Metric</a:t>
            </a:r>
          </a:p>
        </p:txBody>
      </p:sp>
    </p:spTree>
    <p:extLst>
      <p:ext uri="{BB962C8B-B14F-4D97-AF65-F5344CB8AC3E}">
        <p14:creationId xmlns:p14="http://schemas.microsoft.com/office/powerpoint/2010/main" val="39442847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If a parallel program is exhibiting a </a:t>
            </a:r>
            <a:r>
              <a:rPr lang="en-US" sz="3200" b="1" dirty="0">
                <a:solidFill>
                  <a:srgbClr val="0000A8"/>
                </a:solidFill>
              </a:rPr>
              <a:t>speedup S</a:t>
            </a:r>
            <a:r>
              <a:rPr lang="en-US" sz="3200" b="1" dirty="0"/>
              <a:t>  while using </a:t>
            </a:r>
            <a:r>
              <a:rPr lang="en-US" sz="3200" b="1" dirty="0">
                <a:solidFill>
                  <a:srgbClr val="0000A8"/>
                </a:solidFill>
              </a:rPr>
              <a:t>P processing units </a:t>
            </a:r>
            <a:r>
              <a:rPr lang="en-US" sz="3200" b="1" dirty="0"/>
              <a:t>then experimentally determined serial fraction e is given by </a:t>
            </a:r>
            <a:r>
              <a:rPr lang="en-US" sz="3200" b="1" dirty="0" smtClean="0"/>
              <a:t>: </a:t>
            </a:r>
            <a:endParaRPr lang="en-US" sz="3200" b="1" dirty="0"/>
          </a:p>
          <a:p>
            <a:pPr algn="ctr"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 marL="130175" indent="0" algn="just">
              <a:buNone/>
            </a:pPr>
            <a:endParaRPr lang="en-US" sz="32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experimentally </a:t>
            </a:r>
            <a:r>
              <a:rPr lang="en-US" sz="3200" b="1" dirty="0"/>
              <a:t>determined serial fraction 𝑒 may either stay </a:t>
            </a:r>
            <a:r>
              <a:rPr lang="en-US" sz="3200" b="1" dirty="0">
                <a:solidFill>
                  <a:srgbClr val="0000A8"/>
                </a:solidFill>
              </a:rPr>
              <a:t>constant</a:t>
            </a:r>
            <a:r>
              <a:rPr lang="en-US" sz="3200" b="1" dirty="0"/>
              <a:t> with respect to 𝑝 (meaning that the parallelization overhead is </a:t>
            </a:r>
            <a:r>
              <a:rPr lang="en-US" sz="3200" b="1" dirty="0">
                <a:solidFill>
                  <a:srgbClr val="0000A8"/>
                </a:solidFill>
              </a:rPr>
              <a:t>negligible</a:t>
            </a:r>
            <a:r>
              <a:rPr lang="en-US" sz="3200" b="1" dirty="0"/>
              <a:t>) or </a:t>
            </a:r>
            <a:r>
              <a:rPr lang="en-US" sz="3200" b="1" dirty="0">
                <a:solidFill>
                  <a:srgbClr val="0000A8"/>
                </a:solidFill>
              </a:rPr>
              <a:t>increase</a:t>
            </a:r>
            <a:r>
              <a:rPr lang="en-US" sz="3200" b="1" dirty="0"/>
              <a:t> with respect to 𝑝 (meaning that parallelization overhead </a:t>
            </a:r>
            <a:r>
              <a:rPr lang="en-US" sz="3200" b="1" dirty="0">
                <a:solidFill>
                  <a:srgbClr val="0000A8"/>
                </a:solidFill>
              </a:rPr>
              <a:t>dominates</a:t>
            </a:r>
            <a:r>
              <a:rPr lang="en-US" sz="3200" b="1" dirty="0"/>
              <a:t> the speedup )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Karp-Flatt </a:t>
            </a:r>
            <a:r>
              <a:rPr lang="en-US" dirty="0" smtClean="0"/>
              <a:t>Metric (Cont.)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748" y="2767263"/>
            <a:ext cx="2321437" cy="106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2135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Example: Suppose in a parallel program, for the given processors, you gained a speedup given in second row, determine sequential fraction of your program.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Exercises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859" y="2627770"/>
            <a:ext cx="8312282" cy="391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3442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Exercises (Cont.)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76765"/>
            <a:ext cx="8811126" cy="516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6403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481909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Motivation </a:t>
            </a:r>
            <a:r>
              <a:rPr lang="en-US" sz="3200" b="1" dirty="0"/>
              <a:t>for Parallel and Distributed </a:t>
            </a:r>
            <a:r>
              <a:rPr lang="en-US" sz="3200" b="1" dirty="0" smtClean="0"/>
              <a:t>Computing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Apps </a:t>
            </a:r>
            <a:r>
              <a:rPr lang="en-US" b="1" dirty="0"/>
              <a:t>like weather simulations, online gaming, web servers etc. requires </a:t>
            </a:r>
            <a:r>
              <a:rPr lang="en-US" b="1" dirty="0" smtClean="0"/>
              <a:t>PDC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Need for </a:t>
            </a:r>
            <a:r>
              <a:rPr lang="en-US" sz="3200" b="1" dirty="0" smtClean="0"/>
              <a:t>Parallelism?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Uniprocessors </a:t>
            </a:r>
            <a:r>
              <a:rPr lang="en-US" b="1" dirty="0"/>
              <a:t>cannot provide required performance due to </a:t>
            </a:r>
            <a:r>
              <a:rPr lang="en-US" b="1" dirty="0" smtClean="0"/>
              <a:t>theirs computational limitations 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Moore’s </a:t>
            </a:r>
            <a:r>
              <a:rPr lang="en-US" sz="3200" b="1" dirty="0" smtClean="0"/>
              <a:t>Law - </a:t>
            </a:r>
            <a:r>
              <a:rPr lang="en-US" b="1" dirty="0" smtClean="0"/>
              <a:t>Number </a:t>
            </a:r>
            <a:r>
              <a:rPr lang="en-US" b="1" dirty="0"/>
              <a:t>of transistors </a:t>
            </a:r>
            <a:r>
              <a:rPr lang="en-US" b="1" dirty="0" smtClean="0"/>
              <a:t>double </a:t>
            </a:r>
            <a:r>
              <a:rPr lang="en-US" b="1" dirty="0"/>
              <a:t>every 18 months</a:t>
            </a: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Doubling </a:t>
            </a:r>
            <a:r>
              <a:rPr lang="en-US" b="1" dirty="0"/>
              <a:t>the transistors does doubles the speed? </a:t>
            </a:r>
            <a:endParaRPr lang="en-US" b="1" dirty="0" smtClean="0"/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True </a:t>
            </a:r>
            <a:r>
              <a:rPr lang="en-US" b="1" dirty="0"/>
              <a:t>for single core chip but not for multi-core </a:t>
            </a:r>
            <a:r>
              <a:rPr lang="en-US" b="1" dirty="0" smtClean="0"/>
              <a:t>CPUs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Will </a:t>
            </a:r>
            <a:r>
              <a:rPr lang="en-US" b="1" dirty="0"/>
              <a:t>Moore’s law hold </a:t>
            </a:r>
            <a:r>
              <a:rPr lang="en-US" b="1" dirty="0" smtClean="0"/>
              <a:t>forever?</a:t>
            </a:r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Heat </a:t>
            </a:r>
            <a:r>
              <a:rPr lang="en-US" b="1" dirty="0"/>
              <a:t>issues, synchronization issues, limits of miniaturization of </a:t>
            </a:r>
            <a:r>
              <a:rPr lang="en-US" b="1" dirty="0" smtClean="0"/>
              <a:t>transistors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145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Need </a:t>
            </a:r>
            <a:r>
              <a:rPr lang="en-US" sz="3200" b="1" dirty="0"/>
              <a:t>for Parallel and Distributed </a:t>
            </a:r>
            <a:r>
              <a:rPr lang="en-US" sz="3200" b="1" dirty="0" smtClean="0"/>
              <a:t>Computing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Good </a:t>
            </a:r>
            <a:r>
              <a:rPr lang="en-US" b="1" dirty="0"/>
              <a:t>parallel hardware, system software, sequential algorithms, </a:t>
            </a:r>
            <a:r>
              <a:rPr lang="en-US" b="1" dirty="0" smtClean="0"/>
              <a:t>and parallel algorithms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Parallel </a:t>
            </a:r>
            <a:r>
              <a:rPr lang="en-US" sz="3200" b="1" dirty="0"/>
              <a:t>and Distributed </a:t>
            </a:r>
            <a:r>
              <a:rPr lang="en-US" sz="3200" b="1" dirty="0" smtClean="0"/>
              <a:t>Systems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Hardware </a:t>
            </a:r>
            <a:r>
              <a:rPr lang="en-US" b="1" dirty="0"/>
              <a:t>architecture is </a:t>
            </a:r>
            <a:r>
              <a:rPr lang="en-US" b="1" dirty="0" smtClean="0"/>
              <a:t>important to </a:t>
            </a:r>
            <a:r>
              <a:rPr lang="en-US" b="1" dirty="0"/>
              <a:t>understand how much it is possible to speed up beyond a single </a:t>
            </a:r>
            <a:r>
              <a:rPr lang="en-US" b="1" dirty="0" smtClean="0"/>
              <a:t>CPU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Capability </a:t>
            </a:r>
            <a:r>
              <a:rPr lang="en-US" b="1" dirty="0"/>
              <a:t>of compilers to generate efficient code is important (loop conversion into </a:t>
            </a:r>
            <a:r>
              <a:rPr lang="en-US" b="1" dirty="0" smtClean="0"/>
              <a:t>threads)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Difficult </a:t>
            </a:r>
            <a:r>
              <a:rPr lang="en-US" b="1" dirty="0"/>
              <a:t>to distinguish between HW and SW </a:t>
            </a:r>
            <a:r>
              <a:rPr lang="en-US" b="1" dirty="0" smtClean="0"/>
              <a:t>influences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038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Distributed </a:t>
            </a:r>
            <a:r>
              <a:rPr lang="en-US" sz="3200" b="1" dirty="0"/>
              <a:t>System vs Distributed </a:t>
            </a:r>
            <a:r>
              <a:rPr lang="en-US" sz="3200" b="1" dirty="0" smtClean="0"/>
              <a:t>Computing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Distributed System - Collection </a:t>
            </a:r>
            <a:r>
              <a:rPr lang="en-US" b="1" dirty="0"/>
              <a:t>of autonomous computers, connected through a network and distribution </a:t>
            </a:r>
            <a:r>
              <a:rPr lang="en-US" b="1" dirty="0" smtClean="0"/>
              <a:t>middleware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Distributed Computing - Specific </a:t>
            </a:r>
            <a:r>
              <a:rPr lang="en-US" b="1" dirty="0"/>
              <a:t>use of distributed systems to split a large problem into subparts and execute them in </a:t>
            </a:r>
            <a:r>
              <a:rPr lang="en-US" b="1" dirty="0" smtClean="0"/>
              <a:t>parallel</a:t>
            </a: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Parallel </a:t>
            </a:r>
            <a:r>
              <a:rPr lang="en-US" sz="3200" b="1" dirty="0"/>
              <a:t>Computing vs Distributed </a:t>
            </a:r>
            <a:r>
              <a:rPr lang="en-US" sz="3200" b="1" dirty="0" smtClean="0"/>
              <a:t>Computing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Parallel Computing </a:t>
            </a:r>
            <a:r>
              <a:rPr lang="en-US" b="1" dirty="0"/>
              <a:t>- Developing concurrent </a:t>
            </a:r>
            <a:r>
              <a:rPr lang="en-US" b="1" dirty="0" smtClean="0"/>
              <a:t>solutions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Distributed Computing - </a:t>
            </a:r>
            <a:r>
              <a:rPr lang="en-US" b="1" dirty="0"/>
              <a:t>Autonomous computers on different locations connected via network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9719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Practical </a:t>
            </a:r>
            <a:r>
              <a:rPr lang="en-US" sz="3200" b="1" dirty="0"/>
              <a:t>Applications of P&amp;D </a:t>
            </a:r>
            <a:r>
              <a:rPr lang="en-US" sz="3200" b="1" dirty="0" smtClean="0"/>
              <a:t>Computing</a:t>
            </a: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Scientific Applications - Characterization </a:t>
            </a:r>
            <a:r>
              <a:rPr lang="en-US" b="1" dirty="0"/>
              <a:t>of genes and proteins, astrophysics applications, computational physics and </a:t>
            </a:r>
            <a:r>
              <a:rPr lang="en-US" b="1" dirty="0" smtClean="0"/>
              <a:t>chemistry, weather </a:t>
            </a:r>
            <a:r>
              <a:rPr lang="en-US" b="1" dirty="0"/>
              <a:t>modeling, nuclear physics </a:t>
            </a: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Commercial </a:t>
            </a:r>
            <a:r>
              <a:rPr lang="en-US" b="1" dirty="0"/>
              <a:t>Applications </a:t>
            </a:r>
            <a:r>
              <a:rPr lang="en-US" b="1" dirty="0" smtClean="0"/>
              <a:t>- Processing </a:t>
            </a:r>
            <a:r>
              <a:rPr lang="en-US" b="1" dirty="0"/>
              <a:t>of stock exchanges, banking sector, business analytics, web servers, mail servers, search </a:t>
            </a:r>
            <a:r>
              <a:rPr lang="en-US" b="1" dirty="0" smtClean="0"/>
              <a:t>engines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Computer </a:t>
            </a:r>
            <a:r>
              <a:rPr lang="en-US" b="1" dirty="0"/>
              <a:t>Systems </a:t>
            </a:r>
            <a:r>
              <a:rPr lang="en-US" b="1" dirty="0" smtClean="0"/>
              <a:t>Applications - Network </a:t>
            </a:r>
            <a:r>
              <a:rPr lang="en-US" b="1" dirty="0"/>
              <a:t>intrusion detection, cryptography, graphic processing, embedded </a:t>
            </a:r>
            <a:r>
              <a:rPr lang="en-US" b="1" dirty="0" smtClean="0"/>
              <a:t>systems control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Parallel Computing Constraints / Scalability Issues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Parallel computing requires designing proper communication and synchronization mechanisms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Parallel program must have low coupling and high cohesion 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0093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Amdahl’s Law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Predict </a:t>
            </a:r>
            <a:r>
              <a:rPr lang="en-US" b="1" dirty="0"/>
              <a:t>theoretical speedup when using improved </a:t>
            </a:r>
            <a:r>
              <a:rPr lang="en-US" b="1" dirty="0" smtClean="0"/>
              <a:t>resources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marL="463550" lvl="1" indent="0" algn="just">
              <a:buNone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p</a:t>
            </a:r>
            <a:r>
              <a:rPr lang="en-US" b="1" dirty="0" smtClean="0"/>
              <a:t>: ratio of parallelizable code 		n: number of processors 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Scaling </a:t>
            </a:r>
            <a:r>
              <a:rPr lang="en-US" b="1" dirty="0"/>
              <a:t>falls off as the number of processors increases due </a:t>
            </a:r>
            <a:r>
              <a:rPr lang="en-US" b="1" dirty="0" smtClean="0"/>
              <a:t>to </a:t>
            </a:r>
            <a:r>
              <a:rPr lang="en-US" b="1" dirty="0"/>
              <a:t>synchronization issues and parallel </a:t>
            </a:r>
            <a:r>
              <a:rPr lang="en-US" b="1" dirty="0" smtClean="0"/>
              <a:t>overhead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543" y="2313890"/>
            <a:ext cx="2726872" cy="118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302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1"/>
            <a:ext cx="10515600" cy="435133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Karp-Flatt Metric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Calculate </a:t>
            </a:r>
            <a:r>
              <a:rPr lang="en-US" b="1" dirty="0"/>
              <a:t>serial fraction for a given parallel </a:t>
            </a:r>
            <a:r>
              <a:rPr lang="en-US" b="1" dirty="0" smtClean="0"/>
              <a:t>configuration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Detects </a:t>
            </a:r>
            <a:r>
              <a:rPr lang="en-US" b="1" dirty="0"/>
              <a:t>sources of overhead or inefficiency ignored </a:t>
            </a:r>
            <a:r>
              <a:rPr lang="en-US" b="1" dirty="0" smtClean="0"/>
              <a:t>in the </a:t>
            </a:r>
            <a:r>
              <a:rPr lang="en-US" b="1" dirty="0"/>
              <a:t>speedup </a:t>
            </a:r>
            <a:r>
              <a:rPr lang="en-US" b="1" dirty="0" smtClean="0"/>
              <a:t>model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Process </a:t>
            </a:r>
            <a:r>
              <a:rPr lang="en-US" b="1" dirty="0"/>
              <a:t>startup </a:t>
            </a:r>
            <a:r>
              <a:rPr lang="en-US" b="1" dirty="0" smtClean="0"/>
              <a:t>time, Process </a:t>
            </a:r>
            <a:r>
              <a:rPr lang="en-US" b="1" dirty="0"/>
              <a:t>synchronization </a:t>
            </a:r>
            <a:r>
              <a:rPr lang="en-US" b="1" dirty="0" smtClean="0"/>
              <a:t>time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Imbalanced workload, Architectural overhead</a:t>
            </a:r>
            <a:endParaRPr lang="en-US" sz="3200" b="1" dirty="0"/>
          </a:p>
          <a:p>
            <a:pPr marL="130175" indent="0" algn="just">
              <a:buNone/>
            </a:pPr>
            <a:endParaRPr lang="en-US" sz="3200" b="1" dirty="0" smtClean="0"/>
          </a:p>
          <a:p>
            <a:pPr marL="130175" indent="0" algn="just">
              <a:buNone/>
            </a:pPr>
            <a:endParaRPr lang="en-US" sz="3200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e is </a:t>
            </a:r>
            <a:r>
              <a:rPr lang="en-US" b="1" dirty="0"/>
              <a:t>constant </a:t>
            </a:r>
            <a:r>
              <a:rPr lang="en-US" b="1" dirty="0" smtClean="0"/>
              <a:t>with respect to p </a:t>
            </a:r>
            <a:r>
              <a:rPr lang="en-US" b="1" dirty="0"/>
              <a:t>- parallelization overhead is negligible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	</a:t>
            </a:r>
            <a:r>
              <a:rPr lang="en-US" b="1" dirty="0" smtClean="0"/>
              <a:t>e increases with respect to p - </a:t>
            </a:r>
            <a:r>
              <a:rPr lang="en-US" b="1" dirty="0"/>
              <a:t>parallelization </a:t>
            </a:r>
            <a:r>
              <a:rPr lang="en-US" b="1" dirty="0" smtClean="0"/>
              <a:t>overhead dominates the speedup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Exercises</a:t>
            </a: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Summary (Cont.)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748" y="3300566"/>
            <a:ext cx="2321437" cy="106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8942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Book: Introduction </a:t>
            </a:r>
            <a:r>
              <a:rPr lang="en-US" sz="3200" b="1" dirty="0"/>
              <a:t>to Parallel Computing by </a:t>
            </a:r>
            <a:r>
              <a:rPr lang="en-US" sz="3200" b="1" dirty="0" err="1"/>
              <a:t>Ananth</a:t>
            </a:r>
            <a:r>
              <a:rPr lang="en-US" sz="3200" b="1" dirty="0"/>
              <a:t> </a:t>
            </a:r>
            <a:r>
              <a:rPr lang="en-US" sz="3200" b="1" dirty="0" err="1"/>
              <a:t>Grama</a:t>
            </a:r>
            <a:r>
              <a:rPr lang="en-US" sz="3200" b="1" dirty="0"/>
              <a:t> and </a:t>
            </a:r>
            <a:r>
              <a:rPr lang="en-US" sz="3200" b="1" dirty="0" err="1"/>
              <a:t>Anshul</a:t>
            </a:r>
            <a:r>
              <a:rPr lang="en-US" sz="3200" b="1" dirty="0"/>
              <a:t> Gupta </a:t>
            </a:r>
            <a:endParaRPr lang="en-US" sz="32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smtClean="0"/>
              <a:t>Chapter </a:t>
            </a:r>
            <a:r>
              <a:rPr lang="en-US" b="1" dirty="0" smtClean="0"/>
              <a:t>1: Introduction to Parallel Computing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1.1 Motivating </a:t>
            </a:r>
            <a:r>
              <a:rPr lang="en-US" b="1" dirty="0" smtClean="0"/>
              <a:t>Parallelism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1.2 Scope </a:t>
            </a:r>
            <a:r>
              <a:rPr lang="en-US" b="1" dirty="0"/>
              <a:t>of Parallel </a:t>
            </a:r>
            <a:r>
              <a:rPr lang="en-US" b="1" dirty="0" smtClean="0"/>
              <a:t>Computing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Chapter </a:t>
            </a:r>
            <a:r>
              <a:rPr lang="en-US" b="1" dirty="0"/>
              <a:t>5. Analytical Modeling of Parallel Programs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5.4 </a:t>
            </a:r>
            <a:r>
              <a:rPr lang="en-US" b="1" dirty="0"/>
              <a:t>Scalability of Parallel Systems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endParaRPr lang="en-US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Additional Resources</a:t>
            </a:r>
          </a:p>
        </p:txBody>
      </p:sp>
    </p:spTree>
    <p:extLst>
      <p:ext uri="{BB962C8B-B14F-4D97-AF65-F5344CB8AC3E}">
        <p14:creationId xmlns:p14="http://schemas.microsoft.com/office/powerpoint/2010/main" val="4037472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948278"/>
            <a:ext cx="10515600" cy="894622"/>
          </a:xfrm>
        </p:spPr>
        <p:txBody>
          <a:bodyPr/>
          <a:lstStyle/>
          <a:p>
            <a:pPr algn="ctr"/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22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2079</TotalTime>
  <Words>1878</Words>
  <Application>Microsoft Office PowerPoint</Application>
  <PresentationFormat>Widescreen</PresentationFormat>
  <Paragraphs>261</Paragraphs>
  <Slides>37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Wingdings</vt:lpstr>
      <vt:lpstr>Office Theme</vt:lpstr>
      <vt:lpstr>CS 3006 Parallel and Distributed Computing Lecture 2</vt:lpstr>
      <vt:lpstr>Introduction to Parallel and Distributed Computing, Amdahl's Law and Karp-Flatt Metric</vt:lpstr>
      <vt:lpstr>Outline</vt:lpstr>
      <vt:lpstr>Outline (Cont.)</vt:lpstr>
      <vt:lpstr>Outline (Cont.)</vt:lpstr>
      <vt:lpstr>Motivation for Parallel and Distributed Computing</vt:lpstr>
      <vt:lpstr>Need for Parallelism?</vt:lpstr>
      <vt:lpstr>Moore’s Law</vt:lpstr>
      <vt:lpstr>Moore’s Law (Cont.)</vt:lpstr>
      <vt:lpstr>Need for Parallel and Distributed Computing</vt:lpstr>
      <vt:lpstr>Parallel and Distributed Systems</vt:lpstr>
      <vt:lpstr>Distributed System vs Distributed Computing</vt:lpstr>
      <vt:lpstr>Distributed System vs Distributed Computing (Cont)</vt:lpstr>
      <vt:lpstr>Parallel vs Distributed Computing</vt:lpstr>
      <vt:lpstr>Parallel vs Distributed Computing (Cont.)</vt:lpstr>
      <vt:lpstr>Practical Applications of P&amp;D Computing</vt:lpstr>
      <vt:lpstr>Practical Applications of P&amp;D Computing (Cont.)</vt:lpstr>
      <vt:lpstr>Practical Applications of P&amp;D Computing (Cont.)</vt:lpstr>
      <vt:lpstr>Practical Applications of P&amp;D Computing (Cont.)</vt:lpstr>
      <vt:lpstr>Parallel Computing Constraints / Scalability Issues</vt:lpstr>
      <vt:lpstr>Amdahl’s Law</vt:lpstr>
      <vt:lpstr>Amdahl’s Law (Cont.)</vt:lpstr>
      <vt:lpstr>Amdahl’s Law (Cont.)</vt:lpstr>
      <vt:lpstr>Amdahl’s Law (Cont.)</vt:lpstr>
      <vt:lpstr>Amdahl’s Law (Cont.)</vt:lpstr>
      <vt:lpstr>Karp-Flatt Metric</vt:lpstr>
      <vt:lpstr>Karp-Flatt Metric (Cont.)</vt:lpstr>
      <vt:lpstr>Exercises</vt:lpstr>
      <vt:lpstr>Exercises (Cont.)</vt:lpstr>
      <vt:lpstr>Summary</vt:lpstr>
      <vt:lpstr>Summary (Cont.)</vt:lpstr>
      <vt:lpstr>Summary (Cont.)</vt:lpstr>
      <vt:lpstr>Summary (Cont.)</vt:lpstr>
      <vt:lpstr>Summary (Cont.)</vt:lpstr>
      <vt:lpstr>Summary (Cont.)</vt:lpstr>
      <vt:lpstr>Additional Resources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HP</cp:lastModifiedBy>
  <cp:revision>392</cp:revision>
  <dcterms:created xsi:type="dcterms:W3CDTF">2020-01-18T07:24:00Z</dcterms:created>
  <dcterms:modified xsi:type="dcterms:W3CDTF">2024-01-24T06:30:39Z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DBCDF73CD2C44F1492F6933E9F753A38</vt:lpwstr>
  </property>
  <property fmtid="{D5CDD505-2E9C-101B-9397-08002B2CF9AE}" pid="3" name="KSOProductBuildVer">
    <vt:lpwstr>1033-11.2.0.11380</vt:lpwstr>
  </property>
</Properties>
</file>