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8"/>
  </p:notesMasterIdLst>
  <p:sldIdLst>
    <p:sldId id="1543" r:id="rId2"/>
    <p:sldId id="1450" r:id="rId3"/>
    <p:sldId id="1545" r:id="rId4"/>
    <p:sldId id="1546" r:id="rId5"/>
    <p:sldId id="1532" r:id="rId6"/>
    <p:sldId id="1533" r:id="rId7"/>
    <p:sldId id="1476" r:id="rId8"/>
    <p:sldId id="1534" r:id="rId9"/>
    <p:sldId id="1535" r:id="rId10"/>
    <p:sldId id="1536" r:id="rId11"/>
    <p:sldId id="1537" r:id="rId12"/>
    <p:sldId id="1538" r:id="rId13"/>
    <p:sldId id="1530" r:id="rId14"/>
    <p:sldId id="1488" r:id="rId15"/>
    <p:sldId id="1539" r:id="rId16"/>
    <p:sldId id="1500" r:id="rId17"/>
    <p:sldId id="1525" r:id="rId18"/>
    <p:sldId id="1505" r:id="rId19"/>
    <p:sldId id="1504" r:id="rId20"/>
    <p:sldId id="1506" r:id="rId21"/>
    <p:sldId id="1540" r:id="rId22"/>
    <p:sldId id="1508" r:id="rId23"/>
    <p:sldId id="1509" r:id="rId24"/>
    <p:sldId id="1510" r:id="rId25"/>
    <p:sldId id="1513" r:id="rId26"/>
    <p:sldId id="1528" r:id="rId27"/>
    <p:sldId id="1541" r:id="rId28"/>
    <p:sldId id="1515" r:id="rId29"/>
    <p:sldId id="1542" r:id="rId30"/>
    <p:sldId id="1544" r:id="rId31"/>
    <p:sldId id="1548" r:id="rId32"/>
    <p:sldId id="1547" r:id="rId33"/>
    <p:sldId id="1549" r:id="rId34"/>
    <p:sldId id="1550" r:id="rId35"/>
    <p:sldId id="1531" r:id="rId36"/>
    <p:sldId id="1448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6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8"/>
    <a:srgbClr val="00A800"/>
    <a:srgbClr val="000099"/>
    <a:srgbClr val="00C000"/>
    <a:srgbClr val="3C6CDF"/>
    <a:srgbClr val="9CDFF9"/>
    <a:srgbClr val="B8C2C9"/>
    <a:srgbClr val="D6DCE0"/>
    <a:srgbClr val="0000A3"/>
    <a:srgbClr val="0100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221" autoAdjust="0"/>
    <p:restoredTop sz="88689" autoAdjust="0"/>
  </p:normalViewPr>
  <p:slideViewPr>
    <p:cSldViewPr snapToGrid="0" snapToObjects="1">
      <p:cViewPr varScale="1">
        <p:scale>
          <a:sx n="66" d="100"/>
          <a:sy n="66" d="100"/>
        </p:scale>
        <p:origin x="480" y="66"/>
      </p:cViewPr>
      <p:guideLst>
        <p:guide orient="horz" pos="96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2/12/2024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818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071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140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057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930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150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04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064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015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05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316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8253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3823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3577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8686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6249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above examples, the maximum degree of concurrency = Leaf Nodes =</a:t>
            </a:r>
            <a:r>
              <a:rPr lang="en-US" baseline="0" dirty="0" smtClean="0"/>
              <a:t> </a:t>
            </a:r>
            <a:r>
              <a:rPr lang="en-US" dirty="0" smtClean="0"/>
              <a:t> 8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0606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7568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8126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0945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2967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2436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70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2775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4549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4051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8883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9427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1640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3230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5404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413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CS 3006</a:t>
            </a:r>
            <a:br>
              <a:rPr lang="en-US" sz="4800" dirty="0" smtClean="0"/>
            </a:br>
            <a:r>
              <a:rPr lang="en-US" sz="4800" dirty="0" smtClean="0"/>
              <a:t>Parallel and Distributed Computing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>Lecture </a:t>
            </a:r>
            <a:r>
              <a:rPr lang="en-US" sz="4800" dirty="0" smtClean="0"/>
              <a:t>5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Danyal </a:t>
            </a:r>
            <a:r>
              <a:rPr lang="en-US" sz="3200" b="1" dirty="0" err="1"/>
              <a:t>Farhat</a:t>
            </a:r>
            <a:endParaRPr lang="en-US" sz="3200" b="1" dirty="0"/>
          </a:p>
          <a:p>
            <a:r>
              <a:rPr lang="en-US" sz="3200" b="1" dirty="0"/>
              <a:t>FAST School of Computing</a:t>
            </a:r>
          </a:p>
          <a:p>
            <a:r>
              <a:rPr lang="en-US" sz="3200" b="1" dirty="0" smtClean="0"/>
              <a:t>NUCES </a:t>
            </a:r>
            <a:r>
              <a:rPr lang="en-US" sz="3200" b="1" dirty="0"/>
              <a:t>Lahore</a:t>
            </a:r>
          </a:p>
          <a:p>
            <a:endParaRPr lang="en-US" sz="3200" b="1" dirty="0"/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5353616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52877"/>
            <a:ext cx="9144000" cy="2387600"/>
          </a:xfrm>
        </p:spPr>
        <p:txBody>
          <a:bodyPr>
            <a:noAutofit/>
          </a:bodyPr>
          <a:lstStyle/>
          <a:p>
            <a:pPr lvl="0"/>
            <a:r>
              <a:rPr lang="en-US" sz="4400" dirty="0"/>
              <a:t>Principles of Parallel Algorithm Design, Task Dependency Graphs, Granularity and Concurrency, Task Interaction Graphs</a:t>
            </a:r>
          </a:p>
        </p:txBody>
      </p:sp>
    </p:spTree>
    <p:extLst>
      <p:ext uri="{BB962C8B-B14F-4D97-AF65-F5344CB8AC3E}">
        <p14:creationId xmlns:p14="http://schemas.microsoft.com/office/powerpoint/2010/main" val="4510991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546144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Steps </a:t>
            </a:r>
            <a:r>
              <a:rPr lang="en-US" sz="3200" b="1" dirty="0"/>
              <a:t>in Parallel Algorithm </a:t>
            </a:r>
            <a:r>
              <a:rPr lang="en-US" sz="3200" b="1" dirty="0" smtClean="0"/>
              <a:t>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Parallel </a:t>
            </a:r>
            <a:r>
              <a:rPr lang="en-US" sz="3200" b="1" dirty="0"/>
              <a:t>Computing </a:t>
            </a:r>
            <a:r>
              <a:rPr lang="en-US" sz="3200" b="1" dirty="0" smtClean="0"/>
              <a:t>Example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Task </a:t>
            </a:r>
            <a:r>
              <a:rPr lang="en-US" sz="3200" b="1" dirty="0" smtClean="0"/>
              <a:t>Decomposition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Multiplication of a Dense Matrix with a </a:t>
            </a:r>
            <a:r>
              <a:rPr lang="en-US" sz="3200" b="1" dirty="0" smtClean="0"/>
              <a:t>Vector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Vector </a:t>
            </a:r>
            <a:r>
              <a:rPr lang="en-US" b="1" dirty="0"/>
              <a:t>Multiplication n x </a:t>
            </a:r>
            <a:r>
              <a:rPr lang="en-US" b="1" dirty="0" smtClean="0"/>
              <a:t>1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Matrix </a:t>
            </a:r>
            <a:r>
              <a:rPr lang="en-US" b="1" dirty="0"/>
              <a:t>Multiplication n x n </a:t>
            </a:r>
            <a:endParaRPr lang="en-US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Task Dependency Graph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Example of Task Dependence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Granularity</a:t>
            </a:r>
          </a:p>
          <a:p>
            <a:pPr lvl="1"/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919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546144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Maximum and Average Degree </a:t>
            </a:r>
            <a:r>
              <a:rPr lang="en-US" sz="3200" b="1" dirty="0"/>
              <a:t>of Concurrency 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Critical </a:t>
            </a:r>
            <a:r>
              <a:rPr lang="en-US" sz="3200" b="1" dirty="0"/>
              <a:t>Path and Critical Path </a:t>
            </a:r>
            <a:r>
              <a:rPr lang="en-US" sz="3200" b="1" dirty="0" smtClean="0"/>
              <a:t>Length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Exercise </a:t>
            </a:r>
            <a:r>
              <a:rPr lang="en-US" sz="3200" b="1" dirty="0"/>
              <a:t>– Task Dependence </a:t>
            </a:r>
            <a:r>
              <a:rPr lang="en-US" sz="3200" b="1" dirty="0" smtClean="0"/>
              <a:t>Graph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Task </a:t>
            </a:r>
            <a:r>
              <a:rPr lang="en-US" sz="3200" b="1" dirty="0"/>
              <a:t>Interaction </a:t>
            </a:r>
            <a:r>
              <a:rPr lang="en-US" sz="3200" b="1" dirty="0" smtClean="0"/>
              <a:t>Graph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Processes and </a:t>
            </a:r>
            <a:r>
              <a:rPr lang="en-US" sz="3200" b="1" dirty="0" smtClean="0"/>
              <a:t>Mapping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Processes vs </a:t>
            </a:r>
            <a:r>
              <a:rPr lang="en-US" sz="3200" b="1" dirty="0" smtClean="0"/>
              <a:t>Processors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Summary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Additional Resources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endParaRPr lang="en-US" sz="3200" b="1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Introduction: 1-</a:t>
            </a:r>
            <a:fld id="{C4204591-24BD-A542-B9D5-F8D8A88D2FE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895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274481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Identification: </a:t>
            </a:r>
            <a:r>
              <a:rPr lang="en-US" b="1" dirty="0"/>
              <a:t>Identifying </a:t>
            </a:r>
            <a:r>
              <a:rPr lang="en-US" b="1" dirty="0">
                <a:solidFill>
                  <a:srgbClr val="0000A8"/>
                </a:solidFill>
              </a:rPr>
              <a:t>portions</a:t>
            </a:r>
            <a:r>
              <a:rPr lang="en-US" b="1" dirty="0"/>
              <a:t> of the work that can be performed concurrently.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Work-units are also known as </a:t>
            </a:r>
            <a:r>
              <a:rPr lang="en-US" b="1" dirty="0">
                <a:solidFill>
                  <a:srgbClr val="0000A8"/>
                </a:solidFill>
              </a:rPr>
              <a:t>tasks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E.g., Initializing two mega-arrays are two tasks and can be </a:t>
            </a:r>
            <a:r>
              <a:rPr lang="en-US" b="1" dirty="0">
                <a:solidFill>
                  <a:srgbClr val="0000A8"/>
                </a:solidFill>
              </a:rPr>
              <a:t>performed</a:t>
            </a:r>
            <a:r>
              <a:rPr lang="en-US" b="1" dirty="0"/>
              <a:t> in parallel 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Mapping: </a:t>
            </a:r>
            <a:r>
              <a:rPr lang="en-US" b="1" dirty="0"/>
              <a:t>The process of mapping </a:t>
            </a:r>
            <a:r>
              <a:rPr lang="en-US" b="1" dirty="0">
                <a:solidFill>
                  <a:srgbClr val="0000A8"/>
                </a:solidFill>
              </a:rPr>
              <a:t>concurrent</a:t>
            </a:r>
            <a:r>
              <a:rPr lang="en-US" b="1" dirty="0"/>
              <a:t> pieces of the work or tasks onto multiple processes running in parallel.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Goal: balance load; </a:t>
            </a:r>
            <a:r>
              <a:rPr lang="en-US" b="1" dirty="0">
                <a:solidFill>
                  <a:srgbClr val="0000A8"/>
                </a:solidFill>
              </a:rPr>
              <a:t>maximize</a:t>
            </a:r>
            <a:r>
              <a:rPr lang="en-US" b="1" dirty="0"/>
              <a:t> data locality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Approach: </a:t>
            </a:r>
            <a:r>
              <a:rPr lang="en-US" b="1" dirty="0">
                <a:solidFill>
                  <a:srgbClr val="0000A8"/>
                </a:solidFill>
              </a:rPr>
              <a:t>static vs. dynamic</a:t>
            </a:r>
            <a:r>
              <a:rPr lang="en-US" b="1" dirty="0"/>
              <a:t> task assignment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Process is </a:t>
            </a:r>
            <a:r>
              <a:rPr lang="en-US" b="1" dirty="0">
                <a:solidFill>
                  <a:srgbClr val="0000A8"/>
                </a:solidFill>
              </a:rPr>
              <a:t>logical agent </a:t>
            </a:r>
            <a:r>
              <a:rPr lang="en-US" b="1" dirty="0"/>
              <a:t>for computation over a physical processing element (processor</a:t>
            </a:r>
            <a:r>
              <a:rPr lang="en-US" b="1" dirty="0" smtClean="0"/>
              <a:t>).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Steps in Parallel Algorithm Design</a:t>
            </a:r>
          </a:p>
        </p:txBody>
      </p:sp>
    </p:spTree>
    <p:extLst>
      <p:ext uri="{BB962C8B-B14F-4D97-AF65-F5344CB8AC3E}">
        <p14:creationId xmlns:p14="http://schemas.microsoft.com/office/powerpoint/2010/main" val="18553445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274481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Data Partitioning: </a:t>
            </a:r>
            <a:r>
              <a:rPr lang="en-US" b="1" dirty="0"/>
              <a:t>Distributing the input, output, and intermediate </a:t>
            </a:r>
            <a:r>
              <a:rPr lang="en-US" b="1" dirty="0">
                <a:solidFill>
                  <a:srgbClr val="0000A8"/>
                </a:solidFill>
              </a:rPr>
              <a:t>data</a:t>
            </a:r>
            <a:r>
              <a:rPr lang="en-US" b="1" dirty="0"/>
              <a:t> associated with the program.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One way is to </a:t>
            </a:r>
            <a:r>
              <a:rPr lang="en-US" b="1" dirty="0">
                <a:solidFill>
                  <a:srgbClr val="0000A8"/>
                </a:solidFill>
              </a:rPr>
              <a:t>copy whole data </a:t>
            </a:r>
            <a:r>
              <a:rPr lang="en-US" b="1" dirty="0"/>
              <a:t>at each processing node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/>
              <a:t>Memory challenges for huge-size problems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Other way is to give </a:t>
            </a:r>
            <a:r>
              <a:rPr lang="en-US" b="1" dirty="0">
                <a:solidFill>
                  <a:srgbClr val="0000A8"/>
                </a:solidFill>
              </a:rPr>
              <a:t>fragments of data </a:t>
            </a:r>
            <a:r>
              <a:rPr lang="en-US" b="1" dirty="0"/>
              <a:t>to each processing node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/>
              <a:t>Communication overheads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Defining Access Protocol: </a:t>
            </a:r>
            <a:r>
              <a:rPr lang="en-US" b="1" dirty="0"/>
              <a:t>Managing </a:t>
            </a:r>
            <a:r>
              <a:rPr lang="en-US" b="1" dirty="0">
                <a:solidFill>
                  <a:srgbClr val="0000A8"/>
                </a:solidFill>
              </a:rPr>
              <a:t>accesses to data </a:t>
            </a:r>
            <a:r>
              <a:rPr lang="en-US" b="1" dirty="0"/>
              <a:t>shared by multiple processors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Access protocol that </a:t>
            </a:r>
            <a:r>
              <a:rPr lang="en-US" b="1" dirty="0" smtClean="0">
                <a:solidFill>
                  <a:srgbClr val="0000A8"/>
                </a:solidFill>
              </a:rPr>
              <a:t>manage</a:t>
            </a:r>
            <a:r>
              <a:rPr lang="en-US" b="1" dirty="0" smtClean="0"/>
              <a:t> </a:t>
            </a:r>
            <a:r>
              <a:rPr lang="en-US" b="1" dirty="0"/>
              <a:t>communication and synchronization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Steps in Parallel Algorithm Design (Cont.)</a:t>
            </a:r>
          </a:p>
        </p:txBody>
      </p:sp>
    </p:spTree>
    <p:extLst>
      <p:ext uri="{BB962C8B-B14F-4D97-AF65-F5344CB8AC3E}">
        <p14:creationId xmlns:p14="http://schemas.microsoft.com/office/powerpoint/2010/main" val="38485283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274481"/>
          </a:xfrm>
        </p:spPr>
        <p:txBody>
          <a:bodyPr>
            <a:noAutofit/>
          </a:bodyPr>
          <a:lstStyle/>
          <a:p>
            <a:pPr marL="130175" indent="0" algn="ctr">
              <a:buNone/>
            </a:pPr>
            <a:r>
              <a:rPr lang="en-US" b="1" dirty="0">
                <a:solidFill>
                  <a:srgbClr val="C00000"/>
                </a:solidFill>
              </a:rPr>
              <a:t>Chess Player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</a:t>
            </a:r>
            <a:r>
              <a:rPr lang="en-US" b="1" dirty="0" smtClean="0"/>
              <a:t> </a:t>
            </a:r>
            <a:r>
              <a:rPr lang="en-US" b="1" dirty="0"/>
              <a:t>parallel program to play chess might look at all the </a:t>
            </a:r>
            <a:r>
              <a:rPr lang="en-US" b="1" dirty="0">
                <a:solidFill>
                  <a:srgbClr val="0000A8"/>
                </a:solidFill>
              </a:rPr>
              <a:t>possible first moves</a:t>
            </a:r>
            <a:r>
              <a:rPr lang="en-US" b="1" dirty="0"/>
              <a:t> it could make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E</a:t>
            </a:r>
            <a:r>
              <a:rPr lang="en-US" b="1" dirty="0" smtClean="0"/>
              <a:t>ach </a:t>
            </a:r>
            <a:r>
              <a:rPr lang="en-US" b="1" dirty="0"/>
              <a:t>different first move could be </a:t>
            </a:r>
            <a:r>
              <a:rPr lang="en-US" b="1" dirty="0">
                <a:solidFill>
                  <a:srgbClr val="0000A8"/>
                </a:solidFill>
              </a:rPr>
              <a:t>explored</a:t>
            </a:r>
            <a:r>
              <a:rPr lang="en-US" b="1" dirty="0"/>
              <a:t> by a different processor, to see how the game would continue from that point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R</a:t>
            </a:r>
            <a:r>
              <a:rPr lang="en-US" b="1" dirty="0" smtClean="0"/>
              <a:t>esults </a:t>
            </a:r>
            <a:r>
              <a:rPr lang="en-US" b="1" dirty="0"/>
              <a:t>have to be </a:t>
            </a:r>
            <a:r>
              <a:rPr lang="en-US" b="1" dirty="0">
                <a:solidFill>
                  <a:srgbClr val="0000A8"/>
                </a:solidFill>
              </a:rPr>
              <a:t>combined</a:t>
            </a:r>
            <a:r>
              <a:rPr lang="en-US" b="1" dirty="0"/>
              <a:t> to figure out which is the best first move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F</a:t>
            </a:r>
            <a:r>
              <a:rPr lang="en-US" b="1" dirty="0" smtClean="0"/>
              <a:t>amous </a:t>
            </a:r>
            <a:r>
              <a:rPr lang="en-US" b="1" dirty="0">
                <a:solidFill>
                  <a:srgbClr val="0000A8"/>
                </a:solidFill>
              </a:rPr>
              <a:t>IBM Deep Blue </a:t>
            </a:r>
            <a:r>
              <a:rPr lang="en-US" b="1" dirty="0"/>
              <a:t>machine that beat Kasparov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B</a:t>
            </a:r>
            <a:r>
              <a:rPr lang="en-US" b="1" dirty="0" smtClean="0"/>
              <a:t>rute </a:t>
            </a:r>
            <a:r>
              <a:rPr lang="en-US" b="1" dirty="0"/>
              <a:t>force </a:t>
            </a:r>
            <a:r>
              <a:rPr lang="en-US" b="1" dirty="0">
                <a:solidFill>
                  <a:srgbClr val="0000A8"/>
                </a:solidFill>
              </a:rPr>
              <a:t>computing</a:t>
            </a:r>
            <a:r>
              <a:rPr lang="en-US" b="1" dirty="0"/>
              <a:t> power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M</a:t>
            </a:r>
            <a:r>
              <a:rPr lang="en-US" b="1" dirty="0" smtClean="0"/>
              <a:t>assively </a:t>
            </a:r>
            <a:r>
              <a:rPr lang="en-US" b="1" dirty="0"/>
              <a:t>parallel with </a:t>
            </a:r>
            <a:r>
              <a:rPr lang="en-US" b="1" dirty="0">
                <a:solidFill>
                  <a:srgbClr val="0000A8"/>
                </a:solidFill>
              </a:rPr>
              <a:t>30 nodes</a:t>
            </a:r>
            <a:r>
              <a:rPr lang="en-US" b="1" dirty="0"/>
              <a:t>, with each node containing a 120 MHz P2SC microprocessor 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Parallel </a:t>
            </a:r>
            <a:r>
              <a:rPr lang="en-US" dirty="0" smtClean="0"/>
              <a:t>Computing 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779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274481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Inefficient if many processors are </a:t>
            </a:r>
            <a:r>
              <a:rPr lang="en-US" sz="3200" b="1" dirty="0">
                <a:solidFill>
                  <a:srgbClr val="0000A8"/>
                </a:solidFill>
              </a:rPr>
              <a:t>idle</a:t>
            </a:r>
            <a:r>
              <a:rPr lang="en-US" sz="3200" b="1" dirty="0"/>
              <a:t> while one processor has lots of work to do and slowdown the whole application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Best </a:t>
            </a:r>
            <a:r>
              <a:rPr lang="en-US" sz="3200" b="1" dirty="0">
                <a:solidFill>
                  <a:srgbClr val="0000A8"/>
                </a:solidFill>
              </a:rPr>
              <a:t>utilizations</a:t>
            </a:r>
            <a:r>
              <a:rPr lang="en-US" sz="3200" b="1" dirty="0"/>
              <a:t> of parallel </a:t>
            </a:r>
            <a:r>
              <a:rPr lang="en-US" sz="3200" b="1" dirty="0" smtClean="0"/>
              <a:t>processors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Parallel</a:t>
            </a:r>
            <a:r>
              <a:rPr lang="en-US" sz="3200" b="1" dirty="0"/>
              <a:t> processors are typically </a:t>
            </a:r>
            <a:r>
              <a:rPr lang="en-US" sz="3200" b="1" dirty="0">
                <a:solidFill>
                  <a:srgbClr val="0000A8"/>
                </a:solidFill>
              </a:rPr>
              <a:t>symmetric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For example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Web Servers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Matrix Multiplication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466335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Load Balance</a:t>
            </a:r>
          </a:p>
        </p:txBody>
      </p:sp>
    </p:spTree>
    <p:extLst>
      <p:ext uri="{BB962C8B-B14F-4D97-AF65-F5344CB8AC3E}">
        <p14:creationId xmlns:p14="http://schemas.microsoft.com/office/powerpoint/2010/main" val="660938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274481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200" b="1" dirty="0">
                <a:solidFill>
                  <a:srgbClr val="C00000"/>
                </a:solidFill>
              </a:rPr>
              <a:t>Decomposition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1" dirty="0"/>
              <a:t>“The process of </a:t>
            </a:r>
            <a:r>
              <a:rPr lang="en-US" sz="2600" b="1" dirty="0">
                <a:solidFill>
                  <a:srgbClr val="0000A8"/>
                </a:solidFill>
              </a:rPr>
              <a:t>dividing</a:t>
            </a:r>
            <a:r>
              <a:rPr lang="en-US" sz="2600" b="1" dirty="0"/>
              <a:t> a computation into smaller parts, some or all of which may potentially be executed in parallel.”</a:t>
            </a:r>
          </a:p>
          <a:p>
            <a:pPr marL="130175" indent="0" algn="just">
              <a:buNone/>
            </a:pPr>
            <a:r>
              <a:rPr lang="en-US" sz="3200" b="1" dirty="0">
                <a:solidFill>
                  <a:srgbClr val="C00000"/>
                </a:solidFill>
              </a:rPr>
              <a:t>Tasks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1" dirty="0"/>
              <a:t>Programmer-defined </a:t>
            </a:r>
            <a:r>
              <a:rPr lang="en-US" sz="2600" b="1" dirty="0">
                <a:solidFill>
                  <a:srgbClr val="0000A8"/>
                </a:solidFill>
              </a:rPr>
              <a:t>units of computation </a:t>
            </a:r>
            <a:r>
              <a:rPr lang="en-US" sz="2600" b="1" dirty="0"/>
              <a:t>into which the main computation is subdivided by means of decomposition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1" dirty="0"/>
              <a:t>Tasks can be of </a:t>
            </a:r>
            <a:r>
              <a:rPr lang="en-US" sz="2600" b="1" dirty="0">
                <a:solidFill>
                  <a:srgbClr val="0000A8"/>
                </a:solidFill>
              </a:rPr>
              <a:t>arbitrary size</a:t>
            </a:r>
            <a:r>
              <a:rPr lang="en-US" sz="2600" b="1" dirty="0"/>
              <a:t>, but once defined, they are regarded as indivisible units of </a:t>
            </a:r>
            <a:r>
              <a:rPr lang="en-US" sz="2600" b="1" dirty="0" smtClean="0"/>
              <a:t>computation</a:t>
            </a:r>
            <a:endParaRPr lang="en-US" sz="26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1" dirty="0" smtClean="0"/>
              <a:t>Simultaneous </a:t>
            </a:r>
            <a:r>
              <a:rPr lang="en-US" sz="2600" b="1" dirty="0"/>
              <a:t>execution of multiple tasks is the </a:t>
            </a:r>
            <a:r>
              <a:rPr lang="en-US" sz="2600" b="1" dirty="0">
                <a:solidFill>
                  <a:srgbClr val="0000A8"/>
                </a:solidFill>
              </a:rPr>
              <a:t>key</a:t>
            </a:r>
            <a:r>
              <a:rPr lang="en-US" sz="2600" b="1" dirty="0"/>
              <a:t> to reducing the time required to solve the entire </a:t>
            </a:r>
            <a:r>
              <a:rPr lang="en-US" sz="2600" b="1" dirty="0" smtClean="0"/>
              <a:t>problem</a:t>
            </a:r>
            <a:endParaRPr lang="en-US" sz="26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466335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 smtClean="0"/>
              <a:t>Task</a:t>
            </a:r>
            <a:r>
              <a:rPr lang="en-US" dirty="0" smtClean="0"/>
              <a:t> </a:t>
            </a:r>
            <a:r>
              <a:rPr lang="en-US" dirty="0"/>
              <a:t>Decomposition</a:t>
            </a:r>
          </a:p>
        </p:txBody>
      </p:sp>
    </p:spTree>
    <p:extLst>
      <p:ext uri="{BB962C8B-B14F-4D97-AF65-F5344CB8AC3E}">
        <p14:creationId xmlns:p14="http://schemas.microsoft.com/office/powerpoint/2010/main" val="15731866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274481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130175" indent="0" algn="just">
              <a:buNone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Problem </a:t>
            </a:r>
            <a:r>
              <a:rPr lang="en-US" sz="3200" b="1" dirty="0"/>
              <a:t>can be </a:t>
            </a:r>
            <a:r>
              <a:rPr lang="en-US" sz="3200" b="1" dirty="0">
                <a:solidFill>
                  <a:srgbClr val="0000A8"/>
                </a:solidFill>
              </a:rPr>
              <a:t>decomposed</a:t>
            </a:r>
            <a:r>
              <a:rPr lang="en-US" sz="3200" b="1" dirty="0"/>
              <a:t> into n tasks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Computation of each element of vector y is </a:t>
            </a:r>
            <a:r>
              <a:rPr lang="en-US" sz="3200" b="1" dirty="0">
                <a:solidFill>
                  <a:srgbClr val="0000A8"/>
                </a:solidFill>
              </a:rPr>
              <a:t>independent</a:t>
            </a:r>
            <a:r>
              <a:rPr lang="en-US" sz="3200" b="1" dirty="0"/>
              <a:t> of other elements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No control dependencies so </a:t>
            </a:r>
            <a:r>
              <a:rPr lang="en-US" sz="3200" b="1" dirty="0">
                <a:solidFill>
                  <a:srgbClr val="0000A8"/>
                </a:solidFill>
              </a:rPr>
              <a:t>no task-dependency graph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Multiplication of a D</a:t>
            </a:r>
            <a:r>
              <a:rPr lang="en-US" dirty="0" smtClean="0"/>
              <a:t>ense </a:t>
            </a:r>
            <a:r>
              <a:rPr lang="en-US" dirty="0"/>
              <a:t>M</a:t>
            </a:r>
            <a:r>
              <a:rPr lang="en-US" dirty="0" smtClean="0"/>
              <a:t>atrix </a:t>
            </a:r>
            <a:r>
              <a:rPr lang="en-US" dirty="0"/>
              <a:t>with a </a:t>
            </a:r>
            <a:r>
              <a:rPr lang="en-US" dirty="0" smtClean="0"/>
              <a:t>Vector</a:t>
            </a:r>
            <a:endParaRPr lang="en-US" dirty="0"/>
          </a:p>
        </p:txBody>
      </p:sp>
      <p:pic>
        <p:nvPicPr>
          <p:cNvPr id="4" name="Picture 3" descr="dmv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60259" y="1346443"/>
            <a:ext cx="4462941" cy="3062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638192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Vector Multiplication n x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So the </a:t>
            </a:r>
            <a:r>
              <a:rPr lang="en-US" sz="3200" b="1" dirty="0" smtClean="0"/>
              <a:t>sequential multiplication </a:t>
            </a:r>
            <a:r>
              <a:rPr lang="en-US" sz="3200" b="1" dirty="0">
                <a:solidFill>
                  <a:srgbClr val="0000A8"/>
                </a:solidFill>
              </a:rPr>
              <a:t>program</a:t>
            </a:r>
            <a:r>
              <a:rPr lang="en-US" sz="3200" b="1" dirty="0"/>
              <a:t> like: </a:t>
            </a:r>
            <a:endParaRPr lang="en-US" sz="2400" b="1" dirty="0"/>
          </a:p>
          <a:p>
            <a:pPr marL="130175" indent="0" algn="just">
              <a:buNone/>
            </a:pPr>
            <a:r>
              <a:rPr lang="en-US" sz="2400" b="1" dirty="0"/>
              <a:t>for (row = 0; row &lt; n; row++) </a:t>
            </a:r>
          </a:p>
          <a:p>
            <a:pPr marL="463550" lvl="1" indent="0" algn="just">
              <a:buNone/>
            </a:pPr>
            <a:r>
              <a:rPr lang="en-US" b="1" dirty="0"/>
              <a:t>	y[row] = </a:t>
            </a:r>
            <a:r>
              <a:rPr lang="en-US" b="1" dirty="0" err="1"/>
              <a:t>dot_product</a:t>
            </a:r>
            <a:r>
              <a:rPr lang="en-US" b="1" dirty="0"/>
              <a:t>( </a:t>
            </a:r>
            <a:r>
              <a:rPr lang="en-US" b="1" dirty="0" err="1"/>
              <a:t>get_row</a:t>
            </a:r>
            <a:r>
              <a:rPr lang="en-US" b="1" dirty="0"/>
              <a:t>(A, row), </a:t>
            </a:r>
            <a:r>
              <a:rPr lang="en-US" b="1" dirty="0" err="1"/>
              <a:t>get_col</a:t>
            </a:r>
            <a:r>
              <a:rPr lang="en-US" b="1" dirty="0"/>
              <a:t>(b)); </a:t>
            </a:r>
            <a:r>
              <a:rPr lang="en-US" sz="3200" b="1" dirty="0"/>
              <a:t>	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Can </a:t>
            </a:r>
            <a:r>
              <a:rPr lang="en-US" sz="3200" b="1" dirty="0"/>
              <a:t>be </a:t>
            </a:r>
            <a:r>
              <a:rPr lang="en-US" sz="3200" b="1" dirty="0">
                <a:solidFill>
                  <a:srgbClr val="0000A8"/>
                </a:solidFill>
              </a:rPr>
              <a:t>transformed</a:t>
            </a:r>
            <a:r>
              <a:rPr lang="en-US" sz="3200" b="1" dirty="0"/>
              <a:t> </a:t>
            </a:r>
            <a:r>
              <a:rPr lang="en-US" sz="3200" b="1" dirty="0" smtClean="0"/>
              <a:t>to parallel program: </a:t>
            </a:r>
            <a:r>
              <a:rPr lang="en-US" sz="3200" b="1" dirty="0"/>
              <a:t>	</a:t>
            </a:r>
          </a:p>
          <a:p>
            <a:pPr marL="130175" indent="0" algn="just">
              <a:buNone/>
            </a:pPr>
            <a:r>
              <a:rPr lang="en-US" sz="2400" b="1" dirty="0"/>
              <a:t>for (row = 0; row &lt; n; row++) 		</a:t>
            </a:r>
          </a:p>
          <a:p>
            <a:pPr marL="130175" indent="0" algn="just">
              <a:buNone/>
            </a:pPr>
            <a:r>
              <a:rPr lang="en-US" sz="2400" b="1" dirty="0"/>
              <a:t>	y[row]=   </a:t>
            </a:r>
            <a:r>
              <a:rPr lang="en-US" sz="2400" b="1" dirty="0" err="1"/>
              <a:t>create_thread</a:t>
            </a:r>
            <a:r>
              <a:rPr lang="en-US" sz="2400" b="1" dirty="0"/>
              <a:t> ( </a:t>
            </a:r>
            <a:r>
              <a:rPr lang="en-US" sz="2400" b="1" dirty="0" err="1"/>
              <a:t>dot_product</a:t>
            </a:r>
            <a:r>
              <a:rPr lang="en-US" sz="2400" b="1" dirty="0"/>
              <a:t>(</a:t>
            </a:r>
            <a:r>
              <a:rPr lang="en-US" sz="2400" b="1" dirty="0" err="1"/>
              <a:t>get_row</a:t>
            </a:r>
            <a:r>
              <a:rPr lang="en-US" sz="2400" b="1" dirty="0"/>
              <a:t>(A, row), </a:t>
            </a:r>
            <a:r>
              <a:rPr lang="en-US" sz="2400" b="1" dirty="0" err="1"/>
              <a:t>get_col</a:t>
            </a:r>
            <a:r>
              <a:rPr lang="en-US" sz="2400" b="1" dirty="0"/>
              <a:t>(b))); </a:t>
            </a:r>
          </a:p>
          <a:p>
            <a:pPr marL="130175" indent="0" algn="just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2414487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Matrix Multiplication n x 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2400" b="1" dirty="0" smtClean="0">
                <a:solidFill>
                  <a:srgbClr val="C00000"/>
                </a:solidFill>
              </a:rPr>
              <a:t>Sequential:</a:t>
            </a:r>
            <a:endParaRPr lang="en-US" sz="2400" b="1" dirty="0" smtClean="0"/>
          </a:p>
          <a:p>
            <a:pPr marL="130175" indent="0" algn="just">
              <a:buNone/>
            </a:pPr>
            <a:r>
              <a:rPr lang="en-US" sz="2400" b="1" dirty="0" smtClean="0"/>
              <a:t>for </a:t>
            </a:r>
            <a:r>
              <a:rPr lang="en-US" sz="2400" b="1" dirty="0"/>
              <a:t>(row = 0; row &lt; n; row++) </a:t>
            </a:r>
          </a:p>
          <a:p>
            <a:pPr marL="130175" indent="0" algn="just">
              <a:buNone/>
            </a:pPr>
            <a:r>
              <a:rPr lang="en-US" sz="2400" b="1" dirty="0"/>
              <a:t>	for (column = 0; column &lt; n; column++) 	</a:t>
            </a:r>
          </a:p>
          <a:p>
            <a:pPr marL="130175" indent="0" algn="just">
              <a:buNone/>
            </a:pPr>
            <a:r>
              <a:rPr lang="en-US" sz="2400" b="1" dirty="0"/>
              <a:t>		c[row][column] = </a:t>
            </a:r>
            <a:r>
              <a:rPr lang="en-US" sz="2400" b="1" dirty="0" err="1"/>
              <a:t>dot_product</a:t>
            </a:r>
            <a:r>
              <a:rPr lang="en-US" sz="2400" b="1" dirty="0"/>
              <a:t>( </a:t>
            </a:r>
            <a:r>
              <a:rPr lang="en-US" sz="2400" b="1" dirty="0" err="1"/>
              <a:t>get_row</a:t>
            </a:r>
            <a:r>
              <a:rPr lang="en-US" sz="2400" b="1" dirty="0"/>
              <a:t>(a, row), </a:t>
            </a:r>
            <a:r>
              <a:rPr lang="en-US" sz="2400" b="1" dirty="0" err="1"/>
              <a:t>get_col</a:t>
            </a:r>
            <a:r>
              <a:rPr lang="en-US" sz="2400" b="1" dirty="0"/>
              <a:t>(b, col)); </a:t>
            </a:r>
          </a:p>
          <a:p>
            <a:pPr marL="130175" indent="0" algn="just"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pPr marL="130175" indent="0" algn="just">
              <a:buNone/>
            </a:pPr>
            <a:r>
              <a:rPr lang="en-US" sz="2400" b="1" dirty="0">
                <a:solidFill>
                  <a:srgbClr val="C00000"/>
                </a:solidFill>
              </a:rPr>
              <a:t>Multithreaded: </a:t>
            </a:r>
            <a:r>
              <a:rPr lang="en-US" sz="2400" b="1" dirty="0"/>
              <a:t>	</a:t>
            </a:r>
          </a:p>
          <a:p>
            <a:pPr marL="130175" indent="0" algn="just">
              <a:buNone/>
            </a:pPr>
            <a:r>
              <a:rPr lang="en-US" sz="2400" b="1" dirty="0"/>
              <a:t>for (row = 0; row &lt; n; row++) </a:t>
            </a:r>
          </a:p>
          <a:p>
            <a:pPr marL="130175" indent="0" algn="just">
              <a:buNone/>
            </a:pPr>
            <a:r>
              <a:rPr lang="en-US" sz="2400" b="1" dirty="0"/>
              <a:t>	for (column = 0; column &lt; n; column++) </a:t>
            </a:r>
          </a:p>
          <a:p>
            <a:pPr marL="130175" indent="0" algn="just">
              <a:buNone/>
            </a:pPr>
            <a:r>
              <a:rPr lang="en-US" sz="2400" b="1" dirty="0"/>
              <a:t>		c[row][column] = </a:t>
            </a:r>
            <a:r>
              <a:rPr lang="en-US" sz="2400" b="1" dirty="0" err="1" smtClean="0"/>
              <a:t>create_thread</a:t>
            </a:r>
            <a:r>
              <a:rPr lang="en-US" sz="2400" b="1" dirty="0" smtClean="0"/>
              <a:t>( </a:t>
            </a:r>
            <a:r>
              <a:rPr lang="en-US" sz="2400" b="1" dirty="0" err="1" smtClean="0"/>
              <a:t>dot_product</a:t>
            </a:r>
            <a:r>
              <a:rPr lang="en-US" sz="2400" b="1" dirty="0" smtClean="0"/>
              <a:t>(</a:t>
            </a:r>
            <a:r>
              <a:rPr lang="en-US" sz="2400" b="1" dirty="0" err="1" smtClean="0"/>
              <a:t>get_row</a:t>
            </a:r>
            <a:r>
              <a:rPr lang="en-US" sz="2400" b="1" dirty="0" smtClean="0"/>
              <a:t>(a</a:t>
            </a:r>
            <a:r>
              <a:rPr lang="en-US" sz="2400" b="1" dirty="0"/>
              <a:t>, row),    				</a:t>
            </a:r>
            <a:r>
              <a:rPr lang="en-US" sz="2400" b="1" dirty="0" err="1"/>
              <a:t>get_col</a:t>
            </a:r>
            <a:r>
              <a:rPr lang="en-US" sz="2400" b="1" dirty="0"/>
              <a:t>(b, col)));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476596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The tasks in the previous examples are </a:t>
            </a:r>
            <a:r>
              <a:rPr lang="en-US" sz="3200" b="1" dirty="0">
                <a:solidFill>
                  <a:srgbClr val="0000A8"/>
                </a:solidFill>
              </a:rPr>
              <a:t>independent</a:t>
            </a:r>
            <a:r>
              <a:rPr lang="en-US" sz="3200" b="1" dirty="0"/>
              <a:t> and can be performed in any sequence.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In </a:t>
            </a:r>
            <a:r>
              <a:rPr lang="en-US" sz="3200" b="1" dirty="0"/>
              <a:t>most of the problems, there exist some sort of </a:t>
            </a:r>
            <a:r>
              <a:rPr lang="en-US" sz="3200" b="1" dirty="0">
                <a:solidFill>
                  <a:srgbClr val="0000A8"/>
                </a:solidFill>
              </a:rPr>
              <a:t>dependencies</a:t>
            </a:r>
            <a:r>
              <a:rPr lang="en-US" sz="3200" b="1" dirty="0"/>
              <a:t> between the tasks.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An </a:t>
            </a:r>
            <a:r>
              <a:rPr lang="en-US" sz="3200" b="1" dirty="0">
                <a:solidFill>
                  <a:srgbClr val="0000A8"/>
                </a:solidFill>
              </a:rPr>
              <a:t>abstraction</a:t>
            </a:r>
            <a:r>
              <a:rPr lang="en-US" sz="3200" b="1" dirty="0"/>
              <a:t> used to express such dependencies among tasks and their relative order of execution is known as a </a:t>
            </a:r>
            <a:r>
              <a:rPr lang="en-US" sz="3200" b="1" dirty="0" smtClean="0"/>
              <a:t>task-dependency graph.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Task Dependency </a:t>
            </a:r>
            <a:r>
              <a:rPr lang="en-US" sz="3600" dirty="0"/>
              <a:t>Graph</a:t>
            </a:r>
          </a:p>
        </p:txBody>
      </p:sp>
    </p:spTree>
    <p:extLst>
      <p:ext uri="{BB962C8B-B14F-4D97-AF65-F5344CB8AC3E}">
        <p14:creationId xmlns:p14="http://schemas.microsoft.com/office/powerpoint/2010/main" val="41686861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“It </a:t>
            </a:r>
            <a:r>
              <a:rPr lang="en-US" sz="3200" b="1" dirty="0"/>
              <a:t>is a </a:t>
            </a:r>
            <a:r>
              <a:rPr lang="en-US" sz="3200" b="1" dirty="0">
                <a:solidFill>
                  <a:srgbClr val="0000A8"/>
                </a:solidFill>
              </a:rPr>
              <a:t>directed acyclic graph </a:t>
            </a:r>
            <a:r>
              <a:rPr lang="en-US" sz="3200" b="1" dirty="0"/>
              <a:t>in which node are tasks and the directed edges indicate the dependencies between </a:t>
            </a:r>
            <a:r>
              <a:rPr lang="en-US" sz="3200" b="1" dirty="0" smtClean="0"/>
              <a:t>them”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The </a:t>
            </a:r>
            <a:r>
              <a:rPr lang="en-US" sz="3200" b="1" dirty="0"/>
              <a:t>task corresponding to a node can be executed when all tasks connected to this node by </a:t>
            </a:r>
            <a:r>
              <a:rPr lang="en-US" sz="3200" b="1" dirty="0">
                <a:solidFill>
                  <a:srgbClr val="0000A8"/>
                </a:solidFill>
              </a:rPr>
              <a:t>incoming edges </a:t>
            </a:r>
            <a:r>
              <a:rPr lang="en-US" sz="3200" b="1" dirty="0"/>
              <a:t>have </a:t>
            </a:r>
            <a:r>
              <a:rPr lang="en-US" sz="3200" b="1" dirty="0" smtClean="0"/>
              <a:t>completed</a:t>
            </a:r>
            <a:endParaRPr lang="en-US" sz="3200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Some tasks </a:t>
            </a:r>
            <a:r>
              <a:rPr lang="en-US" b="1" dirty="0">
                <a:solidFill>
                  <a:srgbClr val="0000A8"/>
                </a:solidFill>
              </a:rPr>
              <a:t>may use data </a:t>
            </a:r>
            <a:r>
              <a:rPr lang="en-US" b="1" dirty="0"/>
              <a:t>produced by other tasks and thus may need to wait for these tasks to finish execution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Task Dependency Graph (Cont.)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935132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 of Task Dependence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30175" indent="0" algn="just">
              <a:buNone/>
            </a:pPr>
            <a:endParaRPr lang="en-US" b="1" dirty="0"/>
          </a:p>
          <a:p>
            <a:pPr marL="130175" indent="0" algn="just">
              <a:buNone/>
            </a:pPr>
            <a:endParaRPr lang="en-US" b="1" dirty="0"/>
          </a:p>
          <a:p>
            <a:pPr marL="130175" indent="0" algn="just">
              <a:buNone/>
            </a:pPr>
            <a:endParaRPr lang="en-US" b="1" dirty="0"/>
          </a:p>
          <a:p>
            <a:pPr marL="130175" indent="0" algn="just">
              <a:buNone/>
            </a:pPr>
            <a:endParaRPr lang="en-US" b="1" dirty="0"/>
          </a:p>
          <a:p>
            <a:pPr marL="130175" indent="0" algn="just">
              <a:buNone/>
            </a:pPr>
            <a:endParaRPr lang="en-US" b="1" dirty="0"/>
          </a:p>
          <a:p>
            <a:pPr marL="130175" indent="0" algn="just">
              <a:buNone/>
            </a:pPr>
            <a:endParaRPr lang="en-US" b="1" dirty="0"/>
          </a:p>
          <a:p>
            <a:pPr marL="130175" indent="0" algn="just">
              <a:buNone/>
            </a:pPr>
            <a:r>
              <a:rPr lang="en-US" b="1" dirty="0"/>
              <a:t>Execution of the query:</a:t>
            </a:r>
          </a:p>
          <a:p>
            <a:pPr marL="130175" indent="0" algn="just">
              <a:buNone/>
            </a:pPr>
            <a:r>
              <a:rPr lang="en-US" b="1" dirty="0"/>
              <a:t>	MODEL = “CIVIC” AND YEAR = 2001 AND</a:t>
            </a:r>
          </a:p>
          <a:p>
            <a:pPr marL="130175" indent="0" algn="just">
              <a:buNone/>
            </a:pPr>
            <a:r>
              <a:rPr lang="en-US" b="1" dirty="0"/>
              <a:t>		(COLOR = “GREEN” OR COLOR = “WHITE”)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750" y="1346443"/>
            <a:ext cx="6093165" cy="297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3372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743" y="1346443"/>
            <a:ext cx="5907314" cy="4951039"/>
          </a:xfr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Task Dependency Graph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390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The </a:t>
            </a:r>
            <a:r>
              <a:rPr lang="en-US" sz="3000" b="1" dirty="0">
                <a:solidFill>
                  <a:srgbClr val="0000A8"/>
                </a:solidFill>
              </a:rPr>
              <a:t>number and sizes of tasks </a:t>
            </a:r>
            <a:r>
              <a:rPr lang="en-US" sz="3000" b="1" dirty="0"/>
              <a:t>into which a problem is decomposed determines the granularity of the </a:t>
            </a:r>
            <a:r>
              <a:rPr lang="en-US" sz="3000" b="1" dirty="0" smtClean="0"/>
              <a:t>decomposition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Granularity: roughness (means consisting of small grains or </a:t>
            </a:r>
            <a:r>
              <a:rPr lang="en-US" b="1" dirty="0" smtClean="0"/>
              <a:t>particles)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 </a:t>
            </a:r>
            <a:r>
              <a:rPr lang="en-US" b="1" dirty="0"/>
              <a:t>decomposition into a </a:t>
            </a:r>
            <a:r>
              <a:rPr lang="en-US" b="1" dirty="0">
                <a:solidFill>
                  <a:srgbClr val="0000A8"/>
                </a:solidFill>
              </a:rPr>
              <a:t>large number of small tasks </a:t>
            </a:r>
            <a:r>
              <a:rPr lang="en-US" b="1" dirty="0"/>
              <a:t>is called </a:t>
            </a:r>
            <a:r>
              <a:rPr lang="en-US" b="1" dirty="0" smtClean="0"/>
              <a:t>fine-grained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 </a:t>
            </a:r>
            <a:r>
              <a:rPr lang="en-US" b="1" dirty="0"/>
              <a:t>decomposition into a </a:t>
            </a:r>
            <a:r>
              <a:rPr lang="en-US" b="1" dirty="0">
                <a:solidFill>
                  <a:srgbClr val="0000A8"/>
                </a:solidFill>
              </a:rPr>
              <a:t>small number of large tasks </a:t>
            </a:r>
            <a:r>
              <a:rPr lang="en-US" b="1" dirty="0"/>
              <a:t>is called coarse-grained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For </a:t>
            </a:r>
            <a:r>
              <a:rPr lang="en-US" sz="3000" b="1" dirty="0"/>
              <a:t>matrix-vector multiplication, the decomposition would usually be </a:t>
            </a:r>
            <a:r>
              <a:rPr lang="en-US" sz="3000" b="1" dirty="0">
                <a:solidFill>
                  <a:srgbClr val="0000A8"/>
                </a:solidFill>
              </a:rPr>
              <a:t>considered</a:t>
            </a:r>
            <a:r>
              <a:rPr lang="en-US" sz="3000" b="1" dirty="0"/>
              <a:t> fine-grained, although coarse-grained could also be an option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Granularity</a:t>
            </a:r>
          </a:p>
        </p:txBody>
      </p:sp>
    </p:spTree>
    <p:extLst>
      <p:ext uri="{BB962C8B-B14F-4D97-AF65-F5344CB8AC3E}">
        <p14:creationId xmlns:p14="http://schemas.microsoft.com/office/powerpoint/2010/main" val="12873894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Below </a:t>
            </a:r>
            <a:r>
              <a:rPr lang="en-US" sz="3000" b="1" dirty="0"/>
              <a:t>f</a:t>
            </a:r>
            <a:r>
              <a:rPr lang="en-US" sz="3000" b="1" dirty="0" smtClean="0"/>
              <a:t>igure shows </a:t>
            </a:r>
            <a:r>
              <a:rPr lang="en-US" sz="3000" b="1" dirty="0"/>
              <a:t>a coarse-grained decomposition as each tasks computes </a:t>
            </a:r>
            <a:r>
              <a:rPr lang="en-US" sz="3000" b="1" dirty="0" smtClean="0"/>
              <a:t>n/3 </a:t>
            </a:r>
            <a:r>
              <a:rPr lang="en-US" sz="3000" b="1" dirty="0"/>
              <a:t>of the entries of the output vector of length </a:t>
            </a:r>
            <a:r>
              <a:rPr lang="en-US" sz="3000" b="1" dirty="0" smtClean="0"/>
              <a:t>n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Granularity (Cont.)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285" y="2708868"/>
            <a:ext cx="7082972" cy="363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6753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600" b="1" dirty="0" smtClean="0"/>
              <a:t>“The </a:t>
            </a:r>
            <a:r>
              <a:rPr lang="en-US" sz="2600" b="1" dirty="0"/>
              <a:t>maximum number of tasks that can be executed </a:t>
            </a:r>
            <a:r>
              <a:rPr lang="en-US" sz="2600" b="1" dirty="0">
                <a:solidFill>
                  <a:srgbClr val="0000A8"/>
                </a:solidFill>
              </a:rPr>
              <a:t>simultaneously</a:t>
            </a:r>
            <a:r>
              <a:rPr lang="en-US" sz="2600" b="1" dirty="0"/>
              <a:t> in a parallel program at any given time is known as its maximum degree of </a:t>
            </a:r>
            <a:r>
              <a:rPr lang="en-US" sz="2600" b="1" dirty="0" smtClean="0"/>
              <a:t>concurrency.”</a:t>
            </a:r>
            <a:endParaRPr lang="en-US" sz="26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26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1" dirty="0"/>
              <a:t>Usually, it is always </a:t>
            </a:r>
            <a:r>
              <a:rPr lang="en-US" sz="2600" b="1" dirty="0">
                <a:solidFill>
                  <a:srgbClr val="0000A8"/>
                </a:solidFill>
              </a:rPr>
              <a:t>less than </a:t>
            </a:r>
            <a:r>
              <a:rPr lang="en-US" sz="2600" b="1" dirty="0"/>
              <a:t>total number of tasks due to dependencies.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6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1" dirty="0"/>
              <a:t>E.g., max-degree of </a:t>
            </a:r>
            <a:r>
              <a:rPr lang="en-US" sz="2600" b="1" dirty="0">
                <a:solidFill>
                  <a:srgbClr val="0000A8"/>
                </a:solidFill>
              </a:rPr>
              <a:t>concurrency</a:t>
            </a:r>
            <a:r>
              <a:rPr lang="en-US" sz="2600" b="1" dirty="0"/>
              <a:t> in the task-graphs of Figure 3.3 is 4.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6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1" dirty="0"/>
              <a:t>Rule of thumb: For task-dependency graphs that are trees, the maximum degree of concurrency is always </a:t>
            </a:r>
            <a:r>
              <a:rPr lang="en-US" sz="2600" b="1" dirty="0">
                <a:solidFill>
                  <a:srgbClr val="0000A8"/>
                </a:solidFill>
              </a:rPr>
              <a:t>equal</a:t>
            </a:r>
            <a:r>
              <a:rPr lang="en-US" sz="2600" b="1" dirty="0"/>
              <a:t> to the number of leaves in the tree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6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Maximum Degree of Concurrency </a:t>
            </a:r>
          </a:p>
        </p:txBody>
      </p:sp>
    </p:spTree>
    <p:extLst>
      <p:ext uri="{BB962C8B-B14F-4D97-AF65-F5344CB8AC3E}">
        <p14:creationId xmlns:p14="http://schemas.microsoft.com/office/powerpoint/2010/main" val="17407666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Determine </a:t>
            </a:r>
            <a:r>
              <a:rPr lang="en-US" sz="3200" b="1" dirty="0">
                <a:solidFill>
                  <a:srgbClr val="7030A0"/>
                </a:solidFill>
              </a:rPr>
              <a:t>Maximum Degree </a:t>
            </a:r>
            <a:r>
              <a:rPr lang="en-US" sz="3200" b="1" dirty="0"/>
              <a:t>of Concurrency?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Maximum Degree of Concurrency </a:t>
            </a:r>
            <a:r>
              <a:rPr lang="en-US" dirty="0" smtClean="0"/>
              <a:t>(Cont.)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143" y="2075536"/>
            <a:ext cx="6168571" cy="421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549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R</a:t>
            </a:r>
            <a:r>
              <a:rPr lang="en-US" sz="3000" b="1" dirty="0" smtClean="0"/>
              <a:t>elatively </a:t>
            </a:r>
            <a:r>
              <a:rPr lang="en-US" sz="3000" b="1" dirty="0">
                <a:solidFill>
                  <a:srgbClr val="0000A8"/>
                </a:solidFill>
              </a:rPr>
              <a:t>better measure </a:t>
            </a:r>
            <a:r>
              <a:rPr lang="en-US" sz="3000" b="1" dirty="0" smtClean="0"/>
              <a:t>for </a:t>
            </a:r>
            <a:r>
              <a:rPr lang="en-US" sz="3000" b="1" dirty="0"/>
              <a:t>performance </a:t>
            </a:r>
            <a:r>
              <a:rPr lang="en-US" sz="3000" b="1" dirty="0" smtClean="0"/>
              <a:t>of </a:t>
            </a:r>
            <a:r>
              <a:rPr lang="en-US" sz="3000" b="1" dirty="0"/>
              <a:t>parallel program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“</a:t>
            </a:r>
            <a:r>
              <a:rPr lang="en-US" sz="3000" b="1" dirty="0" smtClean="0"/>
              <a:t>The </a:t>
            </a:r>
            <a:r>
              <a:rPr lang="en-US" sz="3000" b="1" dirty="0">
                <a:solidFill>
                  <a:srgbClr val="0000A8"/>
                </a:solidFill>
              </a:rPr>
              <a:t>average number of tasks </a:t>
            </a:r>
            <a:r>
              <a:rPr lang="en-US" sz="3000" b="1" dirty="0"/>
              <a:t>that can run concurrently over the entire duration of execution of the </a:t>
            </a:r>
            <a:r>
              <a:rPr lang="en-US" sz="3000" b="1" dirty="0" smtClean="0"/>
              <a:t>program”</a:t>
            </a: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The </a:t>
            </a:r>
            <a:r>
              <a:rPr lang="en-US" sz="3000" b="1" dirty="0">
                <a:solidFill>
                  <a:srgbClr val="0000A8"/>
                </a:solidFill>
              </a:rPr>
              <a:t>ratio</a:t>
            </a:r>
            <a:r>
              <a:rPr lang="en-US" sz="3000" b="1" dirty="0"/>
              <a:t> of the total amount of work to the critical-path length</a:t>
            </a:r>
          </a:p>
          <a:p>
            <a:pPr lvl="1" algn="just"/>
            <a:r>
              <a:rPr lang="en-US" sz="2600" b="1" dirty="0"/>
              <a:t>So, what is the critical path in a graph?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Average Degree of Concurrency </a:t>
            </a:r>
          </a:p>
        </p:txBody>
      </p:sp>
    </p:spTree>
    <p:extLst>
      <p:ext uri="{BB962C8B-B14F-4D97-AF65-F5344CB8AC3E}">
        <p14:creationId xmlns:p14="http://schemas.microsoft.com/office/powerpoint/2010/main" val="27149575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C00000"/>
                </a:solidFill>
              </a:rPr>
              <a:t>Critical Path: </a:t>
            </a:r>
            <a:r>
              <a:rPr lang="en-US" sz="3000" b="1" dirty="0"/>
              <a:t>The </a:t>
            </a:r>
            <a:r>
              <a:rPr lang="en-US" sz="3000" b="1" dirty="0">
                <a:solidFill>
                  <a:srgbClr val="0000A8"/>
                </a:solidFill>
              </a:rPr>
              <a:t>longest directed </a:t>
            </a:r>
            <a:r>
              <a:rPr lang="en-US" sz="3000" b="1" dirty="0"/>
              <a:t>path between any pair of start and finish nodes is known as the critical path.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C00000"/>
                </a:solidFill>
              </a:rPr>
              <a:t>Critical Path Length: </a:t>
            </a:r>
            <a:r>
              <a:rPr lang="en-US" sz="3000" b="1" dirty="0"/>
              <a:t>The </a:t>
            </a:r>
            <a:r>
              <a:rPr lang="en-US" sz="3000" b="1" dirty="0">
                <a:solidFill>
                  <a:srgbClr val="0000A8"/>
                </a:solidFill>
              </a:rPr>
              <a:t>sum of the weights </a:t>
            </a:r>
            <a:r>
              <a:rPr lang="en-US" sz="3000" b="1" dirty="0"/>
              <a:t>of nodes along </a:t>
            </a:r>
            <a:r>
              <a:rPr lang="en-US" sz="3000" b="1" dirty="0" smtClean="0"/>
              <a:t>the  critical path</a:t>
            </a:r>
            <a:endParaRPr lang="en-US" sz="3000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/>
              <a:t>W</a:t>
            </a:r>
            <a:r>
              <a:rPr lang="en-US" sz="2600" b="1" dirty="0" smtClean="0"/>
              <a:t>eight </a:t>
            </a:r>
            <a:r>
              <a:rPr lang="en-US" sz="2600" b="1" dirty="0"/>
              <a:t>of a node is </a:t>
            </a:r>
            <a:r>
              <a:rPr lang="en-US" sz="2600" b="1" dirty="0">
                <a:solidFill>
                  <a:srgbClr val="0000A8"/>
                </a:solidFill>
              </a:rPr>
              <a:t>the size or the amount of work </a:t>
            </a:r>
            <a:r>
              <a:rPr lang="en-US" sz="2600" b="1" dirty="0"/>
              <a:t>associated with the corresponding </a:t>
            </a:r>
            <a:r>
              <a:rPr lang="en-US" sz="2600" b="1" dirty="0" smtClean="0"/>
              <a:t>task</a:t>
            </a: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S</a:t>
            </a:r>
            <a:r>
              <a:rPr lang="en-US" sz="3000" b="1" dirty="0" smtClean="0"/>
              <a:t>horter </a:t>
            </a:r>
            <a:r>
              <a:rPr lang="en-US" sz="3000" b="1" dirty="0"/>
              <a:t>critical path </a:t>
            </a:r>
            <a:r>
              <a:rPr lang="en-US" sz="3000" b="1" dirty="0">
                <a:solidFill>
                  <a:srgbClr val="0000A8"/>
                </a:solidFill>
              </a:rPr>
              <a:t>favors</a:t>
            </a:r>
            <a:r>
              <a:rPr lang="en-US" sz="3000" b="1" dirty="0"/>
              <a:t> a higher </a:t>
            </a:r>
            <a:r>
              <a:rPr lang="en-US" sz="3000" b="1" dirty="0" smtClean="0"/>
              <a:t>average degree </a:t>
            </a:r>
            <a:r>
              <a:rPr lang="en-US" sz="3000" b="1" dirty="0"/>
              <a:t>of </a:t>
            </a:r>
            <a:r>
              <a:rPr lang="en-US" sz="3000" b="1" dirty="0" smtClean="0"/>
              <a:t>concurrency</a:t>
            </a: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Both, maximum and average degree of concurrency </a:t>
            </a:r>
            <a:r>
              <a:rPr lang="en-US" sz="3000" b="1" dirty="0">
                <a:solidFill>
                  <a:srgbClr val="0000A8"/>
                </a:solidFill>
              </a:rPr>
              <a:t>increases</a:t>
            </a:r>
            <a:r>
              <a:rPr lang="en-US" sz="3000" b="1" dirty="0"/>
              <a:t> as tasks become smaller(finer)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Critical </a:t>
            </a:r>
            <a:r>
              <a:rPr lang="en-US" dirty="0" smtClean="0"/>
              <a:t>Path and Critical Path Length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9469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Maximum </a:t>
            </a:r>
            <a:r>
              <a:rPr lang="en-US" b="1" dirty="0">
                <a:solidFill>
                  <a:srgbClr val="7030A0"/>
                </a:solidFill>
              </a:rPr>
              <a:t>Degree</a:t>
            </a:r>
            <a:r>
              <a:rPr lang="en-US" b="1" dirty="0"/>
              <a:t> of concurrency: 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Critical path lengths: 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Total amount of work: 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Average degree of concurrency: ?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Exercise – Task Dependence Graph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672" y="1402090"/>
            <a:ext cx="7001425" cy="309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6627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Depicts </a:t>
            </a:r>
            <a:r>
              <a:rPr lang="en-US" sz="3000" b="1" dirty="0">
                <a:solidFill>
                  <a:srgbClr val="0000A8"/>
                </a:solidFill>
              </a:rPr>
              <a:t>pattern of interaction </a:t>
            </a:r>
            <a:r>
              <a:rPr lang="en-US" sz="3000" b="1" dirty="0"/>
              <a:t>between the tasks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Dependency </a:t>
            </a:r>
            <a:r>
              <a:rPr lang="en-US" sz="3000" b="1" dirty="0" smtClean="0"/>
              <a:t>graphs </a:t>
            </a:r>
            <a:r>
              <a:rPr lang="en-US" sz="3000" b="1" dirty="0">
                <a:solidFill>
                  <a:srgbClr val="0000A8"/>
                </a:solidFill>
              </a:rPr>
              <a:t>show</a:t>
            </a:r>
            <a:r>
              <a:rPr lang="en-US" sz="3000" b="1" dirty="0"/>
              <a:t> that how output of first task becomes input to the next level </a:t>
            </a:r>
            <a:r>
              <a:rPr lang="en-US" sz="3000" b="1" dirty="0" smtClean="0"/>
              <a:t>task</a:t>
            </a: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But how the tasks </a:t>
            </a:r>
            <a:r>
              <a:rPr lang="en-US" sz="3000" b="1" dirty="0">
                <a:solidFill>
                  <a:srgbClr val="0000A8"/>
                </a:solidFill>
              </a:rPr>
              <a:t>interact</a:t>
            </a:r>
            <a:r>
              <a:rPr lang="en-US" sz="3000" b="1" dirty="0"/>
              <a:t> with each </a:t>
            </a:r>
            <a:r>
              <a:rPr lang="en-US" sz="3000" b="1" dirty="0" smtClean="0"/>
              <a:t>other to </a:t>
            </a:r>
            <a:r>
              <a:rPr lang="en-US" sz="3000" b="1" dirty="0"/>
              <a:t>access distributed data </a:t>
            </a:r>
            <a:r>
              <a:rPr lang="en-US" sz="3000" b="1" dirty="0" smtClean="0"/>
              <a:t>is </a:t>
            </a:r>
            <a:r>
              <a:rPr lang="en-US" sz="3000" b="1" dirty="0"/>
              <a:t>depicted by task interaction graphs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The nodes in a task-interaction graph </a:t>
            </a:r>
            <a:r>
              <a:rPr lang="en-US" sz="3000" b="1" dirty="0">
                <a:solidFill>
                  <a:srgbClr val="0000A8"/>
                </a:solidFill>
              </a:rPr>
              <a:t>represent</a:t>
            </a:r>
            <a:r>
              <a:rPr lang="en-US" sz="3000" b="1" dirty="0"/>
              <a:t> tasks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The edges </a:t>
            </a:r>
            <a:r>
              <a:rPr lang="en-US" sz="3000" b="1" dirty="0">
                <a:solidFill>
                  <a:srgbClr val="0000A8"/>
                </a:solidFill>
              </a:rPr>
              <a:t>connect</a:t>
            </a:r>
            <a:r>
              <a:rPr lang="en-US" sz="3000" b="1" dirty="0"/>
              <a:t> tasks that interact with each other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Example: Dense </a:t>
            </a:r>
            <a:r>
              <a:rPr lang="en-US" sz="3000" b="1" dirty="0">
                <a:solidFill>
                  <a:srgbClr val="0000A8"/>
                </a:solidFill>
              </a:rPr>
              <a:t>matrix-vector</a:t>
            </a:r>
            <a:r>
              <a:rPr lang="en-US" sz="3000" b="1" dirty="0"/>
              <a:t> multiplication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Interaction Graph</a:t>
            </a:r>
          </a:p>
        </p:txBody>
      </p:sp>
    </p:spTree>
    <p:extLst>
      <p:ext uri="{BB962C8B-B14F-4D97-AF65-F5344CB8AC3E}">
        <p14:creationId xmlns:p14="http://schemas.microsoft.com/office/powerpoint/2010/main" val="5421125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The edges in a task interaction graph are usually </a:t>
            </a:r>
            <a:r>
              <a:rPr lang="en-US" sz="3000" b="1" dirty="0" smtClean="0">
                <a:solidFill>
                  <a:srgbClr val="0000A8"/>
                </a:solidFill>
              </a:rPr>
              <a:t>undirected</a:t>
            </a:r>
            <a:endParaRPr lang="en-US" sz="3000" b="1" dirty="0">
              <a:solidFill>
                <a:srgbClr val="0000A8"/>
              </a:solidFill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 smtClean="0"/>
              <a:t>But </a:t>
            </a:r>
            <a:r>
              <a:rPr lang="en-US" sz="2600" b="1" dirty="0"/>
              <a:t>directed edges can be used to indicate the direction of </a:t>
            </a:r>
            <a:r>
              <a:rPr lang="en-US" sz="2600" b="1" dirty="0">
                <a:solidFill>
                  <a:srgbClr val="0000A8"/>
                </a:solidFill>
              </a:rPr>
              <a:t>flow of data</a:t>
            </a:r>
            <a:r>
              <a:rPr lang="en-US" sz="2600" b="1" dirty="0"/>
              <a:t>, if it is </a:t>
            </a:r>
            <a:r>
              <a:rPr lang="en-US" sz="2600" b="1" dirty="0" smtClean="0"/>
              <a:t>unidirectional</a:t>
            </a:r>
            <a:endParaRPr lang="en-US" sz="26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The edge-set of a task-interaction graph is usually a </a:t>
            </a:r>
            <a:r>
              <a:rPr lang="en-US" sz="3000" b="1" dirty="0">
                <a:solidFill>
                  <a:srgbClr val="0000A8"/>
                </a:solidFill>
              </a:rPr>
              <a:t>superset</a:t>
            </a:r>
            <a:r>
              <a:rPr lang="en-US" sz="3000" b="1" dirty="0"/>
              <a:t> of the edge-set of the task-dependency </a:t>
            </a:r>
            <a:r>
              <a:rPr lang="en-US" sz="3000" b="1" dirty="0" smtClean="0"/>
              <a:t>graph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 smtClean="0"/>
              <a:t>Tasks 1, 2, 3, 4, 5, and 6 interact each other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 smtClean="0"/>
              <a:t>Tasks 4 is dependent on the result of task 2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In database query processing example, the task-interaction graph is the </a:t>
            </a:r>
            <a:r>
              <a:rPr lang="en-US" sz="3000" b="1" dirty="0">
                <a:solidFill>
                  <a:srgbClr val="0000A8"/>
                </a:solidFill>
              </a:rPr>
              <a:t>same</a:t>
            </a:r>
            <a:r>
              <a:rPr lang="en-US" sz="3000" b="1" dirty="0"/>
              <a:t> as the task-dependency graph. 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Interaction </a:t>
            </a:r>
            <a:r>
              <a:rPr lang="en-US" dirty="0" smtClean="0"/>
              <a:t>Graph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5685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71" y="1346711"/>
            <a:ext cx="8694057" cy="4841398"/>
          </a:xfr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Interaction Graph (Cont.)</a:t>
            </a:r>
          </a:p>
        </p:txBody>
      </p:sp>
    </p:spTree>
    <p:extLst>
      <p:ext uri="{BB962C8B-B14F-4D97-AF65-F5344CB8AC3E}">
        <p14:creationId xmlns:p14="http://schemas.microsoft.com/office/powerpoint/2010/main" val="20443459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Logical processing or computing agent that performs tasks is called </a:t>
            </a:r>
            <a:r>
              <a:rPr lang="en-US" sz="3000" b="1" dirty="0" smtClean="0">
                <a:solidFill>
                  <a:srgbClr val="0000A8"/>
                </a:solidFill>
              </a:rPr>
              <a:t>process</a:t>
            </a: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The mechanism by which tasks are assigned to </a:t>
            </a:r>
            <a:r>
              <a:rPr lang="en-US" sz="3000" b="1" dirty="0" smtClean="0"/>
              <a:t>processers </a:t>
            </a:r>
            <a:r>
              <a:rPr lang="en-US" sz="3000" b="1" dirty="0"/>
              <a:t>for execution is called </a:t>
            </a:r>
            <a:r>
              <a:rPr lang="en-US" sz="3000" b="1" dirty="0" smtClean="0">
                <a:solidFill>
                  <a:srgbClr val="0000A8"/>
                </a:solidFill>
              </a:rPr>
              <a:t>mapping</a:t>
            </a: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Multiple tasks can be mapped on a </a:t>
            </a:r>
            <a:r>
              <a:rPr lang="en-US" sz="3000" b="1" dirty="0">
                <a:solidFill>
                  <a:srgbClr val="0000A8"/>
                </a:solidFill>
              </a:rPr>
              <a:t>single</a:t>
            </a:r>
            <a:r>
              <a:rPr lang="en-US" sz="3000" b="1" dirty="0"/>
              <a:t> </a:t>
            </a:r>
            <a:r>
              <a:rPr lang="en-US" sz="3000" b="1" dirty="0" smtClean="0"/>
              <a:t>processor </a:t>
            </a: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Independent task should be mapped onto </a:t>
            </a:r>
            <a:r>
              <a:rPr lang="en-US" sz="3000" b="1" dirty="0">
                <a:solidFill>
                  <a:srgbClr val="0000A8"/>
                </a:solidFill>
              </a:rPr>
              <a:t>different</a:t>
            </a:r>
            <a:r>
              <a:rPr lang="en-US" sz="3000" b="1" dirty="0"/>
              <a:t> </a:t>
            </a:r>
            <a:r>
              <a:rPr lang="en-US" sz="3000" b="1" dirty="0" smtClean="0"/>
              <a:t>processors</a:t>
            </a: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Map tasks with </a:t>
            </a:r>
            <a:r>
              <a:rPr lang="en-US" sz="3000" b="1" dirty="0">
                <a:solidFill>
                  <a:srgbClr val="0000A8"/>
                </a:solidFill>
              </a:rPr>
              <a:t>high mutual-interactions </a:t>
            </a:r>
            <a:r>
              <a:rPr lang="en-US" sz="3000" b="1" dirty="0"/>
              <a:t>onto a single </a:t>
            </a:r>
            <a:r>
              <a:rPr lang="en-US" sz="3000" b="1" dirty="0" smtClean="0"/>
              <a:t>processor  </a:t>
            </a: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A parallel program must have several </a:t>
            </a:r>
            <a:r>
              <a:rPr lang="en-US" sz="3000" b="1" dirty="0" smtClean="0"/>
              <a:t>processors </a:t>
            </a:r>
            <a:r>
              <a:rPr lang="en-US" sz="3000" b="1" dirty="0"/>
              <a:t>active and simultaneously working on different tasks to gain a significant </a:t>
            </a:r>
            <a:r>
              <a:rPr lang="en-US" sz="3000" b="1" dirty="0">
                <a:solidFill>
                  <a:srgbClr val="0000A8"/>
                </a:solidFill>
              </a:rPr>
              <a:t>speedup</a:t>
            </a:r>
            <a:r>
              <a:rPr lang="en-US" sz="3000" b="1" dirty="0"/>
              <a:t> over the sequential </a:t>
            </a:r>
            <a:r>
              <a:rPr lang="en-US" sz="3000" b="1" dirty="0" smtClean="0"/>
              <a:t>program </a:t>
            </a:r>
            <a:endParaRPr lang="en-US" sz="3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Processes and Mapping</a:t>
            </a:r>
          </a:p>
        </p:txBody>
      </p:sp>
    </p:spTree>
    <p:extLst>
      <p:ext uri="{BB962C8B-B14F-4D97-AF65-F5344CB8AC3E}">
        <p14:creationId xmlns:p14="http://schemas.microsoft.com/office/powerpoint/2010/main" val="31045088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Processes and </a:t>
            </a:r>
            <a:r>
              <a:rPr lang="en-US" dirty="0" smtClean="0"/>
              <a:t>Mapping (Cont.)</a:t>
            </a:r>
            <a:endParaRPr lang="en-US" dirty="0"/>
          </a:p>
        </p:txBody>
      </p:sp>
      <p:pic>
        <p:nvPicPr>
          <p:cNvPr id="8" name="Picture 4">
            <a:extLst>
              <a:ext uri="{FF2B5EF4-FFF2-40B4-BE49-F238E27FC236}">
                <a16:creationId xmlns="" xmlns:a16="http://schemas.microsoft.com/office/drawing/2014/main" id="{5F692957-5E38-4CED-879F-1328103CBB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984" y="1401763"/>
            <a:ext cx="9780032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85746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Processes are </a:t>
            </a:r>
            <a:r>
              <a:rPr lang="en-US" sz="3000" b="1" dirty="0">
                <a:solidFill>
                  <a:srgbClr val="0000A8"/>
                </a:solidFill>
              </a:rPr>
              <a:t>logical computing agents </a:t>
            </a:r>
            <a:r>
              <a:rPr lang="en-US" sz="3000" b="1" dirty="0"/>
              <a:t>that perform tasks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Processors are the </a:t>
            </a:r>
            <a:r>
              <a:rPr lang="en-US" sz="3000" b="1" dirty="0">
                <a:solidFill>
                  <a:srgbClr val="0000A8"/>
                </a:solidFill>
              </a:rPr>
              <a:t>hardware units </a:t>
            </a:r>
            <a:r>
              <a:rPr lang="en-US" sz="3000" b="1" dirty="0"/>
              <a:t>that physically perform computations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Depending on the problem, multiple processes can be </a:t>
            </a:r>
            <a:r>
              <a:rPr lang="en-US" sz="3000" b="1" dirty="0">
                <a:solidFill>
                  <a:srgbClr val="0000A8"/>
                </a:solidFill>
              </a:rPr>
              <a:t>mapped</a:t>
            </a:r>
            <a:r>
              <a:rPr lang="en-US" sz="3000" b="1" dirty="0"/>
              <a:t> on a single processor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But, in most of the cases, there is </a:t>
            </a:r>
            <a:r>
              <a:rPr lang="en-US" sz="3000" b="1" dirty="0">
                <a:solidFill>
                  <a:srgbClr val="0000A8"/>
                </a:solidFill>
              </a:rPr>
              <a:t>one-to-one correspondence </a:t>
            </a:r>
            <a:r>
              <a:rPr lang="en-US" sz="3000" b="1" dirty="0"/>
              <a:t>between processors and processes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Processes vs Processors</a:t>
            </a:r>
          </a:p>
        </p:txBody>
      </p:sp>
    </p:spTree>
    <p:extLst>
      <p:ext uri="{BB962C8B-B14F-4D97-AF65-F5344CB8AC3E}">
        <p14:creationId xmlns:p14="http://schemas.microsoft.com/office/powerpoint/2010/main" val="8833231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Steps </a:t>
            </a:r>
            <a:r>
              <a:rPr lang="en-US" sz="3200" b="1" dirty="0"/>
              <a:t>in Parallel Algorithm </a:t>
            </a:r>
            <a:r>
              <a:rPr lang="en-US" sz="3200" b="1" dirty="0" smtClean="0"/>
              <a:t>Design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Identification </a:t>
            </a:r>
            <a:r>
              <a:rPr lang="en-US" b="1" dirty="0"/>
              <a:t>- Identification of parallel portion in the </a:t>
            </a:r>
            <a:r>
              <a:rPr lang="en-US" b="1" dirty="0" smtClean="0"/>
              <a:t>program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Mapping </a:t>
            </a:r>
            <a:r>
              <a:rPr lang="en-US" b="1" dirty="0"/>
              <a:t>- Mapping concurrent tasks onto multiple </a:t>
            </a:r>
            <a:r>
              <a:rPr lang="en-US" b="1" dirty="0" smtClean="0"/>
              <a:t>processers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Data </a:t>
            </a:r>
            <a:r>
              <a:rPr lang="en-US" b="1" dirty="0"/>
              <a:t>Partitioning - Distribution of input, output, </a:t>
            </a:r>
            <a:r>
              <a:rPr lang="en-US" b="1" dirty="0" smtClean="0"/>
              <a:t>and intermediate </a:t>
            </a:r>
            <a:r>
              <a:rPr lang="en-US" b="1" dirty="0"/>
              <a:t>data associated with the </a:t>
            </a:r>
            <a:r>
              <a:rPr lang="en-US" b="1" dirty="0" smtClean="0"/>
              <a:t>program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Defining </a:t>
            </a:r>
            <a:r>
              <a:rPr lang="en-US" b="1" dirty="0"/>
              <a:t>Access Protocol - Managing accesses to data shared by multiple </a:t>
            </a:r>
            <a:r>
              <a:rPr lang="en-US" b="1" dirty="0" smtClean="0"/>
              <a:t>processors</a:t>
            </a: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Parallel Computing </a:t>
            </a:r>
            <a:r>
              <a:rPr lang="en-US" sz="3200" b="1" dirty="0" smtClean="0"/>
              <a:t>Example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IBM </a:t>
            </a:r>
            <a:r>
              <a:rPr lang="en-US" b="1" dirty="0"/>
              <a:t>Deep Blue machine beats Chess World Champion Kasparov using 30 nodes of 120 MHZ </a:t>
            </a:r>
            <a:r>
              <a:rPr lang="en-US" b="1" dirty="0" smtClean="0"/>
              <a:t>microprocessors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Task </a:t>
            </a:r>
            <a:r>
              <a:rPr lang="en-US" sz="3200" b="1" dirty="0" smtClean="0"/>
              <a:t>Decomposition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Dividing of a </a:t>
            </a:r>
            <a:r>
              <a:rPr lang="en-US" b="1" dirty="0"/>
              <a:t>process into multiple tasks that may be arbitrary </a:t>
            </a:r>
            <a:r>
              <a:rPr lang="en-US" b="1" dirty="0" smtClean="0"/>
              <a:t>sizes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5715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Multiplication </a:t>
            </a:r>
            <a:r>
              <a:rPr lang="en-US" sz="3200" b="1" dirty="0"/>
              <a:t>of a Dense Matrix with a </a:t>
            </a:r>
            <a:r>
              <a:rPr lang="en-US" sz="3200" b="1" dirty="0" smtClean="0"/>
              <a:t>Vector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Vector </a:t>
            </a:r>
            <a:r>
              <a:rPr lang="en-US" b="1" dirty="0"/>
              <a:t>Multiplication n x </a:t>
            </a:r>
            <a:r>
              <a:rPr lang="en-US" b="1" dirty="0" smtClean="0"/>
              <a:t>1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Matrix </a:t>
            </a:r>
            <a:r>
              <a:rPr lang="en-US" b="1" dirty="0"/>
              <a:t>Multiplication n x n </a:t>
            </a:r>
            <a:endParaRPr lang="en-US" b="1" dirty="0" smtClean="0"/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Independent </a:t>
            </a:r>
            <a:r>
              <a:rPr lang="en-US" b="1" dirty="0"/>
              <a:t>computation, no task dependency </a:t>
            </a:r>
            <a:r>
              <a:rPr lang="en-US" b="1" dirty="0" smtClean="0"/>
              <a:t>graph</a:t>
            </a:r>
            <a:r>
              <a:rPr lang="en-US" sz="3200" b="1" dirty="0"/>
              <a:t>	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Task Dependency </a:t>
            </a:r>
            <a:r>
              <a:rPr lang="en-US" sz="3200" b="1" dirty="0" smtClean="0"/>
              <a:t>Graph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An </a:t>
            </a:r>
            <a:r>
              <a:rPr lang="en-US" b="1" dirty="0"/>
              <a:t>abstraction used to express dependencies among tasks and their relative order of </a:t>
            </a:r>
            <a:r>
              <a:rPr lang="en-US" b="1" dirty="0" smtClean="0"/>
              <a:t>execution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 </a:t>
            </a:r>
            <a:r>
              <a:rPr lang="en-US" b="1" dirty="0"/>
              <a:t>directed acyclic graph in which node are tasks and the directed edges indicate the dependencies between </a:t>
            </a:r>
            <a:r>
              <a:rPr lang="en-US" b="1" dirty="0" smtClean="0"/>
              <a:t>them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Example of Task </a:t>
            </a:r>
            <a:r>
              <a:rPr lang="en-US" sz="3200" b="1" dirty="0" smtClean="0"/>
              <a:t>Dependence </a:t>
            </a:r>
            <a:endParaRPr lang="en-US" sz="3200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Execution </a:t>
            </a:r>
            <a:r>
              <a:rPr lang="en-US" b="1" dirty="0"/>
              <a:t>of a database </a:t>
            </a:r>
            <a:r>
              <a:rPr lang="en-US" b="1" dirty="0" smtClean="0"/>
              <a:t>query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2115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Granularity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Number </a:t>
            </a:r>
            <a:r>
              <a:rPr lang="en-US" b="1" dirty="0"/>
              <a:t>and sizes of tasks into which a problem is decomposed determines the granularity of the </a:t>
            </a:r>
            <a:r>
              <a:rPr lang="en-US" b="1" dirty="0" smtClean="0"/>
              <a:t>decomposition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A </a:t>
            </a:r>
            <a:r>
              <a:rPr lang="en-US" b="1" dirty="0"/>
              <a:t>decomposition into a large number of small tasks is called </a:t>
            </a:r>
            <a:r>
              <a:rPr lang="en-US" b="1" dirty="0" smtClean="0"/>
              <a:t>fine-grained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A </a:t>
            </a:r>
            <a:r>
              <a:rPr lang="en-US" b="1" dirty="0"/>
              <a:t>decomposition into a small number of large tasks is called </a:t>
            </a:r>
            <a:r>
              <a:rPr lang="en-US" b="1" dirty="0" smtClean="0"/>
              <a:t>coarse-grained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Maximum </a:t>
            </a:r>
            <a:r>
              <a:rPr lang="en-US" sz="3200" b="1" dirty="0"/>
              <a:t>and Average Degree of Concurrency </a:t>
            </a:r>
            <a:endParaRPr lang="en-US" sz="3200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Maximum </a:t>
            </a:r>
            <a:r>
              <a:rPr lang="en-US" b="1" dirty="0"/>
              <a:t>number of tasks that can be executed simultaneously in a parallel program at any given time is known as its maximum degree of </a:t>
            </a:r>
            <a:r>
              <a:rPr lang="en-US" b="1" dirty="0" smtClean="0"/>
              <a:t>concurrency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Average </a:t>
            </a:r>
            <a:r>
              <a:rPr lang="en-US" b="1" dirty="0"/>
              <a:t>number of tasks that can run concurrently over the entire duration of execution of the </a:t>
            </a:r>
            <a:r>
              <a:rPr lang="en-US" b="1" dirty="0" smtClean="0"/>
              <a:t>program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662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Critical </a:t>
            </a:r>
            <a:r>
              <a:rPr lang="en-US" sz="3200" b="1" dirty="0"/>
              <a:t>Path and Critical Path </a:t>
            </a:r>
            <a:r>
              <a:rPr lang="en-US" sz="3200" b="1" dirty="0" smtClean="0"/>
              <a:t>Length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Critical </a:t>
            </a:r>
            <a:r>
              <a:rPr lang="en-US" b="1" dirty="0"/>
              <a:t>Path: The longest directed path between any pair of start and finish nodes. </a:t>
            </a: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Critical </a:t>
            </a:r>
            <a:r>
              <a:rPr lang="en-US" b="1" dirty="0"/>
              <a:t>Path Length: The sum of the weights of nodes along the critical </a:t>
            </a:r>
            <a:r>
              <a:rPr lang="en-US" b="1" dirty="0" smtClean="0"/>
              <a:t>path</a:t>
            </a: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Task </a:t>
            </a:r>
            <a:r>
              <a:rPr lang="en-US" sz="3200" b="1" dirty="0"/>
              <a:t>Interaction </a:t>
            </a:r>
            <a:r>
              <a:rPr lang="en-US" sz="3200" b="1" dirty="0" smtClean="0"/>
              <a:t>Graph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Dependency </a:t>
            </a:r>
            <a:r>
              <a:rPr lang="en-US" b="1" dirty="0"/>
              <a:t>graphs show that how output of first task becomes input to the next level </a:t>
            </a:r>
            <a:r>
              <a:rPr lang="en-US" b="1" dirty="0" smtClean="0"/>
              <a:t>task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But </a:t>
            </a:r>
            <a:r>
              <a:rPr lang="en-US" b="1" dirty="0"/>
              <a:t>how the tasks interact with each other to access distributed data is depicted by task interaction </a:t>
            </a:r>
            <a:r>
              <a:rPr lang="en-US" b="1" dirty="0" smtClean="0"/>
              <a:t>graphs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7343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Processes </a:t>
            </a:r>
            <a:r>
              <a:rPr lang="en-US" sz="3200" b="1" dirty="0"/>
              <a:t>and </a:t>
            </a:r>
            <a:r>
              <a:rPr lang="en-US" sz="3200" b="1" dirty="0" smtClean="0"/>
              <a:t>Mapping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Logical </a:t>
            </a:r>
            <a:r>
              <a:rPr lang="en-US" b="1" dirty="0"/>
              <a:t>processing or computing agent that performs tasks is called </a:t>
            </a:r>
            <a:r>
              <a:rPr lang="en-US" b="1" dirty="0" smtClean="0"/>
              <a:t>process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The </a:t>
            </a:r>
            <a:r>
              <a:rPr lang="en-US" b="1" dirty="0"/>
              <a:t>mechanism by which tasks are assigned to processers for execution is called </a:t>
            </a:r>
            <a:r>
              <a:rPr lang="en-US" b="1" dirty="0" smtClean="0"/>
              <a:t>mapping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Processes vs </a:t>
            </a:r>
            <a:r>
              <a:rPr lang="en-US" sz="3200" b="1" dirty="0" smtClean="0"/>
              <a:t>Processors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Processes </a:t>
            </a:r>
            <a:r>
              <a:rPr lang="en-US" b="1" dirty="0"/>
              <a:t>are logical computing agents that perform </a:t>
            </a:r>
            <a:r>
              <a:rPr lang="en-US" b="1" dirty="0" smtClean="0"/>
              <a:t>tasks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Processors </a:t>
            </a:r>
            <a:r>
              <a:rPr lang="en-US" b="1" dirty="0"/>
              <a:t>are the hardware units that physically perform </a:t>
            </a:r>
            <a:r>
              <a:rPr lang="en-US" b="1" dirty="0" smtClean="0"/>
              <a:t>computations</a:t>
            </a: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Summary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Additional Resources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3282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Book: Introduction </a:t>
            </a:r>
            <a:r>
              <a:rPr lang="en-US" sz="3200" b="1" dirty="0"/>
              <a:t>to Parallel Computing by </a:t>
            </a:r>
            <a:r>
              <a:rPr lang="en-US" sz="3200" b="1" dirty="0" err="1"/>
              <a:t>Ananth</a:t>
            </a:r>
            <a:r>
              <a:rPr lang="en-US" sz="3200" b="1" dirty="0"/>
              <a:t> </a:t>
            </a:r>
            <a:r>
              <a:rPr lang="en-US" sz="3200" b="1" dirty="0" err="1"/>
              <a:t>Grama</a:t>
            </a:r>
            <a:r>
              <a:rPr lang="en-US" sz="3200" b="1" dirty="0"/>
              <a:t> and </a:t>
            </a:r>
            <a:r>
              <a:rPr lang="en-US" sz="3200" b="1" dirty="0" err="1"/>
              <a:t>Anshul</a:t>
            </a:r>
            <a:r>
              <a:rPr lang="en-US" sz="3200" b="1" dirty="0"/>
              <a:t> Gupta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Chapter </a:t>
            </a:r>
            <a:r>
              <a:rPr lang="en-US" b="1" dirty="0"/>
              <a:t>3. Principles of </a:t>
            </a:r>
            <a:r>
              <a:rPr lang="en-US" b="1" dirty="0" smtClean="0"/>
              <a:t>Parallel Algorithm Design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Section 3.1: Preliminaries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Additional Resources</a:t>
            </a:r>
          </a:p>
        </p:txBody>
      </p:sp>
    </p:spTree>
    <p:extLst>
      <p:ext uri="{BB962C8B-B14F-4D97-AF65-F5344CB8AC3E}">
        <p14:creationId xmlns:p14="http://schemas.microsoft.com/office/powerpoint/2010/main" val="11162935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2948278"/>
            <a:ext cx="10515600" cy="894622"/>
          </a:xfrm>
        </p:spPr>
        <p:txBody>
          <a:bodyPr/>
          <a:lstStyle/>
          <a:p>
            <a:pPr algn="ctr"/>
            <a:r>
              <a:rPr lang="en-US" dirty="0" smtClean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22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2254</TotalTime>
  <Words>1683</Words>
  <Application>Microsoft Office PowerPoint</Application>
  <PresentationFormat>Widescreen</PresentationFormat>
  <Paragraphs>276</Paragraphs>
  <Slides>36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Wingdings</vt:lpstr>
      <vt:lpstr>Office Theme</vt:lpstr>
      <vt:lpstr>CS 3006 Parallel and Distributed Computing Lecture 5</vt:lpstr>
      <vt:lpstr>Principles of Parallel Algorithm Design, Task Dependency Graphs, Granularity and Concurrency, Task Interaction Graphs</vt:lpstr>
      <vt:lpstr>Outline</vt:lpstr>
      <vt:lpstr>Outline (Cont.)</vt:lpstr>
      <vt:lpstr>Steps in Parallel Algorithm Design</vt:lpstr>
      <vt:lpstr>Steps in Parallel Algorithm Design (Cont.)</vt:lpstr>
      <vt:lpstr>Parallel Computing Example</vt:lpstr>
      <vt:lpstr>Load Balance</vt:lpstr>
      <vt:lpstr>Task Decomposition</vt:lpstr>
      <vt:lpstr>Multiplication of a Dense Matrix with a Vector</vt:lpstr>
      <vt:lpstr>Vector Multiplication n x 1</vt:lpstr>
      <vt:lpstr>Matrix Multiplication n x n </vt:lpstr>
      <vt:lpstr>Task Dependency Graph</vt:lpstr>
      <vt:lpstr>Task Dependency Graph (Cont.)</vt:lpstr>
      <vt:lpstr>Example of Task Dependence</vt:lpstr>
      <vt:lpstr>Task Dependency Graph (Cont.)</vt:lpstr>
      <vt:lpstr>Granularity</vt:lpstr>
      <vt:lpstr>Granularity (Cont.)</vt:lpstr>
      <vt:lpstr>Maximum Degree of Concurrency </vt:lpstr>
      <vt:lpstr>Maximum Degree of Concurrency (Cont.)</vt:lpstr>
      <vt:lpstr>Average Degree of Concurrency </vt:lpstr>
      <vt:lpstr>Critical Path and Critical Path Length</vt:lpstr>
      <vt:lpstr>Exercise – Task Dependence Graph</vt:lpstr>
      <vt:lpstr>Task Interaction Graph</vt:lpstr>
      <vt:lpstr>Task Interaction Graph (Cont.)</vt:lpstr>
      <vt:lpstr>Task Interaction Graph (Cont.)</vt:lpstr>
      <vt:lpstr>Processes and Mapping</vt:lpstr>
      <vt:lpstr>Processes and Mapping (Cont.)</vt:lpstr>
      <vt:lpstr>Processes vs Processors</vt:lpstr>
      <vt:lpstr>Summary</vt:lpstr>
      <vt:lpstr>Summary (Cont.)</vt:lpstr>
      <vt:lpstr>Summary (Cont.)</vt:lpstr>
      <vt:lpstr>Summary (Cont.)</vt:lpstr>
      <vt:lpstr>Summary (Cont.)</vt:lpstr>
      <vt:lpstr>Additional Resources</vt:lpstr>
      <vt:lpstr>Questions?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HP</cp:lastModifiedBy>
  <cp:revision>421</cp:revision>
  <dcterms:created xsi:type="dcterms:W3CDTF">2020-01-18T07:24:00Z</dcterms:created>
  <dcterms:modified xsi:type="dcterms:W3CDTF">2024-02-12T07:00:46Z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DBCDF73CD2C44F1492F6933E9F753A38</vt:lpwstr>
  </property>
  <property fmtid="{D5CDD505-2E9C-101B-9397-08002B2CF9AE}" pid="3" name="KSOProductBuildVer">
    <vt:lpwstr>1033-11.2.0.11380</vt:lpwstr>
  </property>
</Properties>
</file>