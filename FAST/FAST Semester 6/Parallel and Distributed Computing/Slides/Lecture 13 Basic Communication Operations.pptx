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2"/>
  </p:notesMasterIdLst>
  <p:sldIdLst>
    <p:sldId id="1610" r:id="rId2"/>
    <p:sldId id="1450" r:id="rId3"/>
    <p:sldId id="1533" r:id="rId4"/>
    <p:sldId id="1613" r:id="rId5"/>
    <p:sldId id="1611" r:id="rId6"/>
    <p:sldId id="1569" r:id="rId7"/>
    <p:sldId id="1542" r:id="rId8"/>
    <p:sldId id="1573" r:id="rId9"/>
    <p:sldId id="1540" r:id="rId10"/>
    <p:sldId id="1486" r:id="rId11"/>
    <p:sldId id="1607" r:id="rId12"/>
    <p:sldId id="1544" r:id="rId13"/>
    <p:sldId id="1570" r:id="rId14"/>
    <p:sldId id="1574" r:id="rId15"/>
    <p:sldId id="1575" r:id="rId16"/>
    <p:sldId id="1585" r:id="rId17"/>
    <p:sldId id="1546" r:id="rId18"/>
    <p:sldId id="1576" r:id="rId19"/>
    <p:sldId id="1577" r:id="rId20"/>
    <p:sldId id="1586" r:id="rId21"/>
    <p:sldId id="1548" r:id="rId22"/>
    <p:sldId id="1579" r:id="rId23"/>
    <p:sldId id="1547" r:id="rId24"/>
    <p:sldId id="1587" r:id="rId25"/>
    <p:sldId id="1549" r:id="rId26"/>
    <p:sldId id="1550" r:id="rId27"/>
    <p:sldId id="1580" r:id="rId28"/>
    <p:sldId id="1588" r:id="rId29"/>
    <p:sldId id="1581" r:id="rId30"/>
    <p:sldId id="1571" r:id="rId31"/>
    <p:sldId id="1589" r:id="rId32"/>
    <p:sldId id="1590" r:id="rId33"/>
    <p:sldId id="1608" r:id="rId34"/>
    <p:sldId id="1609" r:id="rId35"/>
    <p:sldId id="1617" r:id="rId36"/>
    <p:sldId id="1594" r:id="rId37"/>
    <p:sldId id="1615" r:id="rId38"/>
    <p:sldId id="1614" r:id="rId39"/>
    <p:sldId id="1612" r:id="rId40"/>
    <p:sldId id="144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00A800"/>
    <a:srgbClr val="000099"/>
    <a:srgbClr val="00C000"/>
    <a:srgbClr val="3C6CDF"/>
    <a:srgbClr val="9CDFF9"/>
    <a:srgbClr val="B8C2C9"/>
    <a:srgbClr val="D6DCE0"/>
    <a:srgbClr val="0000A3"/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33"/>
    <p:restoredTop sz="91921" autoAdjust="0"/>
  </p:normalViewPr>
  <p:slideViewPr>
    <p:cSldViewPr snapToGrid="0" snapToObjects="1">
      <p:cViewPr varScale="1">
        <p:scale>
          <a:sx n="68" d="100"/>
          <a:sy n="68" d="100"/>
        </p:scale>
        <p:origin x="390" y="72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3/18/2024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1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138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40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289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741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 </a:t>
            </a:r>
            <a:r>
              <a:rPr lang="en-US" dirty="0" err="1" smtClean="0"/>
              <a:t>ts</a:t>
            </a:r>
            <a:r>
              <a:rPr lang="en-US" dirty="0" smtClean="0"/>
              <a:t> is</a:t>
            </a:r>
            <a:r>
              <a:rPr lang="en-US" baseline="0" dirty="0" smtClean="0"/>
              <a:t> </a:t>
            </a:r>
            <a:r>
              <a:rPr lang="en-US" dirty="0" smtClean="0"/>
              <a:t>the latency or the startup time for the data transfer and </a:t>
            </a:r>
            <a:r>
              <a:rPr lang="en-US" dirty="0" err="1" smtClean="0"/>
              <a:t>tw</a:t>
            </a:r>
            <a:r>
              <a:rPr lang="en-US" dirty="0" smtClean="0"/>
              <a:t> is the per-word transfer time, which</a:t>
            </a:r>
            <a:r>
              <a:rPr lang="en-US" baseline="0" dirty="0" smtClean="0"/>
              <a:t> </a:t>
            </a:r>
            <a:r>
              <a:rPr lang="en-US" dirty="0" smtClean="0"/>
              <a:t>is inversely proportional to the available bandwidth between the nodes. 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779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6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128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192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574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32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3953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6) id AND mask==0 </a:t>
            </a:r>
            <a:r>
              <a:rPr lang="en-US" dirty="0" smtClean="0">
                <a:sym typeface="Wingdings" panose="05000000000000000000" pitchFamily="2" charset="2"/>
              </a:rPr>
              <a:t> if I will be in communication in this step (if my </a:t>
            </a:r>
            <a:r>
              <a:rPr lang="en-US" dirty="0" err="1" smtClean="0">
                <a:sym typeface="Wingdings" panose="05000000000000000000" pitchFamily="2" charset="2"/>
              </a:rPr>
              <a:t>i</a:t>
            </a:r>
            <a:r>
              <a:rPr lang="en-US" dirty="0" smtClean="0">
                <a:sym typeface="Wingdings" panose="05000000000000000000" pitchFamily="2" charset="2"/>
              </a:rPr>
              <a:t> bits are zero)</a:t>
            </a:r>
          </a:p>
          <a:p>
            <a:r>
              <a:rPr lang="en-US" dirty="0" smtClean="0"/>
              <a:t>7) Id AND 2i ==0  </a:t>
            </a:r>
            <a:r>
              <a:rPr lang="en-US" dirty="0" smtClean="0">
                <a:sym typeface="Wingdings" panose="05000000000000000000" pitchFamily="2" charset="2"/>
              </a:rPr>
              <a:t> if I’m the sender of message (if my i+1th bit is 0)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8) </a:t>
            </a:r>
            <a:r>
              <a:rPr lang="en-US" dirty="0" err="1" smtClean="0">
                <a:sym typeface="Wingdings" panose="05000000000000000000" pitchFamily="2" charset="2"/>
              </a:rPr>
              <a:t>Xoring</a:t>
            </a:r>
            <a:r>
              <a:rPr lang="en-US" dirty="0" smtClean="0">
                <a:sym typeface="Wingdings" panose="05000000000000000000" pitchFamily="2" charset="2"/>
              </a:rPr>
              <a:t> id with 2i gives my partner in </a:t>
            </a:r>
            <a:r>
              <a:rPr lang="en-US" dirty="0" err="1" smtClean="0">
                <a:sym typeface="Wingdings" panose="05000000000000000000" pitchFamily="2" charset="2"/>
              </a:rPr>
              <a:t>ith</a:t>
            </a:r>
            <a:r>
              <a:rPr lang="en-US" dirty="0" smtClean="0">
                <a:sym typeface="Wingdings" panose="05000000000000000000" pitchFamily="2" charset="2"/>
              </a:rPr>
              <a:t> phase of the algorithm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859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source XOR source makes source</a:t>
            </a:r>
            <a:r>
              <a:rPr lang="en-US" dirty="0" smtClean="0">
                <a:sym typeface="Wingdings" panose="05000000000000000000" pitchFamily="2" charset="2"/>
              </a:rPr>
              <a:t> zero and similarly maps other according to the source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091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7013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5191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7694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174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5543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5091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5497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4417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284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CS 3006</a:t>
            </a:r>
            <a:br>
              <a:rPr lang="en-US" sz="4800" dirty="0" smtClean="0"/>
            </a:br>
            <a:r>
              <a:rPr lang="en-US" sz="4800" dirty="0" smtClean="0"/>
              <a:t>Parallel and Distributed Computing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Lecture </a:t>
            </a:r>
            <a:r>
              <a:rPr lang="en-US" sz="4800" dirty="0" smtClean="0"/>
              <a:t>13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Danyal </a:t>
            </a:r>
            <a:r>
              <a:rPr lang="en-US" sz="3200" b="1" dirty="0" err="1"/>
              <a:t>Farhat</a:t>
            </a:r>
            <a:endParaRPr lang="en-US" sz="3200" b="1" dirty="0"/>
          </a:p>
          <a:p>
            <a:r>
              <a:rPr lang="en-US" sz="3200" b="1" dirty="0"/>
              <a:t>FAST School of Computing</a:t>
            </a:r>
          </a:p>
          <a:p>
            <a:r>
              <a:rPr lang="en-US" sz="3200" b="1" dirty="0" smtClean="0"/>
              <a:t>NUCES </a:t>
            </a:r>
            <a:r>
              <a:rPr lang="en-US" sz="3200" b="1" dirty="0"/>
              <a:t>Lahore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4093118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4343" y="2856818"/>
            <a:ext cx="9144000" cy="665163"/>
          </a:xfrm>
        </p:spPr>
        <p:txBody>
          <a:bodyPr>
            <a:noAutofit/>
          </a:bodyPr>
          <a:lstStyle/>
          <a:p>
            <a:pPr lvl="0"/>
            <a:r>
              <a:rPr lang="en-US" sz="4400" dirty="0" smtClean="0"/>
              <a:t>Basic Communication Operations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51099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Basic </a:t>
            </a:r>
            <a:r>
              <a:rPr lang="en-US" sz="3200" b="1" dirty="0"/>
              <a:t>Communication </a:t>
            </a:r>
            <a:r>
              <a:rPr lang="en-US" sz="3200" b="1" dirty="0" smtClean="0"/>
              <a:t>Operations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Preliminaries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Assumptions </a:t>
            </a:r>
            <a:r>
              <a:rPr lang="en-US" b="1" dirty="0"/>
              <a:t>for the </a:t>
            </a:r>
            <a:r>
              <a:rPr lang="en-US" b="1" dirty="0" smtClean="0"/>
              <a:t>Operations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One-to-All </a:t>
            </a:r>
            <a:r>
              <a:rPr lang="en-US" b="1" dirty="0"/>
              <a:t>Broadcast &amp; All-to-One Reduction </a:t>
            </a:r>
            <a:endParaRPr lang="en-US" b="1" dirty="0" smtClean="0"/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Linear </a:t>
            </a:r>
            <a:r>
              <a:rPr lang="en-US" b="1" dirty="0"/>
              <a:t>Array or </a:t>
            </a:r>
            <a:r>
              <a:rPr lang="en-US" b="1" dirty="0" smtClean="0"/>
              <a:t>Ring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Matrix-Vector </a:t>
            </a:r>
            <a:r>
              <a:rPr lang="en-US" b="1" dirty="0"/>
              <a:t>Multiplication (An Application) </a:t>
            </a:r>
            <a:endParaRPr lang="en-US" b="1" dirty="0" smtClean="0"/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Mesh </a:t>
            </a:r>
            <a:r>
              <a:rPr lang="en-US" b="1" dirty="0"/>
              <a:t>Broadcast and </a:t>
            </a:r>
            <a:r>
              <a:rPr lang="en-US" b="1" dirty="0" smtClean="0"/>
              <a:t>Reduction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Balanced </a:t>
            </a:r>
            <a:r>
              <a:rPr lang="en-US" b="1" dirty="0"/>
              <a:t>Binary </a:t>
            </a:r>
            <a:r>
              <a:rPr lang="en-US" b="1" dirty="0" smtClean="0"/>
              <a:t>Tree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Hypercube </a:t>
            </a:r>
            <a:r>
              <a:rPr lang="en-US" b="1" dirty="0"/>
              <a:t>Broadcast (3-D </a:t>
            </a:r>
            <a:r>
              <a:rPr lang="en-US" b="1" dirty="0" smtClean="0"/>
              <a:t>Structure)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Cost Estimation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69512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All-to-All </a:t>
            </a:r>
            <a:r>
              <a:rPr lang="en-US" sz="3200" b="1" dirty="0"/>
              <a:t>Broadcast and All-to-All </a:t>
            </a:r>
            <a:r>
              <a:rPr lang="en-US" sz="3200" b="1" dirty="0" smtClean="0"/>
              <a:t>Reduction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Linear </a:t>
            </a:r>
            <a:r>
              <a:rPr lang="en-US" b="1" dirty="0"/>
              <a:t>Ring </a:t>
            </a:r>
            <a:r>
              <a:rPr lang="en-US" b="1" dirty="0" smtClean="0"/>
              <a:t>Broadcast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Linear </a:t>
            </a:r>
            <a:r>
              <a:rPr lang="en-US" b="1" dirty="0"/>
              <a:t>Ring </a:t>
            </a:r>
            <a:r>
              <a:rPr lang="en-US" b="1" dirty="0" smtClean="0"/>
              <a:t>Reduction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All-to-All </a:t>
            </a:r>
            <a:r>
              <a:rPr lang="en-US" b="1" dirty="0"/>
              <a:t>Broadcast on 2D </a:t>
            </a:r>
            <a:r>
              <a:rPr lang="en-US" b="1" dirty="0" smtClean="0"/>
              <a:t>Mesh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All-to-All </a:t>
            </a:r>
            <a:r>
              <a:rPr lang="en-US" b="1" dirty="0"/>
              <a:t>Broadcast on </a:t>
            </a:r>
            <a:r>
              <a:rPr lang="en-US" b="1" dirty="0" err="1" smtClean="0"/>
              <a:t>HyperCube</a:t>
            </a:r>
            <a:endParaRPr lang="en-US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Cost </a:t>
            </a:r>
            <a:r>
              <a:rPr lang="en-US" b="1" dirty="0"/>
              <a:t>Estimation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Exercise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Summary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Additional Resources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 smtClean="0"/>
          </a:p>
        </p:txBody>
      </p:sp>
    </p:spTree>
    <p:extLst>
      <p:ext uri="{BB962C8B-B14F-4D97-AF65-F5344CB8AC3E}">
        <p14:creationId xmlns:p14="http://schemas.microsoft.com/office/powerpoint/2010/main" val="40763742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Communication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b="1" dirty="0">
                    <a:solidFill>
                      <a:srgbClr val="C00000"/>
                    </a:solidFill>
                  </a:rPr>
                  <a:t>Preliminaries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Exchanging the data is </a:t>
                </a:r>
                <a:r>
                  <a:rPr lang="en-US" b="1" dirty="0">
                    <a:solidFill>
                      <a:srgbClr val="0000A8"/>
                    </a:solidFill>
                  </a:rPr>
                  <a:t>fundamental requirement </a:t>
                </a:r>
                <a:r>
                  <a:rPr lang="en-US" b="1" dirty="0"/>
                  <a:t>for most of the parallel algorithms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en-US" b="1" dirty="0"/>
                  <a:t> - the simplified communication cost model :-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US" b="1" dirty="0"/>
                  <a:t>Over distributed memory infrastructure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US" b="1" dirty="0"/>
                  <a:t>Assuming the </a:t>
                </a:r>
                <a:r>
                  <a:rPr lang="en-US" b="1" dirty="0">
                    <a:solidFill>
                      <a:srgbClr val="0000A8"/>
                    </a:solidFill>
                  </a:rPr>
                  <a:t>cut-through routing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The chapter is about </a:t>
                </a:r>
                <a:r>
                  <a:rPr lang="en-US" b="1" dirty="0">
                    <a:solidFill>
                      <a:srgbClr val="0000A8"/>
                    </a:solidFill>
                  </a:rPr>
                  <a:t>commonly used basic communication patterns</a:t>
                </a:r>
                <a:r>
                  <a:rPr lang="en-US" b="1" dirty="0"/>
                  <a:t> over the different interconnections</a:t>
                </a:r>
              </a:p>
              <a:p>
                <a:pPr lvl="1" algn="just">
                  <a:buFont typeface="Wingdings" panose="05000000000000000000" pitchFamily="2" charset="2"/>
                  <a:buChar char="Ø"/>
                </a:pPr>
                <a:r>
                  <a:rPr lang="en-US" b="1" dirty="0"/>
                  <a:t>We shall drive </a:t>
                </a:r>
                <a:r>
                  <a:rPr lang="en-US" b="1" dirty="0">
                    <a:solidFill>
                      <a:srgbClr val="0000A8"/>
                    </a:solidFill>
                  </a:rPr>
                  <a:t>communication costs </a:t>
                </a:r>
                <a:r>
                  <a:rPr lang="en-US" b="1" dirty="0"/>
                  <a:t>of these operations on different interconnections</a:t>
                </a:r>
                <a:r>
                  <a:rPr lang="en-US" b="1" dirty="0" smtClean="0"/>
                  <a:t>.</a:t>
                </a:r>
                <a:endParaRPr lang="en-US" b="1" dirty="0"/>
              </a:p>
              <a:p>
                <a:pPr lvl="1" algn="just"/>
                <a:endParaRPr lang="en-US" b="1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217" t="-2381" r="-1159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8530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Assumptions for the Operations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Interconnections </a:t>
            </a:r>
            <a:r>
              <a:rPr lang="en-US" b="1" dirty="0">
                <a:solidFill>
                  <a:srgbClr val="0000A8"/>
                </a:solidFill>
              </a:rPr>
              <a:t>support</a:t>
            </a:r>
            <a:r>
              <a:rPr lang="en-US" b="1" dirty="0">
                <a:solidFill>
                  <a:srgbClr val="333399"/>
                </a:solidFill>
              </a:rPr>
              <a:t> </a:t>
            </a:r>
            <a:r>
              <a:rPr lang="en-US" b="1" dirty="0"/>
              <a:t>cut-through routing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Communication </a:t>
            </a:r>
            <a:r>
              <a:rPr lang="en-US" b="1" dirty="0">
                <a:solidFill>
                  <a:srgbClr val="0000A8"/>
                </a:solidFill>
              </a:rPr>
              <a:t>time </a:t>
            </a:r>
            <a:r>
              <a:rPr lang="en-US" b="1" dirty="0"/>
              <a:t>between any pair of nodes in the network is same (regardless of the number of intermediate nodes)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Links are </a:t>
            </a:r>
            <a:r>
              <a:rPr lang="en-US" b="1" dirty="0">
                <a:solidFill>
                  <a:srgbClr val="0000A8"/>
                </a:solidFill>
              </a:rPr>
              <a:t>bi-directional</a:t>
            </a:r>
            <a:r>
              <a:rPr lang="en-US" b="1" dirty="0"/>
              <a:t>	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The directly connected nodes can simultaneously send messages of </a:t>
            </a:r>
            <a:r>
              <a:rPr lang="en-US" b="1" i="1" dirty="0"/>
              <a:t>m words </a:t>
            </a:r>
            <a:r>
              <a:rPr lang="en-US" b="1" dirty="0"/>
              <a:t>without any congestion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A8"/>
                </a:solidFill>
              </a:rPr>
              <a:t>Single-port </a:t>
            </a:r>
            <a:r>
              <a:rPr lang="en-US" b="1" dirty="0"/>
              <a:t>communication model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 node can send on only one of its links at a time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 smtClean="0"/>
              <a:t>A </a:t>
            </a:r>
            <a:r>
              <a:rPr lang="en-US" b="1" dirty="0"/>
              <a:t>node can receive on only one of its links at a time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However, a node can </a:t>
            </a:r>
            <a:r>
              <a:rPr lang="en-US" b="1" dirty="0">
                <a:solidFill>
                  <a:srgbClr val="0000A8"/>
                </a:solidFill>
              </a:rPr>
              <a:t>receive a message </a:t>
            </a:r>
            <a:r>
              <a:rPr lang="en-US" b="1" dirty="0"/>
              <a:t>while sending another message at the same time on the same or a different </a:t>
            </a:r>
            <a:r>
              <a:rPr lang="en-US" b="1" dirty="0" smtClean="0"/>
              <a:t>link</a:t>
            </a:r>
            <a:endParaRPr lang="en-US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Communication </a:t>
            </a:r>
            <a:r>
              <a:rPr lang="en-US" dirty="0" smtClean="0"/>
              <a:t>Operations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2906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One-to-All Broadcast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 single process </a:t>
            </a:r>
            <a:r>
              <a:rPr lang="en-US" b="1" dirty="0">
                <a:solidFill>
                  <a:srgbClr val="0000A8"/>
                </a:solidFill>
              </a:rPr>
              <a:t>sends identical data </a:t>
            </a:r>
            <a:r>
              <a:rPr lang="en-US" b="1" dirty="0"/>
              <a:t>to all other </a:t>
            </a:r>
            <a:r>
              <a:rPr lang="en-US" b="1" dirty="0" smtClean="0"/>
              <a:t>processes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Initially one process has data of </a:t>
            </a:r>
            <a:r>
              <a:rPr lang="en-US" b="1" i="1" dirty="0"/>
              <a:t>m </a:t>
            </a:r>
            <a:r>
              <a:rPr lang="en-US" b="1" dirty="0"/>
              <a:t>size.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After broadcast operation, each of the processes have own copy of the </a:t>
            </a:r>
            <a:r>
              <a:rPr lang="en-US" b="1" i="1" dirty="0"/>
              <a:t>m </a:t>
            </a:r>
            <a:r>
              <a:rPr lang="en-US" b="1" dirty="0"/>
              <a:t>size. </a:t>
            </a:r>
            <a:endParaRPr lang="en-US" b="1" dirty="0" smtClean="0"/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All-to-One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Reduction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Dual </a:t>
            </a:r>
            <a:r>
              <a:rPr lang="en-US" b="1" dirty="0"/>
              <a:t>of  one-to-all broadcast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The m-sized data from all processes are </a:t>
            </a:r>
            <a:r>
              <a:rPr lang="en-US" b="1" dirty="0">
                <a:solidFill>
                  <a:srgbClr val="0000A8"/>
                </a:solidFill>
              </a:rPr>
              <a:t>combined </a:t>
            </a:r>
            <a:r>
              <a:rPr lang="en-US" b="1" dirty="0"/>
              <a:t>through an associative </a:t>
            </a:r>
            <a:r>
              <a:rPr lang="en-US" b="1" dirty="0" smtClean="0"/>
              <a:t>operator, accumulated </a:t>
            </a:r>
            <a:r>
              <a:rPr lang="en-US" b="1" dirty="0"/>
              <a:t>at a </a:t>
            </a:r>
            <a:r>
              <a:rPr lang="en-US" b="1" dirty="0">
                <a:solidFill>
                  <a:srgbClr val="0000A8"/>
                </a:solidFill>
              </a:rPr>
              <a:t>single destination process </a:t>
            </a:r>
            <a:r>
              <a:rPr lang="en-US" b="1" dirty="0"/>
              <a:t>into one buffer of size </a:t>
            </a:r>
            <a:r>
              <a:rPr lang="en-US" b="1" i="1" dirty="0"/>
              <a:t>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Applications: vector-matrix multiplication, shortest paths calculation, and inner vector </a:t>
            </a:r>
            <a:r>
              <a:rPr lang="en-US" b="1" dirty="0" smtClean="0"/>
              <a:t>product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Communication Operations (Cont.)</a:t>
            </a:r>
          </a:p>
        </p:txBody>
      </p:sp>
    </p:spTree>
    <p:extLst>
      <p:ext uri="{BB962C8B-B14F-4D97-AF65-F5344CB8AC3E}">
        <p14:creationId xmlns:p14="http://schemas.microsoft.com/office/powerpoint/2010/main" val="3216600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Communication Operations (Cont.)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85F613EC-BD6C-4AD1-BB31-F6903A9BD8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35960"/>
            <a:ext cx="10515600" cy="2973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97788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Linear Array or Ring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Naïve solution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sequentially </a:t>
            </a:r>
            <a:r>
              <a:rPr lang="en-US" b="1" dirty="0">
                <a:solidFill>
                  <a:srgbClr val="0000A8"/>
                </a:solidFill>
              </a:rPr>
              <a:t>send </a:t>
            </a:r>
            <a:r>
              <a:rPr lang="en-US" b="1" i="1" dirty="0">
                <a:solidFill>
                  <a:srgbClr val="0000A8"/>
                </a:solidFill>
              </a:rPr>
              <a:t>p </a:t>
            </a:r>
            <a:r>
              <a:rPr lang="en-US" b="1" dirty="0">
                <a:solidFill>
                  <a:srgbClr val="0000A8"/>
                </a:solidFill>
              </a:rPr>
              <a:t>- 1 messages </a:t>
            </a:r>
            <a:r>
              <a:rPr lang="en-US" b="1" dirty="0"/>
              <a:t>from the source to the other </a:t>
            </a:r>
            <a:r>
              <a:rPr lang="en-US" b="1" i="1" dirty="0"/>
              <a:t>p </a:t>
            </a:r>
            <a:r>
              <a:rPr lang="en-US" b="1" dirty="0"/>
              <a:t>- 1 processes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Bottlenecks</a:t>
            </a:r>
            <a:r>
              <a:rPr lang="en-US" b="1" dirty="0"/>
              <a:t>, and underutilization of communication network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Solution?</a:t>
            </a:r>
          </a:p>
          <a:p>
            <a:pPr lvl="1" algn="just"/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Recursive doubling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Source process sends the massage to another process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In next communication phase both the processes can </a:t>
            </a:r>
            <a:r>
              <a:rPr lang="en-US" b="1" dirty="0">
                <a:solidFill>
                  <a:srgbClr val="0000A8"/>
                </a:solidFill>
              </a:rPr>
              <a:t>simultaneously propagate </a:t>
            </a:r>
            <a:r>
              <a:rPr lang="en-US" b="1" dirty="0"/>
              <a:t>the message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One-to-All Broadcast and All-to-One Reduction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119727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One-to-All Broadcast and All-to-One </a:t>
            </a:r>
            <a:r>
              <a:rPr lang="en-US" dirty="0" smtClean="0"/>
              <a:t>Reduction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Linear Array or Ring (One Dimensional Structure)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/>
              <a:t>Recursive Doubling Broadcast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 smtClean="0"/>
              <a:t>Select destination such that no congestions occur 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 smtClean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73C36BBA-28F8-48B7-A351-202D86B4D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064" y="2838694"/>
            <a:ext cx="7595672" cy="4019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56616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One-to-All Broadcast and All-to-One </a:t>
            </a:r>
            <a:r>
              <a:rPr lang="en-US" dirty="0" smtClean="0"/>
              <a:t>Reduction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Linear Array or Ring (One Dimensional Structure)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Recursive Doubling Reduction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 dirty="0"/>
              <a:t>Odd will send message to even and associative operator will combine the results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3EE803-1E81-47C0-9BEF-45BEDDFC5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351" y="2856317"/>
            <a:ext cx="7292811" cy="3857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23492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Matrix-Vector Multiplication (An Application) 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EB8B9380-AEE8-4BB7-9861-7DA30886A0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604" y="1763378"/>
            <a:ext cx="5914791" cy="4318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45296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We can regard each row and column of a square mesh of </a:t>
            </a:r>
            <a:r>
              <a:rPr lang="en-US" b="1" i="1" dirty="0"/>
              <a:t>p </a:t>
            </a:r>
            <a:r>
              <a:rPr lang="en-US" b="1" dirty="0"/>
              <a:t>nodes as a </a:t>
            </a:r>
            <a:r>
              <a:rPr lang="en-US" b="1" dirty="0">
                <a:solidFill>
                  <a:srgbClr val="0000A8"/>
                </a:solidFill>
              </a:rPr>
              <a:t>linear array</a:t>
            </a:r>
            <a:r>
              <a:rPr lang="en-US" b="1" dirty="0">
                <a:solidFill>
                  <a:srgbClr val="333399"/>
                </a:solidFill>
              </a:rPr>
              <a:t> </a:t>
            </a:r>
            <a:r>
              <a:rPr lang="en-US" b="1" dirty="0"/>
              <a:t>of nodes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Communication algorithms on the mesh are simple </a:t>
            </a:r>
            <a:r>
              <a:rPr lang="en-US" b="1" dirty="0">
                <a:solidFill>
                  <a:srgbClr val="0000A8"/>
                </a:solidFill>
              </a:rPr>
              <a:t>extensions </a:t>
            </a:r>
            <a:r>
              <a:rPr lang="en-US" b="1" dirty="0"/>
              <a:t>of their linear array counterparts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Broadcast and Reduction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Two step breakdown:</a:t>
            </a:r>
          </a:p>
          <a:p>
            <a:pPr marL="1314450" lvl="2" indent="-457200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The operation is performed along one by treating the </a:t>
            </a:r>
            <a:r>
              <a:rPr lang="en-US" b="1" dirty="0">
                <a:solidFill>
                  <a:srgbClr val="0000A8"/>
                </a:solidFill>
              </a:rPr>
              <a:t>row as linear array</a:t>
            </a:r>
          </a:p>
          <a:p>
            <a:pPr marL="1371600" lvl="2" indent="-514350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/>
              <a:t>Then the all the </a:t>
            </a:r>
            <a:r>
              <a:rPr lang="en-US" b="1" dirty="0">
                <a:solidFill>
                  <a:srgbClr val="0000A8"/>
                </a:solidFill>
              </a:rPr>
              <a:t>columns</a:t>
            </a:r>
            <a:r>
              <a:rPr lang="en-US" b="1" dirty="0">
                <a:solidFill>
                  <a:srgbClr val="333399"/>
                </a:solidFill>
              </a:rPr>
              <a:t> </a:t>
            </a:r>
            <a:r>
              <a:rPr lang="en-US" b="1" dirty="0"/>
              <a:t>are treated similarly</a:t>
            </a:r>
          </a:p>
          <a:p>
            <a:pPr lvl="1" algn="just">
              <a:buFont typeface="Wingdings" panose="05000000000000000000" pitchFamily="2" charset="2"/>
              <a:buChar char="ü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Mesh Broadcast and Reduction</a:t>
            </a:r>
          </a:p>
        </p:txBody>
      </p:sp>
    </p:spTree>
    <p:extLst>
      <p:ext uri="{BB962C8B-B14F-4D97-AF65-F5344CB8AC3E}">
        <p14:creationId xmlns:p14="http://schemas.microsoft.com/office/powerpoint/2010/main" val="8029871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Mesh Broadcast and </a:t>
            </a:r>
            <a:r>
              <a:rPr lang="en-US" dirty="0" smtClean="0">
                <a:solidFill>
                  <a:srgbClr val="7030A0"/>
                </a:solidFill>
              </a:rPr>
              <a:t>Reduction (Cont.)</a:t>
            </a:r>
            <a:endParaRPr lang="en-US" dirty="0">
              <a:solidFill>
                <a:srgbClr val="7030A0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CDBBE6FF-093A-4055-85F3-30C253C1E7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104" y="1401763"/>
            <a:ext cx="4751791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09819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Balanced 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Broadcast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2B444FB-64DF-4B0C-BCBE-DB8F766BC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556" y="2249484"/>
            <a:ext cx="8226425" cy="431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1051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466335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Hypercube Broadcast (3-D Structure)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algn="just"/>
            <a:r>
              <a:rPr lang="en-US" sz="3200" b="1" dirty="0"/>
              <a:t>Source node first </a:t>
            </a:r>
            <a:r>
              <a:rPr lang="en-US" sz="3200" b="1" dirty="0">
                <a:solidFill>
                  <a:srgbClr val="0000A8"/>
                </a:solidFill>
              </a:rPr>
              <a:t>send data </a:t>
            </a:r>
            <a:r>
              <a:rPr lang="en-US" sz="3200" b="1" dirty="0"/>
              <a:t>to one node in the </a:t>
            </a:r>
            <a:r>
              <a:rPr lang="en-US" sz="3200" b="1" dirty="0">
                <a:solidFill>
                  <a:srgbClr val="0000A8"/>
                </a:solidFill>
              </a:rPr>
              <a:t>highest </a:t>
            </a:r>
            <a:r>
              <a:rPr lang="en-US" sz="3200" b="1" dirty="0" smtClean="0"/>
              <a:t>dimension</a:t>
            </a:r>
            <a:endParaRPr lang="en-US" sz="3200" b="1" dirty="0"/>
          </a:p>
          <a:p>
            <a:pPr lvl="1" algn="just"/>
            <a:r>
              <a:rPr lang="en-US" sz="3200" b="1" dirty="0"/>
              <a:t>The communication successively proceeds along </a:t>
            </a:r>
            <a:r>
              <a:rPr lang="en-US" sz="3200" b="1" dirty="0">
                <a:solidFill>
                  <a:srgbClr val="0000A8"/>
                </a:solidFill>
              </a:rPr>
              <a:t>lower dimensions</a:t>
            </a:r>
            <a:r>
              <a:rPr lang="en-US" sz="3200" b="1" dirty="0">
                <a:solidFill>
                  <a:srgbClr val="333399"/>
                </a:solidFill>
              </a:rPr>
              <a:t> </a:t>
            </a:r>
            <a:r>
              <a:rPr lang="en-US" sz="3200" b="1" dirty="0"/>
              <a:t>in the subsequent </a:t>
            </a:r>
            <a:r>
              <a:rPr lang="en-US" sz="3200" b="1" dirty="0" smtClean="0"/>
              <a:t>steps</a:t>
            </a:r>
            <a:endParaRPr lang="en-US" sz="3200" b="1" dirty="0"/>
          </a:p>
          <a:p>
            <a:pPr lvl="1" algn="just"/>
            <a:r>
              <a:rPr lang="en-US" sz="3200" b="1" dirty="0"/>
              <a:t>The </a:t>
            </a:r>
            <a:r>
              <a:rPr lang="en-US" sz="3200" b="1" dirty="0">
                <a:solidFill>
                  <a:srgbClr val="0000A8"/>
                </a:solidFill>
              </a:rPr>
              <a:t>algorithm is same </a:t>
            </a:r>
            <a:r>
              <a:rPr lang="en-US" sz="3200" b="1" dirty="0"/>
              <a:t>as used for linear array</a:t>
            </a:r>
          </a:p>
          <a:p>
            <a:pPr lvl="2" algn="just">
              <a:buClr>
                <a:srgbClr val="0000A8"/>
              </a:buClr>
              <a:buFont typeface="Wingdings" panose="05000000000000000000" pitchFamily="2" charset="2"/>
              <a:buChar char="Ø"/>
            </a:pPr>
            <a:r>
              <a:rPr lang="en-US" sz="2400" b="1" dirty="0"/>
              <a:t>But, here changing order of dimension does not congest the network</a:t>
            </a:r>
          </a:p>
          <a:p>
            <a:pPr lvl="3" algn="just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sz="2000" b="1" dirty="0"/>
              <a:t>i.e. can move from x-axis to z-axis or from z-axis to x-axis</a:t>
            </a:r>
          </a:p>
          <a:p>
            <a:pPr lvl="2" algn="just"/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802602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Hypercube </a:t>
            </a:r>
            <a:r>
              <a:rPr lang="en-US" dirty="0" smtClean="0">
                <a:solidFill>
                  <a:srgbClr val="7030A0"/>
                </a:solidFill>
              </a:rPr>
              <a:t>Broadcast (Cont.)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Communication done </a:t>
            </a:r>
            <a:r>
              <a:rPr lang="en-US" b="1" dirty="0" smtClean="0"/>
              <a:t>along </a:t>
            </a:r>
            <a:r>
              <a:rPr lang="en-US" b="1" dirty="0"/>
              <a:t>z-axis, then y-axis, and then </a:t>
            </a:r>
            <a:r>
              <a:rPr lang="en-US" b="1" dirty="0" smtClean="0"/>
              <a:t>x-axis</a:t>
            </a:r>
            <a:endParaRPr lang="en-US" b="1" dirty="0"/>
          </a:p>
          <a:p>
            <a:endParaRPr lang="en-US" b="1" dirty="0"/>
          </a:p>
        </p:txBody>
      </p:sp>
      <p:pic>
        <p:nvPicPr>
          <p:cNvPr id="7" name="Picture 4">
            <a:extLst>
              <a:ext uri="{FF2B5EF4-FFF2-40B4-BE49-F238E27FC236}">
                <a16:creationId xmlns="" xmlns:a16="http://schemas.microsoft.com/office/drawing/2014/main" id="{A2A5268A-AFBF-4707-B93D-97A70B566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319" y="2356657"/>
            <a:ext cx="7337361" cy="4096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20037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Hypercube </a:t>
            </a:r>
            <a:r>
              <a:rPr lang="en-US" dirty="0" smtClean="0"/>
              <a:t>Broadcast (Cont.)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64F4492F-7550-45EC-9C11-1C0630C79E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574" y="1346443"/>
            <a:ext cx="6214852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37230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Hypercube Broadcast General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="" xmlns:a16="http://schemas.microsoft.com/office/drawing/2014/main" id="{467278F0-5CCD-4F86-9ACB-39B2BF25FF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045" y="1346443"/>
            <a:ext cx="6105909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82038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Hypercube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Assigned Reading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1AF1A12-CCDA-4E10-BDA4-512F0D2D4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247" y="2203956"/>
            <a:ext cx="6972640" cy="46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4077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</p:spPr>
            <p:txBody>
              <a:bodyPr>
                <a:noAutofit/>
              </a:bodyPr>
              <a:lstStyle/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Broadcast </a:t>
                </a:r>
                <a:r>
                  <a:rPr lang="en-US" b="1" dirty="0"/>
                  <a:t>needs </a:t>
                </a:r>
                <a:r>
                  <a:rPr lang="en-US" b="1" dirty="0">
                    <a:solidFill>
                      <a:srgbClr val="0000A8"/>
                    </a:solidFill>
                  </a:rPr>
                  <a:t>log(p)</a:t>
                </a:r>
                <a:r>
                  <a:rPr lang="en-US" b="1" dirty="0"/>
                  <a:t> point-to-point simple message transfer steps.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Message size of each transfer is m</a:t>
                </a:r>
              </a:p>
              <a:p>
                <a:pPr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Time foreach of the transfers is: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endParaRPr lang="en-US" b="1" dirty="0"/>
              </a:p>
              <a:p>
                <a:pPr algn="just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Hence </a:t>
                </a:r>
                <a:r>
                  <a:rPr lang="en-US" b="1" dirty="0" smtClean="0">
                    <a:solidFill>
                      <a:srgbClr val="0000A8"/>
                    </a:solidFill>
                  </a:rPr>
                  <a:t>cost for log(p) transfers </a:t>
                </a:r>
                <a:r>
                  <a:rPr lang="en-US" b="1" dirty="0" smtClean="0">
                    <a:solidFill>
                      <a:schemeClr val="tx1"/>
                    </a:solidFill>
                  </a:rPr>
                  <a:t>= 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func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  <a:blipFill rotWithShape="0">
                <a:blip r:embed="rId2"/>
                <a:stretch>
                  <a:fillRect l="-1043" t="-1935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Cost Estimation</a:t>
            </a:r>
          </a:p>
        </p:txBody>
      </p:sp>
    </p:spTree>
    <p:extLst>
      <p:ext uri="{BB962C8B-B14F-4D97-AF65-F5344CB8AC3E}">
        <p14:creationId xmlns:p14="http://schemas.microsoft.com/office/powerpoint/2010/main" val="8969776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All-to-All Broadcast and All-to-All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All-to-All </a:t>
            </a:r>
            <a:r>
              <a:rPr lang="en-US" b="1" dirty="0">
                <a:solidFill>
                  <a:srgbClr val="C00000"/>
                </a:solidFill>
              </a:rPr>
              <a:t>Broadcast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 </a:t>
            </a:r>
            <a:r>
              <a:rPr lang="en-US" b="1" dirty="0">
                <a:solidFill>
                  <a:srgbClr val="0000A8"/>
                </a:solidFill>
              </a:rPr>
              <a:t>generalization</a:t>
            </a:r>
            <a:r>
              <a:rPr lang="en-US" b="1" dirty="0"/>
              <a:t> to one-to-all </a:t>
            </a:r>
            <a:r>
              <a:rPr lang="en-US" b="1" dirty="0" smtClean="0"/>
              <a:t>broadcast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Every process </a:t>
            </a:r>
            <a:r>
              <a:rPr lang="en-US" b="1" dirty="0">
                <a:solidFill>
                  <a:srgbClr val="000099"/>
                </a:solidFill>
              </a:rPr>
              <a:t>broadcasts </a:t>
            </a:r>
            <a:r>
              <a:rPr lang="en-US" b="1" dirty="0"/>
              <a:t>m-word </a:t>
            </a:r>
            <a:r>
              <a:rPr lang="en-US" b="1" dirty="0" smtClean="0"/>
              <a:t>message</a:t>
            </a:r>
            <a:endParaRPr lang="en-US" b="1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b="1" dirty="0"/>
              <a:t>The broadcast-message for each of the processes can be different than others  </a:t>
            </a:r>
          </a:p>
          <a:p>
            <a:pPr marL="0" indent="0" algn="just">
              <a:buNone/>
            </a:pPr>
            <a:endParaRPr lang="en-US" b="1" dirty="0" smtClean="0"/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All-to-All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Reduction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Dual of all-to-all broadcast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Each node is the </a:t>
            </a:r>
            <a:r>
              <a:rPr lang="en-US" b="1" dirty="0">
                <a:solidFill>
                  <a:srgbClr val="000099"/>
                </a:solidFill>
              </a:rPr>
              <a:t>destination</a:t>
            </a:r>
            <a:r>
              <a:rPr lang="en-US" b="1" dirty="0"/>
              <a:t> of an all-to-one reduction out of total P </a:t>
            </a:r>
            <a:r>
              <a:rPr lang="en-US" b="1" dirty="0" smtClean="0"/>
              <a:t>reductions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Applications in different </a:t>
            </a:r>
            <a:r>
              <a:rPr lang="en-US" b="1" dirty="0">
                <a:solidFill>
                  <a:srgbClr val="0000A8"/>
                </a:solidFill>
              </a:rPr>
              <a:t>matrix operations </a:t>
            </a:r>
            <a:r>
              <a:rPr lang="en-US" b="1" dirty="0"/>
              <a:t>including matrix multiplication and matrix-vector multiplication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446548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130175" indent="0">
              <a:buNone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endParaRPr lang="en-US" sz="3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dirty="0"/>
              <a:t>naïve Broadcast method may be performing </a:t>
            </a:r>
            <a:r>
              <a:rPr lang="en-US" sz="3200" b="1" dirty="0"/>
              <a:t>P</a:t>
            </a:r>
            <a:r>
              <a:rPr lang="en-US" sz="3200" dirty="0"/>
              <a:t> one-to-all broadcasts. This will result </a:t>
            </a:r>
            <a:r>
              <a:rPr lang="en-US" sz="3200" b="1" dirty="0"/>
              <a:t>P( log(p)(t(s) + </a:t>
            </a:r>
            <a:r>
              <a:rPr lang="en-US" sz="3200" b="1" dirty="0" err="1"/>
              <a:t>mt</a:t>
            </a:r>
            <a:r>
              <a:rPr lang="en-US" sz="3200" b="1" dirty="0"/>
              <a:t>(w)) )</a:t>
            </a:r>
            <a:r>
              <a:rPr lang="en-US" sz="3200" dirty="0"/>
              <a:t> communication time.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All-to-All Broadcast and All-to-All </a:t>
            </a:r>
            <a:r>
              <a:rPr lang="en-US" dirty="0" smtClean="0"/>
              <a:t>Reduction (Cont.)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A596F895-6D3A-42C4-AE3E-7FF91C110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143" y="1346443"/>
            <a:ext cx="8514944" cy="3407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76077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</a:rPr>
              <a:t>All-to-All Broadcast and All-to-All Reduction (Cont.)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xmlns:lc="http://schemas.openxmlformats.org/drawingml/2006/lockedCanvas" id="{A08A0D83-AA52-47FA-B4C1-DD8127943D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780" y="1401763"/>
            <a:ext cx="6396440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68183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Ring Broadcast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079D74E5-2E8A-430F-8E94-97540C77A5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30" y="1401763"/>
            <a:ext cx="9937939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15248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Linear Array or 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Reduction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Draw an All-to-All Broadcast on a P-node linear ring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0099"/>
                </a:solidFill>
              </a:rPr>
              <a:t>Reverse the directions </a:t>
            </a:r>
            <a:r>
              <a:rPr lang="en-US" b="1" dirty="0"/>
              <a:t>in each </a:t>
            </a:r>
            <a:r>
              <a:rPr lang="en-US" b="1" dirty="0" err="1"/>
              <a:t>foreach</a:t>
            </a:r>
            <a:r>
              <a:rPr lang="en-US" b="1" dirty="0"/>
              <a:t> of the step without changing message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After each communication step, </a:t>
            </a:r>
            <a:r>
              <a:rPr lang="en-US" b="1" dirty="0">
                <a:solidFill>
                  <a:srgbClr val="0000A8"/>
                </a:solidFill>
              </a:rPr>
              <a:t>combine </a:t>
            </a:r>
            <a:r>
              <a:rPr lang="en-US" b="1" dirty="0"/>
              <a:t>messages having same broadcast destination with associative </a:t>
            </a:r>
            <a:r>
              <a:rPr lang="en-US" b="1" dirty="0" smtClean="0"/>
              <a:t>operator</a:t>
            </a:r>
            <a:endParaRPr lang="en-US" b="1" dirty="0"/>
          </a:p>
          <a:p>
            <a:pPr lvl="1"/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Now, Its your turn to draw?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Draw an All-to-All Broadcast on a 4-node linear ring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Reverse the directions and combine the results using ‘SUM’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All-to-All </a:t>
            </a:r>
            <a:r>
              <a:rPr lang="en-US" dirty="0"/>
              <a:t>Reduction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5435034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346443"/>
            <a:ext cx="10515600" cy="5040999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 Ring Reduction</a:t>
            </a:r>
            <a:endParaRPr lang="en-US" b="0" dirty="0"/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4AA17DE9-49CF-4391-838F-BB73DF796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76" y="1300601"/>
            <a:ext cx="8947624" cy="4941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49640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All-to-All Broadcast on 2D Mesh</a:t>
            </a:r>
            <a:endParaRPr lang="en-US" b="0" dirty="0">
              <a:solidFill>
                <a:srgbClr val="7030A0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ECDC74B2-D850-46B6-9EB4-A0085D8556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733" y="1186542"/>
            <a:ext cx="7200534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14954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All-to-All Broadcast on 2D Mesh Algorithm</a:t>
            </a:r>
            <a:endParaRPr lang="en-US" b="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A3D592A-BAF0-40C4-92EF-8421C8706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86" y="1358160"/>
            <a:ext cx="6940417" cy="5499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99938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 smtClean="0"/>
              <a:t>Along x-axis </a:t>
            </a:r>
            <a:r>
              <a:rPr lang="en-US" sz="3200" dirty="0"/>
              <a:t>then y-axis then z-axis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kern="0" dirty="0" smtClean="0">
                <a:solidFill>
                  <a:srgbClr val="7030A0"/>
                </a:solidFill>
              </a:rPr>
              <a:t>All-to-All </a:t>
            </a:r>
            <a:r>
              <a:rPr lang="en-US" kern="0" dirty="0">
                <a:solidFill>
                  <a:srgbClr val="7030A0"/>
                </a:solidFill>
              </a:rPr>
              <a:t>Broadcast on </a:t>
            </a:r>
            <a:r>
              <a:rPr lang="en-US" kern="0" dirty="0" err="1">
                <a:solidFill>
                  <a:srgbClr val="7030A0"/>
                </a:solidFill>
              </a:rPr>
              <a:t>HyperCube</a:t>
            </a:r>
            <a:endParaRPr lang="en-US" b="0" kern="0" dirty="0">
              <a:solidFill>
                <a:srgbClr val="7030A0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A162CD9C-DDB9-460B-A3AD-72E5276D4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091" y="1872343"/>
            <a:ext cx="4566296" cy="4784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78994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All-to-All </a:t>
            </a:r>
            <a:r>
              <a:rPr lang="en-US" dirty="0"/>
              <a:t>Broadcast on </a:t>
            </a:r>
            <a:r>
              <a:rPr lang="en-US" dirty="0" err="1"/>
              <a:t>HyperCube</a:t>
            </a:r>
            <a:r>
              <a:rPr lang="en-US" dirty="0"/>
              <a:t>..Algorithm</a:t>
            </a:r>
            <a:endParaRPr lang="en-US" b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C477372B-7901-437E-96F9-12C60B6F71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845" y="1346443"/>
            <a:ext cx="8238310" cy="3840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80247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C00000"/>
                    </a:solidFill>
                  </a:rPr>
                  <a:t>Cost Estimation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Different on each infrastructure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Linear Ring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rgbClr val="0000A8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Mesh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b="1" dirty="0"/>
                  <a:t>Total time for All-to-All broadcast in the first  phase	</a:t>
                </a:r>
              </a:p>
              <a:p>
                <a:pPr lvl="2">
                  <a:buClr>
                    <a:srgbClr val="0000A8"/>
                  </a:buCl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𝒇𝒊𝒓𝒔𝒕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𝒑𝒉𝒂𝒔𝒆</m:t>
                            </m:r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</m:ra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b="1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b="1" dirty="0"/>
                  <a:t>Total time for the second phase (note here m=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/>
                  <a:t>m)</a:t>
                </a:r>
              </a:p>
              <a:p>
                <a:pPr lvl="2">
                  <a:buClr>
                    <a:srgbClr val="0000A8"/>
                  </a:buClr>
                  <a:buFont typeface="Wingdings" panose="05000000000000000000" pitchFamily="2" charset="2"/>
                  <a:buChar char="ü"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𝑺𝒆𝒄𝒐𝒏𝒅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𝒑𝒉𝒂𝒔𝒆</m:t>
                            </m:r>
                          </m:e>
                        </m: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+(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</m:ra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So, Total time=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</m:rad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  <a:blipFill rotWithShape="0">
                <a:blip r:embed="rId3"/>
                <a:stretch>
                  <a:fillRect l="-1217" t="-1935" b="-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All-to-All </a:t>
            </a:r>
            <a:r>
              <a:rPr lang="en-US" dirty="0"/>
              <a:t>Broadcast and All-to-All Reduction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627336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C00000"/>
                    </a:solidFill>
                  </a:rPr>
                  <a:t>Cost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Estimation (Cont.)</a:t>
                </a:r>
                <a:endParaRPr lang="en-US" b="1" dirty="0">
                  <a:solidFill>
                    <a:srgbClr val="C00000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Different on each </a:t>
                </a:r>
                <a:r>
                  <a:rPr lang="en-US" b="1" dirty="0" smtClean="0"/>
                  <a:t>infrastructure</a:t>
                </a:r>
                <a:endParaRPr lang="en-US" b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Hypercube (broadcast)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b="1" dirty="0"/>
                  <a:t>Communication in for 1st step: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b="1" dirty="0"/>
                  <a:t>Communication in for 2nd step: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b="1" dirty="0"/>
                  <a:t>Communication in for </a:t>
                </a:r>
                <a:r>
                  <a:rPr lang="en-US" b="1" dirty="0" err="1"/>
                  <a:t>ith</a:t>
                </a:r>
                <a:r>
                  <a:rPr lang="en-US" b="1" dirty="0"/>
                  <a:t> step: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en-US" b="1" dirty="0"/>
              </a:p>
              <a:p>
                <a:pPr lvl="1"/>
                <a:r>
                  <a:rPr lang="en-US" sz="2800" b="1" dirty="0" smtClean="0">
                    <a:solidFill>
                      <a:srgbClr val="0000A8"/>
                    </a:solidFill>
                  </a:rPr>
                  <a:t>Total Cost=</a:t>
                </a:r>
                <a:r>
                  <a:rPr lang="en-US" b="1" dirty="0">
                    <a:solidFill>
                      <a:srgbClr val="0000A8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32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pt-BR" sz="32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32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𝒍𝒐𝒈</m:t>
                        </m:r>
                        <m:r>
                          <a:rPr lang="en-US" sz="32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32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32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b>
                          <m:sSubPr>
                            <m:ctrlPr>
                              <a:rPr lang="en-US" sz="3200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200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3200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  <m:r>
                          <a:rPr lang="en-US" sz="32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200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3200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3200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sz="32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sSub>
                          <m:sSubPr>
                            <m:ctrlPr>
                              <a:rPr lang="en-US" sz="3200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3200" b="1" i="1">
                                <a:solidFill>
                                  <a:srgbClr val="0000A8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  <m:r>
                          <a:rPr lang="en-US" sz="32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  <a:blipFill rotWithShape="0">
                <a:blip r:embed="rId3"/>
                <a:stretch>
                  <a:fillRect l="-1217" t="-1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All-to-All </a:t>
            </a:r>
            <a:r>
              <a:rPr lang="en-US" dirty="0"/>
              <a:t>Broadcast and All-to-All </a:t>
            </a:r>
            <a:r>
              <a:rPr lang="en-US" dirty="0" smtClean="0"/>
              <a:t>Reduction (Cont.)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7837941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C00000"/>
                    </a:solidFill>
                  </a:rPr>
                  <a:t>Cost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Estimation (Cont.)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b="1" dirty="0"/>
                  <a:t>Total Cost=</a:t>
                </a:r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28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pt-BR" sz="28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𝒍𝒐𝒈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𝒎</m:t>
                        </m:r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800" b="1" dirty="0"/>
              </a:p>
              <a:p>
                <a:pPr lvl="1"/>
                <a:endParaRPr lang="en-US" sz="2800" b="1" dirty="0" smtClean="0"/>
              </a:p>
              <a:p>
                <a:pPr lvl="1"/>
                <a:r>
                  <a:rPr lang="en-US" sz="2800" b="1" dirty="0" smtClean="0"/>
                  <a:t>Simplify </a:t>
                </a:r>
                <a:r>
                  <a:rPr lang="en-US" sz="2800" b="1" dirty="0"/>
                  <a:t>the equation</a:t>
                </a:r>
              </a:p>
              <a:p>
                <a:pPr lvl="1"/>
                <a:endParaRPr lang="en-US" sz="2800" b="1" dirty="0" smtClean="0"/>
              </a:p>
              <a:p>
                <a:pPr lvl="1"/>
                <a:r>
                  <a:rPr lang="en-US" sz="2800" b="1" dirty="0" smtClean="0"/>
                  <a:t>HINT</a:t>
                </a:r>
                <a:r>
                  <a:rPr lang="en-US" sz="2800" b="1" dirty="0"/>
                  <a:t>: 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sz="2800" b="1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2800" b="1" dirty="0"/>
                  <a:t> + ……+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2800" b="1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lang="en-US" sz="2800" b="1" dirty="0"/>
                  <a:t> ]</a:t>
                </a:r>
              </a:p>
              <a:p>
                <a:pPr lvl="1"/>
                <a:endParaRPr lang="en-US" sz="2800" b="1" dirty="0"/>
              </a:p>
              <a:p>
                <a:pPr lvl="1"/>
                <a:endParaRPr lang="en-US" sz="2800" b="1" dirty="0"/>
              </a:p>
              <a:p>
                <a:pPr lvl="1"/>
                <a:r>
                  <a:rPr lang="en-US" sz="2800" b="1" dirty="0"/>
                  <a:t>Answer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8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en-US" sz="28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func>
                      <m:funcPr>
                        <m:ctrlPr>
                          <a:rPr lang="en-US" sz="28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8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US" sz="28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func>
                    <m:r>
                      <a:rPr lang="en-US" sz="2800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0000A8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800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800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800" b="1" i="1">
                        <a:solidFill>
                          <a:srgbClr val="0000A8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800" b="1" dirty="0">
                  <a:solidFill>
                    <a:srgbClr val="0000A8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2090"/>
                <a:ext cx="10515600" cy="5040999"/>
              </a:xfrm>
              <a:blipFill rotWithShape="0">
                <a:blip r:embed="rId3"/>
                <a:stretch>
                  <a:fillRect l="-1217" t="-1935" b="-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All-to-All </a:t>
            </a:r>
            <a:r>
              <a:rPr lang="en-US" dirty="0"/>
              <a:t>Broadcast and All-to-All </a:t>
            </a:r>
            <a:r>
              <a:rPr lang="en-US" dirty="0" smtClean="0"/>
              <a:t>Reduction (Cont.)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0957877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Dry run one-to-all broadcast and all-to-one reduction on 16 nodes ring structure.</a:t>
            </a:r>
            <a:endParaRPr lang="en-US" sz="32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Exercise</a:t>
            </a:r>
            <a:endParaRPr lang="en-US" b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802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Basic </a:t>
            </a:r>
            <a:r>
              <a:rPr lang="en-US" sz="3200" b="1" dirty="0"/>
              <a:t>Communication </a:t>
            </a:r>
            <a:r>
              <a:rPr lang="en-US" sz="3200" b="1" dirty="0" smtClean="0"/>
              <a:t>Operations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Preliminaries 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Exchanging </a:t>
            </a:r>
            <a:r>
              <a:rPr lang="en-US" b="1" dirty="0"/>
              <a:t>the data is fundamental requirement for most of the parallel </a:t>
            </a:r>
            <a:r>
              <a:rPr lang="en-US" b="1" dirty="0" smtClean="0"/>
              <a:t>algorithms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Assumptions </a:t>
            </a:r>
            <a:r>
              <a:rPr lang="en-US" b="1" dirty="0"/>
              <a:t>for the </a:t>
            </a:r>
            <a:r>
              <a:rPr lang="en-US" b="1" dirty="0" smtClean="0"/>
              <a:t>Operations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Interconnections </a:t>
            </a:r>
            <a:r>
              <a:rPr lang="en-US" b="1" dirty="0"/>
              <a:t>support cut-through </a:t>
            </a:r>
            <a:r>
              <a:rPr lang="en-US" b="1" dirty="0" smtClean="0"/>
              <a:t>routing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Communication </a:t>
            </a:r>
            <a:r>
              <a:rPr lang="en-US" b="1" dirty="0"/>
              <a:t>time between any pair of nodes in the network is same </a:t>
            </a:r>
            <a:endParaRPr lang="en-US" b="1" dirty="0" smtClean="0"/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Links </a:t>
            </a:r>
            <a:r>
              <a:rPr lang="en-US" b="1" dirty="0"/>
              <a:t>are bi-directional	</a:t>
            </a:r>
            <a:endParaRPr lang="en-US" b="1" dirty="0" smtClean="0"/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Single-port </a:t>
            </a:r>
            <a:r>
              <a:rPr lang="en-US" b="1" dirty="0"/>
              <a:t>communication </a:t>
            </a:r>
            <a:r>
              <a:rPr lang="en-US" b="1" dirty="0" smtClean="0"/>
              <a:t>model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9518325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One-to-All </a:t>
            </a:r>
            <a:r>
              <a:rPr lang="en-US" sz="3200" b="1" dirty="0"/>
              <a:t>Broadcast &amp; All-to-One Reduction </a:t>
            </a:r>
            <a:endParaRPr lang="en-US" sz="3200" b="1" dirty="0" smtClean="0"/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One-to-All </a:t>
            </a:r>
            <a:r>
              <a:rPr lang="en-US" b="1" dirty="0"/>
              <a:t>Broadcast - A single process sends identical data to all other </a:t>
            </a:r>
            <a:r>
              <a:rPr lang="en-US" b="1" dirty="0" smtClean="0"/>
              <a:t>processes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All-to-One </a:t>
            </a:r>
            <a:r>
              <a:rPr lang="en-US" b="1" dirty="0"/>
              <a:t>Reduction - The m-sized data from all processes are combined through an associative operator, accumulated at a single destination process into one buffer of size </a:t>
            </a:r>
            <a:r>
              <a:rPr lang="en-US" b="1" dirty="0" smtClean="0"/>
              <a:t>m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Linear </a:t>
            </a:r>
            <a:r>
              <a:rPr lang="en-US" b="1" dirty="0"/>
              <a:t>Array or </a:t>
            </a:r>
            <a:r>
              <a:rPr lang="en-US" b="1" dirty="0" smtClean="0"/>
              <a:t>Ring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Matrix-Vector </a:t>
            </a:r>
            <a:r>
              <a:rPr lang="en-US" b="1" dirty="0"/>
              <a:t>Multiplication (An Application) </a:t>
            </a:r>
            <a:endParaRPr lang="en-US" b="1" dirty="0" smtClean="0"/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Mesh </a:t>
            </a:r>
            <a:r>
              <a:rPr lang="en-US" b="1" dirty="0"/>
              <a:t>Broadcast and </a:t>
            </a:r>
            <a:r>
              <a:rPr lang="en-US" b="1" dirty="0" smtClean="0"/>
              <a:t>Reduction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Balanced </a:t>
            </a:r>
            <a:r>
              <a:rPr lang="en-US" b="1" dirty="0"/>
              <a:t>Binary </a:t>
            </a:r>
            <a:r>
              <a:rPr lang="en-US" b="1" dirty="0" smtClean="0"/>
              <a:t>Tree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Hypercube </a:t>
            </a:r>
            <a:r>
              <a:rPr lang="en-US" b="1" dirty="0"/>
              <a:t>Broadcast (3-D </a:t>
            </a:r>
            <a:r>
              <a:rPr lang="en-US" b="1" dirty="0" smtClean="0"/>
              <a:t>Structure)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Cost Estimation</a:t>
            </a:r>
            <a:endParaRPr lang="en-US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0196423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 smtClean="0"/>
              <a:t>All-to-All </a:t>
            </a:r>
            <a:r>
              <a:rPr lang="en-US" sz="3200" b="1" dirty="0"/>
              <a:t>Broadcast and All-to-All </a:t>
            </a:r>
            <a:r>
              <a:rPr lang="en-US" sz="3200" b="1" dirty="0" smtClean="0"/>
              <a:t>Reduction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All-to-All </a:t>
            </a:r>
            <a:r>
              <a:rPr lang="en-US" b="1" dirty="0"/>
              <a:t>Broadcast - Every process broadcasts m-word </a:t>
            </a:r>
            <a:r>
              <a:rPr lang="en-US" b="1" dirty="0" smtClean="0"/>
              <a:t>message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 smtClean="0"/>
              <a:t>All-to-All </a:t>
            </a:r>
            <a:r>
              <a:rPr lang="en-US" b="1" dirty="0"/>
              <a:t>Reduction - Each node is the destination of an all-to-one reduction out of total P </a:t>
            </a:r>
            <a:r>
              <a:rPr lang="en-US" b="1" dirty="0" smtClean="0"/>
              <a:t>reductions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Linear </a:t>
            </a:r>
            <a:r>
              <a:rPr lang="en-US" b="1" dirty="0"/>
              <a:t>Ring </a:t>
            </a:r>
            <a:r>
              <a:rPr lang="en-US" b="1" dirty="0" smtClean="0"/>
              <a:t>Broadcast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Linear </a:t>
            </a:r>
            <a:r>
              <a:rPr lang="en-US" b="1" dirty="0"/>
              <a:t>Ring </a:t>
            </a:r>
            <a:r>
              <a:rPr lang="en-US" b="1" dirty="0" smtClean="0"/>
              <a:t>Reduction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All-to-All </a:t>
            </a:r>
            <a:r>
              <a:rPr lang="en-US" b="1" dirty="0"/>
              <a:t>Broadcast on 2D </a:t>
            </a:r>
            <a:r>
              <a:rPr lang="en-US" b="1" dirty="0" smtClean="0"/>
              <a:t>Mesh</a:t>
            </a:r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All-to-All </a:t>
            </a:r>
            <a:r>
              <a:rPr lang="en-US" b="1" dirty="0"/>
              <a:t>Broadcast on </a:t>
            </a:r>
            <a:r>
              <a:rPr lang="en-US" b="1" dirty="0" err="1" smtClean="0"/>
              <a:t>HyperCube</a:t>
            </a:r>
            <a:endParaRPr lang="en-US" b="1" dirty="0" smtClean="0"/>
          </a:p>
          <a:p>
            <a:pPr lvl="2">
              <a:buClr>
                <a:srgbClr val="0000A8"/>
              </a:buClr>
              <a:buFont typeface="Wingdings" panose="05000000000000000000" pitchFamily="2" charset="2"/>
              <a:buChar char="ü"/>
            </a:pPr>
            <a:r>
              <a:rPr lang="en-US" b="1" dirty="0" smtClean="0"/>
              <a:t>Cost Estimation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smtClean="0"/>
              <a:t>Exercise</a:t>
            </a:r>
            <a:endParaRPr lang="en-US" sz="3200" b="1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4501780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333399"/>
                </a:solidFill>
              </a:rPr>
              <a:t>Introduction to Parallel Computing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/>
              <a:t>by </a:t>
            </a:r>
            <a:r>
              <a:rPr lang="en-US" sz="3200" b="1" dirty="0" err="1"/>
              <a:t>Ananth</a:t>
            </a:r>
            <a:r>
              <a:rPr lang="en-US" sz="3200" b="1" dirty="0"/>
              <a:t> </a:t>
            </a:r>
            <a:r>
              <a:rPr lang="en-US" sz="3200" b="1" dirty="0" err="1"/>
              <a:t>Grama</a:t>
            </a:r>
            <a:r>
              <a:rPr lang="en-US" sz="3200" b="1" dirty="0"/>
              <a:t> and </a:t>
            </a:r>
            <a:r>
              <a:rPr lang="en-US" sz="3200" b="1" dirty="0" err="1"/>
              <a:t>Anshul</a:t>
            </a:r>
            <a:r>
              <a:rPr lang="en-US" sz="3200" b="1" dirty="0"/>
              <a:t> Gupta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b="1" dirty="0"/>
              <a:t>Chapter 4: Basic Communication Operations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b="1" dirty="0">
              <a:solidFill>
                <a:srgbClr val="333399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Resources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945932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948278"/>
            <a:ext cx="10515600" cy="894622"/>
          </a:xfrm>
        </p:spPr>
        <p:txBody>
          <a:bodyPr/>
          <a:lstStyle/>
          <a:p>
            <a:pPr algn="ctr"/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2833</TotalTime>
  <Words>1136</Words>
  <Application>Microsoft Office PowerPoint</Application>
  <PresentationFormat>Widescreen</PresentationFormat>
  <Paragraphs>240</Paragraphs>
  <Slides>40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Wingdings</vt:lpstr>
      <vt:lpstr>Office Theme</vt:lpstr>
      <vt:lpstr>CS 3006 Parallel and Distributed Computing Lecture 13</vt:lpstr>
      <vt:lpstr>Basic Communication Operations</vt:lpstr>
      <vt:lpstr>Outline</vt:lpstr>
      <vt:lpstr>Outline (Cont.)</vt:lpstr>
      <vt:lpstr>Basic Communication Operations</vt:lpstr>
      <vt:lpstr>Basic Communication Operations (Cont.)</vt:lpstr>
      <vt:lpstr>Basic Communication Operations (Cont.)</vt:lpstr>
      <vt:lpstr>Basic Communication Operations (Cont.)</vt:lpstr>
      <vt:lpstr>One-to-All Broadcast and All-to-One Reduction</vt:lpstr>
      <vt:lpstr>One-to-All Broadcast and All-to-One Reduction</vt:lpstr>
      <vt:lpstr>One-to-All Broadcast and All-to-One Reduction</vt:lpstr>
      <vt:lpstr>Matrix-Vector Multiplication (An Application) </vt:lpstr>
      <vt:lpstr>Mesh Broadcast and Reduction</vt:lpstr>
      <vt:lpstr>Mesh Broadcast and Reduction (Cont.)</vt:lpstr>
      <vt:lpstr>Balanced Binary Tree</vt:lpstr>
      <vt:lpstr>Hypercube Broadcast (3-D Structure)</vt:lpstr>
      <vt:lpstr>Hypercube Broadcast (Cont.)</vt:lpstr>
      <vt:lpstr>Hypercube Broadcast (Cont.)</vt:lpstr>
      <vt:lpstr>Hypercube Broadcast General</vt:lpstr>
      <vt:lpstr>Hypercube Reduction</vt:lpstr>
      <vt:lpstr>Cost Estimation</vt:lpstr>
      <vt:lpstr>All-to-All Broadcast and All-to-All Reduction</vt:lpstr>
      <vt:lpstr>All-to-All Broadcast and All-to-All Reduction (Cont.)</vt:lpstr>
      <vt:lpstr>All-to-All Broadcast and All-to-All Reduction (Cont.)</vt:lpstr>
      <vt:lpstr>Linear Ring Broadcast</vt:lpstr>
      <vt:lpstr>All-to-All Reduction</vt:lpstr>
      <vt:lpstr>Linear Ring Reduction</vt:lpstr>
      <vt:lpstr>All-to-All Broadcast on 2D Mesh</vt:lpstr>
      <vt:lpstr>All-to-All Broadcast on 2D Mesh Algorithm</vt:lpstr>
      <vt:lpstr>All-to-All Broadcast on HyperCube</vt:lpstr>
      <vt:lpstr>All-to-All Broadcast on HyperCube..Algorithm</vt:lpstr>
      <vt:lpstr>All-to-All Broadcast and All-to-All Reduction</vt:lpstr>
      <vt:lpstr>All-to-All Broadcast and All-to-All Reduction (Cont.)</vt:lpstr>
      <vt:lpstr>All-to-All Broadcast and All-to-All Reduction (Cont.)</vt:lpstr>
      <vt:lpstr>Exercise</vt:lpstr>
      <vt:lpstr>Summary</vt:lpstr>
      <vt:lpstr>Summary (Cont.)</vt:lpstr>
      <vt:lpstr>Summary (Cont.)</vt:lpstr>
      <vt:lpstr>Additional Resources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HP</cp:lastModifiedBy>
  <cp:revision>542</cp:revision>
  <dcterms:created xsi:type="dcterms:W3CDTF">2020-01-18T07:24:00Z</dcterms:created>
  <dcterms:modified xsi:type="dcterms:W3CDTF">2024-03-18T09:18:30Z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DBCDF73CD2C44F1492F6933E9F753A38</vt:lpwstr>
  </property>
  <property fmtid="{D5CDD505-2E9C-101B-9397-08002B2CF9AE}" pid="3" name="KSOProductBuildVer">
    <vt:lpwstr>1033-11.2.0.11380</vt:lpwstr>
  </property>
</Properties>
</file>