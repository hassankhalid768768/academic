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1616" r:id="rId2"/>
    <p:sldId id="1450" r:id="rId3"/>
    <p:sldId id="1617" r:id="rId4"/>
    <p:sldId id="1591" r:id="rId5"/>
    <p:sldId id="1610" r:id="rId6"/>
    <p:sldId id="1582" r:id="rId7"/>
    <p:sldId id="1611" r:id="rId8"/>
    <p:sldId id="1612" r:id="rId9"/>
    <p:sldId id="1592" r:id="rId10"/>
    <p:sldId id="1593" r:id="rId11"/>
    <p:sldId id="1551" r:id="rId12"/>
    <p:sldId id="1613" r:id="rId13"/>
    <p:sldId id="1614" r:id="rId14"/>
    <p:sldId id="1583" r:id="rId15"/>
    <p:sldId id="1584" r:id="rId16"/>
    <p:sldId id="1615" r:id="rId17"/>
    <p:sldId id="1619" r:id="rId18"/>
    <p:sldId id="1594" r:id="rId19"/>
    <p:sldId id="1620" r:id="rId20"/>
    <p:sldId id="1618" r:id="rId21"/>
    <p:sldId id="144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0099"/>
    <a:srgbClr val="00C000"/>
    <a:srgbClr val="3C6CDF"/>
    <a:srgbClr val="9CDFF9"/>
    <a:srgbClr val="B8C2C9"/>
    <a:srgbClr val="D6DCE0"/>
    <a:srgbClr val="0000A3"/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33"/>
    <p:restoredTop sz="87612" autoAdjust="0"/>
  </p:normalViewPr>
  <p:slideViewPr>
    <p:cSldViewPr snapToGrid="0" snapToObjects="1">
      <p:cViewPr varScale="1">
        <p:scale>
          <a:sx n="65" d="100"/>
          <a:sy n="65" d="100"/>
        </p:scale>
        <p:origin x="510" y="72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509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Round Bracket: That</a:t>
            </a:r>
            <a:r>
              <a:rPr lang="en-US" baseline="0" dirty="0" smtClean="0"/>
              <a:t> message is sent to other node in next step</a:t>
            </a:r>
          </a:p>
          <a:p>
            <a:r>
              <a:rPr lang="en-US" baseline="0" dirty="0" smtClean="0"/>
              <a:t>Square Bracket: That message is kept with the node</a:t>
            </a:r>
          </a:p>
          <a:p>
            <a:r>
              <a:rPr lang="en-US" baseline="0" dirty="0" smtClean="0"/>
              <a:t>Lower index node will keep message in square bracket as it is.</a:t>
            </a:r>
          </a:p>
          <a:p>
            <a:r>
              <a:rPr lang="en-US" baseline="0" dirty="0" smtClean="0"/>
              <a:t>Higher index node will add message in square bracket that it got from lower index node.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Communication cost is same as one-to-all broadcast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44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MY_NUMBER: my initial value; </a:t>
            </a:r>
            <a:r>
              <a:rPr lang="en-US" dirty="0" err="1" smtClean="0"/>
              <a:t>msg</a:t>
            </a:r>
            <a:r>
              <a:rPr lang="en-US" dirty="0" smtClean="0"/>
              <a:t> serves as a buffer with </a:t>
            </a:r>
            <a:r>
              <a:rPr lang="en-US" dirty="0" err="1" smtClean="0"/>
              <a:t>parathesis</a:t>
            </a:r>
            <a:r>
              <a:rPr lang="en-US" dirty="0" smtClean="0"/>
              <a:t> ( )</a:t>
            </a:r>
          </a:p>
          <a:p>
            <a:r>
              <a:rPr lang="en-US" dirty="0" smtClean="0"/>
              <a:t>Result buffer: serve as a buffer shown by square brackets in the figure [ ]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31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US" dirty="0" smtClean="0"/>
                  <a:t>Cost is same as All-to-All broadcast: </a:t>
                </a:r>
                <a:r>
                  <a:rPr lang="en-US" sz="2000" dirty="0"/>
                  <a:t>Total Cost=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Answer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func>
                      <m:func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func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0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US" dirty="0" smtClean="0"/>
                  <a:t>Cost is same as All-to-All broadcast: </a:t>
                </a:r>
                <a:r>
                  <a:rPr lang="en-US" sz="2000" dirty="0"/>
                  <a:t>Total Cost= </a:t>
                </a:r>
                <a:r>
                  <a:rPr lang="pt-BR" sz="2000" i="0" smtClean="0">
                    <a:latin typeface="Cambria Math" panose="02040503050406030204" pitchFamily="18" charset="0"/>
                  </a:rPr>
                  <a:t>∑</a:t>
                </a:r>
                <a:r>
                  <a:rPr lang="en-US" sz="20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2000" b="0" i="0" smtClean="0">
                    <a:latin typeface="Cambria Math" panose="02040503050406030204" pitchFamily="18" charset="0"/>
                  </a:rPr>
                  <a:t>(</a:t>
                </a:r>
                <a:r>
                  <a:rPr lang="en-US" sz="2000" b="0" i="0" smtClean="0">
                    <a:latin typeface="Cambria Math" panose="02040503050406030204" pitchFamily="18" charset="0"/>
                  </a:rPr>
                  <a:t>𝑖</a:t>
                </a:r>
                <a:r>
                  <a:rPr lang="pt-BR" sz="2000" b="0" i="0" smtClean="0">
                    <a:latin typeface="Cambria Math" panose="02040503050406030204" pitchFamily="18" charset="0"/>
                  </a:rPr>
                  <a:t>=</a:t>
                </a:r>
                <a:r>
                  <a:rPr lang="en-US" sz="2000" b="0" i="0" smtClean="0">
                    <a:latin typeface="Cambria Math" panose="02040503050406030204" pitchFamily="18" charset="0"/>
                  </a:rPr>
                  <a:t>1</a:t>
                </a:r>
                <a:r>
                  <a:rPr lang="pt-BR" sz="2000" b="0" i="0" smtClean="0">
                    <a:latin typeface="Cambria Math" panose="02040503050406030204" pitchFamily="18" charset="0"/>
                  </a:rPr>
                  <a:t>)</a:t>
                </a:r>
                <a:r>
                  <a:rPr lang="en-US" sz="2000" b="0" i="0" smtClean="0">
                    <a:latin typeface="Cambria Math" panose="02040503050406030204" pitchFamily="18" charset="0"/>
                  </a:rPr>
                  <a:t>^(log(𝑝))</a:t>
                </a:r>
                <a:r>
                  <a:rPr lang="en-US" sz="2000" b="0" i="0">
                    <a:latin typeface="Cambria Math" panose="02040503050406030204" pitchFamily="18" charset="0"/>
                  </a:rPr>
                  <a:t>▒</a:t>
                </a:r>
                <a:r>
                  <a:rPr lang="en-US" sz="2000" b="0" i="0" smtClean="0">
                    <a:latin typeface="Cambria Math" panose="02040503050406030204" pitchFamily="18" charset="0"/>
                  </a:rPr>
                  <a:t>〖</a:t>
                </a:r>
                <a:r>
                  <a:rPr lang="en-US" sz="2000" b="0" i="0">
                    <a:latin typeface="Cambria Math" panose="02040503050406030204" pitchFamily="18" charset="0"/>
                  </a:rPr>
                  <a:t>〖(𝑡〗_𝑠+2^(𝑖−1) 𝑚𝑡_𝑤)</a:t>
                </a:r>
                <a:r>
                  <a:rPr lang="en-US" sz="2000" b="0" i="0" smtClean="0">
                    <a:latin typeface="Cambria Math" panose="02040503050406030204" pitchFamily="18" charset="0"/>
                  </a:rPr>
                  <a:t>〗</a:t>
                </a:r>
                <a:endParaRPr lang="en-US" sz="2000" dirty="0"/>
              </a:p>
              <a:p>
                <a:pPr lvl="1"/>
                <a:r>
                  <a:rPr lang="en-US" sz="2000" dirty="0"/>
                  <a:t>Answer </a:t>
                </a:r>
                <a:r>
                  <a:rPr lang="en-US" sz="2000" b="1" i="0">
                    <a:latin typeface="Cambria Math" panose="02040503050406030204" pitchFamily="18" charset="0"/>
                  </a:rPr>
                  <a:t>〖𝑻=(𝒕〗_𝒔 </a:t>
                </a:r>
                <a:r>
                  <a:rPr lang="en-US" sz="2000" i="0">
                    <a:latin typeface="Cambria Math" panose="02040503050406030204" pitchFamily="18" charset="0"/>
                  </a:rPr>
                  <a:t> log</a:t>
                </a:r>
                <a:r>
                  <a:rPr lang="en-US" sz="2000" b="1" i="0">
                    <a:latin typeface="Cambria Math" panose="02040503050406030204" pitchFamily="18" charset="0"/>
                  </a:rPr>
                  <a:t>⁡𝒑+𝒎𝒕_𝒘</a:t>
                </a:r>
                <a:r>
                  <a:rPr lang="en-US" sz="2000" b="1" i="0" smtClean="0">
                    <a:latin typeface="Cambria Math" panose="02040503050406030204" pitchFamily="18" charset="0"/>
                  </a:rPr>
                  <a:t> (𝒑−𝟏))</a:t>
                </a:r>
                <a:endParaRPr lang="en-US" sz="20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706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155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773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84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438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651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841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19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509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053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74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</a:t>
            </a:r>
            <a:r>
              <a:rPr lang="en-US" sz="4800" dirty="0" smtClean="0"/>
              <a:t>14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968887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4343" y="2856818"/>
            <a:ext cx="9434286" cy="665163"/>
          </a:xfrm>
        </p:spPr>
        <p:txBody>
          <a:bodyPr>
            <a:noAutofit/>
          </a:bodyPr>
          <a:lstStyle/>
          <a:p>
            <a:pPr lvl="0"/>
            <a:r>
              <a:rPr lang="en-US" sz="4400" dirty="0" smtClean="0"/>
              <a:t>Basic Communication Operations – Part 2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Basic </a:t>
            </a:r>
            <a:r>
              <a:rPr lang="en-US" sz="3200" b="1" dirty="0"/>
              <a:t>Communication </a:t>
            </a:r>
            <a:r>
              <a:rPr lang="en-US" sz="3200" b="1" dirty="0" smtClean="0"/>
              <a:t>Operations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All-Reduce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Prefix Sum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Scatter </a:t>
            </a:r>
            <a:r>
              <a:rPr lang="en-US" b="1" dirty="0"/>
              <a:t>and </a:t>
            </a:r>
            <a:r>
              <a:rPr lang="en-US" b="1" dirty="0" smtClean="0"/>
              <a:t>Gather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All-to-All Personalized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All-to-All </a:t>
            </a:r>
            <a:r>
              <a:rPr lang="en-US" b="1" dirty="0"/>
              <a:t>Personalized [Ring] Cost Analysis </a:t>
            </a:r>
            <a:endParaRPr lang="en-US" b="1" dirty="0" smtClean="0"/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All-to-All </a:t>
            </a:r>
            <a:r>
              <a:rPr lang="en-US" b="1" dirty="0"/>
              <a:t>Personalized [Mesh] Cost Analysis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Exercise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Summary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Additional Resources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 </a:t>
            </a:r>
            <a:r>
              <a:rPr lang="en-US" dirty="0" smtClean="0"/>
              <a:t>Outline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800162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</p:spPr>
            <p:txBody>
              <a:bodyPr>
                <a:no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 smtClean="0">
                    <a:solidFill>
                      <a:srgbClr val="C00000"/>
                    </a:solidFill>
                  </a:rPr>
                  <a:t>Precondition</a:t>
                </a:r>
                <a:r>
                  <a:rPr lang="en-US" b="1" dirty="0">
                    <a:solidFill>
                      <a:srgbClr val="C00000"/>
                    </a:solidFill>
                  </a:rPr>
                  <a:t>: </a:t>
                </a:r>
                <a:r>
                  <a:rPr lang="en-US" b="1" dirty="0"/>
                  <a:t>Every process </a:t>
                </a:r>
                <a:r>
                  <a:rPr lang="en-US" b="1" i="1" dirty="0" err="1"/>
                  <a:t>i</a:t>
                </a:r>
                <a:r>
                  <a:rPr lang="en-US" b="1" dirty="0"/>
                  <a:t> has a </a:t>
                </a:r>
                <a:r>
                  <a:rPr lang="en-US" b="1" dirty="0">
                    <a:solidFill>
                      <a:srgbClr val="0000A8"/>
                    </a:solidFill>
                  </a:rPr>
                  <a:t>single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/>
                  <a:t> of size </a:t>
                </a:r>
                <a:r>
                  <a:rPr lang="en-US" b="1" i="1" dirty="0"/>
                  <a:t>m </a:t>
                </a:r>
                <a:r>
                  <a:rPr lang="en-US" b="1" i="1" dirty="0" smtClean="0"/>
                  <a:t>words.</a:t>
                </a:r>
                <a:endParaRPr lang="en-US" b="1" i="1" dirty="0"/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C00000"/>
                    </a:solidFill>
                  </a:rPr>
                  <a:t>Post condition: </a:t>
                </a:r>
                <a:r>
                  <a:rPr lang="en-US" b="1" dirty="0"/>
                  <a:t>All processes have a </a:t>
                </a:r>
                <a:r>
                  <a:rPr lang="en-US" b="1" dirty="0">
                    <a:solidFill>
                      <a:srgbClr val="0000A8"/>
                    </a:solidFill>
                  </a:rPr>
                  <a:t>reduced message </a:t>
                </a:r>
                <a:r>
                  <a:rPr lang="en-US" b="1" i="1" dirty="0"/>
                  <a:t>M of size m </a:t>
                </a:r>
                <a:r>
                  <a:rPr lang="en-US" b="1" i="1" dirty="0" smtClean="0"/>
                  <a:t>words</a:t>
                </a:r>
                <a:r>
                  <a:rPr lang="en-US" b="1" i="1" dirty="0"/>
                  <a:t>.</a:t>
                </a:r>
                <a:endParaRPr lang="en-US" b="1" dirty="0" smtClean="0"/>
              </a:p>
              <a:p>
                <a:pPr marL="0" indent="0" algn="just">
                  <a:buNone/>
                </a:pPr>
                <a:r>
                  <a:rPr lang="en-US" b="1" dirty="0" smtClean="0"/>
                  <a:t>Strategies</a:t>
                </a:r>
                <a:r>
                  <a:rPr lang="en-US" b="1" dirty="0"/>
                  <a:t>: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b="1" dirty="0"/>
                  <a:t>Use </a:t>
                </a:r>
                <a:r>
                  <a:rPr lang="en-US" b="1" dirty="0">
                    <a:solidFill>
                      <a:srgbClr val="0000A8"/>
                    </a:solidFill>
                  </a:rPr>
                  <a:t>all-to-one reduction </a:t>
                </a:r>
                <a:r>
                  <a:rPr lang="en-US" b="1" dirty="0"/>
                  <a:t>followed by </a:t>
                </a:r>
                <a:r>
                  <a:rPr lang="en-US" b="1" dirty="0">
                    <a:solidFill>
                      <a:srgbClr val="0000A8"/>
                    </a:solidFill>
                  </a:rPr>
                  <a:t>one-to-all broadcast </a:t>
                </a:r>
                <a:r>
                  <a:rPr lang="en-US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func>
                  </m:oMath>
                </a14:m>
                <a:r>
                  <a:rPr lang="en-US" b="1" dirty="0"/>
                  <a:t>)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b="1" dirty="0"/>
                  <a:t>Use </a:t>
                </a:r>
                <a:r>
                  <a:rPr lang="en-US" b="1" dirty="0">
                    <a:solidFill>
                      <a:srgbClr val="0000A8"/>
                    </a:solidFill>
                  </a:rPr>
                  <a:t>modified All-to-All </a:t>
                </a:r>
                <a:r>
                  <a:rPr lang="en-US" b="1" dirty="0"/>
                  <a:t>comm. algorithm for hypercube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func>
                  </m:oMath>
                </a14:m>
                <a:endParaRPr lang="en-US" b="1" dirty="0" smtClean="0"/>
              </a:p>
              <a:p>
                <a:pPr marL="0" indent="0" algn="just">
                  <a:buNone/>
                </a:pPr>
                <a:endParaRPr lang="en-US" b="1" dirty="0" smtClean="0"/>
              </a:p>
              <a:p>
                <a:pPr marL="914400" lvl="1" indent="-514350" algn="just">
                  <a:buFont typeface="Wingdings" panose="05000000000000000000" pitchFamily="2" charset="2"/>
                  <a:buChar char="Ø"/>
                </a:pPr>
                <a:r>
                  <a:rPr lang="en-US" b="1" dirty="0" smtClean="0"/>
                  <a:t>Replace </a:t>
                </a:r>
                <a:r>
                  <a:rPr lang="en-US" b="1" dirty="0"/>
                  <a:t>Union with associative operator</a:t>
                </a:r>
              </a:p>
              <a:p>
                <a:pPr marL="0" indent="0" algn="just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  <a:blipFill rotWithShape="0">
                <a:blip r:embed="rId2"/>
                <a:stretch>
                  <a:fillRect l="-1217" t="-1935" r="-1159" b="-1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 </a:t>
            </a:r>
            <a:r>
              <a:rPr lang="en-US" dirty="0"/>
              <a:t>All-Reduce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564597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 </a:t>
            </a:r>
            <a:r>
              <a:rPr lang="en-US" dirty="0" smtClean="0"/>
              <a:t>All-Reduce (Cont.)</a:t>
            </a:r>
            <a:endParaRPr lang="en-US" b="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55" y="1401763"/>
            <a:ext cx="9274490" cy="5041900"/>
          </a:xfrm>
        </p:spPr>
      </p:pic>
    </p:spTree>
    <p:extLst>
      <p:ext uri="{BB962C8B-B14F-4D97-AF65-F5344CB8AC3E}">
        <p14:creationId xmlns:p14="http://schemas.microsoft.com/office/powerpoint/2010/main" val="10811513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</p:spPr>
            <p:txBody>
              <a:bodyPr>
                <a:no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Prefix-sums </a:t>
                </a:r>
                <a:r>
                  <a:rPr lang="en-US" b="1" dirty="0"/>
                  <a:t>are also known as </a:t>
                </a:r>
                <a:r>
                  <a:rPr lang="en-US" b="1" dirty="0">
                    <a:solidFill>
                      <a:srgbClr val="000099"/>
                    </a:solidFill>
                  </a:rPr>
                  <a:t>cumulative sum</a:t>
                </a:r>
                <a:r>
                  <a:rPr lang="en-US" b="1" dirty="0"/>
                  <a:t> or </a:t>
                </a:r>
                <a:r>
                  <a:rPr lang="en-US" b="1" dirty="0">
                    <a:solidFill>
                      <a:srgbClr val="000099"/>
                    </a:solidFill>
                  </a:rPr>
                  <a:t>scan</a:t>
                </a:r>
                <a:r>
                  <a:rPr lang="en-US" b="1" dirty="0"/>
                  <a:t> operations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Given </a:t>
                </a:r>
                <a:r>
                  <a:rPr lang="en-US" b="1" i="1" dirty="0"/>
                  <a:t>p </a:t>
                </a:r>
                <a:r>
                  <a:rPr lang="en-US" b="1" dirty="0"/>
                  <a:t>numbers </a:t>
                </a:r>
                <a:r>
                  <a:rPr lang="en-US" b="1" i="1" dirty="0"/>
                  <a:t>n</a:t>
                </a:r>
                <a:r>
                  <a:rPr lang="en-US" sz="1800" b="1" dirty="0"/>
                  <a:t>0</a:t>
                </a:r>
                <a:r>
                  <a:rPr lang="en-US" b="1" dirty="0"/>
                  <a:t>, </a:t>
                </a:r>
                <a:r>
                  <a:rPr lang="en-US" b="1" i="1" dirty="0"/>
                  <a:t>n</a:t>
                </a:r>
                <a:r>
                  <a:rPr lang="en-US" sz="1800" b="1" dirty="0"/>
                  <a:t>1</a:t>
                </a:r>
                <a:r>
                  <a:rPr lang="en-US" b="1" dirty="0"/>
                  <a:t>, ..., </a:t>
                </a:r>
                <a:r>
                  <a:rPr lang="en-US" b="1" i="1" dirty="0"/>
                  <a:t>n</a:t>
                </a:r>
                <a:r>
                  <a:rPr lang="en-US" sz="1800" b="1" i="1" dirty="0"/>
                  <a:t>p</a:t>
                </a:r>
                <a:r>
                  <a:rPr lang="en-US" sz="1800" b="1" dirty="0"/>
                  <a:t>-1</a:t>
                </a:r>
                <a:r>
                  <a:rPr lang="en-US" sz="900" b="1" dirty="0"/>
                  <a:t> </a:t>
                </a:r>
                <a:r>
                  <a:rPr lang="en-US" b="1" dirty="0"/>
                  <a:t>(one on each node), the problem is to compute the sums such that: - 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𝑲</m:t>
                        </m:r>
                      </m:sup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1" dirty="0"/>
              </a:p>
              <a:p>
                <a:pPr lvl="2" algn="just">
                  <a:buClr>
                    <a:srgbClr val="0000A8"/>
                  </a:buClr>
                  <a:buFont typeface="Wingdings" panose="05000000000000000000" pitchFamily="2" charset="2"/>
                  <a:buChar char="ü"/>
                </a:pPr>
                <a:r>
                  <a:rPr lang="en-US" sz="2400" b="1" dirty="0"/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2400" b="1" dirty="0"/>
                  <a:t> is the </a:t>
                </a:r>
                <a:r>
                  <a:rPr lang="en-US" sz="2400" b="1" dirty="0">
                    <a:solidFill>
                      <a:srgbClr val="0000A8"/>
                    </a:solidFill>
                  </a:rPr>
                  <a:t>prefix-sum</a:t>
                </a:r>
                <a:r>
                  <a:rPr lang="en-US" sz="2400" b="1" dirty="0"/>
                  <a:t> computed at kth node after the </a:t>
                </a:r>
                <a:r>
                  <a:rPr lang="en-US" sz="2400" b="1" dirty="0" smtClean="0"/>
                  <a:t>operation.</a:t>
                </a:r>
                <a:r>
                  <a:rPr lang="en-US" sz="2600" b="1" dirty="0" smtClean="0"/>
                  <a:t>:</a:t>
                </a:r>
                <a:endParaRPr lang="en-US" sz="2600" b="1" dirty="0"/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Example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US" b="1" dirty="0" smtClean="0"/>
                  <a:t> </a:t>
                </a:r>
                <a:r>
                  <a:rPr lang="en-US" b="1" dirty="0"/>
                  <a:t>Original sequence: &lt;3, 1, 4, 0, 2&gt;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US" b="1" dirty="0"/>
                  <a:t> Sequence of prefix sums: &lt;3, 4, 8, 8, 10&gt; 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US" sz="2800" b="1" dirty="0"/>
                  <a:t>Applications in </a:t>
                </a:r>
                <a:r>
                  <a:rPr lang="en-US" sz="2800" b="1" dirty="0">
                    <a:solidFill>
                      <a:srgbClr val="0000A8"/>
                    </a:solidFill>
                  </a:rPr>
                  <a:t>DNA sequence alignment </a:t>
                </a:r>
                <a:r>
                  <a:rPr lang="en-US" sz="2800" b="1" dirty="0"/>
                  <a:t>and </a:t>
                </a:r>
                <a:r>
                  <a:rPr lang="en-US" sz="2800" b="1" dirty="0">
                    <a:solidFill>
                      <a:srgbClr val="0000A8"/>
                    </a:solidFill>
                  </a:rPr>
                  <a:t>dynamic programming-based</a:t>
                </a:r>
                <a:r>
                  <a:rPr lang="en-US" sz="2800" b="1" dirty="0"/>
                  <a:t> problems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endParaRPr lang="en-US" sz="2600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  <a:blipFill rotWithShape="0">
                <a:blip r:embed="rId2"/>
                <a:stretch>
                  <a:fillRect t="-1935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Prefix Sum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596722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Prefix Sum (Cont.)</a:t>
            </a:r>
            <a:endParaRPr lang="en-US" b="0" dirty="0">
              <a:solidFill>
                <a:srgbClr val="7030A0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6447A269-6751-4CEF-AFED-4F2E60592B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335" y="1401763"/>
            <a:ext cx="6233330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4627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Prefix Sum (Cont.)</a:t>
            </a:r>
            <a:endParaRPr lang="en-US" b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AFEDA3A-FA19-4BD0-877C-ADFCC0B841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864" y="1724025"/>
            <a:ext cx="8594271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87430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Gather is </a:t>
            </a:r>
            <a:r>
              <a:rPr lang="en-US" sz="3200" b="1" dirty="0">
                <a:solidFill>
                  <a:srgbClr val="000099"/>
                </a:solidFill>
              </a:rPr>
              <a:t>different than reduction</a:t>
            </a:r>
            <a:r>
              <a:rPr lang="en-US" sz="3200" b="1" dirty="0"/>
              <a:t> as it doesn’t reduce the results with associative operator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Scatter and Gather</a:t>
            </a:r>
            <a:endParaRPr lang="en-US" b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579F5423-8843-4216-9F3D-A2642A92E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7" y="2572420"/>
            <a:ext cx="8226425" cy="270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84264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Scatter and </a:t>
            </a:r>
            <a:r>
              <a:rPr lang="en-US" dirty="0" smtClean="0">
                <a:solidFill>
                  <a:srgbClr val="7030A0"/>
                </a:solidFill>
              </a:rPr>
              <a:t>Gather (Cont.)</a:t>
            </a:r>
            <a:endParaRPr lang="en-US" b="0" dirty="0">
              <a:solidFill>
                <a:srgbClr val="7030A0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553C77FC-27ED-4533-9D7B-4413F41D40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952" y="1401763"/>
            <a:ext cx="4868096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69796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Each node sends a </a:t>
            </a:r>
            <a:r>
              <a:rPr lang="en-US" sz="2400" b="1" dirty="0">
                <a:solidFill>
                  <a:srgbClr val="0000A8"/>
                </a:solidFill>
              </a:rPr>
              <a:t>distinct message </a:t>
            </a:r>
            <a:r>
              <a:rPr lang="en-US" sz="2400" b="1" dirty="0"/>
              <a:t>of size </a:t>
            </a:r>
            <a:r>
              <a:rPr lang="en-US" sz="2400" b="1" i="1" dirty="0"/>
              <a:t>m </a:t>
            </a:r>
            <a:r>
              <a:rPr lang="en-US" sz="2400" b="1" dirty="0"/>
              <a:t>to every other </a:t>
            </a:r>
            <a:r>
              <a:rPr lang="en-US" sz="2400" b="1" dirty="0" smtClean="0"/>
              <a:t>node 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Also known as </a:t>
            </a:r>
            <a:r>
              <a:rPr lang="en-US" sz="2400" b="1" dirty="0">
                <a:solidFill>
                  <a:srgbClr val="000099"/>
                </a:solidFill>
              </a:rPr>
              <a:t>total </a:t>
            </a:r>
            <a:r>
              <a:rPr lang="en-US" sz="2400" b="1" dirty="0" smtClean="0">
                <a:solidFill>
                  <a:srgbClr val="000099"/>
                </a:solidFill>
              </a:rPr>
              <a:t>exchange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Usually </a:t>
            </a:r>
            <a:r>
              <a:rPr lang="en-US" sz="2400" b="1" dirty="0">
                <a:solidFill>
                  <a:srgbClr val="0000A8"/>
                </a:solidFill>
              </a:rPr>
              <a:t>used</a:t>
            </a:r>
            <a:r>
              <a:rPr lang="en-US" sz="2400" b="1" dirty="0"/>
              <a:t> for distributed matrix transpositions, Fourier transformations, Sample sort [last step] and uTorrent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99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/>
              <a:t> </a:t>
            </a:r>
            <a:r>
              <a:rPr lang="en-US" dirty="0"/>
              <a:t>All-to-All </a:t>
            </a:r>
            <a:r>
              <a:rPr lang="en-US" dirty="0" smtClean="0"/>
              <a:t>Personalized</a:t>
            </a:r>
            <a:endParaRPr lang="en-US" b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A2878414-CC95-4AE2-8469-050EF0DB1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415" y="3041355"/>
            <a:ext cx="8226425" cy="3401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22090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229" y="1613929"/>
            <a:ext cx="6545942" cy="3944172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/>
              <a:t> </a:t>
            </a:r>
            <a:r>
              <a:rPr lang="en-US" dirty="0"/>
              <a:t>All-to-All </a:t>
            </a:r>
            <a:r>
              <a:rPr lang="en-US" dirty="0" smtClean="0"/>
              <a:t>Personalized (Cont.)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16409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/>
              <a:t> </a:t>
            </a:r>
            <a:r>
              <a:rPr lang="en-US" dirty="0"/>
              <a:t>All-to-All </a:t>
            </a:r>
            <a:r>
              <a:rPr lang="en-US" dirty="0" smtClean="0"/>
              <a:t>Personalized (Cont.)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C19C6E2-6D04-4898-B53F-07D87FD28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18" y="1686996"/>
            <a:ext cx="7286153" cy="470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63419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Cost Analysis 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C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𝒎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pt-BR" b="1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)+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𝒎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nary>
                          <m:naryPr>
                            <m:chr m:val="∑"/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nary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1" dirty="0"/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b="1" dirty="0">
                    <a:sym typeface="Wingdings" panose="05000000000000000000" pitchFamily="2" charset="2"/>
                  </a:rPr>
                  <a:t>    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   + 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</m:oMath>
                </a14:m>
                <a:endParaRPr lang="en-US" b="1" dirty="0"/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b="1" dirty="0"/>
                  <a:t>    </a:t>
                </a:r>
                <a:r>
                  <a:rPr lang="en-US" b="1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𝒑𝒎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b="1" dirty="0" smtClean="0"/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endParaRPr lang="en-US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  <a:blipFill rotWithShape="0">
                <a:blip r:embed="rId3"/>
                <a:stretch>
                  <a:fillRect l="-1217" t="-1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All-to-All </a:t>
            </a:r>
            <a:r>
              <a:rPr lang="en-US" dirty="0"/>
              <a:t>P</a:t>
            </a:r>
            <a:r>
              <a:rPr lang="en-US" dirty="0" smtClean="0"/>
              <a:t>ersonalized </a:t>
            </a:r>
            <a:r>
              <a:rPr lang="en-US" dirty="0"/>
              <a:t>[Ring] 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5799960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All-to-All </a:t>
            </a:r>
            <a:r>
              <a:rPr lang="en-US" dirty="0"/>
              <a:t>P</a:t>
            </a:r>
            <a:r>
              <a:rPr lang="en-US" dirty="0" smtClean="0"/>
              <a:t>ersonalized </a:t>
            </a:r>
            <a:r>
              <a:rPr lang="en-US" dirty="0"/>
              <a:t>[Mesh] </a:t>
            </a:r>
            <a:endParaRPr lang="en-US" b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CF2B8DA4-F33B-4FF1-88D0-F7CD371D9E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112" y="1401763"/>
            <a:ext cx="5967776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41567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All-to-All </a:t>
            </a:r>
            <a:r>
              <a:rPr lang="en-US" dirty="0"/>
              <a:t>personalized [Mesh] </a:t>
            </a:r>
            <a:endParaRPr lang="en-US" b="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Cost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Time for the first phase is identical to that in a ring with </a:t>
            </a:r>
            <a:r>
              <a:rPr lang="en-US" altLang="en-US" b="1" i="1" dirty="0">
                <a:latin typeface="Arial Unicode MS" pitchFamily="34" charset="-128"/>
                <a:ea typeface="Arial Unicode MS" pitchFamily="34" charset="-128"/>
              </a:rPr>
              <a:t>√p</a:t>
            </a:r>
            <a:r>
              <a:rPr lang="en-US" altLang="en-US" b="1" dirty="0"/>
              <a:t> processors, i.e., </a:t>
            </a:r>
            <a:r>
              <a:rPr lang="en-US" altLang="en-US" b="1" i="1" dirty="0"/>
              <a:t>(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s</a:t>
            </a:r>
            <a:r>
              <a:rPr lang="en-US" altLang="en-US" b="1" i="1" dirty="0"/>
              <a:t> +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b="1" i="1" dirty="0" err="1"/>
              <a:t>mp</a:t>
            </a:r>
            <a:r>
              <a:rPr lang="en-US" altLang="en-US" b="1" i="1" dirty="0"/>
              <a:t>/2)(</a:t>
            </a:r>
            <a:r>
              <a:rPr lang="en-US" altLang="en-US" b="1" i="1" dirty="0">
                <a:latin typeface="Arial Unicode MS" pitchFamily="34" charset="-128"/>
                <a:ea typeface="Arial Unicode MS" pitchFamily="34" charset="-128"/>
              </a:rPr>
              <a:t>√p</a:t>
            </a:r>
            <a:r>
              <a:rPr lang="en-US" altLang="en-US" b="1" i="1" dirty="0"/>
              <a:t> – 1)</a:t>
            </a:r>
            <a:r>
              <a:rPr lang="en-US" altLang="en-US" b="1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b="1" dirty="0"/>
              <a:t>Here  </a:t>
            </a:r>
            <a:r>
              <a:rPr lang="en-US" altLang="en-US" b="1" dirty="0" err="1"/>
              <a:t>m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b="1" i="1" dirty="0"/>
              <a:t> becomes </a:t>
            </a:r>
            <a:r>
              <a:rPr lang="en-US" altLang="en-US" b="1" i="1" dirty="0">
                <a:latin typeface="Arial Unicode MS" pitchFamily="34" charset="-128"/>
                <a:ea typeface="Arial Unicode MS" pitchFamily="34" charset="-128"/>
              </a:rPr>
              <a:t>√p </a:t>
            </a:r>
            <a:r>
              <a:rPr lang="en-US" altLang="en-US" b="1" dirty="0" err="1"/>
              <a:t>m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b="1" i="1" baseline="-25000" dirty="0"/>
              <a:t>  </a:t>
            </a:r>
            <a:r>
              <a:rPr lang="en-US" altLang="en-US" b="1" dirty="0"/>
              <a:t>and P becomes </a:t>
            </a:r>
            <a:r>
              <a:rPr lang="en-US" altLang="en-US" b="1" i="1" dirty="0">
                <a:latin typeface="Arial Unicode MS" pitchFamily="34" charset="-128"/>
                <a:ea typeface="Arial Unicode MS" pitchFamily="34" charset="-128"/>
              </a:rPr>
              <a:t>√p</a:t>
            </a:r>
            <a:endParaRPr lang="en-US" alt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Time in the second phase is identical to the first phase. Therefore, total time is twice of this time, i.e.,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b="1" i="1" dirty="0"/>
              <a:t>2 [(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s</a:t>
            </a:r>
            <a:r>
              <a:rPr lang="en-US" altLang="en-US" b="1" i="1" dirty="0"/>
              <a:t> +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b="1" i="1" dirty="0" err="1"/>
              <a:t>mp</a:t>
            </a:r>
            <a:r>
              <a:rPr lang="en-US" altLang="en-US" b="1" i="1" dirty="0"/>
              <a:t>/2)(</a:t>
            </a:r>
            <a:r>
              <a:rPr lang="en-US" altLang="en-US" b="1" i="1" dirty="0">
                <a:latin typeface="Arial Unicode MS" pitchFamily="34" charset="-128"/>
                <a:ea typeface="Arial Unicode MS" pitchFamily="34" charset="-128"/>
              </a:rPr>
              <a:t>√p</a:t>
            </a:r>
            <a:r>
              <a:rPr lang="en-US" altLang="en-US" b="1" i="1" dirty="0"/>
              <a:t> – 1)]</a:t>
            </a:r>
            <a:r>
              <a:rPr lang="en-US" altLang="en-US" b="1" dirty="0"/>
              <a:t>.</a:t>
            </a:r>
          </a:p>
          <a:p>
            <a:pPr lvl="1"/>
            <a:endParaRPr lang="en-US" alt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3124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Dry run </a:t>
            </a:r>
            <a:r>
              <a:rPr lang="en-US" sz="3200" b="1" dirty="0" smtClean="0"/>
              <a:t>all reduce operation </a:t>
            </a:r>
            <a:r>
              <a:rPr lang="en-US" sz="3200" b="1" dirty="0"/>
              <a:t>on 8</a:t>
            </a:r>
            <a:r>
              <a:rPr lang="en-US" sz="3200" b="1" dirty="0" smtClean="0"/>
              <a:t> nodes.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333399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Exercise</a:t>
            </a:r>
            <a:endParaRPr lang="en-US" b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60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Basic </a:t>
            </a:r>
            <a:r>
              <a:rPr lang="en-US" sz="3200" b="1" dirty="0"/>
              <a:t>Communication </a:t>
            </a:r>
            <a:r>
              <a:rPr lang="en-US" sz="3200" b="1" dirty="0" smtClean="0"/>
              <a:t>Operations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All-Reduce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Use </a:t>
            </a:r>
            <a:r>
              <a:rPr lang="en-US" b="1" dirty="0"/>
              <a:t>all-to-one reduction followed by one-to-all broadcast</a:t>
            </a:r>
            <a:r>
              <a:rPr lang="en-US" sz="2800" b="1" dirty="0"/>
              <a:t> </a:t>
            </a:r>
            <a:endParaRPr lang="en-US" sz="28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Prefix Sum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Also </a:t>
            </a:r>
            <a:r>
              <a:rPr lang="en-US" b="1" dirty="0"/>
              <a:t>known as cumulative sum or scan </a:t>
            </a:r>
            <a:r>
              <a:rPr lang="en-US" b="1" dirty="0" smtClean="0"/>
              <a:t>operations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Applications </a:t>
            </a:r>
            <a:r>
              <a:rPr lang="en-US" b="1" dirty="0"/>
              <a:t>in DNA sequence alignment and dynamic programming-based </a:t>
            </a:r>
            <a:r>
              <a:rPr lang="en-US" b="1" dirty="0" smtClean="0"/>
              <a:t>problems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Scatter </a:t>
            </a:r>
            <a:r>
              <a:rPr lang="en-US" b="1" dirty="0"/>
              <a:t>and </a:t>
            </a:r>
            <a:r>
              <a:rPr lang="en-US" b="1" dirty="0" smtClean="0"/>
              <a:t>Gather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Gather </a:t>
            </a:r>
            <a:r>
              <a:rPr lang="en-US" b="1" dirty="0"/>
              <a:t>is different than </a:t>
            </a:r>
            <a:r>
              <a:rPr lang="en-US" b="1" dirty="0" smtClean="0"/>
              <a:t>reduction, </a:t>
            </a:r>
            <a:r>
              <a:rPr lang="en-US" b="1" dirty="0"/>
              <a:t>doesn’t reduce the results with associative </a:t>
            </a:r>
            <a:r>
              <a:rPr lang="en-US" b="1" dirty="0" smtClean="0"/>
              <a:t>operator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518325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Basic </a:t>
            </a:r>
            <a:r>
              <a:rPr lang="en-US" sz="3200" b="1" dirty="0"/>
              <a:t>Communication </a:t>
            </a:r>
            <a:r>
              <a:rPr lang="en-US" sz="3200" b="1" dirty="0" smtClean="0"/>
              <a:t>Operations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All-to-All Personalized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Each </a:t>
            </a:r>
            <a:r>
              <a:rPr lang="en-US" b="1" dirty="0"/>
              <a:t>node sends a distinct message of size m to every other node </a:t>
            </a:r>
            <a:endParaRPr lang="en-US" b="1" dirty="0" smtClean="0"/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All-to-All </a:t>
            </a:r>
            <a:r>
              <a:rPr lang="en-US" b="1" dirty="0"/>
              <a:t>Personalized [Ring] Cost Analysis </a:t>
            </a:r>
            <a:endParaRPr lang="en-US" b="1" dirty="0" smtClean="0"/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All-to-All </a:t>
            </a:r>
            <a:r>
              <a:rPr lang="en-US" b="1" dirty="0"/>
              <a:t>Personalized [Mesh] Cost </a:t>
            </a:r>
            <a:r>
              <a:rPr lang="en-US" b="1" dirty="0" smtClean="0"/>
              <a:t>Analysis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Exercise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850102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333399"/>
                </a:solidFill>
              </a:rPr>
              <a:t>Introduction to Parallel Computing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/>
              <a:t>by </a:t>
            </a:r>
            <a:r>
              <a:rPr lang="en-US" sz="3200" b="1" dirty="0" err="1"/>
              <a:t>Ananth</a:t>
            </a:r>
            <a:r>
              <a:rPr lang="en-US" sz="3200" b="1" dirty="0"/>
              <a:t> </a:t>
            </a:r>
            <a:r>
              <a:rPr lang="en-US" sz="3200" b="1" dirty="0" err="1"/>
              <a:t>Grama</a:t>
            </a:r>
            <a:r>
              <a:rPr lang="en-US" sz="3200" b="1" dirty="0"/>
              <a:t> and </a:t>
            </a:r>
            <a:r>
              <a:rPr lang="en-US" sz="3200" b="1" dirty="0" err="1"/>
              <a:t>Anshul</a:t>
            </a:r>
            <a:r>
              <a:rPr lang="en-US" sz="3200" b="1" dirty="0"/>
              <a:t> Gupta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1" dirty="0"/>
              <a:t>Chapter 4: Basic Communication Operations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333399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Resources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384562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2796</TotalTime>
  <Words>512</Words>
  <Application>Microsoft Office PowerPoint</Application>
  <PresentationFormat>Widescreen</PresentationFormat>
  <Paragraphs>117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 Unicode MS</vt:lpstr>
      <vt:lpstr>Arial</vt:lpstr>
      <vt:lpstr>Calibri</vt:lpstr>
      <vt:lpstr>Calibri Light</vt:lpstr>
      <vt:lpstr>Cambria Math</vt:lpstr>
      <vt:lpstr>Wingdings</vt:lpstr>
      <vt:lpstr>Office Theme</vt:lpstr>
      <vt:lpstr>CS 3006 Parallel and Distributed Computing Lecture 14</vt:lpstr>
      <vt:lpstr>Basic Communication Operations – Part 2</vt:lpstr>
      <vt:lpstr> Outline</vt:lpstr>
      <vt:lpstr> All-Reduce</vt:lpstr>
      <vt:lpstr> All-Reduce (Cont.)</vt:lpstr>
      <vt:lpstr>Prefix Sum</vt:lpstr>
      <vt:lpstr>Prefix Sum (Cont.)</vt:lpstr>
      <vt:lpstr>Prefix Sum (Cont.)</vt:lpstr>
      <vt:lpstr>Scatter and Gather</vt:lpstr>
      <vt:lpstr>Scatter and Gather (Cont.)</vt:lpstr>
      <vt:lpstr> All-to-All Personalized</vt:lpstr>
      <vt:lpstr> All-to-All Personalized (Cont.)</vt:lpstr>
      <vt:lpstr> All-to-All Personalized (Cont.)</vt:lpstr>
      <vt:lpstr>All-to-All Personalized [Ring] </vt:lpstr>
      <vt:lpstr>All-to-All Personalized [Mesh] </vt:lpstr>
      <vt:lpstr>All-to-All personalized [Mesh] </vt:lpstr>
      <vt:lpstr>Exercise</vt:lpstr>
      <vt:lpstr>Summary</vt:lpstr>
      <vt:lpstr>Summary (Cont.)</vt:lpstr>
      <vt:lpstr>Additional Resources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530</cp:revision>
  <dcterms:created xsi:type="dcterms:W3CDTF">2020-01-18T07:24:00Z</dcterms:created>
  <dcterms:modified xsi:type="dcterms:W3CDTF">2024-03-22T13:46:20Z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