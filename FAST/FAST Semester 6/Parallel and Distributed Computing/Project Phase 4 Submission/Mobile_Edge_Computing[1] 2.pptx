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5"/>
  </p:notesMasterIdLst>
  <p:sldIdLst>
    <p:sldId id="256" r:id="rId2"/>
    <p:sldId id="258" r:id="rId3"/>
    <p:sldId id="259" r:id="rId4"/>
    <p:sldId id="261" r:id="rId5"/>
    <p:sldId id="308" r:id="rId6"/>
    <p:sldId id="298" r:id="rId7"/>
    <p:sldId id="309" r:id="rId8"/>
    <p:sldId id="325" r:id="rId9"/>
    <p:sldId id="310" r:id="rId10"/>
    <p:sldId id="262" r:id="rId11"/>
    <p:sldId id="311" r:id="rId12"/>
    <p:sldId id="303" r:id="rId13"/>
    <p:sldId id="312" r:id="rId14"/>
    <p:sldId id="324" r:id="rId15"/>
    <p:sldId id="317" r:id="rId16"/>
    <p:sldId id="315" r:id="rId17"/>
    <p:sldId id="263" r:id="rId18"/>
    <p:sldId id="266" r:id="rId19"/>
    <p:sldId id="326" r:id="rId20"/>
    <p:sldId id="313" r:id="rId21"/>
    <p:sldId id="306" r:id="rId22"/>
    <p:sldId id="314" r:id="rId23"/>
    <p:sldId id="307" r:id="rId24"/>
  </p:sldIdLst>
  <p:sldSz cx="9144000" cy="5143500" type="screen16x9"/>
  <p:notesSz cx="6858000" cy="9144000"/>
  <p:embeddedFontLst>
    <p:embeddedFont>
      <p:font typeface="Albert Sans" panose="020B0604020202020204" charset="0"/>
      <p:regular r:id="rId26"/>
      <p:bold r:id="rId27"/>
      <p:italic r:id="rId28"/>
      <p:boldItalic r:id="rId29"/>
    </p:embeddedFont>
    <p:embeddedFont>
      <p:font typeface="Albert Sans Medium" panose="020B0604020202020204" charset="0"/>
      <p:regular r:id="rId30"/>
      <p:bold r:id="rId31"/>
      <p:italic r:id="rId32"/>
      <p:boldItalic r:id="rId33"/>
    </p:embeddedFont>
    <p:embeddedFont>
      <p:font typeface="Plus Jakarta Sans" panose="020B0604020202020204" charset="0"/>
      <p:regular r:id="rId34"/>
      <p:bold r:id="rId35"/>
      <p:italic r:id="rId36"/>
      <p:boldItalic r:id="rId37"/>
    </p:embeddedFont>
    <p:embeddedFont>
      <p:font typeface="Raleway"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97581-BB69-4986-B17A-2E8B9BBEC12D}" v="2" dt="2024-05-09T06:12:39.124"/>
    <p1510:client id="{D98E6B44-E628-EF77-A892-26A364D1940C}" v="1" dt="2024-05-08T18:52:59.997"/>
  </p1510:revLst>
</p1510:revInfo>
</file>

<file path=ppt/tableStyles.xml><?xml version="1.0" encoding="utf-8"?>
<a:tblStyleLst xmlns:a="http://schemas.openxmlformats.org/drawingml/2006/main" def="{6F9A77EB-567C-44E9-BA34-CC3E17D8414D}">
  <a:tblStyle styleId="{6F9A77EB-567C-44E9-BA34-CC3E17D841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681124281b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681124281b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5829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9242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7179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191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9006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1258269c9b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1258269c9b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3683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8215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5765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768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236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6981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552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202756"/>
            <a:ext cx="4141200" cy="12447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00" y="2663356"/>
            <a:ext cx="2608200" cy="521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0" y="535000"/>
            <a:ext cx="9229575" cy="4073075"/>
            <a:chOff x="0" y="535000"/>
            <a:chExt cx="9229575" cy="4073075"/>
          </a:xfrm>
        </p:grpSpPr>
        <p:cxnSp>
          <p:nvCxnSpPr>
            <p:cNvPr id="12" name="Google Shape;12;p2"/>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3" name="Google Shape;13;p2"/>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715100" y="2279275"/>
            <a:ext cx="3658800" cy="17769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715100" y="1087338"/>
            <a:ext cx="1117500" cy="1088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7" name="Google Shape;17;p3"/>
          <p:cNvGrpSpPr/>
          <p:nvPr/>
        </p:nvGrpSpPr>
        <p:grpSpPr>
          <a:xfrm>
            <a:off x="0" y="535000"/>
            <a:ext cx="9229575" cy="4073075"/>
            <a:chOff x="0" y="535000"/>
            <a:chExt cx="9229575" cy="4073075"/>
          </a:xfrm>
        </p:grpSpPr>
        <p:cxnSp>
          <p:nvCxnSpPr>
            <p:cNvPr id="18" name="Google Shape;18;p3"/>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9" name="Google Shape;19;p3"/>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 name="Google Shape;28;p5"/>
          <p:cNvSpPr txBox="1">
            <a:spLocks noGrp="1"/>
          </p:cNvSpPr>
          <p:nvPr>
            <p:ph type="subTitle" idx="1"/>
          </p:nvPr>
        </p:nvSpPr>
        <p:spPr>
          <a:xfrm>
            <a:off x="3924868" y="2574150"/>
            <a:ext cx="2505600" cy="16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2"/>
          </p:nvPr>
        </p:nvSpPr>
        <p:spPr>
          <a:xfrm>
            <a:off x="716994" y="2574150"/>
            <a:ext cx="2505600" cy="16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 name="Google Shape;30;p5"/>
          <p:cNvSpPr txBox="1">
            <a:spLocks noGrp="1"/>
          </p:cNvSpPr>
          <p:nvPr>
            <p:ph type="subTitle" idx="3"/>
          </p:nvPr>
        </p:nvSpPr>
        <p:spPr>
          <a:xfrm>
            <a:off x="717000" y="2091447"/>
            <a:ext cx="25056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31" name="Google Shape;31;p5"/>
          <p:cNvSpPr txBox="1">
            <a:spLocks noGrp="1"/>
          </p:cNvSpPr>
          <p:nvPr>
            <p:ph type="subTitle" idx="4"/>
          </p:nvPr>
        </p:nvSpPr>
        <p:spPr>
          <a:xfrm>
            <a:off x="3924875" y="2091447"/>
            <a:ext cx="25056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32" name="Google Shape;32;p5"/>
          <p:cNvGrpSpPr/>
          <p:nvPr/>
        </p:nvGrpSpPr>
        <p:grpSpPr>
          <a:xfrm>
            <a:off x="-30077" y="270450"/>
            <a:ext cx="9172568" cy="4609975"/>
            <a:chOff x="-1049" y="270450"/>
            <a:chExt cx="9172568" cy="4609975"/>
          </a:xfrm>
        </p:grpSpPr>
        <p:cxnSp>
          <p:nvCxnSpPr>
            <p:cNvPr id="33" name="Google Shape;33;p5"/>
            <p:cNvCxnSpPr/>
            <p:nvPr/>
          </p:nvCxnSpPr>
          <p:spPr>
            <a:xfrm>
              <a:off x="1973619" y="4880425"/>
              <a:ext cx="7197900" cy="0"/>
            </a:xfrm>
            <a:prstGeom prst="straightConnector1">
              <a:avLst/>
            </a:prstGeom>
            <a:noFill/>
            <a:ln w="19050" cap="flat" cmpd="sng">
              <a:solidFill>
                <a:schemeClr val="accent1">
                  <a:lumMod val="75000"/>
                </a:schemeClr>
              </a:solidFill>
              <a:prstDash val="solid"/>
              <a:round/>
              <a:headEnd type="none" w="med" len="med"/>
              <a:tailEnd type="none" w="med" len="med"/>
            </a:ln>
          </p:spPr>
        </p:cxnSp>
        <p:cxnSp>
          <p:nvCxnSpPr>
            <p:cNvPr id="34" name="Google Shape;34;p5"/>
            <p:cNvCxnSpPr/>
            <p:nvPr/>
          </p:nvCxnSpPr>
          <p:spPr>
            <a:xfrm>
              <a:off x="-1049" y="270450"/>
              <a:ext cx="7197900" cy="0"/>
            </a:xfrm>
            <a:prstGeom prst="straightConnector1">
              <a:avLst/>
            </a:prstGeom>
            <a:noFill/>
            <a:ln w="19050" cap="flat" cmpd="sng">
              <a:solidFill>
                <a:schemeClr val="accent2">
                  <a:lumMod val="50000"/>
                </a:schemeClr>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49" name="Google Shape;49;p8"/>
          <p:cNvGrpSpPr/>
          <p:nvPr/>
        </p:nvGrpSpPr>
        <p:grpSpPr>
          <a:xfrm>
            <a:off x="0" y="535000"/>
            <a:ext cx="9229575" cy="4073075"/>
            <a:chOff x="0" y="535000"/>
            <a:chExt cx="9229575" cy="4073075"/>
          </a:xfrm>
        </p:grpSpPr>
        <p:cxnSp>
          <p:nvCxnSpPr>
            <p:cNvPr id="50" name="Google Shape;50;p8"/>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51" name="Google Shape;51;p8"/>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4" name="Google Shape;54;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5" name="Google Shape;55;p9"/>
          <p:cNvGrpSpPr/>
          <p:nvPr/>
        </p:nvGrpSpPr>
        <p:grpSpPr>
          <a:xfrm>
            <a:off x="0" y="535000"/>
            <a:ext cx="9229575" cy="4073075"/>
            <a:chOff x="0" y="535000"/>
            <a:chExt cx="9229575" cy="4073075"/>
          </a:xfrm>
        </p:grpSpPr>
        <p:cxnSp>
          <p:nvCxnSpPr>
            <p:cNvPr id="56" name="Google Shape;56;p9"/>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57" name="Google Shape;57;p9"/>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1"/>
        <p:cNvGrpSpPr/>
        <p:nvPr/>
      </p:nvGrpSpPr>
      <p:grpSpPr>
        <a:xfrm>
          <a:off x="0" y="0"/>
          <a:ext cx="0" cy="0"/>
          <a:chOff x="0" y="0"/>
          <a:chExt cx="0" cy="0"/>
        </a:xfrm>
      </p:grpSpPr>
      <p:grpSp>
        <p:nvGrpSpPr>
          <p:cNvPr id="62" name="Google Shape;62;p11"/>
          <p:cNvGrpSpPr/>
          <p:nvPr/>
        </p:nvGrpSpPr>
        <p:grpSpPr>
          <a:xfrm>
            <a:off x="0" y="535000"/>
            <a:ext cx="9229575" cy="4073075"/>
            <a:chOff x="0" y="535000"/>
            <a:chExt cx="9229575" cy="4073075"/>
          </a:xfrm>
        </p:grpSpPr>
        <p:cxnSp>
          <p:nvCxnSpPr>
            <p:cNvPr id="63" name="Google Shape;63;p11"/>
            <p:cNvCxnSpPr/>
            <p:nvPr/>
          </p:nvCxnSpPr>
          <p:spPr>
            <a:xfrm>
              <a:off x="2031675" y="460807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64" name="Google Shape;64;p11"/>
            <p:cNvCxnSpPr/>
            <p:nvPr/>
          </p:nvCxnSpPr>
          <p:spPr>
            <a:xfrm>
              <a:off x="0" y="535000"/>
              <a:ext cx="7197900" cy="0"/>
            </a:xfrm>
            <a:prstGeom prst="straightConnector1">
              <a:avLst/>
            </a:prstGeom>
            <a:noFill/>
            <a:ln w="9525" cap="flat" cmpd="sng">
              <a:solidFill>
                <a:schemeClr val="accent6"/>
              </a:solidFill>
              <a:prstDash val="solid"/>
              <a:round/>
              <a:headEnd type="none" w="med" len="med"/>
              <a:tailEnd type="none" w="med" len="med"/>
            </a:ln>
          </p:spPr>
        </p:cxnSp>
      </p:grpSp>
      <p:sp>
        <p:nvSpPr>
          <p:cNvPr id="65" name="Google Shape;65;p11"/>
          <p:cNvSpPr txBox="1">
            <a:spLocks noGrp="1"/>
          </p:cNvSpPr>
          <p:nvPr>
            <p:ph type="title" hasCustomPrompt="1"/>
          </p:nvPr>
        </p:nvSpPr>
        <p:spPr>
          <a:xfrm>
            <a:off x="715100" y="1362725"/>
            <a:ext cx="2899800" cy="1152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b="1">
                <a:latin typeface="Albert Sans"/>
                <a:ea typeface="Albert Sans"/>
                <a:cs typeface="Albert Sans"/>
                <a:sym typeface="Albert Sans"/>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6" name="Google Shape;66;p11"/>
          <p:cNvSpPr txBox="1">
            <a:spLocks noGrp="1"/>
          </p:cNvSpPr>
          <p:nvPr>
            <p:ph type="subTitle" idx="1"/>
          </p:nvPr>
        </p:nvSpPr>
        <p:spPr>
          <a:xfrm>
            <a:off x="715100" y="2571750"/>
            <a:ext cx="2899800" cy="1066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0" name="Google Shape;70;p13"/>
          <p:cNvSpPr txBox="1">
            <a:spLocks noGrp="1"/>
          </p:cNvSpPr>
          <p:nvPr>
            <p:ph type="title" idx="2" hasCustomPrompt="1"/>
          </p:nvPr>
        </p:nvSpPr>
        <p:spPr>
          <a:xfrm>
            <a:off x="719975"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3" hasCustomPrompt="1"/>
          </p:nvPr>
        </p:nvSpPr>
        <p:spPr>
          <a:xfrm>
            <a:off x="719975"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4" hasCustomPrompt="1"/>
          </p:nvPr>
        </p:nvSpPr>
        <p:spPr>
          <a:xfrm>
            <a:off x="2702324"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5" hasCustomPrompt="1"/>
          </p:nvPr>
        </p:nvSpPr>
        <p:spPr>
          <a:xfrm>
            <a:off x="2702324"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title" idx="6" hasCustomPrompt="1"/>
          </p:nvPr>
        </p:nvSpPr>
        <p:spPr>
          <a:xfrm>
            <a:off x="4678506" y="14319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title" idx="7" hasCustomPrompt="1"/>
          </p:nvPr>
        </p:nvSpPr>
        <p:spPr>
          <a:xfrm>
            <a:off x="4678506" y="286540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1">
                <a:latin typeface="Albert Sans"/>
                <a:ea typeface="Albert Sans"/>
                <a:cs typeface="Albert Sans"/>
                <a:sym typeface="Albert San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subTitle" idx="1"/>
          </p:nvPr>
        </p:nvSpPr>
        <p:spPr>
          <a:xfrm>
            <a:off x="719975"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7" name="Google Shape;77;p13"/>
          <p:cNvSpPr txBox="1">
            <a:spLocks noGrp="1"/>
          </p:cNvSpPr>
          <p:nvPr>
            <p:ph type="subTitle" idx="8"/>
          </p:nvPr>
        </p:nvSpPr>
        <p:spPr>
          <a:xfrm>
            <a:off x="2702324"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8" name="Google Shape;78;p13"/>
          <p:cNvSpPr txBox="1">
            <a:spLocks noGrp="1"/>
          </p:cNvSpPr>
          <p:nvPr>
            <p:ph type="subTitle" idx="9"/>
          </p:nvPr>
        </p:nvSpPr>
        <p:spPr>
          <a:xfrm>
            <a:off x="4678506" y="2080275"/>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79" name="Google Shape;79;p13"/>
          <p:cNvSpPr txBox="1">
            <a:spLocks noGrp="1"/>
          </p:cNvSpPr>
          <p:nvPr>
            <p:ph type="subTitle" idx="13"/>
          </p:nvPr>
        </p:nvSpPr>
        <p:spPr>
          <a:xfrm>
            <a:off x="719975"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80" name="Google Shape;80;p13"/>
          <p:cNvSpPr txBox="1">
            <a:spLocks noGrp="1"/>
          </p:cNvSpPr>
          <p:nvPr>
            <p:ph type="subTitle" idx="14"/>
          </p:nvPr>
        </p:nvSpPr>
        <p:spPr>
          <a:xfrm>
            <a:off x="2702324"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81" name="Google Shape;81;p13"/>
          <p:cNvSpPr txBox="1">
            <a:spLocks noGrp="1"/>
          </p:cNvSpPr>
          <p:nvPr>
            <p:ph type="subTitle" idx="15"/>
          </p:nvPr>
        </p:nvSpPr>
        <p:spPr>
          <a:xfrm>
            <a:off x="4678506" y="3513750"/>
            <a:ext cx="1747500" cy="63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82" name="Google Shape;82;p13"/>
          <p:cNvGrpSpPr/>
          <p:nvPr/>
        </p:nvGrpSpPr>
        <p:grpSpPr>
          <a:xfrm>
            <a:off x="-15563" y="270450"/>
            <a:ext cx="9245138" cy="4609975"/>
            <a:chOff x="-15563" y="270450"/>
            <a:chExt cx="9245138" cy="4609975"/>
          </a:xfrm>
        </p:grpSpPr>
        <p:cxnSp>
          <p:nvCxnSpPr>
            <p:cNvPr id="83" name="Google Shape;83;p13"/>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84" name="Google Shape;84;p13"/>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0" name="Google Shape;120;p18"/>
          <p:cNvSpPr txBox="1">
            <a:spLocks noGrp="1"/>
          </p:cNvSpPr>
          <p:nvPr>
            <p:ph type="subTitle" idx="1"/>
          </p:nvPr>
        </p:nvSpPr>
        <p:spPr>
          <a:xfrm>
            <a:off x="716800" y="2591099"/>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1" name="Google Shape;121;p18"/>
          <p:cNvSpPr txBox="1">
            <a:spLocks noGrp="1"/>
          </p:cNvSpPr>
          <p:nvPr>
            <p:ph type="subTitle" idx="2"/>
          </p:nvPr>
        </p:nvSpPr>
        <p:spPr>
          <a:xfrm>
            <a:off x="3263525" y="259109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18"/>
          <p:cNvSpPr txBox="1">
            <a:spLocks noGrp="1"/>
          </p:cNvSpPr>
          <p:nvPr>
            <p:ph type="subTitle" idx="3"/>
          </p:nvPr>
        </p:nvSpPr>
        <p:spPr>
          <a:xfrm>
            <a:off x="5810250" y="259109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18"/>
          <p:cNvSpPr txBox="1">
            <a:spLocks noGrp="1"/>
          </p:cNvSpPr>
          <p:nvPr>
            <p:ph type="subTitle" idx="4"/>
          </p:nvPr>
        </p:nvSpPr>
        <p:spPr>
          <a:xfrm>
            <a:off x="716800"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4" name="Google Shape;124;p18"/>
          <p:cNvSpPr txBox="1">
            <a:spLocks noGrp="1"/>
          </p:cNvSpPr>
          <p:nvPr>
            <p:ph type="subTitle" idx="5"/>
          </p:nvPr>
        </p:nvSpPr>
        <p:spPr>
          <a:xfrm>
            <a:off x="3263528"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5" name="Google Shape;125;p18"/>
          <p:cNvSpPr txBox="1">
            <a:spLocks noGrp="1"/>
          </p:cNvSpPr>
          <p:nvPr>
            <p:ph type="subTitle" idx="6"/>
          </p:nvPr>
        </p:nvSpPr>
        <p:spPr>
          <a:xfrm>
            <a:off x="5810250" y="1968000"/>
            <a:ext cx="21753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126" name="Google Shape;126;p18"/>
          <p:cNvGrpSpPr/>
          <p:nvPr/>
        </p:nvGrpSpPr>
        <p:grpSpPr>
          <a:xfrm>
            <a:off x="-15563" y="270450"/>
            <a:ext cx="9245138" cy="4609975"/>
            <a:chOff x="-15563" y="270450"/>
            <a:chExt cx="9245138" cy="4609975"/>
          </a:xfrm>
        </p:grpSpPr>
        <p:cxnSp>
          <p:nvCxnSpPr>
            <p:cNvPr id="127" name="Google Shape;127;p18"/>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28" name="Google Shape;128;p18"/>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40"/>
        <p:cNvGrpSpPr/>
        <p:nvPr/>
      </p:nvGrpSpPr>
      <p:grpSpPr>
        <a:xfrm>
          <a:off x="0" y="0"/>
          <a:ext cx="0" cy="0"/>
          <a:chOff x="0" y="0"/>
          <a:chExt cx="0" cy="0"/>
        </a:xfrm>
      </p:grpSpPr>
      <p:sp>
        <p:nvSpPr>
          <p:cNvPr id="141" name="Google Shape;141;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2" name="Google Shape;142;p20"/>
          <p:cNvSpPr txBox="1">
            <a:spLocks noGrp="1"/>
          </p:cNvSpPr>
          <p:nvPr>
            <p:ph type="subTitle" idx="1"/>
          </p:nvPr>
        </p:nvSpPr>
        <p:spPr>
          <a:xfrm>
            <a:off x="1370606" y="123605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3" name="Google Shape;143;p20"/>
          <p:cNvSpPr txBox="1">
            <a:spLocks noGrp="1"/>
          </p:cNvSpPr>
          <p:nvPr>
            <p:ph type="subTitle" idx="2"/>
          </p:nvPr>
        </p:nvSpPr>
        <p:spPr>
          <a:xfrm>
            <a:off x="1370606" y="1761950"/>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20"/>
          <p:cNvSpPr txBox="1">
            <a:spLocks noGrp="1"/>
          </p:cNvSpPr>
          <p:nvPr>
            <p:ph type="subTitle" idx="3"/>
          </p:nvPr>
        </p:nvSpPr>
        <p:spPr>
          <a:xfrm>
            <a:off x="5548027" y="1761950"/>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5" name="Google Shape;145;p20"/>
          <p:cNvSpPr txBox="1">
            <a:spLocks noGrp="1"/>
          </p:cNvSpPr>
          <p:nvPr>
            <p:ph type="subTitle" idx="4"/>
          </p:nvPr>
        </p:nvSpPr>
        <p:spPr>
          <a:xfrm>
            <a:off x="1370606" y="3348148"/>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6" name="Google Shape;146;p20"/>
          <p:cNvSpPr txBox="1">
            <a:spLocks noGrp="1"/>
          </p:cNvSpPr>
          <p:nvPr>
            <p:ph type="subTitle" idx="5"/>
          </p:nvPr>
        </p:nvSpPr>
        <p:spPr>
          <a:xfrm>
            <a:off x="5548027" y="3348148"/>
            <a:ext cx="2967000" cy="809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7" name="Google Shape;147;p20"/>
          <p:cNvSpPr txBox="1">
            <a:spLocks noGrp="1"/>
          </p:cNvSpPr>
          <p:nvPr>
            <p:ph type="subTitle" idx="6"/>
          </p:nvPr>
        </p:nvSpPr>
        <p:spPr>
          <a:xfrm>
            <a:off x="1370606" y="2822238"/>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8" name="Google Shape;148;p20"/>
          <p:cNvSpPr txBox="1">
            <a:spLocks noGrp="1"/>
          </p:cNvSpPr>
          <p:nvPr>
            <p:ph type="subTitle" idx="7"/>
          </p:nvPr>
        </p:nvSpPr>
        <p:spPr>
          <a:xfrm>
            <a:off x="5548027" y="1236050"/>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49" name="Google Shape;149;p20"/>
          <p:cNvSpPr txBox="1">
            <a:spLocks noGrp="1"/>
          </p:cNvSpPr>
          <p:nvPr>
            <p:ph type="subTitle" idx="8"/>
          </p:nvPr>
        </p:nvSpPr>
        <p:spPr>
          <a:xfrm>
            <a:off x="5548027" y="2822238"/>
            <a:ext cx="2967000" cy="525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grpSp>
        <p:nvGrpSpPr>
          <p:cNvPr id="150" name="Google Shape;150;p20"/>
          <p:cNvGrpSpPr/>
          <p:nvPr/>
        </p:nvGrpSpPr>
        <p:grpSpPr>
          <a:xfrm>
            <a:off x="-15563" y="270450"/>
            <a:ext cx="9245138" cy="4609975"/>
            <a:chOff x="-15563" y="270450"/>
            <a:chExt cx="9245138" cy="4609975"/>
          </a:xfrm>
        </p:grpSpPr>
        <p:cxnSp>
          <p:nvCxnSpPr>
            <p:cNvPr id="151" name="Google Shape;151;p20"/>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52" name="Google Shape;152;p20"/>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5" name="Google Shape;155;p21"/>
          <p:cNvSpPr txBox="1">
            <a:spLocks noGrp="1"/>
          </p:cNvSpPr>
          <p:nvPr>
            <p:ph type="subTitle" idx="1"/>
          </p:nvPr>
        </p:nvSpPr>
        <p:spPr>
          <a:xfrm>
            <a:off x="1222967"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21"/>
          <p:cNvSpPr txBox="1">
            <a:spLocks noGrp="1"/>
          </p:cNvSpPr>
          <p:nvPr>
            <p:ph type="subTitle" idx="2"/>
          </p:nvPr>
        </p:nvSpPr>
        <p:spPr>
          <a:xfrm>
            <a:off x="3834884"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7" name="Google Shape;157;p21"/>
          <p:cNvSpPr txBox="1">
            <a:spLocks noGrp="1"/>
          </p:cNvSpPr>
          <p:nvPr>
            <p:ph type="subTitle" idx="3"/>
          </p:nvPr>
        </p:nvSpPr>
        <p:spPr>
          <a:xfrm>
            <a:off x="1222967"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8" name="Google Shape;158;p21"/>
          <p:cNvSpPr txBox="1">
            <a:spLocks noGrp="1"/>
          </p:cNvSpPr>
          <p:nvPr>
            <p:ph type="subTitle" idx="4"/>
          </p:nvPr>
        </p:nvSpPr>
        <p:spPr>
          <a:xfrm>
            <a:off x="3834884"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21"/>
          <p:cNvSpPr txBox="1">
            <a:spLocks noGrp="1"/>
          </p:cNvSpPr>
          <p:nvPr>
            <p:ph type="subTitle" idx="5"/>
          </p:nvPr>
        </p:nvSpPr>
        <p:spPr>
          <a:xfrm>
            <a:off x="6437999" y="1765524"/>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21"/>
          <p:cNvSpPr txBox="1">
            <a:spLocks noGrp="1"/>
          </p:cNvSpPr>
          <p:nvPr>
            <p:ph type="subTitle" idx="6"/>
          </p:nvPr>
        </p:nvSpPr>
        <p:spPr>
          <a:xfrm>
            <a:off x="6437999" y="3342751"/>
            <a:ext cx="1986000" cy="10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21"/>
          <p:cNvSpPr txBox="1">
            <a:spLocks noGrp="1"/>
          </p:cNvSpPr>
          <p:nvPr>
            <p:ph type="subTitle" idx="7"/>
          </p:nvPr>
        </p:nvSpPr>
        <p:spPr>
          <a:xfrm>
            <a:off x="1226872"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2" name="Google Shape;162;p21"/>
          <p:cNvSpPr txBox="1">
            <a:spLocks noGrp="1"/>
          </p:cNvSpPr>
          <p:nvPr>
            <p:ph type="subTitle" idx="8"/>
          </p:nvPr>
        </p:nvSpPr>
        <p:spPr>
          <a:xfrm>
            <a:off x="3838785"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3" name="Google Shape;163;p21"/>
          <p:cNvSpPr txBox="1">
            <a:spLocks noGrp="1"/>
          </p:cNvSpPr>
          <p:nvPr>
            <p:ph type="subTitle" idx="9"/>
          </p:nvPr>
        </p:nvSpPr>
        <p:spPr>
          <a:xfrm>
            <a:off x="6441895" y="1388426"/>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4" name="Google Shape;164;p21"/>
          <p:cNvSpPr txBox="1">
            <a:spLocks noGrp="1"/>
          </p:cNvSpPr>
          <p:nvPr>
            <p:ph type="subTitle" idx="13"/>
          </p:nvPr>
        </p:nvSpPr>
        <p:spPr>
          <a:xfrm>
            <a:off x="1226872"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5" name="Google Shape;165;p21"/>
          <p:cNvSpPr txBox="1">
            <a:spLocks noGrp="1"/>
          </p:cNvSpPr>
          <p:nvPr>
            <p:ph type="subTitle" idx="14"/>
          </p:nvPr>
        </p:nvSpPr>
        <p:spPr>
          <a:xfrm>
            <a:off x="3838785"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66" name="Google Shape;166;p21"/>
          <p:cNvSpPr txBox="1">
            <a:spLocks noGrp="1"/>
          </p:cNvSpPr>
          <p:nvPr>
            <p:ph type="subTitle" idx="15"/>
          </p:nvPr>
        </p:nvSpPr>
        <p:spPr>
          <a:xfrm>
            <a:off x="6441895" y="297029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accent6"/>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167" name="Google Shape;167;p21"/>
          <p:cNvGrpSpPr/>
          <p:nvPr/>
        </p:nvGrpSpPr>
        <p:grpSpPr>
          <a:xfrm>
            <a:off x="-15563" y="270450"/>
            <a:ext cx="9245138" cy="4609975"/>
            <a:chOff x="-15563" y="270450"/>
            <a:chExt cx="9245138" cy="4609975"/>
          </a:xfrm>
        </p:grpSpPr>
        <p:cxnSp>
          <p:nvCxnSpPr>
            <p:cNvPr id="168" name="Google Shape;168;p21"/>
            <p:cNvCxnSpPr/>
            <p:nvPr/>
          </p:nvCxnSpPr>
          <p:spPr>
            <a:xfrm>
              <a:off x="2031675" y="4880425"/>
              <a:ext cx="7197900" cy="0"/>
            </a:xfrm>
            <a:prstGeom prst="straightConnector1">
              <a:avLst/>
            </a:prstGeom>
            <a:noFill/>
            <a:ln w="19050" cap="flat" cmpd="sng">
              <a:solidFill>
                <a:schemeClr val="tx2">
                  <a:lumMod val="75000"/>
                </a:schemeClr>
              </a:solidFill>
              <a:prstDash val="solid"/>
              <a:round/>
              <a:headEnd type="none" w="med" len="med"/>
              <a:tailEnd type="none" w="med" len="med"/>
            </a:ln>
          </p:spPr>
        </p:cxnSp>
        <p:cxnSp>
          <p:nvCxnSpPr>
            <p:cNvPr id="169" name="Google Shape;169;p21"/>
            <p:cNvCxnSpPr/>
            <p:nvPr/>
          </p:nvCxnSpPr>
          <p:spPr>
            <a:xfrm>
              <a:off x="-15563" y="270450"/>
              <a:ext cx="7197900" cy="0"/>
            </a:xfrm>
            <a:prstGeom prst="straightConnector1">
              <a:avLst/>
            </a:prstGeom>
            <a:noFill/>
            <a:ln w="19050" cap="flat" cmpd="sng">
              <a:solidFill>
                <a:schemeClr val="accent6">
                  <a:lumMod val="60000"/>
                  <a:lumOff val="40000"/>
                </a:schemeClr>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6"/>
        <p:cNvGrpSpPr/>
        <p:nvPr/>
      </p:nvGrpSpPr>
      <p:grpSpPr>
        <a:xfrm>
          <a:off x="0" y="0"/>
          <a:ext cx="0" cy="0"/>
          <a:chOff x="0" y="0"/>
          <a:chExt cx="0" cy="0"/>
        </a:xfrm>
      </p:grpSpPr>
      <p:grpSp>
        <p:nvGrpSpPr>
          <p:cNvPr id="187" name="Google Shape;187;p25"/>
          <p:cNvGrpSpPr/>
          <p:nvPr/>
        </p:nvGrpSpPr>
        <p:grpSpPr>
          <a:xfrm>
            <a:off x="-15563" y="270450"/>
            <a:ext cx="9245138" cy="4609975"/>
            <a:chOff x="-15563" y="270450"/>
            <a:chExt cx="9245138" cy="4609975"/>
          </a:xfrm>
        </p:grpSpPr>
        <p:cxnSp>
          <p:nvCxnSpPr>
            <p:cNvPr id="188" name="Google Shape;188;p25"/>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89" name="Google Shape;189;p25"/>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95"/>
        <p:cNvGrpSpPr/>
        <p:nvPr/>
      </p:nvGrpSpPr>
      <p:grpSpPr>
        <a:xfrm>
          <a:off x="0" y="0"/>
          <a:ext cx="0" cy="0"/>
          <a:chOff x="0" y="0"/>
          <a:chExt cx="0" cy="0"/>
        </a:xfrm>
      </p:grpSpPr>
      <p:sp>
        <p:nvSpPr>
          <p:cNvPr id="96" name="Google Shape;96;p15"/>
          <p:cNvSpPr txBox="1">
            <a:spLocks noGrp="1"/>
          </p:cNvSpPr>
          <p:nvPr>
            <p:ph type="title" hasCustomPrompt="1"/>
          </p:nvPr>
        </p:nvSpPr>
        <p:spPr>
          <a:xfrm>
            <a:off x="714670" y="1905170"/>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7" name="Google Shape;97;p15"/>
          <p:cNvSpPr txBox="1">
            <a:spLocks noGrp="1"/>
          </p:cNvSpPr>
          <p:nvPr>
            <p:ph type="subTitle" idx="1"/>
          </p:nvPr>
        </p:nvSpPr>
        <p:spPr>
          <a:xfrm>
            <a:off x="714670" y="262522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98" name="Google Shape;98;p15"/>
          <p:cNvSpPr txBox="1">
            <a:spLocks noGrp="1"/>
          </p:cNvSpPr>
          <p:nvPr>
            <p:ph type="title" idx="2" hasCustomPrompt="1"/>
          </p:nvPr>
        </p:nvSpPr>
        <p:spPr>
          <a:xfrm>
            <a:off x="714670" y="3275341"/>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9" name="Google Shape;99;p15"/>
          <p:cNvSpPr txBox="1">
            <a:spLocks noGrp="1"/>
          </p:cNvSpPr>
          <p:nvPr>
            <p:ph type="subTitle" idx="3"/>
          </p:nvPr>
        </p:nvSpPr>
        <p:spPr>
          <a:xfrm>
            <a:off x="714670" y="399539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sp>
        <p:nvSpPr>
          <p:cNvPr id="100" name="Google Shape;100;p15"/>
          <p:cNvSpPr txBox="1">
            <a:spLocks noGrp="1"/>
          </p:cNvSpPr>
          <p:nvPr>
            <p:ph type="title" idx="4" hasCustomPrompt="1"/>
          </p:nvPr>
        </p:nvSpPr>
        <p:spPr>
          <a:xfrm>
            <a:off x="714670" y="535000"/>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3600" b="1">
                <a:latin typeface="Albert Sans"/>
                <a:ea typeface="Albert Sans"/>
                <a:cs typeface="Albert Sans"/>
                <a:sym typeface="Albert Sans"/>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01" name="Google Shape;101;p15"/>
          <p:cNvSpPr txBox="1">
            <a:spLocks noGrp="1"/>
          </p:cNvSpPr>
          <p:nvPr>
            <p:ph type="subTitle" idx="5"/>
          </p:nvPr>
        </p:nvSpPr>
        <p:spPr>
          <a:xfrm>
            <a:off x="714670" y="1255051"/>
            <a:ext cx="34926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102" name="Google Shape;102;p15"/>
          <p:cNvGrpSpPr/>
          <p:nvPr/>
        </p:nvGrpSpPr>
        <p:grpSpPr>
          <a:xfrm>
            <a:off x="-15563" y="270450"/>
            <a:ext cx="9245138" cy="4609975"/>
            <a:chOff x="-15563" y="270450"/>
            <a:chExt cx="9245138" cy="4609975"/>
          </a:xfrm>
        </p:grpSpPr>
        <p:cxnSp>
          <p:nvCxnSpPr>
            <p:cNvPr id="103" name="Google Shape;103;p15"/>
            <p:cNvCxnSpPr/>
            <p:nvPr/>
          </p:nvCxnSpPr>
          <p:spPr>
            <a:xfrm>
              <a:off x="2031675" y="4880425"/>
              <a:ext cx="7197900" cy="0"/>
            </a:xfrm>
            <a:prstGeom prst="straightConnector1">
              <a:avLst/>
            </a:prstGeom>
            <a:noFill/>
            <a:ln w="9525" cap="flat" cmpd="sng">
              <a:solidFill>
                <a:schemeClr val="accent6"/>
              </a:solidFill>
              <a:prstDash val="solid"/>
              <a:round/>
              <a:headEnd type="none" w="med" len="med"/>
              <a:tailEnd type="none" w="med" len="med"/>
            </a:ln>
          </p:spPr>
        </p:cxnSp>
        <p:cxnSp>
          <p:nvCxnSpPr>
            <p:cNvPr id="104" name="Google Shape;104;p15"/>
            <p:cNvCxnSpPr/>
            <p:nvPr/>
          </p:nvCxnSpPr>
          <p:spPr>
            <a:xfrm>
              <a:off x="-15563" y="270450"/>
              <a:ext cx="7197900" cy="0"/>
            </a:xfrm>
            <a:prstGeom prst="straightConnector1">
              <a:avLst/>
            </a:prstGeom>
            <a:noFill/>
            <a:ln w="9525" cap="flat" cmpd="sng">
              <a:solidFill>
                <a:schemeClr val="accent6"/>
              </a:solidFill>
              <a:prstDash val="solid"/>
              <a:round/>
              <a:headEnd type="none" w="med" len="med"/>
              <a:tailEnd type="none" w="med" len="med"/>
            </a:ln>
          </p:spPr>
        </p:cxnSp>
      </p:grpSp>
    </p:spTree>
    <p:extLst>
      <p:ext uri="{BB962C8B-B14F-4D97-AF65-F5344CB8AC3E}">
        <p14:creationId xmlns:p14="http://schemas.microsoft.com/office/powerpoint/2010/main" val="3933736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6"/>
              </a:buClr>
              <a:buSzPts val="3000"/>
              <a:buFont typeface="Albert Sans Medium"/>
              <a:buNone/>
              <a:defRPr sz="3000">
                <a:solidFill>
                  <a:schemeClr val="accent6"/>
                </a:solidFill>
                <a:latin typeface="Albert Sans Medium"/>
                <a:ea typeface="Albert Sans Medium"/>
                <a:cs typeface="Albert Sans Medium"/>
                <a:sym typeface="Albert Sans Medium"/>
              </a:defRPr>
            </a:lvl1pPr>
            <a:lvl2pPr lvl="1"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2pPr>
            <a:lvl3pPr lvl="2"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3pPr>
            <a:lvl4pPr lvl="3"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4pPr>
            <a:lvl5pPr lvl="4"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5pPr>
            <a:lvl6pPr lvl="5"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6pPr>
            <a:lvl7pPr lvl="6"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7pPr>
            <a:lvl8pPr lvl="7"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8pPr>
            <a:lvl9pPr lvl="8" rtl="0">
              <a:spcBef>
                <a:spcPts val="0"/>
              </a:spcBef>
              <a:spcAft>
                <a:spcPts val="0"/>
              </a:spcAft>
              <a:buClr>
                <a:schemeClr val="dk1"/>
              </a:buClr>
              <a:buSzPts val="3500"/>
              <a:buFont typeface="Albert Sans Medium"/>
              <a:buNone/>
              <a:defRPr sz="3500">
                <a:solidFill>
                  <a:schemeClr val="dk1"/>
                </a:solidFill>
                <a:latin typeface="Albert Sans Medium"/>
                <a:ea typeface="Albert Sans Medium"/>
                <a:cs typeface="Albert Sans Medium"/>
                <a:sym typeface="Albert Sans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1pPr>
            <a:lvl2pPr marL="914400" lvl="1"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2pPr>
            <a:lvl3pPr marL="1371600" lvl="2"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3pPr>
            <a:lvl4pPr marL="1828800" lvl="3"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4pPr>
            <a:lvl5pPr marL="2286000" lvl="4"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5pPr>
            <a:lvl6pPr marL="2743200" lvl="5"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6pPr>
            <a:lvl7pPr marL="3200400" lvl="6"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7pPr>
            <a:lvl8pPr marL="3657600" lvl="7"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8pPr>
            <a:lvl9pPr marL="4114800" lvl="8" indent="-304800">
              <a:lnSpc>
                <a:spcPct val="100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7" r:id="rId6"/>
    <p:sldLayoutId id="2147483658" r:id="rId7"/>
    <p:sldLayoutId id="2147483659" r:id="rId8"/>
    <p:sldLayoutId id="2147483664" r:id="rId9"/>
    <p:sldLayoutId id="2147483666" r:id="rId10"/>
    <p:sldLayoutId id="2147483667" r:id="rId11"/>
    <p:sldLayoutId id="2147483670" r:id="rId12"/>
    <p:sldLayoutId id="2147483671"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17" name="Google Shape;217;p29"/>
          <p:cNvSpPr txBox="1">
            <a:spLocks noGrp="1"/>
          </p:cNvSpPr>
          <p:nvPr>
            <p:ph type="ctrTitle"/>
          </p:nvPr>
        </p:nvSpPr>
        <p:spPr>
          <a:xfrm>
            <a:off x="336029" y="784302"/>
            <a:ext cx="4141200" cy="12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Times New Roman" panose="02020603050405020304" pitchFamily="18" charset="0"/>
                <a:ea typeface="Tahoma" panose="020B0604030504040204" pitchFamily="34" charset="0"/>
                <a:cs typeface="Times New Roman" panose="02020603050405020304" pitchFamily="18" charset="0"/>
              </a:rPr>
              <a:t>Mobile Edge Computing</a:t>
            </a:r>
            <a:endParaRPr dirty="0">
              <a:latin typeface="Times New Roman" panose="02020603050405020304" pitchFamily="18" charset="0"/>
              <a:ea typeface="Tahoma" panose="020B0604030504040204" pitchFamily="34" charset="0"/>
              <a:cs typeface="Times New Roman" panose="02020603050405020304" pitchFamily="18" charset="0"/>
              <a:sym typeface="Albert Sans"/>
            </a:endParaRPr>
          </a:p>
        </p:txBody>
      </p:sp>
      <p:sp>
        <p:nvSpPr>
          <p:cNvPr id="218" name="Google Shape;218;p29"/>
          <p:cNvSpPr txBox="1">
            <a:spLocks noGrp="1"/>
          </p:cNvSpPr>
          <p:nvPr>
            <p:ph type="subTitle" idx="1"/>
          </p:nvPr>
        </p:nvSpPr>
        <p:spPr>
          <a:xfrm>
            <a:off x="196544" y="1440096"/>
            <a:ext cx="3840317" cy="3519694"/>
          </a:xfrm>
          <a:prstGeom prst="rect">
            <a:avLst/>
          </a:prstGeom>
        </p:spPr>
        <p:txBody>
          <a:bodyPr spcFirstLastPara="1" wrap="square" lIns="91425" tIns="91425" rIns="91425" bIns="91425" anchor="ctr" anchorCtr="0">
            <a:noAutofit/>
          </a:bodyPr>
          <a:lstStyle/>
          <a:p>
            <a:r>
              <a:rPr lang="en-US" sz="2000" b="1" dirty="0">
                <a:latin typeface="Times New Roman" panose="02020603050405020304" pitchFamily="18" charset="0"/>
                <a:ea typeface="Tahoma" panose="020B0604030504040204" pitchFamily="34" charset="0"/>
                <a:cs typeface="Times New Roman" panose="02020603050405020304" pitchFamily="18" charset="0"/>
              </a:rPr>
              <a:t>Transforming </a:t>
            </a:r>
          </a:p>
          <a:p>
            <a:r>
              <a:rPr lang="en-US" sz="2000" b="1" dirty="0">
                <a:latin typeface="Times New Roman" panose="02020603050405020304" pitchFamily="18" charset="0"/>
                <a:ea typeface="Tahoma" panose="020B0604030504040204" pitchFamily="34" charset="0"/>
                <a:cs typeface="Times New Roman" panose="02020603050405020304" pitchFamily="18" charset="0"/>
              </a:rPr>
              <a:t>Telecommunications</a:t>
            </a:r>
          </a:p>
          <a:p>
            <a:r>
              <a:rPr lang="en-US" sz="2000" b="1" dirty="0">
                <a:latin typeface="Times New Roman" panose="02020603050405020304" pitchFamily="18" charset="0"/>
                <a:ea typeface="Tahoma" panose="020B0604030504040204" pitchFamily="34" charset="0"/>
                <a:cs typeface="Times New Roman" panose="02020603050405020304" pitchFamily="18" charset="0"/>
              </a:rPr>
              <a:t>Infrastructure</a:t>
            </a:r>
          </a:p>
          <a:p>
            <a:endParaRPr lang="en-US" sz="1600" dirty="0">
              <a:latin typeface="Times New Roman" panose="02020603050405020304" pitchFamily="18" charset="0"/>
              <a:ea typeface="Tahoma" panose="020B0604030504040204" pitchFamily="34" charset="0"/>
              <a:cs typeface="Times New Roman" panose="02020603050405020304" pitchFamily="18" charset="0"/>
            </a:endParaRP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Sohaib Ahmed ( 21L-5635 )</a:t>
            </a: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M Hassan Khalid ( 21L-5692 )</a:t>
            </a:r>
          </a:p>
          <a:p>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M Hamza ( 21L-5636 )</a:t>
            </a:r>
          </a:p>
          <a:p>
            <a:endPar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endParaRPr>
          </a:p>
          <a:p>
            <a:r>
              <a:rPr lang="en-US" sz="1200" b="1"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Instructor</a:t>
            </a:r>
            <a:r>
              <a:rPr lang="en-US" sz="1200"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 </a:t>
            </a:r>
            <a:r>
              <a:rPr lang="en-US" sz="1200" b="1" dirty="0">
                <a:solidFill>
                  <a:schemeClr val="accent6"/>
                </a:solidFill>
                <a:latin typeface="Times New Roman" panose="02020603050405020304" pitchFamily="18" charset="0"/>
                <a:ea typeface="Tahoma" panose="020B0604030504040204" pitchFamily="34" charset="0"/>
                <a:cs typeface="Times New Roman" panose="02020603050405020304" pitchFamily="18" charset="0"/>
              </a:rPr>
              <a:t>Danyal Farhat</a:t>
            </a:r>
          </a:p>
        </p:txBody>
      </p:sp>
      <p:pic>
        <p:nvPicPr>
          <p:cNvPr id="1026" name="Picture 2" descr="NSF Grant Supports Research to Advance Mobile Edge Computing | News | New  York Tech">
            <a:extLst>
              <a:ext uri="{FF2B5EF4-FFF2-40B4-BE49-F238E27FC236}">
                <a16:creationId xmlns:a16="http://schemas.microsoft.com/office/drawing/2014/main" id="{D83954FB-C3F5-39EA-B559-A1165FB59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8888" y="542441"/>
            <a:ext cx="5835113" cy="40528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Table of contents</a:t>
            </a:r>
            <a:endParaRPr>
              <a:latin typeface="Times New Roman" panose="02020603050405020304" pitchFamily="18" charset="0"/>
              <a:cs typeface="Times New Roman" panose="02020603050405020304" pitchFamily="18" charset="0"/>
            </a:endParaRPr>
          </a:p>
        </p:txBody>
      </p:sp>
      <p:sp>
        <p:nvSpPr>
          <p:cNvPr id="400" name="Google Shape;400;p31"/>
          <p:cNvSpPr txBox="1">
            <a:spLocks noGrp="1"/>
          </p:cNvSpPr>
          <p:nvPr>
            <p:ph type="title" idx="2"/>
          </p:nvPr>
        </p:nvSpPr>
        <p:spPr>
          <a:xfrm>
            <a:off x="719975"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01</a:t>
            </a:r>
            <a:endParaRPr dirty="0">
              <a:latin typeface="Times New Roman" panose="02020603050405020304" pitchFamily="18" charset="0"/>
              <a:cs typeface="Times New Roman" panose="02020603050405020304" pitchFamily="18" charset="0"/>
            </a:endParaRPr>
          </a:p>
        </p:txBody>
      </p:sp>
      <p:sp>
        <p:nvSpPr>
          <p:cNvPr id="401" name="Google Shape;401;p31"/>
          <p:cNvSpPr txBox="1">
            <a:spLocks noGrp="1"/>
          </p:cNvSpPr>
          <p:nvPr>
            <p:ph type="title" idx="3"/>
          </p:nvPr>
        </p:nvSpPr>
        <p:spPr>
          <a:xfrm>
            <a:off x="743222" y="2966139"/>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05</a:t>
            </a:r>
            <a:endParaRPr dirty="0">
              <a:latin typeface="Times New Roman" panose="02020603050405020304" pitchFamily="18" charset="0"/>
              <a:cs typeface="Times New Roman" panose="02020603050405020304" pitchFamily="18" charset="0"/>
            </a:endParaRPr>
          </a:p>
        </p:txBody>
      </p:sp>
      <p:sp>
        <p:nvSpPr>
          <p:cNvPr id="402" name="Google Shape;402;p31"/>
          <p:cNvSpPr txBox="1">
            <a:spLocks noGrp="1"/>
          </p:cNvSpPr>
          <p:nvPr>
            <p:ph type="title" idx="4"/>
          </p:nvPr>
        </p:nvSpPr>
        <p:spPr>
          <a:xfrm>
            <a:off x="2702324"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02</a:t>
            </a:r>
            <a:endParaRPr>
              <a:latin typeface="Times New Roman" panose="02020603050405020304" pitchFamily="18" charset="0"/>
              <a:cs typeface="Times New Roman" panose="02020603050405020304" pitchFamily="18" charset="0"/>
            </a:endParaRPr>
          </a:p>
        </p:txBody>
      </p:sp>
      <p:sp>
        <p:nvSpPr>
          <p:cNvPr id="403" name="Google Shape;403;p31"/>
          <p:cNvSpPr txBox="1">
            <a:spLocks noGrp="1"/>
          </p:cNvSpPr>
          <p:nvPr>
            <p:ph type="title" idx="5"/>
          </p:nvPr>
        </p:nvSpPr>
        <p:spPr>
          <a:xfrm>
            <a:off x="2725571" y="2966139"/>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06</a:t>
            </a:r>
            <a:endParaRPr dirty="0">
              <a:latin typeface="Times New Roman" panose="02020603050405020304" pitchFamily="18" charset="0"/>
              <a:cs typeface="Times New Roman" panose="02020603050405020304" pitchFamily="18" charset="0"/>
            </a:endParaRPr>
          </a:p>
        </p:txBody>
      </p:sp>
      <p:sp>
        <p:nvSpPr>
          <p:cNvPr id="404" name="Google Shape;404;p31"/>
          <p:cNvSpPr txBox="1">
            <a:spLocks noGrp="1"/>
          </p:cNvSpPr>
          <p:nvPr>
            <p:ph type="title" idx="6"/>
          </p:nvPr>
        </p:nvSpPr>
        <p:spPr>
          <a:xfrm>
            <a:off x="4678506" y="14319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03</a:t>
            </a:r>
            <a:endParaRPr>
              <a:latin typeface="Times New Roman" panose="02020603050405020304" pitchFamily="18" charset="0"/>
              <a:cs typeface="Times New Roman" panose="02020603050405020304" pitchFamily="18" charset="0"/>
            </a:endParaRPr>
          </a:p>
        </p:txBody>
      </p:sp>
      <p:sp>
        <p:nvSpPr>
          <p:cNvPr id="405" name="Google Shape;405;p31"/>
          <p:cNvSpPr txBox="1">
            <a:spLocks noGrp="1"/>
          </p:cNvSpPr>
          <p:nvPr>
            <p:ph type="title" idx="7"/>
          </p:nvPr>
        </p:nvSpPr>
        <p:spPr>
          <a:xfrm>
            <a:off x="4701753" y="2997135"/>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07</a:t>
            </a:r>
            <a:endParaRPr dirty="0">
              <a:latin typeface="Times New Roman" panose="02020603050405020304" pitchFamily="18" charset="0"/>
              <a:cs typeface="Times New Roman" panose="02020603050405020304" pitchFamily="18" charset="0"/>
            </a:endParaRPr>
          </a:p>
        </p:txBody>
      </p:sp>
      <p:sp>
        <p:nvSpPr>
          <p:cNvPr id="406" name="Google Shape;406;p31"/>
          <p:cNvSpPr txBox="1">
            <a:spLocks noGrp="1"/>
          </p:cNvSpPr>
          <p:nvPr>
            <p:ph type="subTitle" idx="1"/>
          </p:nvPr>
        </p:nvSpPr>
        <p:spPr>
          <a:xfrm>
            <a:off x="712228" y="1720842"/>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Abstract</a:t>
            </a:r>
            <a:endParaRPr dirty="0">
              <a:solidFill>
                <a:schemeClr val="tx1"/>
              </a:solidFill>
              <a:latin typeface="Times New Roman" panose="02020603050405020304" pitchFamily="18" charset="0"/>
              <a:cs typeface="Times New Roman" panose="02020603050405020304" pitchFamily="18" charset="0"/>
            </a:endParaRPr>
          </a:p>
        </p:txBody>
      </p:sp>
      <p:sp>
        <p:nvSpPr>
          <p:cNvPr id="407" name="Google Shape;407;p31"/>
          <p:cNvSpPr txBox="1">
            <a:spLocks noGrp="1"/>
          </p:cNvSpPr>
          <p:nvPr>
            <p:ph type="subTitle" idx="8"/>
          </p:nvPr>
        </p:nvSpPr>
        <p:spPr>
          <a:xfrm>
            <a:off x="2608764" y="1726054"/>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Introduction</a:t>
            </a:r>
          </a:p>
        </p:txBody>
      </p:sp>
      <p:sp>
        <p:nvSpPr>
          <p:cNvPr id="408" name="Google Shape;408;p31"/>
          <p:cNvSpPr txBox="1">
            <a:spLocks noGrp="1"/>
          </p:cNvSpPr>
          <p:nvPr>
            <p:ph type="subTitle" idx="9"/>
          </p:nvPr>
        </p:nvSpPr>
        <p:spPr>
          <a:xfrm>
            <a:off x="4655258" y="1948541"/>
            <a:ext cx="2094253"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Literature</a:t>
            </a:r>
          </a:p>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 Review</a:t>
            </a:r>
          </a:p>
        </p:txBody>
      </p:sp>
      <p:sp>
        <p:nvSpPr>
          <p:cNvPr id="409" name="Google Shape;409;p31"/>
          <p:cNvSpPr txBox="1">
            <a:spLocks noGrp="1"/>
          </p:cNvSpPr>
          <p:nvPr>
            <p:ph type="subTitle" idx="13"/>
          </p:nvPr>
        </p:nvSpPr>
        <p:spPr>
          <a:xfrm>
            <a:off x="712227" y="3529386"/>
            <a:ext cx="1747500"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Potential Research Gaps</a:t>
            </a:r>
          </a:p>
        </p:txBody>
      </p:sp>
      <p:sp>
        <p:nvSpPr>
          <p:cNvPr id="410" name="Google Shape;410;p31"/>
          <p:cNvSpPr txBox="1">
            <a:spLocks noGrp="1"/>
          </p:cNvSpPr>
          <p:nvPr>
            <p:ph type="subTitle" idx="14"/>
          </p:nvPr>
        </p:nvSpPr>
        <p:spPr>
          <a:xfrm>
            <a:off x="2604348" y="3230485"/>
            <a:ext cx="2000002"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Implementation</a:t>
            </a:r>
          </a:p>
        </p:txBody>
      </p:sp>
      <p:sp>
        <p:nvSpPr>
          <p:cNvPr id="411" name="Google Shape;411;p31"/>
          <p:cNvSpPr txBox="1">
            <a:spLocks noGrp="1"/>
          </p:cNvSpPr>
          <p:nvPr>
            <p:ph type="subTitle" idx="15"/>
          </p:nvPr>
        </p:nvSpPr>
        <p:spPr>
          <a:xfrm>
            <a:off x="4709042" y="3561553"/>
            <a:ext cx="1986228" cy="6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Conclusion &amp;</a:t>
            </a:r>
          </a:p>
          <a:p>
            <a:pPr marL="0" lvl="0" indent="0" algn="l" rtl="0">
              <a:spcBef>
                <a:spcPts val="0"/>
              </a:spcBef>
              <a:spcAft>
                <a:spcPts val="0"/>
              </a:spcAft>
              <a:buNone/>
            </a:pPr>
            <a:r>
              <a:rPr lang="en-US"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Future Directions</a:t>
            </a:r>
            <a:endPar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endParaRPr>
          </a:p>
        </p:txBody>
      </p:sp>
      <p:sp>
        <p:nvSpPr>
          <p:cNvPr id="513" name="Google Shape;513;p31"/>
          <p:cNvSpPr/>
          <p:nvPr/>
        </p:nvSpPr>
        <p:spPr>
          <a:xfrm>
            <a:off x="6269453" y="2960269"/>
            <a:ext cx="164325" cy="367400"/>
          </a:xfrm>
          <a:custGeom>
            <a:avLst/>
            <a:gdLst/>
            <a:ahLst/>
            <a:cxnLst/>
            <a:rect l="l" t="t" r="r" b="b"/>
            <a:pathLst>
              <a:path w="6573" h="14696" extrusionOk="0">
                <a:moveTo>
                  <a:pt x="6573" y="0"/>
                </a:moveTo>
                <a:cubicBezTo>
                  <a:pt x="4309" y="3021"/>
                  <a:pt x="601" y="5519"/>
                  <a:pt x="42" y="9253"/>
                </a:cubicBezTo>
                <a:cubicBezTo>
                  <a:pt x="-295" y="11504"/>
                  <a:pt x="2343" y="13330"/>
                  <a:pt x="4163" y="14696"/>
                </a:cubicBezTo>
              </a:path>
            </a:pathLst>
          </a:custGeom>
          <a:noFill/>
          <a:ln w="9525" cap="flat" cmpd="sng">
            <a:solidFill>
              <a:schemeClr val="accent2"/>
            </a:solidFill>
            <a:prstDash val="solid"/>
            <a:round/>
            <a:headEnd type="none" w="med" len="med"/>
            <a:tailEnd type="none" w="med" len="med"/>
          </a:ln>
        </p:spPr>
        <p:txBody>
          <a:bodyPr/>
          <a:lstStyle/>
          <a:p>
            <a:endParaRPr lang="en-US"/>
          </a:p>
        </p:txBody>
      </p:sp>
      <p:sp>
        <p:nvSpPr>
          <p:cNvPr id="2" name="Google Shape;404;p31">
            <a:extLst>
              <a:ext uri="{FF2B5EF4-FFF2-40B4-BE49-F238E27FC236}">
                <a16:creationId xmlns:a16="http://schemas.microsoft.com/office/drawing/2014/main" id="{A447D747-5A8D-84C0-F525-B6A2FFD99A1A}"/>
              </a:ext>
            </a:extLst>
          </p:cNvPr>
          <p:cNvSpPr txBox="1">
            <a:spLocks/>
          </p:cNvSpPr>
          <p:nvPr/>
        </p:nvSpPr>
        <p:spPr>
          <a:xfrm>
            <a:off x="6676527" y="1431973"/>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000"/>
              <a:buFont typeface="Albert Sans Medium"/>
              <a:buNone/>
              <a:defRPr sz="3000" b="1" i="0" u="none" strike="noStrike" cap="none">
                <a:solidFill>
                  <a:schemeClr val="accent6"/>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2pPr>
            <a:lvl3pPr marR="0" lvl="2"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3pPr>
            <a:lvl4pPr marR="0" lvl="3"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4pPr>
            <a:lvl5pPr marR="0" lvl="4"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5pPr>
            <a:lvl6pPr marR="0" lvl="5"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6pPr>
            <a:lvl7pPr marR="0" lvl="6"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7pPr>
            <a:lvl8pPr marR="0" lvl="7"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8pPr>
            <a:lvl9pPr marR="0" lvl="8"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9pPr>
          </a:lstStyle>
          <a:p>
            <a:r>
              <a:rPr lang="en" dirty="0">
                <a:latin typeface="Times New Roman" panose="02020603050405020304" pitchFamily="18" charset="0"/>
                <a:cs typeface="Times New Roman" panose="02020603050405020304" pitchFamily="18" charset="0"/>
              </a:rPr>
              <a:t>04</a:t>
            </a:r>
          </a:p>
        </p:txBody>
      </p:sp>
      <p:sp>
        <p:nvSpPr>
          <p:cNvPr id="3" name="Google Shape;408;p31">
            <a:extLst>
              <a:ext uri="{FF2B5EF4-FFF2-40B4-BE49-F238E27FC236}">
                <a16:creationId xmlns:a16="http://schemas.microsoft.com/office/drawing/2014/main" id="{221D1099-F7F7-CDB4-F7F8-D93A5DF16B17}"/>
              </a:ext>
            </a:extLst>
          </p:cNvPr>
          <p:cNvSpPr txBox="1">
            <a:spLocks/>
          </p:cNvSpPr>
          <p:nvPr/>
        </p:nvSpPr>
        <p:spPr>
          <a:xfrm>
            <a:off x="6676529" y="1925295"/>
            <a:ext cx="1747500" cy="63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accent6"/>
                </a:solidFill>
                <a:latin typeface="Albert Sans Medium"/>
                <a:ea typeface="Albert Sans Medium"/>
                <a:cs typeface="Albert Sans Medium"/>
                <a:sym typeface="Albert Sans Medium"/>
              </a:defRPr>
            </a:lvl1pPr>
            <a:lvl2pPr marL="914400" marR="0" lvl="1"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a:cs typeface="Times New Roman" panose="02020603050405020304" pitchFamily="18" charset="0"/>
                <a:sym typeface="Plus Jakarta Sans"/>
              </a:rPr>
              <a:t>Research Methodology</a:t>
            </a:r>
          </a:p>
        </p:txBody>
      </p:sp>
      <p:sp>
        <p:nvSpPr>
          <p:cNvPr id="6" name="Google Shape;404;p31">
            <a:extLst>
              <a:ext uri="{FF2B5EF4-FFF2-40B4-BE49-F238E27FC236}">
                <a16:creationId xmlns:a16="http://schemas.microsoft.com/office/drawing/2014/main" id="{88D663F5-FDBA-41FF-44A7-F864C72AB663}"/>
              </a:ext>
            </a:extLst>
          </p:cNvPr>
          <p:cNvSpPr txBox="1">
            <a:spLocks/>
          </p:cNvSpPr>
          <p:nvPr/>
        </p:nvSpPr>
        <p:spPr>
          <a:xfrm>
            <a:off x="6701755" y="2966185"/>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000"/>
              <a:buFont typeface="Albert Sans Medium"/>
              <a:buNone/>
              <a:defRPr sz="3000" b="1" i="0" u="none" strike="noStrike" cap="none">
                <a:solidFill>
                  <a:schemeClr val="accent6"/>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2pPr>
            <a:lvl3pPr marR="0" lvl="2"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3pPr>
            <a:lvl4pPr marR="0" lvl="3"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4pPr>
            <a:lvl5pPr marR="0" lvl="4"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5pPr>
            <a:lvl6pPr marR="0" lvl="5"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6pPr>
            <a:lvl7pPr marR="0" lvl="6"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7pPr>
            <a:lvl8pPr marR="0" lvl="7"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8pPr>
            <a:lvl9pPr marR="0" lvl="8" algn="l" rtl="0">
              <a:lnSpc>
                <a:spcPct val="100000"/>
              </a:lnSpc>
              <a:spcBef>
                <a:spcPts val="0"/>
              </a:spcBef>
              <a:spcAft>
                <a:spcPts val="0"/>
              </a:spcAft>
              <a:buClr>
                <a:schemeClr val="dk1"/>
              </a:buClr>
              <a:buSzPts val="3000"/>
              <a:buFont typeface="Albert Sans Medium"/>
              <a:buNone/>
              <a:defRPr sz="3000" b="0" i="0" u="none" strike="noStrike" cap="none">
                <a:solidFill>
                  <a:schemeClr val="dk1"/>
                </a:solidFill>
                <a:latin typeface="Albert Sans Medium"/>
                <a:ea typeface="Albert Sans Medium"/>
                <a:cs typeface="Albert Sans Medium"/>
                <a:sym typeface="Albert Sans Medium"/>
              </a:defRPr>
            </a:lvl9pPr>
          </a:lstStyle>
          <a:p>
            <a:r>
              <a:rPr lang="en" dirty="0">
                <a:latin typeface="Times New Roman" panose="02020603050405020304" pitchFamily="18" charset="0"/>
                <a:cs typeface="Times New Roman" panose="02020603050405020304" pitchFamily="18" charset="0"/>
              </a:rPr>
              <a:t>08</a:t>
            </a:r>
          </a:p>
        </p:txBody>
      </p:sp>
      <p:sp>
        <p:nvSpPr>
          <p:cNvPr id="7" name="Google Shape;408;p31">
            <a:extLst>
              <a:ext uri="{FF2B5EF4-FFF2-40B4-BE49-F238E27FC236}">
                <a16:creationId xmlns:a16="http://schemas.microsoft.com/office/drawing/2014/main" id="{C4D1EB86-282E-C056-3AEA-ADD485B2B260}"/>
              </a:ext>
            </a:extLst>
          </p:cNvPr>
          <p:cNvSpPr txBox="1">
            <a:spLocks/>
          </p:cNvSpPr>
          <p:nvPr/>
        </p:nvSpPr>
        <p:spPr>
          <a:xfrm>
            <a:off x="6738088" y="3281177"/>
            <a:ext cx="1747500" cy="635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Raleway"/>
              <a:buNone/>
              <a:defRPr sz="1800" b="0" i="0" u="none" strike="noStrike" cap="none">
                <a:solidFill>
                  <a:schemeClr val="accent6"/>
                </a:solidFill>
                <a:latin typeface="Albert Sans Medium"/>
                <a:ea typeface="Albert Sans Medium"/>
                <a:cs typeface="Albert Sans Medium"/>
                <a:sym typeface="Albert Sans Medium"/>
              </a:defRPr>
            </a:lvl1pPr>
            <a:lvl2pPr marL="914400" marR="0" lvl="1"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2pPr>
            <a:lvl3pPr marL="1371600" marR="0" lvl="2"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3pPr>
            <a:lvl4pPr marL="1828800" marR="0" lvl="3"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4pPr>
            <a:lvl5pPr marL="2286000" marR="0" lvl="4"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5pPr>
            <a:lvl6pPr marL="2743200" marR="0" lvl="5"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6pPr>
            <a:lvl7pPr marL="3200400" marR="0" lvl="6"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7pPr>
            <a:lvl8pPr marL="3657600" marR="0" lvl="7"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8pPr>
            <a:lvl9pPr marL="4114800" marR="0" lvl="8" indent="-304800" algn="l" rtl="0">
              <a:lnSpc>
                <a:spcPct val="100000"/>
              </a:lnSpc>
              <a:spcBef>
                <a:spcPts val="0"/>
              </a:spcBef>
              <a:spcAft>
                <a:spcPts val="0"/>
              </a:spcAft>
              <a:buClr>
                <a:schemeClr val="dk1"/>
              </a:buClr>
              <a:buSzPts val="2400"/>
              <a:buFont typeface="Raleway"/>
              <a:buNone/>
              <a:defRPr sz="2400" b="0" i="0" u="none" strike="noStrike" cap="none">
                <a:solidFill>
                  <a:schemeClr val="dk1"/>
                </a:solidFill>
                <a:latin typeface="Raleway"/>
                <a:ea typeface="Raleway"/>
                <a:cs typeface="Raleway"/>
                <a:sym typeface="Raleway"/>
              </a:defRPr>
            </a:lvl9pPr>
          </a:lstStyle>
          <a:p>
            <a:pPr marL="0" lvl="0" indent="0" algn="l" rtl="0">
              <a:spcBef>
                <a:spcPts val="0"/>
              </a:spcBef>
              <a:spcAft>
                <a:spcPts val="0"/>
              </a:spcAft>
              <a:buNone/>
            </a:pPr>
            <a:r>
              <a:rPr lang="en-US" sz="1800" b="1" dirty="0">
                <a:solidFill>
                  <a:schemeClr val="tx1"/>
                </a:solidFill>
                <a:latin typeface="Times New Roman" panose="02020603050405020304" pitchFamily="18" charset="0"/>
                <a:ea typeface="Plus Jakarta Sans Medium"/>
                <a:cs typeface="Times New Roman" panose="02020603050405020304" pitchFamily="18" charset="0"/>
                <a:sym typeface="Plus Jakarta Sans Medium"/>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dirty="0">
                <a:solidFill>
                  <a:schemeClr val="bg1"/>
                </a:solidFill>
                <a:latin typeface="Plus Jakarta Sans" panose="020B0604020202020204" charset="0"/>
                <a:ea typeface="Plus Jakarta Sans"/>
                <a:cs typeface="Plus Jakarta Sans" panose="020B0604020202020204" charset="0"/>
                <a:sym typeface="Plus Jakarta Sans"/>
              </a:rPr>
              <a:t>Abstract</a:t>
            </a:r>
            <a:endParaRPr dirty="0">
              <a:solidFill>
                <a:schemeClr val="bg1"/>
              </a:solidFill>
            </a:endParaRPr>
          </a:p>
        </p:txBody>
      </p:sp>
      <p:sp>
        <p:nvSpPr>
          <p:cNvPr id="557" name="Google Shape;557;p32"/>
          <p:cNvSpPr txBox="1">
            <a:spLocks noGrp="1"/>
          </p:cNvSpPr>
          <p:nvPr>
            <p:ph type="title" idx="2"/>
          </p:nvPr>
        </p:nvSpPr>
        <p:spPr>
          <a:xfrm>
            <a:off x="257899" y="955602"/>
            <a:ext cx="1117500"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01</a:t>
            </a:r>
            <a:endParaRPr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2" name="Google Shape;612;p34"/>
          <p:cNvSpPr txBox="1">
            <a:spLocks noGrp="1"/>
          </p:cNvSpPr>
          <p:nvPr>
            <p:ph type="subTitle" idx="1"/>
          </p:nvPr>
        </p:nvSpPr>
        <p:spPr>
          <a:xfrm>
            <a:off x="4614542" y="2202191"/>
            <a:ext cx="4180746" cy="2245823"/>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study explores the structural distinctions of MEC compared to traditional cloud computing, highlights the roles of NFV and SDN in enhancing scalability and flexibility, and discusses the integral challenges of security and privacy within MEC systems.</a:t>
            </a:r>
          </a:p>
        </p:txBody>
      </p:sp>
      <p:sp>
        <p:nvSpPr>
          <p:cNvPr id="613" name="Google Shape;613;p34"/>
          <p:cNvSpPr txBox="1">
            <a:spLocks noGrp="1"/>
          </p:cNvSpPr>
          <p:nvPr>
            <p:ph type="subTitle" idx="2"/>
          </p:nvPr>
        </p:nvSpPr>
        <p:spPr>
          <a:xfrm>
            <a:off x="410981" y="2233188"/>
            <a:ext cx="3990537" cy="1811870"/>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Mobile Edge Computing (MEC) enhances user experiences by significantly reducing latency and optimizing the processing of data near its source, which results in faster response times and improved efficiency.</a:t>
            </a:r>
          </a:p>
        </p:txBody>
      </p:sp>
      <p:pic>
        <p:nvPicPr>
          <p:cNvPr id="2" name="Picture 1">
            <a:extLst>
              <a:ext uri="{FF2B5EF4-FFF2-40B4-BE49-F238E27FC236}">
                <a16:creationId xmlns:a16="http://schemas.microsoft.com/office/drawing/2014/main" id="{80D7A31B-B4F8-63E2-DB19-609BC1FD4B06}"/>
              </a:ext>
            </a:extLst>
          </p:cNvPr>
          <p:cNvPicPr>
            <a:picLocks noChangeAspect="1"/>
          </p:cNvPicPr>
          <p:nvPr/>
        </p:nvPicPr>
        <p:blipFill>
          <a:blip r:embed="rId3"/>
          <a:stretch>
            <a:fillRect/>
          </a:stretch>
        </p:blipFill>
        <p:spPr>
          <a:xfrm>
            <a:off x="1046713" y="1326220"/>
            <a:ext cx="693842" cy="644094"/>
          </a:xfrm>
          <a:prstGeom prst="rect">
            <a:avLst/>
          </a:prstGeom>
        </p:spPr>
      </p:pic>
      <p:pic>
        <p:nvPicPr>
          <p:cNvPr id="3" name="Picture 2">
            <a:extLst>
              <a:ext uri="{FF2B5EF4-FFF2-40B4-BE49-F238E27FC236}">
                <a16:creationId xmlns:a16="http://schemas.microsoft.com/office/drawing/2014/main" id="{2F15B499-685B-DCBA-FEA3-86E151D75EB4}"/>
              </a:ext>
            </a:extLst>
          </p:cNvPr>
          <p:cNvPicPr>
            <a:picLocks noChangeAspect="1"/>
          </p:cNvPicPr>
          <p:nvPr/>
        </p:nvPicPr>
        <p:blipFill>
          <a:blip r:embed="rId3"/>
          <a:stretch>
            <a:fillRect/>
          </a:stretch>
        </p:blipFill>
        <p:spPr>
          <a:xfrm>
            <a:off x="5195729" y="1388213"/>
            <a:ext cx="693842" cy="644094"/>
          </a:xfrm>
          <a:prstGeom prst="rect">
            <a:avLst/>
          </a:prstGeom>
        </p:spPr>
      </p:pic>
      <p:sp>
        <p:nvSpPr>
          <p:cNvPr id="5" name="TextBox 4">
            <a:extLst>
              <a:ext uri="{FF2B5EF4-FFF2-40B4-BE49-F238E27FC236}">
                <a16:creationId xmlns:a16="http://schemas.microsoft.com/office/drawing/2014/main" id="{55477102-6188-AFE2-33F7-D1004E56C727}"/>
              </a:ext>
            </a:extLst>
          </p:cNvPr>
          <p:cNvSpPr txBox="1"/>
          <p:nvPr/>
        </p:nvSpPr>
        <p:spPr>
          <a:xfrm>
            <a:off x="823586" y="616462"/>
            <a:ext cx="4628366"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Exploring the Frontier of Mobile Edge Computing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4011884"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a:solidFill>
                  <a:schemeClr val="bg1"/>
                </a:solidFill>
                <a:latin typeface="Plus Jakarta Sans" panose="020B0604020202020204" charset="0"/>
                <a:ea typeface="Plus Jakarta Sans"/>
                <a:cs typeface="Plus Jakarta Sans" panose="020B0604020202020204" charset="0"/>
                <a:sym typeface="Plus Jakarta Sans"/>
              </a:rPr>
              <a:t>Introduction</a:t>
            </a:r>
            <a:endParaRPr dirty="0">
              <a:solidFill>
                <a:schemeClr val="bg1"/>
              </a:solidFill>
            </a:endParaRPr>
          </a:p>
        </p:txBody>
      </p:sp>
      <p:sp>
        <p:nvSpPr>
          <p:cNvPr id="557" name="Google Shape;557;p32"/>
          <p:cNvSpPr txBox="1">
            <a:spLocks noGrp="1"/>
          </p:cNvSpPr>
          <p:nvPr>
            <p:ph type="title" idx="2"/>
          </p:nvPr>
        </p:nvSpPr>
        <p:spPr>
          <a:xfrm>
            <a:off x="257899" y="955602"/>
            <a:ext cx="117569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02</a:t>
            </a:r>
            <a:endParaRPr dirty="0">
              <a:solidFill>
                <a:schemeClr val="bg1"/>
              </a:solidFill>
            </a:endParaRPr>
          </a:p>
        </p:txBody>
      </p:sp>
    </p:spTree>
    <p:extLst>
      <p:ext uri="{BB962C8B-B14F-4D97-AF65-F5344CB8AC3E}">
        <p14:creationId xmlns:p14="http://schemas.microsoft.com/office/powerpoint/2010/main" val="3642981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2" name="Google Shape;612;p34"/>
          <p:cNvSpPr txBox="1">
            <a:spLocks noGrp="1"/>
          </p:cNvSpPr>
          <p:nvPr>
            <p:ph type="subTitle" idx="1"/>
          </p:nvPr>
        </p:nvSpPr>
        <p:spPr>
          <a:xfrm>
            <a:off x="4784168" y="2203964"/>
            <a:ext cx="3620796" cy="1641600"/>
          </a:xfrm>
          <a:prstGeom prst="rect">
            <a:avLst/>
          </a:prstGeom>
        </p:spPr>
        <p:txBody>
          <a:bodyPr spcFirstLastPara="1" wrap="square" lIns="91425" tIns="91425" rIns="91425" bIns="91425" anchor="t" anchorCtr="0">
            <a:noAutofit/>
          </a:bodyPr>
          <a:lstStyle/>
          <a:p>
            <a:pPr marL="152400" indent="0"/>
            <a:r>
              <a:rPr lang="en-US" sz="1800" dirty="0">
                <a:latin typeface="Times New Roman" panose="02020603050405020304" pitchFamily="18" charset="0"/>
                <a:cs typeface="Times New Roman" panose="02020603050405020304" pitchFamily="18" charset="0"/>
              </a:rPr>
              <a:t>Despite its promise, MEC faces challenges in architecture, energy efficiency, security, and integration with existing technologies.</a:t>
            </a:r>
          </a:p>
          <a:p>
            <a:br>
              <a:rPr lang="en-US"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613" name="Google Shape;613;p34"/>
          <p:cNvSpPr txBox="1">
            <a:spLocks noGrp="1"/>
          </p:cNvSpPr>
          <p:nvPr>
            <p:ph type="subTitle" idx="2"/>
          </p:nvPr>
        </p:nvSpPr>
        <p:spPr>
          <a:xfrm>
            <a:off x="544634" y="2191438"/>
            <a:ext cx="3588954" cy="1641600"/>
          </a:xfrm>
          <a:prstGeom prst="rect">
            <a:avLst/>
          </a:prstGeom>
        </p:spPr>
        <p:txBody>
          <a:bodyPr spcFirstLastPara="1" wrap="square" lIns="91425" tIns="91425" rIns="91425" bIns="91425" anchor="t" anchorCtr="0">
            <a:noAutofit/>
          </a:bodyPr>
          <a:lstStyle/>
          <a:p>
            <a:pPr marL="4381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MEC is a transformative paradigm in telecommunications, enabling low-latency, high-bandwidth applications.</a:t>
            </a:r>
          </a:p>
        </p:txBody>
      </p:sp>
      <p:sp>
        <p:nvSpPr>
          <p:cNvPr id="4" name="TextBox 3">
            <a:extLst>
              <a:ext uri="{FF2B5EF4-FFF2-40B4-BE49-F238E27FC236}">
                <a16:creationId xmlns:a16="http://schemas.microsoft.com/office/drawing/2014/main" id="{417F916D-F562-5AA1-C80F-B3D210DC1ED4}"/>
              </a:ext>
            </a:extLst>
          </p:cNvPr>
          <p:cNvSpPr txBox="1"/>
          <p:nvPr/>
        </p:nvSpPr>
        <p:spPr>
          <a:xfrm>
            <a:off x="673275" y="616462"/>
            <a:ext cx="4628366"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Mobile Edge Computing at the Edge of Innovation</a:t>
            </a:r>
          </a:p>
        </p:txBody>
      </p:sp>
    </p:spTree>
    <p:extLst>
      <p:ext uri="{BB962C8B-B14F-4D97-AF65-F5344CB8AC3E}">
        <p14:creationId xmlns:p14="http://schemas.microsoft.com/office/powerpoint/2010/main" val="2928229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b="1" dirty="0">
                <a:solidFill>
                  <a:schemeClr val="bg1"/>
                </a:solidFill>
                <a:latin typeface="Plus Jakarta Sans" panose="020B0604020202020204" charset="0"/>
                <a:cs typeface="Plus Jakarta Sans" panose="020B0604020202020204" charset="0"/>
              </a:rPr>
              <a:t>Literature Review</a:t>
            </a:r>
            <a:br>
              <a:rPr lang="en-US" sz="4800" dirty="0">
                <a:latin typeface="Plus Jakarta Sans" panose="020B0604020202020204" charset="0"/>
                <a:cs typeface="Plus Jakarta Sans" panose="020B0604020202020204" charset="0"/>
              </a:rPr>
            </a:br>
            <a:endParaRPr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03</a:t>
            </a:r>
            <a:endParaRPr dirty="0">
              <a:solidFill>
                <a:schemeClr val="bg1"/>
              </a:solidFill>
            </a:endParaRPr>
          </a:p>
        </p:txBody>
      </p:sp>
    </p:spTree>
    <p:extLst>
      <p:ext uri="{BB962C8B-B14F-4D97-AF65-F5344CB8AC3E}">
        <p14:creationId xmlns:p14="http://schemas.microsoft.com/office/powerpoint/2010/main" val="345236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terature Review Mind Map">
            <a:extLst>
              <a:ext uri="{FF2B5EF4-FFF2-40B4-BE49-F238E27FC236}">
                <a16:creationId xmlns:a16="http://schemas.microsoft.com/office/drawing/2014/main" id="{463E2B54-063F-9812-03AB-37A6A9B01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6463"/>
            <a:ext cx="9144000" cy="33305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C141AD7-411F-0777-BD9D-71B3F5D1C8CE}"/>
              </a:ext>
            </a:extLst>
          </p:cNvPr>
          <p:cNvSpPr/>
          <p:nvPr/>
        </p:nvSpPr>
        <p:spPr>
          <a:xfrm>
            <a:off x="185349" y="2332495"/>
            <a:ext cx="1681566" cy="5114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4A75437-3FAD-5561-ABEA-CFC0E746E5DA}"/>
              </a:ext>
            </a:extLst>
          </p:cNvPr>
          <p:cNvSpPr txBox="1"/>
          <p:nvPr/>
        </p:nvSpPr>
        <p:spPr>
          <a:xfrm>
            <a:off x="175232" y="2449286"/>
            <a:ext cx="222885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Mobile Edge Computing</a:t>
            </a:r>
          </a:p>
        </p:txBody>
      </p:sp>
      <p:sp>
        <p:nvSpPr>
          <p:cNvPr id="2" name="TextBox 1">
            <a:extLst>
              <a:ext uri="{FF2B5EF4-FFF2-40B4-BE49-F238E27FC236}">
                <a16:creationId xmlns:a16="http://schemas.microsoft.com/office/drawing/2014/main" id="{B4604C11-131F-A140-CF39-F93356CD0547}"/>
              </a:ext>
            </a:extLst>
          </p:cNvPr>
          <p:cNvSpPr txBox="1"/>
          <p:nvPr/>
        </p:nvSpPr>
        <p:spPr>
          <a:xfrm>
            <a:off x="3688795" y="247708"/>
            <a:ext cx="2039881" cy="369332"/>
          </a:xfrm>
          <a:prstGeom prst="rect">
            <a:avLst/>
          </a:prstGeom>
          <a:noFill/>
        </p:spPr>
        <p:txBody>
          <a:bodyPr wrap="square" rtlCol="0">
            <a:spAutoFit/>
          </a:bodyPr>
          <a:lstStyle/>
          <a:p>
            <a:r>
              <a:rPr lang="en-US" sz="1800" u="sng" dirty="0">
                <a:solidFill>
                  <a:schemeClr val="accent5">
                    <a:lumMod val="75000"/>
                  </a:schemeClr>
                </a:solidFill>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177239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658800"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Research Methodology</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04</a:t>
            </a:r>
            <a:endParaRPr dirty="0">
              <a:solidFill>
                <a:schemeClr val="bg1"/>
              </a:solidFill>
            </a:endParaRPr>
          </a:p>
        </p:txBody>
      </p:sp>
    </p:spTree>
    <p:extLst>
      <p:ext uri="{BB962C8B-B14F-4D97-AF65-F5344CB8AC3E}">
        <p14:creationId xmlns:p14="http://schemas.microsoft.com/office/powerpoint/2010/main" val="198669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7" name="Google Shape;647;p35"/>
          <p:cNvSpPr txBox="1">
            <a:spLocks noGrp="1"/>
          </p:cNvSpPr>
          <p:nvPr>
            <p:ph type="subTitle" idx="4"/>
          </p:nvPr>
        </p:nvSpPr>
        <p:spPr>
          <a:xfrm>
            <a:off x="538569" y="1836264"/>
            <a:ext cx="2175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Edge Cloud Architecture</a:t>
            </a:r>
            <a:endParaRPr sz="2000" dirty="0">
              <a:latin typeface="Times New Roman" panose="02020603050405020304" pitchFamily="18" charset="0"/>
              <a:cs typeface="Times New Roman" panose="02020603050405020304" pitchFamily="18" charset="0"/>
            </a:endParaRPr>
          </a:p>
        </p:txBody>
      </p:sp>
      <p:sp>
        <p:nvSpPr>
          <p:cNvPr id="648" name="Google Shape;648;p35"/>
          <p:cNvSpPr txBox="1">
            <a:spLocks noGrp="1"/>
          </p:cNvSpPr>
          <p:nvPr>
            <p:ph type="subTitle" idx="5"/>
          </p:nvPr>
        </p:nvSpPr>
        <p:spPr>
          <a:xfrm>
            <a:off x="3516798" y="1840206"/>
            <a:ext cx="2175300"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Offloading Algorithm</a:t>
            </a:r>
            <a:endParaRPr sz="2000" dirty="0">
              <a:latin typeface="Times New Roman" panose="02020603050405020304" pitchFamily="18" charset="0"/>
              <a:cs typeface="Times New Roman" panose="02020603050405020304" pitchFamily="18" charset="0"/>
            </a:endParaRPr>
          </a:p>
        </p:txBody>
      </p:sp>
      <p:sp>
        <p:nvSpPr>
          <p:cNvPr id="649" name="Google Shape;649;p35"/>
          <p:cNvSpPr txBox="1">
            <a:spLocks noGrp="1"/>
          </p:cNvSpPr>
          <p:nvPr>
            <p:ph type="subTitle" idx="1"/>
          </p:nvPr>
        </p:nvSpPr>
        <p:spPr>
          <a:xfrm>
            <a:off x="375730" y="2434311"/>
            <a:ext cx="2546725" cy="1501800"/>
          </a:xfrm>
          <a:prstGeom prst="rect">
            <a:avLst/>
          </a:prstGeom>
        </p:spPr>
        <p:txBody>
          <a:bodyPr spcFirstLastPara="1" wrap="square" lIns="91425" tIns="91425" rIns="91425" bIns="91425" anchor="t" anchorCtr="0">
            <a:noAutofit/>
          </a:bodyPr>
          <a:lstStyle/>
          <a:p>
            <a:pPr marL="152400" indent="0" algn="l"/>
            <a:r>
              <a:rPr lang="en-US" sz="1600" dirty="0">
                <a:latin typeface="Times New Roman" panose="02020603050405020304" pitchFamily="18" charset="0"/>
                <a:cs typeface="Times New Roman" panose="02020603050405020304" pitchFamily="18" charset="0"/>
              </a:rPr>
              <a:t>Three-tier structure for efficient task handling and resource distribution. IoT Device Tier, Edge Server Tier, and Cloud Layer.</a:t>
            </a:r>
          </a:p>
        </p:txBody>
      </p:sp>
      <p:sp>
        <p:nvSpPr>
          <p:cNvPr id="650" name="Google Shape;650;p35"/>
          <p:cNvSpPr txBox="1">
            <a:spLocks noGrp="1"/>
          </p:cNvSpPr>
          <p:nvPr>
            <p:ph type="subTitle" idx="2"/>
          </p:nvPr>
        </p:nvSpPr>
        <p:spPr>
          <a:xfrm>
            <a:off x="3566899" y="2375621"/>
            <a:ext cx="2175300" cy="150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Delay-Aware Energy-Efficient (DAEE) algorithm for energy-efficient offloading.</a:t>
            </a:r>
            <a:endParaRPr sz="1600" dirty="0">
              <a:latin typeface="Times New Roman" panose="02020603050405020304" pitchFamily="18" charset="0"/>
              <a:cs typeface="Times New Roman" panose="02020603050405020304" pitchFamily="18" charset="0"/>
            </a:endParaRPr>
          </a:p>
        </p:txBody>
      </p:sp>
      <p:sp>
        <p:nvSpPr>
          <p:cNvPr id="651" name="Google Shape;651;p35"/>
          <p:cNvSpPr txBox="1">
            <a:spLocks noGrp="1"/>
          </p:cNvSpPr>
          <p:nvPr>
            <p:ph type="subTitle" idx="3"/>
          </p:nvPr>
        </p:nvSpPr>
        <p:spPr>
          <a:xfrm>
            <a:off x="6147294" y="2444035"/>
            <a:ext cx="2175300" cy="13012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Improving security through local computation and cluster aggregation.</a:t>
            </a:r>
            <a:endParaRPr sz="1600" dirty="0">
              <a:latin typeface="Times New Roman" panose="02020603050405020304" pitchFamily="18" charset="0"/>
              <a:cs typeface="Times New Roman" panose="02020603050405020304" pitchFamily="18" charset="0"/>
            </a:endParaRPr>
          </a:p>
        </p:txBody>
      </p:sp>
      <p:sp>
        <p:nvSpPr>
          <p:cNvPr id="652" name="Google Shape;652;p35"/>
          <p:cNvSpPr txBox="1">
            <a:spLocks noGrp="1"/>
          </p:cNvSpPr>
          <p:nvPr>
            <p:ph type="subTitle" idx="6"/>
          </p:nvPr>
        </p:nvSpPr>
        <p:spPr>
          <a:xfrm>
            <a:off x="6118153" y="1820937"/>
            <a:ext cx="3266069"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Hierarchical Federated Learning (HFL)</a:t>
            </a:r>
            <a:endParaRPr sz="2000" dirty="0">
              <a:latin typeface="Times New Roman" panose="02020603050405020304" pitchFamily="18" charset="0"/>
              <a:cs typeface="Times New Roman" panose="02020603050405020304" pitchFamily="18" charset="0"/>
            </a:endParaRPr>
          </a:p>
        </p:txBody>
      </p:sp>
      <p:pic>
        <p:nvPicPr>
          <p:cNvPr id="2050" name="Picture 2" descr="Edge - Edge Computing Icon Png,Network Solutions Icon - free transparent  png images - pngaaa.com">
            <a:extLst>
              <a:ext uri="{FF2B5EF4-FFF2-40B4-BE49-F238E27FC236}">
                <a16:creationId xmlns:a16="http://schemas.microsoft.com/office/drawing/2014/main" id="{20D8230E-94B3-0C44-490D-D1BF87708A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6" y="1012141"/>
            <a:ext cx="753739" cy="51761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dge - Edge Computing Icon Png,Network Solutions Icon - free transparent  png images - pngaaa.com">
            <a:extLst>
              <a:ext uri="{FF2B5EF4-FFF2-40B4-BE49-F238E27FC236}">
                <a16:creationId xmlns:a16="http://schemas.microsoft.com/office/drawing/2014/main" id="{444E830C-6B1D-CAF0-D08E-849CD7EBD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6795" y="1012141"/>
            <a:ext cx="753739" cy="51761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dge - Edge Computing Icon Png,Network Solutions Icon - free transparent  png images - pngaaa.com">
            <a:extLst>
              <a:ext uri="{FF2B5EF4-FFF2-40B4-BE49-F238E27FC236}">
                <a16:creationId xmlns:a16="http://schemas.microsoft.com/office/drawing/2014/main" id="{760CB7FF-3825-D92E-7491-38D0F6E10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154" y="1012141"/>
            <a:ext cx="753739" cy="517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Potential Research Gaps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05</a:t>
            </a:r>
            <a:endParaRPr dirty="0">
              <a:solidFill>
                <a:schemeClr val="bg1"/>
              </a:solidFill>
            </a:endParaRPr>
          </a:p>
        </p:txBody>
      </p:sp>
    </p:spTree>
    <p:extLst>
      <p:ext uri="{BB962C8B-B14F-4D97-AF65-F5344CB8AC3E}">
        <p14:creationId xmlns:p14="http://schemas.microsoft.com/office/powerpoint/2010/main" val="4177683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2" name="Subtitle 1">
            <a:extLst>
              <a:ext uri="{FF2B5EF4-FFF2-40B4-BE49-F238E27FC236}">
                <a16:creationId xmlns:a16="http://schemas.microsoft.com/office/drawing/2014/main" id="{86815789-F768-350D-9BC0-3D1131C70844}"/>
              </a:ext>
            </a:extLst>
          </p:cNvPr>
          <p:cNvSpPr>
            <a:spLocks noGrp="1"/>
          </p:cNvSpPr>
          <p:nvPr>
            <p:ph type="subTitle" idx="1"/>
          </p:nvPr>
        </p:nvSpPr>
        <p:spPr>
          <a:xfrm>
            <a:off x="660832" y="1465718"/>
            <a:ext cx="3086705"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Despite theoretical advancements in Mobile Edge Computing (MEC), there is a notable gap in the real-world testing and validation of these proposed solutions.</a:t>
            </a:r>
          </a:p>
          <a:p>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26FFBAB-3F90-502C-3921-03DED3B79A4C}"/>
              </a:ext>
            </a:extLst>
          </p:cNvPr>
          <p:cNvSpPr>
            <a:spLocks noGrp="1"/>
          </p:cNvSpPr>
          <p:nvPr>
            <p:ph type="subTitle" idx="2"/>
          </p:nvPr>
        </p:nvSpPr>
        <p:spPr>
          <a:xfrm>
            <a:off x="4546913" y="1458222"/>
            <a:ext cx="3217988"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paper might lack extensive coverage on the application of MEC across diverse industries such as healthcare, agriculture, and smart cities, suggesting a gap in cross-domain applicability.</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7C6038DE-90F6-3421-8BDE-F5AE029BCC60}"/>
              </a:ext>
            </a:extLst>
          </p:cNvPr>
          <p:cNvSpPr>
            <a:spLocks noGrp="1"/>
          </p:cNvSpPr>
          <p:nvPr>
            <p:ph type="subTitle" idx="3"/>
          </p:nvPr>
        </p:nvSpPr>
        <p:spPr>
          <a:xfrm>
            <a:off x="4543281" y="2908033"/>
            <a:ext cx="3521424"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paper does not thoroughly explore the economic implications and potential business models that MEC enables, representing another significant research gap.</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C8D79691-870F-BF46-3BB8-892D66830588}"/>
              </a:ext>
            </a:extLst>
          </p:cNvPr>
          <p:cNvSpPr>
            <a:spLocks noGrp="1"/>
          </p:cNvSpPr>
          <p:nvPr>
            <p:ph type="subTitle" idx="5"/>
          </p:nvPr>
        </p:nvSpPr>
        <p:spPr>
          <a:xfrm>
            <a:off x="569347" y="2942247"/>
            <a:ext cx="3477994" cy="1037400"/>
          </a:xfrm>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 is a potential oversight in integrating user-centric design principles within the development of MEC applications, focusing predominantly on technological and infrastructural aspects.</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C620B1B-76E9-5668-E309-0C746D8A0CB9}"/>
              </a:ext>
            </a:extLst>
          </p:cNvPr>
          <p:cNvSpPr txBox="1"/>
          <p:nvPr/>
        </p:nvSpPr>
        <p:spPr>
          <a:xfrm>
            <a:off x="1326627" y="1270177"/>
            <a:ext cx="1813810"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Real-World Testing</a:t>
            </a:r>
            <a:r>
              <a:rPr lang="en-US" dirty="0">
                <a:latin typeface="Times New Roman" panose="02020603050405020304" pitchFamily="18" charset="0"/>
                <a:cs typeface="Times New Roman" panose="02020603050405020304" pitchFamily="18" charset="0"/>
              </a:rPr>
              <a:t> </a:t>
            </a:r>
            <a:endParaRPr lang="en-US" dirty="0"/>
          </a:p>
        </p:txBody>
      </p:sp>
      <p:sp>
        <p:nvSpPr>
          <p:cNvPr id="12" name="TextBox 11">
            <a:extLst>
              <a:ext uri="{FF2B5EF4-FFF2-40B4-BE49-F238E27FC236}">
                <a16:creationId xmlns:a16="http://schemas.microsoft.com/office/drawing/2014/main" id="{4AA9B5CD-B851-2087-6C30-411A9AB3E288}"/>
              </a:ext>
            </a:extLst>
          </p:cNvPr>
          <p:cNvSpPr txBox="1"/>
          <p:nvPr/>
        </p:nvSpPr>
        <p:spPr>
          <a:xfrm>
            <a:off x="1341617" y="2724223"/>
            <a:ext cx="1836295"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User-Centric Design</a:t>
            </a:r>
            <a:r>
              <a:rPr lang="en-US" dirty="0">
                <a:latin typeface="Times New Roman" panose="02020603050405020304" pitchFamily="18" charset="0"/>
                <a:cs typeface="Times New Roman" panose="02020603050405020304" pitchFamily="18" charset="0"/>
              </a:rPr>
              <a:t> </a:t>
            </a:r>
            <a:endParaRPr lang="en-US" dirty="0"/>
          </a:p>
        </p:txBody>
      </p:sp>
      <p:sp>
        <p:nvSpPr>
          <p:cNvPr id="14" name="TextBox 13">
            <a:extLst>
              <a:ext uri="{FF2B5EF4-FFF2-40B4-BE49-F238E27FC236}">
                <a16:creationId xmlns:a16="http://schemas.microsoft.com/office/drawing/2014/main" id="{7B2FFD75-60DF-A8C6-1F8C-A4704C46665C}"/>
              </a:ext>
            </a:extLst>
          </p:cNvPr>
          <p:cNvSpPr txBox="1"/>
          <p:nvPr/>
        </p:nvSpPr>
        <p:spPr>
          <a:xfrm>
            <a:off x="5149119" y="1262682"/>
            <a:ext cx="2338466"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Cross-Domain Applications</a:t>
            </a:r>
            <a:endParaRPr lang="en-US" dirty="0"/>
          </a:p>
        </p:txBody>
      </p:sp>
      <p:sp>
        <p:nvSpPr>
          <p:cNvPr id="16" name="TextBox 15">
            <a:extLst>
              <a:ext uri="{FF2B5EF4-FFF2-40B4-BE49-F238E27FC236}">
                <a16:creationId xmlns:a16="http://schemas.microsoft.com/office/drawing/2014/main" id="{7E1AAB46-AF89-CB1F-4322-F67CF0E26D84}"/>
              </a:ext>
            </a:extLst>
          </p:cNvPr>
          <p:cNvSpPr txBox="1"/>
          <p:nvPr/>
        </p:nvSpPr>
        <p:spPr>
          <a:xfrm>
            <a:off x="5254049" y="2716728"/>
            <a:ext cx="1618938" cy="30777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Economic Impact</a:t>
            </a:r>
            <a:endParaRPr lang="en-US" dirty="0"/>
          </a:p>
        </p:txBody>
      </p:sp>
      <p:cxnSp>
        <p:nvCxnSpPr>
          <p:cNvPr id="22" name="Straight Connector 21">
            <a:extLst>
              <a:ext uri="{FF2B5EF4-FFF2-40B4-BE49-F238E27FC236}">
                <a16:creationId xmlns:a16="http://schemas.microsoft.com/office/drawing/2014/main" id="{CB9AC7B0-B9A2-EBF9-6B8A-5B041087735E}"/>
              </a:ext>
            </a:extLst>
          </p:cNvPr>
          <p:cNvCxnSpPr>
            <a:cxnSpLocks/>
          </p:cNvCxnSpPr>
          <p:nvPr/>
        </p:nvCxnSpPr>
        <p:spPr>
          <a:xfrm>
            <a:off x="4174761" y="786984"/>
            <a:ext cx="59960" cy="3657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417AA82-5866-4692-6F88-3AC6E7C62F79}"/>
              </a:ext>
            </a:extLst>
          </p:cNvPr>
          <p:cNvCxnSpPr>
            <a:cxnSpLocks/>
          </p:cNvCxnSpPr>
          <p:nvPr/>
        </p:nvCxnSpPr>
        <p:spPr>
          <a:xfrm>
            <a:off x="1203212" y="2625776"/>
            <a:ext cx="6164454" cy="5746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01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422948"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solidFill>
                  <a:schemeClr val="bg1"/>
                </a:solidFill>
                <a:latin typeface="Plus Jakarta Sans" panose="020B0604020202020204" charset="0"/>
                <a:cs typeface="Plus Jakarta Sans" panose="020B0604020202020204" charset="0"/>
              </a:rPr>
              <a:t>Implementation</a:t>
            </a:r>
            <a:endParaRPr sz="32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06</a:t>
            </a:r>
            <a:endParaRPr dirty="0">
              <a:solidFill>
                <a:schemeClr val="bg1"/>
              </a:solidFill>
            </a:endParaRPr>
          </a:p>
        </p:txBody>
      </p:sp>
    </p:spTree>
    <p:extLst>
      <p:ext uri="{BB962C8B-B14F-4D97-AF65-F5344CB8AC3E}">
        <p14:creationId xmlns:p14="http://schemas.microsoft.com/office/powerpoint/2010/main" val="3223410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396A8-609C-3C27-8A86-DCC6C43202E2}"/>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3FCF7548-EECF-1BA1-1CDF-8997E90DBA39}"/>
              </a:ext>
            </a:extLst>
          </p:cNvPr>
          <p:cNvSpPr>
            <a:spLocks noGrp="1"/>
          </p:cNvSpPr>
          <p:nvPr>
            <p:ph type="subTitle" idx="1"/>
          </p:nvPr>
        </p:nvSpPr>
        <p:spPr/>
        <p:txBody>
          <a:bodyPr/>
          <a:lstStyle/>
          <a:p>
            <a:endParaRPr lang="en-US"/>
          </a:p>
        </p:txBody>
      </p:sp>
      <p:pic>
        <p:nvPicPr>
          <p:cNvPr id="1026" name="Picture 2" descr="NFV and SDN Interaction - Neutral Theme">
            <a:extLst>
              <a:ext uri="{FF2B5EF4-FFF2-40B4-BE49-F238E27FC236}">
                <a16:creationId xmlns:a16="http://schemas.microsoft.com/office/drawing/2014/main" id="{FBA6B5B7-90C9-F54C-E6C0-72E0CFDBC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8280"/>
            <a:ext cx="9144000" cy="330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337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99" name="Google Shape;1099;p39"/>
          <p:cNvSpPr txBox="1">
            <a:spLocks noGrp="1"/>
          </p:cNvSpPr>
          <p:nvPr>
            <p:ph type="subTitle" idx="1"/>
          </p:nvPr>
        </p:nvSpPr>
        <p:spPr>
          <a:xfrm>
            <a:off x="244922" y="1113449"/>
            <a:ext cx="7534973" cy="3128767"/>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NFV and SDN Integration:</a:t>
            </a:r>
            <a:r>
              <a:rPr lang="en-US" dirty="0">
                <a:latin typeface="Times New Roman" panose="02020603050405020304" pitchFamily="18" charset="0"/>
                <a:cs typeface="Times New Roman" panose="02020603050405020304" pitchFamily="18" charset="0"/>
              </a:rPr>
              <a:t> </a:t>
            </a:r>
          </a:p>
          <a:p>
            <a:pPr marL="609600" lvl="1" indent="0" algn="l"/>
            <a:r>
              <a:rPr lang="en-US" sz="1400" dirty="0">
                <a:latin typeface="Times New Roman" panose="02020603050405020304" pitchFamily="18" charset="0"/>
                <a:cs typeface="Times New Roman" panose="02020603050405020304" pitchFamily="18" charset="0"/>
              </a:rPr>
              <a:t>Integrates Network Function Virtualization (NFV) and Software-Defined Networking (SDN) to manage MEC resources effectively. NFV turns network functions into software applications, while SDN centralizes control for real-time resource and traffic management.</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Dynamic Resource Allocation: </a:t>
            </a:r>
          </a:p>
          <a:p>
            <a:pPr marL="609600" lvl="1" indent="0" algn="l"/>
            <a:r>
              <a:rPr lang="en-US" sz="1400" dirty="0">
                <a:latin typeface="Times New Roman" panose="02020603050405020304" pitchFamily="18" charset="0"/>
                <a:cs typeface="Times New Roman" panose="02020603050405020304" pitchFamily="18" charset="0"/>
              </a:rPr>
              <a:t>NFV and SDN facilitate the dynamic allocation of resources, adjusting quickly to demand fluctuations to maintain optimal performance and enhance user satisfaction.</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Reduced Latency and Energy Efficiency:</a:t>
            </a:r>
          </a:p>
          <a:p>
            <a:pPr marL="609600" lvl="1" indent="0" algn="l"/>
            <a:r>
              <a:rPr lang="en-US" sz="1400" dirty="0">
                <a:latin typeface="Times New Roman" panose="02020603050405020304" pitchFamily="18" charset="0"/>
                <a:cs typeface="Times New Roman" panose="02020603050405020304" pitchFamily="18" charset="0"/>
              </a:rPr>
              <a:t>Optimizing network routing and service placement at the edge reduces latency and conserves energy by minimizing dependence on physical hardware.</a:t>
            </a:r>
          </a:p>
          <a:p>
            <a:pPr algn="l">
              <a:lnSpc>
                <a:spcPct val="150000"/>
              </a:lnSpc>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Operational Cost Reduction: </a:t>
            </a:r>
          </a:p>
          <a:p>
            <a:pPr marL="609600" lvl="1" indent="0" algn="l"/>
            <a:r>
              <a:rPr lang="en-US" sz="1400" dirty="0">
                <a:latin typeface="Times New Roman" panose="02020603050405020304" pitchFamily="18" charset="0"/>
                <a:cs typeface="Times New Roman" panose="02020603050405020304" pitchFamily="18" charset="0"/>
              </a:rPr>
              <a:t>Streamlining resource management and reducing specialized hardware needs cuts operational costs significantly in deploying and managing network services.</a:t>
            </a:r>
          </a:p>
        </p:txBody>
      </p:sp>
    </p:spTree>
    <p:extLst>
      <p:ext uri="{BB962C8B-B14F-4D97-AF65-F5344CB8AC3E}">
        <p14:creationId xmlns:p14="http://schemas.microsoft.com/office/powerpoint/2010/main" val="3816968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Conclusion &amp; </a:t>
            </a:r>
            <a:br>
              <a:rPr lang="en-US" sz="3600" b="1" dirty="0">
                <a:solidFill>
                  <a:schemeClr val="bg1"/>
                </a:solidFill>
                <a:latin typeface="Plus Jakarta Sans" panose="020B0604020202020204" charset="0"/>
                <a:cs typeface="Plus Jakarta Sans" panose="020B0604020202020204" charset="0"/>
              </a:rPr>
            </a:br>
            <a:r>
              <a:rPr lang="en-US" sz="3600" b="1" dirty="0">
                <a:solidFill>
                  <a:schemeClr val="bg1"/>
                </a:solidFill>
                <a:latin typeface="Plus Jakarta Sans" panose="020B0604020202020204" charset="0"/>
                <a:cs typeface="Plus Jakarta Sans" panose="020B0604020202020204" charset="0"/>
              </a:rPr>
              <a:t>Future Directions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07</a:t>
            </a:r>
            <a:endParaRPr dirty="0">
              <a:solidFill>
                <a:schemeClr val="bg1"/>
              </a:solidFill>
            </a:endParaRPr>
          </a:p>
        </p:txBody>
      </p:sp>
    </p:spTree>
    <p:extLst>
      <p:ext uri="{BB962C8B-B14F-4D97-AF65-F5344CB8AC3E}">
        <p14:creationId xmlns:p14="http://schemas.microsoft.com/office/powerpoint/2010/main" val="1132070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69" name="Google Shape;769;p36"/>
          <p:cNvSpPr txBox="1">
            <a:spLocks noGrp="1"/>
          </p:cNvSpPr>
          <p:nvPr>
            <p:ph type="subTitle" idx="2"/>
          </p:nvPr>
        </p:nvSpPr>
        <p:spPr>
          <a:xfrm>
            <a:off x="1161379" y="1653462"/>
            <a:ext cx="2967000" cy="809700"/>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Dynamic orchestration and integration with existing infrastructure.</a:t>
            </a:r>
          </a:p>
        </p:txBody>
      </p:sp>
      <p:sp>
        <p:nvSpPr>
          <p:cNvPr id="770" name="Google Shape;770;p36"/>
          <p:cNvSpPr txBox="1">
            <a:spLocks noGrp="1"/>
          </p:cNvSpPr>
          <p:nvPr>
            <p:ph type="subTitle" idx="3"/>
          </p:nvPr>
        </p:nvSpPr>
        <p:spPr>
          <a:xfrm>
            <a:off x="4572000" y="1639751"/>
            <a:ext cx="4270149" cy="809700"/>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Innovative approaches for energy consumption and resource allocation.</a:t>
            </a:r>
          </a:p>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Robust security mechanisms.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771" name="Google Shape;771;p36"/>
          <p:cNvSpPr txBox="1">
            <a:spLocks noGrp="1"/>
          </p:cNvSpPr>
          <p:nvPr>
            <p:ph type="subTitle" idx="4"/>
          </p:nvPr>
        </p:nvSpPr>
        <p:spPr>
          <a:xfrm>
            <a:off x="1161379" y="3098899"/>
            <a:ext cx="2967000" cy="809700"/>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Application of AI and ML for network management and predictive resource allocation.</a:t>
            </a:r>
          </a:p>
        </p:txBody>
      </p:sp>
      <p:sp>
        <p:nvSpPr>
          <p:cNvPr id="772" name="Google Shape;772;p36"/>
          <p:cNvSpPr txBox="1">
            <a:spLocks noGrp="1"/>
          </p:cNvSpPr>
          <p:nvPr>
            <p:ph type="subTitle" idx="5"/>
          </p:nvPr>
        </p:nvSpPr>
        <p:spPr>
          <a:xfrm>
            <a:off x="4262035" y="3075652"/>
            <a:ext cx="3728336" cy="809700"/>
          </a:xfrm>
          <a:prstGeom prst="rect">
            <a:avLst/>
          </a:prstGeom>
        </p:spPr>
        <p:txBody>
          <a:bodyPr spcFirstLastPara="1" wrap="square" lIns="91425" tIns="91425" rIns="91425" bIns="91425" anchor="t" anchorCtr="0">
            <a:noAutofit/>
          </a:bodyPr>
          <a:lstStyle/>
          <a:p>
            <a:pPr marL="742950" lvl="1"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Ensuring interoperability and collaboration across heterogeneous platforms.</a:t>
            </a:r>
            <a:br>
              <a:rPr lang="en-US"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p:txBody>
      </p:sp>
      <p:sp>
        <p:nvSpPr>
          <p:cNvPr id="773" name="Google Shape;77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a:r>
              <a:rPr lang="en-US" sz="2000" dirty="0">
                <a:latin typeface="Times New Roman" panose="02020603050405020304" pitchFamily="18" charset="0"/>
                <a:cs typeface="Times New Roman" panose="02020603050405020304" pitchFamily="18" charset="0"/>
              </a:rPr>
              <a:t>MEC is transforming telecommunications by enabling low-latency, high-bandwidth capabilities.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0"/>
        <p:cNvGrpSpPr/>
        <p:nvPr/>
      </p:nvGrpSpPr>
      <p:grpSpPr>
        <a:xfrm>
          <a:off x="0" y="0"/>
          <a:ext cx="0" cy="0"/>
          <a:chOff x="0" y="0"/>
          <a:chExt cx="0" cy="0"/>
        </a:xfrm>
      </p:grpSpPr>
      <p:sp>
        <p:nvSpPr>
          <p:cNvPr id="1099" name="Google Shape;1099;p39"/>
          <p:cNvSpPr txBox="1">
            <a:spLocks noGrp="1"/>
          </p:cNvSpPr>
          <p:nvPr>
            <p:ph type="subTitle" idx="1"/>
          </p:nvPr>
        </p:nvSpPr>
        <p:spPr>
          <a:xfrm>
            <a:off x="22310" y="1081607"/>
            <a:ext cx="3698847" cy="3188176"/>
          </a:xfrm>
          <a:prstGeom prst="rect">
            <a:avLst/>
          </a:prstGeom>
        </p:spPr>
        <p:txBody>
          <a:bodyPr spcFirstLastPara="1" wrap="square" lIns="91425" tIns="91425" rIns="91425" bIns="91425" anchor="t" anchorCtr="0">
            <a:noAutofit/>
          </a:bodyPr>
          <a:lstStyle/>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Results from an experiment analyzing distances between mobile devices and a MEC server.</a:t>
            </a:r>
          </a:p>
          <a:p>
            <a:pPr marL="438150" indent="-285750" algn="l">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Observations on signal strength, device performance, and computational efficiency.</a:t>
            </a:r>
          </a:p>
          <a:p>
            <a:pPr marL="438150" indent="-285750" algn="l">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438150" indent="-285750" algn="l">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Importance of considering mobility and signal strength for efficient resource allocation and reduced latency.</a:t>
            </a:r>
          </a:p>
        </p:txBody>
      </p:sp>
      <p:sp>
        <p:nvSpPr>
          <p:cNvPr id="1100" name="Google Shape;1100;p39"/>
          <p:cNvSpPr txBox="1">
            <a:spLocks noGrp="1"/>
          </p:cNvSpPr>
          <p:nvPr>
            <p:ph type="title"/>
          </p:nvPr>
        </p:nvSpPr>
        <p:spPr>
          <a:xfrm>
            <a:off x="3197652" y="547076"/>
            <a:ext cx="2226226" cy="448423"/>
          </a:xfrm>
          <a:prstGeom prst="rect">
            <a:avLst/>
          </a:prstGeom>
        </p:spPr>
        <p:txBody>
          <a:bodyPr spcFirstLastPara="1" wrap="square" lIns="91425" tIns="91425" rIns="91425" bIns="91425" anchor="b" anchorCtr="0">
            <a:noAutofit/>
          </a:bodyPr>
          <a:lstStyle/>
          <a:p>
            <a:pPr algn="l"/>
            <a:r>
              <a:rPr lang="en-US" sz="2000" dirty="0">
                <a:latin typeface="Times New Roman" panose="02020603050405020304" pitchFamily="18" charset="0"/>
                <a:cs typeface="Times New Roman" panose="02020603050405020304" pitchFamily="18" charset="0"/>
              </a:rPr>
              <a:t>Results Obtained</a:t>
            </a:r>
          </a:p>
        </p:txBody>
      </p:sp>
      <p:pic>
        <p:nvPicPr>
          <p:cNvPr id="2" name="Picture 1" descr="A graph showing a number of green lines&#10;&#10;Description automatically generated">
            <a:extLst>
              <a:ext uri="{FF2B5EF4-FFF2-40B4-BE49-F238E27FC236}">
                <a16:creationId xmlns:a16="http://schemas.microsoft.com/office/drawing/2014/main" id="{841A5B82-3707-36EB-E249-79FCFA814711}"/>
              </a:ext>
            </a:extLst>
          </p:cNvPr>
          <p:cNvPicPr>
            <a:picLocks noChangeAspect="1"/>
          </p:cNvPicPr>
          <p:nvPr/>
        </p:nvPicPr>
        <p:blipFill>
          <a:blip r:embed="rId3"/>
          <a:stretch>
            <a:fillRect/>
          </a:stretch>
        </p:blipFill>
        <p:spPr>
          <a:xfrm>
            <a:off x="3487118" y="1154623"/>
            <a:ext cx="5471841" cy="31461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C48A42B-9866-4E08-AFB0-7AEE330BA27B}"/>
              </a:ext>
            </a:extLst>
          </p:cNvPr>
          <p:cNvSpPr txBox="1"/>
          <p:nvPr/>
        </p:nvSpPr>
        <p:spPr>
          <a:xfrm>
            <a:off x="588817" y="1497366"/>
            <a:ext cx="3983183" cy="3046988"/>
          </a:xfrm>
          <a:prstGeom prst="rect">
            <a:avLst/>
          </a:prstGeom>
          <a:noFill/>
        </p:spPr>
        <p:txBody>
          <a:bodyPr wrap="square" rtlCol="0">
            <a:spAutoFit/>
          </a:bodyPr>
          <a:lstStyle/>
          <a:p>
            <a:pPr algn="just"/>
            <a:r>
              <a:rPr lang="en-US" sz="1600" i="0" dirty="0">
                <a:solidFill>
                  <a:srgbClr val="242424"/>
                </a:solidFill>
                <a:effectLst/>
                <a:latin typeface="Times New Roman" panose="02020603050405020304" pitchFamily="18" charset="0"/>
                <a:cs typeface="Times New Roman" panose="02020603050405020304" pitchFamily="18" charset="0"/>
              </a:rPr>
              <a:t>Announced on April 11th, the prototype device stunned the world with its ability to transmit data at a staggering 100 gigabits per second (Gbps), surpassing the current 5G technology by a remarkable 20-fold margin. Operating in the 100 gigahertz (GHz) band indoors and the 300 GHz band outdoors, this feat marks a significant milestone in the evolution of wireless communication.</a:t>
            </a:r>
          </a:p>
          <a:p>
            <a:pPr algn="just"/>
            <a:endParaRPr lang="en-US" sz="1600" dirty="0">
              <a:solidFill>
                <a:srgbClr val="242424"/>
              </a:solidFill>
              <a:latin typeface="Times New Roman" panose="02020603050405020304" pitchFamily="18" charset="0"/>
              <a:cs typeface="Times New Roman" panose="02020603050405020304" pitchFamily="18" charset="0"/>
            </a:endParaRPr>
          </a:p>
          <a:p>
            <a:pPr algn="just"/>
            <a:endParaRPr lang="en-US" sz="1600" dirty="0">
              <a:solidFill>
                <a:srgbClr val="242424"/>
              </a:solidFill>
              <a:latin typeface="Times New Roman" panose="02020603050405020304" pitchFamily="18" charset="0"/>
              <a:cs typeface="Times New Roman" panose="02020603050405020304" pitchFamily="18" charset="0"/>
            </a:endParaRPr>
          </a:p>
          <a:p>
            <a:pPr algn="just"/>
            <a:r>
              <a:rPr lang="en-US" sz="1600" dirty="0">
                <a:solidFill>
                  <a:srgbClr val="242424"/>
                </a:solidFill>
                <a:latin typeface="Times New Roman" panose="02020603050405020304" pitchFamily="18" charset="0"/>
                <a:cs typeface="Times New Roman" panose="02020603050405020304" pitchFamily="18" charset="0"/>
              </a:rPr>
              <a:t>Author : Leo Rigasaki</a:t>
            </a:r>
            <a:endParaRPr lang="en-US" sz="1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2432FD1-1F33-45F6-8B1F-5B769C845187}"/>
              </a:ext>
            </a:extLst>
          </p:cNvPr>
          <p:cNvSpPr txBox="1"/>
          <p:nvPr/>
        </p:nvSpPr>
        <p:spPr>
          <a:xfrm rot="10800000" flipV="1">
            <a:off x="415635" y="363103"/>
            <a:ext cx="8104910" cy="1046440"/>
          </a:xfrm>
          <a:prstGeom prst="rect">
            <a:avLst/>
          </a:prstGeom>
          <a:noFill/>
        </p:spPr>
        <p:txBody>
          <a:bodyPr wrap="square" rtlCol="0">
            <a:spAutoFit/>
          </a:bodyPr>
          <a:lstStyle/>
          <a:p>
            <a:pPr algn="just"/>
            <a:r>
              <a:rPr lang="en-US" sz="2400" b="1" i="0" dirty="0">
                <a:solidFill>
                  <a:srgbClr val="242424"/>
                </a:solidFill>
                <a:effectLst/>
                <a:latin typeface="Times New Roman" panose="02020603050405020304" pitchFamily="18" charset="0"/>
                <a:cs typeface="Times New Roman" panose="02020603050405020304" pitchFamily="18" charset="0"/>
              </a:rPr>
              <a:t>Breaking Barriers: Japan Unveils 6G Prototype Device with Astonishing Speeds</a:t>
            </a:r>
          </a:p>
          <a:p>
            <a:endParaRPr lang="en-US"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3E5C34CE-C397-4315-BBED-77D411822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898" y="1497366"/>
            <a:ext cx="4163866" cy="223659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EDECDF0-4582-F11D-51D4-D3CA70E6D0CF}"/>
              </a:ext>
            </a:extLst>
          </p:cNvPr>
          <p:cNvSpPr/>
          <p:nvPr/>
        </p:nvSpPr>
        <p:spPr>
          <a:xfrm>
            <a:off x="2100020" y="1580827"/>
            <a:ext cx="1015139" cy="201478"/>
          </a:xfrm>
          <a:prstGeom prst="rect">
            <a:avLst/>
          </a:prstGeom>
          <a:solidFill>
            <a:srgbClr val="FAFAFA"/>
          </a:solidFill>
          <a:ln>
            <a:solidFill>
              <a:srgbClr val="FAFA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latin typeface="Times New Roman" panose="02020603050405020304" pitchFamily="18" charset="0"/>
                <a:cs typeface="Times New Roman" panose="02020603050405020304" pitchFamily="18" charset="0"/>
              </a:rPr>
              <a:t>May 3</a:t>
            </a:r>
            <a:r>
              <a:rPr lang="en-US" sz="1500" b="1" baseline="30000" dirty="0">
                <a:solidFill>
                  <a:schemeClr val="tx1"/>
                </a:solidFill>
                <a:latin typeface="Times New Roman" panose="02020603050405020304" pitchFamily="18" charset="0"/>
                <a:cs typeface="Times New Roman" panose="02020603050405020304" pitchFamily="18" charset="0"/>
              </a:rPr>
              <a:t>rd</a:t>
            </a:r>
            <a:r>
              <a:rPr lang="en-US" sz="1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86458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19050" ty="0" sx="81000" sy="64000" flip="none" algn="bl"/>
        </a:blipFill>
        <a:effectLst/>
      </p:bgPr>
    </p:bg>
    <p:spTree>
      <p:nvGrpSpPr>
        <p:cNvPr id="1" name="Shape 517"/>
        <p:cNvGrpSpPr/>
        <p:nvPr/>
      </p:nvGrpSpPr>
      <p:grpSpPr>
        <a:xfrm>
          <a:off x="0" y="0"/>
          <a:ext cx="0" cy="0"/>
          <a:chOff x="0" y="0"/>
          <a:chExt cx="0" cy="0"/>
        </a:xfrm>
      </p:grpSpPr>
      <p:sp>
        <p:nvSpPr>
          <p:cNvPr id="556" name="Google Shape;556;p32"/>
          <p:cNvSpPr txBox="1">
            <a:spLocks noGrp="1"/>
          </p:cNvSpPr>
          <p:nvPr>
            <p:ph type="title"/>
          </p:nvPr>
        </p:nvSpPr>
        <p:spPr>
          <a:xfrm>
            <a:off x="257899" y="2147539"/>
            <a:ext cx="3329959" cy="17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b="1" dirty="0">
                <a:solidFill>
                  <a:schemeClr val="bg1"/>
                </a:solidFill>
                <a:latin typeface="Plus Jakarta Sans" panose="020B0604020202020204" charset="0"/>
                <a:cs typeface="Plus Jakarta Sans" panose="020B0604020202020204" charset="0"/>
              </a:rPr>
              <a:t>References</a:t>
            </a:r>
            <a:endParaRPr sz="3600" dirty="0">
              <a:solidFill>
                <a:schemeClr val="bg1"/>
              </a:solidFill>
            </a:endParaRPr>
          </a:p>
        </p:txBody>
      </p:sp>
      <p:sp>
        <p:nvSpPr>
          <p:cNvPr id="557" name="Google Shape;557;p32"/>
          <p:cNvSpPr txBox="1">
            <a:spLocks noGrp="1"/>
          </p:cNvSpPr>
          <p:nvPr>
            <p:ph type="title" idx="2"/>
          </p:nvPr>
        </p:nvSpPr>
        <p:spPr>
          <a:xfrm>
            <a:off x="257899" y="955602"/>
            <a:ext cx="1268684" cy="10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bg1"/>
                </a:solidFill>
              </a:rPr>
              <a:t>08</a:t>
            </a:r>
            <a:endParaRPr dirty="0">
              <a:solidFill>
                <a:schemeClr val="bg1"/>
              </a:solidFill>
            </a:endParaRPr>
          </a:p>
        </p:txBody>
      </p:sp>
    </p:spTree>
    <p:extLst>
      <p:ext uri="{BB962C8B-B14F-4D97-AF65-F5344CB8AC3E}">
        <p14:creationId xmlns:p14="http://schemas.microsoft.com/office/powerpoint/2010/main" val="513167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73" name="Google Shape;773;p36"/>
          <p:cNvSpPr txBox="1">
            <a:spLocks noGrp="1"/>
          </p:cNvSpPr>
          <p:nvPr>
            <p:ph type="title"/>
          </p:nvPr>
        </p:nvSpPr>
        <p:spPr>
          <a:xfrm>
            <a:off x="852407" y="515453"/>
            <a:ext cx="7704000" cy="4388320"/>
          </a:xfrm>
          <a:prstGeom prst="rect">
            <a:avLst/>
          </a:prstGeom>
        </p:spPr>
        <p:txBody>
          <a:bodyPr spcFirstLastPara="1" wrap="square" lIns="91425" tIns="91425" rIns="91425" bIns="91425" anchor="t" anchorCtr="0">
            <a:noAutofit/>
          </a:bodyPr>
          <a:lstStyle/>
          <a:p>
            <a:r>
              <a:rPr lang="en-US" sz="1200" dirty="0">
                <a:latin typeface="Albert Sans Medium" panose="020B0604020202020204" charset="0"/>
              </a:rPr>
              <a:t>Y. Mao, C. You, J. Zhang, K. Huang, and K. B. </a:t>
            </a:r>
            <a:r>
              <a:rPr lang="en-US" sz="1200" dirty="0" err="1">
                <a:latin typeface="Albert Sans Medium" panose="020B0604020202020204" charset="0"/>
              </a:rPr>
              <a:t>Letaief</a:t>
            </a:r>
            <a:r>
              <a:rPr lang="en-US" sz="1200" dirty="0">
                <a:latin typeface="Albert Sans Medium" panose="020B0604020202020204" charset="0"/>
              </a:rPr>
              <a:t>, "A Survey on Mobile Edge Computing: The Communication Perspective.“</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X. Chen, L. Jiao, W. Li, and X. Fu, "Efficient Multi-User Computation Offloading for Mobile-Edge </a:t>
            </a:r>
            <a:r>
              <a:rPr lang="en-US" sz="1200" dirty="0" err="1">
                <a:latin typeface="Albert Sans Medium" panose="020B0604020202020204" charset="0"/>
              </a:rPr>
              <a:t>CloudComputing</a:t>
            </a:r>
            <a:r>
              <a:rPr lang="en-US" sz="1200" dirty="0">
                <a:latin typeface="Albert Sans Medium" panose="020B0604020202020204" charset="0"/>
              </a:rPr>
              <a:t>.“</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Y. Zhang, "Mobile Edge Computing for Beyond 5G/6G.“</a:t>
            </a:r>
            <a:br>
              <a:rPr lang="en-US" sz="1200" dirty="0">
                <a:latin typeface="Albert Sans Medium" panose="020B0604020202020204" charset="0"/>
              </a:rPr>
            </a:br>
            <a:br>
              <a:rPr lang="en-US" sz="1200" dirty="0">
                <a:latin typeface="Albert Sans Medium" panose="020B0604020202020204" charset="0"/>
              </a:rPr>
            </a:br>
            <a:r>
              <a:rPr lang="en-US" sz="1200" dirty="0" err="1">
                <a:latin typeface="Albert Sans Medium" panose="020B0604020202020204" charset="0"/>
              </a:rPr>
              <a:t>Xiaojie</a:t>
            </a:r>
            <a:r>
              <a:rPr lang="en-US" sz="1200" dirty="0">
                <a:latin typeface="Albert Sans Medium" panose="020B0604020202020204" charset="0"/>
              </a:rPr>
              <a:t> Wang, </a:t>
            </a:r>
            <a:r>
              <a:rPr lang="en-US" sz="1200" dirty="0" err="1">
                <a:latin typeface="Albert Sans Medium" panose="020B0604020202020204" charset="0"/>
              </a:rPr>
              <a:t>Jiameng</a:t>
            </a:r>
            <a:r>
              <a:rPr lang="en-US" sz="1200" dirty="0">
                <a:latin typeface="Albert Sans Medium" panose="020B0604020202020204" charset="0"/>
              </a:rPr>
              <a:t> Li, </a:t>
            </a:r>
            <a:r>
              <a:rPr lang="en-US" sz="1200" dirty="0" err="1">
                <a:latin typeface="Albert Sans Medium" panose="020B0604020202020204" charset="0"/>
              </a:rPr>
              <a:t>Zhaolong</a:t>
            </a:r>
            <a:r>
              <a:rPr lang="en-US" sz="1200" dirty="0">
                <a:latin typeface="Albert Sans Medium" panose="020B0604020202020204" charset="0"/>
              </a:rPr>
              <a:t> Ning, </a:t>
            </a:r>
            <a:r>
              <a:rPr lang="en-US" sz="1200" dirty="0" err="1">
                <a:latin typeface="Albert Sans Medium" panose="020B0604020202020204" charset="0"/>
              </a:rPr>
              <a:t>Qingyang</a:t>
            </a:r>
            <a:r>
              <a:rPr lang="en-US" sz="1200" dirty="0">
                <a:latin typeface="Albert Sans Medium" panose="020B0604020202020204" charset="0"/>
              </a:rPr>
              <a:t> Song, Lei Guo, Song Guo, and Mohammad S. </a:t>
            </a:r>
            <a:r>
              <a:rPr lang="en-US" sz="1200" dirty="0" err="1">
                <a:latin typeface="Albert Sans Medium" panose="020B0604020202020204" charset="0"/>
              </a:rPr>
              <a:t>Obaidat</a:t>
            </a:r>
            <a:r>
              <a:rPr lang="en-US" sz="1200" dirty="0">
                <a:latin typeface="Albert Sans Medium" panose="020B0604020202020204" charset="0"/>
              </a:rPr>
              <a:t>, "Wireless Powered Mobile Edge Computing Networks: A Survey."</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N. Abbas, Y. Zhang, A. </a:t>
            </a:r>
            <a:r>
              <a:rPr lang="en-US" sz="1200" dirty="0" err="1">
                <a:latin typeface="Albert Sans Medium" panose="020B0604020202020204" charset="0"/>
              </a:rPr>
              <a:t>Taherkordi</a:t>
            </a:r>
            <a:r>
              <a:rPr lang="en-US" sz="1200" dirty="0">
                <a:latin typeface="Albert Sans Medium" panose="020B0604020202020204" charset="0"/>
              </a:rPr>
              <a:t>, and T. </a:t>
            </a:r>
            <a:r>
              <a:rPr lang="en-US" sz="1200" dirty="0" err="1">
                <a:latin typeface="Albert Sans Medium" panose="020B0604020202020204" charset="0"/>
              </a:rPr>
              <a:t>Skeie</a:t>
            </a:r>
            <a:r>
              <a:rPr lang="en-US" sz="1200" dirty="0">
                <a:latin typeface="Albert Sans Medium" panose="020B0604020202020204" charset="0"/>
              </a:rPr>
              <a:t>, "Mobile Edge Computing: A Survey."</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Mohammed Abd-</a:t>
            </a:r>
            <a:r>
              <a:rPr lang="en-US" sz="1200" dirty="0" err="1">
                <a:latin typeface="Albert Sans Medium" panose="020B0604020202020204" charset="0"/>
              </a:rPr>
              <a:t>Elnaby</a:t>
            </a:r>
            <a:r>
              <a:rPr lang="en-US" sz="1200" dirty="0">
                <a:latin typeface="Albert Sans Medium" panose="020B0604020202020204" charset="0"/>
              </a:rPr>
              <a:t>, </a:t>
            </a:r>
            <a:r>
              <a:rPr lang="en-US" sz="1200" dirty="0" err="1">
                <a:latin typeface="Albert Sans Medium" panose="020B0604020202020204" charset="0"/>
              </a:rPr>
              <a:t>Germien</a:t>
            </a:r>
            <a:r>
              <a:rPr lang="en-US" sz="1200" dirty="0">
                <a:latin typeface="Albert Sans Medium" panose="020B0604020202020204" charset="0"/>
              </a:rPr>
              <a:t> G. </a:t>
            </a:r>
            <a:r>
              <a:rPr lang="en-US" sz="1200" dirty="0" err="1">
                <a:latin typeface="Albert Sans Medium" panose="020B0604020202020204" charset="0"/>
              </a:rPr>
              <a:t>Sedhom</a:t>
            </a:r>
            <a:r>
              <a:rPr lang="en-US" sz="1200" dirty="0">
                <a:latin typeface="Albert Sans Medium" panose="020B0604020202020204" charset="0"/>
              </a:rPr>
              <a:t>, El-Sayed M. El-</a:t>
            </a:r>
            <a:r>
              <a:rPr lang="en-US" sz="1200" dirty="0" err="1">
                <a:latin typeface="Albert Sans Medium" panose="020B0604020202020204" charset="0"/>
              </a:rPr>
              <a:t>Rabaie</a:t>
            </a:r>
            <a:r>
              <a:rPr lang="en-US" sz="1200" dirty="0">
                <a:latin typeface="Albert Sans Medium" panose="020B0604020202020204" charset="0"/>
              </a:rPr>
              <a:t>, and Mohamed </a:t>
            </a:r>
            <a:r>
              <a:rPr lang="en-US" sz="1200" dirty="0" err="1">
                <a:latin typeface="Albert Sans Medium" panose="020B0604020202020204" charset="0"/>
              </a:rPr>
              <a:t>Elwekeil</a:t>
            </a:r>
            <a:r>
              <a:rPr lang="en-US" sz="1200" dirty="0">
                <a:latin typeface="Albert Sans Medium" panose="020B0604020202020204" charset="0"/>
              </a:rPr>
              <a:t>, "NOMA for 5G and beyond: Literature Review and Novel Trends."</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A. </a:t>
            </a:r>
            <a:r>
              <a:rPr lang="en-US" sz="1200" dirty="0" err="1">
                <a:latin typeface="Albert Sans Medium" panose="020B0604020202020204" charset="0"/>
              </a:rPr>
              <a:t>Kaliwo</a:t>
            </a:r>
            <a:r>
              <a:rPr lang="en-US" sz="1200" dirty="0">
                <a:latin typeface="Albert Sans Medium" panose="020B0604020202020204" charset="0"/>
              </a:rPr>
              <a:t>, C. Nyirenda, "Enhancing Digital Health in 6G Networks: A </a:t>
            </a:r>
            <a:r>
              <a:rPr lang="en-US" sz="1200" dirty="0" err="1">
                <a:latin typeface="Albert Sans Medium" panose="020B0604020202020204" charset="0"/>
              </a:rPr>
              <a:t>Cybertwin</a:t>
            </a:r>
            <a:r>
              <a:rPr lang="en-US" sz="1200" dirty="0">
                <a:latin typeface="Albert Sans Medium" panose="020B0604020202020204" charset="0"/>
              </a:rPr>
              <a:t>-driven Fuzzy Approach to Medical Traffic Identification and Classification."</a:t>
            </a:r>
            <a:br>
              <a:rPr lang="en-US" sz="1200" dirty="0">
                <a:latin typeface="Albert Sans Medium" panose="020B0604020202020204" charset="0"/>
              </a:rPr>
            </a:br>
            <a:br>
              <a:rPr lang="en-US" sz="1200" dirty="0">
                <a:latin typeface="Albert Sans Medium" panose="020B0604020202020204" charset="0"/>
              </a:rPr>
            </a:br>
            <a:r>
              <a:rPr lang="en-US" sz="1200" dirty="0">
                <a:latin typeface="Albert Sans Medium" panose="020B0604020202020204" charset="0"/>
              </a:rPr>
              <a:t>MABS </a:t>
            </a:r>
            <a:r>
              <a:rPr lang="en-US" sz="1200" dirty="0" err="1">
                <a:latin typeface="Albert Sans Medium" panose="020B0604020202020204" charset="0"/>
              </a:rPr>
              <a:t>Abir</a:t>
            </a:r>
            <a:r>
              <a:rPr lang="en-US" sz="1200" dirty="0">
                <a:latin typeface="Albert Sans Medium" panose="020B0604020202020204" charset="0"/>
              </a:rPr>
              <a:t>, MZ Chowdhury, "Digital Twin-based Aerial Mobile Edge Computing System for Next Generation 6G Networks."</a:t>
            </a:r>
            <a:br>
              <a:rPr lang="en-US" sz="1200" dirty="0">
                <a:latin typeface="Albert Sans Medium" panose="020B0604020202020204" charset="0"/>
              </a:rPr>
            </a:br>
            <a:br>
              <a:rPr lang="en-US" sz="1200" dirty="0">
                <a:latin typeface="Albert Sans Medium" panose="020B0604020202020204" charset="0"/>
              </a:rPr>
            </a:br>
            <a:endParaRPr lang="en-US" sz="1200" dirty="0">
              <a:latin typeface="Albert Sans Medium" panose="020B0604020202020204" charset="0"/>
            </a:endParaRPr>
          </a:p>
        </p:txBody>
      </p:sp>
      <p:sp>
        <p:nvSpPr>
          <p:cNvPr id="2" name="TextBox 1">
            <a:extLst>
              <a:ext uri="{FF2B5EF4-FFF2-40B4-BE49-F238E27FC236}">
                <a16:creationId xmlns:a16="http://schemas.microsoft.com/office/drawing/2014/main" id="{30B5A1A5-CEE5-4034-6BCB-6FE7FE10895C}"/>
              </a:ext>
            </a:extLst>
          </p:cNvPr>
          <p:cNvSpPr txBox="1"/>
          <p:nvPr/>
        </p:nvSpPr>
        <p:spPr>
          <a:xfrm>
            <a:off x="8245770" y="1154624"/>
            <a:ext cx="45823" cy="307777"/>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639014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73" name="Google Shape;773;p36"/>
          <p:cNvSpPr txBox="1">
            <a:spLocks noGrp="1"/>
          </p:cNvSpPr>
          <p:nvPr>
            <p:ph type="title"/>
          </p:nvPr>
        </p:nvSpPr>
        <p:spPr>
          <a:xfrm>
            <a:off x="467227" y="288739"/>
            <a:ext cx="8490656" cy="3925498"/>
          </a:xfrm>
          <a:prstGeom prst="rect">
            <a:avLst/>
          </a:prstGeom>
        </p:spPr>
        <p:txBody>
          <a:bodyPr spcFirstLastPara="1" wrap="square" lIns="91425" tIns="91425" rIns="91425" bIns="91425" anchor="t" anchorCtr="0">
            <a:noAutofit/>
          </a:bodyPr>
          <a:lstStyle/>
          <a:p>
            <a:pPr algn="l"/>
            <a:r>
              <a:rPr lang="en-US" sz="1200" dirty="0"/>
              <a:t>W. Yu, TJ Chua, J. Zhao, "Orchestration of Emulator Assisted Mobile Edge Tuning for AI Foundation Models: A Multi-Agent Deep Reinforcement Learning Approach."</a:t>
            </a:r>
            <a:br>
              <a:rPr lang="en-US" sz="1200" dirty="0"/>
            </a:br>
            <a:br>
              <a:rPr lang="en-US" sz="1200" dirty="0"/>
            </a:br>
            <a:r>
              <a:rPr lang="en-US" sz="1200" dirty="0"/>
              <a:t>S. Roy, S. </a:t>
            </a:r>
            <a:r>
              <a:rPr lang="en-US" sz="1200" dirty="0" err="1"/>
              <a:t>Kalafatis</a:t>
            </a:r>
            <a:r>
              <a:rPr lang="en-US" sz="1200" dirty="0"/>
              <a:t>, "</a:t>
            </a:r>
            <a:r>
              <a:rPr lang="en-US" sz="1200" dirty="0" err="1"/>
              <a:t>RoboCon</a:t>
            </a:r>
            <a:r>
              <a:rPr lang="en-US" sz="1200" dirty="0"/>
              <a:t>: A Modular Robotic Containerization, Orchestration, and Load Balancing Technique for Mixed Hierarchy Task Handling Across Computing Platforms.“</a:t>
            </a:r>
            <a:br>
              <a:rPr lang="en-US" sz="1200" dirty="0"/>
            </a:br>
            <a:br>
              <a:rPr lang="en-US" sz="1200" dirty="0"/>
            </a:br>
            <a:r>
              <a:rPr lang="en-US" sz="1200" dirty="0"/>
              <a:t>Miranda McClellan, Cristina </a:t>
            </a:r>
            <a:r>
              <a:rPr lang="en-US" sz="1200" dirty="0" err="1"/>
              <a:t>Cervelló</a:t>
            </a:r>
            <a:r>
              <a:rPr lang="en-US" sz="1200" dirty="0"/>
              <a:t>-Pastor, and </a:t>
            </a:r>
            <a:r>
              <a:rPr lang="en-US" sz="1200" dirty="0" err="1"/>
              <a:t>Sebastià</a:t>
            </a:r>
            <a:r>
              <a:rPr lang="en-US" sz="1200" dirty="0"/>
              <a:t> </a:t>
            </a:r>
            <a:r>
              <a:rPr lang="en-US" sz="1200" dirty="0" err="1"/>
              <a:t>Sallent</a:t>
            </a:r>
            <a:r>
              <a:rPr lang="en-US" sz="1200" dirty="0"/>
              <a:t>, "Deep Learning at the Mobile Edge: Opportunities for 5G Networks.“</a:t>
            </a:r>
            <a:br>
              <a:rPr lang="en-US" sz="1200" dirty="0"/>
            </a:br>
            <a:br>
              <a:rPr lang="en-US" sz="1200" dirty="0"/>
            </a:br>
            <a:r>
              <a:rPr lang="en-US" sz="1200" dirty="0"/>
              <a:t>Yue Wang, Zhi Tian, Xin Fan, Yan Huo, Cameron </a:t>
            </a:r>
            <a:r>
              <a:rPr lang="en-US" sz="1200" dirty="0" err="1"/>
              <a:t>Nowzari</a:t>
            </a:r>
            <a:r>
              <a:rPr lang="en-US" sz="1200" dirty="0"/>
              <a:t>, Kai Zeng, "Distributed Swarm Learning for Internet of Things at the Edge: Where Artificial Intelligence Meets Biological Intelligence.“</a:t>
            </a:r>
            <a:br>
              <a:rPr lang="en-US" sz="1200" dirty="0"/>
            </a:br>
            <a:br>
              <a:rPr lang="en-US" sz="1200" dirty="0"/>
            </a:br>
            <a:r>
              <a:rPr lang="en-US" sz="1200" dirty="0"/>
              <a:t>Pritchard, Craig &amp; Beheshti, Yousef &amp; </a:t>
            </a:r>
            <a:r>
              <a:rPr lang="en-US" sz="1200" dirty="0" err="1"/>
              <a:t>Sepahi</a:t>
            </a:r>
            <a:r>
              <a:rPr lang="en-US" sz="1200" dirty="0"/>
              <a:t>, Mohammad, "Mobile Edge Computing: Architecture, Use-cases, Applications.“</a:t>
            </a:r>
            <a:br>
              <a:rPr lang="en-US" sz="1200" dirty="0"/>
            </a:br>
            <a:br>
              <a:rPr lang="en-US" sz="1200" dirty="0"/>
            </a:br>
            <a:r>
              <a:rPr lang="en-US" sz="1200" dirty="0" err="1"/>
              <a:t>Xiucheng</a:t>
            </a:r>
            <a:r>
              <a:rPr lang="en-US" sz="1200" dirty="0"/>
              <a:t> Wang, Nan Cheng, </a:t>
            </a:r>
            <a:r>
              <a:rPr lang="en-US" sz="1200" dirty="0" err="1"/>
              <a:t>Lianhao</a:t>
            </a:r>
            <a:r>
              <a:rPr lang="en-US" sz="1200" dirty="0"/>
              <a:t> Fu, Wei Quan, </a:t>
            </a:r>
            <a:r>
              <a:rPr lang="en-US" sz="1200" dirty="0" err="1"/>
              <a:t>Ruijin</a:t>
            </a:r>
            <a:r>
              <a:rPr lang="en-US" sz="1200" dirty="0"/>
              <a:t> Sun, </a:t>
            </a:r>
            <a:r>
              <a:rPr lang="en-US" sz="1200" dirty="0" err="1"/>
              <a:t>Yilong</a:t>
            </a:r>
            <a:r>
              <a:rPr lang="en-US" sz="1200" dirty="0"/>
              <a:t> Hui, Tom Luan, </a:t>
            </a:r>
            <a:r>
              <a:rPr lang="en-US" sz="1200" dirty="0" err="1"/>
              <a:t>Xuemin</a:t>
            </a:r>
            <a:r>
              <a:rPr lang="en-US" sz="1200" dirty="0"/>
              <a:t> Shen, "Scalable Resource Management for Dynamic MEC: An Unsupervised Link-Output Graph Neural Network Approach.“</a:t>
            </a:r>
            <a:br>
              <a:rPr lang="en-US" sz="1200" dirty="0"/>
            </a:br>
            <a:br>
              <a:rPr lang="en-US" sz="1200" dirty="0"/>
            </a:br>
            <a:r>
              <a:rPr lang="en-US" sz="1200" dirty="0"/>
              <a:t>X. Chen, L. Jiao, W. Li, and X. Fu, "Efficient Multi-User Computation Offloading for Mobile-Edge Cloud Computing.“</a:t>
            </a:r>
            <a:br>
              <a:rPr lang="en-US" sz="1200" dirty="0"/>
            </a:br>
            <a:br>
              <a:rPr lang="en-US" sz="1200" dirty="0"/>
            </a:br>
            <a:r>
              <a:rPr lang="en-US" sz="1200" dirty="0" err="1"/>
              <a:t>Chutiphon</a:t>
            </a:r>
            <a:r>
              <a:rPr lang="en-US" sz="1200" dirty="0"/>
              <a:t> </a:t>
            </a:r>
            <a:r>
              <a:rPr lang="en-US" sz="1200" dirty="0" err="1"/>
              <a:t>Pukdeboon</a:t>
            </a:r>
            <a:r>
              <a:rPr lang="en-US" sz="1200" dirty="0"/>
              <a:t>, "A Review of Fundamentals of Lyapunov Theory."</a:t>
            </a:r>
            <a:br>
              <a:rPr lang="en-US" sz="1200" dirty="0"/>
            </a:br>
            <a:br>
              <a:rPr lang="en-US" sz="1200" dirty="0"/>
            </a:br>
            <a:r>
              <a:rPr lang="en-US" sz="1200" dirty="0"/>
              <a:t>Rodrigo Romana, Javier Lopez, Masahiro Mambo, "Mobile Edge Computing, Fog et al.: A Survey and Analysis of Security Threats and Challenges."</a:t>
            </a:r>
          </a:p>
        </p:txBody>
      </p:sp>
    </p:spTree>
    <p:extLst>
      <p:ext uri="{BB962C8B-B14F-4D97-AF65-F5344CB8AC3E}">
        <p14:creationId xmlns:p14="http://schemas.microsoft.com/office/powerpoint/2010/main" val="231110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04C5B-5D03-CA23-2F29-B530F3A44F5C}"/>
              </a:ext>
            </a:extLst>
          </p:cNvPr>
          <p:cNvSpPr>
            <a:spLocks noGrp="1"/>
          </p:cNvSpPr>
          <p:nvPr>
            <p:ph type="ctrTitle"/>
          </p:nvPr>
        </p:nvSpPr>
        <p:spPr/>
        <p:txBody>
          <a:bodyPr/>
          <a:lstStyle/>
          <a:p>
            <a:r>
              <a:rPr lang="en" sz="6000" dirty="0"/>
              <a:t>Thank you</a:t>
            </a:r>
            <a:endParaRPr lang="en-US" sz="6000" dirty="0"/>
          </a:p>
        </p:txBody>
      </p:sp>
      <p:sp>
        <p:nvSpPr>
          <p:cNvPr id="3" name="Subtitle 2">
            <a:extLst>
              <a:ext uri="{FF2B5EF4-FFF2-40B4-BE49-F238E27FC236}">
                <a16:creationId xmlns:a16="http://schemas.microsoft.com/office/drawing/2014/main" id="{4502B107-1F11-870B-A668-BE4ED283281B}"/>
              </a:ext>
            </a:extLst>
          </p:cNvPr>
          <p:cNvSpPr>
            <a:spLocks noGrp="1"/>
          </p:cNvSpPr>
          <p:nvPr>
            <p:ph type="subTitle" idx="1"/>
          </p:nvPr>
        </p:nvSpPr>
        <p:spPr>
          <a:xfrm>
            <a:off x="715099" y="2663356"/>
            <a:ext cx="6211683" cy="521700"/>
          </a:xfrm>
        </p:spPr>
        <p:txBody>
          <a:bodyPr/>
          <a:lstStyle/>
          <a:p>
            <a:r>
              <a:rPr lang="en-US" sz="3200" dirty="0"/>
              <a:t>Do you have any questions?</a:t>
            </a:r>
          </a:p>
          <a:p>
            <a:endParaRPr lang="en-US" dirty="0"/>
          </a:p>
        </p:txBody>
      </p:sp>
    </p:spTree>
    <p:extLst>
      <p:ext uri="{BB962C8B-B14F-4D97-AF65-F5344CB8AC3E}">
        <p14:creationId xmlns:p14="http://schemas.microsoft.com/office/powerpoint/2010/main" val="1209439150"/>
      </p:ext>
    </p:extLst>
  </p:cSld>
  <p:clrMapOvr>
    <a:masterClrMapping/>
  </p:clrMapOvr>
</p:sld>
</file>

<file path=ppt/theme/theme1.xml><?xml version="1.0" encoding="utf-8"?>
<a:theme xmlns:a="http://schemas.openxmlformats.org/drawingml/2006/main" name="Encephalon Research Center by Slidesgo">
  <a:themeElements>
    <a:clrScheme name="Simple Light">
      <a:dk1>
        <a:srgbClr val="22262B"/>
      </a:dk1>
      <a:lt1>
        <a:srgbClr val="FAFAFA"/>
      </a:lt1>
      <a:dk2>
        <a:srgbClr val="FFFFFF"/>
      </a:dk2>
      <a:lt2>
        <a:srgbClr val="F587BB"/>
      </a:lt2>
      <a:accent1>
        <a:srgbClr val="CC5490"/>
      </a:accent1>
      <a:accent2>
        <a:srgbClr val="D7EBFB"/>
      </a:accent2>
      <a:accent3>
        <a:srgbClr val="5CC1F1"/>
      </a:accent3>
      <a:accent4>
        <a:srgbClr val="95B3E0"/>
      </a:accent4>
      <a:accent5>
        <a:srgbClr val="28388F"/>
      </a:accent5>
      <a:accent6>
        <a:srgbClr val="192157"/>
      </a:accent6>
      <a:hlink>
        <a:srgbClr val="22262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TotalTime>
  <Words>1180</Words>
  <Application>Microsoft Office PowerPoint</Application>
  <PresentationFormat>On-screen Show (16:9)</PresentationFormat>
  <Paragraphs>98</Paragraphs>
  <Slides>23</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Plus Jakarta Sans</vt:lpstr>
      <vt:lpstr>Albert Sans</vt:lpstr>
      <vt:lpstr>Albert Sans Medium</vt:lpstr>
      <vt:lpstr>Wingdings</vt:lpstr>
      <vt:lpstr>Times New Roman</vt:lpstr>
      <vt:lpstr>Raleway</vt:lpstr>
      <vt:lpstr>Encephalon Research Center by Slidesgo</vt:lpstr>
      <vt:lpstr>Mobile Edge Computing</vt:lpstr>
      <vt:lpstr>Table of contents</vt:lpstr>
      <vt:lpstr>Abstract</vt:lpstr>
      <vt:lpstr>PowerPoint Presentation</vt:lpstr>
      <vt:lpstr>Introduction</vt:lpstr>
      <vt:lpstr>PowerPoint Presentation</vt:lpstr>
      <vt:lpstr>Literature Review </vt:lpstr>
      <vt:lpstr>PowerPoint Presentation</vt:lpstr>
      <vt:lpstr>Research Methodology</vt:lpstr>
      <vt:lpstr>PowerPoint Presentation</vt:lpstr>
      <vt:lpstr>Potential Research Gaps</vt:lpstr>
      <vt:lpstr>PowerPoint Presentation</vt:lpstr>
      <vt:lpstr>Implementation</vt:lpstr>
      <vt:lpstr>PowerPoint Presentation</vt:lpstr>
      <vt:lpstr>PowerPoint Presentation</vt:lpstr>
      <vt:lpstr>Conclusion &amp;  Future Directions</vt:lpstr>
      <vt:lpstr>MEC is transforming telecommunications by enabling low-latency, high-bandwidth capabilities.</vt:lpstr>
      <vt:lpstr>Results Obtained</vt:lpstr>
      <vt:lpstr>PowerPoint Presentation</vt:lpstr>
      <vt:lpstr>References</vt:lpstr>
      <vt:lpstr>Y. Mao, C. You, J. Zhang, K. Huang, and K. B. Letaief, "A Survey on Mobile Edge Computing: The Communication Perspective.“  X. Chen, L. Jiao, W. Li, and X. Fu, "Efficient Multi-User Computation Offloading for Mobile-Edge CloudComputing.“  Y. Zhang, "Mobile Edge Computing for Beyond 5G/6G.“  Xiaojie Wang, Jiameng Li, Zhaolong Ning, Qingyang Song, Lei Guo, Song Guo, and Mohammad S. Obaidat, "Wireless Powered Mobile Edge Computing Networks: A Survey."  N. Abbas, Y. Zhang, A. Taherkordi, and T. Skeie, "Mobile Edge Computing: A Survey."  Mohammed Abd-Elnaby, Germien G. Sedhom, El-Sayed M. El-Rabaie, and Mohamed Elwekeil, "NOMA for 5G and beyond: Literature Review and Novel Trends."  A. Kaliwo, C. Nyirenda, "Enhancing Digital Health in 6G Networks: A Cybertwin-driven Fuzzy Approach to Medical Traffic Identification and Classification."  MABS Abir, MZ Chowdhury, "Digital Twin-based Aerial Mobile Edge Computing System for Next Generation 6G Networks."  </vt:lpstr>
      <vt:lpstr>W. Yu, TJ Chua, J. Zhao, "Orchestration of Emulator Assisted Mobile Edge Tuning for AI Foundation Models: A Multi-Agent Deep Reinforcement Learning Approach."  S. Roy, S. Kalafatis, "RoboCon: A Modular Robotic Containerization, Orchestration, and Load Balancing Technique for Mixed Hierarchy Task Handling Across Computing Platforms.“  Miranda McClellan, Cristina Cervelló-Pastor, and Sebastià Sallent, "Deep Learning at the Mobile Edge: Opportunities for 5G Networks.“  Yue Wang, Zhi Tian, Xin Fan, Yan Huo, Cameron Nowzari, Kai Zeng, "Distributed Swarm Learning for Internet of Things at the Edge: Where Artificial Intelligence Meets Biological Intelligence.“  Pritchard, Craig &amp; Beheshti, Yousef &amp; Sepahi, Mohammad, "Mobile Edge Computing: Architecture, Use-cases, Applications.“  Xiucheng Wang, Nan Cheng, Lianhao Fu, Wei Quan, Ruijin Sun, Yilong Hui, Tom Luan, Xuemin Shen, "Scalable Resource Management for Dynamic MEC: An Unsupervised Link-Output Graph Neural Network Approach.“  X. Chen, L. Jiao, W. Li, and X. Fu, "Efficient Multi-User Computation Offloading for Mobile-Edge Cloud Computing.“  Chutiphon Pukdeboon, "A Review of Fundamentals of Lyapunov Theory."  Rodrigo Romana, Javier Lopez, Masahiro Mambo, "Mobile Edge Computing, Fog et al.: A Survey and Analysis of Security Threats and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Edge Computing</dc:title>
  <dc:creator>M HASSAN KHALID</dc:creator>
  <cp:lastModifiedBy>L215635Sohaib Ahmed</cp:lastModifiedBy>
  <cp:revision>30</cp:revision>
  <dcterms:modified xsi:type="dcterms:W3CDTF">2024-05-09T06:12:59Z</dcterms:modified>
</cp:coreProperties>
</file>