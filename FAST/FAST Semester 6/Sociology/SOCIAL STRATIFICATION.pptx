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8" r:id="rId5"/>
    <p:sldId id="259" r:id="rId6"/>
    <p:sldId id="260" r:id="rId7"/>
    <p:sldId id="261" r:id="rId8"/>
    <p:sldId id="263" r:id="rId9"/>
    <p:sldId id="264" r:id="rId10"/>
    <p:sldId id="266" r:id="rId11"/>
    <p:sldId id="268" r:id="rId12"/>
    <p:sldId id="265" r:id="rId13"/>
    <p:sldId id="269" r:id="rId1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21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FBD3D-67A4-F415-70BF-AD1710F441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7C04594E-6E03-64B4-7D73-72946ABA49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B4BF8F5-D577-3F18-1025-8DBD2F3AEC0D}"/>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5" name="Footer Placeholder 4">
            <a:extLst>
              <a:ext uri="{FF2B5EF4-FFF2-40B4-BE49-F238E27FC236}">
                <a16:creationId xmlns:a16="http://schemas.microsoft.com/office/drawing/2014/main" id="{A3CE645F-8DEB-4232-E05F-C9BD0034BBB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AE642FE-28DE-3ED7-EBD0-75D01F550B48}"/>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893997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BE6A-9467-9A3D-2A2A-897DD64E29C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2BE0487-1B1E-35D5-828F-4398EFE971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689F6B4-B726-D032-62F4-C783B5722E0F}"/>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5" name="Footer Placeholder 4">
            <a:extLst>
              <a:ext uri="{FF2B5EF4-FFF2-40B4-BE49-F238E27FC236}">
                <a16:creationId xmlns:a16="http://schemas.microsoft.com/office/drawing/2014/main" id="{C30DAD4C-0701-790C-D94E-C6F34A5A041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D2E8941-AB65-D692-2BFF-AFBD9061FA5A}"/>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102605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9EC5C-EB7F-6B44-CF24-BCA19D95B8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0681D8E2-0D9F-A6E7-4090-B8023BDF28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3F52C8-838B-732F-F210-7320123B1D8F}"/>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5" name="Footer Placeholder 4">
            <a:extLst>
              <a:ext uri="{FF2B5EF4-FFF2-40B4-BE49-F238E27FC236}">
                <a16:creationId xmlns:a16="http://schemas.microsoft.com/office/drawing/2014/main" id="{1A254043-A62B-7113-AB9B-005507E1035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0D703A0-1127-EB69-F97A-42FB44418C76}"/>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1783781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5AB1-28E0-408B-496D-9C45FF6F460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7ECA62E6-63DC-BD08-E44F-27098BB46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DD5181B8-37A3-6350-376A-234587E388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E79A06E7-A341-FFF3-448A-B9638183F7E5}"/>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6" name="Footer Placeholder 5">
            <a:extLst>
              <a:ext uri="{FF2B5EF4-FFF2-40B4-BE49-F238E27FC236}">
                <a16:creationId xmlns:a16="http://schemas.microsoft.com/office/drawing/2014/main" id="{408B5D51-8FF0-96BB-C856-F3388F03841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12C6137-B3BB-C523-5B39-42E3C7CD8AC4}"/>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427155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43F4-4537-DD01-E93A-3AD99F7E9B04}"/>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B142023-40F4-E18D-1EB3-7479BBE75D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B749D0-BFDE-5254-7FD1-29578E277E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DCA3079-AF2E-3594-08F3-4A1042F12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BA404D-E92B-13AC-7C7D-D371EBAD43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66A555FA-FC3C-165B-90C1-06526021DE40}"/>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8" name="Footer Placeholder 7">
            <a:extLst>
              <a:ext uri="{FF2B5EF4-FFF2-40B4-BE49-F238E27FC236}">
                <a16:creationId xmlns:a16="http://schemas.microsoft.com/office/drawing/2014/main" id="{5777B7A9-0B65-FF55-A922-B9A5B5509AEF}"/>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A6049893-80A3-C124-B174-27C20064B57A}"/>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97311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35ACC-0C67-0EA7-19B0-592C31895484}"/>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DB63FDCE-32C0-FEB0-2C4C-9908B41A56C1}"/>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4" name="Footer Placeholder 3">
            <a:extLst>
              <a:ext uri="{FF2B5EF4-FFF2-40B4-BE49-F238E27FC236}">
                <a16:creationId xmlns:a16="http://schemas.microsoft.com/office/drawing/2014/main" id="{20EB30C2-D36A-8B2D-F1A9-F9D88766B82E}"/>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5D32F398-B425-53B3-5EEC-5E27187AAD78}"/>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870637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1240EF-EFBB-A700-AE4F-C8DD518318B3}"/>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3" name="Footer Placeholder 2">
            <a:extLst>
              <a:ext uri="{FF2B5EF4-FFF2-40B4-BE49-F238E27FC236}">
                <a16:creationId xmlns:a16="http://schemas.microsoft.com/office/drawing/2014/main" id="{BAC8B4DD-F331-EF74-2D44-1314FD59D93F}"/>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184830F-0EB8-3569-80EC-5071BEF7FFBD}"/>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2578677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DC49-8DC5-E5A6-14DB-80CF61922D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374B28C2-37EA-E0EF-97BC-84049096B7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22539131-0F05-1622-12C6-B0E535118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987CE-DDB5-B31A-725F-A47F5909EB5C}"/>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6" name="Footer Placeholder 5">
            <a:extLst>
              <a:ext uri="{FF2B5EF4-FFF2-40B4-BE49-F238E27FC236}">
                <a16:creationId xmlns:a16="http://schemas.microsoft.com/office/drawing/2014/main" id="{354E0891-DDB2-9598-5B4E-193BD95618B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C0956B5-F789-D0A1-D782-EF396E0D9E44}"/>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3826421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F85C9-6DBB-0106-04E7-371C1F3DA8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EDC8B7E9-94CE-78B2-76BD-E09F5609AC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6C370F4-EFCE-A885-E227-36508E15CB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4CE2E4-5852-0E91-A33D-17075358EB7E}"/>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6" name="Footer Placeholder 5">
            <a:extLst>
              <a:ext uri="{FF2B5EF4-FFF2-40B4-BE49-F238E27FC236}">
                <a16:creationId xmlns:a16="http://schemas.microsoft.com/office/drawing/2014/main" id="{AD9C8665-D7B6-F53D-3883-14839A2B9BC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00C6C35-B929-9FEA-8F0A-98528F059A90}"/>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3164015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B34F1-64CE-4852-560D-6457D8AE4F1F}"/>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ECC0C560-59DC-17ED-9F6B-9FC568B4CF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8ED3988-5D97-4AF4-3337-A7B350A470A4}"/>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5" name="Footer Placeholder 4">
            <a:extLst>
              <a:ext uri="{FF2B5EF4-FFF2-40B4-BE49-F238E27FC236}">
                <a16:creationId xmlns:a16="http://schemas.microsoft.com/office/drawing/2014/main" id="{C4439971-9040-632E-3506-DDE44575BE4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1053AFA-6D7A-5DF7-CD3D-BFD28088CB29}"/>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1029803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738E76-2C47-DA0B-9E09-B2B9FFAB93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899BE0D4-B89B-1F43-C8D5-94D9C49BFB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42E6F94-2029-E521-BC73-48D32A7B0883}"/>
              </a:ext>
            </a:extLst>
          </p:cNvPr>
          <p:cNvSpPr>
            <a:spLocks noGrp="1"/>
          </p:cNvSpPr>
          <p:nvPr>
            <p:ph type="dt" sz="half" idx="10"/>
          </p:nvPr>
        </p:nvSpPr>
        <p:spPr/>
        <p:txBody>
          <a:bodyPr/>
          <a:lstStyle/>
          <a:p>
            <a:fld id="{0B04B3E8-FA0A-4119-A80C-6297EB43C710}" type="datetimeFigureOut">
              <a:rPr lang="en-PK" smtClean="0"/>
              <a:t>02/05/2024</a:t>
            </a:fld>
            <a:endParaRPr lang="en-PK"/>
          </a:p>
        </p:txBody>
      </p:sp>
      <p:sp>
        <p:nvSpPr>
          <p:cNvPr id="5" name="Footer Placeholder 4">
            <a:extLst>
              <a:ext uri="{FF2B5EF4-FFF2-40B4-BE49-F238E27FC236}">
                <a16:creationId xmlns:a16="http://schemas.microsoft.com/office/drawing/2014/main" id="{09D70E02-85D9-3FEA-F446-3E283CEB3E3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1044F93-0695-5579-1595-082B508E16DA}"/>
              </a:ext>
            </a:extLst>
          </p:cNvPr>
          <p:cNvSpPr>
            <a:spLocks noGrp="1"/>
          </p:cNvSpPr>
          <p:nvPr>
            <p:ph type="sldNum" sz="quarter" idx="12"/>
          </p:nvPr>
        </p:nvSpPr>
        <p:spPr/>
        <p:txBody>
          <a:bodyPr/>
          <a:lstStyle/>
          <a:p>
            <a:fld id="{FE5D7071-FEC4-400B-AF40-378C8167A979}" type="slidenum">
              <a:rPr lang="en-PK" smtClean="0"/>
              <a:t>‹#›</a:t>
            </a:fld>
            <a:endParaRPr lang="en-PK"/>
          </a:p>
        </p:txBody>
      </p:sp>
    </p:spTree>
    <p:extLst>
      <p:ext uri="{BB962C8B-B14F-4D97-AF65-F5344CB8AC3E}">
        <p14:creationId xmlns:p14="http://schemas.microsoft.com/office/powerpoint/2010/main" val="1373333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85A85A-E19F-5CB9-6D88-2A5FCB85F5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9ED502AC-BD5B-4757-DE4F-D9911D8863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673425F-A6DE-653A-CEE3-2EDB7FB5A4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04B3E8-FA0A-4119-A80C-6297EB43C710}" type="datetimeFigureOut">
              <a:rPr lang="en-PK" smtClean="0"/>
              <a:t>02/05/2024</a:t>
            </a:fld>
            <a:endParaRPr lang="en-PK"/>
          </a:p>
        </p:txBody>
      </p:sp>
      <p:sp>
        <p:nvSpPr>
          <p:cNvPr id="5" name="Footer Placeholder 4">
            <a:extLst>
              <a:ext uri="{FF2B5EF4-FFF2-40B4-BE49-F238E27FC236}">
                <a16:creationId xmlns:a16="http://schemas.microsoft.com/office/drawing/2014/main" id="{4274FF3A-5F94-3229-3028-5F600D41B2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54AF88A1-9A32-DB30-7C08-634871B02B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5D7071-FEC4-400B-AF40-378C8167A979}" type="slidenum">
              <a:rPr lang="en-PK" smtClean="0"/>
              <a:t>‹#›</a:t>
            </a:fld>
            <a:endParaRPr lang="en-PK"/>
          </a:p>
        </p:txBody>
      </p:sp>
    </p:spTree>
    <p:extLst>
      <p:ext uri="{BB962C8B-B14F-4D97-AF65-F5344CB8AC3E}">
        <p14:creationId xmlns:p14="http://schemas.microsoft.com/office/powerpoint/2010/main" val="1394487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Top shot of a representation of networks with stick figures.">
            <a:extLst>
              <a:ext uri="{FF2B5EF4-FFF2-40B4-BE49-F238E27FC236}">
                <a16:creationId xmlns:a16="http://schemas.microsoft.com/office/drawing/2014/main" id="{FAFD5575-F699-A658-8597-9E790E8727A6}"/>
              </a:ext>
            </a:extLst>
          </p:cNvPr>
          <p:cNvPicPr>
            <a:picLocks noChangeAspect="1"/>
          </p:cNvPicPr>
          <p:nvPr/>
        </p:nvPicPr>
        <p:blipFill rotWithShape="1">
          <a:blip r:embed="rId2">
            <a:alphaModFix amt="50000"/>
          </a:blip>
          <a:srcRect t="8776" b="6637"/>
          <a:stretch/>
        </p:blipFill>
        <p:spPr>
          <a:xfrm>
            <a:off x="20" y="1"/>
            <a:ext cx="12191980" cy="6857999"/>
          </a:xfrm>
          <a:prstGeom prst="rect">
            <a:avLst/>
          </a:prstGeom>
        </p:spPr>
      </p:pic>
      <p:sp>
        <p:nvSpPr>
          <p:cNvPr id="2" name="Title 1">
            <a:extLst>
              <a:ext uri="{FF2B5EF4-FFF2-40B4-BE49-F238E27FC236}">
                <a16:creationId xmlns:a16="http://schemas.microsoft.com/office/drawing/2014/main" id="{CD156A33-92DB-21A9-8BBE-10ABD03A5745}"/>
              </a:ext>
            </a:extLst>
          </p:cNvPr>
          <p:cNvSpPr>
            <a:spLocks noGrp="1"/>
          </p:cNvSpPr>
          <p:nvPr>
            <p:ph type="ctrTitle"/>
          </p:nvPr>
        </p:nvSpPr>
        <p:spPr>
          <a:xfrm>
            <a:off x="1524000" y="1122362"/>
            <a:ext cx="9144000" cy="2900518"/>
          </a:xfrm>
        </p:spPr>
        <p:txBody>
          <a:bodyPr>
            <a:normAutofit/>
          </a:bodyPr>
          <a:lstStyle/>
          <a:p>
            <a:r>
              <a:rPr lang="en-GB">
                <a:solidFill>
                  <a:srgbClr val="FFFFFF"/>
                </a:solidFill>
              </a:rPr>
              <a:t>SOCIAL STRATIFICATION</a:t>
            </a:r>
            <a:endParaRPr lang="en-PK">
              <a:solidFill>
                <a:srgbClr val="FFFFFF"/>
              </a:solidFill>
            </a:endParaRPr>
          </a:p>
        </p:txBody>
      </p:sp>
      <p:sp>
        <p:nvSpPr>
          <p:cNvPr id="3" name="Subtitle 2">
            <a:extLst>
              <a:ext uri="{FF2B5EF4-FFF2-40B4-BE49-F238E27FC236}">
                <a16:creationId xmlns:a16="http://schemas.microsoft.com/office/drawing/2014/main" id="{A25A396E-3624-F53E-3135-E37DBA573241}"/>
              </a:ext>
            </a:extLst>
          </p:cNvPr>
          <p:cNvSpPr>
            <a:spLocks noGrp="1"/>
          </p:cNvSpPr>
          <p:nvPr>
            <p:ph type="subTitle" idx="1"/>
          </p:nvPr>
        </p:nvSpPr>
        <p:spPr>
          <a:xfrm>
            <a:off x="1524000" y="4159404"/>
            <a:ext cx="9144000" cy="1098395"/>
          </a:xfrm>
        </p:spPr>
        <p:txBody>
          <a:bodyPr>
            <a:noAutofit/>
          </a:bodyPr>
          <a:lstStyle/>
          <a:p>
            <a:r>
              <a:rPr lang="en-GB" sz="1200" dirty="0">
                <a:solidFill>
                  <a:srgbClr val="FFFFFF"/>
                </a:solidFill>
              </a:rPr>
              <a:t>PRESENTED BY </a:t>
            </a:r>
          </a:p>
          <a:p>
            <a:r>
              <a:rPr lang="en-GB" sz="1200" dirty="0">
                <a:solidFill>
                  <a:srgbClr val="FFFFFF"/>
                </a:solidFill>
              </a:rPr>
              <a:t>AMBREEN ( 21L-6296 )</a:t>
            </a:r>
          </a:p>
          <a:p>
            <a:r>
              <a:rPr lang="en-GB" sz="1200" dirty="0">
                <a:solidFill>
                  <a:srgbClr val="FFFFFF"/>
                </a:solidFill>
              </a:rPr>
              <a:t>ANWAAR ( 21L-5667 )</a:t>
            </a:r>
          </a:p>
          <a:p>
            <a:r>
              <a:rPr lang="en-GB" sz="1200" dirty="0">
                <a:solidFill>
                  <a:srgbClr val="FFFFFF"/>
                </a:solidFill>
              </a:rPr>
              <a:t>TAIMOOR ( 21L-6268 )</a:t>
            </a:r>
          </a:p>
          <a:p>
            <a:r>
              <a:rPr lang="en-GB" sz="1200" dirty="0">
                <a:solidFill>
                  <a:srgbClr val="FFFFFF"/>
                </a:solidFill>
              </a:rPr>
              <a:t>ROOHAN ( 21L-5629 )</a:t>
            </a:r>
            <a:endParaRPr lang="en-PK" sz="1200" dirty="0">
              <a:solidFill>
                <a:srgbClr val="FFFFFF"/>
              </a:solidFill>
            </a:endParaRPr>
          </a:p>
        </p:txBody>
      </p:sp>
    </p:spTree>
    <p:extLst>
      <p:ext uri="{BB962C8B-B14F-4D97-AF65-F5344CB8AC3E}">
        <p14:creationId xmlns:p14="http://schemas.microsoft.com/office/powerpoint/2010/main" val="248336298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One in a crowd">
            <a:extLst>
              <a:ext uri="{FF2B5EF4-FFF2-40B4-BE49-F238E27FC236}">
                <a16:creationId xmlns:a16="http://schemas.microsoft.com/office/drawing/2014/main" id="{C9E193F9-A588-E88E-1E79-42DBD0EB439F}"/>
              </a:ext>
            </a:extLst>
          </p:cNvPr>
          <p:cNvPicPr>
            <a:picLocks noChangeAspect="1"/>
          </p:cNvPicPr>
          <p:nvPr/>
        </p:nvPicPr>
        <p:blipFill rotWithShape="1">
          <a:blip r:embed="rId2"/>
          <a:srcRect l="24512" r="16321"/>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554FE6-C651-1A21-B95D-61261BF8C168}"/>
              </a:ext>
            </a:extLst>
          </p:cNvPr>
          <p:cNvSpPr>
            <a:spLocks noGrp="1"/>
          </p:cNvSpPr>
          <p:nvPr>
            <p:ph type="title"/>
          </p:nvPr>
        </p:nvSpPr>
        <p:spPr>
          <a:xfrm>
            <a:off x="6115317" y="405685"/>
            <a:ext cx="5464968" cy="1559301"/>
          </a:xfrm>
        </p:spPr>
        <p:txBody>
          <a:bodyPr>
            <a:normAutofit/>
          </a:bodyPr>
          <a:lstStyle/>
          <a:p>
            <a:r>
              <a:rPr lang="en-GB" sz="4000" dirty="0"/>
              <a:t>What is Social Stratification?</a:t>
            </a:r>
            <a:endParaRPr lang="en-PK" sz="4000" dirty="0"/>
          </a:p>
        </p:txBody>
      </p:sp>
      <p:sp>
        <p:nvSpPr>
          <p:cNvPr id="3" name="Content Placeholder 2">
            <a:extLst>
              <a:ext uri="{FF2B5EF4-FFF2-40B4-BE49-F238E27FC236}">
                <a16:creationId xmlns:a16="http://schemas.microsoft.com/office/drawing/2014/main" id="{F98FE7CE-88AF-B036-C49A-C4AA879D2F18}"/>
              </a:ext>
            </a:extLst>
          </p:cNvPr>
          <p:cNvSpPr>
            <a:spLocks noGrp="1"/>
          </p:cNvSpPr>
          <p:nvPr>
            <p:ph idx="1"/>
          </p:nvPr>
        </p:nvSpPr>
        <p:spPr>
          <a:xfrm>
            <a:off x="6115317" y="2743200"/>
            <a:ext cx="5247340" cy="3496878"/>
          </a:xfrm>
        </p:spPr>
        <p:txBody>
          <a:bodyPr anchor="ctr">
            <a:normAutofit/>
          </a:bodyPr>
          <a:lstStyle/>
          <a:p>
            <a:r>
              <a:rPr lang="en-GB" sz="2000" dirty="0"/>
              <a:t>Social stratification is the division of society into categories, ranks, or classes.</a:t>
            </a:r>
          </a:p>
          <a:p>
            <a:r>
              <a:rPr lang="en-GB" sz="2000" dirty="0"/>
              <a:t>These divisions lead to </a:t>
            </a:r>
            <a:r>
              <a:rPr lang="en-GB" sz="2000" b="1" dirty="0"/>
              <a:t>social inequality </a:t>
            </a:r>
            <a:r>
              <a:rPr lang="en-GB" sz="2000" dirty="0"/>
              <a:t>- the unequal sharing of resources and social rewards.</a:t>
            </a:r>
          </a:p>
          <a:p>
            <a:r>
              <a:rPr lang="en-GB" sz="2000" dirty="0"/>
              <a:t>Stratification systems lie on a continuum of open to closed systems according to how easy or difficult it is to change statuses.</a:t>
            </a:r>
          </a:p>
          <a:p>
            <a:r>
              <a:rPr lang="en-GB" sz="2000" dirty="0"/>
              <a:t>Both ascribed and achieved statuses can be  used to determine social standing. </a:t>
            </a:r>
            <a:endParaRPr lang="en-PK" sz="2000" dirty="0"/>
          </a:p>
        </p:txBody>
      </p:sp>
    </p:spTree>
    <p:extLst>
      <p:ext uri="{BB962C8B-B14F-4D97-AF65-F5344CB8AC3E}">
        <p14:creationId xmlns:p14="http://schemas.microsoft.com/office/powerpoint/2010/main" val="1714470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A0274-55E6-F793-8CC1-2D0011FEDCD1}"/>
              </a:ext>
            </a:extLst>
          </p:cNvPr>
          <p:cNvSpPr>
            <a:spLocks noGrp="1"/>
          </p:cNvSpPr>
          <p:nvPr>
            <p:ph type="title"/>
          </p:nvPr>
        </p:nvSpPr>
        <p:spPr>
          <a:xfrm>
            <a:off x="5868557" y="1138036"/>
            <a:ext cx="5444382" cy="1402470"/>
          </a:xfrm>
        </p:spPr>
        <p:txBody>
          <a:bodyPr anchor="t">
            <a:normAutofit/>
          </a:bodyPr>
          <a:lstStyle/>
          <a:p>
            <a:r>
              <a:rPr lang="en-GB" sz="3200"/>
              <a:t>Characteristics of social stratification</a:t>
            </a:r>
            <a:endParaRPr lang="en-PK" sz="3200"/>
          </a:p>
        </p:txBody>
      </p:sp>
      <p:pic>
        <p:nvPicPr>
          <p:cNvPr id="13" name="Picture 12" descr="3D rendering of game pieces tied together with a rope">
            <a:extLst>
              <a:ext uri="{FF2B5EF4-FFF2-40B4-BE49-F238E27FC236}">
                <a16:creationId xmlns:a16="http://schemas.microsoft.com/office/drawing/2014/main" id="{09CF5995-AA87-5721-FE6A-DCA400215782}"/>
              </a:ext>
            </a:extLst>
          </p:cNvPr>
          <p:cNvPicPr>
            <a:picLocks noChangeAspect="1"/>
          </p:cNvPicPr>
          <p:nvPr/>
        </p:nvPicPr>
        <p:blipFill rotWithShape="1">
          <a:blip r:embed="rId2"/>
          <a:srcRect l="8747" r="34919"/>
          <a:stretch/>
        </p:blipFill>
        <p:spPr>
          <a:xfrm>
            <a:off x="-1" y="10"/>
            <a:ext cx="5151179" cy="6857990"/>
          </a:xfrm>
          <a:prstGeom prst="rect">
            <a:avLst/>
          </a:prstGeom>
        </p:spPr>
      </p:pic>
      <p:cxnSp>
        <p:nvCxnSpPr>
          <p:cNvPr id="14" name="Straight Connector 1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C0731CC-F36A-8915-2CEA-724ED8691FBD}"/>
              </a:ext>
            </a:extLst>
          </p:cNvPr>
          <p:cNvSpPr>
            <a:spLocks noGrp="1"/>
          </p:cNvSpPr>
          <p:nvPr>
            <p:ph idx="1"/>
          </p:nvPr>
        </p:nvSpPr>
        <p:spPr>
          <a:xfrm>
            <a:off x="5594554" y="2222090"/>
            <a:ext cx="5978013" cy="3920293"/>
          </a:xfrm>
        </p:spPr>
        <p:txBody>
          <a:bodyPr>
            <a:noAutofit/>
          </a:bodyPr>
          <a:lstStyle/>
          <a:p>
            <a:r>
              <a:rPr lang="en-GB" sz="1600" dirty="0"/>
              <a:t>Hierarchical Structure: Society's layers with varying access to resources.</a:t>
            </a:r>
          </a:p>
          <a:p>
            <a:r>
              <a:rPr lang="en-GB" sz="1600" dirty="0"/>
              <a:t>Inequality: Unequal distribution of resources, privileges, and opportunities.</a:t>
            </a:r>
          </a:p>
          <a:p>
            <a:r>
              <a:rPr lang="en-GB" sz="1600" dirty="0"/>
              <a:t>Social Mobility: Ability for individuals to move between strata.</a:t>
            </a:r>
          </a:p>
          <a:p>
            <a:r>
              <a:rPr lang="en-GB" sz="1600" dirty="0"/>
              <a:t>Perpetuation: Stratification tends to persist across generations.</a:t>
            </a:r>
          </a:p>
          <a:p>
            <a:r>
              <a:rPr lang="en-GB" sz="1600" dirty="0"/>
              <a:t>Social Institutions: Linked with economy, education, politics, etc.</a:t>
            </a:r>
          </a:p>
          <a:p>
            <a:r>
              <a:rPr lang="en-GB" sz="1600" dirty="0"/>
              <a:t>Legitimization: Justified through ideologies attributing differences to merit.</a:t>
            </a:r>
          </a:p>
          <a:p>
            <a:r>
              <a:rPr lang="en-GB" sz="1600" dirty="0"/>
              <a:t>Intersectionality: Influence of multiple factors like race, gender, etc.</a:t>
            </a:r>
          </a:p>
          <a:p>
            <a:r>
              <a:rPr lang="en-GB" sz="1600" dirty="0"/>
              <a:t>Global Dimension: Exists on a global scale, affecting nations and regions.</a:t>
            </a:r>
            <a:endParaRPr lang="en-PK" sz="1600" dirty="0"/>
          </a:p>
        </p:txBody>
      </p:sp>
    </p:spTree>
    <p:extLst>
      <p:ext uri="{BB962C8B-B14F-4D97-AF65-F5344CB8AC3E}">
        <p14:creationId xmlns:p14="http://schemas.microsoft.com/office/powerpoint/2010/main" val="552211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79652F-0DD3-2D8A-257C-EB658EAFC043}"/>
              </a:ext>
            </a:extLst>
          </p:cNvPr>
          <p:cNvSpPr>
            <a:spLocks noGrp="1"/>
          </p:cNvSpPr>
          <p:nvPr>
            <p:ph type="title"/>
          </p:nvPr>
        </p:nvSpPr>
        <p:spPr>
          <a:xfrm>
            <a:off x="630936" y="640080"/>
            <a:ext cx="4818888" cy="1481328"/>
          </a:xfrm>
        </p:spPr>
        <p:txBody>
          <a:bodyPr anchor="b">
            <a:normAutofit/>
          </a:bodyPr>
          <a:lstStyle/>
          <a:p>
            <a:r>
              <a:rPr lang="en-GB" sz="3400" dirty="0"/>
              <a:t>TYPES OF STRATIFICATION SYSTEM</a:t>
            </a:r>
            <a:endParaRPr lang="en-PK" sz="3400" dirty="0"/>
          </a:p>
        </p:txBody>
      </p:sp>
      <p:sp>
        <p:nvSpPr>
          <p:cNvPr id="1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76E74FA-A82F-3D33-D98D-59AD15EAAF05}"/>
              </a:ext>
            </a:extLst>
          </p:cNvPr>
          <p:cNvSpPr>
            <a:spLocks noGrp="1"/>
          </p:cNvSpPr>
          <p:nvPr>
            <p:ph idx="1"/>
          </p:nvPr>
        </p:nvSpPr>
        <p:spPr>
          <a:xfrm>
            <a:off x="630936" y="2660904"/>
            <a:ext cx="4818888" cy="3547872"/>
          </a:xfrm>
        </p:spPr>
        <p:txBody>
          <a:bodyPr anchor="t">
            <a:normAutofit/>
          </a:bodyPr>
          <a:lstStyle/>
          <a:p>
            <a:pPr marL="0" indent="0">
              <a:buNone/>
            </a:pPr>
            <a:r>
              <a:rPr lang="en-GB" sz="2200" b="1"/>
              <a:t>CASTE SYSTEMS</a:t>
            </a:r>
          </a:p>
          <a:p>
            <a:r>
              <a:rPr lang="en-GB" sz="2200"/>
              <a:t>Closed stratification system.</a:t>
            </a:r>
          </a:p>
          <a:p>
            <a:r>
              <a:rPr lang="en-GB" sz="2200"/>
              <a:t>Life long status determined by that of parents.</a:t>
            </a:r>
          </a:p>
          <a:p>
            <a:r>
              <a:rPr lang="en-GB" sz="2200"/>
              <a:t>People judge on the basis of caste.</a:t>
            </a:r>
          </a:p>
          <a:p>
            <a:r>
              <a:rPr lang="en-GB" sz="2200"/>
              <a:t>Prohibits </a:t>
            </a:r>
            <a:r>
              <a:rPr lang="en-GB" sz="2200" b="1"/>
              <a:t>exogamy</a:t>
            </a:r>
            <a:r>
              <a:rPr lang="en-GB" sz="2200"/>
              <a:t>, or marriage outside of caste;  promotes </a:t>
            </a:r>
            <a:r>
              <a:rPr lang="en-GB" sz="2200" b="1"/>
              <a:t>endogamy</a:t>
            </a:r>
            <a:r>
              <a:rPr lang="en-GB" sz="2200"/>
              <a:t>, or marriage within caste.</a:t>
            </a:r>
          </a:p>
          <a:p>
            <a:endParaRPr lang="en-GB" sz="2200"/>
          </a:p>
          <a:p>
            <a:endParaRPr lang="en-PK" sz="2200"/>
          </a:p>
        </p:txBody>
      </p:sp>
      <p:pic>
        <p:nvPicPr>
          <p:cNvPr id="7" name="Picture 6">
            <a:extLst>
              <a:ext uri="{FF2B5EF4-FFF2-40B4-BE49-F238E27FC236}">
                <a16:creationId xmlns:a16="http://schemas.microsoft.com/office/drawing/2014/main" id="{DD21FA6D-D633-CBDD-C284-7F1844E36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9048" y="1815908"/>
            <a:ext cx="5458968" cy="3226184"/>
          </a:xfrm>
          <a:prstGeom prst="rect">
            <a:avLst/>
          </a:prstGeom>
        </p:spPr>
      </p:pic>
    </p:spTree>
    <p:extLst>
      <p:ext uri="{BB962C8B-B14F-4D97-AF65-F5344CB8AC3E}">
        <p14:creationId xmlns:p14="http://schemas.microsoft.com/office/powerpoint/2010/main" val="4195227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1934DD-0D93-D75E-E9A6-B7EC013A5D78}"/>
              </a:ext>
            </a:extLst>
          </p:cNvPr>
          <p:cNvSpPr>
            <a:spLocks noGrp="1"/>
          </p:cNvSpPr>
          <p:nvPr>
            <p:ph type="title"/>
          </p:nvPr>
        </p:nvSpPr>
        <p:spPr>
          <a:xfrm>
            <a:off x="630936" y="640080"/>
            <a:ext cx="4818888" cy="1481328"/>
          </a:xfrm>
        </p:spPr>
        <p:txBody>
          <a:bodyPr anchor="b">
            <a:normAutofit/>
          </a:bodyPr>
          <a:lstStyle/>
          <a:p>
            <a:r>
              <a:rPr lang="en-GB" sz="3000"/>
              <a:t>TYPES OF STRATIFICATION SYSTEM CTND.</a:t>
            </a:r>
            <a:endParaRPr lang="en-PK" sz="3000"/>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F0C65B10-833E-C6C9-8FCF-3FB57DDF086B}"/>
              </a:ext>
            </a:extLst>
          </p:cNvPr>
          <p:cNvSpPr>
            <a:spLocks noGrp="1"/>
          </p:cNvSpPr>
          <p:nvPr>
            <p:ph idx="1"/>
          </p:nvPr>
        </p:nvSpPr>
        <p:spPr>
          <a:xfrm>
            <a:off x="630936" y="2660904"/>
            <a:ext cx="4818888" cy="3547872"/>
          </a:xfrm>
        </p:spPr>
        <p:txBody>
          <a:bodyPr anchor="t">
            <a:normAutofit fontScale="92500" lnSpcReduction="10000"/>
          </a:bodyPr>
          <a:lstStyle/>
          <a:p>
            <a:pPr marL="0" indent="0">
              <a:buNone/>
            </a:pPr>
            <a:r>
              <a:rPr lang="en-GB" sz="1900" b="1" dirty="0"/>
              <a:t>CLASS SYSTEM</a:t>
            </a:r>
          </a:p>
          <a:p>
            <a:r>
              <a:rPr lang="en-GB" sz="1900" dirty="0"/>
              <a:t>In a class system, it’s more possible for people to move between social levels</a:t>
            </a:r>
          </a:p>
          <a:p>
            <a:r>
              <a:rPr lang="en-GB" sz="1900" dirty="0"/>
              <a:t>.Resources and rewards are given based on what someone has accomplished</a:t>
            </a:r>
          </a:p>
          <a:p>
            <a:r>
              <a:rPr lang="en-GB" sz="1900" dirty="0"/>
              <a:t>.People have some say in where they fit in society.</a:t>
            </a:r>
          </a:p>
          <a:p>
            <a:pPr marL="0" indent="0">
              <a:buNone/>
            </a:pPr>
            <a:r>
              <a:rPr lang="en-GB" sz="1900" dirty="0"/>
              <a:t>Karl Marx talked about two main groups in society:	</a:t>
            </a:r>
          </a:p>
          <a:p>
            <a:r>
              <a:rPr lang="en-GB" sz="1900" dirty="0"/>
              <a:t>Those who own things that make stuff (like factories)		</a:t>
            </a:r>
          </a:p>
          <a:p>
            <a:r>
              <a:rPr lang="en-GB" sz="1900" dirty="0"/>
              <a:t>Workers who trade their work for money.</a:t>
            </a:r>
            <a:endParaRPr lang="en-PK" sz="1900" dirty="0"/>
          </a:p>
        </p:txBody>
      </p:sp>
      <p:pic>
        <p:nvPicPr>
          <p:cNvPr id="7" name="Graphic 6" descr="Books">
            <a:extLst>
              <a:ext uri="{FF2B5EF4-FFF2-40B4-BE49-F238E27FC236}">
                <a16:creationId xmlns:a16="http://schemas.microsoft.com/office/drawing/2014/main" id="{5645BD0F-28C5-3F4A-AB55-3F0EABC6FC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9048" y="699516"/>
            <a:ext cx="5458968" cy="5458968"/>
          </a:xfrm>
          <a:prstGeom prst="rect">
            <a:avLst/>
          </a:prstGeom>
        </p:spPr>
      </p:pic>
      <p:pic>
        <p:nvPicPr>
          <p:cNvPr id="9" name="Picture 8" descr="A diagram of a pie chart&#10;&#10;Description automatically generated">
            <a:extLst>
              <a:ext uri="{FF2B5EF4-FFF2-40B4-BE49-F238E27FC236}">
                <a16:creationId xmlns:a16="http://schemas.microsoft.com/office/drawing/2014/main" id="{77F8487B-1B75-49C6-1045-EEF7EA6DE3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3316" y="578882"/>
            <a:ext cx="5295406" cy="5458968"/>
          </a:xfrm>
          <a:prstGeom prst="rect">
            <a:avLst/>
          </a:prstGeom>
        </p:spPr>
      </p:pic>
    </p:spTree>
    <p:extLst>
      <p:ext uri="{BB962C8B-B14F-4D97-AF65-F5344CB8AC3E}">
        <p14:creationId xmlns:p14="http://schemas.microsoft.com/office/powerpoint/2010/main" val="3038540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47562-B5C8-2818-9C6F-848F3EC449CA}"/>
              </a:ext>
            </a:extLst>
          </p:cNvPr>
          <p:cNvSpPr>
            <a:spLocks noGrp="1"/>
          </p:cNvSpPr>
          <p:nvPr>
            <p:ph type="title"/>
          </p:nvPr>
        </p:nvSpPr>
        <p:spPr>
          <a:xfrm>
            <a:off x="5868557" y="1138036"/>
            <a:ext cx="5444382" cy="1402470"/>
          </a:xfrm>
        </p:spPr>
        <p:txBody>
          <a:bodyPr anchor="t">
            <a:normAutofit/>
          </a:bodyPr>
          <a:lstStyle/>
          <a:p>
            <a:r>
              <a:rPr lang="en-GB" sz="3200"/>
              <a:t>EXPLAINING STRATIFICATION</a:t>
            </a:r>
            <a:endParaRPr lang="en-PK" sz="3200"/>
          </a:p>
        </p:txBody>
      </p:sp>
      <p:pic>
        <p:nvPicPr>
          <p:cNvPr id="5" name="Picture 4" descr="One in a crowd">
            <a:extLst>
              <a:ext uri="{FF2B5EF4-FFF2-40B4-BE49-F238E27FC236}">
                <a16:creationId xmlns:a16="http://schemas.microsoft.com/office/drawing/2014/main" id="{E39983EA-1416-B278-4C04-C87BDCAF37DC}"/>
              </a:ext>
            </a:extLst>
          </p:cNvPr>
          <p:cNvPicPr>
            <a:picLocks noChangeAspect="1"/>
          </p:cNvPicPr>
          <p:nvPr/>
        </p:nvPicPr>
        <p:blipFill rotWithShape="1">
          <a:blip r:embed="rId2"/>
          <a:srcRect l="25928" r="17738"/>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017EA5-BBED-6644-DB3C-C4AD3913B9FA}"/>
              </a:ext>
            </a:extLst>
          </p:cNvPr>
          <p:cNvSpPr>
            <a:spLocks noGrp="1"/>
          </p:cNvSpPr>
          <p:nvPr>
            <p:ph idx="1"/>
          </p:nvPr>
        </p:nvSpPr>
        <p:spPr>
          <a:xfrm>
            <a:off x="5407742" y="2192594"/>
            <a:ext cx="5905197" cy="3949789"/>
          </a:xfrm>
        </p:spPr>
        <p:txBody>
          <a:bodyPr>
            <a:normAutofit/>
          </a:bodyPr>
          <a:lstStyle/>
          <a:p>
            <a:pPr marL="0" indent="0">
              <a:buNone/>
            </a:pPr>
            <a:r>
              <a:rPr lang="en-GB" sz="1600" b="1" dirty="0"/>
              <a:t>Functionalist Theory: </a:t>
            </a:r>
          </a:p>
          <a:p>
            <a:pPr marL="0" indent="0">
              <a:buNone/>
            </a:pPr>
            <a:r>
              <a:rPr lang="en-GB" sz="1600" dirty="0"/>
              <a:t>It says that having different levels in society is needed. Some jobs have to be done to keep things stable.</a:t>
            </a:r>
          </a:p>
          <a:p>
            <a:pPr marL="0" indent="0">
              <a:buNone/>
            </a:pPr>
            <a:endParaRPr lang="en-GB" sz="1600" b="1" dirty="0"/>
          </a:p>
          <a:p>
            <a:pPr marL="0" indent="0">
              <a:buNone/>
            </a:pPr>
            <a:r>
              <a:rPr lang="en-GB" sz="1600" b="1" dirty="0"/>
              <a:t>Conflict Theory: </a:t>
            </a:r>
          </a:p>
          <a:p>
            <a:pPr marL="0" indent="0">
              <a:buNone/>
            </a:pPr>
            <a:r>
              <a:rPr lang="en-GB" sz="1600" dirty="0"/>
              <a:t>This theory says that competition over limited stuff leads to different levels. The rich and powerful exploit the poor.</a:t>
            </a:r>
          </a:p>
          <a:p>
            <a:pPr marL="0" indent="0">
              <a:buNone/>
            </a:pPr>
            <a:endParaRPr lang="en-GB" sz="1600" b="1" dirty="0"/>
          </a:p>
          <a:p>
            <a:pPr marL="0" indent="0">
              <a:buNone/>
            </a:pPr>
            <a:r>
              <a:rPr lang="en-GB" sz="1600" b="1" dirty="0"/>
              <a:t>Trying to Combine Ideas:</a:t>
            </a:r>
          </a:p>
          <a:p>
            <a:pPr marL="0" indent="0">
              <a:buNone/>
            </a:pPr>
            <a:r>
              <a:rPr lang="en-GB" sz="1600" dirty="0" err="1"/>
              <a:t>Dahrendorf</a:t>
            </a:r>
            <a:r>
              <a:rPr lang="en-GB" sz="1600" dirty="0"/>
              <a:t> says that maybe both ideas have some truth. Each might explain different parts of why society has different levels.</a:t>
            </a:r>
            <a:endParaRPr lang="en-PK" sz="1600" dirty="0"/>
          </a:p>
        </p:txBody>
      </p:sp>
    </p:spTree>
    <p:extLst>
      <p:ext uri="{BB962C8B-B14F-4D97-AF65-F5344CB8AC3E}">
        <p14:creationId xmlns:p14="http://schemas.microsoft.com/office/powerpoint/2010/main" val="3049043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3CDECC-20AB-8EB8-8239-7C1F5717B9BD}"/>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a:solidFill>
                  <a:srgbClr val="FFFFFF"/>
                </a:solidFill>
                <a:latin typeface="+mj-lt"/>
                <a:ea typeface="+mj-ea"/>
                <a:cs typeface="+mj-cs"/>
              </a:rPr>
              <a:t>What determines Social class?</a:t>
            </a:r>
          </a:p>
        </p:txBody>
      </p:sp>
      <p:sp>
        <p:nvSpPr>
          <p:cNvPr id="3" name="Content Placeholder 2">
            <a:extLst>
              <a:ext uri="{FF2B5EF4-FFF2-40B4-BE49-F238E27FC236}">
                <a16:creationId xmlns:a16="http://schemas.microsoft.com/office/drawing/2014/main" id="{A8D31003-9AA7-890C-C181-1BE7C9A5466C}"/>
              </a:ext>
            </a:extLst>
          </p:cNvPr>
          <p:cNvSpPr>
            <a:spLocks noGrp="1"/>
          </p:cNvSpPr>
          <p:nvPr>
            <p:ph idx="1"/>
          </p:nvPr>
        </p:nvSpPr>
        <p:spPr>
          <a:xfrm>
            <a:off x="4380855" y="1412489"/>
            <a:ext cx="3427283" cy="4363844"/>
          </a:xfrm>
        </p:spPr>
        <p:txBody>
          <a:bodyPr vert="horz" lIns="91440" tIns="45720" rIns="91440" bIns="45720" rtlCol="0">
            <a:normAutofit/>
          </a:bodyPr>
          <a:lstStyle/>
          <a:p>
            <a:pPr marL="0" indent="0" algn="ctr">
              <a:buNone/>
            </a:pPr>
            <a:r>
              <a:rPr lang="en-US" sz="2000" b="1" u="sng" dirty="0"/>
              <a:t>Karl Marx</a:t>
            </a:r>
          </a:p>
          <a:p>
            <a:r>
              <a:rPr lang="en-US" sz="2000" dirty="0"/>
              <a:t>Class is based on the ownership of the factors of production.</a:t>
            </a:r>
          </a:p>
          <a:p>
            <a:pPr marL="457200" indent="-457200">
              <a:buFont typeface="+mj-lt"/>
              <a:buAutoNum type="arabicPeriod"/>
            </a:pPr>
            <a:r>
              <a:rPr lang="en-US" sz="2000" dirty="0"/>
              <a:t>Owners in a capitalist society </a:t>
            </a:r>
          </a:p>
          <a:p>
            <a:pPr marL="457200" indent="-457200">
              <a:buFont typeface="+mj-lt"/>
              <a:buAutoNum type="arabicPeriod"/>
            </a:pPr>
            <a:r>
              <a:rPr lang="en-US" sz="2000" dirty="0"/>
              <a:t>Self labor for wages</a:t>
            </a:r>
          </a:p>
          <a:p>
            <a:pPr marL="0" indent="0">
              <a:buNone/>
            </a:pPr>
            <a:endParaRPr lang="en-US" sz="2000" dirty="0"/>
          </a:p>
          <a:p>
            <a:r>
              <a:rPr lang="en-US" sz="2000" dirty="0"/>
              <a:t>Believed that the government represents the interests of the ruling class and serves to oppress the working class.</a:t>
            </a:r>
          </a:p>
          <a:p>
            <a:pPr marL="0" indent="0">
              <a:buNone/>
            </a:pPr>
            <a:endParaRPr lang="en-US" sz="2000" b="1" dirty="0"/>
          </a:p>
        </p:txBody>
      </p:sp>
      <p:cxnSp>
        <p:nvCxnSpPr>
          <p:cNvPr id="12" name="Straight Connector 1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098EB45-3148-4281-5232-1D66C1DF9E02}"/>
              </a:ext>
            </a:extLst>
          </p:cNvPr>
          <p:cNvSpPr txBox="1"/>
          <p:nvPr/>
        </p:nvSpPr>
        <p:spPr>
          <a:xfrm>
            <a:off x="8451604" y="1412489"/>
            <a:ext cx="3197701" cy="4363844"/>
          </a:xfrm>
          <a:prstGeom prst="rect">
            <a:avLst/>
          </a:prstGeom>
        </p:spPr>
        <p:txBody>
          <a:bodyPr vert="horz" lIns="91440" tIns="45720" rIns="91440" bIns="45720" rtlCol="0">
            <a:normAutofit/>
          </a:bodyPr>
          <a:lstStyle/>
          <a:p>
            <a:pPr algn="ctr">
              <a:lnSpc>
                <a:spcPct val="90000"/>
              </a:lnSpc>
              <a:spcAft>
                <a:spcPts val="600"/>
              </a:spcAft>
            </a:pPr>
            <a:r>
              <a:rPr lang="en-US" sz="2000" b="1" u="sng" dirty="0"/>
              <a:t>MAX WEBER</a:t>
            </a:r>
          </a:p>
          <a:p>
            <a:pPr marL="342900" indent="-342900">
              <a:lnSpc>
                <a:spcPct val="90000"/>
              </a:lnSpc>
              <a:spcAft>
                <a:spcPts val="600"/>
              </a:spcAft>
              <a:buFont typeface="Arial" panose="020B0604020202020204" pitchFamily="34" charset="0"/>
              <a:buChar char="•"/>
            </a:pPr>
            <a:r>
              <a:rPr lang="en-US" sz="2000" dirty="0"/>
              <a:t>Class is based on three factors:</a:t>
            </a:r>
          </a:p>
          <a:p>
            <a:pPr marL="457200" indent="-457200">
              <a:lnSpc>
                <a:spcPct val="90000"/>
              </a:lnSpc>
              <a:spcAft>
                <a:spcPts val="600"/>
              </a:spcAft>
              <a:buFont typeface="+mj-lt"/>
              <a:buAutoNum type="arabicPeriod"/>
            </a:pPr>
            <a:r>
              <a:rPr lang="en-US" sz="2000" dirty="0"/>
              <a:t>WEALTH ( PROPERTY )</a:t>
            </a:r>
          </a:p>
          <a:p>
            <a:pPr marL="457200" indent="-457200">
              <a:lnSpc>
                <a:spcPct val="90000"/>
              </a:lnSpc>
              <a:spcAft>
                <a:spcPts val="600"/>
              </a:spcAft>
              <a:buFont typeface="+mj-lt"/>
              <a:buAutoNum type="arabicPeriod"/>
            </a:pPr>
            <a:r>
              <a:rPr lang="en-US" sz="2000" dirty="0"/>
              <a:t>POWER</a:t>
            </a:r>
          </a:p>
          <a:p>
            <a:pPr marL="457200" indent="-457200">
              <a:lnSpc>
                <a:spcPct val="90000"/>
              </a:lnSpc>
              <a:spcAft>
                <a:spcPts val="600"/>
              </a:spcAft>
              <a:buFont typeface="+mj-lt"/>
              <a:buAutoNum type="arabicPeriod"/>
            </a:pPr>
            <a:r>
              <a:rPr lang="en-US" sz="2000" dirty="0"/>
              <a:t>PRESTIGE</a:t>
            </a:r>
          </a:p>
          <a:p>
            <a:pPr>
              <a:lnSpc>
                <a:spcPct val="90000"/>
              </a:lnSpc>
              <a:spcAft>
                <a:spcPts val="600"/>
              </a:spcAft>
            </a:pPr>
            <a:endParaRPr lang="en-US" sz="2000" dirty="0"/>
          </a:p>
          <a:p>
            <a:pPr marL="342900" indent="-342900">
              <a:lnSpc>
                <a:spcPct val="90000"/>
              </a:lnSpc>
              <a:spcAft>
                <a:spcPts val="600"/>
              </a:spcAft>
              <a:buFont typeface="Arial" panose="020B0604020202020204" pitchFamily="34" charset="0"/>
              <a:buChar char="•"/>
            </a:pPr>
            <a:r>
              <a:rPr lang="en-US" sz="2000" dirty="0"/>
              <a:t>Believed that the government can play a more neutral role , but can also be influenced by powerful individuals or groups.</a:t>
            </a:r>
          </a:p>
        </p:txBody>
      </p:sp>
    </p:spTree>
    <p:extLst>
      <p:ext uri="{BB962C8B-B14F-4D97-AF65-F5344CB8AC3E}">
        <p14:creationId xmlns:p14="http://schemas.microsoft.com/office/powerpoint/2010/main" val="789966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4E18DA-18A8-53F7-4F80-943A3D0628D9}"/>
              </a:ext>
            </a:extLst>
          </p:cNvPr>
          <p:cNvSpPr>
            <a:spLocks noGrp="1"/>
          </p:cNvSpPr>
          <p:nvPr>
            <p:ph type="title"/>
          </p:nvPr>
        </p:nvSpPr>
        <p:spPr>
          <a:xfrm>
            <a:off x="572493" y="238539"/>
            <a:ext cx="11018520" cy="1434415"/>
          </a:xfrm>
        </p:spPr>
        <p:txBody>
          <a:bodyPr anchor="b">
            <a:normAutofit/>
          </a:bodyPr>
          <a:lstStyle/>
          <a:p>
            <a:r>
              <a:rPr lang="en-GB" sz="5400"/>
              <a:t>SOCIAL MOBILITY </a:t>
            </a:r>
            <a:endParaRPr lang="en-PK" sz="54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952671-F296-4134-B97F-0CCF8D34C136}"/>
              </a:ext>
            </a:extLst>
          </p:cNvPr>
          <p:cNvSpPr>
            <a:spLocks noGrp="1"/>
          </p:cNvSpPr>
          <p:nvPr>
            <p:ph idx="1"/>
          </p:nvPr>
        </p:nvSpPr>
        <p:spPr>
          <a:xfrm>
            <a:off x="572493" y="2071316"/>
            <a:ext cx="6713552" cy="4119172"/>
          </a:xfrm>
        </p:spPr>
        <p:txBody>
          <a:bodyPr anchor="t">
            <a:normAutofit/>
          </a:bodyPr>
          <a:lstStyle/>
          <a:p>
            <a:r>
              <a:rPr lang="en-GB" sz="2000" b="1"/>
              <a:t>Social mobility </a:t>
            </a:r>
            <a:r>
              <a:rPr lang="en-GB" sz="2000"/>
              <a:t>is the movement between or within social classes.  </a:t>
            </a:r>
          </a:p>
          <a:p>
            <a:r>
              <a:rPr lang="en-GB" sz="2000" b="1"/>
              <a:t>Horizontal mobility </a:t>
            </a:r>
            <a:r>
              <a:rPr lang="en-GB" sz="2000"/>
              <a:t>refers to movement within a social class or stratum. </a:t>
            </a:r>
          </a:p>
          <a:p>
            <a:r>
              <a:rPr lang="en-GB" sz="2000" b="1"/>
              <a:t>Vertical mobility </a:t>
            </a:r>
            <a:r>
              <a:rPr lang="en-GB" sz="2000"/>
              <a:t>refers to the movement between social classes or strata.</a:t>
            </a:r>
          </a:p>
          <a:p>
            <a:endParaRPr lang="en-GB" sz="2000"/>
          </a:p>
          <a:p>
            <a:pPr marL="0" indent="0">
              <a:buNone/>
            </a:pPr>
            <a:r>
              <a:rPr lang="en-GB" sz="2000"/>
              <a:t>There are two kinds of vertical mobility:</a:t>
            </a:r>
          </a:p>
          <a:p>
            <a:r>
              <a:rPr lang="en-GB" sz="2000"/>
              <a:t>intragenerational mobility (within a person's lifetime)</a:t>
            </a:r>
          </a:p>
          <a:p>
            <a:r>
              <a:rPr lang="en-GB" sz="2000"/>
              <a:t>intergenerational mobility (several generations of one family)</a:t>
            </a:r>
          </a:p>
          <a:p>
            <a:endParaRPr lang="en-GB" sz="2000"/>
          </a:p>
          <a:p>
            <a:endParaRPr lang="en-PK" sz="2000"/>
          </a:p>
        </p:txBody>
      </p:sp>
      <p:pic>
        <p:nvPicPr>
          <p:cNvPr id="5" name="Picture 4" descr="A group of people in a pyramid&#10;&#10;Description automatically generated">
            <a:extLst>
              <a:ext uri="{FF2B5EF4-FFF2-40B4-BE49-F238E27FC236}">
                <a16:creationId xmlns:a16="http://schemas.microsoft.com/office/drawing/2014/main" id="{96F798DB-CDD0-F753-7C01-FB4082E79ACA}"/>
              </a:ext>
            </a:extLst>
          </p:cNvPr>
          <p:cNvPicPr>
            <a:picLocks noChangeAspect="1"/>
          </p:cNvPicPr>
          <p:nvPr/>
        </p:nvPicPr>
        <p:blipFill rotWithShape="1">
          <a:blip r:embed="rId2">
            <a:extLst>
              <a:ext uri="{28A0092B-C50C-407E-A947-70E740481C1C}">
                <a14:useLocalDpi xmlns:a14="http://schemas.microsoft.com/office/drawing/2010/main" val="0"/>
              </a:ext>
            </a:extLst>
          </a:blip>
          <a:srcRect l="2651" r="1145" b="2"/>
          <a:stretch/>
        </p:blipFill>
        <p:spPr>
          <a:xfrm>
            <a:off x="7675658" y="2093976"/>
            <a:ext cx="3941064" cy="4096512"/>
          </a:xfrm>
          <a:prstGeom prst="rect">
            <a:avLst/>
          </a:prstGeom>
        </p:spPr>
      </p:pic>
    </p:spTree>
    <p:extLst>
      <p:ext uri="{BB962C8B-B14F-4D97-AF65-F5344CB8AC3E}">
        <p14:creationId xmlns:p14="http://schemas.microsoft.com/office/powerpoint/2010/main" val="1262595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55418E4-D3FD-F98C-2B7C-93AEA1ABE253}"/>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a:solidFill>
                  <a:srgbClr val="FFFFFF"/>
                </a:solidFill>
                <a:latin typeface="+mj-lt"/>
                <a:ea typeface="+mj-ea"/>
                <a:cs typeface="+mj-cs"/>
              </a:rPr>
              <a:t>Causes of Social Mobility</a:t>
            </a:r>
          </a:p>
        </p:txBody>
      </p:sp>
      <p:sp>
        <p:nvSpPr>
          <p:cNvPr id="3" name="Content Placeholder 2">
            <a:extLst>
              <a:ext uri="{FF2B5EF4-FFF2-40B4-BE49-F238E27FC236}">
                <a16:creationId xmlns:a16="http://schemas.microsoft.com/office/drawing/2014/main" id="{A58DBA95-165D-F908-0395-B2ACB458E6AD}"/>
              </a:ext>
            </a:extLst>
          </p:cNvPr>
          <p:cNvSpPr>
            <a:spLocks noGrp="1"/>
          </p:cNvSpPr>
          <p:nvPr>
            <p:ph idx="1"/>
          </p:nvPr>
        </p:nvSpPr>
        <p:spPr>
          <a:xfrm>
            <a:off x="4380855" y="1412489"/>
            <a:ext cx="3656863" cy="4363844"/>
          </a:xfrm>
        </p:spPr>
        <p:txBody>
          <a:bodyPr vert="horz" lIns="91440" tIns="45720" rIns="91440" bIns="45720" rtlCol="0">
            <a:normAutofit/>
          </a:bodyPr>
          <a:lstStyle/>
          <a:p>
            <a:pPr marL="0" indent="0">
              <a:buNone/>
            </a:pPr>
            <a:r>
              <a:rPr lang="en-US" sz="2000" b="1" u="sng" dirty="0"/>
              <a:t>Causes of Upper mobility</a:t>
            </a:r>
          </a:p>
          <a:p>
            <a:pPr marL="0" indent="0">
              <a:buNone/>
            </a:pPr>
            <a:endParaRPr lang="en-US" sz="2000" b="1" u="sng" dirty="0"/>
          </a:p>
          <a:p>
            <a:r>
              <a:rPr lang="en-US" sz="2000" dirty="0"/>
              <a:t>Individual Effort</a:t>
            </a:r>
          </a:p>
          <a:p>
            <a:r>
              <a:rPr lang="en-US" sz="2000" dirty="0"/>
              <a:t>Technological change</a:t>
            </a:r>
          </a:p>
          <a:p>
            <a:r>
              <a:rPr lang="en-US" sz="2000" dirty="0"/>
              <a:t>Change in merchandising patterns</a:t>
            </a:r>
          </a:p>
          <a:p>
            <a:r>
              <a:rPr lang="en-US" sz="2000" dirty="0"/>
              <a:t>Increase in population’s general educational level</a:t>
            </a:r>
            <a:r>
              <a:rPr lang="en-US" sz="2000" b="1" u="sng" dirty="0"/>
              <a:t> </a:t>
            </a:r>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C833F60-C9D6-872E-7BD5-3E9259271E69}"/>
              </a:ext>
            </a:extLst>
          </p:cNvPr>
          <p:cNvSpPr txBox="1"/>
          <p:nvPr/>
        </p:nvSpPr>
        <p:spPr>
          <a:xfrm>
            <a:off x="8222022" y="1412489"/>
            <a:ext cx="3743836" cy="4363844"/>
          </a:xfrm>
          <a:prstGeom prst="rect">
            <a:avLst/>
          </a:prstGeom>
        </p:spPr>
        <p:txBody>
          <a:bodyPr vert="horz" lIns="91440" tIns="45720" rIns="91440" bIns="45720" rtlCol="0">
            <a:normAutofit/>
          </a:bodyPr>
          <a:lstStyle/>
          <a:p>
            <a:pPr>
              <a:lnSpc>
                <a:spcPct val="90000"/>
              </a:lnSpc>
              <a:spcAft>
                <a:spcPts val="600"/>
              </a:spcAft>
            </a:pPr>
            <a:r>
              <a:rPr lang="en-US" sz="2000" b="1" u="sng" dirty="0"/>
              <a:t>Causes of downward mobility</a:t>
            </a:r>
          </a:p>
          <a:p>
            <a:pPr>
              <a:lnSpc>
                <a:spcPct val="90000"/>
              </a:lnSpc>
              <a:spcAft>
                <a:spcPts val="600"/>
              </a:spcAft>
            </a:pPr>
            <a:endParaRPr lang="en-US" sz="2000" b="1" u="sng" dirty="0"/>
          </a:p>
          <a:p>
            <a:pPr marL="342900" indent="-342900">
              <a:lnSpc>
                <a:spcPct val="90000"/>
              </a:lnSpc>
              <a:spcAft>
                <a:spcPts val="600"/>
              </a:spcAft>
              <a:buFont typeface="Arial" panose="020B0604020202020204" pitchFamily="34" charset="0"/>
              <a:buChar char="•"/>
            </a:pPr>
            <a:r>
              <a:rPr lang="en-US" sz="2000" dirty="0"/>
              <a:t>Personal Factors such as illness , divorce , or retirement</a:t>
            </a:r>
          </a:p>
          <a:p>
            <a:pPr marL="342900" indent="-342900">
              <a:lnSpc>
                <a:spcPct val="90000"/>
              </a:lnSpc>
              <a:spcAft>
                <a:spcPts val="600"/>
              </a:spcAft>
              <a:buFont typeface="Arial" panose="020B0604020202020204" pitchFamily="34" charset="0"/>
              <a:buChar char="•"/>
            </a:pPr>
            <a:r>
              <a:rPr lang="en-US" sz="2000" dirty="0"/>
              <a:t>Technological change altering the demand for labor</a:t>
            </a:r>
          </a:p>
          <a:p>
            <a:pPr marL="342900" indent="-342900">
              <a:lnSpc>
                <a:spcPct val="90000"/>
              </a:lnSpc>
              <a:spcAft>
                <a:spcPts val="600"/>
              </a:spcAft>
              <a:buFont typeface="Arial" panose="020B0604020202020204" pitchFamily="34" charset="0"/>
              <a:buChar char="•"/>
            </a:pPr>
            <a:r>
              <a:rPr lang="en-US" sz="2000" dirty="0"/>
              <a:t>Overall economic health</a:t>
            </a:r>
          </a:p>
        </p:txBody>
      </p:sp>
    </p:spTree>
    <p:extLst>
      <p:ext uri="{BB962C8B-B14F-4D97-AF65-F5344CB8AC3E}">
        <p14:creationId xmlns:p14="http://schemas.microsoft.com/office/powerpoint/2010/main" val="2690044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BBEB71-51E1-B4F2-D48F-4BE52391912A}"/>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Social Inequality and Poverty</a:t>
            </a:r>
            <a:endParaRPr lang="en-PK"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7DF33B-411C-A764-E43A-499B47A38C87}"/>
              </a:ext>
            </a:extLst>
          </p:cNvPr>
          <p:cNvSpPr>
            <a:spLocks noGrp="1"/>
          </p:cNvSpPr>
          <p:nvPr>
            <p:ph idx="1"/>
          </p:nvPr>
        </p:nvSpPr>
        <p:spPr>
          <a:xfrm>
            <a:off x="1155548" y="2217343"/>
            <a:ext cx="9880893" cy="3959619"/>
          </a:xfrm>
        </p:spPr>
        <p:txBody>
          <a:bodyPr>
            <a:normAutofit/>
          </a:bodyPr>
          <a:lstStyle/>
          <a:p>
            <a:pPr marL="0" indent="0">
              <a:buNone/>
            </a:pPr>
            <a:r>
              <a:rPr lang="en-GB" sz="2000" b="1" dirty="0"/>
              <a:t>Understanding the Multidimensional Nature of Social Inequality</a:t>
            </a:r>
          </a:p>
          <a:p>
            <a:r>
              <a:rPr lang="en-GB" sz="2000" dirty="0"/>
              <a:t>Social inequality extends far beyond just differences in income and wealth. It encompasses disparities in access to education, healthcare, housing, employment opportunities, and social mobility. These inequalities often intersect and reinforce one another, creating complex and persistent barriers for those on the lower rungs of the socioeconomic ladder.</a:t>
            </a:r>
          </a:p>
          <a:p>
            <a:pPr marL="0" indent="0">
              <a:buNone/>
            </a:pPr>
            <a:r>
              <a:rPr lang="en-GB" sz="2000" b="1" dirty="0"/>
              <a:t>The Cycle of Poverty</a:t>
            </a:r>
          </a:p>
          <a:p>
            <a:r>
              <a:rPr lang="en-GB" sz="2000" dirty="0"/>
              <a:t>Poverty is not just a lack of financial resources, but a multifaceted predicament that traps individuals and communities in a self-perpetuating cycle. Limited access to quality education, job opportunities, and healthcare exacerbates poverty, making it increasingly difficult for those born into disadvantaged circumstances to break free and achieve upward mobility.</a:t>
            </a:r>
          </a:p>
          <a:p>
            <a:pPr marL="0" indent="0">
              <a:buNone/>
            </a:pPr>
            <a:endParaRPr lang="en-GB" sz="2000" dirty="0"/>
          </a:p>
          <a:p>
            <a:endParaRPr lang="en-PK" sz="2000" dirty="0"/>
          </a:p>
        </p:txBody>
      </p:sp>
    </p:spTree>
    <p:extLst>
      <p:ext uri="{BB962C8B-B14F-4D97-AF65-F5344CB8AC3E}">
        <p14:creationId xmlns:p14="http://schemas.microsoft.com/office/powerpoint/2010/main" val="4271114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4C1D9-4324-825D-AFA8-EDA5B31A25D4}"/>
              </a:ext>
            </a:extLst>
          </p:cNvPr>
          <p:cNvSpPr>
            <a:spLocks noGrp="1"/>
          </p:cNvSpPr>
          <p:nvPr>
            <p:ph type="title"/>
          </p:nvPr>
        </p:nvSpPr>
        <p:spPr>
          <a:xfrm>
            <a:off x="5868557" y="1138036"/>
            <a:ext cx="5444382" cy="1402470"/>
          </a:xfrm>
        </p:spPr>
        <p:txBody>
          <a:bodyPr anchor="t">
            <a:normAutofit/>
          </a:bodyPr>
          <a:lstStyle/>
          <a:p>
            <a:r>
              <a:rPr lang="en-GB" sz="3200"/>
              <a:t>Role of education in social stratification</a:t>
            </a:r>
            <a:endParaRPr lang="en-PK" sz="3200"/>
          </a:p>
        </p:txBody>
      </p:sp>
      <p:pic>
        <p:nvPicPr>
          <p:cNvPr id="5" name="Picture 4">
            <a:extLst>
              <a:ext uri="{FF2B5EF4-FFF2-40B4-BE49-F238E27FC236}">
                <a16:creationId xmlns:a16="http://schemas.microsoft.com/office/drawing/2014/main" id="{D8455B52-87EE-80FE-96E1-10DB39DFAA2A}"/>
              </a:ext>
            </a:extLst>
          </p:cNvPr>
          <p:cNvPicPr>
            <a:picLocks noChangeAspect="1"/>
          </p:cNvPicPr>
          <p:nvPr/>
        </p:nvPicPr>
        <p:blipFill rotWithShape="1">
          <a:blip r:embed="rId2"/>
          <a:srcRect l="26597" r="31152"/>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FC48364-C4A2-65CE-E672-A13592278AB2}"/>
              </a:ext>
            </a:extLst>
          </p:cNvPr>
          <p:cNvSpPr>
            <a:spLocks noGrp="1"/>
          </p:cNvSpPr>
          <p:nvPr>
            <p:ph idx="1"/>
          </p:nvPr>
        </p:nvSpPr>
        <p:spPr>
          <a:xfrm>
            <a:off x="5868557" y="2551176"/>
            <a:ext cx="5444382" cy="3591207"/>
          </a:xfrm>
        </p:spPr>
        <p:txBody>
          <a:bodyPr>
            <a:noAutofit/>
          </a:bodyPr>
          <a:lstStyle/>
          <a:p>
            <a:r>
              <a:rPr lang="en-GB" sz="1600" b="1" dirty="0"/>
              <a:t>Reproduction of Inequality: </a:t>
            </a:r>
            <a:r>
              <a:rPr lang="en-GB" sz="1600" dirty="0"/>
              <a:t>Education systems often perpetuate existing social hierarchies by providing unequal opportunities based on socio-economic status.</a:t>
            </a:r>
          </a:p>
          <a:p>
            <a:r>
              <a:rPr lang="en-GB" sz="1600" b="1" dirty="0"/>
              <a:t>Access to Opportunities: </a:t>
            </a:r>
            <a:r>
              <a:rPr lang="en-GB" sz="1600" dirty="0"/>
              <a:t>Higher levels of education are linked to better economic prospects and social mobility, but access is often limited by socio-economic background.</a:t>
            </a:r>
          </a:p>
          <a:p>
            <a:r>
              <a:rPr lang="en-GB" sz="1600" b="1" dirty="0"/>
              <a:t>Cultural Capital: </a:t>
            </a:r>
            <a:r>
              <a:rPr lang="en-GB" sz="1600" dirty="0"/>
              <a:t>Education imparts valuable cultural capital, such as knowledge and skills, which can advantage individuals from privileged backgrounds in social and professional settings.</a:t>
            </a:r>
          </a:p>
          <a:p>
            <a:r>
              <a:rPr lang="en-GB" sz="1600" b="1" dirty="0"/>
              <a:t>Policy Impact: </a:t>
            </a:r>
            <a:r>
              <a:rPr lang="en-GB" sz="1600" dirty="0"/>
              <a:t>Education policies can either exacerbate or mitigate social stratification by addressing disparities in access to quality education and promoting diversity and inclusion.</a:t>
            </a:r>
            <a:endParaRPr lang="en-PK" sz="1600" dirty="0"/>
          </a:p>
        </p:txBody>
      </p:sp>
    </p:spTree>
    <p:extLst>
      <p:ext uri="{BB962C8B-B14F-4D97-AF65-F5344CB8AC3E}">
        <p14:creationId xmlns:p14="http://schemas.microsoft.com/office/powerpoint/2010/main" val="1069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22E0D8-07E7-620C-F302-6DD77FA886EC}"/>
              </a:ext>
            </a:extLst>
          </p:cNvPr>
          <p:cNvSpPr>
            <a:spLocks noGrp="1"/>
          </p:cNvSpPr>
          <p:nvPr>
            <p:ph type="title"/>
          </p:nvPr>
        </p:nvSpPr>
        <p:spPr>
          <a:xfrm>
            <a:off x="826396" y="586855"/>
            <a:ext cx="4230100" cy="3387497"/>
          </a:xfrm>
        </p:spPr>
        <p:txBody>
          <a:bodyPr anchor="b">
            <a:normAutofit/>
          </a:bodyPr>
          <a:lstStyle/>
          <a:p>
            <a:pPr algn="r"/>
            <a:r>
              <a:rPr lang="en-GB" sz="4000" b="1">
                <a:solidFill>
                  <a:srgbClr val="FFFFFF"/>
                </a:solidFill>
              </a:rPr>
              <a:t>Addressing the Challenges of Social Stratification</a:t>
            </a:r>
            <a:br>
              <a:rPr lang="en-GB" sz="4000" b="1">
                <a:solidFill>
                  <a:srgbClr val="FFFFFF"/>
                </a:solidFill>
              </a:rPr>
            </a:br>
            <a:r>
              <a:rPr lang="en-GB" sz="4000">
                <a:solidFill>
                  <a:srgbClr val="FFFFFF"/>
                </a:solidFill>
              </a:rPr>
              <a:t> </a:t>
            </a:r>
            <a:endParaRPr lang="en-PK" sz="4000">
              <a:solidFill>
                <a:srgbClr val="FFFFFF"/>
              </a:solidFill>
            </a:endParaRPr>
          </a:p>
        </p:txBody>
      </p:sp>
      <p:sp>
        <p:nvSpPr>
          <p:cNvPr id="3" name="Content Placeholder 2">
            <a:extLst>
              <a:ext uri="{FF2B5EF4-FFF2-40B4-BE49-F238E27FC236}">
                <a16:creationId xmlns:a16="http://schemas.microsoft.com/office/drawing/2014/main" id="{6B7945C3-E256-949B-7B5D-08EE4C708A84}"/>
              </a:ext>
            </a:extLst>
          </p:cNvPr>
          <p:cNvSpPr>
            <a:spLocks noGrp="1"/>
          </p:cNvSpPr>
          <p:nvPr>
            <p:ph idx="1"/>
          </p:nvPr>
        </p:nvSpPr>
        <p:spPr>
          <a:xfrm>
            <a:off x="6503158" y="649480"/>
            <a:ext cx="4862447" cy="5546047"/>
          </a:xfrm>
        </p:spPr>
        <p:txBody>
          <a:bodyPr anchor="ctr">
            <a:normAutofit/>
          </a:bodyPr>
          <a:lstStyle/>
          <a:p>
            <a:r>
              <a:rPr lang="en-GB" sz="2000" b="1" dirty="0"/>
              <a:t>Promote Social Mobility</a:t>
            </a:r>
          </a:p>
          <a:p>
            <a:pPr marL="0" indent="0">
              <a:buNone/>
            </a:pPr>
            <a:r>
              <a:rPr lang="en-GB" sz="2000" dirty="0"/>
              <a:t>Invest in education, skills training, and equal opportunity policies to enable individuals to move up the social ladder based on merit.</a:t>
            </a:r>
          </a:p>
          <a:p>
            <a:r>
              <a:rPr lang="en-GB" sz="2000" b="1" dirty="0"/>
              <a:t>Reduce Inequality</a:t>
            </a:r>
          </a:p>
          <a:p>
            <a:pPr marL="0" indent="0">
              <a:buNone/>
            </a:pPr>
            <a:r>
              <a:rPr lang="en-GB" sz="2000" dirty="0"/>
              <a:t>Implement progressive taxation, social welfare programs, and policies that redistribute wealth and resources more equitably.</a:t>
            </a:r>
          </a:p>
          <a:p>
            <a:r>
              <a:rPr lang="en-GB" sz="2000" b="1" dirty="0"/>
              <a:t>Foster Social Cohesion</a:t>
            </a:r>
          </a:p>
          <a:p>
            <a:pPr marL="0" indent="0">
              <a:buNone/>
            </a:pPr>
            <a:r>
              <a:rPr lang="en-GB" sz="2000" dirty="0"/>
              <a:t>Encourage cross-class interactions, celebrate diversity, and promote a shared sense of community to bridge divides and mitigate social unrest.</a:t>
            </a:r>
          </a:p>
          <a:p>
            <a:endParaRPr lang="en-PK" sz="2000" dirty="0"/>
          </a:p>
        </p:txBody>
      </p:sp>
    </p:spTree>
    <p:extLst>
      <p:ext uri="{BB962C8B-B14F-4D97-AF65-F5344CB8AC3E}">
        <p14:creationId xmlns:p14="http://schemas.microsoft.com/office/powerpoint/2010/main" val="3369387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2F60C-55C6-7D35-23F2-1F74EA9AF815}"/>
              </a:ext>
            </a:extLst>
          </p:cNvPr>
          <p:cNvSpPr>
            <a:spLocks noGrp="1"/>
          </p:cNvSpPr>
          <p:nvPr>
            <p:ph type="title"/>
          </p:nvPr>
        </p:nvSpPr>
        <p:spPr/>
        <p:txBody>
          <a:bodyPr/>
          <a:lstStyle/>
          <a:p>
            <a:endParaRPr lang="en-PK"/>
          </a:p>
        </p:txBody>
      </p:sp>
      <p:pic>
        <p:nvPicPr>
          <p:cNvPr id="9" name="Content Placeholder 8" descr="A text on a white background">
            <a:extLst>
              <a:ext uri="{FF2B5EF4-FFF2-40B4-BE49-F238E27FC236}">
                <a16:creationId xmlns:a16="http://schemas.microsoft.com/office/drawing/2014/main" id="{25803E9A-9D15-FF0F-647D-60CD795764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0267"/>
            <a:ext cx="12192000" cy="6868267"/>
          </a:xfrm>
        </p:spPr>
      </p:pic>
    </p:spTree>
    <p:extLst>
      <p:ext uri="{BB962C8B-B14F-4D97-AF65-F5344CB8AC3E}">
        <p14:creationId xmlns:p14="http://schemas.microsoft.com/office/powerpoint/2010/main" val="3286502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896</Words>
  <Application>Microsoft Office PowerPoint</Application>
  <PresentationFormat>Widescreen</PresentationFormat>
  <Paragraphs>94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SOCIAL STRATIFICATION</vt:lpstr>
      <vt:lpstr>What is Social Stratification?</vt:lpstr>
      <vt:lpstr>Characteristics of social stratification</vt:lpstr>
      <vt:lpstr>TYPES OF STRATIFICATION SYSTEM</vt:lpstr>
      <vt:lpstr>TYPES OF STRATIFICATION SYSTEM CTND.</vt:lpstr>
      <vt:lpstr>EXPLAINING STRATIFICATION</vt:lpstr>
      <vt:lpstr>What determines Social class?</vt:lpstr>
      <vt:lpstr>SOCIAL MOBILITY </vt:lpstr>
      <vt:lpstr>Causes of Social Mobility</vt:lpstr>
      <vt:lpstr>Social Inequality and Poverty</vt:lpstr>
      <vt:lpstr>Role of education in social stratification</vt:lpstr>
      <vt:lpstr>Addressing the Challenges of Social Stratification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STRATIFICATION</dc:title>
  <dc:creator>Muabbir Rizvi</dc:creator>
  <cp:lastModifiedBy>Muabbir Rizvi</cp:lastModifiedBy>
  <cp:revision>4</cp:revision>
  <dcterms:created xsi:type="dcterms:W3CDTF">2024-04-25T13:12:21Z</dcterms:created>
  <dcterms:modified xsi:type="dcterms:W3CDTF">2024-05-02T17:31:23Z</dcterms:modified>
</cp:coreProperties>
</file>