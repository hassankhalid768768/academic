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Montserrat Black"/>
      <p:bold r:id="rId41"/>
      <p:boldItalic r:id="rId42"/>
    </p:embeddedFont>
    <p:embeddedFont>
      <p:font typeface="Montserrat Medium"/>
      <p:regular r:id="rId43"/>
      <p:bold r:id="rId44"/>
      <p:italic r:id="rId45"/>
      <p:boldItalic r:id="rId46"/>
    </p:embeddedFont>
    <p:embeddedFont>
      <p:font typeface="Montserrat Light"/>
      <p:regular r:id="rId47"/>
      <p:bold r:id="rId48"/>
      <p:italic r:id="rId49"/>
      <p:boldItalic r:id="rId50"/>
    </p:embeddedFont>
    <p:embeddedFont>
      <p:font typeface="Montserrat ExtraBold"/>
      <p:bold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8E2A0F-38A2-43C1-B819-8D4816C20089}">
  <a:tblStyle styleId="{C98E2A0F-38A2-43C1-B819-8D4816C200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42" Type="http://schemas.openxmlformats.org/officeDocument/2006/relationships/font" Target="fonts/MontserratBlack-boldItalic.fntdata"/><Relationship Id="rId41" Type="http://schemas.openxmlformats.org/officeDocument/2006/relationships/font" Target="fonts/MontserratBlack-bold.fntdata"/><Relationship Id="rId44" Type="http://schemas.openxmlformats.org/officeDocument/2006/relationships/font" Target="fonts/MontserratMedium-bold.fntdata"/><Relationship Id="rId43" Type="http://schemas.openxmlformats.org/officeDocument/2006/relationships/font" Target="fonts/MontserratMedium-regular.fntdata"/><Relationship Id="rId46" Type="http://schemas.openxmlformats.org/officeDocument/2006/relationships/font" Target="fonts/MontserratMedium-boldItalic.fntdata"/><Relationship Id="rId45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MontserratLight-bold.fntdata"/><Relationship Id="rId47" Type="http://schemas.openxmlformats.org/officeDocument/2006/relationships/font" Target="fonts/MontserratLight-regular.fntdata"/><Relationship Id="rId49" Type="http://schemas.openxmlformats.org/officeDocument/2006/relationships/font" Target="fonts/MontserratLight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font" Target="fonts/Roboto-regular.fntdata"/><Relationship Id="rId32" Type="http://schemas.openxmlformats.org/officeDocument/2006/relationships/slide" Target="slides/slide25.xml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Montserrat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Montserrat-italic.fntdata"/><Relationship Id="rId38" Type="http://schemas.openxmlformats.org/officeDocument/2006/relationships/font" Target="fonts/Montserrat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MontserratExtraBold-bold.fntdata"/><Relationship Id="rId50" Type="http://schemas.openxmlformats.org/officeDocument/2006/relationships/font" Target="fonts/MontserratLight-boldItalic.fntdata"/><Relationship Id="rId52" Type="http://schemas.openxmlformats.org/officeDocument/2006/relationships/font" Target="fonts/MontserratExtra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f587fae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cf587fae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f52ca912f_3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2cf52ca912f_3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cf52ca912f_3_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2cf52ca912f_3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f52ca912f_3_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2cf52ca912f_3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cf52ca912f_3_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2cf52ca912f_3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f52ca912f_3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2cf52ca912f_3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f587fae1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cf587fae1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cf52ca912f_3_1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2cf52ca912f_3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cf4d4dfbe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2cf4d4dfbe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cf52ca912f_3_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2cf52ca912f_3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cf52ca912f_3_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2cf52ca912f_3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cf4d4dfbe4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2cf4d4dfbe4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cf4d4dfbe4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2cf4d4dfbe4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cf587fae1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cf587fae1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cf52ca912f_3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2cf52ca912f_3_2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2cf52ca912f_3_2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cf52ca912f_3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2cf52ca912f_3_2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2cf52ca912f_3_2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cf52ca912f_3_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2cf52ca912f_3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cf52ca912f_3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2cf52ca912f_3_2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2cf52ca912f_3_2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cf52ca912f_3_2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2cf52ca912f_3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cf587fae1d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cf587fae1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cf52ca912f_3_2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2cf52ca912f_3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cf52ca912f_3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2cf52ca912f_3_2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g2cf52ca912f_3_2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cf587fae1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cf587fae1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cf52ca912f_3_2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g2cf52ca912f_3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cf52ca912f_3_2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2cf52ca912f_3_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10" y="-125809"/>
            <a:ext cx="226298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1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749975" y="3142400"/>
            <a:ext cx="2931300" cy="1767500"/>
            <a:chOff x="749975" y="3142400"/>
            <a:chExt cx="2931300" cy="1767500"/>
          </a:xfrm>
        </p:grpSpPr>
        <p:sp>
          <p:nvSpPr>
            <p:cNvPr id="130" name="Google Shape;130;p25"/>
            <p:cNvSpPr/>
            <p:nvPr/>
          </p:nvSpPr>
          <p:spPr>
            <a:xfrm>
              <a:off x="749975" y="3508000"/>
              <a:ext cx="2931300" cy="1401900"/>
            </a:xfrm>
            <a:prstGeom prst="roundRect">
              <a:avLst>
                <a:gd fmla="val 16667" name="adj"/>
              </a:avLst>
            </a:prstGeom>
            <a:solidFill>
              <a:srgbClr val="0329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Demographics Highlighting </a:t>
              </a:r>
              <a:r>
                <a:rPr b="1" lang="en" sz="1300">
                  <a:solidFill>
                    <a:srgbClr val="FFD96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25</a:t>
              </a:r>
              <a:r>
                <a:rPr b="1" lang="en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Diverse Perspectives</a:t>
              </a:r>
              <a:endPara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>
              <a:off x="1849175" y="3142400"/>
              <a:ext cx="732900" cy="749100"/>
            </a:xfrm>
            <a:prstGeom prst="star6">
              <a:avLst>
                <a:gd fmla="val 33694" name="adj"/>
                <a:gd fmla="val 115470" name="hf"/>
              </a:avLst>
            </a:prstGeom>
            <a:solidFill>
              <a:srgbClr val="29515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with</a:t>
              </a:r>
              <a:endParaRPr sz="12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425" y="0"/>
            <a:ext cx="495766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25"/>
          <p:cNvGrpSpPr/>
          <p:nvPr/>
        </p:nvGrpSpPr>
        <p:grpSpPr>
          <a:xfrm>
            <a:off x="162850" y="1870825"/>
            <a:ext cx="4105575" cy="1401850"/>
            <a:chOff x="162850" y="1870825"/>
            <a:chExt cx="4105575" cy="1401850"/>
          </a:xfrm>
        </p:grpSpPr>
        <p:sp>
          <p:nvSpPr>
            <p:cNvPr id="134" name="Google Shape;134;p25"/>
            <p:cNvSpPr txBox="1"/>
            <p:nvPr/>
          </p:nvSpPr>
          <p:spPr>
            <a:xfrm>
              <a:off x="162850" y="1870825"/>
              <a:ext cx="41055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“We have strong expectations around providing for one another and not shirking.”</a:t>
              </a:r>
              <a:endPara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25"/>
            <p:cNvSpPr txBox="1"/>
            <p:nvPr/>
          </p:nvSpPr>
          <p:spPr>
            <a:xfrm>
              <a:off x="2326525" y="2455825"/>
              <a:ext cx="1742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11157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James Iveniuk</a:t>
              </a:r>
              <a:endParaRPr sz="13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36" name="Google Shape;136;p25"/>
            <p:cNvSpPr txBox="1"/>
            <p:nvPr/>
          </p:nvSpPr>
          <p:spPr>
            <a:xfrm>
              <a:off x="2127025" y="2718575"/>
              <a:ext cx="2141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Postdoctoral Researcher</a:t>
              </a:r>
              <a:endParaRPr sz="1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University of Toronto</a:t>
              </a:r>
              <a:endParaRPr sz="1300"/>
            </a:p>
          </p:txBody>
        </p:sp>
      </p:grpSp>
      <p:sp>
        <p:nvSpPr>
          <p:cNvPr id="137" name="Google Shape;137;p25"/>
          <p:cNvSpPr txBox="1"/>
          <p:nvPr/>
        </p:nvSpPr>
        <p:spPr>
          <a:xfrm>
            <a:off x="1246625" y="4454375"/>
            <a:ext cx="193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D966"/>
                </a:solidFill>
                <a:latin typeface="Montserrat"/>
                <a:ea typeface="Montserrat"/>
                <a:cs typeface="Montserrat"/>
                <a:sym typeface="Montserrat"/>
              </a:rPr>
              <a:t>*your perspectives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/>
        </p:nvSpPr>
        <p:spPr>
          <a:xfrm>
            <a:off x="787525" y="2042113"/>
            <a:ext cx="62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</a:t>
            </a:r>
            <a:r>
              <a:rPr b="1" lang="en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</a:t>
            </a:r>
            <a:r>
              <a:rPr b="1" i="0" lang="en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Complexities</a:t>
            </a:r>
            <a:endParaRPr b="1" i="0" sz="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3" name="Google Shape;143;p26"/>
          <p:cNvCxnSpPr/>
          <p:nvPr/>
        </p:nvCxnSpPr>
        <p:spPr>
          <a:xfrm>
            <a:off x="4177875" y="2640313"/>
            <a:ext cx="1157700" cy="0"/>
          </a:xfrm>
          <a:prstGeom prst="straightConnector1">
            <a:avLst/>
          </a:prstGeom>
          <a:noFill/>
          <a:ln cap="flat" cmpd="sng" w="47625">
            <a:solidFill>
              <a:srgbClr val="B4956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26"/>
          <p:cNvCxnSpPr/>
          <p:nvPr/>
        </p:nvCxnSpPr>
        <p:spPr>
          <a:xfrm>
            <a:off x="796583" y="598257"/>
            <a:ext cx="3302400" cy="23700"/>
          </a:xfrm>
          <a:prstGeom prst="straightConnector1">
            <a:avLst/>
          </a:prstGeom>
          <a:noFill/>
          <a:ln cap="flat" cmpd="sng" w="47625">
            <a:solidFill>
              <a:srgbClr val="B495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26"/>
          <p:cNvSpPr txBox="1"/>
          <p:nvPr/>
        </p:nvSpPr>
        <p:spPr>
          <a:xfrm>
            <a:off x="7294658" y="490538"/>
            <a:ext cx="1335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787525" y="868650"/>
            <a:ext cx="77001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2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3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Family</a:t>
            </a:r>
            <a:r>
              <a:rPr b="1" i="0" lang="en" sz="33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 and</a:t>
            </a:r>
            <a:endParaRPr b="1" sz="3300">
              <a:solidFill>
                <a:srgbClr val="B49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22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3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Societal</a:t>
            </a:r>
            <a:r>
              <a:rPr b="1" lang="en" sz="3300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33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Bonds: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6850" y="0"/>
            <a:ext cx="3443925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26"/>
          <p:cNvGraphicFramePr/>
          <p:nvPr/>
        </p:nvGraphicFramePr>
        <p:xfrm>
          <a:off x="796575" y="30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{C98E2A0F-38A2-43C1-B819-8D4816C20089}</a:tableStyleId>
              </a:tblPr>
              <a:tblGrid>
                <a:gridCol w="2477525"/>
                <a:gridCol w="172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Muhammad Ahmad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21L-5695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Sohaib Ahmad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21L-5635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Farheen Akmal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21L-5666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Muhammad Abdullah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21L-6225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7"/>
          <p:cNvGrpSpPr/>
          <p:nvPr/>
        </p:nvGrpSpPr>
        <p:grpSpPr>
          <a:xfrm>
            <a:off x="-24362" y="0"/>
            <a:ext cx="3453326" cy="5143569"/>
            <a:chOff x="0" y="0"/>
            <a:chExt cx="1819024" cy="3093969"/>
          </a:xfrm>
        </p:grpSpPr>
        <p:sp>
          <p:nvSpPr>
            <p:cNvPr id="154" name="Google Shape;154;p27"/>
            <p:cNvSpPr/>
            <p:nvPr/>
          </p:nvSpPr>
          <p:spPr>
            <a:xfrm>
              <a:off x="0" y="0"/>
              <a:ext cx="1819024" cy="3093969"/>
            </a:xfrm>
            <a:custGeom>
              <a:rect b="b" l="l" r="r" t="t"/>
              <a:pathLst>
                <a:path extrusionOk="0" h="3093969" w="1819024">
                  <a:moveTo>
                    <a:pt x="0" y="0"/>
                  </a:moveTo>
                  <a:lnTo>
                    <a:pt x="1819024" y="0"/>
                  </a:lnTo>
                  <a:lnTo>
                    <a:pt x="1819024" y="3093969"/>
                  </a:lnTo>
                  <a:lnTo>
                    <a:pt x="0" y="3093969"/>
                  </a:lnTo>
                  <a:close/>
                </a:path>
              </a:pathLst>
            </a:custGeom>
            <a:solidFill>
              <a:srgbClr val="303840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27"/>
            <p:cNvSpPr txBox="1"/>
            <p:nvPr/>
          </p:nvSpPr>
          <p:spPr>
            <a:xfrm>
              <a:off x="0" y="0"/>
              <a:ext cx="1818900" cy="3093900"/>
            </a:xfrm>
            <a:prstGeom prst="rect">
              <a:avLst/>
            </a:prstGeom>
            <a:solidFill>
              <a:srgbClr val="303840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56" name="Google Shape;156;p27"/>
          <p:cNvCxnSpPr/>
          <p:nvPr/>
        </p:nvCxnSpPr>
        <p:spPr>
          <a:xfrm flipH="1" rot="10800000">
            <a:off x="3874900" y="1299975"/>
            <a:ext cx="4773000" cy="1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27"/>
          <p:cNvSpPr txBox="1"/>
          <p:nvPr/>
        </p:nvSpPr>
        <p:spPr>
          <a:xfrm>
            <a:off x="3874895" y="1602115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01.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3874895" y="2258901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02.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3874895" y="2935424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3874895" y="3516410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04.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" name="Google Shape;161;p27"/>
          <p:cNvCxnSpPr/>
          <p:nvPr/>
        </p:nvCxnSpPr>
        <p:spPr>
          <a:xfrm>
            <a:off x="3874895" y="1993268"/>
            <a:ext cx="1951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27"/>
          <p:cNvCxnSpPr/>
          <p:nvPr/>
        </p:nvCxnSpPr>
        <p:spPr>
          <a:xfrm>
            <a:off x="3908920" y="2688521"/>
            <a:ext cx="1951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27"/>
          <p:cNvCxnSpPr/>
          <p:nvPr/>
        </p:nvCxnSpPr>
        <p:spPr>
          <a:xfrm>
            <a:off x="3848800" y="4747650"/>
            <a:ext cx="482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27"/>
          <p:cNvSpPr txBox="1"/>
          <p:nvPr/>
        </p:nvSpPr>
        <p:spPr>
          <a:xfrm>
            <a:off x="4393600" y="1692838"/>
            <a:ext cx="189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Families: Basic Concept</a:t>
            </a:r>
            <a:endParaRPr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393600" y="2351313"/>
            <a:ext cx="176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Marriage and Its Types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4393600" y="3009725"/>
            <a:ext cx="1392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Patterns of Family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393600" y="3603013"/>
            <a:ext cx="16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Theories Of Family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3992225" y="605350"/>
            <a:ext cx="405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Contents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5124525" y="4085800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5757025" y="4212783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Results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27"/>
          <p:cNvGrpSpPr/>
          <p:nvPr/>
        </p:nvGrpSpPr>
        <p:grpSpPr>
          <a:xfrm>
            <a:off x="1521236" y="3498136"/>
            <a:ext cx="533075" cy="533075"/>
            <a:chOff x="0" y="0"/>
            <a:chExt cx="812800" cy="812800"/>
          </a:xfrm>
        </p:grpSpPr>
        <p:sp>
          <p:nvSpPr>
            <p:cNvPr id="172" name="Google Shape;172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75" y="0"/>
            <a:ext cx="3310650" cy="227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5" y="2930250"/>
            <a:ext cx="3310651" cy="22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38387" y="1882738"/>
            <a:ext cx="1723587" cy="1627021"/>
          </a:xfrm>
          <a:custGeom>
            <a:rect b="b" l="l" r="r" t="t"/>
            <a:pathLst>
              <a:path extrusionOk="0" h="14462405" w="15152415">
                <a:moveTo>
                  <a:pt x="7576208" y="11570"/>
                </a:moveTo>
                <a:cubicBezTo>
                  <a:pt x="4989189" y="0"/>
                  <a:pt x="2593721" y="1373519"/>
                  <a:pt x="1296860" y="3612034"/>
                </a:cubicBezTo>
                <a:cubicBezTo>
                  <a:pt x="0" y="5850548"/>
                  <a:pt x="0" y="8611857"/>
                  <a:pt x="1296860" y="10850372"/>
                </a:cubicBezTo>
                <a:cubicBezTo>
                  <a:pt x="2593721" y="13088886"/>
                  <a:pt x="4989189" y="14462405"/>
                  <a:pt x="7576208" y="14450835"/>
                </a:cubicBezTo>
                <a:cubicBezTo>
                  <a:pt x="10163226" y="14462405"/>
                  <a:pt x="12558694" y="13088886"/>
                  <a:pt x="13855555" y="10850372"/>
                </a:cubicBezTo>
                <a:cubicBezTo>
                  <a:pt x="15152416" y="8611857"/>
                  <a:pt x="15152416" y="5850548"/>
                  <a:pt x="13855555" y="3612034"/>
                </a:cubicBezTo>
                <a:cubicBezTo>
                  <a:pt x="12558694" y="1373519"/>
                  <a:pt x="10163226" y="0"/>
                  <a:pt x="7576208" y="11570"/>
                </a:cubicBezTo>
                <a:close/>
              </a:path>
            </a:pathLst>
          </a:custGeom>
          <a:solidFill>
            <a:srgbClr val="1B232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1205693" y="2317563"/>
            <a:ext cx="965062" cy="853535"/>
          </a:xfrm>
          <a:custGeom>
            <a:rect b="b" l="l" r="r" t="t"/>
            <a:pathLst>
              <a:path extrusionOk="0" h="1569720" w="1984703">
                <a:moveTo>
                  <a:pt x="0" y="0"/>
                </a:moveTo>
                <a:lnTo>
                  <a:pt x="1984703" y="0"/>
                </a:lnTo>
                <a:lnTo>
                  <a:pt x="1984703" y="1569720"/>
                </a:lnTo>
                <a:lnTo>
                  <a:pt x="0" y="1569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3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8" name="Google Shape;178;p27"/>
          <p:cNvGrpSpPr/>
          <p:nvPr/>
        </p:nvGrpSpPr>
        <p:grpSpPr>
          <a:xfrm>
            <a:off x="2373913" y="2278813"/>
            <a:ext cx="735909" cy="756595"/>
            <a:chOff x="0" y="0"/>
            <a:chExt cx="812800" cy="812800"/>
          </a:xfrm>
        </p:grpSpPr>
        <p:sp>
          <p:nvSpPr>
            <p:cNvPr id="179" name="Google Shape;179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1517"/>
            </a:solidFill>
            <a:ln cap="sq" cmpd="sng" w="762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p27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1" name="Google Shape;181;p27"/>
          <p:cNvGrpSpPr/>
          <p:nvPr/>
        </p:nvGrpSpPr>
        <p:grpSpPr>
          <a:xfrm>
            <a:off x="251988" y="2278813"/>
            <a:ext cx="735909" cy="756595"/>
            <a:chOff x="0" y="0"/>
            <a:chExt cx="812800" cy="812800"/>
          </a:xfrm>
        </p:grpSpPr>
        <p:sp>
          <p:nvSpPr>
            <p:cNvPr id="182" name="Google Shape;182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1517"/>
            </a:solidFill>
            <a:ln cap="sq" cmpd="sng" w="762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p27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4" name="Google Shape;184;p27"/>
          <p:cNvSpPr txBox="1"/>
          <p:nvPr/>
        </p:nvSpPr>
        <p:spPr>
          <a:xfrm>
            <a:off x="6253145" y="1598903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6253145" y="2288514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6253145" y="2965037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6253145" y="3546022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i="0" lang="en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8" name="Google Shape;188;p27"/>
          <p:cNvCxnSpPr/>
          <p:nvPr/>
        </p:nvCxnSpPr>
        <p:spPr>
          <a:xfrm>
            <a:off x="6253145" y="2022880"/>
            <a:ext cx="1951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27"/>
          <p:cNvCxnSpPr/>
          <p:nvPr/>
        </p:nvCxnSpPr>
        <p:spPr>
          <a:xfrm>
            <a:off x="6287170" y="2718133"/>
            <a:ext cx="1951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27"/>
          <p:cNvSpPr txBox="1"/>
          <p:nvPr/>
        </p:nvSpPr>
        <p:spPr>
          <a:xfrm>
            <a:off x="6817400" y="1687538"/>
            <a:ext cx="1890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Stages Of Family Life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6817400" y="2386238"/>
            <a:ext cx="176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in Family Life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6821875" y="3077324"/>
            <a:ext cx="197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Family Forms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6821875" y="3645038"/>
            <a:ext cx="197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IVF &amp; Other Technologies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/>
        </p:nvSpPr>
        <p:spPr>
          <a:xfrm>
            <a:off x="-523044" y="-2874450"/>
            <a:ext cx="4586224" cy="45862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B232A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9" name="Google Shape;199;p28"/>
          <p:cNvCxnSpPr/>
          <p:nvPr/>
        </p:nvCxnSpPr>
        <p:spPr>
          <a:xfrm flipH="1" rot="10800000">
            <a:off x="1089513" y="1363275"/>
            <a:ext cx="1361100" cy="4200"/>
          </a:xfrm>
          <a:prstGeom prst="straightConnector1">
            <a:avLst/>
          </a:prstGeom>
          <a:noFill/>
          <a:ln cap="rnd" cmpd="sng" w="38100">
            <a:solidFill>
              <a:srgbClr val="FFC2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8"/>
          <p:cNvSpPr txBox="1"/>
          <p:nvPr/>
        </p:nvSpPr>
        <p:spPr>
          <a:xfrm>
            <a:off x="386967" y="373375"/>
            <a:ext cx="26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Families</a:t>
            </a:r>
            <a:r>
              <a:rPr b="1" i="0" lang="en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386975" y="813650"/>
            <a:ext cx="36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Basic Concepts </a:t>
            </a:r>
            <a:endParaRPr b="1" i="0" sz="2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417375" y="1785050"/>
            <a:ext cx="8309400" cy="2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Definition of Family:</a:t>
            </a: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family is a social unit that forms the primary group of people connected by kinship, either by blood, marriage, or adoption, providing economic and emotional support to its members.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Types of Families: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Nuclear family: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Consists of parents and their children.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Extended family: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relatives beyond the nuclear family, such as grandparents, etc.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Single-parent family:</a:t>
            </a: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Comprises one parent raising one or more children.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Definition of Kinship: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Kinship involves relationships derived from blood ties, marriage, or adoption, serving as a primary social organizing principle in most societies.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30"/>
          <p:cNvGrpSpPr/>
          <p:nvPr/>
        </p:nvGrpSpPr>
        <p:grpSpPr>
          <a:xfrm>
            <a:off x="4514825" y="0"/>
            <a:ext cx="4745913" cy="5249879"/>
            <a:chOff x="0" y="-38101"/>
            <a:chExt cx="2469900" cy="2859567"/>
          </a:xfrm>
        </p:grpSpPr>
        <p:sp>
          <p:nvSpPr>
            <p:cNvPr id="213" name="Google Shape;213;p30"/>
            <p:cNvSpPr/>
            <p:nvPr/>
          </p:nvSpPr>
          <p:spPr>
            <a:xfrm>
              <a:off x="0" y="-38101"/>
              <a:ext cx="2469893" cy="2856594"/>
            </a:xfrm>
            <a:custGeom>
              <a:rect b="b" l="l" r="r" t="t"/>
              <a:pathLst>
                <a:path extrusionOk="0" h="2821327" w="2469893">
                  <a:moveTo>
                    <a:pt x="0" y="0"/>
                  </a:moveTo>
                  <a:lnTo>
                    <a:pt x="2469893" y="0"/>
                  </a:lnTo>
                  <a:lnTo>
                    <a:pt x="2469893" y="2821327"/>
                  </a:lnTo>
                  <a:lnTo>
                    <a:pt x="0" y="2821327"/>
                  </a:lnTo>
                  <a:close/>
                </a:path>
              </a:pathLst>
            </a:custGeom>
            <a:solidFill>
              <a:srgbClr val="1B232A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0"/>
            <p:cNvSpPr txBox="1"/>
            <p:nvPr/>
          </p:nvSpPr>
          <p:spPr>
            <a:xfrm>
              <a:off x="0" y="1163667"/>
              <a:ext cx="2469900" cy="16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30"/>
          <p:cNvSpPr txBox="1"/>
          <p:nvPr/>
        </p:nvSpPr>
        <p:spPr>
          <a:xfrm>
            <a:off x="514925" y="899350"/>
            <a:ext cx="35322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i="0" lang="en" sz="3300" u="none" cap="none" strike="noStrike">
                <a:solidFill>
                  <a:srgbClr val="1B23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Marriage and its </a:t>
            </a:r>
            <a:endParaRPr i="0" sz="3300" u="none" cap="none" strike="noStrike">
              <a:solidFill>
                <a:srgbClr val="1B232A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i="0" lang="en" sz="3300" u="none" cap="none" strike="noStrike">
                <a:solidFill>
                  <a:srgbClr val="1B23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Types</a:t>
            </a:r>
            <a:endParaRPr i="0" sz="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746913" y="2121200"/>
            <a:ext cx="29577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Marriage is a culturally sanctioned union between people that establishes rights and obligations between them and their children, and between them and their in-laws.</a:t>
            </a:r>
            <a:endParaRPr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5192524" y="4065500"/>
            <a:ext cx="3837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Common-law marriage: </a:t>
            </a:r>
            <a:r>
              <a:rPr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marriage recognized legally due to cohabitation, without a formal ceremony.</a:t>
            </a:r>
            <a:endParaRPr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4514563" y="4065503"/>
            <a:ext cx="69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4514675" y="574950"/>
            <a:ext cx="69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5192525" y="609600"/>
            <a:ext cx="3532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Monogamy: </a:t>
            </a:r>
            <a:r>
              <a:rPr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Marriage to one spouse at a time.</a:t>
            </a:r>
            <a:endParaRPr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4514675" y="1267500"/>
            <a:ext cx="69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5185650" y="1201343"/>
            <a:ext cx="3913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Polygamy: </a:t>
            </a:r>
            <a:r>
              <a:rPr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Marriage to multiple spouses simultane-</a:t>
            </a:r>
            <a:endParaRPr i="0" sz="1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ously, further classified as polygyny or polyandry</a:t>
            </a:r>
            <a:endParaRPr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4514675" y="2033100"/>
            <a:ext cx="69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5211563" y="1947625"/>
            <a:ext cx="3646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Arranged marriage: </a:t>
            </a:r>
            <a:r>
              <a:rPr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Marriages arranged by family members or matchmakers.</a:t>
            </a:r>
            <a:endParaRPr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4514675" y="2716978"/>
            <a:ext cx="69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5192513" y="2693903"/>
            <a:ext cx="3684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Love marriage: </a:t>
            </a:r>
            <a:r>
              <a:rPr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Marriage based on mutual affection and decision.</a:t>
            </a:r>
            <a:endParaRPr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4514613" y="3366540"/>
            <a:ext cx="69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5192513" y="3354028"/>
            <a:ext cx="3837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Same-sex marriage: </a:t>
            </a:r>
            <a:r>
              <a:rPr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 or socially recognized marriage between two individuals of the same sex.</a:t>
            </a:r>
            <a:endParaRPr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722" y="3366544"/>
            <a:ext cx="1571638" cy="157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0" y="17462"/>
            <a:ext cx="9081900" cy="5108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239;p32"/>
          <p:cNvCxnSpPr/>
          <p:nvPr/>
        </p:nvCxnSpPr>
        <p:spPr>
          <a:xfrm flipH="1" rot="10800000">
            <a:off x="514347" y="1305692"/>
            <a:ext cx="8115300" cy="192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32"/>
          <p:cNvGrpSpPr/>
          <p:nvPr/>
        </p:nvGrpSpPr>
        <p:grpSpPr>
          <a:xfrm>
            <a:off x="761740" y="1417763"/>
            <a:ext cx="7342733" cy="1680900"/>
            <a:chOff x="-1498542" y="-10875"/>
            <a:chExt cx="22530631" cy="4482400"/>
          </a:xfrm>
        </p:grpSpPr>
        <p:sp>
          <p:nvSpPr>
            <p:cNvPr id="241" name="Google Shape;241;p32"/>
            <p:cNvSpPr txBox="1"/>
            <p:nvPr/>
          </p:nvSpPr>
          <p:spPr>
            <a:xfrm>
              <a:off x="-1498542" y="-10875"/>
              <a:ext cx="6861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Residential Pattern:</a:t>
              </a:r>
              <a:endParaRPr b="1"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32"/>
            <p:cNvSpPr txBox="1"/>
            <p:nvPr/>
          </p:nvSpPr>
          <p:spPr>
            <a:xfrm>
              <a:off x="-1498511" y="900625"/>
              <a:ext cx="22530600" cy="35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Char char="●"/>
              </a:pPr>
              <a:r>
                <a:rPr b="1" i="0" lang="en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Neolocal:</a:t>
              </a:r>
              <a:r>
                <a:rPr b="1" i="0" lang="en" sz="15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Couples establish a new, separate residence apart from both sets of parents.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Char char="●"/>
              </a:pPr>
              <a:r>
                <a:rPr b="1" i="0" lang="en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Patrilocal:</a:t>
              </a:r>
              <a:r>
                <a:rPr b="1" i="0" lang="en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Couples live with or near the husband's parents.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Char char="●"/>
              </a:pPr>
              <a:r>
                <a:rPr b="1" i="0" lang="en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Matrilocal:</a:t>
              </a:r>
              <a:r>
                <a:rPr b="0" i="0" lang="en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Couples live with or near the wife's parents.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3" name="Google Shape;243;p32"/>
          <p:cNvGrpSpPr/>
          <p:nvPr/>
        </p:nvGrpSpPr>
        <p:grpSpPr>
          <a:xfrm>
            <a:off x="761750" y="3098675"/>
            <a:ext cx="6319642" cy="1766163"/>
            <a:chOff x="-1000000" y="-66675"/>
            <a:chExt cx="18892801" cy="4709767"/>
          </a:xfrm>
        </p:grpSpPr>
        <p:sp>
          <p:nvSpPr>
            <p:cNvPr id="244" name="Google Shape;244;p32"/>
            <p:cNvSpPr txBox="1"/>
            <p:nvPr/>
          </p:nvSpPr>
          <p:spPr>
            <a:xfrm>
              <a:off x="-1000000" y="-66675"/>
              <a:ext cx="6861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Pattern of Descent</a:t>
              </a:r>
              <a:endParaRPr b="1" i="0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32"/>
            <p:cNvSpPr txBox="1"/>
            <p:nvPr/>
          </p:nvSpPr>
          <p:spPr>
            <a:xfrm>
              <a:off x="-999999" y="1031092"/>
              <a:ext cx="18892800" cy="361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Char char="●"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Patrilineal: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Descent and inheritance passed through the male line.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Char char="●"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Matrilineal: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Descent and inheritance passed through the female line.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Char char="●"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Bi-lineal: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Descent and inheritance are recognized through both male </a:t>
              </a:r>
              <a:endParaRPr b="0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Times New Roman"/>
                  <a:ea typeface="Times New Roman"/>
                  <a:cs typeface="Times New Roman"/>
                  <a:sym typeface="Times New Roman"/>
                </a:rPr>
                <a:t>     </a:t>
              </a:r>
              <a:r>
                <a:rPr b="0" i="0" lang="en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 female lines.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32"/>
          <p:cNvSpPr txBox="1"/>
          <p:nvPr/>
        </p:nvSpPr>
        <p:spPr>
          <a:xfrm>
            <a:off x="514350" y="445200"/>
            <a:ext cx="8115300" cy="78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Residential Patterns, Patterns of Descent, and Patterns of Authority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2"/>
          <p:cNvSpPr/>
          <p:nvPr/>
        </p:nvSpPr>
        <p:spPr>
          <a:xfrm>
            <a:off x="6541569" y="2417513"/>
            <a:ext cx="4586224" cy="45862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49567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2489" r="4270" t="9338"/>
          <a:stretch/>
        </p:blipFill>
        <p:spPr>
          <a:xfrm>
            <a:off x="7369913" y="3338275"/>
            <a:ext cx="1451400" cy="14112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B49567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" name="Google Shape;253;p33"/>
          <p:cNvCxnSpPr/>
          <p:nvPr/>
        </p:nvCxnSpPr>
        <p:spPr>
          <a:xfrm flipH="1" rot="10800000">
            <a:off x="514347" y="1305692"/>
            <a:ext cx="8115300" cy="192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33"/>
          <p:cNvGrpSpPr/>
          <p:nvPr/>
        </p:nvGrpSpPr>
        <p:grpSpPr>
          <a:xfrm>
            <a:off x="514327" y="1669400"/>
            <a:ext cx="7743329" cy="2867113"/>
            <a:chOff x="-629288" y="-66675"/>
            <a:chExt cx="10458305" cy="7645634"/>
          </a:xfrm>
        </p:grpSpPr>
        <p:sp>
          <p:nvSpPr>
            <p:cNvPr id="255" name="Google Shape;255;p33"/>
            <p:cNvSpPr txBox="1"/>
            <p:nvPr/>
          </p:nvSpPr>
          <p:spPr>
            <a:xfrm>
              <a:off x="-629288" y="-66675"/>
              <a:ext cx="6861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Pattern of Authority</a:t>
              </a:r>
              <a:endParaRPr b="1" i="0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6" name="Google Shape;256;p33"/>
            <p:cNvSpPr txBox="1"/>
            <p:nvPr/>
          </p:nvSpPr>
          <p:spPr>
            <a:xfrm>
              <a:off x="-629284" y="929459"/>
              <a:ext cx="10458300" cy="66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Char char="●"/>
              </a:pPr>
              <a:r>
                <a:rPr b="1" i="0" lang="en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Patriarchal: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500">
                  <a:latin typeface="Times New Roman"/>
                  <a:ea typeface="Times New Roman"/>
                  <a:cs typeface="Times New Roman"/>
                  <a:sym typeface="Times New Roman"/>
                </a:rPr>
                <a:t>In a patriarchal system, authority and power are predominantly held by men, shaping societal structures with male leadership in politics, business, and family roles etc.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Char char="●"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Matriarchal: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500">
                  <a:latin typeface="Times New Roman"/>
                  <a:ea typeface="Times New Roman"/>
                  <a:cs typeface="Times New Roman"/>
                  <a:sym typeface="Times New Roman"/>
                </a:rPr>
                <a:t>In a matriarchal system, authority and power are predominantly held by </a:t>
              </a:r>
              <a:endParaRPr sz="15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Times New Roman"/>
                  <a:ea typeface="Times New Roman"/>
                  <a:cs typeface="Times New Roman"/>
                  <a:sym typeface="Times New Roman"/>
                </a:rPr>
                <a:t>     women, with female perspectives shaping societal decisions, often leading to more </a:t>
              </a:r>
              <a:endParaRPr sz="15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Times New Roman"/>
                  <a:ea typeface="Times New Roman"/>
                  <a:cs typeface="Times New Roman"/>
                  <a:sym typeface="Times New Roman"/>
                </a:rPr>
                <a:t>     fluid gender roles .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03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Char char="●"/>
              </a:pPr>
              <a:r>
                <a:rPr b="1" i="0" lang="en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Egalitarian:</a:t>
              </a:r>
              <a:r>
                <a:rPr b="0" i="0" lang="en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 egalitarian society promotes equal authority and decision-</a:t>
              </a:r>
              <a:endParaRPr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making between genders, ensuring both men and women have equal oppor-</a:t>
              </a:r>
              <a:endParaRPr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tunities in different fields and platforms.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7" name="Google Shape;257;p33"/>
          <p:cNvSpPr txBox="1"/>
          <p:nvPr/>
        </p:nvSpPr>
        <p:spPr>
          <a:xfrm>
            <a:off x="514350" y="445200"/>
            <a:ext cx="8115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Residential Patterns, Patterns of Descent, and Patterns of Authority (Cont.)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6541569" y="2417513"/>
            <a:ext cx="4586224" cy="45862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49567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33"/>
          <p:cNvPicPr preferRelativeResize="0"/>
          <p:nvPr/>
        </p:nvPicPr>
        <p:blipFill rotWithShape="1">
          <a:blip r:embed="rId3">
            <a:alphaModFix/>
          </a:blip>
          <a:srcRect b="0" l="2489" r="4270" t="9338"/>
          <a:stretch/>
        </p:blipFill>
        <p:spPr>
          <a:xfrm>
            <a:off x="7369913" y="3338275"/>
            <a:ext cx="1451400" cy="14112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B49567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2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/>
        </p:nvSpPr>
        <p:spPr>
          <a:xfrm>
            <a:off x="542626" y="1121858"/>
            <a:ext cx="28521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Theories of the Family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256" y="3130637"/>
            <a:ext cx="2012850" cy="20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5"/>
          <p:cNvSpPr txBox="1"/>
          <p:nvPr/>
        </p:nvSpPr>
        <p:spPr>
          <a:xfrm>
            <a:off x="3648575" y="75"/>
            <a:ext cx="5495400" cy="5143500"/>
          </a:xfrm>
          <a:prstGeom prst="rect">
            <a:avLst/>
          </a:prstGeom>
          <a:solidFill>
            <a:srgbClr val="B49567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35"/>
          <p:cNvGrpSpPr/>
          <p:nvPr/>
        </p:nvGrpSpPr>
        <p:grpSpPr>
          <a:xfrm>
            <a:off x="3275725" y="415750"/>
            <a:ext cx="5868278" cy="937688"/>
            <a:chOff x="87072" y="374666"/>
            <a:chExt cx="7153819" cy="2500500"/>
          </a:xfrm>
        </p:grpSpPr>
        <p:sp>
          <p:nvSpPr>
            <p:cNvPr id="273" name="Google Shape;273;p35"/>
            <p:cNvSpPr txBox="1"/>
            <p:nvPr/>
          </p:nvSpPr>
          <p:spPr>
            <a:xfrm>
              <a:off x="87072" y="780336"/>
              <a:ext cx="2005800" cy="14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5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1" i="0" lang="en" sz="3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5"/>
            <p:cNvSpPr txBox="1"/>
            <p:nvPr/>
          </p:nvSpPr>
          <p:spPr>
            <a:xfrm>
              <a:off x="1610791" y="374666"/>
              <a:ext cx="5630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Structural-Functionalism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5"/>
            <p:cNvSpPr txBox="1"/>
            <p:nvPr/>
          </p:nvSpPr>
          <p:spPr>
            <a:xfrm>
              <a:off x="1610768" y="1096466"/>
              <a:ext cx="5255700" cy="177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i="0" lang="en" sz="13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Views the family as a social system with specific functions vital for society's survival, such as socializing children and providing emotional support.</a:t>
              </a:r>
              <a:endParaRPr i="0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6" name="Google Shape;276;p35"/>
          <p:cNvSpPr txBox="1"/>
          <p:nvPr/>
        </p:nvSpPr>
        <p:spPr>
          <a:xfrm>
            <a:off x="3833025" y="1468950"/>
            <a:ext cx="4947300" cy="3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Montserrat"/>
                <a:ea typeface="Montserrat"/>
                <a:cs typeface="Montserrat"/>
                <a:sym typeface="Montserrat"/>
              </a:rPr>
              <a:t>Socialization: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Primary setting for child rearing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Parents aid in children's social integration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Montserrat"/>
                <a:ea typeface="Montserrat"/>
                <a:cs typeface="Montserrat"/>
                <a:sym typeface="Montserrat"/>
              </a:rPr>
              <a:t>Regulation of sexual activity: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Cultures regulate sexual activity for kinship and property rights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Montserrat"/>
                <a:ea typeface="Montserrat"/>
                <a:cs typeface="Montserrat"/>
                <a:sym typeface="Montserrat"/>
              </a:rPr>
              <a:t>Social placement: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Parents pass on social identity to children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Montserrat"/>
                <a:ea typeface="Montserrat"/>
                <a:cs typeface="Montserrat"/>
                <a:sym typeface="Montserrat"/>
              </a:rPr>
              <a:t>Material and emotional security: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Family provides physical, emotional, and financial support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Family living associated with happiness, health, and wealth (Goldstein &amp; Kenney, 2001; U.S. Census Bureau, 2010)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/>
        </p:nvSpPr>
        <p:spPr>
          <a:xfrm>
            <a:off x="542626" y="1121858"/>
            <a:ext cx="285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Theories of the Family</a:t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(Cont.)</a:t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256" y="3130637"/>
            <a:ext cx="2012850" cy="20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6"/>
          <p:cNvSpPr txBox="1"/>
          <p:nvPr/>
        </p:nvSpPr>
        <p:spPr>
          <a:xfrm>
            <a:off x="3648575" y="75"/>
            <a:ext cx="5495400" cy="5143500"/>
          </a:xfrm>
          <a:prstGeom prst="rect">
            <a:avLst/>
          </a:prstGeom>
          <a:solidFill>
            <a:srgbClr val="B49567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36"/>
          <p:cNvGrpSpPr/>
          <p:nvPr/>
        </p:nvGrpSpPr>
        <p:grpSpPr>
          <a:xfrm>
            <a:off x="3275725" y="415750"/>
            <a:ext cx="5868278" cy="937688"/>
            <a:chOff x="87072" y="374666"/>
            <a:chExt cx="7153819" cy="2500500"/>
          </a:xfrm>
        </p:grpSpPr>
        <p:sp>
          <p:nvSpPr>
            <p:cNvPr id="285" name="Google Shape;285;p36"/>
            <p:cNvSpPr txBox="1"/>
            <p:nvPr/>
          </p:nvSpPr>
          <p:spPr>
            <a:xfrm>
              <a:off x="87072" y="780336"/>
              <a:ext cx="2005800" cy="14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5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1" i="0" lang="en" sz="3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r>
                <a:rPr b="1" lang="en" sz="3500"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6"/>
            <p:cNvSpPr txBox="1"/>
            <p:nvPr/>
          </p:nvSpPr>
          <p:spPr>
            <a:xfrm>
              <a:off x="1610791" y="374666"/>
              <a:ext cx="5630100" cy="15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b="1" lang="en" sz="15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Conflict Theory</a:t>
              </a:r>
              <a:endParaRPr sz="700">
                <a:solidFill>
                  <a:schemeClr val="dk1"/>
                </a:solidFill>
              </a:endParaRPr>
            </a:p>
            <a:p>
              <a:pPr indent="0" lvl="1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7" name="Google Shape;287;p36"/>
            <p:cNvSpPr txBox="1"/>
            <p:nvPr/>
          </p:nvSpPr>
          <p:spPr>
            <a:xfrm>
              <a:off x="1610768" y="1096466"/>
              <a:ext cx="5255700" cy="177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Emphasizes the family as a site of conflict over values, power, and resources, reflecting broader societal inequalities.</a:t>
              </a:r>
              <a:endPara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88" name="Google Shape;288;p36"/>
          <p:cNvSpPr txBox="1"/>
          <p:nvPr/>
        </p:nvSpPr>
        <p:spPr>
          <a:xfrm>
            <a:off x="3833025" y="1468950"/>
            <a:ext cx="4947300" cy="3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Property and inheritance: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traced to men's need to identify heirs, especially in higher classes (Friedrich Engels (1902, orig. 1884)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Families concentrate wealth and reproduce class structure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Patriarchy: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 linked to patriarchy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 control women's sexuality to identify heirs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Women become the sexual and economic property of men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Race and ethnicity: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Racial and ethnic categories persist due to endogamous marriage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Endogamy supports racial and ethnic hierarchies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2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/>
          <p:nvPr/>
        </p:nvSpPr>
        <p:spPr>
          <a:xfrm>
            <a:off x="542626" y="1121858"/>
            <a:ext cx="285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Theories of the Family</a:t>
            </a:r>
            <a:endParaRPr b="1" i="0" sz="4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(Cont.)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256" y="3130637"/>
            <a:ext cx="2012850" cy="20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/>
        </p:nvSpPr>
        <p:spPr>
          <a:xfrm>
            <a:off x="3648575" y="75"/>
            <a:ext cx="5495400" cy="5143500"/>
          </a:xfrm>
          <a:prstGeom prst="rect">
            <a:avLst/>
          </a:prstGeom>
          <a:solidFill>
            <a:srgbClr val="B49567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37"/>
          <p:cNvGrpSpPr/>
          <p:nvPr/>
        </p:nvGrpSpPr>
        <p:grpSpPr>
          <a:xfrm>
            <a:off x="3275725" y="415750"/>
            <a:ext cx="5868278" cy="937688"/>
            <a:chOff x="87072" y="374666"/>
            <a:chExt cx="7153819" cy="2500500"/>
          </a:xfrm>
        </p:grpSpPr>
        <p:sp>
          <p:nvSpPr>
            <p:cNvPr id="297" name="Google Shape;297;p37"/>
            <p:cNvSpPr txBox="1"/>
            <p:nvPr/>
          </p:nvSpPr>
          <p:spPr>
            <a:xfrm>
              <a:off x="87072" y="780336"/>
              <a:ext cx="2005800" cy="14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5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1" i="0" lang="en" sz="3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r>
                <a:rPr b="1" lang="en" sz="3500"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7"/>
            <p:cNvSpPr txBox="1"/>
            <p:nvPr/>
          </p:nvSpPr>
          <p:spPr>
            <a:xfrm>
              <a:off x="1610791" y="374666"/>
              <a:ext cx="5630100" cy="15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b="1" lang="en" sz="15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Symbolic Interactionism</a:t>
              </a:r>
              <a:endParaRPr b="1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1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9" name="Google Shape;299;p37"/>
            <p:cNvSpPr txBox="1"/>
            <p:nvPr/>
          </p:nvSpPr>
          <p:spPr>
            <a:xfrm>
              <a:off x="1610768" y="1096466"/>
              <a:ext cx="5255700" cy="177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Focuses on interpersonal relationships within the family, analyzing how family members communicate and build a shared reality.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0" name="Google Shape;300;p37"/>
          <p:cNvSpPr txBox="1"/>
          <p:nvPr/>
        </p:nvSpPr>
        <p:spPr>
          <a:xfrm>
            <a:off x="3833025" y="1468950"/>
            <a:ext cx="4947300" cy="3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Symbolic-Interaction Approach: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 living as an opportunity for intimacy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Intimacy involves sharing activities and building emotional bonds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Parents as authority figures may limit closeness with younger children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Social-Exchange Approach: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Courtship and marriage seen as negotiation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Dating allows assessing advantages and disadvantages of potential spouse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"shop around" for partners to make the best "deal" (Macionis, 1978).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Traditionally, men bring wealth and power, women bring beauty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8"/>
          <p:cNvSpPr txBox="1"/>
          <p:nvPr/>
        </p:nvSpPr>
        <p:spPr>
          <a:xfrm>
            <a:off x="1346200" y="3340100"/>
            <a:ext cx="6477000" cy="1231800"/>
          </a:xfrm>
          <a:prstGeom prst="rect">
            <a:avLst/>
          </a:prstGeom>
          <a:solidFill>
            <a:srgbClr val="312F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Courtship is a social ritual that combines individual choice with social norms, shaping the foundation of future relationships. - </a:t>
            </a:r>
            <a:r>
              <a:rPr b="1"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Erving Goffman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/>
          <p:nvPr/>
        </p:nvSpPr>
        <p:spPr>
          <a:xfrm>
            <a:off x="6449637" y="-2262550"/>
            <a:ext cx="4586224" cy="45862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B232A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831850" y="739525"/>
            <a:ext cx="4763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30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Stages of Family Life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831850" y="1352550"/>
            <a:ext cx="76674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Concept of Courtship: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Arranged Marriage: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 facilitated by family or matchmakers, focusing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compatibility in social status, economic factors, and sometimes love development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post-marriage.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Romantic Love: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 that begin based on emotional attachments and personal choice, emphasizing dating and personal connection before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commitment.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Settling in: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Ideal Marriage: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 envisioned as a harmonious partnership with shared responsibilities, strong emotional bonds, and mutual support.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Real Marriage: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challenges like managing finances, household duties, and external pressures can strain the marital bond, necessitating strong communication and conflict resolution skills.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8575" y="249350"/>
            <a:ext cx="1744800" cy="1744800"/>
          </a:xfrm>
          <a:prstGeom prst="flowChartOffpageConnector">
            <a:avLst/>
          </a:prstGeom>
          <a:solidFill>
            <a:srgbClr val="1B232A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/>
          <p:nvPr/>
        </p:nvSpPr>
        <p:spPr>
          <a:xfrm>
            <a:off x="7217525" y="279144"/>
            <a:ext cx="4586224" cy="45862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B232A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831850" y="1350775"/>
            <a:ext cx="68151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Child Rearing: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Parenting Styles: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 the effects of authoritative, permissive, and authori-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tarian parenting on child development.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Challenges: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challenges such as digital exposure, balancing work and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home life, and maintaining cultural traditions.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Family in Later Life: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Role Reversals: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Adult children often become caretakers for their aging parents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impacting family dynamics and responsibilities.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Retirement: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Transitioning to retirement can affect family structures and support systems, with a focus on adapting to changes in daily routines and financial status.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831850" y="739525"/>
            <a:ext cx="57039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30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Stages of Family Life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7850" y="1830675"/>
            <a:ext cx="1630013" cy="163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/>
          <p:nvPr/>
        </p:nvSpPr>
        <p:spPr>
          <a:xfrm>
            <a:off x="-2133600" y="4095750"/>
            <a:ext cx="4585080" cy="458508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B232A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6691825" y="-1848375"/>
            <a:ext cx="4585208" cy="458520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B232A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831850" y="1352325"/>
            <a:ext cx="75234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Death of a Spouse: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Grief Process: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stages of grief including denial, anger, bargaining,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depression, and acceptance. Important for understanding individual responses and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 during bereavement.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Adjustment: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adjustments like financial management, living arrangements, and re-entering social life can be significant challenges.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 Systems: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role of family, friends, and professional counseling in aiding the surviving spouse through this transition.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831850" y="739525"/>
            <a:ext cx="5447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30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Stages of Family Life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325963"/>
            <a:ext cx="1835100" cy="1835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1B232A"/>
          </a:solidFill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43"/>
          <p:cNvGrpSpPr/>
          <p:nvPr/>
        </p:nvGrpSpPr>
        <p:grpSpPr>
          <a:xfrm>
            <a:off x="-2559793" y="-1055923"/>
            <a:ext cx="4585086" cy="4585086"/>
            <a:chOff x="0" y="0"/>
            <a:chExt cx="812800" cy="812800"/>
          </a:xfrm>
        </p:grpSpPr>
        <p:sp>
          <p:nvSpPr>
            <p:cNvPr id="345" name="Google Shape;345;p4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232A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43"/>
            <p:cNvSpPr txBox="1"/>
            <p:nvPr/>
          </p:nvSpPr>
          <p:spPr>
            <a:xfrm>
              <a:off x="76200" y="40818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43"/>
          <p:cNvSpPr txBox="1"/>
          <p:nvPr/>
        </p:nvSpPr>
        <p:spPr>
          <a:xfrm>
            <a:off x="2566875" y="397500"/>
            <a:ext cx="603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Transitions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&amp;</a:t>
            </a:r>
            <a:r>
              <a:rPr b="1" i="0" lang="en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Problems in Family Life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43"/>
          <p:cNvSpPr txBox="1"/>
          <p:nvPr/>
        </p:nvSpPr>
        <p:spPr>
          <a:xfrm>
            <a:off x="2104663" y="1009825"/>
            <a:ext cx="6721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Divorce is the legal dissolution of a marriage by a court or other competent body. It marks the formal end of a marital union, terminating the marital bonds and responsibilities between the parties involved under the rule of law of the country or state.</a:t>
            </a:r>
            <a:endParaRPr b="0" i="0" sz="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Reasons for Divorce:</a:t>
            </a:r>
            <a:endParaRPr b="1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Individualism is on the rise 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Today’s family members spend less time together. We have become more individualistic.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Romantic love fades 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people end a marriage in favor of a new relationship that promises renewed excitement and romance.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Women are less dependent on men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Women’s increasing participation in the labor force has reduced wives’ financial dependence on husbands.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Many of today’s marriages are stressful 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both partners working outside the home in most cases, jobs leave less time and energy for family life. This makes raising children harder than ever.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ivorce has become socially acceptable 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Divorce no longer carries the powerful stigma it did several generations ago.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Incompatibility:</a:t>
            </a: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 time, couples may find their values, interests, or life goals have diverged too significantly to reconcile.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75" y="621919"/>
            <a:ext cx="1493975" cy="14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/>
        </p:nvSpPr>
        <p:spPr>
          <a:xfrm>
            <a:off x="0" y="535350"/>
            <a:ext cx="914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Domestic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Violence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 Prevention and Protection) Bill 2020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5" name="Google Shape;3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4500"/>
            <a:ext cx="8839200" cy="2351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45"/>
          <p:cNvGrpSpPr/>
          <p:nvPr/>
        </p:nvGrpSpPr>
        <p:grpSpPr>
          <a:xfrm>
            <a:off x="7223788" y="2533823"/>
            <a:ext cx="4585086" cy="4585086"/>
            <a:chOff x="0" y="0"/>
            <a:chExt cx="812800" cy="812800"/>
          </a:xfrm>
        </p:grpSpPr>
        <p:sp>
          <p:nvSpPr>
            <p:cNvPr id="361" name="Google Shape;361;p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232A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p45"/>
          <p:cNvSpPr txBox="1"/>
          <p:nvPr/>
        </p:nvSpPr>
        <p:spPr>
          <a:xfrm>
            <a:off x="900975" y="1250625"/>
            <a:ext cx="7342200" cy="30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Family Violence: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Violence Against Women: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domestic violence, coercive control, and marital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rape, highlighting the need for legal protections and support services.</a:t>
            </a:r>
            <a:endParaRPr sz="1500">
              <a:solidFill>
                <a:schemeClr val="dk1"/>
              </a:solidFill>
            </a:endParaRPr>
          </a:p>
          <a:p>
            <a:pPr indent="-2032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Violence Against Children: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Covers physical abuse, emotional maltreatment, and neglect, emphasizing the importance of protective services and therapeutic interventions.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Remarriage and Blended Families:</a:t>
            </a:r>
            <a:endParaRPr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Remarriage:</a:t>
            </a: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act of marrying again after a divorce or death of a spouse, often bringing together children from previous relationships.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Blended Families: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Families formed by remarriage that include step-parents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step-siblings. Challenges include navigating relationships, bonding, and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establishing roles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ithin the new family structure.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831850" y="739525"/>
            <a:ext cx="7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Transitions and Problems in Family Life</a:t>
            </a:r>
            <a:endParaRPr b="1"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5" name="Google Shape;36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7988" y="3516688"/>
            <a:ext cx="1391475" cy="13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/>
          <p:nvPr/>
        </p:nvSpPr>
        <p:spPr>
          <a:xfrm>
            <a:off x="-2292540" y="4324350"/>
            <a:ext cx="4585080" cy="458508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B232A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6"/>
          <p:cNvSpPr/>
          <p:nvPr/>
        </p:nvSpPr>
        <p:spPr>
          <a:xfrm>
            <a:off x="7010400" y="-2990850"/>
            <a:ext cx="4585080" cy="458508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B232A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6"/>
          <p:cNvSpPr txBox="1"/>
          <p:nvPr/>
        </p:nvSpPr>
        <p:spPr>
          <a:xfrm>
            <a:off x="952500" y="1352550"/>
            <a:ext cx="77553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Cohabitation: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Couples who live together without being legally married, often as a precursor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marriage or as a long-term alternative.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Adoptive Families: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Families that have legally adopted one or more children, Adoption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a process of legally assuming parental rights and responsibilities.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Foster Families: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Families which provide temporary care for children whose biological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parents are unable to care for them.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Childfree Families:</a:t>
            </a:r>
            <a:r>
              <a:rPr b="1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Couples or individuals who choose not to have children, discussing societal perceptions, reasons for this choice, and implications on personal and professional life.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Single-Parent Families: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Single-parent families are led by a single parent, often due to 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divorce, separation, or choice. These families face unique challenges and rely on societa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 txBox="1"/>
          <p:nvPr/>
        </p:nvSpPr>
        <p:spPr>
          <a:xfrm>
            <a:off x="831850" y="739525"/>
            <a:ext cx="57801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1" i="0" lang="en" sz="30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Alternative Family Forms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0200"/>
            <a:ext cx="9143999" cy="363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7"/>
          <p:cNvSpPr txBox="1"/>
          <p:nvPr/>
        </p:nvSpPr>
        <p:spPr>
          <a:xfrm>
            <a:off x="0" y="0"/>
            <a:ext cx="9144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Pakistan Birth Rate 1950-2024</a:t>
            </a:r>
            <a:r>
              <a:rPr lang="en" sz="1050">
                <a:solidFill>
                  <a:srgbClr val="337AB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47"/>
          <p:cNvPicPr preferRelativeResize="0"/>
          <p:nvPr/>
        </p:nvPicPr>
        <p:blipFill rotWithShape="1">
          <a:blip r:embed="rId4">
            <a:alphaModFix/>
          </a:blip>
          <a:srcRect b="13766" l="0" r="0" t="10089"/>
          <a:stretch/>
        </p:blipFill>
        <p:spPr>
          <a:xfrm>
            <a:off x="0" y="4031750"/>
            <a:ext cx="9144001" cy="11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48"/>
          <p:cNvGrpSpPr/>
          <p:nvPr/>
        </p:nvGrpSpPr>
        <p:grpSpPr>
          <a:xfrm>
            <a:off x="4830175" y="683314"/>
            <a:ext cx="3756213" cy="3706961"/>
            <a:chOff x="0" y="-38100"/>
            <a:chExt cx="2469893" cy="2859427"/>
          </a:xfrm>
        </p:grpSpPr>
        <p:sp>
          <p:nvSpPr>
            <p:cNvPr id="387" name="Google Shape;387;p48"/>
            <p:cNvSpPr/>
            <p:nvPr/>
          </p:nvSpPr>
          <p:spPr>
            <a:xfrm>
              <a:off x="0" y="0"/>
              <a:ext cx="2469893" cy="2821327"/>
            </a:xfrm>
            <a:custGeom>
              <a:rect b="b" l="l" r="r" t="t"/>
              <a:pathLst>
                <a:path extrusionOk="0" h="2821327" w="2469893">
                  <a:moveTo>
                    <a:pt x="0" y="0"/>
                  </a:moveTo>
                  <a:lnTo>
                    <a:pt x="2469893" y="0"/>
                  </a:lnTo>
                  <a:lnTo>
                    <a:pt x="2469893" y="2821327"/>
                  </a:lnTo>
                  <a:lnTo>
                    <a:pt x="0" y="2821327"/>
                  </a:lnTo>
                  <a:close/>
                </a:path>
              </a:pathLst>
            </a:custGeom>
            <a:solidFill>
              <a:srgbClr val="1B232A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48"/>
            <p:cNvSpPr txBox="1"/>
            <p:nvPr/>
          </p:nvSpPr>
          <p:spPr>
            <a:xfrm>
              <a:off x="0" y="-38100"/>
              <a:ext cx="2006400" cy="23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48"/>
          <p:cNvSpPr txBox="1"/>
          <p:nvPr/>
        </p:nvSpPr>
        <p:spPr>
          <a:xfrm>
            <a:off x="5086350" y="1022125"/>
            <a:ext cx="3086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Surrogacy:</a:t>
            </a:r>
            <a:r>
              <a:rPr b="0" i="0" lang="e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Surrogacy is an agreement where a woman carries and delivers a child for another person or couple.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8"/>
          <p:cNvSpPr txBox="1"/>
          <p:nvPr/>
        </p:nvSpPr>
        <p:spPr>
          <a:xfrm>
            <a:off x="5105400" y="1726050"/>
            <a:ext cx="3048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Sperm and Egg Donation:</a:t>
            </a:r>
            <a:r>
              <a:rPr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involves donating sperm or eggs to help another individual or couple conceive a child.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8"/>
          <p:cNvSpPr txBox="1"/>
          <p:nvPr/>
        </p:nvSpPr>
        <p:spPr>
          <a:xfrm>
            <a:off x="5406525" y="3754550"/>
            <a:ext cx="350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3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Other Reproductive Technologies</a:t>
            </a:r>
            <a:endParaRPr i="0" sz="4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5098025" y="2486050"/>
            <a:ext cx="36033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process involves complex legal agreements </a:t>
            </a:r>
            <a:endParaRPr b="0" i="0" sz="1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can raise emotional and ethical</a:t>
            </a: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considera-</a:t>
            </a:r>
            <a:endParaRPr b="0" i="0" sz="1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tions regarding the surrogate’s relationship with </a:t>
            </a:r>
            <a:endParaRPr b="0" i="0" sz="1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child, the rights of children conceived through donation to know their biological origins.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8"/>
          <p:cNvSpPr/>
          <p:nvPr/>
        </p:nvSpPr>
        <p:spPr>
          <a:xfrm rot="10800000">
            <a:off x="5086275" y="3733575"/>
            <a:ext cx="257100" cy="6558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48"/>
          <p:cNvCxnSpPr/>
          <p:nvPr/>
        </p:nvCxnSpPr>
        <p:spPr>
          <a:xfrm>
            <a:off x="5116621" y="1683288"/>
            <a:ext cx="3183300" cy="9000"/>
          </a:xfrm>
          <a:prstGeom prst="straightConnector1">
            <a:avLst/>
          </a:prstGeom>
          <a:noFill/>
          <a:ln cap="rnd" cmpd="sng" w="38100">
            <a:solidFill>
              <a:srgbClr val="FFC2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48"/>
          <p:cNvCxnSpPr/>
          <p:nvPr/>
        </p:nvCxnSpPr>
        <p:spPr>
          <a:xfrm>
            <a:off x="5098033" y="2429975"/>
            <a:ext cx="3220500" cy="4200"/>
          </a:xfrm>
          <a:prstGeom prst="straightConnector1">
            <a:avLst/>
          </a:prstGeom>
          <a:noFill/>
          <a:ln cap="rnd" cmpd="sng" w="38100">
            <a:solidFill>
              <a:srgbClr val="FFC25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6" name="Google Shape;396;p48"/>
          <p:cNvGrpSpPr/>
          <p:nvPr/>
        </p:nvGrpSpPr>
        <p:grpSpPr>
          <a:xfrm>
            <a:off x="827425" y="104723"/>
            <a:ext cx="3652286" cy="4305853"/>
            <a:chOff x="0" y="-142875"/>
            <a:chExt cx="798000" cy="940800"/>
          </a:xfrm>
        </p:grpSpPr>
        <p:sp>
          <p:nvSpPr>
            <p:cNvPr id="397" name="Google Shape;397;p48"/>
            <p:cNvSpPr/>
            <p:nvPr/>
          </p:nvSpPr>
          <p:spPr>
            <a:xfrm>
              <a:off x="0" y="0"/>
              <a:ext cx="797874" cy="797874"/>
            </a:xfrm>
            <a:custGeom>
              <a:rect b="b" l="l" r="r" t="t"/>
              <a:pathLst>
                <a:path extrusionOk="0" h="797874" w="797874">
                  <a:moveTo>
                    <a:pt x="0" y="0"/>
                  </a:moveTo>
                  <a:lnTo>
                    <a:pt x="797874" y="0"/>
                  </a:lnTo>
                  <a:lnTo>
                    <a:pt x="797874" y="797874"/>
                  </a:lnTo>
                  <a:lnTo>
                    <a:pt x="0" y="797874"/>
                  </a:lnTo>
                  <a:close/>
                </a:path>
              </a:pathLst>
            </a:custGeom>
            <a:solidFill>
              <a:srgbClr val="FFC259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48"/>
            <p:cNvSpPr txBox="1"/>
            <p:nvPr/>
          </p:nvSpPr>
          <p:spPr>
            <a:xfrm>
              <a:off x="0" y="-142875"/>
              <a:ext cx="798000" cy="94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9" name="Google Shape;399;p48"/>
          <p:cNvCxnSpPr/>
          <p:nvPr/>
        </p:nvCxnSpPr>
        <p:spPr>
          <a:xfrm>
            <a:off x="5098014" y="3586775"/>
            <a:ext cx="3220500" cy="4200"/>
          </a:xfrm>
          <a:prstGeom prst="straightConnector1">
            <a:avLst/>
          </a:prstGeom>
          <a:noFill/>
          <a:ln cap="rnd" cmpd="sng" w="38100">
            <a:solidFill>
              <a:srgbClr val="FFC2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48"/>
          <p:cNvSpPr txBox="1"/>
          <p:nvPr/>
        </p:nvSpPr>
        <p:spPr>
          <a:xfrm>
            <a:off x="1056325" y="1634900"/>
            <a:ext cx="330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Montserrat"/>
                <a:ea typeface="Montserrat"/>
                <a:cs typeface="Montserrat"/>
                <a:sym typeface="Montserrat"/>
              </a:rPr>
              <a:t>Pakistan Journal of Public Health study: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48"/>
          <p:cNvSpPr txBox="1"/>
          <p:nvPr/>
        </p:nvSpPr>
        <p:spPr>
          <a:xfrm>
            <a:off x="827450" y="1794575"/>
            <a:ext cx="36522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21% of couples in Pakistan face infertility.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Male contribute to 37% of cases.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Female contribute to 51% of cases.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genders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contribute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12% of cases.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48"/>
          <p:cNvSpPr txBox="1"/>
          <p:nvPr/>
        </p:nvSpPr>
        <p:spPr>
          <a:xfrm>
            <a:off x="929425" y="979763"/>
            <a:ext cx="292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 Tube Baby</a:t>
            </a:r>
            <a:endParaRPr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(In Vitro Fertilization - IVF)</a:t>
            </a:r>
            <a:endParaRPr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48"/>
          <p:cNvSpPr txBox="1"/>
          <p:nvPr/>
        </p:nvSpPr>
        <p:spPr>
          <a:xfrm>
            <a:off x="1031450" y="2843963"/>
            <a:ext cx="32442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Definition:</a:t>
            </a: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IVF is a medical procedure where an egg and sperm are combined outside the body to create an embryo, which is then implanted in the uterus.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48"/>
          <p:cNvCxnSpPr/>
          <p:nvPr/>
        </p:nvCxnSpPr>
        <p:spPr>
          <a:xfrm>
            <a:off x="1026450" y="2774575"/>
            <a:ext cx="31995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48"/>
          <p:cNvCxnSpPr/>
          <p:nvPr/>
        </p:nvCxnSpPr>
        <p:spPr>
          <a:xfrm>
            <a:off x="978074" y="4113649"/>
            <a:ext cx="3257100" cy="36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48"/>
          <p:cNvSpPr txBox="1"/>
          <p:nvPr/>
        </p:nvSpPr>
        <p:spPr>
          <a:xfrm>
            <a:off x="827425" y="3707150"/>
            <a:ext cx="3124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and Ethical Implications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 Aspects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48"/>
          <p:cNvSpPr/>
          <p:nvPr/>
        </p:nvSpPr>
        <p:spPr>
          <a:xfrm rot="10800000">
            <a:off x="3951925" y="757175"/>
            <a:ext cx="257100" cy="715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2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48"/>
          <p:cNvCxnSpPr/>
          <p:nvPr/>
        </p:nvCxnSpPr>
        <p:spPr>
          <a:xfrm>
            <a:off x="1014850" y="3665225"/>
            <a:ext cx="3215400" cy="21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49"/>
          <p:cNvGrpSpPr/>
          <p:nvPr/>
        </p:nvGrpSpPr>
        <p:grpSpPr>
          <a:xfrm>
            <a:off x="-2777406" y="-1829631"/>
            <a:ext cx="4585080" cy="4585080"/>
            <a:chOff x="0" y="0"/>
            <a:chExt cx="812800" cy="812800"/>
          </a:xfrm>
        </p:grpSpPr>
        <p:sp>
          <p:nvSpPr>
            <p:cNvPr id="414" name="Google Shape;414;p4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40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49"/>
          <p:cNvGrpSpPr/>
          <p:nvPr/>
        </p:nvGrpSpPr>
        <p:grpSpPr>
          <a:xfrm>
            <a:off x="7706968" y="2201696"/>
            <a:ext cx="4585080" cy="4585080"/>
            <a:chOff x="0" y="0"/>
            <a:chExt cx="812800" cy="812800"/>
          </a:xfrm>
        </p:grpSpPr>
        <p:sp>
          <p:nvSpPr>
            <p:cNvPr id="417" name="Google Shape;417;p4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40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9" name="Google Shape;419;p49"/>
          <p:cNvSpPr txBox="1"/>
          <p:nvPr/>
        </p:nvSpPr>
        <p:spPr>
          <a:xfrm>
            <a:off x="3973802" y="1763550"/>
            <a:ext cx="5107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" sz="3700" u="none" cap="none" strike="noStrike">
                <a:solidFill>
                  <a:srgbClr val="B49567"/>
                </a:solidFill>
                <a:latin typeface="Montserrat"/>
                <a:ea typeface="Montserrat"/>
                <a:cs typeface="Montserrat"/>
                <a:sym typeface="Montserrat"/>
              </a:rPr>
              <a:t>End of Presentation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49"/>
          <p:cNvSpPr txBox="1"/>
          <p:nvPr/>
        </p:nvSpPr>
        <p:spPr>
          <a:xfrm>
            <a:off x="3973791" y="2571750"/>
            <a:ext cx="3215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" sz="3700" u="none" cap="none" strike="noStrike">
                <a:solidFill>
                  <a:srgbClr val="1B232A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1" name="Google Shape;421;p49"/>
          <p:cNvCxnSpPr/>
          <p:nvPr/>
        </p:nvCxnSpPr>
        <p:spPr>
          <a:xfrm>
            <a:off x="6862891" y="2830949"/>
            <a:ext cx="1157400" cy="0"/>
          </a:xfrm>
          <a:prstGeom prst="straightConnector1">
            <a:avLst/>
          </a:prstGeom>
          <a:noFill/>
          <a:ln cap="flat" cmpd="sng" w="47625">
            <a:solidFill>
              <a:srgbClr val="1B232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2" name="Google Shape;422;p49"/>
          <p:cNvGrpSpPr/>
          <p:nvPr/>
        </p:nvGrpSpPr>
        <p:grpSpPr>
          <a:xfrm>
            <a:off x="3842432" y="3341648"/>
            <a:ext cx="729568" cy="729568"/>
            <a:chOff x="0" y="0"/>
            <a:chExt cx="812800" cy="812800"/>
          </a:xfrm>
        </p:grpSpPr>
        <p:sp>
          <p:nvSpPr>
            <p:cNvPr id="423" name="Google Shape;423;p4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232A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25" name="Google Shape;425;p49"/>
          <p:cNvCxnSpPr/>
          <p:nvPr/>
        </p:nvCxnSpPr>
        <p:spPr>
          <a:xfrm>
            <a:off x="3531352" y="804424"/>
            <a:ext cx="3954129" cy="0"/>
          </a:xfrm>
          <a:prstGeom prst="straightConnector1">
            <a:avLst/>
          </a:prstGeom>
          <a:noFill/>
          <a:ln cap="flat" cmpd="sng" w="47625">
            <a:solidFill>
              <a:srgbClr val="B4956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26" name="Google Shape;426;p49"/>
          <p:cNvSpPr/>
          <p:nvPr/>
        </p:nvSpPr>
        <p:spPr>
          <a:xfrm>
            <a:off x="7706968" y="462908"/>
            <a:ext cx="730656" cy="730656"/>
          </a:xfrm>
          <a:custGeom>
            <a:rect b="b" l="l" r="r" t="t"/>
            <a:pathLst>
              <a:path extrusionOk="0" h="1461312" w="1461312">
                <a:moveTo>
                  <a:pt x="0" y="0"/>
                </a:moveTo>
                <a:lnTo>
                  <a:pt x="1461311" y="0"/>
                </a:lnTo>
                <a:lnTo>
                  <a:pt x="1461311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49"/>
          <p:cNvPicPr preferRelativeResize="0"/>
          <p:nvPr/>
        </p:nvPicPr>
        <p:blipFill rotWithShape="1">
          <a:blip r:embed="rId4">
            <a:alphaModFix/>
          </a:blip>
          <a:srcRect b="0" l="6226" r="0" t="26524"/>
          <a:stretch/>
        </p:blipFill>
        <p:spPr>
          <a:xfrm>
            <a:off x="627025" y="682200"/>
            <a:ext cx="3215400" cy="3779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8" name="Google Shape;428;p49"/>
          <p:cNvSpPr/>
          <p:nvPr/>
        </p:nvSpPr>
        <p:spPr>
          <a:xfrm>
            <a:off x="706376" y="3706432"/>
            <a:ext cx="730656" cy="730656"/>
          </a:xfrm>
          <a:custGeom>
            <a:rect b="b" l="l" r="r" t="t"/>
            <a:pathLst>
              <a:path extrusionOk="0" h="1461312" w="1461312">
                <a:moveTo>
                  <a:pt x="0" y="0"/>
                </a:moveTo>
                <a:lnTo>
                  <a:pt x="1461311" y="0"/>
                </a:lnTo>
                <a:lnTo>
                  <a:pt x="1461311" y="1461312"/>
                </a:lnTo>
                <a:lnTo>
                  <a:pt x="0" y="1461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