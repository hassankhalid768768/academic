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0" r:id="rId1"/>
  </p:sldMasterIdLst>
  <p:notesMasterIdLst>
    <p:notesMasterId r:id="rId28"/>
  </p:notesMasterIdLst>
  <p:handoutMasterIdLst>
    <p:handoutMasterId r:id="rId29"/>
  </p:handoutMasterIdLst>
  <p:sldIdLst>
    <p:sldId id="256" r:id="rId2"/>
    <p:sldId id="257" r:id="rId3"/>
    <p:sldId id="291" r:id="rId4"/>
    <p:sldId id="258" r:id="rId5"/>
    <p:sldId id="259" r:id="rId6"/>
    <p:sldId id="260" r:id="rId7"/>
    <p:sldId id="262" r:id="rId8"/>
    <p:sldId id="297" r:id="rId9"/>
    <p:sldId id="296" r:id="rId10"/>
    <p:sldId id="313" r:id="rId11"/>
    <p:sldId id="301" r:id="rId12"/>
    <p:sldId id="294" r:id="rId13"/>
    <p:sldId id="298" r:id="rId14"/>
    <p:sldId id="266" r:id="rId15"/>
    <p:sldId id="290" r:id="rId16"/>
    <p:sldId id="308" r:id="rId17"/>
    <p:sldId id="303" r:id="rId18"/>
    <p:sldId id="264" r:id="rId19"/>
    <p:sldId id="302" r:id="rId20"/>
    <p:sldId id="286" r:id="rId21"/>
    <p:sldId id="295" r:id="rId22"/>
    <p:sldId id="304" r:id="rId23"/>
    <p:sldId id="299" r:id="rId24"/>
    <p:sldId id="310" r:id="rId25"/>
    <p:sldId id="306" r:id="rId26"/>
    <p:sldId id="293" r:id="rId27"/>
  </p:sldIdLst>
  <p:sldSz cx="9144000" cy="6858000" type="screen4x3"/>
  <p:notesSz cx="6818313" cy="9128125"/>
  <p:embeddedFontLst>
    <p:embeddedFont>
      <p:font typeface="Times" pitchFamily="2" charset="0"/>
      <p:regular r:id="rId30"/>
      <p:bold r:id="rId31"/>
      <p:italic r:id="rId32"/>
      <p:boldItalic r:id="rId33"/>
    </p:embeddedFont>
  </p:embeddedFontLst>
  <p:custDataLst>
    <p:tags r:id="rId34"/>
  </p:custDataLst>
  <p:defaultTextStyle>
    <a:defPPr>
      <a:defRPr lang="en-US"/>
    </a:defPPr>
    <a:lvl1pPr marL="0" indent="0" algn="l" defTabSz="914400" rtl="0" eaLnBrk="1" fontAlgn="base" hangingPunct="1">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5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50" autoAdjust="0"/>
    <p:restoredTop sz="90944"/>
  </p:normalViewPr>
  <p:slideViewPr>
    <p:cSldViewPr>
      <p:cViewPr varScale="1">
        <p:scale>
          <a:sx n="103" d="100"/>
          <a:sy n="103" d="100"/>
        </p:scale>
        <p:origin x="1560" y="168"/>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4097"/>
          <p:cNvSpPr/>
          <p:nvPr/>
        </p:nvSpPr>
        <p:spPr>
          <a:xfrm>
            <a:off x="765175" y="8715375"/>
            <a:ext cx="5280025" cy="152400"/>
          </a:xfrm>
          <a:prstGeom prst="rect">
            <a:avLst/>
          </a:prstGeom>
          <a:noFill/>
          <a:ln>
            <a:noFill/>
            <a:miter lim="800000"/>
          </a:ln>
          <a:effectLst/>
        </p:spPr>
        <p:txBody>
          <a:bodyPr lIns="0" tIns="0" rIns="0" bIns="0">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algn="ctr" defTabSz="941388" eaLnBrk="0" hangingPunct="0">
              <a:spcBef>
                <a:spcPct val="50000"/>
              </a:spcBef>
            </a:pPr>
            <a:r>
              <a:rPr sz="1000" b="1">
                <a:latin typeface="Arial" pitchFamily="34" charset="0"/>
              </a:rPr>
              <a:t>&lt;Course name&gt; &lt;Lesson number&gt;</a:t>
            </a:r>
            <a:r>
              <a:rPr sz="1000" b="1"/>
              <a:t>-</a:t>
            </a:r>
            <a:fld id="{485A041B-BDE0-40E7-9A18-19FC9EC73AD5}" type="slidenum">
              <a:rPr sz="1000" b="1">
                <a:latin typeface="Arial" pitchFamily="34" charset="0"/>
              </a:rPr>
              <a:t>‹#›</a:t>
            </a:fld>
            <a:endParaRPr sz="1000" b="1">
              <a:latin typeface="Arial"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Slide Image Placeholder 2049"/>
          <p:cNvSpPr>
            <a:spLocks noGrp="1" noRot="1" noChangeAspect="1" noTextEdit="1"/>
          </p:cNvSpPr>
          <p:nvPr>
            <p:ph type="sldImg" idx="2"/>
          </p:nvPr>
        </p:nvSpPr>
        <p:spPr>
          <a:xfrm>
            <a:off x="466725" y="152400"/>
            <a:ext cx="5880100" cy="4406900"/>
          </a:xfrm>
          <a:prstGeom prst="rect">
            <a:avLst/>
          </a:prstGeom>
          <a:noFill/>
          <a:ln w="12700">
            <a:solidFill>
              <a:schemeClr val="tx1"/>
            </a:solidFill>
            <a:miter lim="800000"/>
          </a:ln>
          <a:effectLst/>
        </p:spPr>
      </p:sp>
      <p:sp>
        <p:nvSpPr>
          <p:cNvPr id="2051" name="Notes Placeholder 2050"/>
          <p:cNvSpPr>
            <a:spLocks noGrp="1"/>
          </p:cNvSpPr>
          <p:nvPr>
            <p:ph type="body" sz="quarter" idx="3"/>
          </p:nvPr>
        </p:nvSpPr>
        <p:spPr>
          <a:xfrm>
            <a:off x="409575" y="4765675"/>
            <a:ext cx="5995988" cy="3749675"/>
          </a:xfrm>
          <a:prstGeom prst="rect">
            <a:avLst/>
          </a:prstGeom>
          <a:noFill/>
          <a:ln>
            <a:noFill/>
            <a:miter lim="800000"/>
          </a:ln>
          <a:effectLst/>
        </p:spPr>
        <p:txBody>
          <a:bodyPr lIns="90488" tIns="44450" rIns="90488" bIns="4445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r>
              <a:t>Heading (Level 1) Arial 11pt Bold</a:t>
            </a:r>
          </a:p>
          <a:p>
            <a:pPr lvl="1"/>
            <a:r>
              <a:t>Body Text (Level 2) Times New Roman 11pt</a:t>
            </a:r>
          </a:p>
          <a:p>
            <a:pPr lvl="2"/>
            <a:r>
              <a:t>Bullet 1 (Level 3) Times New Roman 11pt</a:t>
            </a:r>
          </a:p>
          <a:p>
            <a:pPr lvl="3"/>
            <a:r>
              <a:t>Bullet 2 (Level 4) Times New Roman 11pt</a:t>
            </a:r>
          </a:p>
          <a:p>
            <a:endParaRPr/>
          </a:p>
          <a:p>
            <a:endParaRPr/>
          </a:p>
          <a:p>
            <a:endParaRPr/>
          </a:p>
          <a:p>
            <a:endParaRPr/>
          </a:p>
          <a:p>
            <a:endParaRPr/>
          </a:p>
          <a:p>
            <a:endParaRPr/>
          </a:p>
          <a:p>
            <a:endParaRPr/>
          </a:p>
          <a:p>
            <a:endParaRPr/>
          </a:p>
          <a:p>
            <a:pPr lvl="0"/>
            <a:r>
              <a:t>Technical Note (Level 1) Arial 11pt Bold (CHANGE TO BLUE)</a:t>
            </a:r>
          </a:p>
          <a:p>
            <a:pPr lvl="0"/>
            <a:r>
              <a:t>Class Management Note (Level 1) Arial 11pt Bold (CHANGE TO BLUE)</a:t>
            </a:r>
          </a:p>
          <a:p>
            <a:pPr lvl="1"/>
            <a:r>
              <a:t>Body Text (Level 2) Times New Roman 11pt (CHANGE TO BLUE)</a:t>
            </a:r>
          </a:p>
          <a:p>
            <a:pPr lvl="2"/>
            <a:r>
              <a:t>Bullet 1 (Level 3) Times New Roman 11pt (CHANGE TO BLUE)</a:t>
            </a:r>
          </a:p>
        </p:txBody>
      </p:sp>
      <p:sp>
        <p:nvSpPr>
          <p:cNvPr id="2052" name="Rectangle 2051"/>
          <p:cNvSpPr/>
          <p:nvPr/>
        </p:nvSpPr>
        <p:spPr>
          <a:xfrm>
            <a:off x="712788" y="8593138"/>
            <a:ext cx="5270500" cy="152400"/>
          </a:xfrm>
          <a:prstGeom prst="rect">
            <a:avLst/>
          </a:prstGeom>
          <a:noFill/>
          <a:ln>
            <a:noFill/>
            <a:miter lim="800000"/>
          </a:ln>
          <a:effectLst/>
        </p:spPr>
        <p:txBody>
          <a:bodyPr lIns="0" tIns="0" rIns="0" bIns="0">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algn="ctr" defTabSz="941388" eaLnBrk="0" hangingPunct="0">
              <a:spcBef>
                <a:spcPct val="50000"/>
              </a:spcBef>
            </a:pPr>
            <a:r>
              <a:rPr sz="1000" b="1">
                <a:latin typeface="Arial" pitchFamily="34" charset="0"/>
              </a:rPr>
              <a:t>Introduction to Oracle: SQL and PL/SQL  1</a:t>
            </a:r>
            <a:r>
              <a:rPr sz="1000" b="1"/>
              <a:t>-</a:t>
            </a:r>
            <a:fld id="{47E6152F-0A5F-42C7-AB44-ED5DED61C24A}" type="slidenum">
              <a:rPr sz="1000" b="1">
                <a:latin typeface="Arial" pitchFamily="34" charset="0"/>
              </a:rPr>
              <a:t>‹#›</a:t>
            </a:fld>
            <a:endParaRPr sz="1000" b="1">
              <a:latin typeface="Arial" pitchFamily="34" charset="0"/>
            </a:endParaRPr>
          </a:p>
        </p:txBody>
      </p:sp>
    </p:spTree>
  </p:cSld>
  <p:clrMap bg1="lt1" tx1="dk1" bg2="lt2" tx2="dk2" accent1="accent1" accent2="accent2" accent3="accent3" accent4="accent4" accent5="accent5" accent6="accent6" hlink="hlink" folHlink="folHlink"/>
  <p:hf/>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notesMaster" Target="../notesMasters/notesMaster1.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Notes Placeholder 6145"/>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a:tabLst>
                <a:tab pos="1095375" algn="l"/>
                <a:tab pos="2192338" algn="l"/>
              </a:tabLst>
            </a:pPr>
            <a:endParaRPr/>
          </a:p>
          <a:p>
            <a:pPr marL="0" lvl="0" indent="0">
              <a:tabLst>
                <a:tab pos="1095375" algn="l"/>
                <a:tab pos="2192338" algn="l"/>
              </a:tabLst>
            </a:pPr>
            <a:endParaRPr/>
          </a:p>
          <a:p>
            <a:pPr marL="0" lvl="0" indent="0">
              <a:tabLst>
                <a:tab pos="1095375" algn="l"/>
                <a:tab pos="2192338" algn="l"/>
              </a:tabLst>
            </a:pPr>
            <a:endParaRPr/>
          </a:p>
          <a:p>
            <a:pPr marL="0" lvl="0" indent="0">
              <a:tabLst>
                <a:tab pos="1095375" algn="l"/>
                <a:tab pos="2192338" algn="l"/>
              </a:tabLst>
            </a:pPr>
            <a:endParaRPr/>
          </a:p>
          <a:p>
            <a:pPr marL="0" lvl="0" indent="0">
              <a:tabLst>
                <a:tab pos="1095375" algn="l"/>
                <a:tab pos="2192338" algn="l"/>
              </a:tabLst>
            </a:pPr>
            <a:endParaRPr/>
          </a:p>
          <a:p>
            <a:pPr marL="0" lvl="0" indent="0">
              <a:tabLst>
                <a:tab pos="1095375" algn="l"/>
                <a:tab pos="2192338" algn="l"/>
              </a:tabLst>
            </a:pPr>
            <a:endParaRPr/>
          </a:p>
          <a:p>
            <a:pPr marL="0" lvl="0" indent="0">
              <a:tabLst>
                <a:tab pos="1095375" algn="l"/>
                <a:tab pos="2192338" algn="l"/>
              </a:tabLst>
            </a:pPr>
            <a:endParaRPr/>
          </a:p>
          <a:p>
            <a:pPr marL="0" lvl="0" indent="0">
              <a:tabLst>
                <a:tab pos="1095375" algn="l"/>
                <a:tab pos="2192338" algn="l"/>
              </a:tabLst>
            </a:pPr>
            <a:endParaRPr/>
          </a:p>
          <a:p>
            <a:pPr marL="0" lvl="0" indent="0">
              <a:tabLst>
                <a:tab pos="1095375" algn="l"/>
                <a:tab pos="2192338" algn="l"/>
              </a:tabLst>
            </a:pPr>
            <a:endParaRPr/>
          </a:p>
          <a:p>
            <a:pPr marL="0" lvl="0" indent="0">
              <a:tabLst>
                <a:tab pos="1095375" algn="l"/>
                <a:tab pos="2192338" algn="l"/>
              </a:tabLst>
            </a:pPr>
            <a:endParaRPr/>
          </a:p>
          <a:p>
            <a:pPr marL="0" lvl="0" indent="0">
              <a:tabLst>
                <a:tab pos="1095375" algn="l"/>
                <a:tab pos="2192338" algn="l"/>
              </a:tabLst>
            </a:pPr>
            <a:endParaRPr/>
          </a:p>
          <a:p>
            <a:pPr marL="0" lvl="0" indent="0">
              <a:tabLst>
                <a:tab pos="1095375" algn="l"/>
                <a:tab pos="2192338" algn="l"/>
              </a:tabLst>
            </a:pPr>
            <a:endParaRPr/>
          </a:p>
          <a:p>
            <a:pPr marL="0" lvl="0" indent="0">
              <a:tabLst>
                <a:tab pos="1095375" algn="l"/>
                <a:tab pos="2192338" algn="l"/>
              </a:tabLst>
            </a:pPr>
            <a:r>
              <a:rPr sz="1200">
                <a:solidFill>
                  <a:schemeClr val="accent2"/>
                </a:solidFill>
              </a:rPr>
              <a:t>Schedule:	Timing	Topic</a:t>
            </a:r>
          </a:p>
          <a:p>
            <a:pPr marL="114300" lvl="1" indent="0">
              <a:tabLst>
                <a:tab pos="1095375" algn="l"/>
                <a:tab pos="2192338" algn="l"/>
              </a:tabLst>
            </a:pPr>
            <a:r>
              <a:rPr>
                <a:solidFill>
                  <a:schemeClr val="accent2"/>
                </a:solidFill>
              </a:rPr>
              <a:t>	40 minutes	Lecture</a:t>
            </a:r>
          </a:p>
          <a:p>
            <a:pPr marL="114300" lvl="1" indent="0">
              <a:tabLst>
                <a:tab pos="1095375" algn="l"/>
                <a:tab pos="2192338" algn="l"/>
              </a:tabLst>
            </a:pPr>
            <a:r>
              <a:rPr>
                <a:solidFill>
                  <a:schemeClr val="accent2"/>
                </a:solidFill>
              </a:rPr>
              <a:t>	25 minutes	Practice</a:t>
            </a:r>
          </a:p>
          <a:p>
            <a:pPr marL="114300" lvl="1" indent="0">
              <a:tabLst>
                <a:tab pos="1095375" algn="l"/>
                <a:tab pos="2192338" algn="l"/>
              </a:tabLst>
            </a:pPr>
            <a:r>
              <a:rPr>
                <a:solidFill>
                  <a:schemeClr val="accent2"/>
                </a:solidFill>
              </a:rPr>
              <a:t>	65 minutes	Total</a:t>
            </a:r>
          </a:p>
        </p:txBody>
      </p:sp>
      <p:sp>
        <p:nvSpPr>
          <p:cNvPr id="6147" name="Slide Image Placeholder 6146"/>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8193"/>
          <p:cNvSpPr/>
          <p:nvPr/>
        </p:nvSpPr>
        <p:spPr>
          <a:xfrm>
            <a:off x="3860800" y="0"/>
            <a:ext cx="2959100" cy="460375"/>
          </a:xfrm>
          <a:prstGeom prst="rect">
            <a:avLst/>
          </a:prstGeom>
          <a:noFill/>
          <a:ln>
            <a:noFill/>
            <a:miter lim="800000"/>
          </a:ln>
          <a:effectLst/>
        </p:spPr>
      </p:sp>
      <p:sp>
        <p:nvSpPr>
          <p:cNvPr id="8195" name="Rectangle 8194"/>
          <p:cNvSpPr/>
          <p:nvPr/>
        </p:nvSpPr>
        <p:spPr>
          <a:xfrm>
            <a:off x="-3175" y="0"/>
            <a:ext cx="2955925" cy="460375"/>
          </a:xfrm>
          <a:prstGeom prst="rect">
            <a:avLst/>
          </a:prstGeom>
          <a:noFill/>
          <a:ln>
            <a:noFill/>
            <a:miter lim="800000"/>
          </a:ln>
          <a:effectLst/>
        </p:spPr>
      </p:sp>
      <p:sp>
        <p:nvSpPr>
          <p:cNvPr id="8196" name="Notes Placeholder 8195"/>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a:r>
              <a:t>Lesson Aim</a:t>
            </a:r>
          </a:p>
          <a:p>
            <a:pPr marL="114300" lvl="1" indent="0"/>
            <a:r>
              <a:t>To extract data from the database, you need to use the structured query language (SQL) SELECT statement. You may need to restrict the columns that are displayed. This lesson describes all the SQL statements that you need to perform these actions.</a:t>
            </a:r>
            <a:br/>
            <a:r>
              <a:t>You may want to create SELECT statements that can be used time and time again. This lesson also covers the use of SQL*Plus commands to execute SQL statements.</a:t>
            </a:r>
          </a:p>
          <a:p>
            <a:pPr marL="0" lvl="0" indent="0"/>
            <a:endParaRPr b="0">
              <a:latin typeface="Times New Roman" pitchFamily="18" charset="0"/>
            </a:endParaRPr>
          </a:p>
        </p:txBody>
      </p:sp>
      <p:sp>
        <p:nvSpPr>
          <p:cNvPr id="8197" name="Slide Image Placeholder 8196"/>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0241"/>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10243" name="Notes Placeholder 10242"/>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r>
              <a:t>Capabilities of SQL SELECT Statements</a:t>
            </a:r>
          </a:p>
          <a:p>
            <a:pPr lvl="1"/>
            <a:r>
              <a:t>A </a:t>
            </a:r>
            <a:r>
              <a:rPr>
                <a:solidFill>
                  <a:srgbClr val="FC0128"/>
                </a:solidFill>
              </a:rPr>
              <a:t>SELECT </a:t>
            </a:r>
            <a:r>
              <a:t>statement retrieves information from the database. Using a SELECT statement, you can do the following:</a:t>
            </a:r>
          </a:p>
          <a:p>
            <a:pPr lvl="2"/>
            <a:r>
              <a:t>Selection: You can use the selection capability in SQL to choose the rows in a table that you want 	returned by a query. You can use various criteria to selectively restrict the rows that you see.</a:t>
            </a:r>
          </a:p>
          <a:p>
            <a:pPr lvl="2"/>
            <a:r>
              <a:t>Projection: You can use the projection capability in SQL to choose the columns in a table that you want returned by your query. You can choose as few or as many columns of the table as you require. </a:t>
            </a:r>
          </a:p>
          <a:p>
            <a:pPr lvl="2"/>
            <a:r>
              <a:t>Join: You can use the join capability in SQL to bring together data that is stored in different tables by creating a link through a column that both the tables share. You will learn more about joins in a later lesson.</a:t>
            </a:r>
            <a:r>
              <a:rPr b="1"/>
              <a:t> </a:t>
            </a:r>
          </a:p>
          <a:p>
            <a:pPr lvl="0">
              <a:buChar char="•"/>
            </a:pPr>
            <a:endParaRPr>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2289"/>
          <p:cNvSpPr/>
          <p:nvPr/>
        </p:nvSpPr>
        <p:spPr>
          <a:xfrm>
            <a:off x="3860800" y="0"/>
            <a:ext cx="2959100" cy="460375"/>
          </a:xfrm>
          <a:prstGeom prst="rect">
            <a:avLst/>
          </a:prstGeom>
          <a:noFill/>
          <a:ln>
            <a:noFill/>
            <a:miter lim="800000"/>
          </a:ln>
          <a:effectLst/>
        </p:spPr>
      </p:sp>
      <p:sp>
        <p:nvSpPr>
          <p:cNvPr id="12291" name="Rectangle 12290"/>
          <p:cNvSpPr/>
          <p:nvPr/>
        </p:nvSpPr>
        <p:spPr>
          <a:xfrm>
            <a:off x="-3175" y="0"/>
            <a:ext cx="2955925" cy="460375"/>
          </a:xfrm>
          <a:prstGeom prst="rect">
            <a:avLst/>
          </a:prstGeom>
          <a:noFill/>
          <a:ln>
            <a:noFill/>
            <a:miter lim="800000"/>
          </a:ln>
          <a:effectLst/>
        </p:spPr>
      </p:sp>
      <p:sp>
        <p:nvSpPr>
          <p:cNvPr id="12292" name="Notes Placeholder 12291"/>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a:r>
              <a:t>Basic SELECT Statement</a:t>
            </a:r>
          </a:p>
          <a:p>
            <a:pPr marL="114300" lvl="1" indent="0"/>
            <a:r>
              <a:t>In its simplest form, a </a:t>
            </a:r>
            <a:r>
              <a:rPr>
                <a:solidFill>
                  <a:srgbClr val="FC0128"/>
                </a:solidFill>
              </a:rPr>
              <a:t>SELECT </a:t>
            </a:r>
            <a:r>
              <a:t>statement must include the following:</a:t>
            </a:r>
          </a:p>
          <a:p>
            <a:pPr marL="446088" lvl="2" indent="-217488"/>
            <a:r>
              <a:t>A SELECT clause, which specifies the columns to be displayed</a:t>
            </a:r>
          </a:p>
          <a:p>
            <a:pPr marL="446088" lvl="2" indent="-217488"/>
            <a:r>
              <a:t>A FROM clause, which specifies the table containing the columns listed in the SELECT clause</a:t>
            </a:r>
            <a:endParaRPr b="1"/>
          </a:p>
          <a:p>
            <a:pPr marL="114300" lvl="1" indent="0"/>
            <a:r>
              <a:t>In the syntax:</a:t>
            </a:r>
          </a:p>
          <a:p>
            <a:pPr marL="114300" lvl="1" indent="0"/>
            <a:r>
              <a:rPr>
                <a:solidFill>
                  <a:srgbClr val="000000"/>
                </a:solidFill>
              </a:rPr>
              <a:t>	SELECT		is a list of one or more columns.</a:t>
            </a:r>
            <a:endParaRPr i="1">
              <a:solidFill>
                <a:srgbClr val="000000"/>
              </a:solidFill>
            </a:endParaRPr>
          </a:p>
          <a:p>
            <a:pPr marL="446088" lvl="2" indent="-217488">
              <a:buNone/>
            </a:pPr>
            <a:r>
              <a:rPr>
                <a:solidFill>
                  <a:srgbClr val="000000"/>
                </a:solidFill>
              </a:rPr>
              <a:t>	DISTINCT		suppresses duplicates.</a:t>
            </a:r>
          </a:p>
          <a:p>
            <a:pPr marL="446088" lvl="2" indent="-217488">
              <a:buNone/>
            </a:pPr>
            <a:r>
              <a:rPr i="1">
                <a:solidFill>
                  <a:srgbClr val="000000"/>
                </a:solidFill>
              </a:rPr>
              <a:t>	*  			</a:t>
            </a:r>
            <a:r>
              <a:rPr>
                <a:solidFill>
                  <a:srgbClr val="000000"/>
                </a:solidFill>
              </a:rPr>
              <a:t>selects all columns.</a:t>
            </a:r>
          </a:p>
          <a:p>
            <a:pPr marL="446088" lvl="2" indent="-217488">
              <a:buNone/>
            </a:pPr>
            <a:r>
              <a:rPr i="1">
                <a:solidFill>
                  <a:srgbClr val="000000"/>
                </a:solidFill>
              </a:rPr>
              <a:t>	column</a:t>
            </a:r>
            <a:r>
              <a:rPr>
                <a:solidFill>
                  <a:srgbClr val="000000"/>
                </a:solidFill>
              </a:rPr>
              <a:t>		selects the named column.</a:t>
            </a:r>
          </a:p>
          <a:p>
            <a:pPr marL="446088" lvl="2" indent="-217488">
              <a:buNone/>
            </a:pPr>
            <a:r>
              <a:rPr i="1">
                <a:solidFill>
                  <a:srgbClr val="000000"/>
                </a:solidFill>
              </a:rPr>
              <a:t>	alias			</a:t>
            </a:r>
            <a:r>
              <a:rPr>
                <a:solidFill>
                  <a:srgbClr val="000000"/>
                </a:solidFill>
              </a:rPr>
              <a:t>gives selected columns different headings.</a:t>
            </a:r>
          </a:p>
          <a:p>
            <a:pPr marL="446088" lvl="2" indent="-217488">
              <a:buNone/>
            </a:pPr>
            <a:r>
              <a:rPr>
                <a:solidFill>
                  <a:srgbClr val="000000"/>
                </a:solidFill>
              </a:rPr>
              <a:t>	FROM</a:t>
            </a:r>
            <a:r>
              <a:rPr i="1">
                <a:solidFill>
                  <a:srgbClr val="000000"/>
                </a:solidFill>
              </a:rPr>
              <a:t> table 	</a:t>
            </a:r>
            <a:r>
              <a:rPr>
                <a:solidFill>
                  <a:srgbClr val="000000"/>
                </a:solidFill>
              </a:rPr>
              <a:t>specifies the table containing the columns.</a:t>
            </a:r>
          </a:p>
          <a:p>
            <a:pPr marL="114300" lvl="1" indent="0"/>
            <a:r>
              <a:rPr b="1"/>
              <a:t>Note: </a:t>
            </a:r>
            <a:r>
              <a:t>Throughout this course, the words keyword, clause, and statement are used.</a:t>
            </a:r>
          </a:p>
          <a:p>
            <a:pPr marL="446088" lvl="2" indent="-217488"/>
            <a:r>
              <a:t>A </a:t>
            </a:r>
            <a:r>
              <a:rPr i="1"/>
              <a:t>keyword</a:t>
            </a:r>
            <a:r>
              <a:t> refers to an individual SQL element.</a:t>
            </a:r>
            <a:br/>
            <a:r>
              <a:t>For example, SELECT and FROM are keywords.</a:t>
            </a:r>
          </a:p>
          <a:p>
            <a:pPr marL="446088" lvl="2" indent="-217488"/>
            <a:r>
              <a:t>A </a:t>
            </a:r>
            <a:r>
              <a:rPr i="1"/>
              <a:t>clause</a:t>
            </a:r>
            <a:r>
              <a:t> is a part of an SQL statement.</a:t>
            </a:r>
            <a:br/>
            <a:r>
              <a:t>For example, SELECT empno, ename, ... is a clause.</a:t>
            </a:r>
          </a:p>
          <a:p>
            <a:pPr marL="446088" lvl="2" indent="-217488"/>
            <a:r>
              <a:t>A </a:t>
            </a:r>
            <a:r>
              <a:rPr i="1"/>
              <a:t>statement</a:t>
            </a:r>
            <a:r>
              <a:rPr b="1" i="1"/>
              <a:t> </a:t>
            </a:r>
            <a:r>
              <a:t>is a combination of two or more clauses.</a:t>
            </a:r>
            <a:br/>
            <a:r>
              <a:t>For example, SELECT * FROM emp is a SQL statement.</a:t>
            </a:r>
          </a:p>
        </p:txBody>
      </p:sp>
      <p:sp>
        <p:nvSpPr>
          <p:cNvPr id="12293" name="Slide Image Placeholder 12292"/>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4337"/>
          <p:cNvSpPr/>
          <p:nvPr/>
        </p:nvSpPr>
        <p:spPr>
          <a:xfrm>
            <a:off x="3860800" y="0"/>
            <a:ext cx="2959100" cy="460375"/>
          </a:xfrm>
          <a:prstGeom prst="rect">
            <a:avLst/>
          </a:prstGeom>
          <a:noFill/>
          <a:ln>
            <a:noFill/>
            <a:miter lim="800000"/>
          </a:ln>
          <a:effectLst/>
        </p:spPr>
      </p:sp>
      <p:sp>
        <p:nvSpPr>
          <p:cNvPr id="14339" name="Rectangle 14338"/>
          <p:cNvSpPr/>
          <p:nvPr/>
        </p:nvSpPr>
        <p:spPr>
          <a:xfrm>
            <a:off x="-3175" y="0"/>
            <a:ext cx="2955925" cy="460375"/>
          </a:xfrm>
          <a:prstGeom prst="rect">
            <a:avLst/>
          </a:prstGeom>
          <a:noFill/>
          <a:ln>
            <a:noFill/>
            <a:miter lim="800000"/>
          </a:ln>
          <a:effectLst/>
        </p:spPr>
      </p:sp>
      <p:sp>
        <p:nvSpPr>
          <p:cNvPr id="14340" name="Notes Placeholder 14339"/>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r>
              <a:t>Writing SQL Statements</a:t>
            </a:r>
          </a:p>
          <a:p>
            <a:pPr lvl="1"/>
            <a:r>
              <a:t>Using the following simple rules and guidelines, you can construct valid statements that are both easy to read and easy to edit:</a:t>
            </a:r>
          </a:p>
          <a:p>
            <a:pPr lvl="2">
              <a:buNone/>
            </a:pPr>
            <a:r>
              <a:t>•	SQL statements are not case sensitive, unless indicated.</a:t>
            </a:r>
          </a:p>
          <a:p>
            <a:pPr lvl="2"/>
            <a:r>
              <a:t>SQL statements can be entered on one or many lines.</a:t>
            </a:r>
          </a:p>
          <a:p>
            <a:pPr lvl="2">
              <a:buNone/>
            </a:pPr>
            <a:r>
              <a:t>•	Keywords cannot be split across lines or abbreviated.</a:t>
            </a:r>
          </a:p>
          <a:p>
            <a:pPr lvl="2"/>
            <a:r>
              <a:t>Clauses are usually placed on separate lines for readability and ease of editing.</a:t>
            </a:r>
          </a:p>
          <a:p>
            <a:pPr lvl="2">
              <a:buNone/>
            </a:pPr>
            <a:r>
              <a:t>•	Tabs and indents can be used to make code more readable.</a:t>
            </a:r>
          </a:p>
          <a:p>
            <a:pPr lvl="2"/>
            <a:r>
              <a:t>	Keywords typically are entered in uppercase; all other words, such as table names and columns, are entered in lowercase.</a:t>
            </a:r>
          </a:p>
          <a:p>
            <a:pPr lvl="2">
              <a:buNone/>
            </a:pPr>
            <a:r>
              <a:t>•	Within SQL*Plus, a SQL statement is entered at the SQL prompt, and the subsequent lines are numbered. This is called the </a:t>
            </a:r>
            <a:r>
              <a:rPr i="1">
                <a:solidFill>
                  <a:srgbClr val="FC0128"/>
                </a:solidFill>
              </a:rPr>
              <a:t>SQL buffer</a:t>
            </a:r>
            <a:r>
              <a:rPr>
                <a:solidFill>
                  <a:srgbClr val="FC0128"/>
                </a:solidFill>
              </a:rPr>
              <a:t>.</a:t>
            </a:r>
            <a:r>
              <a:rPr b="1"/>
              <a:t> </a:t>
            </a:r>
            <a:r>
              <a:t>Only one statement can be current at any time within the buffer.</a:t>
            </a:r>
          </a:p>
          <a:p>
            <a:pPr lvl="0"/>
            <a:r>
              <a:t>Executing SQL Statements</a:t>
            </a:r>
            <a:endParaRPr b="0">
              <a:latin typeface="Times New Roman" pitchFamily="18" charset="0"/>
            </a:endParaRPr>
          </a:p>
          <a:p>
            <a:pPr lvl="2"/>
            <a:r>
              <a:t>Place a semicolon (</a:t>
            </a:r>
            <a:r>
              <a:rPr>
                <a:solidFill>
                  <a:srgbClr val="FC0128"/>
                </a:solidFill>
              </a:rPr>
              <a:t>;)</a:t>
            </a:r>
            <a:r>
              <a:t> at the end of the last clause.</a:t>
            </a:r>
          </a:p>
          <a:p>
            <a:pPr lvl="2"/>
            <a:r>
              <a:t>Place a slash on the last line in the buffer.</a:t>
            </a:r>
          </a:p>
          <a:p>
            <a:pPr lvl="2"/>
            <a:r>
              <a:t>Place a slash at the SQL prompt.</a:t>
            </a:r>
          </a:p>
          <a:p>
            <a:pPr lvl="2"/>
            <a:r>
              <a:t>Issue a SQL*Plus RUN command at the SQL prompt.</a:t>
            </a:r>
          </a:p>
        </p:txBody>
      </p:sp>
      <p:sp>
        <p:nvSpPr>
          <p:cNvPr id="14341" name="Slide Image Placeholder 14340"/>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Notes Placeholder 16385"/>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r>
              <a:t>Selecting All Columns, All Rows</a:t>
            </a:r>
          </a:p>
          <a:p>
            <a:pPr lvl="1"/>
            <a:r>
              <a:t>You can display </a:t>
            </a:r>
            <a:r>
              <a:rPr i="1"/>
              <a:t>all</a:t>
            </a:r>
            <a:r>
              <a:t> columns of data in a table by following the SELECT keyword with an asterisk (</a:t>
            </a:r>
            <a:r>
              <a:rPr>
                <a:solidFill>
                  <a:srgbClr val="FC0128"/>
                </a:solidFill>
              </a:rPr>
              <a:t>*)</a:t>
            </a:r>
            <a:r>
              <a:t>. In the example on the slide, the department table contains three columns: DEPTNO, DNAME, and LOC. The table contains four rows, one for each department. </a:t>
            </a:r>
          </a:p>
          <a:p>
            <a:pPr lvl="1"/>
            <a:r>
              <a:rPr>
                <a:solidFill>
                  <a:srgbClr val="000000"/>
                </a:solidFill>
              </a:rPr>
              <a:t>You can also display </a:t>
            </a:r>
            <a:r>
              <a:rPr i="1">
                <a:solidFill>
                  <a:srgbClr val="000000"/>
                </a:solidFill>
              </a:rPr>
              <a:t>all</a:t>
            </a:r>
            <a:r>
              <a:rPr>
                <a:solidFill>
                  <a:srgbClr val="000000"/>
                </a:solidFill>
              </a:rPr>
              <a:t> columns in the table by listing all the columns after the SELECT keyword. For example, the following SQL statement, like the example on the slide, displays all columns and all rows of the DEPT table:</a:t>
            </a:r>
          </a:p>
          <a:p>
            <a:pPr lvl="1"/>
            <a:endParaRPr>
              <a:solidFill>
                <a:srgbClr val="000000"/>
              </a:solidFill>
            </a:endParaRPr>
          </a:p>
          <a:p>
            <a:pPr lvl="1"/>
            <a:endParaRPr>
              <a:solidFill>
                <a:srgbClr val="000000"/>
              </a:solidFill>
            </a:endParaRPr>
          </a:p>
          <a:p>
            <a:pPr lvl="1"/>
            <a:endParaRPr b="1">
              <a:solidFill>
                <a:schemeClr val="accent2"/>
              </a:solidFill>
              <a:latin typeface="Arial" pitchFamily="34" charset="0"/>
            </a:endParaRPr>
          </a:p>
          <a:p>
            <a:pPr lvl="1"/>
            <a:endParaRPr b="1">
              <a:solidFill>
                <a:schemeClr val="accent2"/>
              </a:solidFill>
              <a:latin typeface="Arial" pitchFamily="34" charset="0"/>
            </a:endParaRPr>
          </a:p>
          <a:p>
            <a:pPr lvl="1"/>
            <a:endParaRPr b="1">
              <a:solidFill>
                <a:schemeClr val="accent2"/>
              </a:solidFill>
              <a:latin typeface="Arial" pitchFamily="34" charset="0"/>
            </a:endParaRPr>
          </a:p>
          <a:p>
            <a:pPr lvl="1"/>
            <a:endParaRPr b="1">
              <a:solidFill>
                <a:schemeClr val="accent2"/>
              </a:solidFill>
              <a:latin typeface="Arial" pitchFamily="34" charset="0"/>
            </a:endParaRPr>
          </a:p>
          <a:p>
            <a:pPr lvl="1"/>
            <a:endParaRPr b="1">
              <a:solidFill>
                <a:schemeClr val="accent2"/>
              </a:solidFill>
              <a:latin typeface="Arial" pitchFamily="34" charset="0"/>
            </a:endParaRPr>
          </a:p>
          <a:p>
            <a:pPr lvl="1"/>
            <a:endParaRPr b="1">
              <a:solidFill>
                <a:schemeClr val="accent2"/>
              </a:solidFill>
              <a:latin typeface="Arial" pitchFamily="34" charset="0"/>
            </a:endParaRPr>
          </a:p>
          <a:p>
            <a:pPr lvl="1"/>
            <a:endParaRPr b="1">
              <a:solidFill>
                <a:schemeClr val="accent2"/>
              </a:solidFill>
              <a:latin typeface="Arial" pitchFamily="34" charset="0"/>
            </a:endParaRPr>
          </a:p>
          <a:p>
            <a:pPr lvl="1"/>
            <a:r>
              <a:rPr b="1">
                <a:solidFill>
                  <a:schemeClr val="accent2"/>
                </a:solidFill>
                <a:latin typeface="Arial" pitchFamily="34" charset="0"/>
              </a:rPr>
              <a:t>Class Management Note</a:t>
            </a:r>
            <a:r>
              <a:rPr>
                <a:solidFill>
                  <a:schemeClr val="accent2"/>
                </a:solidFill>
              </a:rPr>
              <a:t> </a:t>
            </a:r>
            <a:endParaRPr b="1">
              <a:solidFill>
                <a:schemeClr val="accent2"/>
              </a:solidFill>
              <a:latin typeface="Arial" pitchFamily="34" charset="0"/>
            </a:endParaRPr>
          </a:p>
          <a:p>
            <a:pPr lvl="2">
              <a:buNone/>
            </a:pPr>
            <a:r>
              <a:rPr>
                <a:solidFill>
                  <a:schemeClr val="accent2"/>
                </a:solidFill>
              </a:rPr>
              <a:t>Let the students know that details of all the tables are given in Appendix B.</a:t>
            </a:r>
          </a:p>
        </p:txBody>
      </p:sp>
      <p:sp>
        <p:nvSpPr>
          <p:cNvPr id="16387" name="Slide Image Placeholder 16386"/>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16388" name="Rectangle 16387"/>
          <p:cNvSpPr/>
          <p:nvPr/>
        </p:nvSpPr>
        <p:spPr>
          <a:xfrm>
            <a:off x="611188" y="6137275"/>
            <a:ext cx="5573712" cy="447675"/>
          </a:xfrm>
          <a:prstGeom prst="rect">
            <a:avLst/>
          </a:prstGeom>
          <a:noFill/>
          <a:ln w="12700">
            <a:solidFill>
              <a:schemeClr val="tx1"/>
            </a:solidFill>
            <a:miter lim="800000"/>
          </a:ln>
          <a:effectLst/>
        </p:spPr>
        <p:txBody>
          <a:bodyPr wrap="none" lIns="92075" tIns="47625" rIns="92075" bIns="47625">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942975" eaLnBrk="0" hangingPunct="0"/>
            <a:r>
              <a:rPr sz="1100" b="1">
                <a:latin typeface="Courier New" pitchFamily="49" charset="0"/>
              </a:rPr>
              <a:t>SQL&gt; SELECT	deptno, dname, loc</a:t>
            </a:r>
          </a:p>
          <a:p>
            <a:pPr marL="0" lvl="0" indent="0" defTabSz="942975" eaLnBrk="0" hangingPunct="0"/>
            <a:r>
              <a:rPr sz="1100" b="1">
                <a:latin typeface="Courier New" pitchFamily="49" charset="0"/>
              </a:rPr>
              <a:t>  2  FROM 	dept;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Notes Placeholder 18433"/>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defTabSz="942975"/>
            <a:r>
              <a:t>Selecting Specific Columns, All Rows</a:t>
            </a:r>
          </a:p>
          <a:p>
            <a:pPr marL="114300" lvl="1" indent="0" defTabSz="942975"/>
            <a:r>
              <a:t>You can use the SELECT statement to display specific columns of the table by specifying the column names, separated by commas. The example on the slide displays all the department numbers and locations from the DEPT table. </a:t>
            </a:r>
          </a:p>
          <a:p>
            <a:pPr marL="114300" lvl="1" indent="0" defTabSz="942975"/>
            <a:r>
              <a:t>In the SELECT clause, specify the columns that you want to see, in the order in which you want them to appear in the output. For example, to display location before department number, you use the following statement:</a:t>
            </a:r>
          </a:p>
          <a:p>
            <a:pPr marL="0" lvl="0" indent="0" defTabSz="942975"/>
            <a:endParaRPr b="0">
              <a:latin typeface="Times New Roman" pitchFamily="18" charset="0"/>
            </a:endParaRPr>
          </a:p>
          <a:p>
            <a:pPr marL="0" lvl="0" indent="0" defTabSz="942975"/>
            <a:endParaRPr>
              <a:solidFill>
                <a:schemeClr val="accent2"/>
              </a:solidFill>
            </a:endParaRPr>
          </a:p>
          <a:p>
            <a:pPr marL="0" lvl="0" indent="0" defTabSz="942975"/>
            <a:endParaRPr>
              <a:solidFill>
                <a:schemeClr val="accent2"/>
              </a:solidFill>
            </a:endParaRPr>
          </a:p>
          <a:p>
            <a:pPr marL="0" lvl="0" indent="0" defTabSz="942975"/>
            <a:r>
              <a:rPr b="0">
                <a:latin typeface="Courier New" pitchFamily="49" charset="0"/>
              </a:rPr>
              <a:t> </a:t>
            </a:r>
          </a:p>
          <a:p>
            <a:pPr marL="0" lvl="0" indent="0" defTabSz="942975">
              <a:spcBef>
                <a:spcPct val="0"/>
              </a:spcBef>
            </a:pPr>
            <a:endParaRPr b="0">
              <a:latin typeface="Courier New" pitchFamily="49" charset="0"/>
            </a:endParaRPr>
          </a:p>
          <a:p>
            <a:pPr marL="0" lvl="0" indent="0" defTabSz="942975"/>
            <a:endParaRPr>
              <a:solidFill>
                <a:schemeClr val="accent2"/>
              </a:solidFill>
            </a:endParaRPr>
          </a:p>
          <a:p>
            <a:pPr marL="0" lvl="0" indent="0" defTabSz="942975"/>
            <a:endParaRPr>
              <a:solidFill>
                <a:schemeClr val="accent2"/>
              </a:solidFill>
            </a:endParaRPr>
          </a:p>
          <a:p>
            <a:pPr marL="0" lvl="0" indent="0" defTabSz="942975"/>
            <a:endParaRPr sz="800">
              <a:solidFill>
                <a:schemeClr val="accent2"/>
              </a:solidFill>
            </a:endParaRPr>
          </a:p>
          <a:p>
            <a:pPr marL="0" lvl="0" indent="0" defTabSz="942975">
              <a:spcBef>
                <a:spcPct val="65000"/>
              </a:spcBef>
            </a:pPr>
            <a:r>
              <a:rPr>
                <a:solidFill>
                  <a:schemeClr val="accent2"/>
                </a:solidFill>
              </a:rPr>
              <a:t>Class Management Note</a:t>
            </a:r>
            <a:r>
              <a:t> </a:t>
            </a:r>
            <a:endParaRPr>
              <a:solidFill>
                <a:schemeClr val="accent2"/>
              </a:solidFill>
            </a:endParaRPr>
          </a:p>
          <a:p>
            <a:pPr marL="114300" lvl="1" indent="0" defTabSz="942975"/>
            <a:r>
              <a:rPr>
                <a:solidFill>
                  <a:schemeClr val="accent2"/>
                </a:solidFill>
              </a:rPr>
              <a:t>You can also select from pseudocolumns. A pseudocolumn behaves like a table column but is not actually stored in the table. You cannot insert or delete values of the pseudocolumns. The available pseudocolumns are CURRVAL, NEXTVAL, LEVEL, ROWID, and ROWNUM.</a:t>
            </a:r>
            <a:r>
              <a:t> </a:t>
            </a:r>
          </a:p>
        </p:txBody>
      </p:sp>
      <p:sp>
        <p:nvSpPr>
          <p:cNvPr id="18435" name="Slide Image Placeholder 18434"/>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grpSp>
        <p:nvGrpSpPr>
          <p:cNvPr id="18438" name="Group 18437"/>
          <p:cNvGrpSpPr/>
          <p:nvPr/>
        </p:nvGrpSpPr>
        <p:grpSpPr>
          <a:xfrm>
            <a:off x="611188" y="6118225"/>
            <a:ext cx="5573712" cy="1662113"/>
            <a:chOff x="385" y="3854"/>
            <a:chExt cx="3511" cy="1047"/>
          </a:xfrm>
        </p:grpSpPr>
        <p:sp>
          <p:nvSpPr>
            <p:cNvPr id="18436" name="Rectangle 18435"/>
            <p:cNvSpPr/>
            <p:nvPr/>
          </p:nvSpPr>
          <p:spPr>
            <a:xfrm>
              <a:off x="385" y="3854"/>
              <a:ext cx="3511" cy="280"/>
            </a:xfrm>
            <a:prstGeom prst="rect">
              <a:avLst/>
            </a:prstGeom>
            <a:noFill/>
            <a:ln w="12700">
              <a:solidFill>
                <a:schemeClr val="tx1"/>
              </a:solidFill>
              <a:miter lim="800000"/>
            </a:ln>
            <a:effectLst/>
          </p:spPr>
          <p:txBody>
            <a:bodyPr wrap="none" lIns="96838" tIns="50800" rIns="96838" bIns="5080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1041400" eaLnBrk="0" hangingPunct="0"/>
              <a:r>
                <a:rPr sz="1100" b="1">
                  <a:latin typeface="Courier New" pitchFamily="49" charset="0"/>
                </a:rPr>
                <a:t>SQL&gt; SELECT	loc, deptno</a:t>
              </a:r>
            </a:p>
            <a:p>
              <a:pPr marL="0" lvl="0" indent="0" defTabSz="1041400" eaLnBrk="0" hangingPunct="0"/>
              <a:r>
                <a:rPr sz="1100" b="1">
                  <a:latin typeface="Courier New" pitchFamily="49" charset="0"/>
                </a:rPr>
                <a:t>  2  FROM 	dept;</a:t>
              </a:r>
            </a:p>
          </p:txBody>
        </p:sp>
        <p:sp>
          <p:nvSpPr>
            <p:cNvPr id="18437" name="Rectangle 18436"/>
            <p:cNvSpPr/>
            <p:nvPr/>
          </p:nvSpPr>
          <p:spPr>
            <a:xfrm>
              <a:off x="385" y="4198"/>
              <a:ext cx="3511" cy="703"/>
            </a:xfrm>
            <a:prstGeom prst="rect">
              <a:avLst/>
            </a:prstGeom>
            <a:noFill/>
            <a:ln w="12700">
              <a:solidFill>
                <a:schemeClr val="tx1"/>
              </a:solidFill>
              <a:miter lim="800000"/>
            </a:ln>
            <a:effectLst/>
          </p:spPr>
          <p:txBody>
            <a:bodyPr wrap="none" lIns="96838" tIns="50800" rIns="96838" bIns="5080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1041400" eaLnBrk="0" hangingPunct="0">
                <a:tabLst>
                  <a:tab pos="1774825" algn="l"/>
                  <a:tab pos="2279650" algn="l"/>
                </a:tabLst>
              </a:pPr>
              <a:r>
                <a:rPr sz="1100">
                  <a:latin typeface="Courier New" pitchFamily="49" charset="0"/>
                </a:rPr>
                <a:t>LOC              DEPTNO          </a:t>
              </a:r>
              <a:endParaRPr sz="1100" b="1">
                <a:latin typeface="Courier New" pitchFamily="49" charset="0"/>
              </a:endParaRPr>
            </a:p>
            <a:p>
              <a:pPr marL="0" lvl="0" indent="0" defTabSz="1041400" eaLnBrk="0" hangingPunct="0">
                <a:tabLst>
                  <a:tab pos="1774825" algn="l"/>
                  <a:tab pos="2279650" algn="l"/>
                </a:tabLst>
              </a:pPr>
              <a:r>
                <a:rPr sz="1100">
                  <a:latin typeface="Courier New" pitchFamily="49" charset="0"/>
                </a:rPr>
                <a:t>------------- ---------</a:t>
              </a:r>
            </a:p>
            <a:p>
              <a:pPr marL="0" lvl="0" indent="0" defTabSz="1041400" eaLnBrk="0" hangingPunct="0">
                <a:tabLst>
                  <a:tab pos="1774825" algn="l"/>
                  <a:tab pos="2279650" algn="l"/>
                </a:tabLst>
              </a:pPr>
              <a:r>
                <a:rPr sz="1100">
                  <a:latin typeface="Courier New" pitchFamily="49" charset="0"/>
                </a:rPr>
                <a:t>NEW YORK             10</a:t>
              </a:r>
            </a:p>
            <a:p>
              <a:pPr marL="0" lvl="0" indent="0" defTabSz="1041400" eaLnBrk="0" hangingPunct="0">
                <a:tabLst>
                  <a:tab pos="1774825" algn="l"/>
                  <a:tab pos="2279650" algn="l"/>
                </a:tabLst>
              </a:pPr>
              <a:r>
                <a:rPr sz="1100">
                  <a:latin typeface="Courier New" pitchFamily="49" charset="0"/>
                </a:rPr>
                <a:t>DALLAS               20</a:t>
              </a:r>
            </a:p>
            <a:p>
              <a:pPr marL="0" lvl="0" indent="0" defTabSz="1041400" eaLnBrk="0" hangingPunct="0">
                <a:tabLst>
                  <a:tab pos="1774825" algn="l"/>
                  <a:tab pos="2279650" algn="l"/>
                </a:tabLst>
              </a:pPr>
              <a:r>
                <a:rPr sz="1100">
                  <a:latin typeface="Courier New" pitchFamily="49" charset="0"/>
                </a:rPr>
                <a:t>CHICAGO              30</a:t>
              </a:r>
            </a:p>
            <a:p>
              <a:pPr marL="0" lvl="0" indent="0" defTabSz="1041400" eaLnBrk="0" hangingPunct="0">
                <a:tabLst>
                  <a:tab pos="1774825" algn="l"/>
                  <a:tab pos="2279650" algn="l"/>
                </a:tabLst>
              </a:pPr>
              <a:r>
                <a:rPr sz="1100">
                  <a:latin typeface="Courier New" pitchFamily="49" charset="0"/>
                </a:rPr>
                <a:t>BOSTON	40</a:t>
              </a:r>
            </a:p>
          </p:txBody>
        </p:sp>
      </p:gr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0481"/>
          <p:cNvSpPr/>
          <p:nvPr/>
        </p:nvSpPr>
        <p:spPr>
          <a:xfrm>
            <a:off x="3860800" y="0"/>
            <a:ext cx="2959100" cy="460375"/>
          </a:xfrm>
          <a:prstGeom prst="rect">
            <a:avLst/>
          </a:prstGeom>
          <a:noFill/>
          <a:ln>
            <a:noFill/>
            <a:miter lim="800000"/>
          </a:ln>
          <a:effectLst/>
        </p:spPr>
      </p:sp>
      <p:sp>
        <p:nvSpPr>
          <p:cNvPr id="20483" name="Rectangle 20482"/>
          <p:cNvSpPr/>
          <p:nvPr/>
        </p:nvSpPr>
        <p:spPr>
          <a:xfrm>
            <a:off x="-3175" y="0"/>
            <a:ext cx="2955925" cy="460375"/>
          </a:xfrm>
          <a:prstGeom prst="rect">
            <a:avLst/>
          </a:prstGeom>
          <a:noFill/>
          <a:ln>
            <a:noFill/>
            <a:miter lim="800000"/>
          </a:ln>
          <a:effectLst/>
        </p:spPr>
      </p:sp>
      <p:sp>
        <p:nvSpPr>
          <p:cNvPr id="20484" name="Notes Placeholder 20483"/>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a:r>
              <a:t>Column Heading Defaults </a:t>
            </a:r>
          </a:p>
          <a:p>
            <a:pPr marL="114300" lvl="1" indent="0"/>
            <a:r>
              <a:t>Character column heading and data as well as date column heading and data are left-justified within a column width. Number headings and data are right-justified. </a:t>
            </a:r>
          </a:p>
          <a:p>
            <a:pPr marL="114300" lvl="1" indent="0"/>
            <a:endParaRPr/>
          </a:p>
          <a:p>
            <a:pPr marL="114300" lvl="1" indent="0"/>
            <a:endParaRPr/>
          </a:p>
          <a:p>
            <a:pPr marL="114300" lvl="1" indent="0"/>
            <a:endParaRPr/>
          </a:p>
          <a:p>
            <a:pPr marL="114300" lvl="1" indent="0"/>
            <a:endParaRPr/>
          </a:p>
          <a:p>
            <a:pPr marL="114300" lvl="1" indent="0"/>
            <a:endParaRPr/>
          </a:p>
          <a:p>
            <a:pPr marL="114300" lvl="1" indent="0"/>
            <a:endParaRPr/>
          </a:p>
          <a:p>
            <a:pPr marL="114300" lvl="1" indent="0"/>
            <a:endParaRPr/>
          </a:p>
          <a:p>
            <a:pPr marL="114300" lvl="1" indent="0"/>
            <a:endParaRPr/>
          </a:p>
          <a:p>
            <a:pPr marL="114300" lvl="1" indent="0"/>
            <a:endParaRPr/>
          </a:p>
          <a:p>
            <a:pPr marL="114300" lvl="1" indent="0"/>
            <a:endParaRPr/>
          </a:p>
          <a:p>
            <a:pPr marL="114300" lvl="1" indent="0"/>
            <a:endParaRPr/>
          </a:p>
          <a:p>
            <a:pPr marL="114300" lvl="1" indent="0"/>
            <a:endParaRPr sz="600"/>
          </a:p>
          <a:p>
            <a:pPr marL="114300" lvl="1" indent="0"/>
            <a:r>
              <a:t>Character and date column headings can be truncated, but number headings cannot be truncated. The column headings appear in uppercase by default. You can override the column heading display with an alias. Column aliases are covered later in this lesson.</a:t>
            </a:r>
          </a:p>
          <a:p>
            <a:pPr marL="0" lvl="0" indent="0"/>
            <a:endParaRPr b="0">
              <a:latin typeface="Times New Roman" pitchFamily="18" charset="0"/>
            </a:endParaRPr>
          </a:p>
        </p:txBody>
      </p:sp>
      <p:sp>
        <p:nvSpPr>
          <p:cNvPr id="20485" name="Slide Image Placeholder 20484"/>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20486" name="Rectangle 20485"/>
          <p:cNvSpPr/>
          <p:nvPr/>
        </p:nvSpPr>
        <p:spPr>
          <a:xfrm>
            <a:off x="617538" y="5451475"/>
            <a:ext cx="5586412" cy="444500"/>
          </a:xfrm>
          <a:prstGeom prst="rect">
            <a:avLst/>
          </a:prstGeom>
          <a:noFill/>
          <a:ln w="12700">
            <a:solidFill>
              <a:schemeClr val="tx1"/>
            </a:solidFill>
            <a:miter lim="800000"/>
          </a:ln>
          <a:effectLst/>
        </p:spPr>
        <p:txBody>
          <a:bodyPr wrap="none" lIns="92075" tIns="47625" rIns="92075" bIns="47625">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942975" eaLnBrk="0" hangingPunct="0"/>
            <a:r>
              <a:rPr sz="1100" b="1">
                <a:latin typeface="Courier New" pitchFamily="49" charset="0"/>
              </a:rPr>
              <a:t>SQL&gt; SELECT	ename, hiredate, sal</a:t>
            </a:r>
          </a:p>
          <a:p>
            <a:pPr marL="0" lvl="0" indent="0" defTabSz="942975" eaLnBrk="0" hangingPunct="0"/>
            <a:r>
              <a:rPr sz="1100" b="1">
                <a:latin typeface="Courier New" pitchFamily="49" charset="0"/>
              </a:rPr>
              <a:t>  2  FROM 	emp;</a:t>
            </a:r>
          </a:p>
        </p:txBody>
      </p:sp>
      <p:sp>
        <p:nvSpPr>
          <p:cNvPr id="20487" name="Rectangle 20486"/>
          <p:cNvSpPr/>
          <p:nvPr/>
        </p:nvSpPr>
        <p:spPr>
          <a:xfrm>
            <a:off x="617538" y="6034088"/>
            <a:ext cx="5567362" cy="1808162"/>
          </a:xfrm>
          <a:prstGeom prst="rect">
            <a:avLst/>
          </a:prstGeom>
          <a:noFill/>
          <a:ln w="12700">
            <a:solidFill>
              <a:schemeClr val="tx1"/>
            </a:solidFill>
            <a:miter lim="800000"/>
          </a:ln>
          <a:effectLst/>
        </p:spPr>
        <p:txBody>
          <a:bodyPr wrap="none" lIns="92075" tIns="47625" rIns="92075" bIns="47625">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942975" eaLnBrk="0" hangingPunct="0"/>
            <a:r>
              <a:rPr sz="1100">
                <a:latin typeface="Courier New" pitchFamily="49" charset="0"/>
              </a:rPr>
              <a:t>ENAME      HIREDATE        SAL</a:t>
            </a:r>
            <a:endParaRPr sz="1100" b="1">
              <a:latin typeface="Courier New" pitchFamily="49" charset="0"/>
            </a:endParaRPr>
          </a:p>
          <a:p>
            <a:pPr marL="0" lvl="0" indent="0" defTabSz="942975" eaLnBrk="0" hangingPunct="0"/>
            <a:r>
              <a:rPr sz="1100">
                <a:latin typeface="Courier New" pitchFamily="49" charset="0"/>
              </a:rPr>
              <a:t>---------- --------- ---------</a:t>
            </a:r>
          </a:p>
          <a:p>
            <a:pPr marL="0" lvl="0" indent="0" defTabSz="942975" eaLnBrk="0" hangingPunct="0"/>
            <a:r>
              <a:rPr sz="1100">
                <a:latin typeface="Courier New" pitchFamily="49" charset="0"/>
              </a:rPr>
              <a:t>KING       17-NOV-81      5000</a:t>
            </a:r>
          </a:p>
          <a:p>
            <a:pPr marL="0" lvl="0" indent="0" defTabSz="942975" eaLnBrk="0" hangingPunct="0"/>
            <a:r>
              <a:rPr sz="1100">
                <a:latin typeface="Courier New" pitchFamily="49" charset="0"/>
              </a:rPr>
              <a:t>BLAKE      01-MAY-81      2850</a:t>
            </a:r>
          </a:p>
          <a:p>
            <a:pPr marL="0" lvl="0" indent="0" defTabSz="942975" eaLnBrk="0" hangingPunct="0"/>
            <a:r>
              <a:rPr sz="1100">
                <a:latin typeface="Courier New" pitchFamily="49" charset="0"/>
              </a:rPr>
              <a:t>CLARK      09-JUN-81      2450</a:t>
            </a:r>
          </a:p>
          <a:p>
            <a:pPr marL="0" lvl="0" indent="0" defTabSz="942975" eaLnBrk="0" hangingPunct="0"/>
            <a:r>
              <a:rPr sz="1100">
                <a:latin typeface="Courier New" pitchFamily="49" charset="0"/>
              </a:rPr>
              <a:t>JONES      02-APR-81      2975</a:t>
            </a:r>
          </a:p>
          <a:p>
            <a:pPr marL="0" lvl="0" indent="0" defTabSz="942975" eaLnBrk="0" hangingPunct="0"/>
            <a:r>
              <a:rPr sz="1100">
                <a:latin typeface="Courier New" pitchFamily="49" charset="0"/>
              </a:rPr>
              <a:t>MARTIN     28-SEP-81      1250</a:t>
            </a:r>
          </a:p>
          <a:p>
            <a:pPr marL="0" lvl="0" indent="0" defTabSz="942975" eaLnBrk="0" hangingPunct="0"/>
            <a:r>
              <a:rPr sz="1100">
                <a:latin typeface="Courier New" pitchFamily="49" charset="0"/>
              </a:rPr>
              <a:t>ALLEN      20-FEB-81      1600</a:t>
            </a:r>
          </a:p>
          <a:p>
            <a:pPr marL="0" lvl="0" indent="0" defTabSz="942975" eaLnBrk="0" hangingPunct="0"/>
            <a:r>
              <a:rPr sz="1100">
                <a:latin typeface="Courier New" pitchFamily="49" charset="0"/>
              </a:rPr>
              <a:t>...</a:t>
            </a:r>
          </a:p>
          <a:p>
            <a:pPr marL="0" lvl="0" indent="0" defTabSz="942975" eaLnBrk="0" hangingPunct="0"/>
            <a:r>
              <a:rPr sz="1100">
                <a:latin typeface="Courier New" pitchFamily="49" charset="0"/>
              </a:rPr>
              <a:t>14 rows selected.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Notes Placeholder 22529"/>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a:r>
              <a:t>Arithmetic Expressions</a:t>
            </a:r>
          </a:p>
          <a:p>
            <a:pPr marL="114300" lvl="1" indent="0"/>
            <a:r>
              <a:t>You may need to modify the way in which data is displayed, perform calculations, or look at what-if scenarios. This is possible using arithmetic expressions. An arithmetic expression may contain column names, constant numeric values, and the arithmetic operators.</a:t>
            </a:r>
          </a:p>
          <a:p>
            <a:pPr marL="0" lvl="0" indent="0"/>
            <a:r>
              <a:t>Arithmetic Operators</a:t>
            </a:r>
          </a:p>
          <a:p>
            <a:pPr marL="114300" lvl="1" indent="0"/>
            <a:r>
              <a:t>The slide lists the </a:t>
            </a:r>
            <a:r>
              <a:rPr>
                <a:solidFill>
                  <a:srgbClr val="FC0128"/>
                </a:solidFill>
              </a:rPr>
              <a:t>arithmetic operators </a:t>
            </a:r>
            <a:r>
              <a:t>available in SQL. You can use arithmetic operators in any clause of a SQL statement except the FROM clause. </a:t>
            </a:r>
          </a:p>
        </p:txBody>
      </p:sp>
      <p:sp>
        <p:nvSpPr>
          <p:cNvPr id="22531" name="Slide Image Placeholder 22530"/>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Notes Placeholder 24577"/>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a:r>
              <a:t>Using Arithmetic Operators</a:t>
            </a:r>
          </a:p>
          <a:p>
            <a:pPr marL="114300" lvl="1" indent="0"/>
            <a:r>
              <a:rPr>
                <a:solidFill>
                  <a:srgbClr val="000000"/>
                </a:solidFill>
              </a:rPr>
              <a:t>The example in the slide uses the addition operator to calculate a salary increase of $300 for all employees and displays a new SAL+300 column in the output. </a:t>
            </a:r>
          </a:p>
          <a:p>
            <a:pPr marL="114300" lvl="1" indent="0"/>
            <a:r>
              <a:rPr>
                <a:solidFill>
                  <a:srgbClr val="000000"/>
                </a:solidFill>
              </a:rPr>
              <a:t>Note that the resultant calculated column SAL+300 is not a new column in the EMP table; it is for display only. By default, the name of a new column comes from the calculation that generated it</a:t>
            </a:r>
            <a:r>
              <a:t>—</a:t>
            </a:r>
            <a:r>
              <a:rPr>
                <a:solidFill>
                  <a:srgbClr val="000000"/>
                </a:solidFill>
              </a:rPr>
              <a:t>in this case, sal+300.</a:t>
            </a:r>
          </a:p>
          <a:p>
            <a:pPr marL="114300" lvl="1" indent="0"/>
            <a:r>
              <a:rPr b="1"/>
              <a:t>Note:</a:t>
            </a:r>
            <a:r>
              <a:t> SQL*Plus ignores blank spaces before and after the arithmetic operator.</a:t>
            </a:r>
          </a:p>
          <a:p>
            <a:pPr marL="0" lvl="0" indent="0"/>
            <a:endParaRPr b="0">
              <a:latin typeface="Times New Roman" pitchFamily="18" charset="0"/>
            </a:endParaRPr>
          </a:p>
        </p:txBody>
      </p:sp>
      <p:sp>
        <p:nvSpPr>
          <p:cNvPr id="24579" name="Slide Image Placeholder 24578"/>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Notes Placeholder 26625"/>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a:r>
              <a:t>Operator Precedence</a:t>
            </a:r>
          </a:p>
          <a:p>
            <a:pPr marL="114300" lvl="1" indent="0"/>
            <a:r>
              <a:t>If an arithmetic expression contains more than one operator, multiplication and division are evaluated first. If operators within an expression are of same priority, then evaluation is done from left to right.</a:t>
            </a:r>
          </a:p>
          <a:p>
            <a:pPr marL="114300" lvl="1" indent="0"/>
            <a:r>
              <a:t>You can use parentheses to force the expression within parentheses to be evaluated first.</a:t>
            </a:r>
          </a:p>
          <a:p>
            <a:pPr marL="114300" lvl="1" indent="0"/>
            <a:r>
              <a:t> </a:t>
            </a:r>
          </a:p>
        </p:txBody>
      </p:sp>
      <p:sp>
        <p:nvSpPr>
          <p:cNvPr id="26627" name="Slide Image Placeholder 26626"/>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28673"/>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28675" name="Notes Placeholder 28674"/>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r>
              <a:t>Operator Precedence (continued)</a:t>
            </a:r>
          </a:p>
          <a:p>
            <a:pPr lvl="1"/>
            <a:r>
              <a:t>The example on the slide displays the name, salary, and annual compensation of employees. It calculates the annual compensation as 12 multiplied by the monthly salary, plus a one-time bonus of $100. Notice that multiplication is performed before addition.</a:t>
            </a:r>
          </a:p>
          <a:p>
            <a:pPr lvl="1"/>
            <a:r>
              <a:rPr b="1"/>
              <a:t>Note:</a:t>
            </a:r>
            <a:r>
              <a:t> Use parentheses to reinforce the standard order of precedence and to improve clarity. For example, the expression above can be written as (12*sal)+100 with no change in the result.</a:t>
            </a:r>
          </a:p>
          <a:p>
            <a:pPr lvl="1"/>
            <a:endParaRPr/>
          </a:p>
          <a:p>
            <a:pPr lvl="1"/>
            <a:endParaRPr/>
          </a:p>
          <a:p>
            <a:pPr lvl="1"/>
            <a:endParaRPr/>
          </a:p>
          <a:p>
            <a:pPr lvl="1"/>
            <a:endParaRPr/>
          </a:p>
          <a:p>
            <a:pPr lvl="1"/>
            <a:endParaRPr/>
          </a:p>
          <a:p>
            <a:pPr lvl="1"/>
            <a:endParaRPr/>
          </a:p>
          <a:p>
            <a:pPr lvl="1"/>
            <a:endParaRPr/>
          </a:p>
          <a:p>
            <a:pPr lvl="1"/>
            <a:endParaRPr/>
          </a:p>
          <a:p>
            <a:pPr lvl="0"/>
            <a:r>
              <a:rPr>
                <a:solidFill>
                  <a:schemeClr val="accent2"/>
                </a:solidFill>
              </a:rPr>
              <a:t>Class Management Note</a:t>
            </a:r>
          </a:p>
          <a:p>
            <a:pPr lvl="1"/>
            <a:r>
              <a:rPr>
                <a:solidFill>
                  <a:schemeClr val="accent2"/>
                </a:solidFill>
              </a:rPr>
              <a:t>Demo:</a:t>
            </a:r>
            <a:r>
              <a:rPr i="1">
                <a:solidFill>
                  <a:schemeClr val="accent2"/>
                </a:solidFill>
              </a:rPr>
              <a:t> l1prec1.sql, l1prec2.sql</a:t>
            </a:r>
          </a:p>
          <a:p>
            <a:pPr lvl="1"/>
            <a:r>
              <a:rPr>
                <a:solidFill>
                  <a:schemeClr val="accent2"/>
                </a:solidFill>
              </a:rPr>
              <a:t>Purpose:</a:t>
            </a:r>
            <a:r>
              <a:rPr i="1">
                <a:solidFill>
                  <a:schemeClr val="accent2"/>
                </a:solidFill>
              </a:rPr>
              <a:t> </a:t>
            </a:r>
            <a:r>
              <a:rPr>
                <a:solidFill>
                  <a:schemeClr val="accent2"/>
                </a:solidFill>
              </a:rPr>
              <a:t>To illustrate viewing a query containing no parentheses and executing a query with parentheses to override rules of precedence.</a:t>
            </a:r>
          </a:p>
          <a:p>
            <a:pPr lvl="0"/>
            <a:endParaRPr b="0">
              <a:solidFill>
                <a:schemeClr val="accent2"/>
              </a:solidFill>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30721"/>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30723" name="Notes Placeholder 30722"/>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r>
              <a:t>Using Parentheses</a:t>
            </a:r>
          </a:p>
          <a:p>
            <a:pPr lvl="1"/>
            <a:r>
              <a:t>You can override the rules of precedence by using </a:t>
            </a:r>
            <a:r>
              <a:rPr i="1"/>
              <a:t>parentheses </a:t>
            </a:r>
            <a:r>
              <a:t>to specify the order in which operators are executed.</a:t>
            </a:r>
          </a:p>
          <a:p>
            <a:pPr lvl="1"/>
            <a:r>
              <a:t>The example on the slide displays the name, salary, and annual compensation of employees. It calculates the annual compensation as monthly salary plus a monthly bonus of $100, multiplied by 12. Because of the parentheses, addition takes priority over multiplication.</a:t>
            </a:r>
          </a:p>
          <a:p>
            <a:pPr lvl="0"/>
            <a:endParaRPr b="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2769"/>
          <p:cNvSpPr/>
          <p:nvPr/>
        </p:nvSpPr>
        <p:spPr>
          <a:xfrm>
            <a:off x="3860800" y="0"/>
            <a:ext cx="2959100" cy="460375"/>
          </a:xfrm>
          <a:prstGeom prst="rect">
            <a:avLst/>
          </a:prstGeom>
          <a:noFill/>
          <a:ln>
            <a:noFill/>
            <a:miter lim="800000"/>
          </a:ln>
          <a:effectLst/>
        </p:spPr>
      </p:sp>
      <p:sp>
        <p:nvSpPr>
          <p:cNvPr id="32771" name="Rectangle 32770"/>
          <p:cNvSpPr/>
          <p:nvPr/>
        </p:nvSpPr>
        <p:spPr>
          <a:xfrm>
            <a:off x="-3175" y="0"/>
            <a:ext cx="2955925" cy="460375"/>
          </a:xfrm>
          <a:prstGeom prst="rect">
            <a:avLst/>
          </a:prstGeom>
          <a:noFill/>
          <a:ln>
            <a:noFill/>
            <a:miter lim="800000"/>
          </a:ln>
          <a:effectLst/>
        </p:spPr>
      </p:sp>
      <p:sp>
        <p:nvSpPr>
          <p:cNvPr id="32772" name="Notes Placeholder 32771"/>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a:r>
              <a:t>Null Values</a:t>
            </a:r>
          </a:p>
          <a:p>
            <a:pPr marL="114300" lvl="1" indent="0"/>
            <a:r>
              <a:t>If a row lacks the data value for a particular column, that value is said to be </a:t>
            </a:r>
            <a:r>
              <a:rPr i="1">
                <a:solidFill>
                  <a:srgbClr val="FC0128"/>
                </a:solidFill>
              </a:rPr>
              <a:t>null</a:t>
            </a:r>
            <a:r>
              <a:rPr>
                <a:solidFill>
                  <a:srgbClr val="FC0128"/>
                </a:solidFill>
              </a:rPr>
              <a:t>,</a:t>
            </a:r>
            <a:r>
              <a:t> or to contain null. </a:t>
            </a:r>
          </a:p>
          <a:p>
            <a:pPr marL="114300" lvl="1" indent="0"/>
            <a:r>
              <a:t>A null value is a value that is unavailable, unassigned, unknown, or inapplicable. A null value is not the same as zero or a space. Zero is a number, and a space is a character. </a:t>
            </a:r>
          </a:p>
          <a:p>
            <a:pPr marL="114300" lvl="1" indent="0"/>
            <a:r>
              <a:t>Columns of any datatype can contain null values, unless the column was defined as NOT NULL or as PRIMARY KEY when the column was created. </a:t>
            </a:r>
          </a:p>
          <a:p>
            <a:pPr marL="114300" lvl="1" indent="0"/>
            <a:r>
              <a:t>In the COMM column in the EMP table, you notice that only a SALESMAN can earn commission. Other employees are not entitled to earn commission. A null value represents that fact. Turner, who is a salesman, does not earn any commission. Notice that his commission is zero and not null.</a:t>
            </a:r>
          </a:p>
          <a:p>
            <a:pPr marL="114300" lvl="1" indent="0"/>
            <a:endParaRPr/>
          </a:p>
          <a:p>
            <a:pPr marL="114300" lvl="1" indent="0"/>
            <a:endParaRPr/>
          </a:p>
          <a:p>
            <a:pPr marL="114300" lvl="1" indent="0"/>
            <a:endParaRPr/>
          </a:p>
          <a:p>
            <a:pPr marL="114300" lvl="1" indent="0"/>
            <a:endParaRPr/>
          </a:p>
          <a:p>
            <a:pPr marL="114300" lvl="1" indent="0"/>
            <a:endParaRPr/>
          </a:p>
          <a:p>
            <a:pPr marL="114300" lvl="1" indent="0"/>
            <a:endParaRPr/>
          </a:p>
          <a:p>
            <a:pPr marL="0" lvl="0" indent="0"/>
            <a:r>
              <a:rPr>
                <a:solidFill>
                  <a:schemeClr val="accent2"/>
                </a:solidFill>
              </a:rPr>
              <a:t>Class Management Note</a:t>
            </a:r>
          </a:p>
          <a:p>
            <a:pPr marL="114300" lvl="1" indent="0"/>
            <a:r>
              <a:rPr>
                <a:solidFill>
                  <a:schemeClr val="accent2"/>
                </a:solidFill>
              </a:rPr>
              <a:t>Demo: </a:t>
            </a:r>
            <a:r>
              <a:rPr i="1">
                <a:solidFill>
                  <a:schemeClr val="accent2"/>
                </a:solidFill>
              </a:rPr>
              <a:t>l1null.sql</a:t>
            </a:r>
          </a:p>
          <a:p>
            <a:pPr marL="114300" lvl="1" indent="0"/>
            <a:r>
              <a:rPr>
                <a:solidFill>
                  <a:schemeClr val="accent2"/>
                </a:solidFill>
              </a:rPr>
              <a:t>Purpose:</a:t>
            </a:r>
            <a:r>
              <a:rPr i="1">
                <a:solidFill>
                  <a:schemeClr val="accent2"/>
                </a:solidFill>
              </a:rPr>
              <a:t> </a:t>
            </a:r>
            <a:r>
              <a:rPr>
                <a:solidFill>
                  <a:schemeClr val="accent2"/>
                </a:solidFill>
              </a:rPr>
              <a:t>To illustrate calculating with null values.</a:t>
            </a:r>
          </a:p>
        </p:txBody>
      </p:sp>
      <p:sp>
        <p:nvSpPr>
          <p:cNvPr id="32773" name="Slide Image Placeholder 32772"/>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34817"/>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34819" name="Notes Placeholder 34818"/>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r>
              <a:t>Null Values (continued)</a:t>
            </a:r>
          </a:p>
          <a:p>
            <a:pPr lvl="1"/>
            <a:r>
              <a:t>If any column value in an arithmetic expression is null, the result is null. For example, if you attempt to perform division with zero, you get an error. However, if you divide a number by null, the result is a null or unknown. </a:t>
            </a:r>
          </a:p>
          <a:p>
            <a:pPr lvl="1"/>
            <a:r>
              <a:t>In the example on the slide, employee KING is not in SALESMAN and does not get any commission. Because the COMM column in the arithmetic expression is null, the result is null. </a:t>
            </a:r>
          </a:p>
          <a:p>
            <a:pPr lvl="1"/>
            <a:r>
              <a:t>For more information, see </a:t>
            </a:r>
            <a:br/>
            <a:r>
              <a:rPr i="1"/>
              <a:t>Oracle Server SQL Reference, </a:t>
            </a:r>
            <a:r>
              <a:t>Release 8, “Elements of SQL.”</a:t>
            </a:r>
          </a:p>
        </p:txBody>
      </p:sp>
      <p:grpSp>
        <p:nvGrpSpPr>
          <p:cNvPr id="34833" name="Group 34832"/>
          <p:cNvGrpSpPr/>
          <p:nvPr/>
        </p:nvGrpSpPr>
        <p:grpSpPr>
          <a:xfrm>
            <a:off x="201613" y="6016625"/>
            <a:ext cx="298450" cy="292100"/>
            <a:chOff x="127" y="3790"/>
            <a:chExt cx="188" cy="184"/>
          </a:xfrm>
        </p:grpSpPr>
        <p:sp>
          <p:nvSpPr>
            <p:cNvPr id="34820" name="Freeform 34819"/>
            <p:cNvSpPr/>
            <p:nvPr/>
          </p:nvSpPr>
          <p:spPr>
            <a:xfrm>
              <a:off x="127" y="3790"/>
              <a:ext cx="178" cy="178"/>
            </a:xfrm>
            <a:custGeom>
              <a:avLst/>
              <a:gdLst/>
              <a:ahLst/>
              <a:cxnLst/>
              <a:rect l="0" t="0" r="0" b="0"/>
              <a:pathLst>
                <a:path w="178" h="178">
                  <a:moveTo>
                    <a:pt x="177" y="177"/>
                  </a:moveTo>
                  <a:lnTo>
                    <a:pt x="177" y="0"/>
                  </a:lnTo>
                  <a:lnTo>
                    <a:pt x="0" y="0"/>
                  </a:lnTo>
                  <a:lnTo>
                    <a:pt x="0" y="177"/>
                  </a:lnTo>
                  <a:lnTo>
                    <a:pt x="177" y="177"/>
                  </a:lnTo>
                </a:path>
              </a:pathLst>
            </a:custGeom>
            <a:solidFill>
              <a:srgbClr val="000000"/>
            </a:solidFill>
            <a:ln cap="rnd">
              <a:noFill/>
              <a:round/>
              <a:headEnd type="none" w="sm" len="sm"/>
              <a:tailEnd type="none" w="sm" len="sm"/>
            </a:ln>
            <a:effectLst/>
          </p:spPr>
        </p:sp>
        <p:sp>
          <p:nvSpPr>
            <p:cNvPr id="34821" name="Freeform 34820"/>
            <p:cNvSpPr/>
            <p:nvPr/>
          </p:nvSpPr>
          <p:spPr>
            <a:xfrm>
              <a:off x="189" y="3856"/>
              <a:ext cx="69" cy="37"/>
            </a:xfrm>
            <a:custGeom>
              <a:avLst/>
              <a:gdLst/>
              <a:ahLst/>
              <a:cxnLst/>
              <a:rect l="0" t="0" r="0" b="0"/>
              <a:pathLst>
                <a:path w="69" h="37">
                  <a:moveTo>
                    <a:pt x="68" y="7"/>
                  </a:moveTo>
                  <a:lnTo>
                    <a:pt x="65" y="0"/>
                  </a:lnTo>
                  <a:lnTo>
                    <a:pt x="0" y="29"/>
                  </a:lnTo>
                  <a:lnTo>
                    <a:pt x="3" y="36"/>
                  </a:lnTo>
                  <a:lnTo>
                    <a:pt x="68" y="7"/>
                  </a:lnTo>
                </a:path>
              </a:pathLst>
            </a:custGeom>
            <a:solidFill>
              <a:srgbClr val="FFFFFF"/>
            </a:solidFill>
            <a:ln cap="rnd">
              <a:noFill/>
              <a:round/>
              <a:headEnd type="none" w="sm" len="sm"/>
              <a:tailEnd type="none" w="sm" len="sm"/>
            </a:ln>
            <a:effectLst/>
          </p:spPr>
        </p:sp>
        <p:sp>
          <p:nvSpPr>
            <p:cNvPr id="34822" name="Freeform 34821"/>
            <p:cNvSpPr/>
            <p:nvPr/>
          </p:nvSpPr>
          <p:spPr>
            <a:xfrm>
              <a:off x="198" y="3872"/>
              <a:ext cx="68" cy="38"/>
            </a:xfrm>
            <a:custGeom>
              <a:avLst/>
              <a:gdLst/>
              <a:ahLst/>
              <a:cxnLst/>
              <a:rect l="0" t="0" r="0" b="0"/>
              <a:pathLst>
                <a:path w="68" h="38">
                  <a:moveTo>
                    <a:pt x="67" y="7"/>
                  </a:moveTo>
                  <a:lnTo>
                    <a:pt x="64" y="0"/>
                  </a:lnTo>
                  <a:lnTo>
                    <a:pt x="0" y="29"/>
                  </a:lnTo>
                  <a:lnTo>
                    <a:pt x="2" y="37"/>
                  </a:lnTo>
                  <a:lnTo>
                    <a:pt x="67" y="7"/>
                  </a:lnTo>
                </a:path>
              </a:pathLst>
            </a:custGeom>
            <a:solidFill>
              <a:srgbClr val="FFFFFF"/>
            </a:solidFill>
            <a:ln cap="rnd">
              <a:noFill/>
              <a:round/>
              <a:headEnd type="none" w="sm" len="sm"/>
              <a:tailEnd type="none" w="sm" len="sm"/>
            </a:ln>
            <a:effectLst/>
          </p:spPr>
        </p:sp>
        <p:sp>
          <p:nvSpPr>
            <p:cNvPr id="34823" name="Freeform 34822"/>
            <p:cNvSpPr/>
            <p:nvPr/>
          </p:nvSpPr>
          <p:spPr>
            <a:xfrm>
              <a:off x="203" y="3888"/>
              <a:ext cx="69" cy="35"/>
            </a:xfrm>
            <a:custGeom>
              <a:avLst/>
              <a:gdLst/>
              <a:ahLst/>
              <a:cxnLst/>
              <a:rect l="0" t="0" r="0" b="0"/>
              <a:pathLst>
                <a:path w="69" h="35">
                  <a:moveTo>
                    <a:pt x="68" y="6"/>
                  </a:moveTo>
                  <a:lnTo>
                    <a:pt x="65" y="0"/>
                  </a:lnTo>
                  <a:lnTo>
                    <a:pt x="0" y="27"/>
                  </a:lnTo>
                  <a:lnTo>
                    <a:pt x="3" y="34"/>
                  </a:lnTo>
                  <a:lnTo>
                    <a:pt x="68" y="6"/>
                  </a:lnTo>
                </a:path>
              </a:pathLst>
            </a:custGeom>
            <a:solidFill>
              <a:srgbClr val="FFFFFF"/>
            </a:solidFill>
            <a:ln cap="rnd">
              <a:noFill/>
              <a:round/>
              <a:headEnd type="none" w="sm" len="sm"/>
              <a:tailEnd type="none" w="sm" len="sm"/>
            </a:ln>
            <a:effectLst/>
          </p:spPr>
        </p:sp>
        <p:sp>
          <p:nvSpPr>
            <p:cNvPr id="34824" name="Freeform 34823"/>
            <p:cNvSpPr/>
            <p:nvPr/>
          </p:nvSpPr>
          <p:spPr>
            <a:xfrm>
              <a:off x="210" y="3906"/>
              <a:ext cx="71" cy="34"/>
            </a:xfrm>
            <a:custGeom>
              <a:avLst/>
              <a:gdLst/>
              <a:ahLst/>
              <a:cxnLst/>
              <a:rect l="0" t="0" r="0" b="0"/>
              <a:pathLst>
                <a:path w="71" h="34">
                  <a:moveTo>
                    <a:pt x="70" y="6"/>
                  </a:moveTo>
                  <a:lnTo>
                    <a:pt x="66" y="0"/>
                  </a:lnTo>
                  <a:lnTo>
                    <a:pt x="0" y="26"/>
                  </a:lnTo>
                  <a:lnTo>
                    <a:pt x="3" y="33"/>
                  </a:lnTo>
                  <a:lnTo>
                    <a:pt x="70" y="6"/>
                  </a:lnTo>
                </a:path>
              </a:pathLst>
            </a:custGeom>
            <a:solidFill>
              <a:srgbClr val="FFFFFF"/>
            </a:solidFill>
            <a:ln cap="rnd">
              <a:noFill/>
              <a:round/>
              <a:headEnd type="none" w="sm" len="sm"/>
              <a:tailEnd type="none" w="sm" len="sm"/>
            </a:ln>
            <a:effectLst/>
          </p:spPr>
        </p:sp>
        <p:sp>
          <p:nvSpPr>
            <p:cNvPr id="34825" name="Freeform 34824"/>
            <p:cNvSpPr/>
            <p:nvPr/>
          </p:nvSpPr>
          <p:spPr>
            <a:xfrm>
              <a:off x="219" y="3920"/>
              <a:ext cx="68" cy="38"/>
            </a:xfrm>
            <a:custGeom>
              <a:avLst/>
              <a:gdLst/>
              <a:ahLst/>
              <a:cxnLst/>
              <a:rect l="0" t="0" r="0" b="0"/>
              <a:pathLst>
                <a:path w="68" h="38">
                  <a:moveTo>
                    <a:pt x="67" y="7"/>
                  </a:moveTo>
                  <a:lnTo>
                    <a:pt x="64" y="0"/>
                  </a:lnTo>
                  <a:lnTo>
                    <a:pt x="0" y="29"/>
                  </a:lnTo>
                  <a:lnTo>
                    <a:pt x="2" y="37"/>
                  </a:lnTo>
                  <a:lnTo>
                    <a:pt x="67" y="7"/>
                  </a:lnTo>
                </a:path>
              </a:pathLst>
            </a:custGeom>
            <a:solidFill>
              <a:srgbClr val="FFFFFF"/>
            </a:solidFill>
            <a:ln cap="rnd">
              <a:noFill/>
              <a:round/>
              <a:headEnd type="none" w="sm" len="sm"/>
              <a:tailEnd type="none" w="sm" len="sm"/>
            </a:ln>
            <a:effectLst/>
          </p:spPr>
        </p:sp>
        <p:sp>
          <p:nvSpPr>
            <p:cNvPr id="34826" name="Freeform 34825"/>
            <p:cNvSpPr/>
            <p:nvPr/>
          </p:nvSpPr>
          <p:spPr>
            <a:xfrm>
              <a:off x="149" y="3819"/>
              <a:ext cx="121" cy="58"/>
            </a:xfrm>
            <a:custGeom>
              <a:avLst/>
              <a:gdLst/>
              <a:ahLst/>
              <a:cxnLst/>
              <a:rect l="0" t="0" r="0" b="0"/>
              <a:pathLst>
                <a:path w="121" h="58">
                  <a:moveTo>
                    <a:pt x="120" y="7"/>
                  </a:moveTo>
                  <a:lnTo>
                    <a:pt x="118" y="0"/>
                  </a:lnTo>
                  <a:lnTo>
                    <a:pt x="0" y="50"/>
                  </a:lnTo>
                  <a:lnTo>
                    <a:pt x="2" y="57"/>
                  </a:lnTo>
                  <a:lnTo>
                    <a:pt x="120" y="7"/>
                  </a:lnTo>
                </a:path>
              </a:pathLst>
            </a:custGeom>
            <a:solidFill>
              <a:srgbClr val="FFFFFF"/>
            </a:solidFill>
            <a:ln cap="rnd">
              <a:noFill/>
              <a:round/>
              <a:headEnd type="none" w="sm" len="sm"/>
              <a:tailEnd type="none" w="sm" len="sm"/>
            </a:ln>
            <a:effectLst/>
          </p:spPr>
        </p:sp>
        <p:sp>
          <p:nvSpPr>
            <p:cNvPr id="34827" name="Freeform 34826"/>
            <p:cNvSpPr/>
            <p:nvPr/>
          </p:nvSpPr>
          <p:spPr>
            <a:xfrm>
              <a:off x="131" y="3808"/>
              <a:ext cx="123" cy="59"/>
            </a:xfrm>
            <a:custGeom>
              <a:avLst/>
              <a:gdLst/>
              <a:ahLst/>
              <a:cxnLst/>
              <a:rect l="0" t="0" r="0" b="0"/>
              <a:pathLst>
                <a:path w="123" h="59">
                  <a:moveTo>
                    <a:pt x="122" y="7"/>
                  </a:moveTo>
                  <a:lnTo>
                    <a:pt x="119" y="0"/>
                  </a:lnTo>
                  <a:lnTo>
                    <a:pt x="0" y="51"/>
                  </a:lnTo>
                  <a:lnTo>
                    <a:pt x="2" y="58"/>
                  </a:lnTo>
                  <a:lnTo>
                    <a:pt x="122" y="7"/>
                  </a:lnTo>
                </a:path>
              </a:pathLst>
            </a:custGeom>
            <a:solidFill>
              <a:srgbClr val="FFFFFF"/>
            </a:solidFill>
            <a:ln cap="rnd">
              <a:noFill/>
              <a:round/>
              <a:headEnd type="none" w="sm" len="sm"/>
              <a:tailEnd type="none" w="sm" len="sm"/>
            </a:ln>
            <a:effectLst/>
          </p:spPr>
        </p:sp>
        <p:sp>
          <p:nvSpPr>
            <p:cNvPr id="34828" name="Freeform 34827"/>
            <p:cNvSpPr/>
            <p:nvPr/>
          </p:nvSpPr>
          <p:spPr>
            <a:xfrm>
              <a:off x="258" y="3821"/>
              <a:ext cx="57" cy="104"/>
            </a:xfrm>
            <a:custGeom>
              <a:avLst/>
              <a:gdLst/>
              <a:ahLst/>
              <a:cxnLst/>
              <a:rect l="0" t="0" r="0" b="0"/>
              <a:pathLst>
                <a:path w="57" h="104">
                  <a:moveTo>
                    <a:pt x="48" y="103"/>
                  </a:moveTo>
                  <a:lnTo>
                    <a:pt x="56" y="100"/>
                  </a:lnTo>
                  <a:lnTo>
                    <a:pt x="7" y="0"/>
                  </a:lnTo>
                  <a:lnTo>
                    <a:pt x="0" y="2"/>
                  </a:lnTo>
                  <a:lnTo>
                    <a:pt x="48" y="103"/>
                  </a:lnTo>
                </a:path>
              </a:pathLst>
            </a:custGeom>
            <a:solidFill>
              <a:srgbClr val="FFFFFF"/>
            </a:solidFill>
            <a:ln cap="rnd">
              <a:noFill/>
              <a:round/>
              <a:headEnd type="none" w="sm" len="sm"/>
              <a:tailEnd type="none" w="sm" len="sm"/>
            </a:ln>
            <a:effectLst/>
          </p:spPr>
        </p:sp>
        <p:sp>
          <p:nvSpPr>
            <p:cNvPr id="34829" name="Freeform 34828"/>
            <p:cNvSpPr/>
            <p:nvPr/>
          </p:nvSpPr>
          <p:spPr>
            <a:xfrm>
              <a:off x="149" y="3867"/>
              <a:ext cx="53" cy="107"/>
            </a:xfrm>
            <a:custGeom>
              <a:avLst/>
              <a:gdLst/>
              <a:ahLst/>
              <a:cxnLst/>
              <a:rect l="0" t="0" r="0" b="0"/>
              <a:pathLst>
                <a:path w="53" h="107">
                  <a:moveTo>
                    <a:pt x="45" y="106"/>
                  </a:moveTo>
                  <a:lnTo>
                    <a:pt x="52" y="102"/>
                  </a:lnTo>
                  <a:lnTo>
                    <a:pt x="6" y="0"/>
                  </a:lnTo>
                  <a:lnTo>
                    <a:pt x="0" y="4"/>
                  </a:lnTo>
                  <a:lnTo>
                    <a:pt x="45" y="106"/>
                  </a:lnTo>
                </a:path>
              </a:pathLst>
            </a:custGeom>
            <a:solidFill>
              <a:srgbClr val="FFFFFF"/>
            </a:solidFill>
            <a:ln cap="rnd">
              <a:noFill/>
              <a:round/>
              <a:headEnd type="none" w="sm" len="sm"/>
              <a:tailEnd type="none" w="sm" len="sm"/>
            </a:ln>
            <a:effectLst/>
          </p:spPr>
        </p:sp>
        <p:sp>
          <p:nvSpPr>
            <p:cNvPr id="34830" name="Freeform 34829"/>
            <p:cNvSpPr/>
            <p:nvPr/>
          </p:nvSpPr>
          <p:spPr>
            <a:xfrm>
              <a:off x="127" y="3858"/>
              <a:ext cx="59" cy="116"/>
            </a:xfrm>
            <a:custGeom>
              <a:avLst/>
              <a:gdLst/>
              <a:ahLst/>
              <a:cxnLst/>
              <a:rect l="0" t="0" r="0" b="0"/>
              <a:pathLst>
                <a:path w="59" h="116">
                  <a:moveTo>
                    <a:pt x="51" y="115"/>
                  </a:moveTo>
                  <a:lnTo>
                    <a:pt x="58" y="112"/>
                  </a:lnTo>
                  <a:lnTo>
                    <a:pt x="6" y="0"/>
                  </a:lnTo>
                  <a:lnTo>
                    <a:pt x="0" y="2"/>
                  </a:lnTo>
                  <a:lnTo>
                    <a:pt x="51" y="115"/>
                  </a:lnTo>
                </a:path>
              </a:pathLst>
            </a:custGeom>
            <a:solidFill>
              <a:srgbClr val="FFFFFF"/>
            </a:solidFill>
            <a:ln cap="rnd">
              <a:noFill/>
              <a:round/>
              <a:headEnd type="none" w="sm" len="sm"/>
              <a:tailEnd type="none" w="sm" len="sm"/>
            </a:ln>
            <a:effectLst/>
          </p:spPr>
        </p:sp>
        <p:sp>
          <p:nvSpPr>
            <p:cNvPr id="34831" name="Freeform 34830"/>
            <p:cNvSpPr/>
            <p:nvPr/>
          </p:nvSpPr>
          <p:spPr>
            <a:xfrm>
              <a:off x="130" y="3858"/>
              <a:ext cx="28" cy="18"/>
            </a:xfrm>
            <a:custGeom>
              <a:avLst/>
              <a:gdLst/>
              <a:ahLst/>
              <a:cxnLst/>
              <a:rect l="0" t="0" r="0" b="0"/>
              <a:pathLst>
                <a:path w="28" h="18">
                  <a:moveTo>
                    <a:pt x="23" y="17"/>
                  </a:moveTo>
                  <a:lnTo>
                    <a:pt x="27" y="10"/>
                  </a:lnTo>
                  <a:lnTo>
                    <a:pt x="4" y="0"/>
                  </a:lnTo>
                  <a:lnTo>
                    <a:pt x="0" y="6"/>
                  </a:lnTo>
                  <a:lnTo>
                    <a:pt x="23" y="17"/>
                  </a:lnTo>
                </a:path>
              </a:pathLst>
            </a:custGeom>
            <a:solidFill>
              <a:srgbClr val="FFFFFF"/>
            </a:solidFill>
            <a:ln cap="rnd">
              <a:noFill/>
              <a:round/>
              <a:headEnd type="none" w="sm" len="sm"/>
              <a:tailEnd type="none" w="sm" len="sm"/>
            </a:ln>
            <a:effectLst/>
          </p:spPr>
        </p:sp>
        <p:sp>
          <p:nvSpPr>
            <p:cNvPr id="34832" name="Freeform 34831"/>
            <p:cNvSpPr/>
            <p:nvPr/>
          </p:nvSpPr>
          <p:spPr>
            <a:xfrm>
              <a:off x="237" y="3814"/>
              <a:ext cx="29" cy="18"/>
            </a:xfrm>
            <a:custGeom>
              <a:avLst/>
              <a:gdLst/>
              <a:ahLst/>
              <a:cxnLst/>
              <a:rect l="0" t="0" r="0" b="0"/>
              <a:pathLst>
                <a:path w="29" h="18">
                  <a:moveTo>
                    <a:pt x="24" y="17"/>
                  </a:moveTo>
                  <a:lnTo>
                    <a:pt x="28" y="10"/>
                  </a:lnTo>
                  <a:lnTo>
                    <a:pt x="4" y="0"/>
                  </a:lnTo>
                  <a:lnTo>
                    <a:pt x="0" y="5"/>
                  </a:lnTo>
                  <a:lnTo>
                    <a:pt x="24" y="17"/>
                  </a:lnTo>
                </a:path>
              </a:pathLst>
            </a:custGeom>
            <a:solidFill>
              <a:srgbClr val="FFFFFF"/>
            </a:solidFill>
            <a:ln cap="rnd">
              <a:noFill/>
              <a:round/>
              <a:headEnd type="none" w="sm" len="sm"/>
              <a:tailEnd type="none" w="sm" len="sm"/>
            </a:ln>
            <a:effectLst/>
          </p:spPr>
        </p:sp>
      </p:gr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36865"/>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36867" name="Notes Placeholder 36866"/>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lnSpc>
                <a:spcPct val="112000"/>
              </a:lnSpc>
              <a:spcBef>
                <a:spcPct val="0"/>
              </a:spcBef>
              <a:spcAft>
                <a:spcPct val="24000"/>
              </a:spcAft>
            </a:pPr>
            <a:r>
              <a:t>Column Aliases</a:t>
            </a:r>
            <a:endParaRPr b="0">
              <a:latin typeface="Times" pitchFamily="18" charset="0"/>
            </a:endParaRPr>
          </a:p>
          <a:p>
            <a:pPr lvl="1"/>
            <a:r>
              <a:t>When displaying the result of a query, SQL*Plus normally uses the name of the selected column as the column heading. In many cases, this heading may not be descriptive and hence is difficult to understand. You can change a column heading by using a column alias.</a:t>
            </a:r>
          </a:p>
          <a:p>
            <a:pPr lvl="1"/>
            <a:r>
              <a:t>Specify the </a:t>
            </a:r>
            <a:r>
              <a:rPr>
                <a:solidFill>
                  <a:srgbClr val="FC0128"/>
                </a:solidFill>
              </a:rPr>
              <a:t>alias </a:t>
            </a:r>
            <a:r>
              <a:t>after the column in the SELECT list using a space as a separator. By default, alias headings appear in uppercase. If the alias contains spaces, special characters (such as # or $), or is case sensitive, enclose the alias in double quotation marks (" ").</a:t>
            </a:r>
          </a:p>
          <a:p>
            <a:pPr lvl="0"/>
            <a:endParaRPr/>
          </a:p>
          <a:p>
            <a:pPr lvl="0"/>
            <a:endParaRPr>
              <a:solidFill>
                <a:schemeClr val="accent2"/>
              </a:solidFill>
            </a:endParaRPr>
          </a:p>
          <a:p>
            <a:pPr lvl="0"/>
            <a:endParaRPr>
              <a:solidFill>
                <a:schemeClr val="accent2"/>
              </a:solidFill>
            </a:endParaRPr>
          </a:p>
          <a:p>
            <a:pPr lvl="0"/>
            <a:endParaRPr>
              <a:solidFill>
                <a:schemeClr val="accent2"/>
              </a:solidFill>
            </a:endParaRPr>
          </a:p>
          <a:p>
            <a:pPr lvl="0"/>
            <a:endParaRPr>
              <a:solidFill>
                <a:schemeClr val="accent2"/>
              </a:solidFill>
            </a:endParaRPr>
          </a:p>
          <a:p>
            <a:pPr lvl="0"/>
            <a:r>
              <a:rPr>
                <a:solidFill>
                  <a:schemeClr val="accent2"/>
                </a:solidFill>
              </a:rPr>
              <a:t>Class Management Note</a:t>
            </a:r>
          </a:p>
          <a:p>
            <a:pPr lvl="1"/>
            <a:r>
              <a:rPr>
                <a:solidFill>
                  <a:schemeClr val="accent2"/>
                </a:solidFill>
              </a:rPr>
              <a:t>Within a SQL statement, a column alias can be used in both the SELECT clause and the ORDER BY clause. You cannot use column aliases in the WHERE clause. Both alias features comply with the ANSI SQL 92 standard.</a:t>
            </a:r>
          </a:p>
          <a:p>
            <a:pPr lvl="1"/>
            <a:r>
              <a:rPr>
                <a:solidFill>
                  <a:schemeClr val="accent2"/>
                </a:solidFill>
              </a:rPr>
              <a:t>Demo: </a:t>
            </a:r>
            <a:r>
              <a:rPr i="1">
                <a:solidFill>
                  <a:schemeClr val="accent2"/>
                </a:solidFill>
              </a:rPr>
              <a:t>l1alias.sql</a:t>
            </a:r>
          </a:p>
          <a:p>
            <a:pPr lvl="1"/>
            <a:r>
              <a:rPr>
                <a:solidFill>
                  <a:schemeClr val="accent2"/>
                </a:solidFill>
              </a:rPr>
              <a:t>Purpose:</a:t>
            </a:r>
            <a:r>
              <a:rPr i="1">
                <a:solidFill>
                  <a:schemeClr val="accent2"/>
                </a:solidFill>
              </a:rPr>
              <a:t> </a:t>
            </a:r>
            <a:r>
              <a:rPr>
                <a:solidFill>
                  <a:schemeClr val="accent2"/>
                </a:solidFill>
              </a:rPr>
              <a:t>To illustrate the use of aliases in expressions.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Notes Placeholder 38913"/>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a:r>
              <a:t>Column Aliases (continued)</a:t>
            </a:r>
          </a:p>
          <a:p>
            <a:pPr marL="114300" lvl="1" indent="0"/>
            <a:r>
              <a:t>The first example displays the name and the monthly salary of all the employees. Notice that the optional AS keyword has been used before the column alias name. The result of the query would be the same whether the AS keyword is used or not. Also notice that the SQL statement has the column aliases, name and salary, in lowercase, whereas the result of the query displays the column headings in uppercase. As mentioned in the last slide, column headings appear in uppercase by default. </a:t>
            </a:r>
          </a:p>
          <a:p>
            <a:pPr marL="114300" lvl="1" indent="0"/>
            <a:r>
              <a:t>The second example displays the name and annual salary of all the employees. Because Annual Salary contains spaces, it has been enclosed in double quotation marks. Notice that the column heading in the output is exactly the same as the column alias.</a:t>
            </a:r>
          </a:p>
          <a:p>
            <a:pPr marL="0" lvl="0" indent="0"/>
            <a:endParaRPr b="0">
              <a:latin typeface="Times New Roman" pitchFamily="18" charset="0"/>
            </a:endParaRPr>
          </a:p>
          <a:p>
            <a:pPr marL="0" lvl="0" indent="0"/>
            <a:endParaRPr b="0">
              <a:latin typeface="Times New Roman" pitchFamily="18" charset="0"/>
            </a:endParaRPr>
          </a:p>
          <a:p>
            <a:pPr marL="0" lvl="0" indent="0"/>
            <a:endParaRPr b="0">
              <a:latin typeface="Times New Roman" pitchFamily="18" charset="0"/>
            </a:endParaRPr>
          </a:p>
          <a:p>
            <a:pPr marL="0" lvl="0" indent="0"/>
            <a:endParaRPr b="0">
              <a:latin typeface="Times New Roman" pitchFamily="18" charset="0"/>
            </a:endParaRPr>
          </a:p>
          <a:p>
            <a:pPr marL="0" lvl="0" indent="0"/>
            <a:endParaRPr b="0">
              <a:latin typeface="Times New Roman" pitchFamily="18" charset="0"/>
            </a:endParaRPr>
          </a:p>
          <a:p>
            <a:pPr marL="0" lvl="0" indent="0"/>
            <a:r>
              <a:rPr>
                <a:solidFill>
                  <a:schemeClr val="accent2"/>
                </a:solidFill>
              </a:rPr>
              <a:t>Class Management Note</a:t>
            </a:r>
            <a:r>
              <a:t> </a:t>
            </a:r>
          </a:p>
          <a:p>
            <a:pPr marL="114300" lvl="1" indent="0"/>
            <a:r>
              <a:rPr>
                <a:solidFill>
                  <a:schemeClr val="accent2"/>
                </a:solidFill>
              </a:rPr>
              <a:t>Point out the optional AS keyword in the first example and the double quotation marks in the second example. Also show that the aliases always appear in uppercase, unless enclosed within double quotation marks.</a:t>
            </a:r>
            <a:r>
              <a:t>  </a:t>
            </a:r>
          </a:p>
        </p:txBody>
      </p:sp>
      <p:sp>
        <p:nvSpPr>
          <p:cNvPr id="38915" name="Slide Image Placeholder 38914"/>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0961"/>
          <p:cNvSpPr/>
          <p:nvPr/>
        </p:nvSpPr>
        <p:spPr>
          <a:xfrm>
            <a:off x="3860800" y="0"/>
            <a:ext cx="2959100" cy="460375"/>
          </a:xfrm>
          <a:prstGeom prst="rect">
            <a:avLst/>
          </a:prstGeom>
          <a:noFill/>
          <a:ln>
            <a:noFill/>
            <a:miter lim="800000"/>
          </a:ln>
          <a:effectLst/>
        </p:spPr>
      </p:sp>
      <p:sp>
        <p:nvSpPr>
          <p:cNvPr id="40963" name="Rectangle 40962"/>
          <p:cNvSpPr/>
          <p:nvPr/>
        </p:nvSpPr>
        <p:spPr>
          <a:xfrm>
            <a:off x="-3175" y="0"/>
            <a:ext cx="2955925" cy="460375"/>
          </a:xfrm>
          <a:prstGeom prst="rect">
            <a:avLst/>
          </a:prstGeom>
          <a:noFill/>
          <a:ln>
            <a:noFill/>
            <a:miter lim="800000"/>
          </a:ln>
          <a:effectLst/>
        </p:spPr>
      </p:sp>
      <p:sp>
        <p:nvSpPr>
          <p:cNvPr id="40964" name="Notes Placeholder 40963"/>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a:r>
              <a:t>Concatenation Operator</a:t>
            </a:r>
          </a:p>
          <a:p>
            <a:pPr marL="114300" lvl="1" indent="0"/>
            <a:r>
              <a:t>You can link columns to other columns, arithmetic expressions, or constant values to create a character expression by using the </a:t>
            </a:r>
            <a:r>
              <a:rPr>
                <a:solidFill>
                  <a:srgbClr val="FC0128"/>
                </a:solidFill>
              </a:rPr>
              <a:t>concatenation operator </a:t>
            </a:r>
            <a:r>
              <a:t>(|</a:t>
            </a:r>
            <a:r>
              <a:rPr>
                <a:solidFill>
                  <a:srgbClr val="FC0128"/>
                </a:solidFill>
              </a:rPr>
              <a:t>|)</a:t>
            </a:r>
            <a:r>
              <a:t>. Columns on either side of the operator are combined to make a single output column.</a:t>
            </a:r>
          </a:p>
          <a:p>
            <a:pPr marL="0" lvl="0" indent="0"/>
            <a:endParaRPr/>
          </a:p>
          <a:p>
            <a:pPr marL="0" lvl="0" indent="0"/>
            <a:endParaRPr/>
          </a:p>
        </p:txBody>
      </p:sp>
      <p:sp>
        <p:nvSpPr>
          <p:cNvPr id="40965" name="Slide Image Placeholder 40964"/>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43009"/>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43011" name="Notes Placeholder 43010"/>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r>
              <a:t>Concatenation Operator (continued)</a:t>
            </a:r>
          </a:p>
          <a:p>
            <a:pPr lvl="1"/>
            <a:r>
              <a:t>In the example, ENAME and JOB are concatenated, and they are given the alias Employees. Notice that the employee number and job are combined to make a single output column.</a:t>
            </a:r>
          </a:p>
          <a:p>
            <a:pPr lvl="1"/>
            <a:r>
              <a:t>The AS keyword before the alias name makes the SELECT clause easier to read.</a:t>
            </a:r>
          </a:p>
        </p:txBody>
      </p:sp>
      <p:grpSp>
        <p:nvGrpSpPr>
          <p:cNvPr id="43023" name="Group 43022"/>
          <p:cNvGrpSpPr/>
          <p:nvPr/>
        </p:nvGrpSpPr>
        <p:grpSpPr>
          <a:xfrm>
            <a:off x="177800" y="5424488"/>
            <a:ext cx="284163" cy="304800"/>
            <a:chOff x="112" y="3417"/>
            <a:chExt cx="179" cy="192"/>
          </a:xfrm>
        </p:grpSpPr>
        <p:sp>
          <p:nvSpPr>
            <p:cNvPr id="43012" name="Freeform 43011"/>
            <p:cNvSpPr/>
            <p:nvPr/>
          </p:nvSpPr>
          <p:spPr>
            <a:xfrm>
              <a:off x="112" y="3417"/>
              <a:ext cx="179" cy="184"/>
            </a:xfrm>
            <a:custGeom>
              <a:avLst/>
              <a:gdLst/>
              <a:ahLst/>
              <a:cxnLst/>
              <a:rect l="0" t="0" r="0" b="0"/>
              <a:pathLst>
                <a:path w="179" h="184">
                  <a:moveTo>
                    <a:pt x="178" y="183"/>
                  </a:moveTo>
                  <a:lnTo>
                    <a:pt x="178" y="0"/>
                  </a:lnTo>
                  <a:lnTo>
                    <a:pt x="0" y="0"/>
                  </a:lnTo>
                  <a:lnTo>
                    <a:pt x="0" y="183"/>
                  </a:lnTo>
                  <a:lnTo>
                    <a:pt x="178" y="183"/>
                  </a:lnTo>
                </a:path>
              </a:pathLst>
            </a:custGeom>
            <a:solidFill>
              <a:srgbClr val="000000"/>
            </a:solidFill>
            <a:ln cap="rnd">
              <a:noFill/>
              <a:round/>
              <a:headEnd type="none" w="sm" len="sm"/>
              <a:tailEnd type="none" w="sm" len="sm"/>
            </a:ln>
            <a:effectLst/>
          </p:spPr>
        </p:sp>
        <p:sp>
          <p:nvSpPr>
            <p:cNvPr id="43013" name="Freeform 43012"/>
            <p:cNvSpPr/>
            <p:nvPr/>
          </p:nvSpPr>
          <p:spPr>
            <a:xfrm>
              <a:off x="194" y="3591"/>
              <a:ext cx="25" cy="18"/>
            </a:xfrm>
            <a:custGeom>
              <a:avLst/>
              <a:gdLst/>
              <a:ahLst/>
              <a:cxnLst/>
              <a:rect l="0" t="0" r="0" b="0"/>
              <a:pathLst>
                <a:path w="25" h="18">
                  <a:moveTo>
                    <a:pt x="24" y="17"/>
                  </a:moveTo>
                  <a:lnTo>
                    <a:pt x="24" y="0"/>
                  </a:lnTo>
                  <a:lnTo>
                    <a:pt x="0" y="0"/>
                  </a:lnTo>
                  <a:lnTo>
                    <a:pt x="0" y="17"/>
                  </a:lnTo>
                  <a:lnTo>
                    <a:pt x="24" y="17"/>
                  </a:lnTo>
                </a:path>
              </a:pathLst>
            </a:custGeom>
            <a:solidFill>
              <a:srgbClr val="FFFFFF"/>
            </a:solidFill>
            <a:ln cap="rnd">
              <a:noFill/>
              <a:round/>
              <a:headEnd type="none" w="sm" len="sm"/>
              <a:tailEnd type="none" w="sm" len="sm"/>
            </a:ln>
            <a:effectLst/>
          </p:spPr>
        </p:sp>
        <p:sp>
          <p:nvSpPr>
            <p:cNvPr id="43014" name="Freeform 43013"/>
            <p:cNvSpPr/>
            <p:nvPr/>
          </p:nvSpPr>
          <p:spPr>
            <a:xfrm>
              <a:off x="134" y="3470"/>
              <a:ext cx="31" cy="21"/>
            </a:xfrm>
            <a:custGeom>
              <a:avLst/>
              <a:gdLst/>
              <a:ahLst/>
              <a:cxnLst/>
              <a:rect l="0" t="0" r="0" b="0"/>
              <a:pathLst>
                <a:path w="31" h="21">
                  <a:moveTo>
                    <a:pt x="0" y="0"/>
                  </a:moveTo>
                  <a:lnTo>
                    <a:pt x="24" y="20"/>
                  </a:lnTo>
                  <a:lnTo>
                    <a:pt x="30" y="9"/>
                  </a:lnTo>
                  <a:lnTo>
                    <a:pt x="0" y="0"/>
                  </a:lnTo>
                </a:path>
              </a:pathLst>
            </a:custGeom>
            <a:solidFill>
              <a:srgbClr val="FFFFFF"/>
            </a:solidFill>
            <a:ln cap="rnd">
              <a:noFill/>
              <a:round/>
              <a:headEnd type="none" w="sm" len="sm"/>
              <a:tailEnd type="none" w="sm" len="sm"/>
            </a:ln>
            <a:effectLst/>
          </p:spPr>
        </p:sp>
        <p:sp>
          <p:nvSpPr>
            <p:cNvPr id="43015" name="Freeform 43014"/>
            <p:cNvSpPr/>
            <p:nvPr/>
          </p:nvSpPr>
          <p:spPr>
            <a:xfrm>
              <a:off x="245" y="3470"/>
              <a:ext cx="33" cy="21"/>
            </a:xfrm>
            <a:custGeom>
              <a:avLst/>
              <a:gdLst/>
              <a:ahLst/>
              <a:cxnLst/>
              <a:rect l="0" t="0" r="0" b="0"/>
              <a:pathLst>
                <a:path w="33" h="21">
                  <a:moveTo>
                    <a:pt x="32" y="0"/>
                  </a:moveTo>
                  <a:lnTo>
                    <a:pt x="5" y="20"/>
                  </a:lnTo>
                  <a:lnTo>
                    <a:pt x="0" y="9"/>
                  </a:lnTo>
                  <a:lnTo>
                    <a:pt x="32" y="0"/>
                  </a:lnTo>
                </a:path>
              </a:pathLst>
            </a:custGeom>
            <a:solidFill>
              <a:srgbClr val="FFFFFF"/>
            </a:solidFill>
            <a:ln cap="rnd">
              <a:noFill/>
              <a:round/>
              <a:headEnd type="none" w="sm" len="sm"/>
              <a:tailEnd type="none" w="sm" len="sm"/>
            </a:ln>
            <a:effectLst/>
          </p:spPr>
        </p:sp>
        <p:sp>
          <p:nvSpPr>
            <p:cNvPr id="43016" name="Freeform 43015"/>
            <p:cNvSpPr/>
            <p:nvPr/>
          </p:nvSpPr>
          <p:spPr>
            <a:xfrm>
              <a:off x="131" y="3508"/>
              <a:ext cx="33" cy="19"/>
            </a:xfrm>
            <a:custGeom>
              <a:avLst/>
              <a:gdLst/>
              <a:ahLst/>
              <a:cxnLst/>
              <a:rect l="0" t="0" r="0" b="0"/>
              <a:pathLst>
                <a:path w="33" h="19">
                  <a:moveTo>
                    <a:pt x="0" y="18"/>
                  </a:moveTo>
                  <a:lnTo>
                    <a:pt x="32" y="14"/>
                  </a:lnTo>
                  <a:lnTo>
                    <a:pt x="30" y="0"/>
                  </a:lnTo>
                  <a:lnTo>
                    <a:pt x="0" y="18"/>
                  </a:lnTo>
                </a:path>
              </a:pathLst>
            </a:custGeom>
            <a:solidFill>
              <a:srgbClr val="FFFFFF"/>
            </a:solidFill>
            <a:ln cap="rnd">
              <a:noFill/>
              <a:round/>
              <a:headEnd type="none" w="sm" len="sm"/>
              <a:tailEnd type="none" w="sm" len="sm"/>
            </a:ln>
            <a:effectLst/>
          </p:spPr>
        </p:sp>
        <p:sp>
          <p:nvSpPr>
            <p:cNvPr id="43017" name="Freeform 43016"/>
            <p:cNvSpPr/>
            <p:nvPr/>
          </p:nvSpPr>
          <p:spPr>
            <a:xfrm>
              <a:off x="247" y="3509"/>
              <a:ext cx="34" cy="19"/>
            </a:xfrm>
            <a:custGeom>
              <a:avLst/>
              <a:gdLst/>
              <a:ahLst/>
              <a:cxnLst/>
              <a:rect l="0" t="0" r="0" b="0"/>
              <a:pathLst>
                <a:path w="34" h="19">
                  <a:moveTo>
                    <a:pt x="33" y="18"/>
                  </a:moveTo>
                  <a:lnTo>
                    <a:pt x="0" y="15"/>
                  </a:lnTo>
                  <a:lnTo>
                    <a:pt x="2" y="0"/>
                  </a:lnTo>
                  <a:lnTo>
                    <a:pt x="33" y="18"/>
                  </a:lnTo>
                </a:path>
              </a:pathLst>
            </a:custGeom>
            <a:solidFill>
              <a:srgbClr val="FFFFFF"/>
            </a:solidFill>
            <a:ln cap="rnd">
              <a:noFill/>
              <a:round/>
              <a:headEnd type="none" w="sm" len="sm"/>
              <a:tailEnd type="none" w="sm" len="sm"/>
            </a:ln>
            <a:effectLst/>
          </p:spPr>
        </p:sp>
        <p:sp>
          <p:nvSpPr>
            <p:cNvPr id="43018" name="Freeform 43017"/>
            <p:cNvSpPr/>
            <p:nvPr/>
          </p:nvSpPr>
          <p:spPr>
            <a:xfrm>
              <a:off x="157" y="3433"/>
              <a:ext cx="26" cy="28"/>
            </a:xfrm>
            <a:custGeom>
              <a:avLst/>
              <a:gdLst/>
              <a:ahLst/>
              <a:cxnLst/>
              <a:rect l="0" t="0" r="0" b="0"/>
              <a:pathLst>
                <a:path w="26" h="28">
                  <a:moveTo>
                    <a:pt x="0" y="0"/>
                  </a:moveTo>
                  <a:lnTo>
                    <a:pt x="15" y="27"/>
                  </a:lnTo>
                  <a:lnTo>
                    <a:pt x="25" y="20"/>
                  </a:lnTo>
                  <a:lnTo>
                    <a:pt x="0" y="0"/>
                  </a:lnTo>
                </a:path>
              </a:pathLst>
            </a:custGeom>
            <a:solidFill>
              <a:srgbClr val="FFFFFF"/>
            </a:solidFill>
            <a:ln cap="rnd">
              <a:noFill/>
              <a:round/>
              <a:headEnd type="none" w="sm" len="sm"/>
              <a:tailEnd type="none" w="sm" len="sm"/>
            </a:ln>
            <a:effectLst/>
          </p:spPr>
        </p:sp>
        <p:sp>
          <p:nvSpPr>
            <p:cNvPr id="43019" name="Freeform 43018"/>
            <p:cNvSpPr/>
            <p:nvPr/>
          </p:nvSpPr>
          <p:spPr>
            <a:xfrm>
              <a:off x="222" y="3435"/>
              <a:ext cx="28" cy="30"/>
            </a:xfrm>
            <a:custGeom>
              <a:avLst/>
              <a:gdLst/>
              <a:ahLst/>
              <a:cxnLst/>
              <a:rect l="0" t="0" r="0" b="0"/>
              <a:pathLst>
                <a:path w="28" h="30">
                  <a:moveTo>
                    <a:pt x="27" y="0"/>
                  </a:moveTo>
                  <a:lnTo>
                    <a:pt x="11" y="29"/>
                  </a:lnTo>
                  <a:lnTo>
                    <a:pt x="0" y="21"/>
                  </a:lnTo>
                  <a:lnTo>
                    <a:pt x="27" y="0"/>
                  </a:lnTo>
                </a:path>
              </a:pathLst>
            </a:custGeom>
            <a:solidFill>
              <a:srgbClr val="FFFFFF"/>
            </a:solidFill>
            <a:ln cap="rnd">
              <a:noFill/>
              <a:round/>
              <a:headEnd type="none" w="sm" len="sm"/>
              <a:tailEnd type="none" w="sm" len="sm"/>
            </a:ln>
            <a:effectLst/>
          </p:spPr>
        </p:sp>
        <p:sp>
          <p:nvSpPr>
            <p:cNvPr id="43020" name="Freeform 43019"/>
            <p:cNvSpPr/>
            <p:nvPr/>
          </p:nvSpPr>
          <p:spPr>
            <a:xfrm>
              <a:off x="198" y="3423"/>
              <a:ext cx="17" cy="29"/>
            </a:xfrm>
            <a:custGeom>
              <a:avLst/>
              <a:gdLst/>
              <a:ahLst/>
              <a:cxnLst/>
              <a:rect l="0" t="0" r="0" b="0"/>
              <a:pathLst>
                <a:path w="17" h="29">
                  <a:moveTo>
                    <a:pt x="7" y="0"/>
                  </a:moveTo>
                  <a:lnTo>
                    <a:pt x="0" y="28"/>
                  </a:lnTo>
                  <a:lnTo>
                    <a:pt x="16" y="27"/>
                  </a:lnTo>
                  <a:lnTo>
                    <a:pt x="7" y="0"/>
                  </a:lnTo>
                </a:path>
              </a:pathLst>
            </a:custGeom>
            <a:solidFill>
              <a:srgbClr val="FFFFFF"/>
            </a:solidFill>
            <a:ln cap="rnd">
              <a:noFill/>
              <a:round/>
              <a:headEnd type="none" w="sm" len="sm"/>
              <a:tailEnd type="none" w="sm" len="sm"/>
            </a:ln>
            <a:effectLst/>
          </p:spPr>
        </p:sp>
        <p:sp>
          <p:nvSpPr>
            <p:cNvPr id="43021" name="Freeform 43020"/>
            <p:cNvSpPr/>
            <p:nvPr/>
          </p:nvSpPr>
          <p:spPr>
            <a:xfrm>
              <a:off x="171" y="3469"/>
              <a:ext cx="67" cy="115"/>
            </a:xfrm>
            <a:custGeom>
              <a:avLst/>
              <a:gdLst/>
              <a:ahLst/>
              <a:cxnLst/>
              <a:rect l="0" t="0" r="0" b="0"/>
              <a:pathLst>
                <a:path w="67" h="115">
                  <a:moveTo>
                    <a:pt x="21" y="114"/>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4"/>
                  </a:lnTo>
                  <a:lnTo>
                    <a:pt x="21" y="114"/>
                  </a:lnTo>
                </a:path>
              </a:pathLst>
            </a:custGeom>
            <a:solidFill>
              <a:srgbClr val="FFFFFF"/>
            </a:solidFill>
            <a:ln cap="rnd">
              <a:noFill/>
              <a:round/>
              <a:headEnd type="none" w="sm" len="sm"/>
              <a:tailEnd type="none" w="sm" len="sm"/>
            </a:ln>
            <a:effectLst/>
          </p:spPr>
        </p:sp>
        <p:sp>
          <p:nvSpPr>
            <p:cNvPr id="43022" name="Freeform 43021"/>
            <p:cNvSpPr/>
            <p:nvPr/>
          </p:nvSpPr>
          <p:spPr>
            <a:xfrm>
              <a:off x="199" y="3491"/>
              <a:ext cx="17" cy="86"/>
            </a:xfrm>
            <a:custGeom>
              <a:avLst/>
              <a:gdLst/>
              <a:ahLst/>
              <a:cxnLst/>
              <a:rect l="0" t="0" r="0" b="0"/>
              <a:pathLst>
                <a:path w="17" h="86">
                  <a:moveTo>
                    <a:pt x="4" y="0"/>
                  </a:moveTo>
                  <a:lnTo>
                    <a:pt x="6" y="5"/>
                  </a:lnTo>
                  <a:lnTo>
                    <a:pt x="2" y="6"/>
                  </a:lnTo>
                  <a:lnTo>
                    <a:pt x="2" y="77"/>
                  </a:lnTo>
                  <a:lnTo>
                    <a:pt x="0" y="78"/>
                  </a:lnTo>
                  <a:lnTo>
                    <a:pt x="0" y="85"/>
                  </a:lnTo>
                  <a:lnTo>
                    <a:pt x="2" y="85"/>
                  </a:lnTo>
                  <a:lnTo>
                    <a:pt x="4" y="85"/>
                  </a:lnTo>
                  <a:lnTo>
                    <a:pt x="6" y="85"/>
                  </a:lnTo>
                  <a:lnTo>
                    <a:pt x="9" y="84"/>
                  </a:lnTo>
                  <a:lnTo>
                    <a:pt x="13" y="84"/>
                  </a:lnTo>
                  <a:lnTo>
                    <a:pt x="16" y="83"/>
                  </a:lnTo>
                  <a:lnTo>
                    <a:pt x="16" y="81"/>
                  </a:lnTo>
                  <a:lnTo>
                    <a:pt x="16" y="78"/>
                  </a:lnTo>
                  <a:lnTo>
                    <a:pt x="16" y="47"/>
                  </a:lnTo>
                  <a:lnTo>
                    <a:pt x="13" y="46"/>
                  </a:lnTo>
                  <a:lnTo>
                    <a:pt x="13" y="38"/>
                  </a:lnTo>
                  <a:lnTo>
                    <a:pt x="13" y="4"/>
                  </a:lnTo>
                  <a:lnTo>
                    <a:pt x="4" y="0"/>
                  </a:lnTo>
                </a:path>
              </a:pathLst>
            </a:custGeom>
            <a:solidFill>
              <a:srgbClr val="000000"/>
            </a:solidFill>
            <a:ln cap="rnd">
              <a:noFill/>
              <a:round/>
              <a:headEnd type="none" w="sm" len="sm"/>
              <a:tailEnd type="none" w="sm" len="sm"/>
            </a:ln>
            <a:effectLst/>
          </p:spPr>
        </p:sp>
      </p:gr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5057"/>
          <p:cNvSpPr/>
          <p:nvPr/>
        </p:nvSpPr>
        <p:spPr>
          <a:xfrm>
            <a:off x="3860800" y="0"/>
            <a:ext cx="2959100" cy="460375"/>
          </a:xfrm>
          <a:prstGeom prst="rect">
            <a:avLst/>
          </a:prstGeom>
          <a:noFill/>
          <a:ln>
            <a:noFill/>
            <a:miter lim="800000"/>
          </a:ln>
          <a:effectLst/>
        </p:spPr>
      </p:sp>
      <p:sp>
        <p:nvSpPr>
          <p:cNvPr id="45059" name="Rectangle 45058"/>
          <p:cNvSpPr/>
          <p:nvPr/>
        </p:nvSpPr>
        <p:spPr>
          <a:xfrm>
            <a:off x="-3175" y="0"/>
            <a:ext cx="2955925" cy="460375"/>
          </a:xfrm>
          <a:prstGeom prst="rect">
            <a:avLst/>
          </a:prstGeom>
          <a:noFill/>
          <a:ln>
            <a:noFill/>
            <a:miter lim="800000"/>
          </a:ln>
          <a:effectLst/>
        </p:spPr>
      </p:sp>
      <p:sp>
        <p:nvSpPr>
          <p:cNvPr id="45060" name="Notes Placeholder 45059"/>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a:r>
              <a:t>Literal Character Strings</a:t>
            </a:r>
          </a:p>
          <a:p>
            <a:pPr marL="114300" lvl="1" indent="0"/>
            <a:r>
              <a:t>A literal is any character, expression, or number included in the SELECT list that is not a column name or a column alias. It is printed for each row returned. Literal strings of free-format text can be included in the query result and are treated the same as a column in the SELECT list.</a:t>
            </a:r>
            <a:r>
              <a:rPr b="1"/>
              <a:t> </a:t>
            </a:r>
          </a:p>
          <a:p>
            <a:pPr marL="114300" lvl="1" indent="0"/>
            <a:r>
              <a:t>Date and character literals </a:t>
            </a:r>
            <a:r>
              <a:rPr i="1"/>
              <a:t>must </a:t>
            </a:r>
            <a:r>
              <a:t>be enclosed within single quotation marks (</a:t>
            </a:r>
            <a:r>
              <a:rPr>
                <a:latin typeface="Courier New" pitchFamily="49" charset="0"/>
              </a:rPr>
              <a:t>'</a:t>
            </a:r>
            <a:r>
              <a:t> </a:t>
            </a:r>
            <a:r>
              <a:rPr>
                <a:latin typeface="Courier New" pitchFamily="49" charset="0"/>
              </a:rPr>
              <a:t>'</a:t>
            </a:r>
            <a:r>
              <a:t>); number literals must not.</a:t>
            </a:r>
            <a:endParaRPr i="1"/>
          </a:p>
          <a:p>
            <a:pPr marL="0" lvl="0" indent="0"/>
            <a:endParaRPr b="0" i="1">
              <a:latin typeface="Times New Roman" pitchFamily="18" charset="0"/>
            </a:endParaRPr>
          </a:p>
        </p:txBody>
      </p:sp>
      <p:sp>
        <p:nvSpPr>
          <p:cNvPr id="45061" name="Slide Image Placeholder 45060"/>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Notes Placeholder 47105"/>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a:r>
              <a:t>Literal Character Strings (continued)</a:t>
            </a:r>
          </a:p>
          <a:p>
            <a:pPr marL="114300" lvl="1" indent="0"/>
            <a:r>
              <a:t>The example on the slide displays names and jobs of all employees. The column has the heading Employee Details. Notice the spaces between the single quotation marks in the SELECT statement. The spaces improve the readability of the output. </a:t>
            </a:r>
          </a:p>
          <a:p>
            <a:pPr marL="114300" lvl="1" indent="0"/>
            <a:r>
              <a:t>In the following example, the name and salary for each employee is concatenated with a literal to give the returned rows more meaning.</a:t>
            </a:r>
          </a:p>
          <a:p>
            <a:pPr marL="0" lvl="0" indent="0"/>
            <a:endParaRPr b="0">
              <a:latin typeface="Times New Roman" pitchFamily="18" charset="0"/>
            </a:endParaRPr>
          </a:p>
        </p:txBody>
      </p:sp>
      <p:sp>
        <p:nvSpPr>
          <p:cNvPr id="47107" name="Slide Image Placeholder 47106"/>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grpSp>
        <p:nvGrpSpPr>
          <p:cNvPr id="47110" name="Group 47109"/>
          <p:cNvGrpSpPr/>
          <p:nvPr/>
        </p:nvGrpSpPr>
        <p:grpSpPr>
          <a:xfrm>
            <a:off x="596900" y="5957888"/>
            <a:ext cx="5727700" cy="2549525"/>
            <a:chOff x="376" y="3753"/>
            <a:chExt cx="3608" cy="1606"/>
          </a:xfrm>
        </p:grpSpPr>
        <p:sp>
          <p:nvSpPr>
            <p:cNvPr id="47108" name="Rectangle 47107"/>
            <p:cNvSpPr/>
            <p:nvPr/>
          </p:nvSpPr>
          <p:spPr>
            <a:xfrm>
              <a:off x="376" y="3753"/>
              <a:ext cx="3608" cy="277"/>
            </a:xfrm>
            <a:prstGeom prst="rect">
              <a:avLst/>
            </a:prstGeom>
            <a:noFill/>
            <a:ln w="12700">
              <a:solidFill>
                <a:schemeClr val="tx1"/>
              </a:solidFill>
              <a:miter lim="800000"/>
            </a:ln>
            <a:effectLst/>
          </p:spPr>
          <p:txBody>
            <a:bodyPr wrap="none" lIns="96838" tIns="50800" rIns="96838" bIns="5080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1041400" eaLnBrk="0" hangingPunct="0"/>
              <a:r>
                <a:rPr sz="1100" b="1">
                  <a:latin typeface="Courier New" pitchFamily="49" charset="0"/>
                </a:rPr>
                <a:t>SQL&gt; SELECT ename ||': '||'1'||' Month salary = '||sal Monthly </a:t>
              </a:r>
            </a:p>
            <a:p>
              <a:pPr marL="0" lvl="0" indent="0" defTabSz="1041400" eaLnBrk="0" hangingPunct="0"/>
              <a:r>
                <a:rPr sz="1100" b="1">
                  <a:latin typeface="Courier New" pitchFamily="49" charset="0"/>
                </a:rPr>
                <a:t>  2  FROM   emp;</a:t>
              </a:r>
            </a:p>
          </p:txBody>
        </p:sp>
        <p:sp>
          <p:nvSpPr>
            <p:cNvPr id="47109" name="Rectangle 47108"/>
            <p:cNvSpPr/>
            <p:nvPr/>
          </p:nvSpPr>
          <p:spPr>
            <a:xfrm>
              <a:off x="376" y="4119"/>
              <a:ext cx="3596" cy="1240"/>
            </a:xfrm>
            <a:prstGeom prst="rect">
              <a:avLst/>
            </a:prstGeom>
            <a:noFill/>
            <a:ln w="12700">
              <a:solidFill>
                <a:schemeClr val="tx1"/>
              </a:solidFill>
              <a:miter lim="800000"/>
            </a:ln>
            <a:effectLst/>
          </p:spPr>
          <p:txBody>
            <a:bodyPr wrap="none" lIns="96838" tIns="50800" rIns="96838" bIns="5080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1041400" eaLnBrk="0" hangingPunct="0"/>
              <a:r>
                <a:rPr sz="1100">
                  <a:latin typeface="Courier New" pitchFamily="49" charset="0"/>
                </a:rPr>
                <a:t>MONTHLY</a:t>
              </a:r>
            </a:p>
            <a:p>
              <a:pPr marL="0" lvl="0" indent="0" defTabSz="1041400" eaLnBrk="0" hangingPunct="0"/>
              <a:r>
                <a:rPr sz="1100">
                  <a:latin typeface="Courier New" pitchFamily="49" charset="0"/>
                </a:rPr>
                <a:t>---------------------------------------------------------------</a:t>
              </a:r>
            </a:p>
            <a:p>
              <a:pPr marL="0" lvl="0" indent="0" defTabSz="1041400" eaLnBrk="0" hangingPunct="0"/>
              <a:r>
                <a:rPr sz="1100">
                  <a:latin typeface="Courier New" pitchFamily="49" charset="0"/>
                </a:rPr>
                <a:t>KING: 1 Month salary = 5000</a:t>
              </a:r>
            </a:p>
            <a:p>
              <a:pPr marL="0" lvl="0" indent="0" defTabSz="1041400" eaLnBrk="0" hangingPunct="0"/>
              <a:r>
                <a:rPr sz="1100">
                  <a:latin typeface="Courier New" pitchFamily="49" charset="0"/>
                </a:rPr>
                <a:t>BLAKE: 1 Month salary = 2850</a:t>
              </a:r>
            </a:p>
            <a:p>
              <a:pPr marL="0" lvl="0" indent="0" defTabSz="1041400" eaLnBrk="0" hangingPunct="0"/>
              <a:r>
                <a:rPr sz="1100">
                  <a:latin typeface="Courier New" pitchFamily="49" charset="0"/>
                </a:rPr>
                <a:t>CLARK: 1 Month salary = 2450</a:t>
              </a:r>
            </a:p>
            <a:p>
              <a:pPr marL="0" lvl="0" indent="0" defTabSz="1041400" eaLnBrk="0" hangingPunct="0"/>
              <a:r>
                <a:rPr sz="1100">
                  <a:latin typeface="Courier New" pitchFamily="49" charset="0"/>
                </a:rPr>
                <a:t>JONES: 1 Month salary = 2975</a:t>
              </a:r>
            </a:p>
            <a:p>
              <a:pPr marL="0" lvl="0" indent="0" defTabSz="1041400" eaLnBrk="0" hangingPunct="0"/>
              <a:r>
                <a:rPr sz="1100">
                  <a:latin typeface="Courier New" pitchFamily="49" charset="0"/>
                </a:rPr>
                <a:t>MARTIN: 1 Month salary = 1250</a:t>
              </a:r>
            </a:p>
            <a:p>
              <a:pPr marL="0" lvl="0" indent="0" defTabSz="1041400" eaLnBrk="0" hangingPunct="0"/>
              <a:r>
                <a:rPr sz="1100">
                  <a:latin typeface="Courier New" pitchFamily="49" charset="0"/>
                </a:rPr>
                <a:t>ALLEN: 1 Month salary = 1600</a:t>
              </a:r>
            </a:p>
            <a:p>
              <a:pPr marL="0" lvl="0" indent="0" defTabSz="1041400" eaLnBrk="0" hangingPunct="0"/>
              <a:r>
                <a:rPr sz="1100">
                  <a:latin typeface="Courier New" pitchFamily="49" charset="0"/>
                </a:rPr>
                <a:t>TURNER: 1 Month salary = 1500</a:t>
              </a:r>
            </a:p>
            <a:p>
              <a:pPr marL="0" lvl="0" indent="0" defTabSz="1041400" eaLnBrk="0" hangingPunct="0"/>
              <a:r>
                <a:rPr sz="1100">
                  <a:latin typeface="Courier New" pitchFamily="49" charset="0"/>
                </a:rPr>
                <a:t>...</a:t>
              </a:r>
            </a:p>
            <a:p>
              <a:pPr marL="0" lvl="0" indent="0" defTabSz="1041400" eaLnBrk="0" hangingPunct="0"/>
              <a:r>
                <a:rPr sz="1100">
                  <a:latin typeface="Courier New" pitchFamily="49" charset="0"/>
                </a:rPr>
                <a:t>14 rows selected.</a:t>
              </a:r>
            </a:p>
          </p:txBody>
        </p:sp>
      </p:gr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49153"/>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49155" name="Notes Placeholder 49154"/>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r>
              <a:t>Duplicate Rows</a:t>
            </a:r>
          </a:p>
          <a:p>
            <a:pPr lvl="1"/>
            <a:r>
              <a:t>Unless you indicate otherwise, SQL*Plus displays the results of a query without eliminating duplicate rows. The example on the slide displays all the department numbers from the EMP table. Notice that the department numbers are repeated.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51201"/>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51203" name="Notes Placeholder 51202"/>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r>
              <a:t>Duplicate Rows (continued)</a:t>
            </a:r>
          </a:p>
          <a:p>
            <a:pPr lvl="1"/>
            <a:r>
              <a:t>To eliminate duplicate rows in the result, include the </a:t>
            </a:r>
            <a:r>
              <a:rPr>
                <a:solidFill>
                  <a:srgbClr val="FC0128"/>
                </a:solidFill>
              </a:rPr>
              <a:t>DISTINCT </a:t>
            </a:r>
            <a:r>
              <a:t>keyword in the SELECT clause immediately after the SELECT keyword. In the example on the slide, the EMP table actually contains fourteen</a:t>
            </a:r>
            <a:r>
              <a:rPr i="1"/>
              <a:t> </a:t>
            </a:r>
            <a:r>
              <a:t>rows but there are only three unique department numbers in the table. </a:t>
            </a:r>
          </a:p>
          <a:p>
            <a:pPr lvl="1"/>
            <a:r>
              <a:t>You can specify multiple columns after the DISTINCT qualifier. The DISTINCT qualifier affects all the selected columns, and the result represents a distinct combination of the columns.</a:t>
            </a:r>
          </a:p>
          <a:p>
            <a:pPr lvl="0"/>
            <a:endParaRPr b="0">
              <a:latin typeface="Times New Roman" pitchFamily="18" charset="0"/>
            </a:endParaRPr>
          </a:p>
          <a:p>
            <a:pPr lvl="0"/>
            <a:endParaRPr b="0">
              <a:latin typeface="Times New Roman" pitchFamily="18" charset="0"/>
            </a:endParaRPr>
          </a:p>
          <a:p>
            <a:pPr lvl="0"/>
            <a:r>
              <a:rPr b="0">
                <a:latin typeface="Courier New" pitchFamily="49" charset="0"/>
              </a:rPr>
              <a:t> </a:t>
            </a:r>
          </a:p>
          <a:p>
            <a:pPr lvl="0">
              <a:spcBef>
                <a:spcPct val="0"/>
              </a:spcBef>
            </a:pPr>
            <a:r>
              <a:rPr b="0">
                <a:latin typeface="Courier New" pitchFamily="49" charset="0"/>
              </a:rPr>
              <a:t>   DEPTNO JOB</a:t>
            </a:r>
            <a:endParaRPr>
              <a:solidFill>
                <a:schemeClr val="accent2"/>
              </a:solidFill>
            </a:endParaRPr>
          </a:p>
          <a:p>
            <a:pPr lvl="0">
              <a:spcBef>
                <a:spcPct val="0"/>
              </a:spcBef>
            </a:pPr>
            <a:r>
              <a:rPr b="0">
                <a:latin typeface="Courier New" pitchFamily="49" charset="0"/>
              </a:rPr>
              <a:t>   ------ ---------</a:t>
            </a:r>
          </a:p>
          <a:p>
            <a:pPr lvl="0">
              <a:spcBef>
                <a:spcPct val="0"/>
              </a:spcBef>
            </a:pPr>
            <a:r>
              <a:rPr b="0">
                <a:latin typeface="Courier New" pitchFamily="49" charset="0"/>
              </a:rPr>
              <a:t>       10 CLERK</a:t>
            </a:r>
          </a:p>
          <a:p>
            <a:pPr lvl="0">
              <a:spcBef>
                <a:spcPct val="0"/>
              </a:spcBef>
            </a:pPr>
            <a:r>
              <a:rPr b="0">
                <a:latin typeface="Courier New" pitchFamily="49" charset="0"/>
              </a:rPr>
              <a:t>       10 MANAGER</a:t>
            </a:r>
          </a:p>
          <a:p>
            <a:pPr lvl="0">
              <a:spcBef>
                <a:spcPct val="0"/>
              </a:spcBef>
            </a:pPr>
            <a:r>
              <a:rPr b="0">
                <a:latin typeface="Courier New" pitchFamily="49" charset="0"/>
              </a:rPr>
              <a:t>       10 PRESIDENT</a:t>
            </a:r>
          </a:p>
          <a:p>
            <a:pPr lvl="0">
              <a:spcBef>
                <a:spcPct val="0"/>
              </a:spcBef>
            </a:pPr>
            <a:r>
              <a:rPr b="0">
                <a:latin typeface="Courier New" pitchFamily="49" charset="0"/>
              </a:rPr>
              <a:t>       20 ANALYST</a:t>
            </a:r>
          </a:p>
          <a:p>
            <a:pPr lvl="0">
              <a:spcBef>
                <a:spcPct val="0"/>
              </a:spcBef>
            </a:pPr>
            <a:r>
              <a:rPr b="0">
                <a:latin typeface="Courier New" pitchFamily="49" charset="0"/>
              </a:rPr>
              <a:t>   ... </a:t>
            </a:r>
          </a:p>
          <a:p>
            <a:pPr lvl="0">
              <a:spcBef>
                <a:spcPct val="0"/>
              </a:spcBef>
            </a:pPr>
            <a:r>
              <a:rPr b="0">
                <a:latin typeface="Courier New" pitchFamily="49" charset="0"/>
              </a:rPr>
              <a:t>   9 rows selected.</a:t>
            </a:r>
          </a:p>
        </p:txBody>
      </p:sp>
      <p:sp>
        <p:nvSpPr>
          <p:cNvPr id="51204" name="Rectangle 51203"/>
          <p:cNvSpPr/>
          <p:nvPr/>
        </p:nvSpPr>
        <p:spPr>
          <a:xfrm>
            <a:off x="611188" y="5970588"/>
            <a:ext cx="5573712" cy="446087"/>
          </a:xfrm>
          <a:prstGeom prst="rect">
            <a:avLst/>
          </a:prstGeom>
          <a:noFill/>
          <a:ln w="12700">
            <a:solidFill>
              <a:schemeClr val="tx1"/>
            </a:solidFill>
            <a:miter lim="800000"/>
          </a:ln>
          <a:effectLst/>
        </p:spPr>
        <p:txBody>
          <a:bodyPr wrap="none" lIns="92075" tIns="47625" rIns="92075" bIns="47625">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942975" eaLnBrk="0" hangingPunct="0"/>
            <a:r>
              <a:rPr sz="1100" b="1">
                <a:latin typeface="Courier New" pitchFamily="49" charset="0"/>
              </a:rPr>
              <a:t>SQL&gt; SELECT	DISTINCT deptno, job</a:t>
            </a:r>
          </a:p>
          <a:p>
            <a:pPr marL="0" lvl="0" indent="0" defTabSz="942975" eaLnBrk="0" hangingPunct="0"/>
            <a:r>
              <a:rPr sz="1100" b="1">
                <a:latin typeface="Courier New" pitchFamily="49" charset="0"/>
              </a:rPr>
              <a:t>  2  FROM	emp;</a:t>
            </a:r>
          </a:p>
        </p:txBody>
      </p:sp>
      <p:sp>
        <p:nvSpPr>
          <p:cNvPr id="51205" name="Rectangle 51204"/>
          <p:cNvSpPr/>
          <p:nvPr/>
        </p:nvSpPr>
        <p:spPr>
          <a:xfrm>
            <a:off x="611188" y="6515100"/>
            <a:ext cx="5573712" cy="1420813"/>
          </a:xfrm>
          <a:prstGeom prst="rect">
            <a:avLst/>
          </a:prstGeom>
          <a:noFill/>
          <a:ln w="12700">
            <a:solidFill>
              <a:schemeClr val="tx1"/>
            </a:solidFill>
            <a:miter lim="800000"/>
          </a:ln>
          <a:effectLst/>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61441"/>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61443" name="Notes Placeholder 61442"/>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r>
              <a:t>Displaying Table Structure</a:t>
            </a:r>
          </a:p>
          <a:p>
            <a:pPr lvl="1"/>
            <a:r>
              <a:t>In SQL*Plus, you can display the structure of a table using the </a:t>
            </a:r>
            <a:r>
              <a:rPr>
                <a:solidFill>
                  <a:srgbClr val="FC0128"/>
                </a:solidFill>
              </a:rPr>
              <a:t>DESCRIBE </a:t>
            </a:r>
            <a:r>
              <a:t>command. The result of the command is to see the column names and datatypes as well as whether a column </a:t>
            </a:r>
            <a:r>
              <a:rPr i="1"/>
              <a:t>must</a:t>
            </a:r>
            <a:r>
              <a:t> contain data.</a:t>
            </a:r>
          </a:p>
          <a:p>
            <a:pPr lvl="1"/>
            <a:r>
              <a:t>In the syntax:</a:t>
            </a:r>
          </a:p>
          <a:p>
            <a:pPr lvl="0"/>
            <a:r>
              <a:rPr b="0" i="1">
                <a:latin typeface="Times New Roman" pitchFamily="18" charset="0"/>
              </a:rPr>
              <a:t>	tablename	</a:t>
            </a:r>
            <a:r>
              <a:rPr b="0">
                <a:latin typeface="Times New Roman" pitchFamily="18" charset="0"/>
              </a:rPr>
              <a:t>is the name of any existing table, view, or synonym accessible to the user</a:t>
            </a:r>
            <a:r>
              <a:rPr>
                <a:latin typeface="Times New Roman" pitchFamily="18" charset="0"/>
              </a:rPr>
              <a:t>	</a:t>
            </a:r>
          </a:p>
          <a:p>
            <a:pPr lvl="1"/>
            <a:endParaRPr>
              <a:latin typeface="Times New Roman" pitchFamily="18" charset="0"/>
            </a:endParaRPr>
          </a:p>
          <a:p>
            <a:pPr lvl="0"/>
            <a:r>
              <a:rPr b="0" i="1">
                <a:latin typeface="Times New Roman" pitchFamily="18" charset="0"/>
              </a:rPr>
              <a:t>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63489"/>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63491" name="Notes Placeholder 63490"/>
          <p:cNvSpPr>
            <a:spLocks noGrp="1"/>
          </p:cNvSpPr>
          <p:nvPr>
            <p:ph type="body" idx="3"/>
          </p:nvPr>
        </p:nvSpPr>
        <p:spPr>
          <a:xfrm>
            <a:off x="409575" y="4765675"/>
            <a:ext cx="5995988" cy="37496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lvl="0"/>
            <a:r>
              <a:t>Displaying Table Structure (continued)</a:t>
            </a:r>
          </a:p>
          <a:p>
            <a:pPr lvl="1"/>
            <a:r>
              <a:t>The example on the slide displays the information about the structure of the DEPT table. </a:t>
            </a:r>
          </a:p>
          <a:p>
            <a:pPr lvl="1"/>
            <a:r>
              <a:t>In the result:</a:t>
            </a:r>
          </a:p>
          <a:p>
            <a:pPr lvl="1"/>
            <a:r>
              <a:t>	</a:t>
            </a:r>
            <a:r>
              <a:rPr i="1"/>
              <a:t>Null?		</a:t>
            </a:r>
            <a:r>
              <a:t>indicates whether a column </a:t>
            </a:r>
            <a:r>
              <a:rPr i="1"/>
              <a:t>must</a:t>
            </a:r>
            <a:r>
              <a:t> contain data; NOT NULL indicates that a 				column must contain data</a:t>
            </a:r>
          </a:p>
          <a:p>
            <a:pPr lvl="1"/>
            <a:r>
              <a:t>	</a:t>
            </a:r>
            <a:r>
              <a:rPr i="1"/>
              <a:t>Type</a:t>
            </a:r>
            <a:r>
              <a:t> 		displays the </a:t>
            </a:r>
            <a:r>
              <a:rPr>
                <a:solidFill>
                  <a:srgbClr val="FC0128"/>
                </a:solidFill>
              </a:rPr>
              <a:t>datatype </a:t>
            </a:r>
            <a:r>
              <a:t>for a column</a:t>
            </a:r>
          </a:p>
          <a:p>
            <a:pPr lvl="1"/>
            <a:r>
              <a:t>The datatypes are described in the following table:</a:t>
            </a:r>
          </a:p>
          <a:p>
            <a:pPr lvl="0"/>
            <a:r>
              <a:rPr b="0">
                <a:latin typeface="Times New Roman" pitchFamily="18" charset="0"/>
              </a:rPr>
              <a:t> </a:t>
            </a:r>
          </a:p>
        </p:txBody>
      </p:sp>
      <p:graphicFrame>
        <p:nvGraphicFramePr>
          <p:cNvPr id="63492" name="Object 63491"/>
          <p:cNvGraphicFramePr/>
          <p:nvPr/>
        </p:nvGraphicFramePr>
        <p:xfrm>
          <a:off x="612775" y="6276975"/>
          <a:ext cx="5676900" cy="1677988"/>
        </p:xfrm>
        <a:graphic>
          <a:graphicData uri="http://schemas.openxmlformats.org/presentationml/2006/ole">
            <mc:AlternateContent xmlns:mc="http://schemas.openxmlformats.org/markup-compatibility/2006">
              <mc:Choice xmlns:v="urn:schemas-microsoft-com:vml" Requires="v">
                <p:oleObj spid="_x0000_s1039" name="Document" r:id="rId4" imgW="5676900" imgH="1677988" progId="Word.Document.6">
                  <p:embed/>
                </p:oleObj>
              </mc:Choice>
              <mc:Fallback>
                <p:oleObj name="Document" r:id="rId4" imgW="5676900" imgH="1677988" progId="Word.Document.6">
                  <p:embed/>
                  <p:pic>
                    <p:nvPicPr>
                      <p:cNvPr id="0" name="OLE substitute image"/>
                      <p:cNvPicPr/>
                      <p:nvPr/>
                    </p:nvPicPr>
                    <p:blipFill>
                      <a:blip r:embed="rId5"/>
                      <a:stretch>
                        <a:fillRect/>
                      </a:stretch>
                    </p:blipFill>
                    <p:spPr>
                      <a:xfrm>
                        <a:off x="612775" y="6276975"/>
                        <a:ext cx="5676900" cy="1677988"/>
                      </a:xfrm>
                      <a:prstGeom prst="rect">
                        <a:avLst/>
                      </a:prstGeom>
                      <a:noFill/>
                      <a:ln>
                        <a:noFill/>
                        <a:miter lim="800000"/>
                      </a:ln>
                      <a:effectLst/>
                    </p:spPr>
                  </p:pic>
                </p:oleObj>
              </mc:Fallback>
            </mc:AlternateContent>
          </a:graphicData>
        </a:graphic>
      </p:graphicFrame>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3729"/>
          <p:cNvSpPr/>
          <p:nvPr/>
        </p:nvSpPr>
        <p:spPr>
          <a:xfrm>
            <a:off x="3862388" y="0"/>
            <a:ext cx="2955925" cy="460375"/>
          </a:xfrm>
          <a:prstGeom prst="rect">
            <a:avLst/>
          </a:prstGeom>
          <a:noFill/>
          <a:ln>
            <a:noFill/>
            <a:miter lim="800000"/>
          </a:ln>
          <a:effectLst/>
        </p:spPr>
      </p:sp>
      <p:sp>
        <p:nvSpPr>
          <p:cNvPr id="73731" name="Rectangle 73730"/>
          <p:cNvSpPr/>
          <p:nvPr/>
        </p:nvSpPr>
        <p:spPr>
          <a:xfrm>
            <a:off x="-1587" y="0"/>
            <a:ext cx="2952750" cy="460375"/>
          </a:xfrm>
          <a:prstGeom prst="rect">
            <a:avLst/>
          </a:prstGeom>
          <a:noFill/>
          <a:ln>
            <a:noFill/>
            <a:miter lim="800000"/>
          </a:ln>
          <a:effectLst/>
        </p:spPr>
      </p:sp>
      <p:sp>
        <p:nvSpPr>
          <p:cNvPr id="73732" name="Slide Image Placeholder 73731"/>
          <p:cNvSpPr>
            <a:spLocks noGrp="1" noRot="1" noChangeAspect="1" noTextEdit="1"/>
          </p:cNvSpPr>
          <p:nvPr>
            <p:ph type="sldImg" idx="2"/>
          </p:nvPr>
        </p:nvSpPr>
        <p:spPr>
          <a:xfrm>
            <a:off x="468313" y="152400"/>
            <a:ext cx="5876925" cy="4406900"/>
          </a:xfrm>
          <a:noFill/>
          <a:ln w="12700" cap="flat" cmpd="sng">
            <a:solidFill>
              <a:schemeClr val="tx1"/>
            </a:solidFill>
            <a:prstDash val="solid"/>
            <a:miter lim="800000"/>
          </a:ln>
          <a:effectLst/>
        </p:spPr>
      </p:sp>
      <p:sp>
        <p:nvSpPr>
          <p:cNvPr id="73733" name="Notes Placeholder 73732"/>
          <p:cNvSpPr>
            <a:spLocks noGrp="1"/>
          </p:cNvSpPr>
          <p:nvPr>
            <p:ph type="body" idx="3"/>
          </p:nvPr>
        </p:nvSpPr>
        <p:spPr>
          <a:xfrm>
            <a:off x="466725" y="4656138"/>
            <a:ext cx="5888038" cy="3660775"/>
          </a:xfrm>
          <a:noFill/>
          <a:ln>
            <a:noFill/>
            <a:miter lim="800000"/>
          </a:ln>
          <a:effectLst/>
        </p:spPr>
        <p:txBody>
          <a:bodyPr vert="horz" wrap="square" lIns="90488" tIns="44450" rIns="90488" bIns="44450" anchor="t" anchorCtr="0">
            <a:noAutofit/>
          </a:bodyPr>
          <a:lstStyle>
            <a:lvl1pPr marL="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1" i="0" u="none" baseline="0">
                <a:solidFill>
                  <a:schemeClr val="tx1"/>
                </a:solidFill>
                <a:effectLst/>
                <a:latin typeface="Arial" pitchFamily="34" charset="0"/>
              </a:defRPr>
            </a:lvl1pPr>
            <a:lvl2pPr marL="114300" indent="0" algn="l" defTabSz="382588" rtl="0" eaLnBrk="0" fontAlgn="base" hangingPunct="0">
              <a:lnSpc>
                <a:spcPct val="100000"/>
              </a:lnSpc>
              <a:spcBef>
                <a:spcPct val="30000"/>
              </a:spcBef>
              <a:spcAft>
                <a:spcPct val="0"/>
              </a:spcAft>
              <a:buClrTx/>
              <a:buSzTx/>
              <a:buFontTx/>
              <a:buNone/>
              <a:tabLst>
                <a:tab pos="446088" algn="l"/>
              </a:tabLst>
              <a:defRPr kumimoji="0" lang="en-US" altLang="en-US" sz="1100" b="0" i="0" u="none" baseline="0">
                <a:solidFill>
                  <a:schemeClr val="tx1"/>
                </a:solidFill>
                <a:effectLst/>
                <a:latin typeface="Times New Roman" pitchFamily="18" charset="0"/>
              </a:defRPr>
            </a:lvl2pPr>
            <a:lvl3pPr marL="439738" indent="-211138"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3pPr>
            <a:lvl4pPr marL="831850" indent="-212725" algn="l" defTabSz="382588" rtl="0" eaLnBrk="0" fontAlgn="base" hangingPunct="0">
              <a:lnSpc>
                <a:spcPct val="100000"/>
              </a:lnSpc>
              <a:spcBef>
                <a:spcPct val="30000"/>
              </a:spcBef>
              <a:spcAft>
                <a:spcPct val="0"/>
              </a:spcAft>
              <a:buClrTx/>
              <a:buSzTx/>
              <a:buFontTx/>
              <a:buChar char="–"/>
              <a:tabLst>
                <a:tab pos="446088" algn="l"/>
              </a:tabLst>
              <a:defRPr kumimoji="0" lang="en-US" altLang="en-US" sz="1100" b="0" i="0" u="none" baseline="0">
                <a:solidFill>
                  <a:schemeClr val="tx1"/>
                </a:solidFill>
                <a:effectLst/>
                <a:latin typeface="Times New Roman" pitchFamily="18" charset="0"/>
              </a:defRPr>
            </a:lvl4pPr>
            <a:lvl5pPr marL="5675312" indent="0" algn="l" defTabSz="382588" rtl="0" eaLnBrk="0" fontAlgn="base" hangingPunct="0">
              <a:lnSpc>
                <a:spcPct val="100000"/>
              </a:lnSpc>
              <a:spcBef>
                <a:spcPct val="30000"/>
              </a:spcBef>
              <a:spcAft>
                <a:spcPct val="0"/>
              </a:spcAft>
              <a:buClrTx/>
              <a:buSzTx/>
              <a:buFontTx/>
              <a:buNone/>
              <a:tabLst>
                <a:tab pos="446088" algn="l"/>
              </a:tabLst>
              <a:defRPr kumimoji="0" lang="en-US" altLang="en-US" sz="1200" b="0" i="0" u="none" baseline="0">
                <a:solidFill>
                  <a:schemeClr val="tx1"/>
                </a:solidFill>
                <a:effectLst/>
                <a:latin typeface="Times New Roman" pitchFamily="18" charset="0"/>
              </a:defRPr>
            </a:lvl5pPr>
          </a:lstStyle>
          <a:p>
            <a:pPr marL="0" lvl="0" indent="0" defTabSz="858838">
              <a:tabLst>
                <a:tab pos="447675" algn="l"/>
              </a:tabLst>
            </a:pPr>
            <a:r>
              <a:t>Practice Overview</a:t>
            </a:r>
          </a:p>
          <a:p>
            <a:pPr marL="114300" lvl="1" indent="0" defTabSz="858838">
              <a:tabLst>
                <a:tab pos="447675" algn="l"/>
              </a:tabLst>
            </a:pPr>
            <a:r>
              <a:t>This is the first of many practices. The solutions (if you require them) can be found in Appendix A. Practices are intended to introduce all topics covered in the lesson. Questions 2–4 are paper-based.</a:t>
            </a:r>
          </a:p>
          <a:p>
            <a:pPr marL="114300" lvl="1" indent="0" defTabSz="858838">
              <a:tabLst>
                <a:tab pos="447675" algn="l"/>
              </a:tabLst>
            </a:pPr>
            <a:r>
              <a:t>In any practice, there may be “if you have time” or “if you want extra challenge” questions. Do these only if you have completed all other questions within the allocated time and would like a further challenge to your skills.</a:t>
            </a:r>
          </a:p>
          <a:p>
            <a:pPr marL="114300" lvl="1" indent="0" defTabSz="858838">
              <a:tabLst>
                <a:tab pos="447675" algn="l"/>
              </a:tabLst>
            </a:pPr>
            <a:r>
              <a:t>Take the practice slowly and precisely. You can experiment with saving and running command files. If you have any questions at any time, attract the instructor’s attention.</a:t>
            </a:r>
          </a:p>
          <a:p>
            <a:pPr marL="0" lvl="0" indent="0" defTabSz="858838">
              <a:tabLst>
                <a:tab pos="447675" algn="l"/>
              </a:tabLst>
            </a:pPr>
            <a:r>
              <a:t>Paper-Based Questions</a:t>
            </a:r>
            <a:endParaRPr b="0"/>
          </a:p>
          <a:p>
            <a:pPr marL="114300" lvl="1" indent="0" defTabSz="858838">
              <a:tabLst>
                <a:tab pos="447675" algn="l"/>
              </a:tabLst>
            </a:pPr>
            <a:r>
              <a:t>For questions 2–4 circle either True or False.</a:t>
            </a:r>
          </a:p>
          <a:p>
            <a:pPr marL="114300" lvl="1" indent="0" defTabSz="858838">
              <a:tabLst>
                <a:tab pos="447675" algn="l"/>
              </a:tabLst>
            </a:pPr>
            <a:endParaRPr/>
          </a:p>
          <a:p>
            <a:pPr marL="0" lvl="0" indent="0" defTabSz="858838">
              <a:tabLst>
                <a:tab pos="447675" algn="l"/>
              </a:tabLst>
            </a:pPr>
            <a:endParaRPr b="0">
              <a:latin typeface="Times New Roman" pitchFamily="18" charset="0"/>
            </a:endParaRPr>
          </a:p>
        </p:txBody>
      </p:sp>
      <p:grpSp>
        <p:nvGrpSpPr>
          <p:cNvPr id="73745" name="Group 73744"/>
          <p:cNvGrpSpPr/>
          <p:nvPr/>
        </p:nvGrpSpPr>
        <p:grpSpPr>
          <a:xfrm>
            <a:off x="193675" y="5883275"/>
            <a:ext cx="282575" cy="304800"/>
            <a:chOff x="122" y="3706"/>
            <a:chExt cx="178" cy="192"/>
          </a:xfrm>
        </p:grpSpPr>
        <p:sp>
          <p:nvSpPr>
            <p:cNvPr id="73734" name="Freeform 73733"/>
            <p:cNvSpPr/>
            <p:nvPr/>
          </p:nvSpPr>
          <p:spPr>
            <a:xfrm>
              <a:off x="122" y="3706"/>
              <a:ext cx="178" cy="183"/>
            </a:xfrm>
            <a:custGeom>
              <a:avLst/>
              <a:gdLst/>
              <a:ahLst/>
              <a:cxnLst/>
              <a:rect l="0" t="0" r="0" b="0"/>
              <a:pathLst>
                <a:path w="178" h="183">
                  <a:moveTo>
                    <a:pt x="177" y="182"/>
                  </a:moveTo>
                  <a:lnTo>
                    <a:pt x="177" y="0"/>
                  </a:lnTo>
                  <a:lnTo>
                    <a:pt x="0" y="0"/>
                  </a:lnTo>
                  <a:lnTo>
                    <a:pt x="0" y="182"/>
                  </a:lnTo>
                  <a:lnTo>
                    <a:pt x="177" y="182"/>
                  </a:lnTo>
                </a:path>
              </a:pathLst>
            </a:custGeom>
            <a:solidFill>
              <a:srgbClr val="000000"/>
            </a:solidFill>
            <a:ln cap="rnd">
              <a:noFill/>
              <a:round/>
              <a:headEnd type="none" w="sm" len="sm"/>
              <a:tailEnd type="none" w="sm" len="sm"/>
            </a:ln>
            <a:effectLst/>
          </p:spPr>
        </p:sp>
        <p:sp>
          <p:nvSpPr>
            <p:cNvPr id="73735" name="Freeform 73734"/>
            <p:cNvSpPr/>
            <p:nvPr/>
          </p:nvSpPr>
          <p:spPr>
            <a:xfrm>
              <a:off x="203" y="3880"/>
              <a:ext cx="26" cy="18"/>
            </a:xfrm>
            <a:custGeom>
              <a:avLst/>
              <a:gdLst/>
              <a:ahLst/>
              <a:cxnLst/>
              <a:rect l="0" t="0" r="0" b="0"/>
              <a:pathLst>
                <a:path w="26" h="18">
                  <a:moveTo>
                    <a:pt x="25" y="17"/>
                  </a:moveTo>
                  <a:lnTo>
                    <a:pt x="25" y="0"/>
                  </a:lnTo>
                  <a:lnTo>
                    <a:pt x="0" y="0"/>
                  </a:lnTo>
                  <a:lnTo>
                    <a:pt x="0" y="17"/>
                  </a:lnTo>
                  <a:lnTo>
                    <a:pt x="25" y="17"/>
                  </a:lnTo>
                </a:path>
              </a:pathLst>
            </a:custGeom>
            <a:solidFill>
              <a:srgbClr val="FFFFFF"/>
            </a:solidFill>
            <a:ln cap="rnd">
              <a:noFill/>
              <a:round/>
              <a:headEnd type="none" w="sm" len="sm"/>
              <a:tailEnd type="none" w="sm" len="sm"/>
            </a:ln>
            <a:effectLst/>
          </p:spPr>
        </p:sp>
        <p:sp>
          <p:nvSpPr>
            <p:cNvPr id="73736" name="Freeform 73735"/>
            <p:cNvSpPr/>
            <p:nvPr/>
          </p:nvSpPr>
          <p:spPr>
            <a:xfrm>
              <a:off x="145" y="3760"/>
              <a:ext cx="30" cy="19"/>
            </a:xfrm>
            <a:custGeom>
              <a:avLst/>
              <a:gdLst/>
              <a:ahLst/>
              <a:cxnLst/>
              <a:rect l="0" t="0" r="0" b="0"/>
              <a:pathLst>
                <a:path w="30" h="19">
                  <a:moveTo>
                    <a:pt x="0" y="0"/>
                  </a:moveTo>
                  <a:lnTo>
                    <a:pt x="23" y="18"/>
                  </a:lnTo>
                  <a:lnTo>
                    <a:pt x="29" y="8"/>
                  </a:lnTo>
                  <a:lnTo>
                    <a:pt x="0" y="0"/>
                  </a:lnTo>
                </a:path>
              </a:pathLst>
            </a:custGeom>
            <a:solidFill>
              <a:srgbClr val="FFFFFF"/>
            </a:solidFill>
            <a:ln cap="rnd">
              <a:noFill/>
              <a:round/>
              <a:headEnd type="none" w="sm" len="sm"/>
              <a:tailEnd type="none" w="sm" len="sm"/>
            </a:ln>
            <a:effectLst/>
          </p:spPr>
        </p:sp>
        <p:sp>
          <p:nvSpPr>
            <p:cNvPr id="73737" name="Freeform 73736"/>
            <p:cNvSpPr/>
            <p:nvPr/>
          </p:nvSpPr>
          <p:spPr>
            <a:xfrm>
              <a:off x="254" y="3760"/>
              <a:ext cx="33" cy="19"/>
            </a:xfrm>
            <a:custGeom>
              <a:avLst/>
              <a:gdLst/>
              <a:ahLst/>
              <a:cxnLst/>
              <a:rect l="0" t="0" r="0" b="0"/>
              <a:pathLst>
                <a:path w="33" h="19">
                  <a:moveTo>
                    <a:pt x="32" y="0"/>
                  </a:moveTo>
                  <a:lnTo>
                    <a:pt x="5" y="18"/>
                  </a:lnTo>
                  <a:lnTo>
                    <a:pt x="0" y="8"/>
                  </a:lnTo>
                  <a:lnTo>
                    <a:pt x="32" y="0"/>
                  </a:lnTo>
                </a:path>
              </a:pathLst>
            </a:custGeom>
            <a:solidFill>
              <a:srgbClr val="FFFFFF"/>
            </a:solidFill>
            <a:ln cap="rnd">
              <a:noFill/>
              <a:round/>
              <a:headEnd type="none" w="sm" len="sm"/>
              <a:tailEnd type="none" w="sm" len="sm"/>
            </a:ln>
            <a:effectLst/>
          </p:spPr>
        </p:sp>
        <p:sp>
          <p:nvSpPr>
            <p:cNvPr id="73738" name="Freeform 73737"/>
            <p:cNvSpPr/>
            <p:nvPr/>
          </p:nvSpPr>
          <p:spPr>
            <a:xfrm>
              <a:off x="141" y="3796"/>
              <a:ext cx="32" cy="21"/>
            </a:xfrm>
            <a:custGeom>
              <a:avLst/>
              <a:gdLst/>
              <a:ahLst/>
              <a:cxnLst/>
              <a:rect l="0" t="0" r="0" b="0"/>
              <a:pathLst>
                <a:path w="32" h="21">
                  <a:moveTo>
                    <a:pt x="0" y="20"/>
                  </a:moveTo>
                  <a:lnTo>
                    <a:pt x="31" y="16"/>
                  </a:lnTo>
                  <a:lnTo>
                    <a:pt x="29" y="0"/>
                  </a:lnTo>
                  <a:lnTo>
                    <a:pt x="0" y="20"/>
                  </a:lnTo>
                </a:path>
              </a:pathLst>
            </a:custGeom>
            <a:solidFill>
              <a:srgbClr val="FFFFFF"/>
            </a:solidFill>
            <a:ln cap="rnd">
              <a:noFill/>
              <a:round/>
              <a:headEnd type="none" w="sm" len="sm"/>
              <a:tailEnd type="none" w="sm" len="sm"/>
            </a:ln>
            <a:effectLst/>
          </p:spPr>
        </p:sp>
        <p:sp>
          <p:nvSpPr>
            <p:cNvPr id="73739" name="Freeform 73738"/>
            <p:cNvSpPr/>
            <p:nvPr/>
          </p:nvSpPr>
          <p:spPr>
            <a:xfrm>
              <a:off x="257" y="3797"/>
              <a:ext cx="33" cy="21"/>
            </a:xfrm>
            <a:custGeom>
              <a:avLst/>
              <a:gdLst/>
              <a:ahLst/>
              <a:cxnLst/>
              <a:rect l="0" t="0" r="0" b="0"/>
              <a:pathLst>
                <a:path w="33" h="21">
                  <a:moveTo>
                    <a:pt x="32" y="20"/>
                  </a:moveTo>
                  <a:lnTo>
                    <a:pt x="0" y="17"/>
                  </a:lnTo>
                  <a:lnTo>
                    <a:pt x="1" y="0"/>
                  </a:lnTo>
                  <a:lnTo>
                    <a:pt x="32" y="20"/>
                  </a:lnTo>
                </a:path>
              </a:pathLst>
            </a:custGeom>
            <a:solidFill>
              <a:srgbClr val="FFFFFF"/>
            </a:solidFill>
            <a:ln cap="rnd">
              <a:noFill/>
              <a:round/>
              <a:headEnd type="none" w="sm" len="sm"/>
              <a:tailEnd type="none" w="sm" len="sm"/>
            </a:ln>
            <a:effectLst/>
          </p:spPr>
        </p:sp>
        <p:sp>
          <p:nvSpPr>
            <p:cNvPr id="73740" name="Freeform 73739"/>
            <p:cNvSpPr/>
            <p:nvPr/>
          </p:nvSpPr>
          <p:spPr>
            <a:xfrm>
              <a:off x="165" y="3721"/>
              <a:ext cx="29" cy="29"/>
            </a:xfrm>
            <a:custGeom>
              <a:avLst/>
              <a:gdLst/>
              <a:ahLst/>
              <a:cxnLst/>
              <a:rect l="0" t="0" r="0" b="0"/>
              <a:pathLst>
                <a:path w="29" h="29">
                  <a:moveTo>
                    <a:pt x="0" y="0"/>
                  </a:moveTo>
                  <a:lnTo>
                    <a:pt x="16" y="28"/>
                  </a:lnTo>
                  <a:lnTo>
                    <a:pt x="28" y="21"/>
                  </a:lnTo>
                  <a:lnTo>
                    <a:pt x="0" y="0"/>
                  </a:lnTo>
                </a:path>
              </a:pathLst>
            </a:custGeom>
            <a:solidFill>
              <a:srgbClr val="FFFFFF"/>
            </a:solidFill>
            <a:ln cap="rnd">
              <a:noFill/>
              <a:round/>
              <a:headEnd type="none" w="sm" len="sm"/>
              <a:tailEnd type="none" w="sm" len="sm"/>
            </a:ln>
            <a:effectLst/>
          </p:spPr>
        </p:sp>
        <p:sp>
          <p:nvSpPr>
            <p:cNvPr id="73741" name="Freeform 73740"/>
            <p:cNvSpPr/>
            <p:nvPr/>
          </p:nvSpPr>
          <p:spPr>
            <a:xfrm>
              <a:off x="232" y="3723"/>
              <a:ext cx="27" cy="32"/>
            </a:xfrm>
            <a:custGeom>
              <a:avLst/>
              <a:gdLst/>
              <a:ahLst/>
              <a:cxnLst/>
              <a:rect l="0" t="0" r="0" b="0"/>
              <a:pathLst>
                <a:path w="27" h="32">
                  <a:moveTo>
                    <a:pt x="26" y="0"/>
                  </a:moveTo>
                  <a:lnTo>
                    <a:pt x="11" y="31"/>
                  </a:lnTo>
                  <a:lnTo>
                    <a:pt x="0" y="23"/>
                  </a:lnTo>
                  <a:lnTo>
                    <a:pt x="26" y="0"/>
                  </a:lnTo>
                </a:path>
              </a:pathLst>
            </a:custGeom>
            <a:solidFill>
              <a:srgbClr val="FFFFFF"/>
            </a:solidFill>
            <a:ln cap="rnd">
              <a:noFill/>
              <a:round/>
              <a:headEnd type="none" w="sm" len="sm"/>
              <a:tailEnd type="none" w="sm" len="sm"/>
            </a:ln>
            <a:effectLst/>
          </p:spPr>
        </p:sp>
        <p:sp>
          <p:nvSpPr>
            <p:cNvPr id="73742" name="Freeform 73741"/>
            <p:cNvSpPr/>
            <p:nvPr/>
          </p:nvSpPr>
          <p:spPr>
            <a:xfrm>
              <a:off x="205" y="3712"/>
              <a:ext cx="19" cy="30"/>
            </a:xfrm>
            <a:custGeom>
              <a:avLst/>
              <a:gdLst/>
              <a:ahLst/>
              <a:cxnLst/>
              <a:rect l="0" t="0" r="0" b="0"/>
              <a:pathLst>
                <a:path w="19" h="30">
                  <a:moveTo>
                    <a:pt x="8" y="0"/>
                  </a:moveTo>
                  <a:lnTo>
                    <a:pt x="0" y="29"/>
                  </a:lnTo>
                  <a:lnTo>
                    <a:pt x="18" y="28"/>
                  </a:lnTo>
                  <a:lnTo>
                    <a:pt x="8" y="0"/>
                  </a:lnTo>
                </a:path>
              </a:pathLst>
            </a:custGeom>
            <a:solidFill>
              <a:srgbClr val="FFFFFF"/>
            </a:solidFill>
            <a:ln cap="rnd">
              <a:noFill/>
              <a:round/>
              <a:headEnd type="none" w="sm" len="sm"/>
              <a:tailEnd type="none" w="sm" len="sm"/>
            </a:ln>
            <a:effectLst/>
          </p:spPr>
        </p:sp>
        <p:sp>
          <p:nvSpPr>
            <p:cNvPr id="73743" name="Freeform 73742"/>
            <p:cNvSpPr/>
            <p:nvPr/>
          </p:nvSpPr>
          <p:spPr>
            <a:xfrm>
              <a:off x="181" y="3759"/>
              <a:ext cx="67" cy="114"/>
            </a:xfrm>
            <a:custGeom>
              <a:avLst/>
              <a:gdLst/>
              <a:ahLst/>
              <a:cxnLst/>
              <a:rect l="0" t="0" r="0" b="0"/>
              <a:pathLst>
                <a:path w="67" h="114">
                  <a:moveTo>
                    <a:pt x="21" y="113"/>
                  </a:moveTo>
                  <a:lnTo>
                    <a:pt x="22" y="93"/>
                  </a:lnTo>
                  <a:lnTo>
                    <a:pt x="20" y="90"/>
                  </a:lnTo>
                  <a:lnTo>
                    <a:pt x="14" y="82"/>
                  </a:lnTo>
                  <a:lnTo>
                    <a:pt x="8" y="71"/>
                  </a:lnTo>
                  <a:lnTo>
                    <a:pt x="3" y="57"/>
                  </a:lnTo>
                  <a:lnTo>
                    <a:pt x="0" y="41"/>
                  </a:lnTo>
                  <a:lnTo>
                    <a:pt x="0" y="26"/>
                  </a:lnTo>
                  <a:lnTo>
                    <a:pt x="7" y="11"/>
                  </a:lnTo>
                  <a:lnTo>
                    <a:pt x="22" y="0"/>
                  </a:lnTo>
                  <a:lnTo>
                    <a:pt x="42" y="0"/>
                  </a:lnTo>
                  <a:lnTo>
                    <a:pt x="45" y="0"/>
                  </a:lnTo>
                  <a:lnTo>
                    <a:pt x="50" y="4"/>
                  </a:lnTo>
                  <a:lnTo>
                    <a:pt x="56" y="10"/>
                  </a:lnTo>
                  <a:lnTo>
                    <a:pt x="62" y="19"/>
                  </a:lnTo>
                  <a:lnTo>
                    <a:pt x="66" y="31"/>
                  </a:lnTo>
                  <a:lnTo>
                    <a:pt x="65" y="47"/>
                  </a:lnTo>
                  <a:lnTo>
                    <a:pt x="58" y="67"/>
                  </a:lnTo>
                  <a:lnTo>
                    <a:pt x="42" y="90"/>
                  </a:lnTo>
                  <a:lnTo>
                    <a:pt x="42" y="113"/>
                  </a:lnTo>
                  <a:lnTo>
                    <a:pt x="21" y="113"/>
                  </a:lnTo>
                </a:path>
              </a:pathLst>
            </a:custGeom>
            <a:solidFill>
              <a:srgbClr val="FFFFFF"/>
            </a:solidFill>
            <a:ln cap="rnd">
              <a:noFill/>
              <a:round/>
              <a:headEnd type="none" w="sm" len="sm"/>
              <a:tailEnd type="none" w="sm" len="sm"/>
            </a:ln>
            <a:effectLst/>
          </p:spPr>
        </p:sp>
        <p:sp>
          <p:nvSpPr>
            <p:cNvPr id="73744" name="Freeform 73743"/>
            <p:cNvSpPr/>
            <p:nvPr/>
          </p:nvSpPr>
          <p:spPr>
            <a:xfrm>
              <a:off x="207" y="3779"/>
              <a:ext cx="18" cy="85"/>
            </a:xfrm>
            <a:custGeom>
              <a:avLst/>
              <a:gdLst/>
              <a:ahLst/>
              <a:cxnLst/>
              <a:rect l="0" t="0" r="0" b="0"/>
              <a:pathLst>
                <a:path w="18" h="85">
                  <a:moveTo>
                    <a:pt x="4" y="0"/>
                  </a:moveTo>
                  <a:lnTo>
                    <a:pt x="7" y="5"/>
                  </a:lnTo>
                  <a:lnTo>
                    <a:pt x="2" y="6"/>
                  </a:lnTo>
                  <a:lnTo>
                    <a:pt x="2" y="76"/>
                  </a:lnTo>
                  <a:lnTo>
                    <a:pt x="0" y="77"/>
                  </a:lnTo>
                  <a:lnTo>
                    <a:pt x="0" y="84"/>
                  </a:lnTo>
                  <a:lnTo>
                    <a:pt x="2" y="84"/>
                  </a:lnTo>
                  <a:lnTo>
                    <a:pt x="4" y="84"/>
                  </a:lnTo>
                  <a:lnTo>
                    <a:pt x="7" y="84"/>
                  </a:lnTo>
                  <a:lnTo>
                    <a:pt x="9" y="83"/>
                  </a:lnTo>
                  <a:lnTo>
                    <a:pt x="14" y="83"/>
                  </a:lnTo>
                  <a:lnTo>
                    <a:pt x="17" y="82"/>
                  </a:lnTo>
                  <a:lnTo>
                    <a:pt x="17" y="80"/>
                  </a:lnTo>
                  <a:lnTo>
                    <a:pt x="17" y="77"/>
                  </a:lnTo>
                  <a:lnTo>
                    <a:pt x="17" y="46"/>
                  </a:lnTo>
                  <a:lnTo>
                    <a:pt x="14" y="45"/>
                  </a:lnTo>
                  <a:lnTo>
                    <a:pt x="14" y="38"/>
                  </a:lnTo>
                  <a:lnTo>
                    <a:pt x="14" y="4"/>
                  </a:lnTo>
                  <a:lnTo>
                    <a:pt x="4" y="0"/>
                  </a:lnTo>
                </a:path>
              </a:pathLst>
            </a:custGeom>
            <a:solidFill>
              <a:srgbClr val="000000"/>
            </a:solidFill>
            <a:ln cap="rnd">
              <a:noFill/>
              <a:round/>
              <a:headEnd type="none" w="sm" len="sm"/>
              <a:tailEnd type="none" w="sm" len="sm"/>
            </a:ln>
            <a:effectLst/>
          </p:spPr>
        </p:sp>
      </p:gr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t>Click to edit Master title style</a:t>
            </a:r>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83969"/>
          <p:cNvSpPr/>
          <p:nvPr/>
        </p:nvSpPr>
        <p:spPr>
          <a:xfrm>
            <a:off x="0" y="0"/>
            <a:ext cx="9142413" cy="6856413"/>
          </a:xfrm>
          <a:prstGeom prst="rect">
            <a:avLst/>
          </a:prstGeom>
          <a:solidFill>
            <a:srgbClr val="000000"/>
          </a:solidFill>
          <a:ln w="12700">
            <a:noFill/>
            <a:miter lim="800000"/>
          </a:ln>
          <a:effectLst/>
        </p:spPr>
      </p:sp>
      <p:sp>
        <p:nvSpPr>
          <p:cNvPr id="83971" name="Title Placeholder 83970"/>
          <p:cNvSpPr>
            <a:spLocks noGrp="1"/>
          </p:cNvSpPr>
          <p:nvPr>
            <p:ph type="title"/>
          </p:nvPr>
        </p:nvSpPr>
        <p:spPr>
          <a:xfrm>
            <a:off x="1455738" y="609600"/>
            <a:ext cx="7451725" cy="1143000"/>
          </a:xfrm>
          <a:prstGeom prst="rect">
            <a:avLst/>
          </a:prstGeom>
          <a:noFill/>
          <a:ln w="12700">
            <a:noFill/>
            <a:miter lim="800000"/>
          </a:ln>
          <a:effectLst/>
        </p:spPr>
        <p:txBody>
          <a:bodyPr lIns="90488" tIns="44450" rIns="90488" bIns="4445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Click to edit Master title style</a:t>
            </a:r>
          </a:p>
        </p:txBody>
      </p:sp>
      <p:sp>
        <p:nvSpPr>
          <p:cNvPr id="83972" name="Text Placeholder 83971"/>
          <p:cNvSpPr>
            <a:spLocks noGrp="1"/>
          </p:cNvSpPr>
          <p:nvPr>
            <p:ph type="body" idx="1"/>
          </p:nvPr>
        </p:nvSpPr>
        <p:spPr>
          <a:xfrm>
            <a:off x="1455738" y="1981200"/>
            <a:ext cx="7451725" cy="4114800"/>
          </a:xfrm>
          <a:prstGeom prst="rect">
            <a:avLst/>
          </a:prstGeom>
          <a:noFill/>
          <a:ln w="12700">
            <a:noFill/>
            <a:miter lim="800000"/>
          </a:ln>
          <a:effectLst/>
        </p:spPr>
        <p:txBody>
          <a:bodyPr lIns="90488" tIns="44450" rIns="90488" bIns="44450">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0"/>
            <a:r>
              <a:t>Click to edit Master text styles</a:t>
            </a:r>
          </a:p>
          <a:p>
            <a:pPr lvl="1"/>
            <a:r>
              <a:t>Second level</a:t>
            </a:r>
          </a:p>
          <a:p>
            <a:pPr lvl="2"/>
            <a:r>
              <a:t>Third level</a:t>
            </a:r>
          </a:p>
          <a:p>
            <a:pPr lvl="3"/>
            <a:r>
              <a:t>Fourth level</a:t>
            </a:r>
          </a:p>
          <a:p>
            <a:pPr lvl="4"/>
            <a:r>
              <a:t>Fifth level</a:t>
            </a:r>
          </a:p>
        </p:txBody>
      </p:sp>
      <p:cxnSp>
        <p:nvCxnSpPr>
          <p:cNvPr id="83973" name="Straight Connector 83972"/>
          <p:cNvCxnSpPr/>
          <p:nvPr/>
        </p:nvCxnSpPr>
        <p:spPr>
          <a:xfrm>
            <a:off x="1463675" y="304800"/>
            <a:ext cx="7437438" cy="0"/>
          </a:xfrm>
          <a:prstGeom prst="line">
            <a:avLst/>
          </a:prstGeom>
          <a:noFill/>
          <a:ln w="12700">
            <a:solidFill>
              <a:schemeClr val="hlink"/>
            </a:solidFill>
            <a:miter lim="800000"/>
          </a:ln>
          <a:effectLst/>
        </p:spPr>
      </p:cxnSp>
      <p:sp>
        <p:nvSpPr>
          <p:cNvPr id="83974" name="Rectangle 83973"/>
          <p:cNvSpPr/>
          <p:nvPr/>
        </p:nvSpPr>
        <p:spPr>
          <a:xfrm>
            <a:off x="0" y="0"/>
            <a:ext cx="1389063" cy="6856413"/>
          </a:xfrm>
          <a:prstGeom prst="rect">
            <a:avLst/>
          </a:prstGeom>
          <a:gradFill rotWithShape="0">
            <a:gsLst>
              <a:gs pos="0">
                <a:srgbClr val="FFCC66">
                  <a:gamma/>
                  <a:shade val="49804"/>
                  <a:invGamma/>
                </a:srgbClr>
              </a:gs>
              <a:gs pos="50000">
                <a:srgbClr val="FFCC66"/>
              </a:gs>
              <a:gs pos="100000">
                <a:srgbClr val="FFCC66">
                  <a:gamma/>
                  <a:shade val="49804"/>
                  <a:invGamma/>
                </a:srgbClr>
              </a:gs>
            </a:gsLst>
            <a:lin ang="0" scaled="1"/>
          </a:gradFill>
          <a:ln w="12700">
            <a:noFill/>
            <a:miter lim="800000"/>
          </a:ln>
          <a:effectLst/>
        </p:spPr>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Lst>
  <p:transition/>
  <p:hf sldNum="0" dt="0"/>
  <p:txStyles>
    <p:titleStyle>
      <a:lvl1pPr marL="0" indent="0" algn="ctr" defTabSz="914400" rtl="0" eaLnBrk="0" fontAlgn="base" hangingPunct="0">
        <a:lnSpc>
          <a:spcPct val="100000"/>
        </a:lnSpc>
        <a:spcBef>
          <a:spcPct val="0"/>
        </a:spcBef>
        <a:spcAft>
          <a:spcPct val="0"/>
        </a:spcAft>
        <a:buClrTx/>
        <a:buSzTx/>
        <a:buFontTx/>
        <a:buNone/>
        <a:defRPr kumimoji="0" sz="4400" b="1" i="0" u="none" baseline="0">
          <a:solidFill>
            <a:schemeClr val="tx2"/>
          </a:solidFill>
          <a:effectLst/>
          <a:latin typeface="Times New Roman" pitchFamily="18" charset="0"/>
        </a:defRPr>
      </a:lvl1pPr>
    </p:titleStyle>
    <p:bodyStyle>
      <a:lvl1pPr marL="342900" indent="-342900" algn="l" defTabSz="914400" rtl="0" eaLnBrk="0" fontAlgn="base" hangingPunct="0">
        <a:lnSpc>
          <a:spcPct val="100000"/>
        </a:lnSpc>
        <a:spcBef>
          <a:spcPct val="20000"/>
        </a:spcBef>
        <a:spcAft>
          <a:spcPct val="0"/>
        </a:spcAft>
        <a:buClrTx/>
        <a:buSzTx/>
        <a:buFontTx/>
        <a:buChar char="•"/>
        <a:defRPr kumimoji="0"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sz="2000" b="0" i="0" u="none" baseline="0">
          <a:solidFill>
            <a:schemeClr val="tx1"/>
          </a:solidFill>
          <a:effectLst/>
          <a:latin typeface="Arial" pitchFamily="34" charset="0"/>
        </a:defRPr>
      </a:lvl5pPr>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5121"/>
          <p:cNvSpPr>
            <a:spLocks noGrp="1"/>
          </p:cNvSpPr>
          <p:nvPr>
            <p:ph type="ctrTitle"/>
          </p:nvPr>
        </p:nvSpPr>
        <p:spPr>
          <a:xfrm>
            <a:off x="685800" y="2286000"/>
            <a:ext cx="7772400"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rPr sz="4800"/>
              <a:t>Writing Basic </a:t>
            </a:r>
            <a:br>
              <a:rPr sz="4800"/>
            </a:br>
            <a:r>
              <a:rPr sz="4800"/>
              <a:t>SQL Statements</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7169"/>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Objectives</a:t>
            </a:r>
          </a:p>
        </p:txBody>
      </p:sp>
      <p:sp>
        <p:nvSpPr>
          <p:cNvPr id="7171" name="Text Placeholder 7170"/>
          <p:cNvSpPr>
            <a:spLocks noGrp="1"/>
          </p:cNvSpPr>
          <p:nvPr>
            <p:ph type="body" idx="1"/>
          </p:nvPr>
        </p:nvSpPr>
        <p:spPr>
          <a:xfrm>
            <a:off x="1600200" y="1828800"/>
            <a:ext cx="7385050" cy="2519363"/>
          </a:xfrm>
          <a:noFill/>
          <a:ln w="12700">
            <a:noFill/>
            <a:miter lim="800000"/>
          </a:ln>
          <a:effectLst>
            <a:outerShdw dist="53882" dir="2700000" algn="ctr">
              <a:schemeClr val="bg2"/>
            </a:outerShdw>
          </a:effectLst>
        </p:spPr>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0"/>
            <a:r>
              <a:t>After completing this lesson, you should be able to do the following:</a:t>
            </a:r>
          </a:p>
          <a:p>
            <a:pPr lvl="1"/>
            <a:r>
              <a:t>List the capabilities of SQL SELECT statements</a:t>
            </a:r>
          </a:p>
          <a:p>
            <a:pPr lvl="1"/>
            <a:r>
              <a:t>Execute a basic SELECT statement</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9217"/>
          <p:cNvSpPr/>
          <p:nvPr/>
        </p:nvSpPr>
        <p:spPr bwMode="blackWhite">
          <a:xfrm>
            <a:off x="1641475" y="4391025"/>
            <a:ext cx="1841500" cy="1346200"/>
          </a:xfrm>
          <a:prstGeom prst="rect">
            <a:avLst/>
          </a:prstGeom>
          <a:solidFill>
            <a:srgbClr val="FFFFCC"/>
          </a:solidFill>
          <a:ln w="25400">
            <a:solidFill>
              <a:prstClr val="black"/>
            </a:solidFill>
            <a:miter lim="800000"/>
          </a:ln>
          <a:effectLst>
            <a:outerShdw dist="89803" dir="2700000" algn="ctr">
              <a:srgbClr val="000000"/>
            </a:outerShdw>
          </a:effectLst>
        </p:spPr>
      </p:sp>
      <p:sp>
        <p:nvSpPr>
          <p:cNvPr id="9219" name="Rectangle 9218"/>
          <p:cNvSpPr/>
          <p:nvPr/>
        </p:nvSpPr>
        <p:spPr bwMode="blackWhite">
          <a:xfrm>
            <a:off x="1646238" y="2205038"/>
            <a:ext cx="1841500" cy="1346200"/>
          </a:xfrm>
          <a:prstGeom prst="rect">
            <a:avLst/>
          </a:prstGeom>
          <a:solidFill>
            <a:srgbClr val="FFFFCC"/>
          </a:solidFill>
          <a:ln w="25400">
            <a:solidFill>
              <a:prstClr val="black"/>
            </a:solidFill>
            <a:miter lim="800000"/>
          </a:ln>
          <a:effectLst>
            <a:outerShdw dist="89803" dir="2700000" algn="ctr">
              <a:srgbClr val="000000"/>
            </a:outerShdw>
          </a:effectLst>
        </p:spPr>
      </p:sp>
      <p:grpSp>
        <p:nvGrpSpPr>
          <p:cNvPr id="9223" name="Group 9222"/>
          <p:cNvGrpSpPr/>
          <p:nvPr/>
        </p:nvGrpSpPr>
        <p:grpSpPr>
          <a:xfrm>
            <a:off x="1655763" y="2368550"/>
            <a:ext cx="1825625" cy="1066800"/>
            <a:chOff x="1043" y="1492"/>
            <a:chExt cx="1150" cy="672"/>
          </a:xfrm>
        </p:grpSpPr>
        <p:sp>
          <p:nvSpPr>
            <p:cNvPr id="9220" name="Rectangle 9219"/>
            <p:cNvSpPr/>
            <p:nvPr/>
          </p:nvSpPr>
          <p:spPr bwMode="ltGray">
            <a:xfrm>
              <a:off x="1043" y="1684"/>
              <a:ext cx="1150" cy="91"/>
            </a:xfrm>
            <a:prstGeom prst="rect">
              <a:avLst/>
            </a:prstGeom>
            <a:solidFill>
              <a:srgbClr val="CC3399"/>
            </a:solidFill>
            <a:ln>
              <a:noFill/>
              <a:miter lim="800000"/>
            </a:ln>
            <a:effectLst/>
          </p:spPr>
        </p:sp>
        <p:sp>
          <p:nvSpPr>
            <p:cNvPr id="9221" name="Rectangle 9220"/>
            <p:cNvSpPr/>
            <p:nvPr/>
          </p:nvSpPr>
          <p:spPr bwMode="ltGray">
            <a:xfrm>
              <a:off x="1043" y="1969"/>
              <a:ext cx="1150" cy="195"/>
            </a:xfrm>
            <a:prstGeom prst="rect">
              <a:avLst/>
            </a:prstGeom>
            <a:solidFill>
              <a:srgbClr val="CC3399"/>
            </a:solidFill>
            <a:ln>
              <a:noFill/>
              <a:miter lim="800000"/>
            </a:ln>
            <a:effectLst/>
          </p:spPr>
        </p:sp>
        <p:sp>
          <p:nvSpPr>
            <p:cNvPr id="9222" name="Rectangle 9221"/>
            <p:cNvSpPr/>
            <p:nvPr/>
          </p:nvSpPr>
          <p:spPr bwMode="ltGray">
            <a:xfrm>
              <a:off x="1043" y="1492"/>
              <a:ext cx="1150" cy="85"/>
            </a:xfrm>
            <a:prstGeom prst="rect">
              <a:avLst/>
            </a:prstGeom>
            <a:solidFill>
              <a:srgbClr val="CC3399"/>
            </a:solidFill>
            <a:ln>
              <a:noFill/>
              <a:miter lim="800000"/>
            </a:ln>
            <a:effectLst/>
          </p:spPr>
        </p:sp>
      </p:grpSp>
      <p:cxnSp>
        <p:nvCxnSpPr>
          <p:cNvPr id="9224" name="Straight Connector 9223"/>
          <p:cNvCxnSpPr/>
          <p:nvPr/>
        </p:nvCxnSpPr>
        <p:spPr>
          <a:xfrm flipH="1">
            <a:off x="2614613" y="2192338"/>
            <a:ext cx="0" cy="1376362"/>
          </a:xfrm>
          <a:prstGeom prst="line">
            <a:avLst/>
          </a:prstGeom>
          <a:noFill/>
          <a:ln w="25400">
            <a:solidFill>
              <a:prstClr val="black"/>
            </a:solidFill>
            <a:miter lim="800000"/>
          </a:ln>
          <a:effectLst/>
        </p:spPr>
      </p:cxnSp>
      <p:cxnSp>
        <p:nvCxnSpPr>
          <p:cNvPr id="9225" name="Straight Connector 9224"/>
          <p:cNvCxnSpPr/>
          <p:nvPr/>
        </p:nvCxnSpPr>
        <p:spPr>
          <a:xfrm flipH="1">
            <a:off x="1919288" y="2192338"/>
            <a:ext cx="0" cy="1376362"/>
          </a:xfrm>
          <a:prstGeom prst="line">
            <a:avLst/>
          </a:prstGeom>
          <a:noFill/>
          <a:ln w="25400">
            <a:solidFill>
              <a:prstClr val="black"/>
            </a:solidFill>
            <a:miter lim="800000"/>
          </a:ln>
          <a:effectLst/>
        </p:spPr>
      </p:cxnSp>
      <p:cxnSp>
        <p:nvCxnSpPr>
          <p:cNvPr id="9226" name="Straight Connector 9225"/>
          <p:cNvCxnSpPr/>
          <p:nvPr/>
        </p:nvCxnSpPr>
        <p:spPr>
          <a:xfrm>
            <a:off x="1633538" y="2363788"/>
            <a:ext cx="1866900" cy="0"/>
          </a:xfrm>
          <a:prstGeom prst="line">
            <a:avLst/>
          </a:prstGeom>
          <a:noFill/>
          <a:ln w="25400">
            <a:solidFill>
              <a:prstClr val="black"/>
            </a:solidFill>
            <a:miter lim="800000"/>
          </a:ln>
          <a:effectLst/>
        </p:spPr>
      </p:cxnSp>
      <p:cxnSp>
        <p:nvCxnSpPr>
          <p:cNvPr id="9227" name="Straight Connector 9226"/>
          <p:cNvCxnSpPr/>
          <p:nvPr/>
        </p:nvCxnSpPr>
        <p:spPr>
          <a:xfrm>
            <a:off x="1633538" y="2516188"/>
            <a:ext cx="1866900" cy="0"/>
          </a:xfrm>
          <a:prstGeom prst="line">
            <a:avLst/>
          </a:prstGeom>
          <a:noFill/>
          <a:ln w="25400">
            <a:solidFill>
              <a:prstClr val="black"/>
            </a:solidFill>
            <a:miter lim="800000"/>
          </a:ln>
          <a:effectLst/>
        </p:spPr>
      </p:cxnSp>
      <p:cxnSp>
        <p:nvCxnSpPr>
          <p:cNvPr id="9228" name="Straight Connector 9227"/>
          <p:cNvCxnSpPr/>
          <p:nvPr/>
        </p:nvCxnSpPr>
        <p:spPr>
          <a:xfrm>
            <a:off x="1633538" y="2668588"/>
            <a:ext cx="1866900" cy="0"/>
          </a:xfrm>
          <a:prstGeom prst="line">
            <a:avLst/>
          </a:prstGeom>
          <a:noFill/>
          <a:ln w="25400">
            <a:solidFill>
              <a:prstClr val="black"/>
            </a:solidFill>
            <a:miter lim="800000"/>
          </a:ln>
          <a:effectLst/>
        </p:spPr>
      </p:cxnSp>
      <p:cxnSp>
        <p:nvCxnSpPr>
          <p:cNvPr id="9229" name="Straight Connector 9228"/>
          <p:cNvCxnSpPr/>
          <p:nvPr/>
        </p:nvCxnSpPr>
        <p:spPr>
          <a:xfrm>
            <a:off x="1633538" y="2820988"/>
            <a:ext cx="1866900" cy="0"/>
          </a:xfrm>
          <a:prstGeom prst="line">
            <a:avLst/>
          </a:prstGeom>
          <a:noFill/>
          <a:ln w="25400">
            <a:solidFill>
              <a:prstClr val="black"/>
            </a:solidFill>
            <a:miter lim="800000"/>
          </a:ln>
          <a:effectLst/>
        </p:spPr>
      </p:cxnSp>
      <p:cxnSp>
        <p:nvCxnSpPr>
          <p:cNvPr id="9230" name="Straight Connector 9229"/>
          <p:cNvCxnSpPr/>
          <p:nvPr/>
        </p:nvCxnSpPr>
        <p:spPr>
          <a:xfrm>
            <a:off x="1633538" y="2973388"/>
            <a:ext cx="1866900" cy="0"/>
          </a:xfrm>
          <a:prstGeom prst="line">
            <a:avLst/>
          </a:prstGeom>
          <a:noFill/>
          <a:ln w="25400">
            <a:solidFill>
              <a:prstClr val="black"/>
            </a:solidFill>
            <a:miter lim="800000"/>
          </a:ln>
          <a:effectLst/>
        </p:spPr>
      </p:cxnSp>
      <p:cxnSp>
        <p:nvCxnSpPr>
          <p:cNvPr id="9231" name="Straight Connector 9230"/>
          <p:cNvCxnSpPr/>
          <p:nvPr/>
        </p:nvCxnSpPr>
        <p:spPr>
          <a:xfrm>
            <a:off x="1633538" y="3125788"/>
            <a:ext cx="1866900" cy="0"/>
          </a:xfrm>
          <a:prstGeom prst="line">
            <a:avLst/>
          </a:prstGeom>
          <a:noFill/>
          <a:ln w="25400">
            <a:solidFill>
              <a:prstClr val="black"/>
            </a:solidFill>
            <a:miter lim="800000"/>
          </a:ln>
          <a:effectLst/>
        </p:spPr>
      </p:cxnSp>
      <p:cxnSp>
        <p:nvCxnSpPr>
          <p:cNvPr id="9232" name="Straight Connector 9231"/>
          <p:cNvCxnSpPr/>
          <p:nvPr/>
        </p:nvCxnSpPr>
        <p:spPr>
          <a:xfrm>
            <a:off x="1633538" y="3278188"/>
            <a:ext cx="1866900" cy="0"/>
          </a:xfrm>
          <a:prstGeom prst="line">
            <a:avLst/>
          </a:prstGeom>
          <a:noFill/>
          <a:ln w="25400">
            <a:solidFill>
              <a:prstClr val="black"/>
            </a:solidFill>
            <a:miter lim="800000"/>
          </a:ln>
          <a:effectLst/>
        </p:spPr>
      </p:cxnSp>
      <p:cxnSp>
        <p:nvCxnSpPr>
          <p:cNvPr id="9233" name="Straight Connector 9232"/>
          <p:cNvCxnSpPr/>
          <p:nvPr/>
        </p:nvCxnSpPr>
        <p:spPr>
          <a:xfrm>
            <a:off x="1633538" y="3430588"/>
            <a:ext cx="1866900" cy="0"/>
          </a:xfrm>
          <a:prstGeom prst="line">
            <a:avLst/>
          </a:prstGeom>
          <a:noFill/>
          <a:ln w="25400">
            <a:solidFill>
              <a:prstClr val="black"/>
            </a:solidFill>
            <a:miter lim="800000"/>
          </a:ln>
          <a:effectLst/>
        </p:spPr>
      </p:cxnSp>
      <p:cxnSp>
        <p:nvCxnSpPr>
          <p:cNvPr id="9234" name="Straight Connector 9233"/>
          <p:cNvCxnSpPr/>
          <p:nvPr/>
        </p:nvCxnSpPr>
        <p:spPr>
          <a:xfrm flipH="1">
            <a:off x="2886075" y="2192338"/>
            <a:ext cx="0" cy="1376362"/>
          </a:xfrm>
          <a:prstGeom prst="line">
            <a:avLst/>
          </a:prstGeom>
          <a:noFill/>
          <a:ln w="25400">
            <a:solidFill>
              <a:prstClr val="black"/>
            </a:solidFill>
            <a:miter lim="800000"/>
          </a:ln>
          <a:effectLst/>
        </p:spPr>
      </p:cxnSp>
      <p:cxnSp>
        <p:nvCxnSpPr>
          <p:cNvPr id="9235" name="Straight Connector 9234"/>
          <p:cNvCxnSpPr/>
          <p:nvPr/>
        </p:nvCxnSpPr>
        <p:spPr>
          <a:xfrm flipH="1">
            <a:off x="3211513" y="2190750"/>
            <a:ext cx="0" cy="1376363"/>
          </a:xfrm>
          <a:prstGeom prst="line">
            <a:avLst/>
          </a:prstGeom>
          <a:noFill/>
          <a:ln w="25400">
            <a:solidFill>
              <a:prstClr val="black"/>
            </a:solidFill>
            <a:miter lim="800000"/>
          </a:ln>
          <a:effectLst/>
        </p:spPr>
      </p:cxnSp>
      <p:sp>
        <p:nvSpPr>
          <p:cNvPr id="9236" name="Title 9235"/>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Capabilities of SQL SELECT Statements</a:t>
            </a:r>
          </a:p>
        </p:txBody>
      </p:sp>
      <p:sp>
        <p:nvSpPr>
          <p:cNvPr id="9237" name="Rectangle 9236"/>
          <p:cNvSpPr/>
          <p:nvPr/>
        </p:nvSpPr>
        <p:spPr bwMode="blackWhite">
          <a:xfrm>
            <a:off x="5659438" y="2205038"/>
            <a:ext cx="1841500" cy="1346200"/>
          </a:xfrm>
          <a:prstGeom prst="rect">
            <a:avLst/>
          </a:prstGeom>
          <a:solidFill>
            <a:srgbClr val="FFFFCC"/>
          </a:solidFill>
          <a:ln w="25400">
            <a:solidFill>
              <a:prstClr val="black"/>
            </a:solidFill>
            <a:miter lim="800000"/>
          </a:ln>
          <a:effectLst>
            <a:outerShdw dist="89803" dir="2700000" algn="ctr">
              <a:srgbClr val="000000"/>
            </a:outerShdw>
          </a:effectLst>
        </p:spPr>
      </p:sp>
      <p:sp>
        <p:nvSpPr>
          <p:cNvPr id="9238" name="Rectangle 9237"/>
          <p:cNvSpPr/>
          <p:nvPr/>
        </p:nvSpPr>
        <p:spPr bwMode="blackWhite">
          <a:xfrm>
            <a:off x="5651500" y="4392613"/>
            <a:ext cx="1841500" cy="1346200"/>
          </a:xfrm>
          <a:prstGeom prst="rect">
            <a:avLst/>
          </a:prstGeom>
          <a:solidFill>
            <a:srgbClr val="FFFFCC"/>
          </a:solidFill>
          <a:ln w="25400">
            <a:solidFill>
              <a:prstClr val="black"/>
            </a:solidFill>
            <a:miter lim="800000"/>
          </a:ln>
          <a:effectLst>
            <a:outerShdw dist="89803" dir="2700000" algn="ctr">
              <a:srgbClr val="000000"/>
            </a:outerShdw>
          </a:effectLst>
        </p:spPr>
      </p:sp>
      <p:grpSp>
        <p:nvGrpSpPr>
          <p:cNvPr id="9241" name="Group 9240"/>
          <p:cNvGrpSpPr/>
          <p:nvPr/>
        </p:nvGrpSpPr>
        <p:grpSpPr>
          <a:xfrm>
            <a:off x="5942013" y="2216150"/>
            <a:ext cx="1274762" cy="1327150"/>
            <a:chOff x="3743" y="1396"/>
            <a:chExt cx="803" cy="836"/>
          </a:xfrm>
        </p:grpSpPr>
        <p:sp>
          <p:nvSpPr>
            <p:cNvPr id="9239" name="Rectangle 9238"/>
            <p:cNvSpPr/>
            <p:nvPr/>
          </p:nvSpPr>
          <p:spPr bwMode="ltGray">
            <a:xfrm>
              <a:off x="3743" y="1396"/>
              <a:ext cx="425" cy="836"/>
            </a:xfrm>
            <a:prstGeom prst="rect">
              <a:avLst/>
            </a:prstGeom>
            <a:solidFill>
              <a:srgbClr val="CC3399"/>
            </a:solidFill>
            <a:ln>
              <a:noFill/>
              <a:miter lim="800000"/>
            </a:ln>
            <a:effectLst/>
          </p:spPr>
        </p:sp>
        <p:sp>
          <p:nvSpPr>
            <p:cNvPr id="9240" name="Rectangle 9239"/>
            <p:cNvSpPr/>
            <p:nvPr/>
          </p:nvSpPr>
          <p:spPr bwMode="ltGray">
            <a:xfrm>
              <a:off x="4351" y="1396"/>
              <a:ext cx="195" cy="836"/>
            </a:xfrm>
            <a:prstGeom prst="rect">
              <a:avLst/>
            </a:prstGeom>
            <a:solidFill>
              <a:srgbClr val="CC3399"/>
            </a:solidFill>
            <a:ln>
              <a:noFill/>
              <a:miter lim="800000"/>
            </a:ln>
            <a:effectLst/>
          </p:spPr>
        </p:sp>
      </p:grpSp>
      <p:grpSp>
        <p:nvGrpSpPr>
          <p:cNvPr id="9244" name="Group 9243"/>
          <p:cNvGrpSpPr/>
          <p:nvPr/>
        </p:nvGrpSpPr>
        <p:grpSpPr>
          <a:xfrm>
            <a:off x="3216275" y="4398963"/>
            <a:ext cx="2708275" cy="1330325"/>
            <a:chOff x="2026" y="2771"/>
            <a:chExt cx="1706" cy="838"/>
          </a:xfrm>
        </p:grpSpPr>
        <p:sp>
          <p:nvSpPr>
            <p:cNvPr id="9242" name="Rectangle 9241"/>
            <p:cNvSpPr/>
            <p:nvPr/>
          </p:nvSpPr>
          <p:spPr bwMode="ltGray">
            <a:xfrm>
              <a:off x="2026" y="2771"/>
              <a:ext cx="165" cy="835"/>
            </a:xfrm>
            <a:prstGeom prst="rect">
              <a:avLst/>
            </a:prstGeom>
            <a:solidFill>
              <a:srgbClr val="CC3399"/>
            </a:solidFill>
            <a:ln>
              <a:noFill/>
              <a:miter lim="800000"/>
            </a:ln>
            <a:effectLst/>
          </p:spPr>
        </p:sp>
        <p:sp>
          <p:nvSpPr>
            <p:cNvPr id="9243" name="Rectangle 9242"/>
            <p:cNvSpPr/>
            <p:nvPr/>
          </p:nvSpPr>
          <p:spPr bwMode="ltGray">
            <a:xfrm>
              <a:off x="3567" y="2774"/>
              <a:ext cx="165" cy="835"/>
            </a:xfrm>
            <a:prstGeom prst="rect">
              <a:avLst/>
            </a:prstGeom>
            <a:solidFill>
              <a:srgbClr val="CC3399"/>
            </a:solidFill>
            <a:ln>
              <a:noFill/>
              <a:miter lim="800000"/>
            </a:ln>
            <a:effectLst/>
          </p:spPr>
        </p:sp>
      </p:grpSp>
      <p:sp>
        <p:nvSpPr>
          <p:cNvPr id="9245" name="Rectangle 9244"/>
          <p:cNvSpPr/>
          <p:nvPr/>
        </p:nvSpPr>
        <p:spPr>
          <a:xfrm>
            <a:off x="1525588" y="1668463"/>
            <a:ext cx="1765300" cy="519112"/>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2800" b="1">
                <a:solidFill>
                  <a:srgbClr val="CCECFF"/>
                </a:solidFill>
                <a:effectLst>
                  <a:outerShdw blurRad="38100" dist="38100" dir="2700000" algn="tl">
                    <a:srgbClr val="000000"/>
                  </a:outerShdw>
                </a:effectLst>
                <a:latin typeface="Arial" pitchFamily="34" charset="0"/>
              </a:rPr>
              <a:t>Selection</a:t>
            </a:r>
          </a:p>
        </p:txBody>
      </p:sp>
      <p:sp>
        <p:nvSpPr>
          <p:cNvPr id="9246" name="Rectangle 9245"/>
          <p:cNvSpPr/>
          <p:nvPr/>
        </p:nvSpPr>
        <p:spPr>
          <a:xfrm>
            <a:off x="5545138" y="1651000"/>
            <a:ext cx="1922462" cy="51911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2800" b="1">
                <a:solidFill>
                  <a:srgbClr val="CCECFF"/>
                </a:solidFill>
                <a:effectLst>
                  <a:outerShdw blurRad="38100" dist="38100" dir="2700000" algn="tl">
                    <a:srgbClr val="000000"/>
                  </a:outerShdw>
                </a:effectLst>
                <a:latin typeface="Arial" pitchFamily="34" charset="0"/>
              </a:rPr>
              <a:t>Projection</a:t>
            </a:r>
          </a:p>
        </p:txBody>
      </p:sp>
      <p:cxnSp>
        <p:nvCxnSpPr>
          <p:cNvPr id="9247" name="Straight Connector 9246"/>
          <p:cNvCxnSpPr/>
          <p:nvPr/>
        </p:nvCxnSpPr>
        <p:spPr>
          <a:xfrm flipH="1">
            <a:off x="2609850" y="4378325"/>
            <a:ext cx="0" cy="1376363"/>
          </a:xfrm>
          <a:prstGeom prst="line">
            <a:avLst/>
          </a:prstGeom>
          <a:noFill/>
          <a:ln w="25400">
            <a:solidFill>
              <a:prstClr val="black"/>
            </a:solidFill>
            <a:miter lim="800000"/>
          </a:ln>
          <a:effectLst/>
        </p:spPr>
      </p:cxnSp>
      <p:cxnSp>
        <p:nvCxnSpPr>
          <p:cNvPr id="9248" name="Straight Connector 9247"/>
          <p:cNvCxnSpPr/>
          <p:nvPr/>
        </p:nvCxnSpPr>
        <p:spPr>
          <a:xfrm flipH="1">
            <a:off x="1914525" y="4378325"/>
            <a:ext cx="0" cy="1376363"/>
          </a:xfrm>
          <a:prstGeom prst="line">
            <a:avLst/>
          </a:prstGeom>
          <a:noFill/>
          <a:ln w="25400">
            <a:solidFill>
              <a:prstClr val="black"/>
            </a:solidFill>
            <a:miter lim="800000"/>
          </a:ln>
          <a:effectLst/>
        </p:spPr>
      </p:cxnSp>
      <p:cxnSp>
        <p:nvCxnSpPr>
          <p:cNvPr id="9249" name="Straight Connector 9248"/>
          <p:cNvCxnSpPr/>
          <p:nvPr/>
        </p:nvCxnSpPr>
        <p:spPr>
          <a:xfrm>
            <a:off x="1628775" y="4549775"/>
            <a:ext cx="1866900" cy="0"/>
          </a:xfrm>
          <a:prstGeom prst="line">
            <a:avLst/>
          </a:prstGeom>
          <a:noFill/>
          <a:ln w="25400">
            <a:solidFill>
              <a:prstClr val="black"/>
            </a:solidFill>
            <a:miter lim="800000"/>
          </a:ln>
          <a:effectLst/>
        </p:spPr>
      </p:cxnSp>
      <p:cxnSp>
        <p:nvCxnSpPr>
          <p:cNvPr id="9250" name="Straight Connector 9249"/>
          <p:cNvCxnSpPr/>
          <p:nvPr/>
        </p:nvCxnSpPr>
        <p:spPr>
          <a:xfrm>
            <a:off x="1628775" y="4702175"/>
            <a:ext cx="1866900" cy="0"/>
          </a:xfrm>
          <a:prstGeom prst="line">
            <a:avLst/>
          </a:prstGeom>
          <a:noFill/>
          <a:ln w="25400">
            <a:solidFill>
              <a:prstClr val="black"/>
            </a:solidFill>
            <a:miter lim="800000"/>
          </a:ln>
          <a:effectLst/>
        </p:spPr>
      </p:cxnSp>
      <p:cxnSp>
        <p:nvCxnSpPr>
          <p:cNvPr id="9251" name="Straight Connector 9250"/>
          <p:cNvCxnSpPr/>
          <p:nvPr/>
        </p:nvCxnSpPr>
        <p:spPr>
          <a:xfrm>
            <a:off x="1628775" y="4854575"/>
            <a:ext cx="1866900" cy="0"/>
          </a:xfrm>
          <a:prstGeom prst="line">
            <a:avLst/>
          </a:prstGeom>
          <a:noFill/>
          <a:ln w="25400">
            <a:solidFill>
              <a:prstClr val="black"/>
            </a:solidFill>
            <a:miter lim="800000"/>
          </a:ln>
          <a:effectLst/>
        </p:spPr>
      </p:cxnSp>
      <p:cxnSp>
        <p:nvCxnSpPr>
          <p:cNvPr id="9252" name="Straight Connector 9251"/>
          <p:cNvCxnSpPr/>
          <p:nvPr/>
        </p:nvCxnSpPr>
        <p:spPr>
          <a:xfrm>
            <a:off x="1628775" y="5006975"/>
            <a:ext cx="1866900" cy="0"/>
          </a:xfrm>
          <a:prstGeom prst="line">
            <a:avLst/>
          </a:prstGeom>
          <a:noFill/>
          <a:ln w="25400">
            <a:solidFill>
              <a:prstClr val="black"/>
            </a:solidFill>
            <a:miter lim="800000"/>
          </a:ln>
          <a:effectLst/>
        </p:spPr>
      </p:cxnSp>
      <p:cxnSp>
        <p:nvCxnSpPr>
          <p:cNvPr id="9253" name="Straight Connector 9252"/>
          <p:cNvCxnSpPr/>
          <p:nvPr/>
        </p:nvCxnSpPr>
        <p:spPr>
          <a:xfrm>
            <a:off x="1628775" y="5159375"/>
            <a:ext cx="1866900" cy="0"/>
          </a:xfrm>
          <a:prstGeom prst="line">
            <a:avLst/>
          </a:prstGeom>
          <a:noFill/>
          <a:ln w="25400">
            <a:solidFill>
              <a:prstClr val="black"/>
            </a:solidFill>
            <a:miter lim="800000"/>
          </a:ln>
          <a:effectLst/>
        </p:spPr>
      </p:cxnSp>
      <p:cxnSp>
        <p:nvCxnSpPr>
          <p:cNvPr id="9254" name="Straight Connector 9253"/>
          <p:cNvCxnSpPr/>
          <p:nvPr/>
        </p:nvCxnSpPr>
        <p:spPr>
          <a:xfrm>
            <a:off x="1628775" y="5311775"/>
            <a:ext cx="1866900" cy="0"/>
          </a:xfrm>
          <a:prstGeom prst="line">
            <a:avLst/>
          </a:prstGeom>
          <a:noFill/>
          <a:ln w="25400">
            <a:solidFill>
              <a:prstClr val="black"/>
            </a:solidFill>
            <a:miter lim="800000"/>
          </a:ln>
          <a:effectLst/>
        </p:spPr>
      </p:cxnSp>
      <p:cxnSp>
        <p:nvCxnSpPr>
          <p:cNvPr id="9255" name="Straight Connector 9254"/>
          <p:cNvCxnSpPr/>
          <p:nvPr/>
        </p:nvCxnSpPr>
        <p:spPr>
          <a:xfrm>
            <a:off x="1628775" y="5464175"/>
            <a:ext cx="1866900" cy="0"/>
          </a:xfrm>
          <a:prstGeom prst="line">
            <a:avLst/>
          </a:prstGeom>
          <a:noFill/>
          <a:ln w="25400">
            <a:solidFill>
              <a:prstClr val="black"/>
            </a:solidFill>
            <a:miter lim="800000"/>
          </a:ln>
          <a:effectLst/>
        </p:spPr>
      </p:cxnSp>
      <p:cxnSp>
        <p:nvCxnSpPr>
          <p:cNvPr id="9256" name="Straight Connector 9255"/>
          <p:cNvCxnSpPr/>
          <p:nvPr/>
        </p:nvCxnSpPr>
        <p:spPr>
          <a:xfrm>
            <a:off x="1628775" y="5616575"/>
            <a:ext cx="1866900" cy="0"/>
          </a:xfrm>
          <a:prstGeom prst="line">
            <a:avLst/>
          </a:prstGeom>
          <a:noFill/>
          <a:ln w="25400">
            <a:solidFill>
              <a:prstClr val="black"/>
            </a:solidFill>
            <a:miter lim="800000"/>
          </a:ln>
          <a:effectLst/>
        </p:spPr>
      </p:cxnSp>
      <p:cxnSp>
        <p:nvCxnSpPr>
          <p:cNvPr id="9257" name="Straight Connector 9256"/>
          <p:cNvCxnSpPr/>
          <p:nvPr/>
        </p:nvCxnSpPr>
        <p:spPr>
          <a:xfrm flipH="1">
            <a:off x="2881313" y="4378325"/>
            <a:ext cx="0" cy="1376363"/>
          </a:xfrm>
          <a:prstGeom prst="line">
            <a:avLst/>
          </a:prstGeom>
          <a:noFill/>
          <a:ln w="25400">
            <a:solidFill>
              <a:prstClr val="black"/>
            </a:solidFill>
            <a:miter lim="800000"/>
          </a:ln>
          <a:effectLst/>
        </p:spPr>
      </p:cxnSp>
      <p:cxnSp>
        <p:nvCxnSpPr>
          <p:cNvPr id="9258" name="Straight Connector 9257"/>
          <p:cNvCxnSpPr/>
          <p:nvPr/>
        </p:nvCxnSpPr>
        <p:spPr>
          <a:xfrm flipH="1">
            <a:off x="3206750" y="4376738"/>
            <a:ext cx="0" cy="1376362"/>
          </a:xfrm>
          <a:prstGeom prst="line">
            <a:avLst/>
          </a:prstGeom>
          <a:noFill/>
          <a:ln w="25400">
            <a:solidFill>
              <a:prstClr val="black"/>
            </a:solidFill>
            <a:miter lim="800000"/>
          </a:ln>
          <a:effectLst/>
        </p:spPr>
      </p:cxnSp>
      <p:cxnSp>
        <p:nvCxnSpPr>
          <p:cNvPr id="9259" name="Straight Connector 9258"/>
          <p:cNvCxnSpPr/>
          <p:nvPr/>
        </p:nvCxnSpPr>
        <p:spPr>
          <a:xfrm flipH="1">
            <a:off x="6351588" y="4392613"/>
            <a:ext cx="0" cy="1376362"/>
          </a:xfrm>
          <a:prstGeom prst="line">
            <a:avLst/>
          </a:prstGeom>
          <a:noFill/>
          <a:ln w="25400">
            <a:solidFill>
              <a:prstClr val="black"/>
            </a:solidFill>
            <a:miter lim="800000"/>
          </a:ln>
          <a:effectLst/>
        </p:spPr>
      </p:cxnSp>
      <p:cxnSp>
        <p:nvCxnSpPr>
          <p:cNvPr id="9260" name="Straight Connector 9259"/>
          <p:cNvCxnSpPr/>
          <p:nvPr/>
        </p:nvCxnSpPr>
        <p:spPr>
          <a:xfrm flipH="1">
            <a:off x="5924550" y="4379913"/>
            <a:ext cx="0" cy="1376362"/>
          </a:xfrm>
          <a:prstGeom prst="line">
            <a:avLst/>
          </a:prstGeom>
          <a:noFill/>
          <a:ln w="25400">
            <a:solidFill>
              <a:prstClr val="black"/>
            </a:solidFill>
            <a:miter lim="800000"/>
          </a:ln>
          <a:effectLst/>
        </p:spPr>
      </p:cxnSp>
      <p:cxnSp>
        <p:nvCxnSpPr>
          <p:cNvPr id="9261" name="Straight Connector 9260"/>
          <p:cNvCxnSpPr/>
          <p:nvPr/>
        </p:nvCxnSpPr>
        <p:spPr>
          <a:xfrm>
            <a:off x="5638800" y="4551363"/>
            <a:ext cx="1866900" cy="0"/>
          </a:xfrm>
          <a:prstGeom prst="line">
            <a:avLst/>
          </a:prstGeom>
          <a:noFill/>
          <a:ln w="25400">
            <a:solidFill>
              <a:prstClr val="black"/>
            </a:solidFill>
            <a:miter lim="800000"/>
          </a:ln>
          <a:effectLst/>
        </p:spPr>
      </p:cxnSp>
      <p:cxnSp>
        <p:nvCxnSpPr>
          <p:cNvPr id="9262" name="Straight Connector 9261"/>
          <p:cNvCxnSpPr/>
          <p:nvPr/>
        </p:nvCxnSpPr>
        <p:spPr>
          <a:xfrm>
            <a:off x="5638800" y="4703763"/>
            <a:ext cx="1866900" cy="0"/>
          </a:xfrm>
          <a:prstGeom prst="line">
            <a:avLst/>
          </a:prstGeom>
          <a:noFill/>
          <a:ln w="25400">
            <a:solidFill>
              <a:prstClr val="black"/>
            </a:solidFill>
            <a:miter lim="800000"/>
          </a:ln>
          <a:effectLst/>
        </p:spPr>
      </p:cxnSp>
      <p:cxnSp>
        <p:nvCxnSpPr>
          <p:cNvPr id="9263" name="Straight Connector 9262"/>
          <p:cNvCxnSpPr/>
          <p:nvPr/>
        </p:nvCxnSpPr>
        <p:spPr>
          <a:xfrm>
            <a:off x="5638800" y="4856163"/>
            <a:ext cx="1866900" cy="0"/>
          </a:xfrm>
          <a:prstGeom prst="line">
            <a:avLst/>
          </a:prstGeom>
          <a:noFill/>
          <a:ln w="25400">
            <a:solidFill>
              <a:prstClr val="black"/>
            </a:solidFill>
            <a:miter lim="800000"/>
          </a:ln>
          <a:effectLst/>
        </p:spPr>
      </p:cxnSp>
      <p:cxnSp>
        <p:nvCxnSpPr>
          <p:cNvPr id="9264" name="Straight Connector 9263"/>
          <p:cNvCxnSpPr/>
          <p:nvPr/>
        </p:nvCxnSpPr>
        <p:spPr>
          <a:xfrm>
            <a:off x="5638800" y="5008563"/>
            <a:ext cx="1866900" cy="0"/>
          </a:xfrm>
          <a:prstGeom prst="line">
            <a:avLst/>
          </a:prstGeom>
          <a:noFill/>
          <a:ln w="25400">
            <a:solidFill>
              <a:prstClr val="black"/>
            </a:solidFill>
            <a:miter lim="800000"/>
          </a:ln>
          <a:effectLst/>
        </p:spPr>
      </p:cxnSp>
      <p:cxnSp>
        <p:nvCxnSpPr>
          <p:cNvPr id="9265" name="Straight Connector 9264"/>
          <p:cNvCxnSpPr/>
          <p:nvPr/>
        </p:nvCxnSpPr>
        <p:spPr>
          <a:xfrm>
            <a:off x="5638800" y="5160963"/>
            <a:ext cx="1866900" cy="0"/>
          </a:xfrm>
          <a:prstGeom prst="line">
            <a:avLst/>
          </a:prstGeom>
          <a:noFill/>
          <a:ln w="25400">
            <a:solidFill>
              <a:prstClr val="black"/>
            </a:solidFill>
            <a:miter lim="800000"/>
          </a:ln>
          <a:effectLst/>
        </p:spPr>
      </p:cxnSp>
      <p:cxnSp>
        <p:nvCxnSpPr>
          <p:cNvPr id="9266" name="Straight Connector 9265"/>
          <p:cNvCxnSpPr/>
          <p:nvPr/>
        </p:nvCxnSpPr>
        <p:spPr>
          <a:xfrm>
            <a:off x="5638800" y="5313363"/>
            <a:ext cx="1866900" cy="0"/>
          </a:xfrm>
          <a:prstGeom prst="line">
            <a:avLst/>
          </a:prstGeom>
          <a:noFill/>
          <a:ln w="25400">
            <a:solidFill>
              <a:prstClr val="black"/>
            </a:solidFill>
            <a:miter lim="800000"/>
          </a:ln>
          <a:effectLst/>
        </p:spPr>
      </p:cxnSp>
      <p:cxnSp>
        <p:nvCxnSpPr>
          <p:cNvPr id="9267" name="Straight Connector 9266"/>
          <p:cNvCxnSpPr/>
          <p:nvPr/>
        </p:nvCxnSpPr>
        <p:spPr>
          <a:xfrm>
            <a:off x="5638800" y="5465763"/>
            <a:ext cx="1866900" cy="0"/>
          </a:xfrm>
          <a:prstGeom prst="line">
            <a:avLst/>
          </a:prstGeom>
          <a:noFill/>
          <a:ln w="25400">
            <a:solidFill>
              <a:prstClr val="black"/>
            </a:solidFill>
            <a:miter lim="800000"/>
          </a:ln>
          <a:effectLst/>
        </p:spPr>
      </p:cxnSp>
      <p:cxnSp>
        <p:nvCxnSpPr>
          <p:cNvPr id="9268" name="Straight Connector 9267"/>
          <p:cNvCxnSpPr/>
          <p:nvPr/>
        </p:nvCxnSpPr>
        <p:spPr>
          <a:xfrm>
            <a:off x="5638800" y="5618163"/>
            <a:ext cx="1866900" cy="0"/>
          </a:xfrm>
          <a:prstGeom prst="line">
            <a:avLst/>
          </a:prstGeom>
          <a:noFill/>
          <a:ln w="25400">
            <a:solidFill>
              <a:prstClr val="black"/>
            </a:solidFill>
            <a:miter lim="800000"/>
          </a:ln>
          <a:effectLst/>
        </p:spPr>
      </p:cxnSp>
      <p:cxnSp>
        <p:nvCxnSpPr>
          <p:cNvPr id="9269" name="Straight Connector 9268"/>
          <p:cNvCxnSpPr/>
          <p:nvPr/>
        </p:nvCxnSpPr>
        <p:spPr>
          <a:xfrm flipH="1">
            <a:off x="6891338" y="4379913"/>
            <a:ext cx="0" cy="1376362"/>
          </a:xfrm>
          <a:prstGeom prst="line">
            <a:avLst/>
          </a:prstGeom>
          <a:noFill/>
          <a:ln w="25400">
            <a:solidFill>
              <a:prstClr val="black"/>
            </a:solidFill>
            <a:miter lim="800000"/>
          </a:ln>
          <a:effectLst/>
        </p:spPr>
      </p:cxnSp>
      <p:cxnSp>
        <p:nvCxnSpPr>
          <p:cNvPr id="9270" name="Straight Connector 9269"/>
          <p:cNvCxnSpPr/>
          <p:nvPr/>
        </p:nvCxnSpPr>
        <p:spPr>
          <a:xfrm flipH="1">
            <a:off x="7216775" y="4378325"/>
            <a:ext cx="0" cy="1376363"/>
          </a:xfrm>
          <a:prstGeom prst="line">
            <a:avLst/>
          </a:prstGeom>
          <a:noFill/>
          <a:ln w="25400">
            <a:solidFill>
              <a:prstClr val="black"/>
            </a:solidFill>
            <a:miter lim="800000"/>
          </a:ln>
          <a:effectLst/>
        </p:spPr>
      </p:cxnSp>
      <p:cxnSp>
        <p:nvCxnSpPr>
          <p:cNvPr id="9271" name="Straight Connector 9270"/>
          <p:cNvCxnSpPr/>
          <p:nvPr/>
        </p:nvCxnSpPr>
        <p:spPr>
          <a:xfrm flipH="1">
            <a:off x="6643688" y="4375150"/>
            <a:ext cx="0" cy="1376363"/>
          </a:xfrm>
          <a:prstGeom prst="line">
            <a:avLst/>
          </a:prstGeom>
          <a:noFill/>
          <a:ln w="25400">
            <a:solidFill>
              <a:prstClr val="black"/>
            </a:solidFill>
            <a:miter lim="800000"/>
          </a:ln>
          <a:effectLst/>
        </p:spPr>
      </p:cxnSp>
      <p:sp>
        <p:nvSpPr>
          <p:cNvPr id="9272" name="Rectangle 9271"/>
          <p:cNvSpPr/>
          <p:nvPr/>
        </p:nvSpPr>
        <p:spPr>
          <a:xfrm>
            <a:off x="1541463" y="5800725"/>
            <a:ext cx="1235075" cy="45720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b="1">
                <a:solidFill>
                  <a:srgbClr val="FFFFCC"/>
                </a:solidFill>
                <a:effectLst>
                  <a:outerShdw blurRad="38100" dist="38100" dir="2700000" algn="tl">
                    <a:srgbClr val="000000"/>
                  </a:outerShdw>
                </a:effectLst>
                <a:latin typeface="Arial" pitchFamily="34" charset="0"/>
              </a:rPr>
              <a:t>Table 1</a:t>
            </a:r>
          </a:p>
        </p:txBody>
      </p:sp>
      <p:sp>
        <p:nvSpPr>
          <p:cNvPr id="9273" name="Rectangle 9272"/>
          <p:cNvSpPr/>
          <p:nvPr/>
        </p:nvSpPr>
        <p:spPr>
          <a:xfrm>
            <a:off x="5561013" y="5795963"/>
            <a:ext cx="1235075" cy="45720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b="1">
                <a:solidFill>
                  <a:srgbClr val="FFFFCC"/>
                </a:solidFill>
                <a:effectLst>
                  <a:outerShdw blurRad="38100" dist="38100" dir="2700000" algn="tl">
                    <a:srgbClr val="000000"/>
                  </a:outerShdw>
                </a:effectLst>
                <a:latin typeface="Arial" pitchFamily="34" charset="0"/>
              </a:rPr>
              <a:t>Table 2</a:t>
            </a:r>
          </a:p>
        </p:txBody>
      </p:sp>
      <p:sp>
        <p:nvSpPr>
          <p:cNvPr id="9274" name="Rectangle 9273"/>
          <p:cNvSpPr/>
          <p:nvPr/>
        </p:nvSpPr>
        <p:spPr>
          <a:xfrm>
            <a:off x="1543050" y="3606800"/>
            <a:ext cx="1235075" cy="45720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b="1">
                <a:solidFill>
                  <a:srgbClr val="FFFFCC"/>
                </a:solidFill>
                <a:effectLst>
                  <a:outerShdw blurRad="38100" dist="38100" dir="2700000" algn="tl">
                    <a:srgbClr val="000000"/>
                  </a:outerShdw>
                </a:effectLst>
                <a:latin typeface="Arial" pitchFamily="34" charset="0"/>
              </a:rPr>
              <a:t>Table 1</a:t>
            </a:r>
          </a:p>
        </p:txBody>
      </p:sp>
      <p:sp>
        <p:nvSpPr>
          <p:cNvPr id="9275" name="Rectangle 9274"/>
          <p:cNvSpPr/>
          <p:nvPr/>
        </p:nvSpPr>
        <p:spPr>
          <a:xfrm>
            <a:off x="5551488" y="3598863"/>
            <a:ext cx="1235075" cy="45720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b="1">
                <a:solidFill>
                  <a:srgbClr val="FFFFCC"/>
                </a:solidFill>
                <a:effectLst>
                  <a:outerShdw blurRad="38100" dist="38100" dir="2700000" algn="tl">
                    <a:srgbClr val="000000"/>
                  </a:outerShdw>
                </a:effectLst>
                <a:latin typeface="Arial" pitchFamily="34" charset="0"/>
              </a:rPr>
              <a:t>Table 1</a:t>
            </a:r>
          </a:p>
        </p:txBody>
      </p:sp>
      <p:cxnSp>
        <p:nvCxnSpPr>
          <p:cNvPr id="9276" name="Straight Connector 9275"/>
          <p:cNvCxnSpPr/>
          <p:nvPr/>
        </p:nvCxnSpPr>
        <p:spPr>
          <a:xfrm flipH="1">
            <a:off x="6627813" y="2192338"/>
            <a:ext cx="0" cy="1376362"/>
          </a:xfrm>
          <a:prstGeom prst="line">
            <a:avLst/>
          </a:prstGeom>
          <a:noFill/>
          <a:ln w="25400">
            <a:solidFill>
              <a:prstClr val="black"/>
            </a:solidFill>
            <a:miter lim="800000"/>
          </a:ln>
          <a:effectLst/>
        </p:spPr>
      </p:cxnSp>
      <p:cxnSp>
        <p:nvCxnSpPr>
          <p:cNvPr id="9277" name="Straight Connector 9276"/>
          <p:cNvCxnSpPr/>
          <p:nvPr/>
        </p:nvCxnSpPr>
        <p:spPr>
          <a:xfrm flipH="1">
            <a:off x="5932488" y="2192338"/>
            <a:ext cx="0" cy="1376362"/>
          </a:xfrm>
          <a:prstGeom prst="line">
            <a:avLst/>
          </a:prstGeom>
          <a:noFill/>
          <a:ln w="25400">
            <a:solidFill>
              <a:prstClr val="black"/>
            </a:solidFill>
            <a:miter lim="800000"/>
          </a:ln>
          <a:effectLst/>
        </p:spPr>
      </p:cxnSp>
      <p:cxnSp>
        <p:nvCxnSpPr>
          <p:cNvPr id="9278" name="Straight Connector 9277"/>
          <p:cNvCxnSpPr/>
          <p:nvPr/>
        </p:nvCxnSpPr>
        <p:spPr>
          <a:xfrm>
            <a:off x="5646738" y="2363788"/>
            <a:ext cx="1866900" cy="0"/>
          </a:xfrm>
          <a:prstGeom prst="line">
            <a:avLst/>
          </a:prstGeom>
          <a:noFill/>
          <a:ln w="25400">
            <a:solidFill>
              <a:prstClr val="black"/>
            </a:solidFill>
            <a:miter lim="800000"/>
          </a:ln>
          <a:effectLst/>
        </p:spPr>
      </p:cxnSp>
      <p:cxnSp>
        <p:nvCxnSpPr>
          <p:cNvPr id="9279" name="Straight Connector 9278"/>
          <p:cNvCxnSpPr/>
          <p:nvPr/>
        </p:nvCxnSpPr>
        <p:spPr>
          <a:xfrm>
            <a:off x="5646738" y="2516188"/>
            <a:ext cx="1866900" cy="0"/>
          </a:xfrm>
          <a:prstGeom prst="line">
            <a:avLst/>
          </a:prstGeom>
          <a:noFill/>
          <a:ln w="25400">
            <a:solidFill>
              <a:prstClr val="black"/>
            </a:solidFill>
            <a:miter lim="800000"/>
          </a:ln>
          <a:effectLst/>
        </p:spPr>
      </p:cxnSp>
      <p:cxnSp>
        <p:nvCxnSpPr>
          <p:cNvPr id="9280" name="Straight Connector 9279"/>
          <p:cNvCxnSpPr/>
          <p:nvPr/>
        </p:nvCxnSpPr>
        <p:spPr>
          <a:xfrm>
            <a:off x="5646738" y="2668588"/>
            <a:ext cx="1866900" cy="0"/>
          </a:xfrm>
          <a:prstGeom prst="line">
            <a:avLst/>
          </a:prstGeom>
          <a:noFill/>
          <a:ln w="25400">
            <a:solidFill>
              <a:prstClr val="black"/>
            </a:solidFill>
            <a:miter lim="800000"/>
          </a:ln>
          <a:effectLst/>
        </p:spPr>
      </p:cxnSp>
      <p:cxnSp>
        <p:nvCxnSpPr>
          <p:cNvPr id="9281" name="Straight Connector 9280"/>
          <p:cNvCxnSpPr/>
          <p:nvPr/>
        </p:nvCxnSpPr>
        <p:spPr>
          <a:xfrm>
            <a:off x="5646738" y="2820988"/>
            <a:ext cx="1866900" cy="0"/>
          </a:xfrm>
          <a:prstGeom prst="line">
            <a:avLst/>
          </a:prstGeom>
          <a:noFill/>
          <a:ln w="25400">
            <a:solidFill>
              <a:prstClr val="black"/>
            </a:solidFill>
            <a:miter lim="800000"/>
          </a:ln>
          <a:effectLst/>
        </p:spPr>
      </p:cxnSp>
      <p:cxnSp>
        <p:nvCxnSpPr>
          <p:cNvPr id="9282" name="Straight Connector 9281"/>
          <p:cNvCxnSpPr/>
          <p:nvPr/>
        </p:nvCxnSpPr>
        <p:spPr>
          <a:xfrm>
            <a:off x="5646738" y="2973388"/>
            <a:ext cx="1866900" cy="0"/>
          </a:xfrm>
          <a:prstGeom prst="line">
            <a:avLst/>
          </a:prstGeom>
          <a:noFill/>
          <a:ln w="25400">
            <a:solidFill>
              <a:prstClr val="black"/>
            </a:solidFill>
            <a:miter lim="800000"/>
          </a:ln>
          <a:effectLst/>
        </p:spPr>
      </p:cxnSp>
      <p:cxnSp>
        <p:nvCxnSpPr>
          <p:cNvPr id="9283" name="Straight Connector 9282"/>
          <p:cNvCxnSpPr/>
          <p:nvPr/>
        </p:nvCxnSpPr>
        <p:spPr>
          <a:xfrm>
            <a:off x="5646738" y="3125788"/>
            <a:ext cx="1866900" cy="0"/>
          </a:xfrm>
          <a:prstGeom prst="line">
            <a:avLst/>
          </a:prstGeom>
          <a:noFill/>
          <a:ln w="25400">
            <a:solidFill>
              <a:prstClr val="black"/>
            </a:solidFill>
            <a:miter lim="800000"/>
          </a:ln>
          <a:effectLst/>
        </p:spPr>
      </p:cxnSp>
      <p:cxnSp>
        <p:nvCxnSpPr>
          <p:cNvPr id="9284" name="Straight Connector 9283"/>
          <p:cNvCxnSpPr/>
          <p:nvPr/>
        </p:nvCxnSpPr>
        <p:spPr>
          <a:xfrm>
            <a:off x="5646738" y="3278188"/>
            <a:ext cx="1866900" cy="0"/>
          </a:xfrm>
          <a:prstGeom prst="line">
            <a:avLst/>
          </a:prstGeom>
          <a:noFill/>
          <a:ln w="25400">
            <a:solidFill>
              <a:prstClr val="black"/>
            </a:solidFill>
            <a:miter lim="800000"/>
          </a:ln>
          <a:effectLst/>
        </p:spPr>
      </p:cxnSp>
      <p:cxnSp>
        <p:nvCxnSpPr>
          <p:cNvPr id="9285" name="Straight Connector 9284"/>
          <p:cNvCxnSpPr/>
          <p:nvPr/>
        </p:nvCxnSpPr>
        <p:spPr>
          <a:xfrm>
            <a:off x="5646738" y="3430588"/>
            <a:ext cx="1866900" cy="0"/>
          </a:xfrm>
          <a:prstGeom prst="line">
            <a:avLst/>
          </a:prstGeom>
          <a:noFill/>
          <a:ln w="25400">
            <a:solidFill>
              <a:prstClr val="black"/>
            </a:solidFill>
            <a:miter lim="800000"/>
          </a:ln>
          <a:effectLst/>
        </p:spPr>
      </p:cxnSp>
      <p:cxnSp>
        <p:nvCxnSpPr>
          <p:cNvPr id="9286" name="Straight Connector 9285"/>
          <p:cNvCxnSpPr/>
          <p:nvPr/>
        </p:nvCxnSpPr>
        <p:spPr>
          <a:xfrm flipH="1">
            <a:off x="6899275" y="2192338"/>
            <a:ext cx="0" cy="1376362"/>
          </a:xfrm>
          <a:prstGeom prst="line">
            <a:avLst/>
          </a:prstGeom>
          <a:noFill/>
          <a:ln w="25400">
            <a:solidFill>
              <a:prstClr val="black"/>
            </a:solidFill>
            <a:miter lim="800000"/>
          </a:ln>
          <a:effectLst/>
        </p:spPr>
      </p:cxnSp>
      <p:cxnSp>
        <p:nvCxnSpPr>
          <p:cNvPr id="9287" name="Straight Connector 9286"/>
          <p:cNvCxnSpPr/>
          <p:nvPr/>
        </p:nvCxnSpPr>
        <p:spPr>
          <a:xfrm flipH="1">
            <a:off x="7224713" y="2190750"/>
            <a:ext cx="0" cy="1376363"/>
          </a:xfrm>
          <a:prstGeom prst="line">
            <a:avLst/>
          </a:prstGeom>
          <a:noFill/>
          <a:ln w="25400">
            <a:solidFill>
              <a:prstClr val="black"/>
            </a:solidFill>
            <a:miter lim="800000"/>
          </a:ln>
          <a:effectLst/>
        </p:spPr>
      </p:cxnSp>
      <p:sp>
        <p:nvSpPr>
          <p:cNvPr id="9288" name="Rectangle 9287"/>
          <p:cNvSpPr/>
          <p:nvPr/>
        </p:nvSpPr>
        <p:spPr>
          <a:xfrm>
            <a:off x="4052888" y="3865563"/>
            <a:ext cx="914400" cy="519112"/>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2800" b="1">
                <a:solidFill>
                  <a:srgbClr val="CCECFF"/>
                </a:solidFill>
                <a:effectLst>
                  <a:outerShdw blurRad="38100" dist="38100" dir="2700000" algn="tl">
                    <a:srgbClr val="000000"/>
                  </a:outerShdw>
                </a:effectLst>
                <a:latin typeface="Arial" pitchFamily="34" charset="0"/>
              </a:rPr>
              <a:t>Join</a:t>
            </a:r>
          </a:p>
        </p:txBody>
      </p:sp>
      <p:cxnSp>
        <p:nvCxnSpPr>
          <p:cNvPr id="9289" name="Straight Connector 9288"/>
          <p:cNvCxnSpPr/>
          <p:nvPr/>
        </p:nvCxnSpPr>
        <p:spPr>
          <a:xfrm flipV="1">
            <a:off x="3619500" y="5080000"/>
            <a:ext cx="1962150" cy="6350"/>
          </a:xfrm>
          <a:prstGeom prst="line">
            <a:avLst/>
          </a:prstGeom>
          <a:noFill/>
          <a:ln w="50800">
            <a:solidFill>
              <a:srgbClr val="FFCC00"/>
            </a:solidFill>
            <a:miter lim="800000"/>
            <a:headEnd type="stealth" len="lg"/>
            <a:tailEnd type="stealth" len="lg"/>
          </a:ln>
          <a:effectLst>
            <a:outerShdw dist="53882" dir="2700000" algn="ctr">
              <a:srgbClr val="000000"/>
            </a:outerShdw>
          </a:effectLst>
        </p:spPr>
      </p:cxn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9223"/>
                                        </p:tgtEl>
                                        <p:attrNameLst>
                                          <p:attrName>style.visibility</p:attrName>
                                        </p:attrNameLst>
                                      </p:cBhvr>
                                      <p:to>
                                        <p:strVal val="visible"/>
                                      </p:to>
                                    </p:set>
                                    <p:animEffect transition="in" filter="wipe(left)">
                                      <p:cBhvr>
                                        <p:cTn id="7" dur="500"/>
                                        <p:tgtEl>
                                          <p:spTgt spid="922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241"/>
                                        </p:tgtEl>
                                        <p:attrNameLst>
                                          <p:attrName>style.visibility</p:attrName>
                                        </p:attrNameLst>
                                      </p:cBhvr>
                                      <p:to>
                                        <p:strVal val="visible"/>
                                      </p:to>
                                    </p:set>
                                    <p:animEffect transition="in" filter="wipe(up)">
                                      <p:cBhvr>
                                        <p:cTn id="12" dur="500"/>
                                        <p:tgtEl>
                                          <p:spTgt spid="9241"/>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244"/>
                                        </p:tgtEl>
                                        <p:attrNameLst>
                                          <p:attrName>style.visibility</p:attrName>
                                        </p:attrNameLst>
                                      </p:cBhvr>
                                      <p:to>
                                        <p:strVal val="visible"/>
                                      </p:to>
                                    </p:set>
                                    <p:animEffect transition="in" filter="wipe(up)">
                                      <p:cBhvr>
                                        <p:cTn id="17" dur="500"/>
                                        <p:tgtEl>
                                          <p:spTgt spid="9244"/>
                                        </p:tgtEl>
                                      </p:cBhvr>
                                    </p:animEffect>
                                  </p:childTnLst>
                                </p:cTn>
                              </p:par>
                            </p:childTnLst>
                          </p:cTn>
                        </p:par>
                        <p:par>
                          <p:cTn id="18" fill="hold" nodeType="afterGroup">
                            <p:stCondLst>
                              <p:cond delay="500"/>
                            </p:stCondLst>
                            <p:childTnLst>
                              <p:par>
                                <p:cTn id="19" presetID="4" presetClass="entr" presetSubtype="32" fill="hold" nodeType="afterEffect">
                                  <p:stCondLst>
                                    <p:cond delay="0"/>
                                  </p:stCondLst>
                                  <p:childTnLst>
                                    <p:set>
                                      <p:cBhvr>
                                        <p:cTn id="20" dur="1" fill="hold">
                                          <p:stCondLst>
                                            <p:cond delay="0"/>
                                          </p:stCondLst>
                                        </p:cTn>
                                        <p:tgtEl>
                                          <p:spTgt spid="9289"/>
                                        </p:tgtEl>
                                        <p:attrNameLst>
                                          <p:attrName>style.visibility</p:attrName>
                                        </p:attrNameLst>
                                      </p:cBhvr>
                                      <p:to>
                                        <p:strVal val="visible"/>
                                      </p:to>
                                    </p:set>
                                    <p:animEffect transition="in" filter="box(out)">
                                      <p:cBhvr>
                                        <p:cTn id="21" dur="500"/>
                                        <p:tgtEl>
                                          <p:spTgt spid="9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1265"/>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Basic SELECT Statement</a:t>
            </a:r>
          </a:p>
        </p:txBody>
      </p:sp>
      <p:sp>
        <p:nvSpPr>
          <p:cNvPr id="11267" name="Rectangle 11266"/>
          <p:cNvSpPr/>
          <p:nvPr/>
        </p:nvSpPr>
        <p:spPr bwMode="blackWhite">
          <a:xfrm>
            <a:off x="889000" y="1825625"/>
            <a:ext cx="7385050" cy="92392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SELECT	[DISTINCT] {*, </a:t>
            </a:r>
            <a:r>
              <a:rPr sz="1800" b="1" i="1">
                <a:solidFill>
                  <a:srgbClr val="000000"/>
                </a:solidFill>
                <a:latin typeface="Courier New" pitchFamily="49" charset="0"/>
              </a:rPr>
              <a:t>column</a:t>
            </a:r>
            <a:r>
              <a:rPr sz="1800" b="1">
                <a:solidFill>
                  <a:srgbClr val="000000"/>
                </a:solidFill>
                <a:latin typeface="Courier New" pitchFamily="49" charset="0"/>
              </a:rPr>
              <a:t> [</a:t>
            </a:r>
            <a:r>
              <a:rPr sz="1800" b="1" i="1">
                <a:solidFill>
                  <a:srgbClr val="000000"/>
                </a:solidFill>
                <a:latin typeface="Courier New" pitchFamily="49" charset="0"/>
              </a:rPr>
              <a:t>alias</a:t>
            </a:r>
            <a:r>
              <a:rPr sz="1800" b="1">
                <a:solidFill>
                  <a:srgbClr val="000000"/>
                </a:solidFill>
                <a:latin typeface="Courier New" pitchFamily="49" charset="0"/>
              </a:rPr>
              <a:t>],...}</a:t>
            </a:r>
          </a:p>
          <a:p>
            <a:pPr marL="0" lvl="0" indent="0" eaLnBrk="0" hangingPunct="0">
              <a:tabLst>
                <a:tab pos="1200150" algn="l"/>
              </a:tabLst>
            </a:pPr>
            <a:r>
              <a:rPr sz="1800" b="1">
                <a:solidFill>
                  <a:srgbClr val="000000"/>
                </a:solidFill>
                <a:latin typeface="Courier New" pitchFamily="49" charset="0"/>
              </a:rPr>
              <a:t>FROM	</a:t>
            </a:r>
            <a:r>
              <a:rPr sz="1800" b="1" i="1">
                <a:solidFill>
                  <a:srgbClr val="000000"/>
                </a:solidFill>
                <a:latin typeface="Courier New" pitchFamily="49" charset="0"/>
              </a:rPr>
              <a:t>table;</a:t>
            </a:r>
          </a:p>
        </p:txBody>
      </p:sp>
      <p:sp>
        <p:nvSpPr>
          <p:cNvPr id="11268" name="Text Placeholder 11267"/>
          <p:cNvSpPr>
            <a:spLocks noGrp="1"/>
          </p:cNvSpPr>
          <p:nvPr>
            <p:ph type="body" idx="1"/>
          </p:nvPr>
        </p:nvSpPr>
        <p:spPr>
          <a:xfrm>
            <a:off x="936625" y="3298825"/>
            <a:ext cx="7385050" cy="1031875"/>
          </a:xfrm>
          <a:ln/>
        </p:spPr>
        <p:style>
          <a:lnRef idx="2">
            <a:schemeClr val="dk1"/>
          </a:lnRef>
          <a:fillRef idx="1">
            <a:schemeClr val="lt1"/>
          </a:fillRef>
          <a:effectRef idx="0">
            <a:schemeClr val="dk1"/>
          </a:effectRef>
          <a:fontRef idx="minor">
            <a:schemeClr val="dk1"/>
          </a:fontRef>
        </p:style>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1"/>
            <a:r>
              <a:rPr dirty="0"/>
              <a:t>SELECT identifies </a:t>
            </a:r>
            <a:r>
              <a:rPr i="1" dirty="0">
                <a:solidFill>
                  <a:srgbClr val="FFCC00"/>
                </a:solidFill>
              </a:rPr>
              <a:t>what</a:t>
            </a:r>
            <a:r>
              <a:rPr dirty="0"/>
              <a:t> columns.</a:t>
            </a:r>
          </a:p>
          <a:p>
            <a:pPr lvl="1"/>
            <a:r>
              <a:rPr dirty="0"/>
              <a:t>FROM identifies </a:t>
            </a:r>
            <a:r>
              <a:rPr i="1" dirty="0">
                <a:solidFill>
                  <a:srgbClr val="FFCC00"/>
                </a:solidFill>
              </a:rPr>
              <a:t>which</a:t>
            </a:r>
            <a:r>
              <a:rPr dirty="0"/>
              <a:t> table.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wipe(left)">
                                      <p:cBhvr>
                                        <p:cTn id="7"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3313"/>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Writing SQL Statements</a:t>
            </a:r>
          </a:p>
        </p:txBody>
      </p:sp>
      <p:sp>
        <p:nvSpPr>
          <p:cNvPr id="13315" name="Text Placeholder 13314"/>
          <p:cNvSpPr>
            <a:spLocks noGrp="1"/>
          </p:cNvSpPr>
          <p:nvPr>
            <p:ph type="body" idx="1"/>
          </p:nvPr>
        </p:nvSpPr>
        <p:spPr>
          <a:xfrm>
            <a:off x="860425" y="1681163"/>
            <a:ext cx="7385050" cy="4278312"/>
          </a:xfrm>
          <a:ln/>
        </p:spPr>
        <p:style>
          <a:lnRef idx="2">
            <a:schemeClr val="dk1"/>
          </a:lnRef>
          <a:fillRef idx="1">
            <a:schemeClr val="lt1"/>
          </a:fillRef>
          <a:effectRef idx="0">
            <a:schemeClr val="dk1"/>
          </a:effectRef>
          <a:fontRef idx="minor">
            <a:schemeClr val="dk1"/>
          </a:fontRef>
        </p:style>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1"/>
            <a:r>
              <a:rPr dirty="0"/>
              <a:t>SQL statements are not case sensitive. </a:t>
            </a:r>
          </a:p>
          <a:p>
            <a:pPr lvl="1"/>
            <a:r>
              <a:rPr dirty="0"/>
              <a:t>SQL statements can be on one or</a:t>
            </a:r>
            <a:br>
              <a:rPr dirty="0"/>
            </a:br>
            <a:r>
              <a:rPr dirty="0"/>
              <a:t>more lines.</a:t>
            </a:r>
          </a:p>
          <a:p>
            <a:pPr lvl="1"/>
            <a:r>
              <a:rPr dirty="0"/>
              <a:t>Keywords cannot be abbreviated or split across lines.</a:t>
            </a:r>
          </a:p>
          <a:p>
            <a:pPr lvl="1"/>
            <a:r>
              <a:rPr dirty="0"/>
              <a:t>Clauses are usually placed on separate lines.</a:t>
            </a:r>
          </a:p>
          <a:p>
            <a:pPr lvl="1"/>
            <a:r>
              <a:rPr dirty="0"/>
              <a:t>Tabs and indents are used to enhance readability.</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5361"/>
          <p:cNvSpPr/>
          <p:nvPr/>
        </p:nvSpPr>
        <p:spPr bwMode="blackWhite">
          <a:xfrm>
            <a:off x="904875" y="2949575"/>
            <a:ext cx="7315200" cy="1765300"/>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p:txBody>
      </p:sp>
      <p:sp>
        <p:nvSpPr>
          <p:cNvPr id="15363" name="Rectangle 15362"/>
          <p:cNvSpPr/>
          <p:nvPr/>
        </p:nvSpPr>
        <p:spPr bwMode="blackWhite">
          <a:xfrm>
            <a:off x="900113" y="1831975"/>
            <a:ext cx="7319962" cy="82232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 pos="1658938" algn="l"/>
              </a:tabLst>
            </a:pPr>
            <a:r>
              <a:rPr sz="1800" b="1">
                <a:solidFill>
                  <a:srgbClr val="000000"/>
                </a:solidFill>
                <a:latin typeface="Courier New" pitchFamily="49" charset="0"/>
              </a:rPr>
              <a:t> </a:t>
            </a:r>
          </a:p>
        </p:txBody>
      </p:sp>
      <p:grpSp>
        <p:nvGrpSpPr>
          <p:cNvPr id="15366" name="Group 15365"/>
          <p:cNvGrpSpPr/>
          <p:nvPr/>
        </p:nvGrpSpPr>
        <p:grpSpPr>
          <a:xfrm>
            <a:off x="952500" y="1885950"/>
            <a:ext cx="5314950" cy="2781300"/>
            <a:chOff x="600" y="1188"/>
            <a:chExt cx="3348" cy="1752"/>
          </a:xfrm>
        </p:grpSpPr>
        <p:sp>
          <p:nvSpPr>
            <p:cNvPr id="15364" name="Rectangle 15363"/>
            <p:cNvSpPr/>
            <p:nvPr/>
          </p:nvSpPr>
          <p:spPr bwMode="ltGray">
            <a:xfrm>
              <a:off x="1620" y="1188"/>
              <a:ext cx="177" cy="225"/>
            </a:xfrm>
            <a:prstGeom prst="rect">
              <a:avLst/>
            </a:prstGeom>
            <a:solidFill>
              <a:srgbClr val="FF5050">
                <a:alpha val="50000"/>
              </a:srgbClr>
            </a:solidFill>
            <a:ln>
              <a:noFill/>
              <a:miter lim="800000"/>
            </a:ln>
            <a:effectLst/>
          </p:spPr>
        </p:sp>
        <p:sp>
          <p:nvSpPr>
            <p:cNvPr id="15365" name="Rectangle 15364"/>
            <p:cNvSpPr/>
            <p:nvPr/>
          </p:nvSpPr>
          <p:spPr bwMode="ltGray">
            <a:xfrm>
              <a:off x="600" y="1884"/>
              <a:ext cx="3348" cy="1056"/>
            </a:xfrm>
            <a:prstGeom prst="rect">
              <a:avLst/>
            </a:prstGeom>
            <a:solidFill>
              <a:srgbClr val="FF5050">
                <a:alpha val="50000"/>
              </a:srgbClr>
            </a:solidFill>
            <a:ln>
              <a:noFill/>
              <a:miter lim="800000"/>
            </a:ln>
            <a:effectLst/>
          </p:spPr>
        </p:sp>
      </p:grpSp>
      <p:sp>
        <p:nvSpPr>
          <p:cNvPr id="15367" name="Title 15366"/>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Selecting All Columns</a:t>
            </a:r>
          </a:p>
        </p:txBody>
      </p:sp>
      <p:sp>
        <p:nvSpPr>
          <p:cNvPr id="15368" name="Rectangle 15367"/>
          <p:cNvSpPr/>
          <p:nvPr/>
        </p:nvSpPr>
        <p:spPr bwMode="blackWhite">
          <a:xfrm>
            <a:off x="912813" y="2962275"/>
            <a:ext cx="7289800" cy="1739900"/>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   DEPTNO DNAME          LOC</a:t>
            </a:r>
          </a:p>
          <a:p>
            <a:pPr lvl="0" eaLnBrk="0" hangingPunct="0"/>
            <a:r>
              <a:rPr sz="1800" b="1">
                <a:solidFill>
                  <a:srgbClr val="000000"/>
                </a:solidFill>
                <a:latin typeface="Courier New" pitchFamily="49" charset="0"/>
              </a:rPr>
              <a:t>--------- -------------- -------------</a:t>
            </a:r>
          </a:p>
          <a:p>
            <a:pPr lvl="0" eaLnBrk="0" hangingPunct="0"/>
            <a:r>
              <a:rPr sz="1800" b="1">
                <a:solidFill>
                  <a:srgbClr val="000000"/>
                </a:solidFill>
                <a:latin typeface="Courier New" pitchFamily="49" charset="0"/>
              </a:rPr>
              <a:t>       10 ACCOUNTING     NEW YORK</a:t>
            </a:r>
          </a:p>
          <a:p>
            <a:pPr lvl="0" eaLnBrk="0" hangingPunct="0"/>
            <a:r>
              <a:rPr sz="1800" b="1">
                <a:solidFill>
                  <a:srgbClr val="000000"/>
                </a:solidFill>
                <a:latin typeface="Courier New" pitchFamily="49" charset="0"/>
              </a:rPr>
              <a:t>       20 RESEARCH       DALLAS</a:t>
            </a:r>
          </a:p>
          <a:p>
            <a:pPr lvl="0" eaLnBrk="0" hangingPunct="0"/>
            <a:r>
              <a:rPr sz="1800" b="1">
                <a:solidFill>
                  <a:srgbClr val="000000"/>
                </a:solidFill>
                <a:latin typeface="Courier New" pitchFamily="49" charset="0"/>
              </a:rPr>
              <a:t>       30 SALES          CHICAGO</a:t>
            </a:r>
          </a:p>
          <a:p>
            <a:pPr lvl="0" eaLnBrk="0" hangingPunct="0"/>
            <a:r>
              <a:rPr sz="1800" b="1">
                <a:solidFill>
                  <a:srgbClr val="000000"/>
                </a:solidFill>
                <a:latin typeface="Courier New" pitchFamily="49" charset="0"/>
              </a:rPr>
              <a:t>       40 OPERATIONS     BOSTON</a:t>
            </a:r>
          </a:p>
        </p:txBody>
      </p:sp>
      <p:sp>
        <p:nvSpPr>
          <p:cNvPr id="15369" name="Rectangle 15368"/>
          <p:cNvSpPr/>
          <p:nvPr/>
        </p:nvSpPr>
        <p:spPr bwMode="blackWhite">
          <a:xfrm>
            <a:off x="925513" y="1822450"/>
            <a:ext cx="7278687" cy="847725"/>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 pos="1658938" algn="l"/>
              </a:tabLst>
            </a:pPr>
            <a:r>
              <a:rPr sz="1800" b="1">
                <a:solidFill>
                  <a:srgbClr val="000000"/>
                </a:solidFill>
                <a:latin typeface="Courier New" pitchFamily="49" charset="0"/>
              </a:rPr>
              <a:t>SQL&gt; SELECT *</a:t>
            </a:r>
          </a:p>
          <a:p>
            <a:pPr marL="0" lvl="0" indent="0" eaLnBrk="0" hangingPunct="0">
              <a:tabLst>
                <a:tab pos="1200150" algn="l"/>
                <a:tab pos="1658938" algn="l"/>
              </a:tabLst>
            </a:pPr>
            <a:r>
              <a:rPr sz="1800" b="1">
                <a:solidFill>
                  <a:srgbClr val="000000"/>
                </a:solidFill>
                <a:latin typeface="Courier New" pitchFamily="49" charset="0"/>
              </a:rPr>
              <a:t>  2  FROM 	dept;</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1" fill="hold" nodeType="clickEffect">
                                  <p:stCondLst>
                                    <p:cond delay="0"/>
                                  </p:stCondLst>
                                  <p:childTnLst>
                                    <p:set>
                                      <p:cBhvr>
                                        <p:cTn id="6" dur="1" fill="hold">
                                          <p:stCondLst>
                                            <p:cond delay="0"/>
                                          </p:stCondLst>
                                        </p:cTn>
                                        <p:tgtEl>
                                          <p:spTgt spid="15366"/>
                                        </p:tgtEl>
                                        <p:attrNameLst>
                                          <p:attrName>style.visibility</p:attrName>
                                        </p:attrNameLst>
                                      </p:cBhvr>
                                      <p:to>
                                        <p:strVal val="visible"/>
                                      </p:to>
                                    </p:set>
                                    <p:animEffect transition="in" filter="wipe(up)">
                                      <p:cBhvr>
                                        <p:cTn id="7" dur="500"/>
                                        <p:tgtEl>
                                          <p:spTgt spid="15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7409"/>
          <p:cNvSpPr/>
          <p:nvPr/>
        </p:nvSpPr>
        <p:spPr bwMode="blackWhite">
          <a:xfrm>
            <a:off x="935038" y="2887663"/>
            <a:ext cx="7315200" cy="1765300"/>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p:txBody>
      </p:sp>
      <p:sp>
        <p:nvSpPr>
          <p:cNvPr id="17411" name="Rectangle 17410"/>
          <p:cNvSpPr/>
          <p:nvPr/>
        </p:nvSpPr>
        <p:spPr bwMode="blackWhite">
          <a:xfrm>
            <a:off x="927100" y="1831975"/>
            <a:ext cx="7289800" cy="82232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 pos="1658938" algn="l"/>
              </a:tabLst>
            </a:pPr>
            <a:r>
              <a:rPr sz="1800" b="1">
                <a:solidFill>
                  <a:srgbClr val="000000"/>
                </a:solidFill>
                <a:latin typeface="Courier New" pitchFamily="49" charset="0"/>
              </a:rPr>
              <a:t> </a:t>
            </a:r>
          </a:p>
        </p:txBody>
      </p:sp>
      <p:grpSp>
        <p:nvGrpSpPr>
          <p:cNvPr id="17414" name="Group 17413"/>
          <p:cNvGrpSpPr/>
          <p:nvPr/>
        </p:nvGrpSpPr>
        <p:grpSpPr>
          <a:xfrm>
            <a:off x="1014413" y="1882775"/>
            <a:ext cx="3268662" cy="2727325"/>
            <a:chOff x="639" y="1186"/>
            <a:chExt cx="2059" cy="1718"/>
          </a:xfrm>
        </p:grpSpPr>
        <p:sp>
          <p:nvSpPr>
            <p:cNvPr id="17412" name="Rectangle 17411"/>
            <p:cNvSpPr/>
            <p:nvPr/>
          </p:nvSpPr>
          <p:spPr bwMode="ltGray">
            <a:xfrm>
              <a:off x="1635" y="1186"/>
              <a:ext cx="1063" cy="227"/>
            </a:xfrm>
            <a:prstGeom prst="rect">
              <a:avLst/>
            </a:prstGeom>
            <a:solidFill>
              <a:srgbClr val="FF5050">
                <a:alpha val="50000"/>
              </a:srgbClr>
            </a:solidFill>
            <a:ln>
              <a:noFill/>
              <a:miter lim="800000"/>
            </a:ln>
            <a:effectLst/>
          </p:spPr>
        </p:sp>
        <p:sp>
          <p:nvSpPr>
            <p:cNvPr id="17413" name="Rectangle 17412"/>
            <p:cNvSpPr/>
            <p:nvPr/>
          </p:nvSpPr>
          <p:spPr bwMode="ltGray">
            <a:xfrm>
              <a:off x="639" y="1846"/>
              <a:ext cx="2025" cy="1058"/>
            </a:xfrm>
            <a:prstGeom prst="rect">
              <a:avLst/>
            </a:prstGeom>
            <a:solidFill>
              <a:srgbClr val="FF5050">
                <a:alpha val="50000"/>
              </a:srgbClr>
            </a:solidFill>
            <a:ln>
              <a:noFill/>
              <a:miter lim="800000"/>
            </a:ln>
            <a:effectLst/>
          </p:spPr>
        </p:sp>
      </p:grpSp>
      <p:sp>
        <p:nvSpPr>
          <p:cNvPr id="17415" name="Title 17414"/>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Selecting Specific Columns</a:t>
            </a:r>
          </a:p>
        </p:txBody>
      </p:sp>
      <p:sp>
        <p:nvSpPr>
          <p:cNvPr id="17416" name="Rectangle 17415"/>
          <p:cNvSpPr/>
          <p:nvPr/>
        </p:nvSpPr>
        <p:spPr bwMode="blackWhite">
          <a:xfrm>
            <a:off x="928688" y="2900363"/>
            <a:ext cx="7289800" cy="1739900"/>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   DEPTNO LOC</a:t>
            </a:r>
          </a:p>
          <a:p>
            <a:pPr lvl="0" eaLnBrk="0" hangingPunct="0"/>
            <a:r>
              <a:rPr sz="1800" b="1">
                <a:solidFill>
                  <a:srgbClr val="000000"/>
                </a:solidFill>
                <a:latin typeface="Courier New" pitchFamily="49" charset="0"/>
              </a:rPr>
              <a:t>--------- -------------</a:t>
            </a:r>
          </a:p>
          <a:p>
            <a:pPr lvl="0" eaLnBrk="0" hangingPunct="0"/>
            <a:r>
              <a:rPr sz="1800" b="1">
                <a:solidFill>
                  <a:srgbClr val="000000"/>
                </a:solidFill>
                <a:latin typeface="Courier New" pitchFamily="49" charset="0"/>
              </a:rPr>
              <a:t>       10 NEW YORK</a:t>
            </a:r>
          </a:p>
          <a:p>
            <a:pPr lvl="0" eaLnBrk="0" hangingPunct="0"/>
            <a:r>
              <a:rPr sz="1800" b="1">
                <a:solidFill>
                  <a:srgbClr val="000000"/>
                </a:solidFill>
                <a:latin typeface="Courier New" pitchFamily="49" charset="0"/>
              </a:rPr>
              <a:t>       20 DALLAS</a:t>
            </a:r>
          </a:p>
          <a:p>
            <a:pPr lvl="0" eaLnBrk="0" hangingPunct="0"/>
            <a:r>
              <a:rPr sz="1800" b="1">
                <a:solidFill>
                  <a:srgbClr val="000000"/>
                </a:solidFill>
                <a:latin typeface="Courier New" pitchFamily="49" charset="0"/>
              </a:rPr>
              <a:t>       30 CHICAGO</a:t>
            </a:r>
          </a:p>
          <a:p>
            <a:pPr lvl="0" eaLnBrk="0" hangingPunct="0"/>
            <a:r>
              <a:rPr sz="1800" b="1">
                <a:solidFill>
                  <a:srgbClr val="000000"/>
                </a:solidFill>
                <a:latin typeface="Courier New" pitchFamily="49" charset="0"/>
              </a:rPr>
              <a:t>       40 BOSTON</a:t>
            </a:r>
          </a:p>
        </p:txBody>
      </p:sp>
      <p:sp>
        <p:nvSpPr>
          <p:cNvPr id="17417" name="Rectangle 17416"/>
          <p:cNvSpPr/>
          <p:nvPr/>
        </p:nvSpPr>
        <p:spPr bwMode="blackWhite">
          <a:xfrm>
            <a:off x="914400" y="1792288"/>
            <a:ext cx="7315200" cy="847725"/>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 pos="1658938" algn="l"/>
              </a:tabLst>
            </a:pPr>
            <a:r>
              <a:rPr sz="1800" b="1">
                <a:solidFill>
                  <a:srgbClr val="000000"/>
                </a:solidFill>
                <a:latin typeface="Courier New" pitchFamily="49" charset="0"/>
              </a:rPr>
              <a:t>SQL&gt; SELECT deptno, loc</a:t>
            </a:r>
          </a:p>
          <a:p>
            <a:pPr marL="0" lvl="0" indent="0" eaLnBrk="0" hangingPunct="0">
              <a:tabLst>
                <a:tab pos="1200150" algn="l"/>
                <a:tab pos="1658938" algn="l"/>
              </a:tabLst>
            </a:pPr>
            <a:r>
              <a:rPr sz="1800" b="1">
                <a:solidFill>
                  <a:srgbClr val="000000"/>
                </a:solidFill>
                <a:latin typeface="Courier New" pitchFamily="49" charset="0"/>
              </a:rPr>
              <a:t>  2  FROM   dept;</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1" fill="hold" nodeType="clickEffect">
                                  <p:stCondLst>
                                    <p:cond delay="0"/>
                                  </p:stCondLst>
                                  <p:childTnLst>
                                    <p:set>
                                      <p:cBhvr>
                                        <p:cTn id="6" dur="1" fill="hold">
                                          <p:stCondLst>
                                            <p:cond delay="0"/>
                                          </p:stCondLst>
                                        </p:cTn>
                                        <p:tgtEl>
                                          <p:spTgt spid="17414"/>
                                        </p:tgtEl>
                                        <p:attrNameLst>
                                          <p:attrName>style.visibility</p:attrName>
                                        </p:attrNameLst>
                                      </p:cBhvr>
                                      <p:to>
                                        <p:strVal val="visible"/>
                                      </p:to>
                                    </p:set>
                                    <p:animEffect transition="in" filter="wipe(up)">
                                      <p:cBhvr>
                                        <p:cTn id="7" dur="500"/>
                                        <p:tgtEl>
                                          <p:spTgt spid="17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9457"/>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Column Heading Defaults</a:t>
            </a:r>
          </a:p>
        </p:txBody>
      </p:sp>
      <p:sp>
        <p:nvSpPr>
          <p:cNvPr id="19459" name="Text Placeholder 19458"/>
          <p:cNvSpPr>
            <a:spLocks noGrp="1"/>
          </p:cNvSpPr>
          <p:nvPr>
            <p:ph type="body" idx="1"/>
          </p:nvPr>
        </p:nvSpPr>
        <p:spPr>
          <a:xfrm>
            <a:off x="1455738" y="1981200"/>
            <a:ext cx="7451725" cy="1908175"/>
          </a:xfrm>
          <a:ln/>
        </p:spPr>
        <p:style>
          <a:lnRef idx="2">
            <a:schemeClr val="dk1"/>
          </a:lnRef>
          <a:fillRef idx="1">
            <a:schemeClr val="lt1"/>
          </a:fillRef>
          <a:effectRef idx="0">
            <a:schemeClr val="dk1"/>
          </a:effectRef>
          <a:fontRef idx="minor">
            <a:schemeClr val="dk1"/>
          </a:fontRef>
        </p:style>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1"/>
            <a:r>
              <a:rPr dirty="0"/>
              <a:t>Default justification</a:t>
            </a:r>
          </a:p>
          <a:p>
            <a:pPr lvl="2"/>
            <a:r>
              <a:rPr dirty="0"/>
              <a:t>Left: Date and character data</a:t>
            </a:r>
          </a:p>
          <a:p>
            <a:pPr lvl="2"/>
            <a:r>
              <a:rPr dirty="0"/>
              <a:t>Right: Numeric data</a:t>
            </a:r>
          </a:p>
          <a:p>
            <a:pPr lvl="1"/>
            <a:r>
              <a:rPr dirty="0"/>
              <a:t>Default display: Uppercase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1505"/>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Arithmetic Expressions</a:t>
            </a:r>
          </a:p>
        </p:txBody>
      </p:sp>
      <p:sp>
        <p:nvSpPr>
          <p:cNvPr id="21507" name="Text Placeholder 21506"/>
          <p:cNvSpPr>
            <a:spLocks noGrp="1"/>
          </p:cNvSpPr>
          <p:nvPr>
            <p:ph type="body" idx="1"/>
          </p:nvPr>
        </p:nvSpPr>
        <p:spPr>
          <a:xfrm>
            <a:off x="1508125" y="1547813"/>
            <a:ext cx="7451725" cy="1570303"/>
          </a:xfrm>
          <a:ln/>
        </p:spPr>
        <p:style>
          <a:lnRef idx="2">
            <a:schemeClr val="dk1"/>
          </a:lnRef>
          <a:fillRef idx="1">
            <a:schemeClr val="lt1"/>
          </a:fillRef>
          <a:effectRef idx="0">
            <a:schemeClr val="dk1"/>
          </a:effectRef>
          <a:fontRef idx="minor">
            <a:schemeClr val="dk1"/>
          </a:fontRef>
        </p:style>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0"/>
            <a:r>
              <a:rPr dirty="0"/>
              <a:t>Create expressions on NUMBER and DATE data by using arithmetic operators.</a:t>
            </a:r>
          </a:p>
        </p:txBody>
      </p:sp>
      <p:sp>
        <p:nvSpPr>
          <p:cNvPr id="21508" name="Rectangle 21507"/>
          <p:cNvSpPr/>
          <p:nvPr/>
        </p:nvSpPr>
        <p:spPr bwMode="blackWhite">
          <a:xfrm>
            <a:off x="2019300" y="3209925"/>
            <a:ext cx="1293813" cy="2428875"/>
          </a:xfrm>
          <a:prstGeom prst="rect">
            <a:avLst/>
          </a:prstGeom>
          <a:solidFill>
            <a:srgbClr val="FFCC99"/>
          </a:solidFill>
          <a:ln w="25400">
            <a:solidFill>
              <a:prstClr val="black"/>
            </a:solid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lnSpc>
                <a:spcPct val="120000"/>
              </a:lnSpc>
              <a:spcBef>
                <a:spcPct val="60000"/>
              </a:spcBef>
            </a:pPr>
            <a:r>
              <a:rPr sz="1800" b="1">
                <a:solidFill>
                  <a:srgbClr val="000000"/>
                </a:solidFill>
                <a:latin typeface="Arial" pitchFamily="34" charset="0"/>
              </a:rPr>
              <a:t>Operator</a:t>
            </a:r>
          </a:p>
          <a:p>
            <a:pPr lvl="0" algn="ctr" eaLnBrk="0" hangingPunct="0">
              <a:lnSpc>
                <a:spcPct val="120000"/>
              </a:lnSpc>
              <a:spcBef>
                <a:spcPct val="60000"/>
              </a:spcBef>
            </a:pPr>
            <a:r>
              <a:rPr sz="1800" b="1">
                <a:solidFill>
                  <a:srgbClr val="000000"/>
                </a:solidFill>
                <a:latin typeface="Arial" pitchFamily="34" charset="0"/>
              </a:rPr>
              <a:t>+</a:t>
            </a:r>
          </a:p>
          <a:p>
            <a:pPr lvl="0" algn="ctr" eaLnBrk="0" hangingPunct="0">
              <a:lnSpc>
                <a:spcPct val="120000"/>
              </a:lnSpc>
              <a:spcBef>
                <a:spcPct val="60000"/>
              </a:spcBef>
            </a:pPr>
            <a:r>
              <a:rPr sz="1800" b="1">
                <a:solidFill>
                  <a:srgbClr val="000000"/>
                </a:solidFill>
                <a:latin typeface="Arial" pitchFamily="34" charset="0"/>
              </a:rPr>
              <a:t>-</a:t>
            </a:r>
          </a:p>
          <a:p>
            <a:pPr lvl="0" algn="ctr" eaLnBrk="0" hangingPunct="0">
              <a:lnSpc>
                <a:spcPct val="120000"/>
              </a:lnSpc>
              <a:spcBef>
                <a:spcPct val="60000"/>
              </a:spcBef>
            </a:pPr>
            <a:r>
              <a:rPr sz="1800" b="1">
                <a:solidFill>
                  <a:srgbClr val="000000"/>
                </a:solidFill>
                <a:latin typeface="Arial" pitchFamily="34" charset="0"/>
              </a:rPr>
              <a:t>*</a:t>
            </a:r>
          </a:p>
          <a:p>
            <a:pPr lvl="0" algn="ctr" eaLnBrk="0" hangingPunct="0">
              <a:lnSpc>
                <a:spcPct val="120000"/>
              </a:lnSpc>
              <a:spcBef>
                <a:spcPct val="60000"/>
              </a:spcBef>
            </a:pPr>
            <a:r>
              <a:rPr sz="1800" b="1">
                <a:solidFill>
                  <a:srgbClr val="000000"/>
                </a:solidFill>
                <a:latin typeface="Arial" pitchFamily="34" charset="0"/>
              </a:rPr>
              <a:t>      /       	</a:t>
            </a:r>
          </a:p>
        </p:txBody>
      </p:sp>
      <p:sp>
        <p:nvSpPr>
          <p:cNvPr id="21509" name="Rectangle 21508"/>
          <p:cNvSpPr/>
          <p:nvPr/>
        </p:nvSpPr>
        <p:spPr bwMode="blackWhite">
          <a:xfrm>
            <a:off x="3317875" y="3209925"/>
            <a:ext cx="3883025" cy="2428875"/>
          </a:xfrm>
          <a:prstGeom prst="rect">
            <a:avLst/>
          </a:prstGeom>
          <a:solidFill>
            <a:srgbClr val="FFCC99"/>
          </a:solidFill>
          <a:ln w="25400">
            <a:solidFill>
              <a:prstClr val="black"/>
            </a:solid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lnSpc>
                <a:spcPct val="120000"/>
              </a:lnSpc>
              <a:spcBef>
                <a:spcPct val="60000"/>
              </a:spcBef>
            </a:pPr>
            <a:r>
              <a:rPr sz="1800" b="1">
                <a:solidFill>
                  <a:srgbClr val="000000"/>
                </a:solidFill>
                <a:latin typeface="Arial" pitchFamily="34" charset="0"/>
              </a:rPr>
              <a:t>Description</a:t>
            </a:r>
          </a:p>
          <a:p>
            <a:pPr lvl="0" eaLnBrk="0" hangingPunct="0">
              <a:lnSpc>
                <a:spcPct val="120000"/>
              </a:lnSpc>
              <a:spcBef>
                <a:spcPct val="60000"/>
              </a:spcBef>
            </a:pPr>
            <a:r>
              <a:rPr sz="1800" b="1">
                <a:solidFill>
                  <a:srgbClr val="000000"/>
                </a:solidFill>
                <a:latin typeface="Arial" pitchFamily="34" charset="0"/>
              </a:rPr>
              <a:t>Add</a:t>
            </a:r>
          </a:p>
          <a:p>
            <a:pPr lvl="0" eaLnBrk="0" hangingPunct="0">
              <a:lnSpc>
                <a:spcPct val="120000"/>
              </a:lnSpc>
              <a:spcBef>
                <a:spcPct val="60000"/>
              </a:spcBef>
            </a:pPr>
            <a:r>
              <a:rPr sz="1800" b="1">
                <a:solidFill>
                  <a:srgbClr val="000000"/>
                </a:solidFill>
                <a:latin typeface="Arial" pitchFamily="34" charset="0"/>
              </a:rPr>
              <a:t>Subtract </a:t>
            </a:r>
          </a:p>
          <a:p>
            <a:pPr lvl="0" eaLnBrk="0" hangingPunct="0">
              <a:lnSpc>
                <a:spcPct val="120000"/>
              </a:lnSpc>
              <a:spcBef>
                <a:spcPct val="60000"/>
              </a:spcBef>
            </a:pPr>
            <a:r>
              <a:rPr sz="1800" b="1">
                <a:solidFill>
                  <a:srgbClr val="000000"/>
                </a:solidFill>
                <a:latin typeface="Arial" pitchFamily="34" charset="0"/>
              </a:rPr>
              <a:t>Multiply </a:t>
            </a:r>
          </a:p>
          <a:p>
            <a:pPr lvl="0" eaLnBrk="0" hangingPunct="0">
              <a:lnSpc>
                <a:spcPct val="120000"/>
              </a:lnSpc>
              <a:spcBef>
                <a:spcPct val="60000"/>
              </a:spcBef>
            </a:pPr>
            <a:r>
              <a:rPr sz="1800" b="1">
                <a:solidFill>
                  <a:srgbClr val="000000"/>
                </a:solidFill>
                <a:latin typeface="Arial" pitchFamily="34" charset="0"/>
              </a:rPr>
              <a:t>Divide</a:t>
            </a:r>
          </a:p>
        </p:txBody>
      </p:sp>
      <p:cxnSp>
        <p:nvCxnSpPr>
          <p:cNvPr id="21510" name="Straight Connector 21509"/>
          <p:cNvCxnSpPr/>
          <p:nvPr/>
        </p:nvCxnSpPr>
        <p:spPr>
          <a:xfrm flipV="1">
            <a:off x="2022475" y="3733800"/>
            <a:ext cx="5176838" cy="6350"/>
          </a:xfrm>
          <a:prstGeom prst="line">
            <a:avLst/>
          </a:prstGeom>
          <a:noFill/>
          <a:ln w="50800">
            <a:solidFill>
              <a:prstClr val="black"/>
            </a:solidFill>
            <a:miter lim="800000"/>
          </a:ln>
          <a:effectLst/>
        </p:spPr>
      </p:cxnSp>
      <p:cxnSp>
        <p:nvCxnSpPr>
          <p:cNvPr id="21511" name="Straight Connector 21510"/>
          <p:cNvCxnSpPr/>
          <p:nvPr/>
        </p:nvCxnSpPr>
        <p:spPr>
          <a:xfrm>
            <a:off x="2012950" y="4648200"/>
            <a:ext cx="5183188" cy="0"/>
          </a:xfrm>
          <a:prstGeom prst="line">
            <a:avLst/>
          </a:prstGeom>
          <a:noFill/>
          <a:ln w="25400">
            <a:solidFill>
              <a:prstClr val="black"/>
            </a:solidFill>
            <a:miter lim="800000"/>
          </a:ln>
          <a:effectLst/>
        </p:spPr>
      </p:cxnSp>
      <p:cxnSp>
        <p:nvCxnSpPr>
          <p:cNvPr id="21512" name="Straight Connector 21511"/>
          <p:cNvCxnSpPr/>
          <p:nvPr/>
        </p:nvCxnSpPr>
        <p:spPr>
          <a:xfrm>
            <a:off x="2019300" y="4191000"/>
            <a:ext cx="5191125" cy="0"/>
          </a:xfrm>
          <a:prstGeom prst="line">
            <a:avLst/>
          </a:prstGeom>
          <a:noFill/>
          <a:ln w="25400">
            <a:solidFill>
              <a:prstClr val="black"/>
            </a:solidFill>
            <a:miter lim="800000"/>
          </a:ln>
          <a:effectLst/>
        </p:spPr>
      </p:cxnSp>
      <p:cxnSp>
        <p:nvCxnSpPr>
          <p:cNvPr id="21513" name="Straight Connector 21512"/>
          <p:cNvCxnSpPr/>
          <p:nvPr/>
        </p:nvCxnSpPr>
        <p:spPr>
          <a:xfrm>
            <a:off x="2019300" y="5181600"/>
            <a:ext cx="5176838" cy="0"/>
          </a:xfrm>
          <a:prstGeom prst="line">
            <a:avLst/>
          </a:prstGeom>
          <a:noFill/>
          <a:ln w="25400">
            <a:solidFill>
              <a:prstClr val="black"/>
            </a:solidFill>
            <a:miter lim="800000"/>
          </a:ln>
          <a:effectLst/>
        </p:spPr>
      </p:cxn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3553"/>
          <p:cNvSpPr/>
          <p:nvPr/>
        </p:nvSpPr>
        <p:spPr bwMode="blackWhite">
          <a:xfrm>
            <a:off x="922338" y="1616075"/>
            <a:ext cx="7265987" cy="82232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 pos="1658938" algn="l"/>
              </a:tabLst>
            </a:pPr>
            <a:r>
              <a:rPr sz="1800" b="1">
                <a:solidFill>
                  <a:srgbClr val="000000"/>
                </a:solidFill>
                <a:latin typeface="Courier New" pitchFamily="49" charset="0"/>
              </a:rPr>
              <a:t> </a:t>
            </a:r>
          </a:p>
        </p:txBody>
      </p:sp>
      <p:sp>
        <p:nvSpPr>
          <p:cNvPr id="23555" name="Title 23554"/>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Using Arithmetic Operators</a:t>
            </a:r>
          </a:p>
        </p:txBody>
      </p:sp>
      <p:sp>
        <p:nvSpPr>
          <p:cNvPr id="23556" name="Freeform 23555"/>
          <p:cNvSpPr/>
          <p:nvPr/>
        </p:nvSpPr>
        <p:spPr bwMode="ltGray">
          <a:xfrm>
            <a:off x="5462588" y="2508250"/>
            <a:ext cx="211137" cy="225425"/>
          </a:xfrm>
          <a:custGeom>
            <a:avLst>
              <a:gd name="adj0" fmla="val 27306667"/>
              <a:gd name="adj1" fmla="val 54613333"/>
            </a:avLst>
            <a:gdLst>
              <a:gd name="GT10" fmla="*/ adj0 21600 100000"/>
              <a:gd name="GT11" fmla="*/ adj1 21600 100000"/>
              <a:gd name="GT12" fmla="+- l w 0"/>
              <a:gd name="GT13" fmla="+- t h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ahLst/>
            <a:cxnLst>
              <a:cxn ang="0">
                <a:pos x="21600" y="21600"/>
              </a:cxn>
              <a:cxn ang="0">
                <a:pos x="0" y="0"/>
              </a:cxn>
              <a:cxn ang="0">
                <a:pos x="21600" y="0"/>
              </a:cxn>
            </a:cxnLst>
            <a:rect l="l" t="t" r="GT12" b="GT13"/>
            <a:pathLst>
              <a:path w="21600" h="21600" fill="none">
                <a:moveTo>
                  <a:pt x="21600" y="21600"/>
                </a:moveTo>
                <a:arcTo wR="21600" hR="21600" stAng="5400000" swAng="5400000"/>
              </a:path>
              <a:path w="21600" h="21600" stroke="0">
                <a:moveTo>
                  <a:pt x="21600" y="21600"/>
                </a:moveTo>
                <a:arcTo wR="21600" hR="21600" stAng="5400000" swAng="5400000"/>
                <a:lnTo>
                  <a:pt x="21600" y="0"/>
                </a:lnTo>
                <a:close/>
              </a:path>
            </a:pathLst>
          </a:custGeom>
          <a:noFill/>
          <a:ln cap="rnd">
            <a:noFill/>
            <a:round/>
          </a:ln>
          <a:effectLst/>
        </p:spPr>
      </p:sp>
      <p:sp>
        <p:nvSpPr>
          <p:cNvPr id="23557" name="Rectangle 23556"/>
          <p:cNvSpPr/>
          <p:nvPr/>
        </p:nvSpPr>
        <p:spPr bwMode="blackWhite">
          <a:xfrm>
            <a:off x="885825" y="2695575"/>
            <a:ext cx="7315200" cy="2863850"/>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 </a:t>
            </a: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p:txBody>
      </p:sp>
      <p:grpSp>
        <p:nvGrpSpPr>
          <p:cNvPr id="23560" name="Group 23559"/>
          <p:cNvGrpSpPr/>
          <p:nvPr/>
        </p:nvGrpSpPr>
        <p:grpSpPr>
          <a:xfrm>
            <a:off x="3789363" y="1711325"/>
            <a:ext cx="1590675" cy="3260725"/>
            <a:chOff x="2387" y="1078"/>
            <a:chExt cx="1002" cy="2054"/>
          </a:xfrm>
        </p:grpSpPr>
        <p:sp>
          <p:nvSpPr>
            <p:cNvPr id="23558" name="Rectangle 23557"/>
            <p:cNvSpPr/>
            <p:nvPr/>
          </p:nvSpPr>
          <p:spPr bwMode="ltGray">
            <a:xfrm>
              <a:off x="2688" y="1078"/>
              <a:ext cx="701" cy="218"/>
            </a:xfrm>
            <a:prstGeom prst="rect">
              <a:avLst/>
            </a:prstGeom>
            <a:solidFill>
              <a:srgbClr val="FF5050">
                <a:alpha val="50000"/>
              </a:srgbClr>
            </a:solidFill>
            <a:ln>
              <a:noFill/>
              <a:miter lim="800000"/>
            </a:ln>
            <a:effectLst/>
          </p:spPr>
        </p:sp>
        <p:sp>
          <p:nvSpPr>
            <p:cNvPr id="23559" name="Rectangle 23558"/>
            <p:cNvSpPr/>
            <p:nvPr/>
          </p:nvSpPr>
          <p:spPr bwMode="ltGray">
            <a:xfrm>
              <a:off x="2387" y="1716"/>
              <a:ext cx="873" cy="1416"/>
            </a:xfrm>
            <a:prstGeom prst="rect">
              <a:avLst/>
            </a:prstGeom>
            <a:solidFill>
              <a:srgbClr val="FF5050">
                <a:alpha val="50000"/>
              </a:srgbClr>
            </a:solidFill>
            <a:ln>
              <a:noFill/>
              <a:miter lim="800000"/>
            </a:ln>
            <a:effectLst/>
          </p:spPr>
        </p:sp>
      </p:grpSp>
      <p:sp>
        <p:nvSpPr>
          <p:cNvPr id="23561" name="Rectangle 23560"/>
          <p:cNvSpPr/>
          <p:nvPr/>
        </p:nvSpPr>
        <p:spPr bwMode="blackWhite">
          <a:xfrm>
            <a:off x="925513" y="1603375"/>
            <a:ext cx="7291387" cy="847725"/>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 pos="1658938" algn="l"/>
              </a:tabLst>
            </a:pPr>
            <a:r>
              <a:rPr sz="1800" b="1">
                <a:solidFill>
                  <a:srgbClr val="000000"/>
                </a:solidFill>
                <a:latin typeface="Courier New" pitchFamily="49" charset="0"/>
              </a:rPr>
              <a:t>SQL&gt; SELECT ename, sal, sal+300</a:t>
            </a:r>
          </a:p>
          <a:p>
            <a:pPr marL="0" lvl="0" indent="0" eaLnBrk="0" hangingPunct="0">
              <a:tabLst>
                <a:tab pos="1200150" algn="l"/>
                <a:tab pos="1658938" algn="l"/>
              </a:tabLst>
            </a:pPr>
            <a:r>
              <a:rPr sz="1800" b="1">
                <a:solidFill>
                  <a:srgbClr val="000000"/>
                </a:solidFill>
                <a:latin typeface="Courier New" pitchFamily="49" charset="0"/>
              </a:rPr>
              <a:t>  2  FROM	emp;</a:t>
            </a:r>
          </a:p>
        </p:txBody>
      </p:sp>
      <p:sp>
        <p:nvSpPr>
          <p:cNvPr id="23562" name="Rectangle 23561"/>
          <p:cNvSpPr/>
          <p:nvPr/>
        </p:nvSpPr>
        <p:spPr bwMode="blackWhite">
          <a:xfrm>
            <a:off x="889000" y="2682875"/>
            <a:ext cx="7340600" cy="2838450"/>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ENAME            SAL   SAL+300</a:t>
            </a:r>
          </a:p>
          <a:p>
            <a:pPr lvl="0" eaLnBrk="0" hangingPunct="0"/>
            <a:r>
              <a:rPr sz="1800" b="1">
                <a:solidFill>
                  <a:srgbClr val="000000"/>
                </a:solidFill>
                <a:latin typeface="Courier New" pitchFamily="49" charset="0"/>
              </a:rPr>
              <a:t>---------- --------- ---------</a:t>
            </a:r>
          </a:p>
          <a:p>
            <a:pPr lvl="0" eaLnBrk="0" hangingPunct="0"/>
            <a:r>
              <a:rPr sz="1800" b="1">
                <a:solidFill>
                  <a:srgbClr val="000000"/>
                </a:solidFill>
                <a:latin typeface="Courier New" pitchFamily="49" charset="0"/>
              </a:rPr>
              <a:t>KING            5000      5300</a:t>
            </a:r>
          </a:p>
          <a:p>
            <a:pPr lvl="0" eaLnBrk="0" hangingPunct="0"/>
            <a:r>
              <a:rPr sz="1800" b="1">
                <a:solidFill>
                  <a:srgbClr val="000000"/>
                </a:solidFill>
                <a:latin typeface="Courier New" pitchFamily="49" charset="0"/>
              </a:rPr>
              <a:t>BLAKE           2850      3150</a:t>
            </a:r>
          </a:p>
          <a:p>
            <a:pPr lvl="0" eaLnBrk="0" hangingPunct="0"/>
            <a:r>
              <a:rPr sz="1800" b="1">
                <a:solidFill>
                  <a:srgbClr val="000000"/>
                </a:solidFill>
                <a:latin typeface="Courier New" pitchFamily="49" charset="0"/>
              </a:rPr>
              <a:t>CLARK           2450      2750</a:t>
            </a:r>
          </a:p>
          <a:p>
            <a:pPr lvl="0" eaLnBrk="0" hangingPunct="0"/>
            <a:r>
              <a:rPr sz="1800" b="1">
                <a:solidFill>
                  <a:srgbClr val="000000"/>
                </a:solidFill>
                <a:latin typeface="Courier New" pitchFamily="49" charset="0"/>
              </a:rPr>
              <a:t>JONES           2975      3275</a:t>
            </a:r>
          </a:p>
          <a:p>
            <a:pPr lvl="0" eaLnBrk="0" hangingPunct="0"/>
            <a:r>
              <a:rPr sz="1800" b="1">
                <a:solidFill>
                  <a:srgbClr val="000000"/>
                </a:solidFill>
                <a:latin typeface="Courier New" pitchFamily="49" charset="0"/>
              </a:rPr>
              <a:t>MARTIN          1250      1550</a:t>
            </a:r>
          </a:p>
          <a:p>
            <a:pPr lvl="0" eaLnBrk="0" hangingPunct="0"/>
            <a:r>
              <a:rPr sz="1800" b="1">
                <a:solidFill>
                  <a:srgbClr val="000000"/>
                </a:solidFill>
                <a:latin typeface="Courier New" pitchFamily="49" charset="0"/>
              </a:rPr>
              <a:t>ALLEN           1600      1900</a:t>
            </a:r>
          </a:p>
          <a:p>
            <a:pPr lvl="0" eaLnBrk="0" hangingPunct="0"/>
            <a:r>
              <a:rPr sz="1800" b="1">
                <a:solidFill>
                  <a:srgbClr val="000000"/>
                </a:solidFill>
                <a:latin typeface="Courier New" pitchFamily="49" charset="0"/>
              </a:rPr>
              <a:t>...</a:t>
            </a:r>
          </a:p>
          <a:p>
            <a:pPr lvl="0" eaLnBrk="0" hangingPunct="0"/>
            <a:r>
              <a:rPr sz="1800" b="1">
                <a:solidFill>
                  <a:srgbClr val="000000"/>
                </a:solidFill>
                <a:latin typeface="Courier New" pitchFamily="49" charset="0"/>
              </a:rPr>
              <a:t>14 rows selected.</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1" fill="hold" nodeType="clickEffect">
                                  <p:stCondLst>
                                    <p:cond delay="0"/>
                                  </p:stCondLst>
                                  <p:childTnLst>
                                    <p:set>
                                      <p:cBhvr>
                                        <p:cTn id="6" dur="1" fill="hold">
                                          <p:stCondLst>
                                            <p:cond delay="0"/>
                                          </p:stCondLst>
                                        </p:cTn>
                                        <p:tgtEl>
                                          <p:spTgt spid="23560"/>
                                        </p:tgtEl>
                                        <p:attrNameLst>
                                          <p:attrName>style.visibility</p:attrName>
                                        </p:attrNameLst>
                                      </p:cBhvr>
                                      <p:to>
                                        <p:strVal val="visible"/>
                                      </p:to>
                                    </p:set>
                                    <p:animEffect transition="in" filter="wipe(up)">
                                      <p:cBhvr>
                                        <p:cTn id="7" dur="500"/>
                                        <p:tgtEl>
                                          <p:spTgt spid="235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25601"/>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Operator Precedence</a:t>
            </a:r>
          </a:p>
        </p:txBody>
      </p:sp>
      <p:sp>
        <p:nvSpPr>
          <p:cNvPr id="25603" name="Text Placeholder 25602"/>
          <p:cNvSpPr>
            <a:spLocks noGrp="1"/>
          </p:cNvSpPr>
          <p:nvPr>
            <p:ph type="body" idx="1"/>
          </p:nvPr>
        </p:nvSpPr>
        <p:spPr>
          <a:xfrm>
            <a:off x="860425" y="2443163"/>
            <a:ext cx="7385050" cy="2825750"/>
          </a:xfrm>
          <a:ln/>
        </p:spPr>
        <p:style>
          <a:lnRef idx="2">
            <a:schemeClr val="dk1"/>
          </a:lnRef>
          <a:fillRef idx="1">
            <a:schemeClr val="lt1"/>
          </a:fillRef>
          <a:effectRef idx="0">
            <a:schemeClr val="dk1"/>
          </a:effectRef>
          <a:fontRef idx="minor">
            <a:schemeClr val="dk1"/>
          </a:fontRef>
        </p:style>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1"/>
            <a:r>
              <a:rPr dirty="0"/>
              <a:t>Multiplication and division take priority over addition and subtraction.</a:t>
            </a:r>
          </a:p>
          <a:p>
            <a:pPr lvl="1"/>
            <a:r>
              <a:rPr dirty="0"/>
              <a:t>Operators of the same priority are evaluated from left to right.</a:t>
            </a:r>
          </a:p>
          <a:p>
            <a:pPr lvl="1"/>
            <a:r>
              <a:rPr dirty="0"/>
              <a:t>Parentheses are used to force prioritized evaluation and to clarify statements.</a:t>
            </a:r>
          </a:p>
        </p:txBody>
      </p:sp>
      <p:grpSp>
        <p:nvGrpSpPr>
          <p:cNvPr id="25609" name="Group 25608"/>
          <p:cNvGrpSpPr/>
          <p:nvPr/>
        </p:nvGrpSpPr>
        <p:grpSpPr>
          <a:xfrm>
            <a:off x="2952750" y="1358900"/>
            <a:ext cx="2965450" cy="831850"/>
            <a:chOff x="1860" y="856"/>
            <a:chExt cx="1868" cy="524"/>
          </a:xfrm>
        </p:grpSpPr>
        <p:sp>
          <p:nvSpPr>
            <p:cNvPr id="25604" name="Rectangle 25603"/>
            <p:cNvSpPr/>
            <p:nvPr/>
          </p:nvSpPr>
          <p:spPr bwMode="blackWhite">
            <a:xfrm>
              <a:off x="1868" y="920"/>
              <a:ext cx="1860" cy="456"/>
            </a:xfrm>
            <a:prstGeom prst="rect">
              <a:avLst/>
            </a:prstGeom>
            <a:gradFill rotWithShape="0">
              <a:gsLst>
                <a:gs pos="0">
                  <a:srgbClr val="FF5050"/>
                </a:gs>
                <a:gs pos="100000">
                  <a:srgbClr val="FF5050">
                    <a:gamma/>
                    <a:shade val="89804"/>
                    <a:invGamma/>
                  </a:srgbClr>
                </a:gs>
              </a:gsLst>
              <a:lin ang="2700000" scaled="1"/>
            </a:gradFill>
            <a:ln w="12700">
              <a:solidFill>
                <a:prstClr val="black"/>
              </a:solidFill>
              <a:miter lim="800000"/>
            </a:ln>
            <a:effectLst>
              <a:outerShdw dist="53882"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eaLnBrk="0" hangingPunct="0"/>
              <a:endParaRPr sz="2000" b="1">
                <a:solidFill>
                  <a:srgbClr val="FFFFCC"/>
                </a:solidFill>
                <a:effectLst>
                  <a:outerShdw blurRad="38100" dist="38100" dir="2700000" algn="tl">
                    <a:srgbClr val="000000"/>
                  </a:outerShdw>
                </a:effectLst>
                <a:latin typeface="Arial" pitchFamily="34" charset="0"/>
              </a:endParaRPr>
            </a:p>
            <a:p>
              <a:pPr lvl="0" algn="ctr" eaLnBrk="0" hangingPunct="0"/>
              <a:endParaRPr sz="2000" b="1">
                <a:solidFill>
                  <a:srgbClr val="FFFFCC"/>
                </a:solidFill>
                <a:effectLst>
                  <a:outerShdw blurRad="38100" dist="38100" dir="2700000" algn="tl">
                    <a:srgbClr val="000000"/>
                  </a:outerShdw>
                </a:effectLst>
                <a:latin typeface="Arial" pitchFamily="34" charset="0"/>
              </a:endParaRPr>
            </a:p>
          </p:txBody>
        </p:sp>
        <p:sp>
          <p:nvSpPr>
            <p:cNvPr id="25605" name="Rectangle 25604"/>
            <p:cNvSpPr/>
            <p:nvPr/>
          </p:nvSpPr>
          <p:spPr bwMode="blackWhite">
            <a:xfrm>
              <a:off x="1860" y="1072"/>
              <a:ext cx="480" cy="308"/>
            </a:xfrm>
            <a:prstGeom prst="rect">
              <a:avLst/>
            </a:prstGeom>
            <a:noFill/>
            <a:ln>
              <a:noFill/>
              <a:miter lim="800000"/>
            </a:ln>
            <a:effectLst>
              <a:outerShdw dist="53882"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eaLnBrk="0" hangingPunct="0"/>
              <a:r>
                <a:rPr sz="4400" b="1">
                  <a:solidFill>
                    <a:srgbClr val="FFFFCC"/>
                  </a:solidFill>
                  <a:effectLst>
                    <a:outerShdw blurRad="38100" dist="38100" dir="2700000" algn="tl">
                      <a:srgbClr val="000000"/>
                    </a:outerShdw>
                  </a:effectLst>
                  <a:latin typeface="Arial" pitchFamily="34" charset="0"/>
                </a:rPr>
                <a:t>*</a:t>
              </a:r>
            </a:p>
          </p:txBody>
        </p:sp>
        <p:sp>
          <p:nvSpPr>
            <p:cNvPr id="25606" name="Rectangle 25605"/>
            <p:cNvSpPr/>
            <p:nvPr/>
          </p:nvSpPr>
          <p:spPr bwMode="blackWhite">
            <a:xfrm>
              <a:off x="2298" y="988"/>
              <a:ext cx="480" cy="308"/>
            </a:xfrm>
            <a:prstGeom prst="rect">
              <a:avLst/>
            </a:prstGeom>
            <a:noFill/>
            <a:ln>
              <a:noFill/>
              <a:miter lim="800000"/>
            </a:ln>
            <a:effectLst>
              <a:outerShdw dist="53882"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eaLnBrk="0" hangingPunct="0"/>
              <a:r>
                <a:rPr sz="3600" b="1">
                  <a:solidFill>
                    <a:srgbClr val="FFFFCC"/>
                  </a:solidFill>
                  <a:effectLst>
                    <a:outerShdw blurRad="38100" dist="38100" dir="2700000" algn="tl">
                      <a:srgbClr val="000000"/>
                    </a:outerShdw>
                  </a:effectLst>
                  <a:latin typeface="Arial" pitchFamily="34" charset="0"/>
                </a:rPr>
                <a:t>/</a:t>
              </a:r>
            </a:p>
          </p:txBody>
        </p:sp>
        <p:sp>
          <p:nvSpPr>
            <p:cNvPr id="25607" name="Rectangle 25606"/>
            <p:cNvSpPr/>
            <p:nvPr/>
          </p:nvSpPr>
          <p:spPr bwMode="blackWhite">
            <a:xfrm>
              <a:off x="2720" y="988"/>
              <a:ext cx="480" cy="308"/>
            </a:xfrm>
            <a:prstGeom prst="rect">
              <a:avLst/>
            </a:prstGeom>
            <a:noFill/>
            <a:ln>
              <a:noFill/>
              <a:miter lim="800000"/>
            </a:ln>
            <a:effectLst>
              <a:outerShdw dist="53882"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eaLnBrk="0" hangingPunct="0"/>
              <a:r>
                <a:rPr sz="3600" b="1">
                  <a:solidFill>
                    <a:srgbClr val="FFFFCC"/>
                  </a:solidFill>
                  <a:effectLst>
                    <a:outerShdw blurRad="38100" dist="38100" dir="2700000" algn="tl">
                      <a:srgbClr val="000000"/>
                    </a:outerShdw>
                  </a:effectLst>
                  <a:latin typeface="Arial" pitchFamily="34" charset="0"/>
                </a:rPr>
                <a:t>+</a:t>
              </a:r>
            </a:p>
          </p:txBody>
        </p:sp>
        <p:sp>
          <p:nvSpPr>
            <p:cNvPr id="25608" name="Rectangle 25607"/>
            <p:cNvSpPr/>
            <p:nvPr/>
          </p:nvSpPr>
          <p:spPr bwMode="blackWhite">
            <a:xfrm>
              <a:off x="3205" y="856"/>
              <a:ext cx="480" cy="308"/>
            </a:xfrm>
            <a:prstGeom prst="rect">
              <a:avLst/>
            </a:prstGeom>
            <a:noFill/>
            <a:ln>
              <a:noFill/>
              <a:miter lim="800000"/>
            </a:ln>
            <a:effectLst>
              <a:outerShdw dist="53882"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eaLnBrk="0" hangingPunct="0"/>
              <a:r>
                <a:rPr sz="3600" b="1">
                  <a:solidFill>
                    <a:srgbClr val="FFFFCC"/>
                  </a:solidFill>
                  <a:effectLst>
                    <a:outerShdw blurRad="38100" dist="38100" dir="2700000" algn="tl">
                      <a:srgbClr val="000000"/>
                    </a:outerShdw>
                  </a:effectLst>
                  <a:latin typeface="Arial" pitchFamily="34" charset="0"/>
                </a:rPr>
                <a:t>_</a:t>
              </a:r>
            </a:p>
          </p:txBody>
        </p:sp>
      </p:gr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7649"/>
          <p:cNvSpPr/>
          <p:nvPr/>
        </p:nvSpPr>
        <p:spPr bwMode="blackWhite">
          <a:xfrm>
            <a:off x="927100" y="1616075"/>
            <a:ext cx="7289800" cy="82232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 </a:t>
            </a:r>
          </a:p>
        </p:txBody>
      </p:sp>
      <p:sp>
        <p:nvSpPr>
          <p:cNvPr id="27651" name="Rectangle 27650"/>
          <p:cNvSpPr/>
          <p:nvPr/>
        </p:nvSpPr>
        <p:spPr bwMode="blackWhite">
          <a:xfrm>
            <a:off x="920750" y="2701925"/>
            <a:ext cx="7315200" cy="2863850"/>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 </a:t>
            </a: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p:txBody>
      </p:sp>
      <p:sp>
        <p:nvSpPr>
          <p:cNvPr id="27652" name="Title 27651"/>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Operator Precedence</a:t>
            </a:r>
          </a:p>
        </p:txBody>
      </p:sp>
      <p:grpSp>
        <p:nvGrpSpPr>
          <p:cNvPr id="27655" name="Group 27654"/>
          <p:cNvGrpSpPr/>
          <p:nvPr/>
        </p:nvGrpSpPr>
        <p:grpSpPr>
          <a:xfrm>
            <a:off x="3894138" y="1711325"/>
            <a:ext cx="1919287" cy="3260725"/>
            <a:chOff x="2453" y="1078"/>
            <a:chExt cx="1209" cy="2054"/>
          </a:xfrm>
        </p:grpSpPr>
        <p:sp>
          <p:nvSpPr>
            <p:cNvPr id="27653" name="Rectangle 27652"/>
            <p:cNvSpPr/>
            <p:nvPr/>
          </p:nvSpPr>
          <p:spPr bwMode="ltGray">
            <a:xfrm>
              <a:off x="2672" y="1078"/>
              <a:ext cx="990" cy="200"/>
            </a:xfrm>
            <a:prstGeom prst="rect">
              <a:avLst/>
            </a:prstGeom>
            <a:solidFill>
              <a:srgbClr val="FF5050">
                <a:alpha val="50000"/>
              </a:srgbClr>
            </a:solidFill>
            <a:ln>
              <a:noFill/>
              <a:miter lim="800000"/>
            </a:ln>
            <a:effectLst/>
          </p:spPr>
        </p:sp>
        <p:sp>
          <p:nvSpPr>
            <p:cNvPr id="27654" name="Rectangle 27653"/>
            <p:cNvSpPr/>
            <p:nvPr/>
          </p:nvSpPr>
          <p:spPr bwMode="ltGray">
            <a:xfrm>
              <a:off x="2453" y="1742"/>
              <a:ext cx="919" cy="1390"/>
            </a:xfrm>
            <a:prstGeom prst="rect">
              <a:avLst/>
            </a:prstGeom>
            <a:solidFill>
              <a:srgbClr val="FF5050">
                <a:alpha val="50000"/>
              </a:srgbClr>
            </a:solidFill>
            <a:ln>
              <a:noFill/>
              <a:miter lim="800000"/>
            </a:ln>
            <a:effectLst/>
          </p:spPr>
        </p:sp>
      </p:grpSp>
      <p:sp>
        <p:nvSpPr>
          <p:cNvPr id="27656" name="Rectangle 27655"/>
          <p:cNvSpPr/>
          <p:nvPr/>
        </p:nvSpPr>
        <p:spPr bwMode="blackWhite">
          <a:xfrm>
            <a:off x="933450" y="1603375"/>
            <a:ext cx="7315200" cy="847725"/>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SQL&gt; SELECT ename, sal, 12*sal+100</a:t>
            </a:r>
          </a:p>
          <a:p>
            <a:pPr marL="0" lvl="0" indent="0" eaLnBrk="0" hangingPunct="0">
              <a:tabLst>
                <a:tab pos="1200150" algn="l"/>
              </a:tabLst>
            </a:pPr>
            <a:r>
              <a:rPr sz="1800" b="1">
                <a:solidFill>
                  <a:srgbClr val="000000"/>
                </a:solidFill>
                <a:latin typeface="Courier New" pitchFamily="49" charset="0"/>
              </a:rPr>
              <a:t>    FROM   emp;</a:t>
            </a:r>
          </a:p>
        </p:txBody>
      </p:sp>
      <p:sp>
        <p:nvSpPr>
          <p:cNvPr id="27657" name="Rectangle 27656"/>
          <p:cNvSpPr/>
          <p:nvPr/>
        </p:nvSpPr>
        <p:spPr bwMode="blackWhite">
          <a:xfrm>
            <a:off x="952500" y="2714625"/>
            <a:ext cx="7289800" cy="2838450"/>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ENAME            SAL 12*SAL+100</a:t>
            </a:r>
          </a:p>
          <a:p>
            <a:pPr lvl="0" eaLnBrk="0" hangingPunct="0"/>
            <a:r>
              <a:rPr sz="1800" b="1">
                <a:solidFill>
                  <a:srgbClr val="000000"/>
                </a:solidFill>
                <a:latin typeface="Courier New" pitchFamily="49" charset="0"/>
              </a:rPr>
              <a:t>---------- --------- ----------</a:t>
            </a:r>
          </a:p>
          <a:p>
            <a:pPr lvl="0" eaLnBrk="0" hangingPunct="0"/>
            <a:r>
              <a:rPr sz="1800" b="1">
                <a:solidFill>
                  <a:srgbClr val="000000"/>
                </a:solidFill>
                <a:latin typeface="Courier New" pitchFamily="49" charset="0"/>
              </a:rPr>
              <a:t>KING            5000      60100</a:t>
            </a:r>
          </a:p>
          <a:p>
            <a:pPr lvl="0" eaLnBrk="0" hangingPunct="0"/>
            <a:r>
              <a:rPr sz="1800" b="1">
                <a:solidFill>
                  <a:srgbClr val="000000"/>
                </a:solidFill>
                <a:latin typeface="Courier New" pitchFamily="49" charset="0"/>
              </a:rPr>
              <a:t>BLAKE           2850      34300</a:t>
            </a:r>
          </a:p>
          <a:p>
            <a:pPr lvl="0" eaLnBrk="0" hangingPunct="0"/>
            <a:r>
              <a:rPr sz="1800" b="1">
                <a:solidFill>
                  <a:srgbClr val="000000"/>
                </a:solidFill>
                <a:latin typeface="Courier New" pitchFamily="49" charset="0"/>
              </a:rPr>
              <a:t>CLARK           2450      29500</a:t>
            </a:r>
          </a:p>
          <a:p>
            <a:pPr lvl="0" eaLnBrk="0" hangingPunct="0"/>
            <a:r>
              <a:rPr sz="1800" b="1">
                <a:solidFill>
                  <a:srgbClr val="000000"/>
                </a:solidFill>
                <a:latin typeface="Courier New" pitchFamily="49" charset="0"/>
              </a:rPr>
              <a:t>JONES           2975      35800</a:t>
            </a:r>
          </a:p>
          <a:p>
            <a:pPr lvl="0" eaLnBrk="0" hangingPunct="0"/>
            <a:r>
              <a:rPr sz="1800" b="1">
                <a:solidFill>
                  <a:srgbClr val="000000"/>
                </a:solidFill>
                <a:latin typeface="Courier New" pitchFamily="49" charset="0"/>
              </a:rPr>
              <a:t>MARTIN          1250      15100</a:t>
            </a:r>
          </a:p>
          <a:p>
            <a:pPr lvl="0" eaLnBrk="0" hangingPunct="0"/>
            <a:r>
              <a:rPr sz="1800" b="1">
                <a:solidFill>
                  <a:srgbClr val="000000"/>
                </a:solidFill>
                <a:latin typeface="Courier New" pitchFamily="49" charset="0"/>
              </a:rPr>
              <a:t>ALLEN           1600      19300</a:t>
            </a:r>
          </a:p>
          <a:p>
            <a:pPr lvl="0" eaLnBrk="0" hangingPunct="0"/>
            <a:r>
              <a:rPr sz="1800" b="1">
                <a:solidFill>
                  <a:srgbClr val="000000"/>
                </a:solidFill>
                <a:latin typeface="Courier New" pitchFamily="49" charset="0"/>
              </a:rPr>
              <a:t>...</a:t>
            </a:r>
          </a:p>
          <a:p>
            <a:pPr lvl="0" eaLnBrk="0" hangingPunct="0"/>
            <a:r>
              <a:rPr sz="1800" b="1">
                <a:solidFill>
                  <a:srgbClr val="000000"/>
                </a:solidFill>
                <a:latin typeface="Courier New" pitchFamily="49" charset="0"/>
              </a:rPr>
              <a:t>14 rows selected.</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1" fill="hold" nodeType="clickEffect">
                                  <p:stCondLst>
                                    <p:cond delay="0"/>
                                  </p:stCondLst>
                                  <p:childTnLst>
                                    <p:set>
                                      <p:cBhvr>
                                        <p:cTn id="6" dur="1" fill="hold">
                                          <p:stCondLst>
                                            <p:cond delay="0"/>
                                          </p:stCondLst>
                                        </p:cTn>
                                        <p:tgtEl>
                                          <p:spTgt spid="27655"/>
                                        </p:tgtEl>
                                        <p:attrNameLst>
                                          <p:attrName>style.visibility</p:attrName>
                                        </p:attrNameLst>
                                      </p:cBhvr>
                                      <p:to>
                                        <p:strVal val="visible"/>
                                      </p:to>
                                    </p:set>
                                    <p:animEffect transition="in" filter="wipe(up)">
                                      <p:cBhvr>
                                        <p:cTn id="7" dur="500"/>
                                        <p:tgtEl>
                                          <p:spTgt spid="27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9697"/>
          <p:cNvSpPr/>
          <p:nvPr/>
        </p:nvSpPr>
        <p:spPr bwMode="blackWhite">
          <a:xfrm>
            <a:off x="857250" y="1606550"/>
            <a:ext cx="7435850" cy="857250"/>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 </a:t>
            </a:r>
          </a:p>
        </p:txBody>
      </p:sp>
      <p:sp>
        <p:nvSpPr>
          <p:cNvPr id="29699" name="Rectangle 29698"/>
          <p:cNvSpPr/>
          <p:nvPr/>
        </p:nvSpPr>
        <p:spPr bwMode="blackWhite">
          <a:xfrm>
            <a:off x="844550" y="2701925"/>
            <a:ext cx="7448550" cy="2589213"/>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 </a:t>
            </a: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p:txBody>
      </p:sp>
      <p:sp>
        <p:nvSpPr>
          <p:cNvPr id="29700" name="Title 29699"/>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Using Parentheses</a:t>
            </a:r>
          </a:p>
        </p:txBody>
      </p:sp>
      <p:grpSp>
        <p:nvGrpSpPr>
          <p:cNvPr id="29703" name="Group 29702"/>
          <p:cNvGrpSpPr/>
          <p:nvPr/>
        </p:nvGrpSpPr>
        <p:grpSpPr>
          <a:xfrm>
            <a:off x="3786188" y="1714500"/>
            <a:ext cx="2171700" cy="2970213"/>
            <a:chOff x="2385" y="1080"/>
            <a:chExt cx="1368" cy="1871"/>
          </a:xfrm>
        </p:grpSpPr>
        <p:sp>
          <p:nvSpPr>
            <p:cNvPr id="29701" name="Rectangle 29700"/>
            <p:cNvSpPr/>
            <p:nvPr/>
          </p:nvSpPr>
          <p:spPr bwMode="ltGray">
            <a:xfrm>
              <a:off x="2639" y="1080"/>
              <a:ext cx="1114" cy="240"/>
            </a:xfrm>
            <a:prstGeom prst="rect">
              <a:avLst/>
            </a:prstGeom>
            <a:solidFill>
              <a:srgbClr val="FF5050">
                <a:alpha val="50000"/>
              </a:srgbClr>
            </a:solidFill>
            <a:ln>
              <a:noFill/>
              <a:miter lim="800000"/>
            </a:ln>
            <a:effectLst/>
          </p:spPr>
        </p:sp>
        <p:sp>
          <p:nvSpPr>
            <p:cNvPr id="29702" name="Rectangle 29701"/>
            <p:cNvSpPr/>
            <p:nvPr/>
          </p:nvSpPr>
          <p:spPr bwMode="ltGray">
            <a:xfrm>
              <a:off x="2385" y="1740"/>
              <a:ext cx="1077" cy="1211"/>
            </a:xfrm>
            <a:prstGeom prst="rect">
              <a:avLst/>
            </a:prstGeom>
            <a:solidFill>
              <a:srgbClr val="FF5050">
                <a:alpha val="50000"/>
              </a:srgbClr>
            </a:solidFill>
            <a:ln>
              <a:noFill/>
              <a:miter lim="800000"/>
            </a:ln>
            <a:effectLst/>
          </p:spPr>
        </p:sp>
      </p:grpSp>
      <p:sp>
        <p:nvSpPr>
          <p:cNvPr id="29704" name="Rectangle 29703"/>
          <p:cNvSpPr/>
          <p:nvPr/>
        </p:nvSpPr>
        <p:spPr bwMode="blackWhite">
          <a:xfrm>
            <a:off x="863600" y="1593850"/>
            <a:ext cx="7461250" cy="882650"/>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SQL&gt; SELECT ename, sal, 12*(sal+100)</a:t>
            </a:r>
          </a:p>
          <a:p>
            <a:pPr marL="0" lvl="0" indent="0" eaLnBrk="0" hangingPunct="0">
              <a:tabLst>
                <a:tab pos="1200150" algn="l"/>
              </a:tabLst>
            </a:pPr>
            <a:r>
              <a:rPr sz="1800" b="1">
                <a:solidFill>
                  <a:srgbClr val="000000"/>
                </a:solidFill>
                <a:latin typeface="Courier New" pitchFamily="49" charset="0"/>
              </a:rPr>
              <a:t>  2  FROM   emp;</a:t>
            </a:r>
          </a:p>
        </p:txBody>
      </p:sp>
      <p:sp>
        <p:nvSpPr>
          <p:cNvPr id="29705" name="Rectangle 29704"/>
          <p:cNvSpPr/>
          <p:nvPr/>
        </p:nvSpPr>
        <p:spPr bwMode="blackWhite">
          <a:xfrm>
            <a:off x="876300" y="2714625"/>
            <a:ext cx="7423150" cy="2563813"/>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ENAME            SAL 12*(SAL+100)</a:t>
            </a:r>
          </a:p>
          <a:p>
            <a:pPr lvl="0" eaLnBrk="0" hangingPunct="0"/>
            <a:r>
              <a:rPr sz="1800" b="1">
                <a:solidFill>
                  <a:srgbClr val="000000"/>
                </a:solidFill>
                <a:latin typeface="Courier New" pitchFamily="49" charset="0"/>
              </a:rPr>
              <a:t>---------- --------- -----------</a:t>
            </a:r>
          </a:p>
          <a:p>
            <a:pPr lvl="0" eaLnBrk="0" hangingPunct="0"/>
            <a:r>
              <a:rPr sz="1800" b="1">
                <a:solidFill>
                  <a:srgbClr val="000000"/>
                </a:solidFill>
                <a:latin typeface="Courier New" pitchFamily="49" charset="0"/>
              </a:rPr>
              <a:t>KING            5000       61200</a:t>
            </a:r>
          </a:p>
          <a:p>
            <a:pPr lvl="0" eaLnBrk="0" hangingPunct="0"/>
            <a:r>
              <a:rPr sz="1800" b="1">
                <a:solidFill>
                  <a:srgbClr val="000000"/>
                </a:solidFill>
                <a:latin typeface="Courier New" pitchFamily="49" charset="0"/>
              </a:rPr>
              <a:t>BLAKE           2850       35400</a:t>
            </a:r>
          </a:p>
          <a:p>
            <a:pPr lvl="0" eaLnBrk="0" hangingPunct="0"/>
            <a:r>
              <a:rPr sz="1800" b="1">
                <a:solidFill>
                  <a:srgbClr val="000000"/>
                </a:solidFill>
                <a:latin typeface="Courier New" pitchFamily="49" charset="0"/>
              </a:rPr>
              <a:t>CLARK           2450       30600</a:t>
            </a:r>
          </a:p>
          <a:p>
            <a:pPr lvl="0" eaLnBrk="0" hangingPunct="0"/>
            <a:r>
              <a:rPr sz="1800" b="1">
                <a:solidFill>
                  <a:srgbClr val="000000"/>
                </a:solidFill>
                <a:latin typeface="Courier New" pitchFamily="49" charset="0"/>
              </a:rPr>
              <a:t>JONES           2975       36900</a:t>
            </a:r>
          </a:p>
          <a:p>
            <a:pPr lvl="0" eaLnBrk="0" hangingPunct="0"/>
            <a:r>
              <a:rPr sz="1800" b="1">
                <a:solidFill>
                  <a:srgbClr val="000000"/>
                </a:solidFill>
                <a:latin typeface="Courier New" pitchFamily="49" charset="0"/>
              </a:rPr>
              <a:t>MARTIN          1250       16200</a:t>
            </a:r>
          </a:p>
          <a:p>
            <a:pPr lvl="0" eaLnBrk="0" hangingPunct="0"/>
            <a:r>
              <a:rPr sz="1800" b="1">
                <a:solidFill>
                  <a:srgbClr val="000000"/>
                </a:solidFill>
                <a:latin typeface="Courier New" pitchFamily="49" charset="0"/>
              </a:rPr>
              <a:t>...</a:t>
            </a:r>
          </a:p>
          <a:p>
            <a:pPr lvl="0" eaLnBrk="0" hangingPunct="0"/>
            <a:r>
              <a:rPr sz="1800" b="1">
                <a:solidFill>
                  <a:srgbClr val="000000"/>
                </a:solidFill>
                <a:latin typeface="Courier New" pitchFamily="49" charset="0"/>
              </a:rPr>
              <a:t>14 rows selected.</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1" fill="hold" nodeType="clickEffect">
                                  <p:stCondLst>
                                    <p:cond delay="0"/>
                                  </p:stCondLst>
                                  <p:childTnLst>
                                    <p:set>
                                      <p:cBhvr>
                                        <p:cTn id="6" dur="1" fill="hold">
                                          <p:stCondLst>
                                            <p:cond delay="0"/>
                                          </p:stCondLst>
                                        </p:cTn>
                                        <p:tgtEl>
                                          <p:spTgt spid="29703"/>
                                        </p:tgtEl>
                                        <p:attrNameLst>
                                          <p:attrName>style.visibility</p:attrName>
                                        </p:attrNameLst>
                                      </p:cBhvr>
                                      <p:to>
                                        <p:strVal val="visible"/>
                                      </p:to>
                                    </p:set>
                                    <p:animEffect transition="in" filter="wipe(up)">
                                      <p:cBhvr>
                                        <p:cTn id="7" dur="500"/>
                                        <p:tgtEl>
                                          <p:spTgt spid="29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1745"/>
          <p:cNvSpPr/>
          <p:nvPr/>
        </p:nvSpPr>
        <p:spPr bwMode="blackWhite">
          <a:xfrm>
            <a:off x="919163" y="2941638"/>
            <a:ext cx="7265987" cy="779462"/>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601788" algn="l"/>
              </a:tabLst>
            </a:pPr>
            <a:r>
              <a:rPr sz="1800" b="1">
                <a:solidFill>
                  <a:srgbClr val="000000"/>
                </a:solidFill>
                <a:latin typeface="Courier New" pitchFamily="49" charset="0"/>
              </a:rPr>
              <a:t> </a:t>
            </a:r>
          </a:p>
        </p:txBody>
      </p:sp>
      <p:sp>
        <p:nvSpPr>
          <p:cNvPr id="31747" name="Rectangle 31746"/>
          <p:cNvSpPr/>
          <p:nvPr/>
        </p:nvSpPr>
        <p:spPr bwMode="blackWhite">
          <a:xfrm>
            <a:off x="906463" y="3898900"/>
            <a:ext cx="7291387" cy="2260600"/>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p:txBody>
      </p:sp>
      <p:sp>
        <p:nvSpPr>
          <p:cNvPr id="31748" name="Title 31747"/>
          <p:cNvSpPr>
            <a:spLocks noGrp="1"/>
          </p:cNvSpPr>
          <p:nvPr>
            <p:ph type="title"/>
          </p:nvPr>
        </p:nvSpPr>
        <p:spPr>
          <a:xfrm>
            <a:off x="1455738" y="404664"/>
            <a:ext cx="7451725" cy="108012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rPr dirty="0"/>
              <a:t>Defining a Null Value</a:t>
            </a:r>
          </a:p>
        </p:txBody>
      </p:sp>
      <p:sp>
        <p:nvSpPr>
          <p:cNvPr id="31749" name="Text Placeholder 31748"/>
          <p:cNvSpPr>
            <a:spLocks noGrp="1"/>
          </p:cNvSpPr>
          <p:nvPr>
            <p:ph type="body" idx="1"/>
          </p:nvPr>
        </p:nvSpPr>
        <p:spPr>
          <a:xfrm>
            <a:off x="860425" y="1223963"/>
            <a:ext cx="7385050" cy="1631950"/>
          </a:xfrm>
          <a:ln/>
        </p:spPr>
        <p:style>
          <a:lnRef idx="2">
            <a:schemeClr val="dk1"/>
          </a:lnRef>
          <a:fillRef idx="1">
            <a:schemeClr val="lt1"/>
          </a:fillRef>
          <a:effectRef idx="0">
            <a:schemeClr val="dk1"/>
          </a:effectRef>
          <a:fontRef idx="minor">
            <a:schemeClr val="dk1"/>
          </a:fontRef>
        </p:style>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1">
              <a:lnSpc>
                <a:spcPct val="85000"/>
              </a:lnSpc>
            </a:pPr>
            <a:r>
              <a:rPr dirty="0"/>
              <a:t>A null is a value that is unavailable, unassigned, unknown, or inapplicable.</a:t>
            </a:r>
          </a:p>
          <a:p>
            <a:pPr lvl="1">
              <a:lnSpc>
                <a:spcPct val="85000"/>
              </a:lnSpc>
            </a:pPr>
            <a:r>
              <a:rPr dirty="0"/>
              <a:t>A null is not the same as zero or a blank space.</a:t>
            </a:r>
          </a:p>
        </p:txBody>
      </p:sp>
      <p:grpSp>
        <p:nvGrpSpPr>
          <p:cNvPr id="31752" name="Group 31751"/>
          <p:cNvGrpSpPr/>
          <p:nvPr/>
        </p:nvGrpSpPr>
        <p:grpSpPr>
          <a:xfrm>
            <a:off x="3846513" y="3006725"/>
            <a:ext cx="1312862" cy="2689225"/>
            <a:chOff x="2423" y="1894"/>
            <a:chExt cx="827" cy="1694"/>
          </a:xfrm>
        </p:grpSpPr>
        <p:sp>
          <p:nvSpPr>
            <p:cNvPr id="31750" name="Rectangle 31749"/>
            <p:cNvSpPr/>
            <p:nvPr/>
          </p:nvSpPr>
          <p:spPr bwMode="ltGray">
            <a:xfrm>
              <a:off x="2797" y="1894"/>
              <a:ext cx="439" cy="200"/>
            </a:xfrm>
            <a:prstGeom prst="rect">
              <a:avLst/>
            </a:prstGeom>
            <a:solidFill>
              <a:srgbClr val="FF5050">
                <a:alpha val="50000"/>
              </a:srgbClr>
            </a:solidFill>
            <a:ln>
              <a:noFill/>
              <a:miter lim="800000"/>
            </a:ln>
            <a:effectLst/>
          </p:spPr>
        </p:sp>
        <p:sp>
          <p:nvSpPr>
            <p:cNvPr id="31751" name="Rectangle 31750"/>
            <p:cNvSpPr/>
            <p:nvPr/>
          </p:nvSpPr>
          <p:spPr bwMode="ltGray">
            <a:xfrm>
              <a:off x="2423" y="2524"/>
              <a:ext cx="827" cy="1064"/>
            </a:xfrm>
            <a:prstGeom prst="rect">
              <a:avLst/>
            </a:prstGeom>
            <a:solidFill>
              <a:srgbClr val="FF5050">
                <a:alpha val="50000"/>
              </a:srgbClr>
            </a:solidFill>
            <a:ln>
              <a:noFill/>
              <a:miter lim="800000"/>
            </a:ln>
            <a:effectLst/>
          </p:spPr>
        </p:sp>
      </p:grpSp>
      <p:sp>
        <p:nvSpPr>
          <p:cNvPr id="31753" name="Rectangle 31752"/>
          <p:cNvSpPr/>
          <p:nvPr/>
        </p:nvSpPr>
        <p:spPr bwMode="blackWhite">
          <a:xfrm>
            <a:off x="944563" y="2928938"/>
            <a:ext cx="7291387" cy="804862"/>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601788" algn="l"/>
              </a:tabLst>
            </a:pPr>
            <a:r>
              <a:rPr sz="1800" b="1">
                <a:solidFill>
                  <a:srgbClr val="000000"/>
                </a:solidFill>
                <a:latin typeface="Courier New" pitchFamily="49" charset="0"/>
              </a:rPr>
              <a:t>SQL&gt; SELECT 	ename, job, comm</a:t>
            </a:r>
          </a:p>
          <a:p>
            <a:pPr marL="0" lvl="0" indent="0" eaLnBrk="0" hangingPunct="0">
              <a:tabLst>
                <a:tab pos="1601788" algn="l"/>
              </a:tabLst>
            </a:pPr>
            <a:r>
              <a:rPr sz="1800" b="1">
                <a:solidFill>
                  <a:srgbClr val="000000"/>
                </a:solidFill>
                <a:latin typeface="Courier New" pitchFamily="49" charset="0"/>
              </a:rPr>
              <a:t>  2  FROM		emp;</a:t>
            </a:r>
          </a:p>
        </p:txBody>
      </p:sp>
      <p:sp>
        <p:nvSpPr>
          <p:cNvPr id="31754" name="Rectangle 31753"/>
          <p:cNvSpPr/>
          <p:nvPr/>
        </p:nvSpPr>
        <p:spPr bwMode="blackWhite">
          <a:xfrm>
            <a:off x="919163" y="3932238"/>
            <a:ext cx="7265987" cy="2289175"/>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ENAME      JOB            COMM</a:t>
            </a:r>
          </a:p>
          <a:p>
            <a:pPr lvl="0" eaLnBrk="0" hangingPunct="0"/>
            <a:r>
              <a:rPr sz="1800" b="1">
                <a:solidFill>
                  <a:srgbClr val="000000"/>
                </a:solidFill>
                <a:latin typeface="Courier New" pitchFamily="49" charset="0"/>
              </a:rPr>
              <a:t>---------- --------- ---------</a:t>
            </a:r>
          </a:p>
          <a:p>
            <a:pPr lvl="0" eaLnBrk="0" hangingPunct="0"/>
            <a:r>
              <a:rPr sz="1800" b="1">
                <a:solidFill>
                  <a:srgbClr val="000000"/>
                </a:solidFill>
                <a:latin typeface="Courier New" pitchFamily="49" charset="0"/>
              </a:rPr>
              <a:t>KING       PRESIDENT</a:t>
            </a:r>
          </a:p>
          <a:p>
            <a:pPr lvl="0" eaLnBrk="0" hangingPunct="0"/>
            <a:r>
              <a:rPr sz="1800" b="1">
                <a:solidFill>
                  <a:srgbClr val="000000"/>
                </a:solidFill>
                <a:latin typeface="Courier New" pitchFamily="49" charset="0"/>
              </a:rPr>
              <a:t>BLAKE      MANAGER</a:t>
            </a:r>
          </a:p>
          <a:p>
            <a:pPr lvl="0" eaLnBrk="0" hangingPunct="0"/>
            <a:r>
              <a:rPr sz="1800" b="1">
                <a:solidFill>
                  <a:srgbClr val="000000"/>
                </a:solidFill>
                <a:latin typeface="Courier New" pitchFamily="49" charset="0"/>
              </a:rPr>
              <a:t>...</a:t>
            </a:r>
          </a:p>
          <a:p>
            <a:pPr lvl="0" eaLnBrk="0" hangingPunct="0"/>
            <a:r>
              <a:rPr sz="1800" b="1">
                <a:solidFill>
                  <a:srgbClr val="000000"/>
                </a:solidFill>
                <a:latin typeface="Courier New" pitchFamily="49" charset="0"/>
              </a:rPr>
              <a:t>TURNER     SALESMAN          0</a:t>
            </a:r>
          </a:p>
          <a:p>
            <a:pPr lvl="0" eaLnBrk="0" hangingPunct="0"/>
            <a:r>
              <a:rPr sz="1800" b="1">
                <a:solidFill>
                  <a:srgbClr val="000000"/>
                </a:solidFill>
                <a:latin typeface="Courier New" pitchFamily="49" charset="0"/>
              </a:rPr>
              <a:t>...</a:t>
            </a:r>
          </a:p>
          <a:p>
            <a:pPr lvl="0" eaLnBrk="0" hangingPunct="0"/>
            <a:r>
              <a:rPr sz="1800" b="1">
                <a:solidFill>
                  <a:srgbClr val="000000"/>
                </a:solidFill>
                <a:latin typeface="Courier New" pitchFamily="49" charset="0"/>
              </a:rPr>
              <a:t>14 rows selected.</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1" fill="hold" nodeType="clickEffect">
                                  <p:stCondLst>
                                    <p:cond delay="0"/>
                                  </p:stCondLst>
                                  <p:childTnLst>
                                    <p:set>
                                      <p:cBhvr>
                                        <p:cTn id="6" dur="1" fill="hold">
                                          <p:stCondLst>
                                            <p:cond delay="0"/>
                                          </p:stCondLst>
                                        </p:cTn>
                                        <p:tgtEl>
                                          <p:spTgt spid="31752"/>
                                        </p:tgtEl>
                                        <p:attrNameLst>
                                          <p:attrName>style.visibility</p:attrName>
                                        </p:attrNameLst>
                                      </p:cBhvr>
                                      <p:to>
                                        <p:strVal val="visible"/>
                                      </p:to>
                                    </p:set>
                                    <p:animEffect transition="in" filter="wipe(up)">
                                      <p:cBhvr>
                                        <p:cTn id="7" dur="500"/>
                                        <p:tgtEl>
                                          <p:spTgt spid="31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3793"/>
          <p:cNvSpPr/>
          <p:nvPr/>
        </p:nvSpPr>
        <p:spPr bwMode="blackWhite">
          <a:xfrm>
            <a:off x="858838" y="2908300"/>
            <a:ext cx="7434262" cy="1136650"/>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 </a:t>
            </a:r>
          </a:p>
        </p:txBody>
      </p:sp>
      <p:sp>
        <p:nvSpPr>
          <p:cNvPr id="33795" name="Rectangle 33794"/>
          <p:cNvSpPr/>
          <p:nvPr/>
        </p:nvSpPr>
        <p:spPr bwMode="blackWhite">
          <a:xfrm>
            <a:off x="877888" y="4652963"/>
            <a:ext cx="7415212" cy="941387"/>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 </a:t>
            </a: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p:txBody>
      </p:sp>
      <p:sp>
        <p:nvSpPr>
          <p:cNvPr id="33796" name="Title 33795"/>
          <p:cNvSpPr>
            <a:spLocks noGrp="1"/>
          </p:cNvSpPr>
          <p:nvPr>
            <p:ph type="title"/>
          </p:nvPr>
        </p:nvSpPr>
        <p:spPr>
          <a:xfrm>
            <a:off x="914400" y="549275"/>
            <a:ext cx="7372350" cy="881063"/>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Null Values </a:t>
            </a:r>
            <a:br/>
            <a:r>
              <a:t>in Arithmetic Expressions</a:t>
            </a:r>
          </a:p>
        </p:txBody>
      </p:sp>
      <p:sp>
        <p:nvSpPr>
          <p:cNvPr id="33797" name="Text Placeholder 33796"/>
          <p:cNvSpPr>
            <a:spLocks noGrp="1"/>
          </p:cNvSpPr>
          <p:nvPr>
            <p:ph type="body" idx="1"/>
          </p:nvPr>
        </p:nvSpPr>
        <p:spPr>
          <a:xfrm>
            <a:off x="976313" y="1765300"/>
            <a:ext cx="7385050" cy="1066800"/>
          </a:xfrm>
          <a:noFill/>
          <a:ln w="12700">
            <a:noFill/>
            <a:miter lim="800000"/>
          </a:ln>
          <a:effectLst>
            <a:outerShdw dist="53882" dir="2700000" algn="ctr">
              <a:schemeClr val="bg2"/>
            </a:outerShdw>
          </a:effectLst>
        </p:spPr>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0"/>
            <a:r>
              <a:t>Arithmetic expressions containing a null value evaluate to null.</a:t>
            </a:r>
          </a:p>
        </p:txBody>
      </p:sp>
      <p:grpSp>
        <p:nvGrpSpPr>
          <p:cNvPr id="33800" name="Group 33799"/>
          <p:cNvGrpSpPr/>
          <p:nvPr/>
        </p:nvGrpSpPr>
        <p:grpSpPr>
          <a:xfrm>
            <a:off x="2457450" y="3013075"/>
            <a:ext cx="2719388" cy="2530475"/>
            <a:chOff x="1548" y="1898"/>
            <a:chExt cx="1713" cy="1594"/>
          </a:xfrm>
        </p:grpSpPr>
        <p:sp>
          <p:nvSpPr>
            <p:cNvPr id="33798" name="Rectangle 33797"/>
            <p:cNvSpPr/>
            <p:nvPr/>
          </p:nvSpPr>
          <p:spPr bwMode="ltGray">
            <a:xfrm>
              <a:off x="2225" y="1898"/>
              <a:ext cx="1036" cy="240"/>
            </a:xfrm>
            <a:prstGeom prst="rect">
              <a:avLst/>
            </a:prstGeom>
            <a:solidFill>
              <a:srgbClr val="FF5050">
                <a:alpha val="50000"/>
              </a:srgbClr>
            </a:solidFill>
            <a:ln>
              <a:noFill/>
              <a:miter lim="800000"/>
            </a:ln>
            <a:effectLst/>
          </p:spPr>
        </p:sp>
        <p:sp>
          <p:nvSpPr>
            <p:cNvPr id="33799" name="Rectangle 33798"/>
            <p:cNvSpPr/>
            <p:nvPr/>
          </p:nvSpPr>
          <p:spPr bwMode="ltGray">
            <a:xfrm>
              <a:off x="1548" y="2952"/>
              <a:ext cx="996" cy="540"/>
            </a:xfrm>
            <a:prstGeom prst="rect">
              <a:avLst/>
            </a:prstGeom>
            <a:solidFill>
              <a:srgbClr val="FF5050">
                <a:alpha val="50000"/>
              </a:srgbClr>
            </a:solidFill>
            <a:ln>
              <a:noFill/>
              <a:miter lim="800000"/>
            </a:ln>
            <a:effectLst/>
          </p:spPr>
        </p:sp>
      </p:grpSp>
      <p:sp>
        <p:nvSpPr>
          <p:cNvPr id="33801" name="Rectangle 33800"/>
          <p:cNvSpPr/>
          <p:nvPr/>
        </p:nvSpPr>
        <p:spPr bwMode="blackWhite">
          <a:xfrm>
            <a:off x="865188" y="2895600"/>
            <a:ext cx="7459662" cy="1162050"/>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SQL&gt; select ename, 12*sal+comm </a:t>
            </a:r>
          </a:p>
          <a:p>
            <a:pPr marL="0" lvl="0" indent="0" eaLnBrk="0" hangingPunct="0">
              <a:tabLst>
                <a:tab pos="1200150" algn="l"/>
              </a:tabLst>
            </a:pPr>
            <a:r>
              <a:rPr sz="1800" b="1">
                <a:solidFill>
                  <a:srgbClr val="000000"/>
                </a:solidFill>
                <a:latin typeface="Courier New" pitchFamily="49" charset="0"/>
              </a:rPr>
              <a:t>  2  from   emp</a:t>
            </a:r>
          </a:p>
          <a:p>
            <a:pPr marL="0" lvl="0" indent="0" eaLnBrk="0" hangingPunct="0">
              <a:tabLst>
                <a:tab pos="1200150" algn="l"/>
              </a:tabLst>
            </a:pPr>
            <a:r>
              <a:rPr sz="1800" b="1">
                <a:solidFill>
                  <a:srgbClr val="000000"/>
                </a:solidFill>
                <a:latin typeface="Courier New" pitchFamily="49" charset="0"/>
              </a:rPr>
              <a:t>  3  WHERE  ename='KING';</a:t>
            </a:r>
          </a:p>
        </p:txBody>
      </p:sp>
      <p:sp>
        <p:nvSpPr>
          <p:cNvPr id="33802" name="Rectangle 33801"/>
          <p:cNvSpPr/>
          <p:nvPr/>
        </p:nvSpPr>
        <p:spPr bwMode="blackWhite">
          <a:xfrm>
            <a:off x="884238" y="4640263"/>
            <a:ext cx="7440612" cy="915987"/>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ENAME      12*SAL+COMM </a:t>
            </a:r>
          </a:p>
          <a:p>
            <a:pPr lvl="0" eaLnBrk="0" hangingPunct="0"/>
            <a:r>
              <a:rPr sz="1800" b="1">
                <a:solidFill>
                  <a:srgbClr val="000000"/>
                </a:solidFill>
                <a:latin typeface="Courier New" pitchFamily="49" charset="0"/>
              </a:rPr>
              <a:t>---------- -----------</a:t>
            </a:r>
          </a:p>
          <a:p>
            <a:pPr lvl="0" eaLnBrk="0" hangingPunct="0"/>
            <a:r>
              <a:rPr sz="1800" b="1">
                <a:solidFill>
                  <a:srgbClr val="000000"/>
                </a:solidFill>
                <a:latin typeface="Courier New" pitchFamily="49" charset="0"/>
              </a:rPr>
              <a:t>KING</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1" fill="hold" nodeType="clickEffect">
                                  <p:stCondLst>
                                    <p:cond delay="0"/>
                                  </p:stCondLst>
                                  <p:childTnLst>
                                    <p:set>
                                      <p:cBhvr>
                                        <p:cTn id="6" dur="1" fill="hold">
                                          <p:stCondLst>
                                            <p:cond delay="0"/>
                                          </p:stCondLst>
                                        </p:cTn>
                                        <p:tgtEl>
                                          <p:spTgt spid="33800"/>
                                        </p:tgtEl>
                                        <p:attrNameLst>
                                          <p:attrName>style.visibility</p:attrName>
                                        </p:attrNameLst>
                                      </p:cBhvr>
                                      <p:to>
                                        <p:strVal val="visible"/>
                                      </p:to>
                                    </p:set>
                                    <p:animEffect transition="in" filter="wipe(up)">
                                      <p:cBhvr>
                                        <p:cTn id="7" dur="500"/>
                                        <p:tgtEl>
                                          <p:spTgt spid="33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35841"/>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Defining a Column Alias</a:t>
            </a:r>
          </a:p>
        </p:txBody>
      </p:sp>
      <p:sp>
        <p:nvSpPr>
          <p:cNvPr id="35843" name="Text Placeholder 35842"/>
          <p:cNvSpPr>
            <a:spLocks noGrp="1"/>
          </p:cNvSpPr>
          <p:nvPr>
            <p:ph type="body" idx="1"/>
          </p:nvPr>
        </p:nvSpPr>
        <p:spPr>
          <a:xfrm>
            <a:off x="860425" y="1795463"/>
            <a:ext cx="7385050" cy="3765550"/>
          </a:xfrm>
          <a:ln>
            <a:solidFill>
              <a:schemeClr val="tx1"/>
            </a:solidFill>
          </a:ln>
        </p:spPr>
        <p:style>
          <a:lnRef idx="2">
            <a:schemeClr val="dk1"/>
          </a:lnRef>
          <a:fillRef idx="1">
            <a:schemeClr val="lt1"/>
          </a:fillRef>
          <a:effectRef idx="0">
            <a:schemeClr val="dk1"/>
          </a:effectRef>
          <a:fontRef idx="minor">
            <a:schemeClr val="dk1"/>
          </a:fontRef>
        </p:style>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1"/>
            <a:r>
              <a:rPr dirty="0"/>
              <a:t>Renames a column heading</a:t>
            </a:r>
          </a:p>
          <a:p>
            <a:pPr lvl="1"/>
            <a:r>
              <a:rPr dirty="0"/>
              <a:t>Is useful with calculations</a:t>
            </a:r>
          </a:p>
          <a:p>
            <a:pPr lvl="1"/>
            <a:r>
              <a:rPr dirty="0"/>
              <a:t>Immediately follows column name; optional AS keyword between column name and alias</a:t>
            </a:r>
          </a:p>
          <a:p>
            <a:pPr lvl="1"/>
            <a:r>
              <a:rPr dirty="0"/>
              <a:t>Requires double quotation marks if it contains spaces or special characters or is case sensitive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7889"/>
          <p:cNvSpPr/>
          <p:nvPr/>
        </p:nvSpPr>
        <p:spPr bwMode="blackWhite">
          <a:xfrm>
            <a:off x="914400" y="1295400"/>
            <a:ext cx="7226300" cy="70167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 </a:t>
            </a:r>
          </a:p>
        </p:txBody>
      </p:sp>
      <p:sp>
        <p:nvSpPr>
          <p:cNvPr id="37891" name="Rectangle 37890"/>
          <p:cNvSpPr/>
          <p:nvPr/>
        </p:nvSpPr>
        <p:spPr bwMode="blackWhite">
          <a:xfrm>
            <a:off x="909638" y="2314575"/>
            <a:ext cx="7246937" cy="1108075"/>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lnSpc>
                <a:spcPct val="90000"/>
              </a:lnSpc>
            </a:pPr>
            <a:endParaRPr sz="1800" b="1">
              <a:solidFill>
                <a:srgbClr val="000000"/>
              </a:solidFill>
              <a:latin typeface="Courier New" pitchFamily="49" charset="0"/>
            </a:endParaRPr>
          </a:p>
          <a:p>
            <a:pPr lvl="0" eaLnBrk="0" hangingPunct="0">
              <a:lnSpc>
                <a:spcPct val="90000"/>
              </a:lnSpc>
            </a:pPr>
            <a:endParaRPr sz="1800" b="1">
              <a:solidFill>
                <a:srgbClr val="000000"/>
              </a:solidFill>
              <a:latin typeface="Courier New" pitchFamily="49" charset="0"/>
            </a:endParaRPr>
          </a:p>
          <a:p>
            <a:pPr lvl="0" eaLnBrk="0" hangingPunct="0">
              <a:lnSpc>
                <a:spcPct val="90000"/>
              </a:lnSpc>
            </a:pPr>
            <a:endParaRPr sz="1800" b="1">
              <a:solidFill>
                <a:srgbClr val="000000"/>
              </a:solidFill>
              <a:latin typeface="Courier New" pitchFamily="49" charset="0"/>
            </a:endParaRPr>
          </a:p>
          <a:p>
            <a:pPr lvl="0" eaLnBrk="0" hangingPunct="0">
              <a:lnSpc>
                <a:spcPct val="90000"/>
              </a:lnSpc>
            </a:pPr>
            <a:r>
              <a:rPr sz="1800" b="1">
                <a:solidFill>
                  <a:srgbClr val="000000"/>
                </a:solidFill>
                <a:latin typeface="Courier New" pitchFamily="49" charset="0"/>
              </a:rPr>
              <a:t> </a:t>
            </a:r>
          </a:p>
        </p:txBody>
      </p:sp>
      <p:sp>
        <p:nvSpPr>
          <p:cNvPr id="37892" name="Rectangle 37891"/>
          <p:cNvSpPr/>
          <p:nvPr/>
        </p:nvSpPr>
        <p:spPr bwMode="blackWhite">
          <a:xfrm>
            <a:off x="908050" y="3732213"/>
            <a:ext cx="7264400" cy="100647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 </a:t>
            </a:r>
          </a:p>
        </p:txBody>
      </p:sp>
      <p:sp>
        <p:nvSpPr>
          <p:cNvPr id="37893" name="Rectangle 37892"/>
          <p:cNvSpPr/>
          <p:nvPr/>
        </p:nvSpPr>
        <p:spPr bwMode="blackWhite">
          <a:xfrm>
            <a:off x="909638" y="5054600"/>
            <a:ext cx="7246937" cy="1108075"/>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lnSpc>
                <a:spcPct val="90000"/>
              </a:lnSpc>
            </a:pPr>
            <a:endParaRPr sz="1800" b="1">
              <a:solidFill>
                <a:srgbClr val="000000"/>
              </a:solidFill>
              <a:latin typeface="Courier New" pitchFamily="49" charset="0"/>
            </a:endParaRPr>
          </a:p>
          <a:p>
            <a:pPr lvl="0" eaLnBrk="0" hangingPunct="0">
              <a:lnSpc>
                <a:spcPct val="90000"/>
              </a:lnSpc>
            </a:pPr>
            <a:endParaRPr sz="1800" b="1">
              <a:solidFill>
                <a:srgbClr val="000000"/>
              </a:solidFill>
              <a:latin typeface="Courier New" pitchFamily="49" charset="0"/>
            </a:endParaRPr>
          </a:p>
          <a:p>
            <a:pPr lvl="0" eaLnBrk="0" hangingPunct="0">
              <a:lnSpc>
                <a:spcPct val="90000"/>
              </a:lnSpc>
            </a:pPr>
            <a:endParaRPr sz="1800" b="1">
              <a:solidFill>
                <a:srgbClr val="000000"/>
              </a:solidFill>
              <a:latin typeface="Courier New" pitchFamily="49" charset="0"/>
            </a:endParaRPr>
          </a:p>
          <a:p>
            <a:pPr lvl="0" eaLnBrk="0" hangingPunct="0">
              <a:lnSpc>
                <a:spcPct val="90000"/>
              </a:lnSpc>
            </a:pPr>
            <a:r>
              <a:rPr sz="1800" b="1">
                <a:solidFill>
                  <a:srgbClr val="000000"/>
                </a:solidFill>
                <a:latin typeface="Courier New" pitchFamily="49" charset="0"/>
              </a:rPr>
              <a:t> </a:t>
            </a:r>
          </a:p>
        </p:txBody>
      </p:sp>
      <p:sp>
        <p:nvSpPr>
          <p:cNvPr id="37894" name="Title 37893"/>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Using Column Aliases</a:t>
            </a:r>
          </a:p>
        </p:txBody>
      </p:sp>
      <p:grpSp>
        <p:nvGrpSpPr>
          <p:cNvPr id="37899" name="Group 37898"/>
          <p:cNvGrpSpPr/>
          <p:nvPr/>
        </p:nvGrpSpPr>
        <p:grpSpPr>
          <a:xfrm>
            <a:off x="974725" y="1346200"/>
            <a:ext cx="5240338" cy="1416050"/>
            <a:chOff x="614" y="848"/>
            <a:chExt cx="3301" cy="892"/>
          </a:xfrm>
        </p:grpSpPr>
        <p:sp>
          <p:nvSpPr>
            <p:cNvPr id="37895" name="Rectangle 37894"/>
            <p:cNvSpPr/>
            <p:nvPr/>
          </p:nvSpPr>
          <p:spPr bwMode="ltGray">
            <a:xfrm>
              <a:off x="2408" y="848"/>
              <a:ext cx="508" cy="245"/>
            </a:xfrm>
            <a:prstGeom prst="rect">
              <a:avLst/>
            </a:prstGeom>
            <a:solidFill>
              <a:srgbClr val="FF5050">
                <a:alpha val="50000"/>
              </a:srgbClr>
            </a:solidFill>
            <a:ln>
              <a:noFill/>
              <a:miter lim="800000"/>
            </a:ln>
            <a:effectLst/>
          </p:spPr>
        </p:sp>
        <p:sp>
          <p:nvSpPr>
            <p:cNvPr id="37896" name="Rectangle 37895"/>
            <p:cNvSpPr/>
            <p:nvPr/>
          </p:nvSpPr>
          <p:spPr bwMode="ltGray">
            <a:xfrm>
              <a:off x="614" y="1503"/>
              <a:ext cx="478" cy="237"/>
            </a:xfrm>
            <a:prstGeom prst="rect">
              <a:avLst/>
            </a:prstGeom>
            <a:solidFill>
              <a:srgbClr val="FF5050">
                <a:alpha val="50000"/>
              </a:srgbClr>
            </a:solidFill>
            <a:ln>
              <a:noFill/>
              <a:miter lim="800000"/>
            </a:ln>
            <a:effectLst/>
          </p:spPr>
        </p:sp>
        <p:sp>
          <p:nvSpPr>
            <p:cNvPr id="37897" name="Rectangle 37896"/>
            <p:cNvSpPr/>
            <p:nvPr/>
          </p:nvSpPr>
          <p:spPr bwMode="ltGray">
            <a:xfrm>
              <a:off x="3300" y="848"/>
              <a:ext cx="615" cy="241"/>
            </a:xfrm>
            <a:prstGeom prst="rect">
              <a:avLst/>
            </a:prstGeom>
            <a:solidFill>
              <a:srgbClr val="009900">
                <a:alpha val="50000"/>
              </a:srgbClr>
            </a:solidFill>
            <a:ln>
              <a:noFill/>
              <a:miter lim="800000"/>
            </a:ln>
            <a:effectLst/>
          </p:spPr>
        </p:sp>
        <p:sp>
          <p:nvSpPr>
            <p:cNvPr id="37898" name="Rectangle 37897"/>
            <p:cNvSpPr/>
            <p:nvPr/>
          </p:nvSpPr>
          <p:spPr bwMode="ltGray">
            <a:xfrm>
              <a:off x="2039" y="1497"/>
              <a:ext cx="615" cy="242"/>
            </a:xfrm>
            <a:prstGeom prst="rect">
              <a:avLst/>
            </a:prstGeom>
            <a:solidFill>
              <a:srgbClr val="009900">
                <a:alpha val="50000"/>
              </a:srgbClr>
            </a:solidFill>
            <a:ln>
              <a:noFill/>
              <a:miter lim="800000"/>
            </a:ln>
            <a:effectLst/>
          </p:spPr>
        </p:sp>
      </p:grpSp>
      <p:grpSp>
        <p:nvGrpSpPr>
          <p:cNvPr id="37904" name="Group 37903"/>
          <p:cNvGrpSpPr/>
          <p:nvPr/>
        </p:nvGrpSpPr>
        <p:grpSpPr>
          <a:xfrm>
            <a:off x="993775" y="3803650"/>
            <a:ext cx="4800600" cy="1701800"/>
            <a:chOff x="626" y="2396"/>
            <a:chExt cx="3024" cy="1072"/>
          </a:xfrm>
        </p:grpSpPr>
        <p:sp>
          <p:nvSpPr>
            <p:cNvPr id="37900" name="Rectangle 37899"/>
            <p:cNvSpPr/>
            <p:nvPr/>
          </p:nvSpPr>
          <p:spPr bwMode="ltGray">
            <a:xfrm>
              <a:off x="2205" y="2396"/>
              <a:ext cx="615" cy="184"/>
            </a:xfrm>
            <a:prstGeom prst="rect">
              <a:avLst/>
            </a:prstGeom>
            <a:solidFill>
              <a:srgbClr val="FF5050">
                <a:alpha val="50000"/>
              </a:srgbClr>
            </a:solidFill>
            <a:ln>
              <a:noFill/>
              <a:miter lim="800000"/>
            </a:ln>
            <a:effectLst/>
          </p:spPr>
        </p:sp>
        <p:sp>
          <p:nvSpPr>
            <p:cNvPr id="37901" name="Rectangle 37900"/>
            <p:cNvSpPr/>
            <p:nvPr/>
          </p:nvSpPr>
          <p:spPr bwMode="ltGray">
            <a:xfrm>
              <a:off x="626" y="3221"/>
              <a:ext cx="444" cy="235"/>
            </a:xfrm>
            <a:prstGeom prst="rect">
              <a:avLst/>
            </a:prstGeom>
            <a:solidFill>
              <a:srgbClr val="FF5050">
                <a:alpha val="50000"/>
              </a:srgbClr>
            </a:solidFill>
            <a:ln>
              <a:noFill/>
              <a:miter lim="800000"/>
            </a:ln>
            <a:effectLst/>
          </p:spPr>
        </p:sp>
        <p:sp>
          <p:nvSpPr>
            <p:cNvPr id="37902" name="Rectangle 37901"/>
            <p:cNvSpPr/>
            <p:nvPr/>
          </p:nvSpPr>
          <p:spPr bwMode="ltGray">
            <a:xfrm>
              <a:off x="2277" y="2583"/>
              <a:ext cx="1373" cy="241"/>
            </a:xfrm>
            <a:prstGeom prst="rect">
              <a:avLst/>
            </a:prstGeom>
            <a:solidFill>
              <a:srgbClr val="009900">
                <a:alpha val="50000"/>
              </a:srgbClr>
            </a:solidFill>
            <a:ln>
              <a:noFill/>
              <a:miter lim="800000"/>
            </a:ln>
            <a:effectLst/>
          </p:spPr>
        </p:sp>
        <p:sp>
          <p:nvSpPr>
            <p:cNvPr id="37903" name="Rectangle 37902"/>
            <p:cNvSpPr/>
            <p:nvPr/>
          </p:nvSpPr>
          <p:spPr bwMode="ltGray">
            <a:xfrm>
              <a:off x="1863" y="3226"/>
              <a:ext cx="1173" cy="242"/>
            </a:xfrm>
            <a:prstGeom prst="rect">
              <a:avLst/>
            </a:prstGeom>
            <a:solidFill>
              <a:srgbClr val="009900">
                <a:alpha val="50000"/>
              </a:srgbClr>
            </a:solidFill>
            <a:ln>
              <a:noFill/>
              <a:miter lim="800000"/>
            </a:ln>
            <a:effectLst/>
          </p:spPr>
        </p:sp>
      </p:grpSp>
      <p:sp>
        <p:nvSpPr>
          <p:cNvPr id="37905" name="Rectangle 37904"/>
          <p:cNvSpPr/>
          <p:nvPr/>
        </p:nvSpPr>
        <p:spPr bwMode="blackWhite">
          <a:xfrm>
            <a:off x="960438" y="2327275"/>
            <a:ext cx="7221537" cy="1082675"/>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lnSpc>
                <a:spcPct val="90000"/>
              </a:lnSpc>
            </a:pPr>
            <a:endParaRPr sz="1800" b="1">
              <a:solidFill>
                <a:srgbClr val="000000"/>
              </a:solidFill>
              <a:latin typeface="Courier New" pitchFamily="49" charset="0"/>
            </a:endParaRPr>
          </a:p>
          <a:p>
            <a:pPr lvl="0" eaLnBrk="0" hangingPunct="0">
              <a:lnSpc>
                <a:spcPct val="90000"/>
              </a:lnSpc>
            </a:pPr>
            <a:endParaRPr sz="1800" b="1">
              <a:solidFill>
                <a:srgbClr val="000000"/>
              </a:solidFill>
              <a:latin typeface="Courier New" pitchFamily="49" charset="0"/>
            </a:endParaRPr>
          </a:p>
          <a:p>
            <a:pPr lvl="0" eaLnBrk="0" hangingPunct="0">
              <a:lnSpc>
                <a:spcPct val="90000"/>
              </a:lnSpc>
            </a:pPr>
            <a:endParaRPr sz="1800" b="1">
              <a:solidFill>
                <a:srgbClr val="000000"/>
              </a:solidFill>
              <a:latin typeface="Courier New" pitchFamily="49" charset="0"/>
            </a:endParaRPr>
          </a:p>
          <a:p>
            <a:pPr lvl="0" eaLnBrk="0" hangingPunct="0">
              <a:lnSpc>
                <a:spcPct val="90000"/>
              </a:lnSpc>
            </a:pPr>
            <a:r>
              <a:rPr sz="1800" b="1">
                <a:solidFill>
                  <a:srgbClr val="000000"/>
                </a:solidFill>
                <a:latin typeface="Courier New" pitchFamily="49" charset="0"/>
              </a:rPr>
              <a:t> </a:t>
            </a:r>
          </a:p>
        </p:txBody>
      </p:sp>
      <p:sp>
        <p:nvSpPr>
          <p:cNvPr id="37906" name="Rectangle 37905"/>
          <p:cNvSpPr/>
          <p:nvPr/>
        </p:nvSpPr>
        <p:spPr bwMode="blackWhite">
          <a:xfrm>
            <a:off x="939800" y="1282700"/>
            <a:ext cx="7251700" cy="727075"/>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SQL&gt; SELECT ename AS name, sal salary</a:t>
            </a:r>
          </a:p>
          <a:p>
            <a:pPr marL="0" lvl="0" indent="0" eaLnBrk="0" hangingPunct="0">
              <a:tabLst>
                <a:tab pos="1200150" algn="l"/>
              </a:tabLst>
            </a:pPr>
            <a:r>
              <a:rPr sz="1800" b="1">
                <a:solidFill>
                  <a:srgbClr val="000000"/>
                </a:solidFill>
                <a:latin typeface="Courier New" pitchFamily="49" charset="0"/>
              </a:rPr>
              <a:t>  2  FROM   emp;</a:t>
            </a:r>
          </a:p>
        </p:txBody>
      </p:sp>
      <p:sp>
        <p:nvSpPr>
          <p:cNvPr id="37907" name="Rectangle 37906"/>
          <p:cNvSpPr/>
          <p:nvPr/>
        </p:nvSpPr>
        <p:spPr bwMode="blackWhite">
          <a:xfrm>
            <a:off x="977900" y="2292350"/>
            <a:ext cx="3340100" cy="112077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lnSpc>
                <a:spcPct val="125000"/>
              </a:lnSpc>
            </a:pPr>
            <a:r>
              <a:rPr sz="1800" b="1">
                <a:solidFill>
                  <a:srgbClr val="000000"/>
                </a:solidFill>
                <a:latin typeface="Courier New" pitchFamily="49" charset="0"/>
              </a:rPr>
              <a:t>NAME             SALARY</a:t>
            </a:r>
          </a:p>
          <a:p>
            <a:pPr lvl="0" eaLnBrk="0" hangingPunct="0">
              <a:lnSpc>
                <a:spcPct val="125000"/>
              </a:lnSpc>
            </a:pPr>
            <a:r>
              <a:rPr sz="1800" b="1">
                <a:solidFill>
                  <a:srgbClr val="000000"/>
                </a:solidFill>
                <a:latin typeface="Courier New" pitchFamily="49" charset="0"/>
              </a:rPr>
              <a:t>------------- ---------</a:t>
            </a:r>
            <a:br>
              <a:rPr sz="1800" b="1">
                <a:solidFill>
                  <a:srgbClr val="000000"/>
                </a:solidFill>
                <a:latin typeface="Courier New" pitchFamily="49" charset="0"/>
              </a:rPr>
            </a:br>
            <a:r>
              <a:rPr sz="1800" b="1">
                <a:solidFill>
                  <a:srgbClr val="000000"/>
                </a:solidFill>
                <a:latin typeface="Courier New" pitchFamily="49" charset="0"/>
              </a:rPr>
              <a:t>...</a:t>
            </a:r>
          </a:p>
        </p:txBody>
      </p:sp>
      <p:sp>
        <p:nvSpPr>
          <p:cNvPr id="37908" name="Rectangle 37907"/>
          <p:cNvSpPr/>
          <p:nvPr/>
        </p:nvSpPr>
        <p:spPr bwMode="blackWhite">
          <a:xfrm>
            <a:off x="933450" y="3719513"/>
            <a:ext cx="7289800" cy="1031875"/>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SQL&gt; SELECT ename "Name",</a:t>
            </a:r>
          </a:p>
          <a:p>
            <a:pPr marL="0" lvl="0" indent="0" eaLnBrk="0" hangingPunct="0">
              <a:tabLst>
                <a:tab pos="1200150" algn="l"/>
              </a:tabLst>
            </a:pPr>
            <a:r>
              <a:rPr sz="1800" b="1">
                <a:solidFill>
                  <a:srgbClr val="000000"/>
                </a:solidFill>
                <a:latin typeface="Courier New" pitchFamily="49" charset="0"/>
              </a:rPr>
              <a:t>  2         sal*12 "Annual Salary"</a:t>
            </a:r>
          </a:p>
          <a:p>
            <a:pPr marL="0" lvl="0" indent="0" eaLnBrk="0" hangingPunct="0">
              <a:tabLst>
                <a:tab pos="1200150" algn="l"/>
              </a:tabLst>
            </a:pPr>
            <a:r>
              <a:rPr sz="1800" b="1">
                <a:solidFill>
                  <a:srgbClr val="000000"/>
                </a:solidFill>
                <a:latin typeface="Courier New" pitchFamily="49" charset="0"/>
              </a:rPr>
              <a:t>  3  FROM   emp;</a:t>
            </a:r>
          </a:p>
        </p:txBody>
      </p:sp>
      <p:grpSp>
        <p:nvGrpSpPr>
          <p:cNvPr id="37911" name="Group 37910"/>
          <p:cNvGrpSpPr/>
          <p:nvPr/>
        </p:nvGrpSpPr>
        <p:grpSpPr>
          <a:xfrm>
            <a:off x="960438" y="5024438"/>
            <a:ext cx="7221537" cy="1125537"/>
            <a:chOff x="605" y="3165"/>
            <a:chExt cx="4549" cy="709"/>
          </a:xfrm>
        </p:grpSpPr>
        <p:sp>
          <p:nvSpPr>
            <p:cNvPr id="37909" name="Rectangle 37908"/>
            <p:cNvSpPr/>
            <p:nvPr/>
          </p:nvSpPr>
          <p:spPr bwMode="blackWhite">
            <a:xfrm>
              <a:off x="605" y="3192"/>
              <a:ext cx="4549" cy="682"/>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lnSpc>
                  <a:spcPct val="90000"/>
                </a:lnSpc>
              </a:pPr>
              <a:endParaRPr sz="1800" b="1">
                <a:solidFill>
                  <a:srgbClr val="000000"/>
                </a:solidFill>
                <a:latin typeface="Courier New" pitchFamily="49" charset="0"/>
              </a:endParaRPr>
            </a:p>
            <a:p>
              <a:pPr lvl="0" eaLnBrk="0" hangingPunct="0">
                <a:lnSpc>
                  <a:spcPct val="90000"/>
                </a:lnSpc>
              </a:pPr>
              <a:endParaRPr sz="1800" b="1">
                <a:solidFill>
                  <a:srgbClr val="000000"/>
                </a:solidFill>
                <a:latin typeface="Courier New" pitchFamily="49" charset="0"/>
              </a:endParaRPr>
            </a:p>
            <a:p>
              <a:pPr lvl="0" eaLnBrk="0" hangingPunct="0">
                <a:lnSpc>
                  <a:spcPct val="90000"/>
                </a:lnSpc>
              </a:pPr>
              <a:endParaRPr sz="1800" b="1">
                <a:solidFill>
                  <a:srgbClr val="000000"/>
                </a:solidFill>
                <a:latin typeface="Courier New" pitchFamily="49" charset="0"/>
              </a:endParaRPr>
            </a:p>
            <a:p>
              <a:pPr lvl="0" eaLnBrk="0" hangingPunct="0">
                <a:lnSpc>
                  <a:spcPct val="90000"/>
                </a:lnSpc>
              </a:pPr>
              <a:r>
                <a:rPr sz="1800" b="1">
                  <a:solidFill>
                    <a:srgbClr val="000000"/>
                  </a:solidFill>
                  <a:latin typeface="Courier New" pitchFamily="49" charset="0"/>
                </a:rPr>
                <a:t> </a:t>
              </a:r>
            </a:p>
          </p:txBody>
        </p:sp>
        <p:sp>
          <p:nvSpPr>
            <p:cNvPr id="37910" name="Rectangle 37909"/>
            <p:cNvSpPr/>
            <p:nvPr/>
          </p:nvSpPr>
          <p:spPr bwMode="blackWhite">
            <a:xfrm>
              <a:off x="616" y="3165"/>
              <a:ext cx="2449" cy="706"/>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lnSpc>
                  <a:spcPct val="125000"/>
                </a:lnSpc>
              </a:pPr>
              <a:r>
                <a:rPr sz="1800" b="1">
                  <a:solidFill>
                    <a:srgbClr val="000000"/>
                  </a:solidFill>
                  <a:latin typeface="Courier New" pitchFamily="49" charset="0"/>
                </a:rPr>
                <a:t>Name          Annual Salary</a:t>
              </a:r>
            </a:p>
            <a:p>
              <a:pPr lvl="0" eaLnBrk="0" hangingPunct="0">
                <a:lnSpc>
                  <a:spcPct val="125000"/>
                </a:lnSpc>
              </a:pPr>
              <a:r>
                <a:rPr sz="1800" b="1">
                  <a:solidFill>
                    <a:srgbClr val="000000"/>
                  </a:solidFill>
                  <a:latin typeface="Courier New" pitchFamily="49" charset="0"/>
                </a:rPr>
                <a:t>------------- -------------</a:t>
              </a:r>
              <a:br>
                <a:rPr sz="1800" b="1">
                  <a:solidFill>
                    <a:srgbClr val="000000"/>
                  </a:solidFill>
                  <a:latin typeface="Courier New" pitchFamily="49" charset="0"/>
                </a:rPr>
              </a:br>
              <a:r>
                <a:rPr sz="1800" b="1">
                  <a:solidFill>
                    <a:srgbClr val="000000"/>
                  </a:solidFill>
                  <a:latin typeface="Courier New" pitchFamily="49" charset="0"/>
                </a:rPr>
                <a:t>...</a:t>
              </a:r>
            </a:p>
          </p:txBody>
        </p:sp>
      </p:gr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1" fill="hold" nodeType="clickEffect">
                                  <p:stCondLst>
                                    <p:cond delay="0"/>
                                  </p:stCondLst>
                                  <p:childTnLst>
                                    <p:set>
                                      <p:cBhvr>
                                        <p:cTn id="6" dur="1" fill="hold">
                                          <p:stCondLst>
                                            <p:cond delay="0"/>
                                          </p:stCondLst>
                                        </p:cTn>
                                        <p:tgtEl>
                                          <p:spTgt spid="37899"/>
                                        </p:tgtEl>
                                        <p:attrNameLst>
                                          <p:attrName>style.visibility</p:attrName>
                                        </p:attrNameLst>
                                      </p:cBhvr>
                                      <p:to>
                                        <p:strVal val="visible"/>
                                      </p:to>
                                    </p:set>
                                    <p:animEffect transition="in" filter="wipe(up)">
                                      <p:cBhvr>
                                        <p:cTn id="7" dur="500"/>
                                        <p:tgtEl>
                                          <p:spTgt spid="37899"/>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7904"/>
                                        </p:tgtEl>
                                        <p:attrNameLst>
                                          <p:attrName>style.visibility</p:attrName>
                                        </p:attrNameLst>
                                      </p:cBhvr>
                                      <p:to>
                                        <p:strVal val="visible"/>
                                      </p:to>
                                    </p:set>
                                    <p:animEffect transition="in" filter="wipe(up)">
                                      <p:cBhvr>
                                        <p:cTn id="12" dur="500"/>
                                        <p:tgtEl>
                                          <p:spTgt spid="37904"/>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7905"/>
                                        </p:tgtEl>
                                        <p:attrNameLst>
                                          <p:attrName>style.visibility</p:attrName>
                                        </p:attrNameLst>
                                      </p:cBhvr>
                                      <p:to>
                                        <p:strVal val="visible"/>
                                      </p:to>
                                    </p:set>
                                    <p:animEffect transition="in" filter="wipe(up)">
                                      <p:cBhvr>
                                        <p:cTn id="17" dur="500"/>
                                        <p:tgtEl>
                                          <p:spTgt spid="379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39937"/>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Concatenation Operator</a:t>
            </a:r>
          </a:p>
        </p:txBody>
      </p:sp>
      <p:sp>
        <p:nvSpPr>
          <p:cNvPr id="39939" name="Text Placeholder 39938"/>
          <p:cNvSpPr>
            <a:spLocks noGrp="1"/>
          </p:cNvSpPr>
          <p:nvPr>
            <p:ph type="body" idx="1"/>
          </p:nvPr>
        </p:nvSpPr>
        <p:spPr>
          <a:xfrm>
            <a:off x="860425" y="1795463"/>
            <a:ext cx="7385050" cy="2398712"/>
          </a:xfrm>
          <a:ln/>
        </p:spPr>
        <p:style>
          <a:lnRef idx="2">
            <a:schemeClr val="dk1"/>
          </a:lnRef>
          <a:fillRef idx="1">
            <a:schemeClr val="lt1"/>
          </a:fillRef>
          <a:effectRef idx="0">
            <a:schemeClr val="dk1"/>
          </a:effectRef>
          <a:fontRef idx="minor">
            <a:schemeClr val="dk1"/>
          </a:fontRef>
        </p:style>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1"/>
            <a:r>
              <a:rPr dirty="0"/>
              <a:t>Concatenates columns or character strings to other columns </a:t>
            </a:r>
          </a:p>
          <a:p>
            <a:pPr lvl="1"/>
            <a:r>
              <a:rPr dirty="0"/>
              <a:t>Is represented by two vertical bars (||)</a:t>
            </a:r>
          </a:p>
          <a:p>
            <a:pPr lvl="1"/>
            <a:r>
              <a:rPr dirty="0"/>
              <a:t>Creates a resultant column that is a character expression</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1985"/>
          <p:cNvSpPr/>
          <p:nvPr/>
        </p:nvSpPr>
        <p:spPr bwMode="blackWhite">
          <a:xfrm>
            <a:off x="993775" y="1949450"/>
            <a:ext cx="7127875" cy="70167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endParaRPr sz="1800" b="1">
              <a:solidFill>
                <a:srgbClr val="000000"/>
              </a:solidFill>
              <a:latin typeface="Courier New" pitchFamily="49" charset="0"/>
            </a:endParaRPr>
          </a:p>
          <a:p>
            <a:pPr marL="0" lvl="0" indent="0" eaLnBrk="0" hangingPunct="0">
              <a:tabLst>
                <a:tab pos="1200150" algn="l"/>
              </a:tabLst>
            </a:pPr>
            <a:endParaRPr sz="1800" b="1">
              <a:solidFill>
                <a:srgbClr val="000000"/>
              </a:solidFill>
              <a:latin typeface="Courier New" pitchFamily="49" charset="0"/>
            </a:endParaRPr>
          </a:p>
        </p:txBody>
      </p:sp>
      <p:sp>
        <p:nvSpPr>
          <p:cNvPr id="41987" name="Rectangle 41986"/>
          <p:cNvSpPr/>
          <p:nvPr/>
        </p:nvSpPr>
        <p:spPr bwMode="blackWhite">
          <a:xfrm>
            <a:off x="977900" y="3060700"/>
            <a:ext cx="7175500" cy="2863850"/>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p:txBody>
      </p:sp>
      <p:sp>
        <p:nvSpPr>
          <p:cNvPr id="41988" name="Title 41987"/>
          <p:cNvSpPr>
            <a:spLocks noGrp="1"/>
          </p:cNvSpPr>
          <p:nvPr>
            <p:ph type="title"/>
          </p:nvPr>
        </p:nvSpPr>
        <p:spPr>
          <a:xfrm>
            <a:off x="914400" y="609600"/>
            <a:ext cx="8678863"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rPr sz="4000"/>
              <a:t>Using the Concatenation Operator</a:t>
            </a:r>
          </a:p>
        </p:txBody>
      </p:sp>
      <p:grpSp>
        <p:nvGrpSpPr>
          <p:cNvPr id="41991" name="Group 41990"/>
          <p:cNvGrpSpPr/>
          <p:nvPr/>
        </p:nvGrpSpPr>
        <p:grpSpPr>
          <a:xfrm>
            <a:off x="1046163" y="2016125"/>
            <a:ext cx="2814637" cy="3546475"/>
            <a:chOff x="659" y="1270"/>
            <a:chExt cx="1773" cy="2234"/>
          </a:xfrm>
        </p:grpSpPr>
        <p:sp>
          <p:nvSpPr>
            <p:cNvPr id="41989" name="Rectangle 41988"/>
            <p:cNvSpPr/>
            <p:nvPr/>
          </p:nvSpPr>
          <p:spPr bwMode="ltGray">
            <a:xfrm>
              <a:off x="2269" y="1270"/>
              <a:ext cx="163" cy="200"/>
            </a:xfrm>
            <a:prstGeom prst="rect">
              <a:avLst/>
            </a:prstGeom>
            <a:solidFill>
              <a:srgbClr val="FF5050">
                <a:alpha val="50000"/>
              </a:srgbClr>
            </a:solidFill>
            <a:ln>
              <a:noFill/>
              <a:miter lim="800000"/>
            </a:ln>
            <a:effectLst/>
          </p:spPr>
        </p:sp>
        <p:sp>
          <p:nvSpPr>
            <p:cNvPr id="41990" name="Rectangle 41989"/>
            <p:cNvSpPr/>
            <p:nvPr/>
          </p:nvSpPr>
          <p:spPr bwMode="ltGray">
            <a:xfrm>
              <a:off x="659" y="1964"/>
              <a:ext cx="1709" cy="1540"/>
            </a:xfrm>
            <a:prstGeom prst="rect">
              <a:avLst/>
            </a:prstGeom>
            <a:solidFill>
              <a:srgbClr val="FF5050">
                <a:alpha val="50000"/>
              </a:srgbClr>
            </a:solidFill>
            <a:ln>
              <a:noFill/>
              <a:miter lim="800000"/>
            </a:ln>
            <a:effectLst/>
          </p:spPr>
        </p:sp>
      </p:grpSp>
      <p:sp>
        <p:nvSpPr>
          <p:cNvPr id="41992" name="Rectangle 41991"/>
          <p:cNvSpPr/>
          <p:nvPr/>
        </p:nvSpPr>
        <p:spPr bwMode="blackWhite">
          <a:xfrm>
            <a:off x="981075" y="1936750"/>
            <a:ext cx="7153275" cy="727075"/>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SQL&gt; SELECT	ename||job AS "Employees"</a:t>
            </a:r>
          </a:p>
          <a:p>
            <a:pPr marL="0" lvl="0" indent="0" eaLnBrk="0" hangingPunct="0">
              <a:tabLst>
                <a:tab pos="1200150" algn="l"/>
              </a:tabLst>
            </a:pPr>
            <a:r>
              <a:rPr sz="1800" b="1">
                <a:solidFill>
                  <a:srgbClr val="000000"/>
                </a:solidFill>
                <a:latin typeface="Courier New" pitchFamily="49" charset="0"/>
              </a:rPr>
              <a:t>  2  FROM 	emp;</a:t>
            </a:r>
          </a:p>
        </p:txBody>
      </p:sp>
      <p:sp>
        <p:nvSpPr>
          <p:cNvPr id="41993" name="Rectangle 41992"/>
          <p:cNvSpPr/>
          <p:nvPr/>
        </p:nvSpPr>
        <p:spPr bwMode="blackWhite">
          <a:xfrm>
            <a:off x="990600" y="3073400"/>
            <a:ext cx="7150100" cy="2838450"/>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Employees</a:t>
            </a:r>
          </a:p>
          <a:p>
            <a:pPr lvl="0" eaLnBrk="0" hangingPunct="0"/>
            <a:r>
              <a:rPr sz="1800" b="1">
                <a:solidFill>
                  <a:srgbClr val="000000"/>
                </a:solidFill>
                <a:latin typeface="Courier New" pitchFamily="49" charset="0"/>
              </a:rPr>
              <a:t>-------------------</a:t>
            </a:r>
          </a:p>
          <a:p>
            <a:pPr lvl="0" eaLnBrk="0" hangingPunct="0"/>
            <a:r>
              <a:rPr sz="1800" b="1">
                <a:solidFill>
                  <a:srgbClr val="000000"/>
                </a:solidFill>
                <a:latin typeface="Courier New" pitchFamily="49" charset="0"/>
              </a:rPr>
              <a:t>KINGPRESIDENT</a:t>
            </a:r>
          </a:p>
          <a:p>
            <a:pPr lvl="0" eaLnBrk="0" hangingPunct="0"/>
            <a:r>
              <a:rPr sz="1800" b="1">
                <a:solidFill>
                  <a:srgbClr val="000000"/>
                </a:solidFill>
                <a:latin typeface="Courier New" pitchFamily="49" charset="0"/>
              </a:rPr>
              <a:t>BLAKEMANAGER</a:t>
            </a:r>
          </a:p>
          <a:p>
            <a:pPr lvl="0" eaLnBrk="0" hangingPunct="0"/>
            <a:r>
              <a:rPr sz="1800" b="1">
                <a:solidFill>
                  <a:srgbClr val="000000"/>
                </a:solidFill>
                <a:latin typeface="Courier New" pitchFamily="49" charset="0"/>
              </a:rPr>
              <a:t>CLARKMANAGER</a:t>
            </a:r>
          </a:p>
          <a:p>
            <a:pPr lvl="0" eaLnBrk="0" hangingPunct="0"/>
            <a:r>
              <a:rPr sz="1800" b="1">
                <a:solidFill>
                  <a:srgbClr val="000000"/>
                </a:solidFill>
                <a:latin typeface="Courier New" pitchFamily="49" charset="0"/>
              </a:rPr>
              <a:t>JONESMANAGER</a:t>
            </a:r>
          </a:p>
          <a:p>
            <a:pPr lvl="0" eaLnBrk="0" hangingPunct="0"/>
            <a:r>
              <a:rPr sz="1800" b="1">
                <a:solidFill>
                  <a:srgbClr val="000000"/>
                </a:solidFill>
                <a:latin typeface="Courier New" pitchFamily="49" charset="0"/>
              </a:rPr>
              <a:t>MARTINSALESMAN</a:t>
            </a:r>
          </a:p>
          <a:p>
            <a:pPr lvl="0" eaLnBrk="0" hangingPunct="0"/>
            <a:r>
              <a:rPr sz="1800" b="1">
                <a:solidFill>
                  <a:srgbClr val="000000"/>
                </a:solidFill>
                <a:latin typeface="Courier New" pitchFamily="49" charset="0"/>
              </a:rPr>
              <a:t>ALLENSALESMAN</a:t>
            </a:r>
          </a:p>
          <a:p>
            <a:pPr lvl="0" eaLnBrk="0" hangingPunct="0"/>
            <a:r>
              <a:rPr sz="1800" b="1">
                <a:solidFill>
                  <a:srgbClr val="000000"/>
                </a:solidFill>
                <a:latin typeface="Courier New" pitchFamily="49" charset="0"/>
              </a:rPr>
              <a:t>...</a:t>
            </a:r>
          </a:p>
          <a:p>
            <a:pPr lvl="0" eaLnBrk="0" hangingPunct="0"/>
            <a:r>
              <a:rPr sz="1800" b="1">
                <a:solidFill>
                  <a:srgbClr val="000000"/>
                </a:solidFill>
                <a:latin typeface="Courier New" pitchFamily="49" charset="0"/>
              </a:rPr>
              <a:t>14 rows selected.</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1" fill="hold" nodeType="clickEffect">
                                  <p:stCondLst>
                                    <p:cond delay="0"/>
                                  </p:stCondLst>
                                  <p:childTnLst>
                                    <p:set>
                                      <p:cBhvr>
                                        <p:cTn id="6" dur="1" fill="hold">
                                          <p:stCondLst>
                                            <p:cond delay="0"/>
                                          </p:stCondLst>
                                        </p:cTn>
                                        <p:tgtEl>
                                          <p:spTgt spid="41991"/>
                                        </p:tgtEl>
                                        <p:attrNameLst>
                                          <p:attrName>style.visibility</p:attrName>
                                        </p:attrNameLst>
                                      </p:cBhvr>
                                      <p:to>
                                        <p:strVal val="visible"/>
                                      </p:to>
                                    </p:set>
                                    <p:animEffect transition="in" filter="wipe(up)">
                                      <p:cBhvr>
                                        <p:cTn id="7" dur="500"/>
                                        <p:tgtEl>
                                          <p:spTgt spid="41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44033"/>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Literal Character Strings</a:t>
            </a:r>
          </a:p>
        </p:txBody>
      </p:sp>
      <p:sp>
        <p:nvSpPr>
          <p:cNvPr id="44035" name="Text Placeholder 44034"/>
          <p:cNvSpPr>
            <a:spLocks noGrp="1"/>
          </p:cNvSpPr>
          <p:nvPr>
            <p:ph type="body" idx="1"/>
          </p:nvPr>
        </p:nvSpPr>
        <p:spPr>
          <a:xfrm>
            <a:off x="1295400" y="1828800"/>
            <a:ext cx="7385050" cy="3252788"/>
          </a:xfrm>
          <a:ln/>
        </p:spPr>
        <p:style>
          <a:lnRef idx="2">
            <a:schemeClr val="dk1"/>
          </a:lnRef>
          <a:fillRef idx="1">
            <a:schemeClr val="lt1"/>
          </a:fillRef>
          <a:effectRef idx="0">
            <a:schemeClr val="dk1"/>
          </a:effectRef>
          <a:fontRef idx="minor">
            <a:schemeClr val="dk1"/>
          </a:fontRef>
        </p:style>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1"/>
            <a:r>
              <a:rPr dirty="0"/>
              <a:t>A literal is a character, expression, or number included in the SELECT list.</a:t>
            </a:r>
          </a:p>
          <a:p>
            <a:pPr lvl="1"/>
            <a:r>
              <a:rPr dirty="0"/>
              <a:t>Date and character literal values must be enclosed within single quotation marks.</a:t>
            </a:r>
          </a:p>
          <a:p>
            <a:pPr lvl="1"/>
            <a:r>
              <a:rPr dirty="0"/>
              <a:t>Each character string is output once for each row returned.</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6081"/>
          <p:cNvSpPr/>
          <p:nvPr/>
        </p:nvSpPr>
        <p:spPr bwMode="blackWhite">
          <a:xfrm>
            <a:off x="954088" y="1687513"/>
            <a:ext cx="7289800" cy="100647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 pos="2452688" algn="l"/>
              </a:tabLst>
            </a:pPr>
            <a:endParaRPr sz="1800" b="1">
              <a:solidFill>
                <a:srgbClr val="000000"/>
              </a:solidFill>
              <a:latin typeface="Courier New" pitchFamily="49" charset="0"/>
            </a:endParaRPr>
          </a:p>
          <a:p>
            <a:pPr marL="0" lvl="0" indent="0" eaLnBrk="0" hangingPunct="0">
              <a:tabLst>
                <a:tab pos="1200150" algn="l"/>
                <a:tab pos="2452688" algn="l"/>
              </a:tabLst>
            </a:pPr>
            <a:endParaRPr sz="1800" b="1">
              <a:solidFill>
                <a:srgbClr val="000000"/>
              </a:solidFill>
              <a:latin typeface="Courier New" pitchFamily="49" charset="0"/>
            </a:endParaRPr>
          </a:p>
        </p:txBody>
      </p:sp>
      <p:sp>
        <p:nvSpPr>
          <p:cNvPr id="46083" name="Title 46082"/>
          <p:cNvSpPr>
            <a:spLocks noGrp="1"/>
          </p:cNvSpPr>
          <p:nvPr>
            <p:ph type="title"/>
          </p:nvPr>
        </p:nvSpPr>
        <p:spPr>
          <a:xfrm>
            <a:off x="1525588" y="340645"/>
            <a:ext cx="7618412" cy="881063"/>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rPr dirty="0"/>
              <a:t>Using Literal Character </a:t>
            </a:r>
            <a:r>
              <a:rPr sz="4000" dirty="0"/>
              <a:t>Strings</a:t>
            </a:r>
          </a:p>
        </p:txBody>
      </p:sp>
      <p:sp>
        <p:nvSpPr>
          <p:cNvPr id="46084" name="Rectangle 46083"/>
          <p:cNvSpPr/>
          <p:nvPr/>
        </p:nvSpPr>
        <p:spPr bwMode="blackWhite">
          <a:xfrm>
            <a:off x="922338" y="3089275"/>
            <a:ext cx="7315200" cy="2589213"/>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Employee Details</a:t>
            </a:r>
          </a:p>
          <a:p>
            <a:pPr lvl="0" eaLnBrk="0" hangingPunct="0"/>
            <a:r>
              <a:rPr sz="1800" b="1">
                <a:solidFill>
                  <a:srgbClr val="000000"/>
                </a:solidFill>
                <a:latin typeface="Courier New" pitchFamily="49" charset="0"/>
              </a:rPr>
              <a:t>-------------------------</a:t>
            </a:r>
          </a:p>
          <a:p>
            <a:pPr lvl="0" eaLnBrk="0" hangingPunct="0"/>
            <a:r>
              <a:rPr sz="1800" b="1">
                <a:solidFill>
                  <a:srgbClr val="000000"/>
                </a:solidFill>
                <a:latin typeface="Courier New" pitchFamily="49" charset="0"/>
              </a:rPr>
              <a:t>KING is a PRESIDENT</a:t>
            </a:r>
          </a:p>
          <a:p>
            <a:pPr lvl="0" eaLnBrk="0" hangingPunct="0"/>
            <a:r>
              <a:rPr sz="1800" b="1">
                <a:solidFill>
                  <a:srgbClr val="000000"/>
                </a:solidFill>
                <a:latin typeface="Courier New" pitchFamily="49" charset="0"/>
              </a:rPr>
              <a:t>BLAKE is a MANAGER</a:t>
            </a:r>
          </a:p>
          <a:p>
            <a:pPr lvl="0" eaLnBrk="0" hangingPunct="0"/>
            <a:r>
              <a:rPr sz="1800" b="1">
                <a:solidFill>
                  <a:srgbClr val="000000"/>
                </a:solidFill>
                <a:latin typeface="Courier New" pitchFamily="49" charset="0"/>
              </a:rPr>
              <a:t>CLARK is a MANAGER</a:t>
            </a:r>
          </a:p>
          <a:p>
            <a:pPr lvl="0" eaLnBrk="0" hangingPunct="0"/>
            <a:r>
              <a:rPr sz="1800" b="1">
                <a:solidFill>
                  <a:srgbClr val="000000"/>
                </a:solidFill>
                <a:latin typeface="Courier New" pitchFamily="49" charset="0"/>
              </a:rPr>
              <a:t>JONES is a MANAGER</a:t>
            </a:r>
          </a:p>
          <a:p>
            <a:pPr lvl="0" eaLnBrk="0" hangingPunct="0"/>
            <a:r>
              <a:rPr sz="1800" b="1">
                <a:solidFill>
                  <a:srgbClr val="000000"/>
                </a:solidFill>
                <a:latin typeface="Courier New" pitchFamily="49" charset="0"/>
              </a:rPr>
              <a:t>MARTIN is a SALESMAN</a:t>
            </a:r>
          </a:p>
          <a:p>
            <a:pPr lvl="0" eaLnBrk="0" hangingPunct="0"/>
            <a:r>
              <a:rPr sz="1800" b="1">
                <a:solidFill>
                  <a:srgbClr val="000000"/>
                </a:solidFill>
                <a:latin typeface="Courier New" pitchFamily="49" charset="0"/>
              </a:rPr>
              <a:t>...</a:t>
            </a:r>
          </a:p>
          <a:p>
            <a:pPr lvl="0" eaLnBrk="0" hangingPunct="0"/>
            <a:r>
              <a:rPr sz="1800" b="1">
                <a:solidFill>
                  <a:srgbClr val="000000"/>
                </a:solidFill>
                <a:latin typeface="Courier New" pitchFamily="49" charset="0"/>
              </a:rPr>
              <a:t>14 rows selected.</a:t>
            </a:r>
          </a:p>
        </p:txBody>
      </p:sp>
      <p:grpSp>
        <p:nvGrpSpPr>
          <p:cNvPr id="46088" name="Group 46087"/>
          <p:cNvGrpSpPr/>
          <p:nvPr/>
        </p:nvGrpSpPr>
        <p:grpSpPr>
          <a:xfrm>
            <a:off x="3887788" y="1768475"/>
            <a:ext cx="1928812" cy="317500"/>
            <a:chOff x="2449" y="1114"/>
            <a:chExt cx="1215" cy="200"/>
          </a:xfrm>
        </p:grpSpPr>
        <p:sp>
          <p:nvSpPr>
            <p:cNvPr id="46085" name="Rectangle 46084"/>
            <p:cNvSpPr/>
            <p:nvPr/>
          </p:nvSpPr>
          <p:spPr bwMode="ltGray">
            <a:xfrm>
              <a:off x="2449" y="1114"/>
              <a:ext cx="87" cy="200"/>
            </a:xfrm>
            <a:prstGeom prst="rect">
              <a:avLst/>
            </a:prstGeom>
            <a:solidFill>
              <a:srgbClr val="FF5050">
                <a:alpha val="50000"/>
              </a:srgbClr>
            </a:solidFill>
            <a:ln>
              <a:noFill/>
              <a:miter lim="800000"/>
            </a:ln>
            <a:effectLst/>
          </p:spPr>
        </p:sp>
        <p:sp>
          <p:nvSpPr>
            <p:cNvPr id="46086" name="Rectangle 46085"/>
            <p:cNvSpPr/>
            <p:nvPr/>
          </p:nvSpPr>
          <p:spPr bwMode="ltGray">
            <a:xfrm>
              <a:off x="3577" y="1114"/>
              <a:ext cx="87" cy="200"/>
            </a:xfrm>
            <a:prstGeom prst="rect">
              <a:avLst/>
            </a:prstGeom>
            <a:solidFill>
              <a:srgbClr val="FF5050">
                <a:alpha val="50000"/>
              </a:srgbClr>
            </a:solidFill>
            <a:ln>
              <a:noFill/>
              <a:miter lim="800000"/>
            </a:ln>
            <a:effectLst/>
          </p:spPr>
        </p:sp>
        <p:sp>
          <p:nvSpPr>
            <p:cNvPr id="46087" name="Rectangle 46086"/>
            <p:cNvSpPr/>
            <p:nvPr/>
          </p:nvSpPr>
          <p:spPr bwMode="ltGray">
            <a:xfrm>
              <a:off x="2881" y="1114"/>
              <a:ext cx="367" cy="200"/>
            </a:xfrm>
            <a:prstGeom prst="rect">
              <a:avLst/>
            </a:prstGeom>
            <a:solidFill>
              <a:srgbClr val="FF5050">
                <a:alpha val="50000"/>
              </a:srgbClr>
            </a:solidFill>
            <a:ln>
              <a:noFill/>
              <a:miter lim="800000"/>
            </a:ln>
            <a:effectLst/>
          </p:spPr>
        </p:sp>
      </p:grpSp>
      <p:sp>
        <p:nvSpPr>
          <p:cNvPr id="46089" name="Rectangle 46088"/>
          <p:cNvSpPr/>
          <p:nvPr/>
        </p:nvSpPr>
        <p:spPr bwMode="blackWhite">
          <a:xfrm>
            <a:off x="922338" y="1674813"/>
            <a:ext cx="7315200" cy="1031875"/>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 pos="2452688" algn="l"/>
              </a:tabLst>
            </a:pPr>
            <a:r>
              <a:rPr sz="1800" b="1">
                <a:solidFill>
                  <a:srgbClr val="000000"/>
                </a:solidFill>
                <a:latin typeface="Courier New" pitchFamily="49" charset="0"/>
              </a:rPr>
              <a:t>SQL&gt; SELECT ename	||' '||'is a'||' '||job </a:t>
            </a:r>
          </a:p>
          <a:p>
            <a:pPr marL="0" lvl="0" indent="0" eaLnBrk="0" hangingPunct="0">
              <a:tabLst>
                <a:tab pos="1200150" algn="l"/>
                <a:tab pos="2452688" algn="l"/>
              </a:tabLst>
            </a:pPr>
            <a:r>
              <a:rPr sz="1800" b="1">
                <a:solidFill>
                  <a:srgbClr val="000000"/>
                </a:solidFill>
                <a:latin typeface="Courier New" pitchFamily="49" charset="0"/>
              </a:rPr>
              <a:t>  2	         	AS "Employee Details"</a:t>
            </a:r>
          </a:p>
          <a:p>
            <a:pPr marL="0" lvl="0" indent="0" eaLnBrk="0" hangingPunct="0">
              <a:tabLst>
                <a:tab pos="1200150" algn="l"/>
                <a:tab pos="2452688" algn="l"/>
              </a:tabLst>
            </a:pPr>
            <a:r>
              <a:rPr sz="1800" b="1">
                <a:solidFill>
                  <a:srgbClr val="000000"/>
                </a:solidFill>
                <a:latin typeface="Courier New" pitchFamily="49" charset="0"/>
              </a:rPr>
              <a:t>  3  FROM   emp;</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46088"/>
                                        </p:tgtEl>
                                        <p:attrNameLst>
                                          <p:attrName>style.visibility</p:attrName>
                                        </p:attrNameLst>
                                      </p:cBhvr>
                                      <p:to>
                                        <p:strVal val="visible"/>
                                      </p:to>
                                    </p:set>
                                    <p:animEffect transition="in" filter="wipe(left)">
                                      <p:cBhvr>
                                        <p:cTn id="7" dur="500"/>
                                        <p:tgtEl>
                                          <p:spTgt spid="46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8129"/>
          <p:cNvSpPr/>
          <p:nvPr/>
        </p:nvSpPr>
        <p:spPr bwMode="blackWhite">
          <a:xfrm>
            <a:off x="1016000" y="3495675"/>
            <a:ext cx="7315200" cy="2314575"/>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 </a:t>
            </a: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r>
              <a:rPr sz="1800" b="1">
                <a:solidFill>
                  <a:srgbClr val="000000"/>
                </a:solidFill>
                <a:latin typeface="Courier New" pitchFamily="49" charset="0"/>
              </a:rPr>
              <a:t>       </a:t>
            </a:r>
          </a:p>
        </p:txBody>
      </p:sp>
      <p:sp>
        <p:nvSpPr>
          <p:cNvPr id="48131" name="Title 48130"/>
          <p:cNvSpPr>
            <a:spLocks noGrp="1"/>
          </p:cNvSpPr>
          <p:nvPr>
            <p:ph type="title"/>
          </p:nvPr>
        </p:nvSpPr>
        <p:spPr>
          <a:xfrm>
            <a:off x="1295400" y="3048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Duplicate Rows</a:t>
            </a:r>
          </a:p>
        </p:txBody>
      </p:sp>
      <p:sp>
        <p:nvSpPr>
          <p:cNvPr id="48132" name="Text Placeholder 48131"/>
          <p:cNvSpPr>
            <a:spLocks noGrp="1"/>
          </p:cNvSpPr>
          <p:nvPr>
            <p:ph type="body" idx="1"/>
          </p:nvPr>
        </p:nvSpPr>
        <p:spPr>
          <a:xfrm>
            <a:off x="1371600" y="1143000"/>
            <a:ext cx="7385050" cy="1066800"/>
          </a:xfrm>
          <a:noFill/>
          <a:ln w="12700">
            <a:noFill/>
            <a:miter lim="800000"/>
          </a:ln>
          <a:effectLst>
            <a:outerShdw dist="53882" dir="2700000" algn="ctr">
              <a:schemeClr val="bg2"/>
            </a:outerShdw>
          </a:effectLst>
        </p:spPr>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0"/>
            <a:r>
              <a:t>The default display of queries is all rows, including duplicate rows.</a:t>
            </a:r>
          </a:p>
        </p:txBody>
      </p:sp>
      <p:sp>
        <p:nvSpPr>
          <p:cNvPr id="48133" name="Rectangle 48132"/>
          <p:cNvSpPr/>
          <p:nvPr/>
        </p:nvSpPr>
        <p:spPr bwMode="blackWhite">
          <a:xfrm>
            <a:off x="1030288" y="2374900"/>
            <a:ext cx="7289800" cy="70167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SQL&gt; SELECT deptno</a:t>
            </a:r>
          </a:p>
          <a:p>
            <a:pPr marL="0" lvl="0" indent="0" eaLnBrk="0" hangingPunct="0">
              <a:tabLst>
                <a:tab pos="1200150" algn="l"/>
              </a:tabLst>
            </a:pPr>
            <a:r>
              <a:rPr sz="1800" b="1">
                <a:solidFill>
                  <a:srgbClr val="000000"/>
                </a:solidFill>
                <a:latin typeface="Courier New" pitchFamily="49" charset="0"/>
              </a:rPr>
              <a:t>  2  FROM   emp;</a:t>
            </a:r>
          </a:p>
        </p:txBody>
      </p:sp>
      <p:grpSp>
        <p:nvGrpSpPr>
          <p:cNvPr id="48136" name="Group 48135"/>
          <p:cNvGrpSpPr/>
          <p:nvPr/>
        </p:nvGrpSpPr>
        <p:grpSpPr>
          <a:xfrm>
            <a:off x="2014538" y="4057650"/>
            <a:ext cx="404812" cy="866775"/>
            <a:chOff x="1269" y="2556"/>
            <a:chExt cx="255" cy="546"/>
          </a:xfrm>
        </p:grpSpPr>
        <p:sp>
          <p:nvSpPr>
            <p:cNvPr id="48134" name="Rectangle 48133"/>
            <p:cNvSpPr/>
            <p:nvPr/>
          </p:nvSpPr>
          <p:spPr bwMode="ltGray">
            <a:xfrm>
              <a:off x="1269" y="2556"/>
              <a:ext cx="255" cy="198"/>
            </a:xfrm>
            <a:prstGeom prst="rect">
              <a:avLst/>
            </a:prstGeom>
            <a:solidFill>
              <a:srgbClr val="FF5050">
                <a:alpha val="50000"/>
              </a:srgbClr>
            </a:solidFill>
            <a:ln>
              <a:noFill/>
              <a:miter lim="800000"/>
            </a:ln>
            <a:effectLst/>
          </p:spPr>
        </p:sp>
        <p:sp>
          <p:nvSpPr>
            <p:cNvPr id="48135" name="Rectangle 48134"/>
            <p:cNvSpPr/>
            <p:nvPr/>
          </p:nvSpPr>
          <p:spPr bwMode="ltGray">
            <a:xfrm>
              <a:off x="1269" y="2904"/>
              <a:ext cx="255" cy="198"/>
            </a:xfrm>
            <a:prstGeom prst="rect">
              <a:avLst/>
            </a:prstGeom>
            <a:solidFill>
              <a:srgbClr val="FF5050">
                <a:alpha val="50000"/>
              </a:srgbClr>
            </a:solidFill>
            <a:ln>
              <a:noFill/>
              <a:miter lim="800000"/>
            </a:ln>
            <a:effectLst/>
          </p:spPr>
        </p:sp>
      </p:grpSp>
      <p:sp>
        <p:nvSpPr>
          <p:cNvPr id="48137" name="Rectangle 48136"/>
          <p:cNvSpPr/>
          <p:nvPr/>
        </p:nvSpPr>
        <p:spPr bwMode="blackWhite">
          <a:xfrm>
            <a:off x="1028700" y="3508375"/>
            <a:ext cx="7289800" cy="2289175"/>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   DEPTNO</a:t>
            </a:r>
          </a:p>
          <a:p>
            <a:pPr lvl="0" eaLnBrk="0" hangingPunct="0"/>
            <a:r>
              <a:rPr sz="1800" b="1">
                <a:solidFill>
                  <a:srgbClr val="000000"/>
                </a:solidFill>
                <a:latin typeface="Courier New" pitchFamily="49" charset="0"/>
              </a:rPr>
              <a:t>---------</a:t>
            </a:r>
          </a:p>
          <a:p>
            <a:pPr lvl="0" eaLnBrk="0" hangingPunct="0"/>
            <a:r>
              <a:rPr sz="1800" b="1">
                <a:solidFill>
                  <a:srgbClr val="000000"/>
                </a:solidFill>
                <a:latin typeface="Courier New" pitchFamily="49" charset="0"/>
              </a:rPr>
              <a:t>       10</a:t>
            </a:r>
          </a:p>
          <a:p>
            <a:pPr lvl="0" eaLnBrk="0" hangingPunct="0"/>
            <a:r>
              <a:rPr sz="1800" b="1">
                <a:solidFill>
                  <a:srgbClr val="000000"/>
                </a:solidFill>
                <a:latin typeface="Courier New" pitchFamily="49" charset="0"/>
              </a:rPr>
              <a:t>       30</a:t>
            </a:r>
          </a:p>
          <a:p>
            <a:pPr lvl="0" eaLnBrk="0" hangingPunct="0"/>
            <a:r>
              <a:rPr sz="1800" b="1">
                <a:solidFill>
                  <a:srgbClr val="000000"/>
                </a:solidFill>
                <a:latin typeface="Courier New" pitchFamily="49" charset="0"/>
              </a:rPr>
              <a:t>       10</a:t>
            </a:r>
          </a:p>
          <a:p>
            <a:pPr lvl="0" eaLnBrk="0" hangingPunct="0"/>
            <a:r>
              <a:rPr sz="1800" b="1">
                <a:solidFill>
                  <a:srgbClr val="000000"/>
                </a:solidFill>
                <a:latin typeface="Courier New" pitchFamily="49" charset="0"/>
              </a:rPr>
              <a:t>       20</a:t>
            </a:r>
          </a:p>
          <a:p>
            <a:pPr lvl="0" eaLnBrk="0" hangingPunct="0"/>
            <a:r>
              <a:rPr sz="1800" b="1">
                <a:solidFill>
                  <a:srgbClr val="000000"/>
                </a:solidFill>
                <a:latin typeface="Courier New" pitchFamily="49" charset="0"/>
              </a:rPr>
              <a:t>...</a:t>
            </a:r>
          </a:p>
          <a:p>
            <a:pPr lvl="0" eaLnBrk="0" hangingPunct="0"/>
            <a:r>
              <a:rPr sz="1800" b="1">
                <a:solidFill>
                  <a:srgbClr val="000000"/>
                </a:solidFill>
                <a:latin typeface="Courier New" pitchFamily="49" charset="0"/>
              </a:rPr>
              <a:t>14 rows selected.       </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1" fill="hold" nodeType="clickEffect">
                                  <p:stCondLst>
                                    <p:cond delay="0"/>
                                  </p:stCondLst>
                                  <p:childTnLst>
                                    <p:set>
                                      <p:cBhvr>
                                        <p:cTn id="6" dur="1" fill="hold">
                                          <p:stCondLst>
                                            <p:cond delay="0"/>
                                          </p:stCondLst>
                                        </p:cTn>
                                        <p:tgtEl>
                                          <p:spTgt spid="48136"/>
                                        </p:tgtEl>
                                        <p:attrNameLst>
                                          <p:attrName>style.visibility</p:attrName>
                                        </p:attrNameLst>
                                      </p:cBhvr>
                                      <p:to>
                                        <p:strVal val="visible"/>
                                      </p:to>
                                    </p:set>
                                    <p:animEffect transition="in" filter="wipe(up)">
                                      <p:cBhvr>
                                        <p:cTn id="7" dur="500"/>
                                        <p:tgtEl>
                                          <p:spTgt spid="48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0177"/>
          <p:cNvSpPr/>
          <p:nvPr/>
        </p:nvSpPr>
        <p:spPr bwMode="blackWhite">
          <a:xfrm>
            <a:off x="935038" y="2374900"/>
            <a:ext cx="7289800" cy="70167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 </a:t>
            </a:r>
          </a:p>
        </p:txBody>
      </p:sp>
      <p:sp>
        <p:nvSpPr>
          <p:cNvPr id="50179" name="Rectangle 50178"/>
          <p:cNvSpPr/>
          <p:nvPr/>
        </p:nvSpPr>
        <p:spPr bwMode="blackWhite">
          <a:xfrm>
            <a:off x="909638" y="3527425"/>
            <a:ext cx="7315200" cy="1490663"/>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a:p>
            <a:pPr lvl="0" eaLnBrk="0" hangingPunct="0"/>
            <a:endParaRPr sz="1800" b="1">
              <a:solidFill>
                <a:srgbClr val="000000"/>
              </a:solidFill>
              <a:latin typeface="Courier New" pitchFamily="49" charset="0"/>
            </a:endParaRPr>
          </a:p>
        </p:txBody>
      </p:sp>
      <p:sp>
        <p:nvSpPr>
          <p:cNvPr id="50180" name="Title 50179"/>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Eliminating Duplicate Rows</a:t>
            </a:r>
          </a:p>
        </p:txBody>
      </p:sp>
      <p:sp>
        <p:nvSpPr>
          <p:cNvPr id="50181" name="Rectangle 50180"/>
          <p:cNvSpPr/>
          <p:nvPr/>
        </p:nvSpPr>
        <p:spPr>
          <a:xfrm>
            <a:off x="1447800" y="1371600"/>
            <a:ext cx="7369175" cy="904875"/>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22325" eaLnBrk="0" hangingPunct="0">
              <a:lnSpc>
                <a:spcPct val="95000"/>
              </a:lnSpc>
              <a:spcBef>
                <a:spcPct val="5000"/>
              </a:spcBef>
            </a:pPr>
            <a:r>
              <a:rPr sz="2800">
                <a:latin typeface="Arial" pitchFamily="34" charset="0"/>
              </a:rPr>
              <a:t>Eliminate duplicate rows by using the DISTINCT keyword in the SELECT clause.</a:t>
            </a:r>
          </a:p>
        </p:txBody>
      </p:sp>
      <p:grpSp>
        <p:nvGrpSpPr>
          <p:cNvPr id="50184" name="Group 50183"/>
          <p:cNvGrpSpPr/>
          <p:nvPr/>
        </p:nvGrpSpPr>
        <p:grpSpPr>
          <a:xfrm>
            <a:off x="971550" y="2403475"/>
            <a:ext cx="2871788" cy="2587625"/>
            <a:chOff x="612" y="1514"/>
            <a:chExt cx="1809" cy="1630"/>
          </a:xfrm>
        </p:grpSpPr>
        <p:sp>
          <p:nvSpPr>
            <p:cNvPr id="50182" name="Rectangle 50181"/>
            <p:cNvSpPr/>
            <p:nvPr/>
          </p:nvSpPr>
          <p:spPr bwMode="ltGray">
            <a:xfrm>
              <a:off x="1680" y="1514"/>
              <a:ext cx="741" cy="214"/>
            </a:xfrm>
            <a:prstGeom prst="rect">
              <a:avLst/>
            </a:prstGeom>
            <a:solidFill>
              <a:srgbClr val="FF5050">
                <a:alpha val="50000"/>
              </a:srgbClr>
            </a:solidFill>
            <a:ln>
              <a:noFill/>
              <a:miter lim="800000"/>
            </a:ln>
            <a:effectLst/>
          </p:spPr>
        </p:sp>
        <p:sp>
          <p:nvSpPr>
            <p:cNvPr id="50183" name="Rectangle 50182"/>
            <p:cNvSpPr/>
            <p:nvPr/>
          </p:nvSpPr>
          <p:spPr bwMode="ltGray">
            <a:xfrm>
              <a:off x="612" y="2256"/>
              <a:ext cx="864" cy="888"/>
            </a:xfrm>
            <a:prstGeom prst="rect">
              <a:avLst/>
            </a:prstGeom>
            <a:solidFill>
              <a:srgbClr val="FF5050">
                <a:alpha val="50000"/>
              </a:srgbClr>
            </a:solidFill>
            <a:ln>
              <a:noFill/>
              <a:miter lim="800000"/>
            </a:ln>
            <a:effectLst/>
          </p:spPr>
        </p:sp>
      </p:grpSp>
      <p:sp>
        <p:nvSpPr>
          <p:cNvPr id="50185" name="Rectangle 50184"/>
          <p:cNvSpPr/>
          <p:nvPr/>
        </p:nvSpPr>
        <p:spPr bwMode="blackWhite">
          <a:xfrm>
            <a:off x="941388" y="2362200"/>
            <a:ext cx="7315200" cy="727075"/>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SQL&gt; SELECT DISTINCT deptno</a:t>
            </a:r>
          </a:p>
          <a:p>
            <a:pPr marL="0" lvl="0" indent="0" eaLnBrk="0" hangingPunct="0">
              <a:tabLst>
                <a:tab pos="1200150" algn="l"/>
              </a:tabLst>
            </a:pPr>
            <a:r>
              <a:rPr sz="1800" b="1">
                <a:solidFill>
                  <a:srgbClr val="000000"/>
                </a:solidFill>
                <a:latin typeface="Courier New" pitchFamily="49" charset="0"/>
              </a:rPr>
              <a:t>  2  FROM   emp;</a:t>
            </a:r>
          </a:p>
        </p:txBody>
      </p:sp>
      <p:sp>
        <p:nvSpPr>
          <p:cNvPr id="50186" name="Rectangle 50185"/>
          <p:cNvSpPr/>
          <p:nvPr/>
        </p:nvSpPr>
        <p:spPr bwMode="blackWhite">
          <a:xfrm>
            <a:off x="941388" y="3540125"/>
            <a:ext cx="7289800" cy="1739900"/>
          </a:xfrm>
          <a:prstGeom prst="rect">
            <a:avLst/>
          </a:prstGeom>
          <a:noFill/>
          <a:ln>
            <a:noFill/>
            <a:miter lim="800000"/>
          </a:ln>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   DEPTNO</a:t>
            </a:r>
          </a:p>
          <a:p>
            <a:pPr lvl="0" eaLnBrk="0" hangingPunct="0"/>
            <a:r>
              <a:rPr sz="1800" b="1">
                <a:solidFill>
                  <a:srgbClr val="000000"/>
                </a:solidFill>
                <a:latin typeface="Courier New" pitchFamily="49" charset="0"/>
              </a:rPr>
              <a:t>---------</a:t>
            </a:r>
          </a:p>
          <a:p>
            <a:pPr lvl="0" eaLnBrk="0" hangingPunct="0"/>
            <a:r>
              <a:rPr sz="1800" b="1">
                <a:solidFill>
                  <a:srgbClr val="000000"/>
                </a:solidFill>
                <a:latin typeface="Courier New" pitchFamily="49" charset="0"/>
              </a:rPr>
              <a:t>       10</a:t>
            </a:r>
          </a:p>
          <a:p>
            <a:pPr lvl="0" eaLnBrk="0" hangingPunct="0"/>
            <a:r>
              <a:rPr sz="1800" b="1">
                <a:solidFill>
                  <a:srgbClr val="000000"/>
                </a:solidFill>
                <a:latin typeface="Courier New" pitchFamily="49" charset="0"/>
              </a:rPr>
              <a:t>       20</a:t>
            </a:r>
          </a:p>
          <a:p>
            <a:pPr lvl="0" eaLnBrk="0" hangingPunct="0"/>
            <a:r>
              <a:rPr sz="1800" b="1">
                <a:solidFill>
                  <a:srgbClr val="000000"/>
                </a:solidFill>
                <a:latin typeface="Courier New" pitchFamily="49" charset="0"/>
              </a:rPr>
              <a:t>       30</a:t>
            </a:r>
          </a:p>
          <a:p>
            <a:pPr lvl="0" eaLnBrk="0" hangingPunct="0"/>
            <a:r>
              <a:rPr sz="1800" b="1">
                <a:solidFill>
                  <a:srgbClr val="000000"/>
                </a:solidFill>
                <a:latin typeface="Courier New" pitchFamily="49" charset="0"/>
              </a:rPr>
              <a:t>       </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1" fill="hold" nodeType="clickEffect">
                                  <p:stCondLst>
                                    <p:cond delay="0"/>
                                  </p:stCondLst>
                                  <p:childTnLst>
                                    <p:set>
                                      <p:cBhvr>
                                        <p:cTn id="6" dur="1" fill="hold">
                                          <p:stCondLst>
                                            <p:cond delay="0"/>
                                          </p:stCondLst>
                                        </p:cTn>
                                        <p:tgtEl>
                                          <p:spTgt spid="50184"/>
                                        </p:tgtEl>
                                        <p:attrNameLst>
                                          <p:attrName>style.visibility</p:attrName>
                                        </p:attrNameLst>
                                      </p:cBhvr>
                                      <p:to>
                                        <p:strVal val="visible"/>
                                      </p:to>
                                    </p:set>
                                    <p:animEffect transition="in" filter="wipe(up)">
                                      <p:cBhvr>
                                        <p:cTn id="7" dur="500"/>
                                        <p:tgtEl>
                                          <p:spTgt spid="50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60417"/>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Displaying Table Structure</a:t>
            </a:r>
          </a:p>
        </p:txBody>
      </p:sp>
      <p:sp>
        <p:nvSpPr>
          <p:cNvPr id="60419" name="Text Placeholder 60418"/>
          <p:cNvSpPr>
            <a:spLocks noGrp="1"/>
          </p:cNvSpPr>
          <p:nvPr>
            <p:ph type="body" idx="1"/>
          </p:nvPr>
        </p:nvSpPr>
        <p:spPr>
          <a:xfrm>
            <a:off x="1371600" y="1371600"/>
            <a:ext cx="7451725" cy="1554163"/>
          </a:xfrm>
          <a:noFill/>
          <a:ln w="12700">
            <a:noFill/>
            <a:miter lim="800000"/>
          </a:ln>
          <a:effectLst>
            <a:outerShdw dist="53882" dir="2700000" algn="ctr">
              <a:schemeClr val="bg2"/>
            </a:outerShdw>
          </a:effectLst>
        </p:spPr>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0"/>
            <a:r>
              <a:t>Use the SQL*Plus DESCRIBE command to display the structure of a table.</a:t>
            </a:r>
          </a:p>
        </p:txBody>
      </p:sp>
      <p:sp>
        <p:nvSpPr>
          <p:cNvPr id="60420" name="Rectangle 60419"/>
          <p:cNvSpPr/>
          <p:nvPr/>
        </p:nvSpPr>
        <p:spPr bwMode="blackWhite">
          <a:xfrm>
            <a:off x="935038" y="3003550"/>
            <a:ext cx="7289800" cy="39687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DESC[RIBE] </a:t>
            </a:r>
            <a:r>
              <a:rPr sz="1800" b="1" i="1">
                <a:solidFill>
                  <a:srgbClr val="000000"/>
                </a:solidFill>
                <a:latin typeface="Courier New" pitchFamily="49" charset="0"/>
              </a:rPr>
              <a:t>tablename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62465"/>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Displaying Table Structure</a:t>
            </a:r>
          </a:p>
        </p:txBody>
      </p:sp>
      <p:sp>
        <p:nvSpPr>
          <p:cNvPr id="62467" name="Rectangle 62466"/>
          <p:cNvSpPr/>
          <p:nvPr/>
        </p:nvSpPr>
        <p:spPr bwMode="blackWhite">
          <a:xfrm>
            <a:off x="1017588" y="1830388"/>
            <a:ext cx="7050087" cy="396875"/>
          </a:xfrm>
          <a:prstGeom prst="rect">
            <a:avLst/>
          </a:prstGeom>
          <a:solidFill>
            <a:srgbClr val="FFFFCC"/>
          </a:solidFill>
          <a:ln w="25400">
            <a:solidFill>
              <a:prstClr val="black"/>
            </a:solidFill>
            <a:miter lim="800000"/>
          </a:ln>
          <a:effectLst>
            <a:outerShdw dist="89803" dir="2700000" algn="ctr">
              <a:srgbClr val="000000"/>
            </a:outerShdw>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eaLnBrk="0" hangingPunct="0">
              <a:tabLst>
                <a:tab pos="1200150" algn="l"/>
              </a:tabLst>
            </a:pPr>
            <a:r>
              <a:rPr sz="1800" b="1">
                <a:solidFill>
                  <a:srgbClr val="000000"/>
                </a:solidFill>
                <a:latin typeface="Courier New" pitchFamily="49" charset="0"/>
              </a:rPr>
              <a:t>SQL&gt; DESCRIBE dept</a:t>
            </a:r>
          </a:p>
        </p:txBody>
      </p:sp>
      <p:sp>
        <p:nvSpPr>
          <p:cNvPr id="62468" name="Rectangle 62467"/>
          <p:cNvSpPr/>
          <p:nvPr/>
        </p:nvSpPr>
        <p:spPr bwMode="blackWhite">
          <a:xfrm>
            <a:off x="1047750" y="2541588"/>
            <a:ext cx="6988175" cy="1490662"/>
          </a:xfrm>
          <a:prstGeom prst="rect">
            <a:avLst/>
          </a:prstGeom>
          <a:solidFill>
            <a:srgbClr val="DDDDDD"/>
          </a:solidFill>
          <a:ln w="25400">
            <a:solidFill>
              <a:prstClr val="black"/>
            </a:solidFill>
            <a:miter lim="800000"/>
          </a:ln>
          <a:effectLst>
            <a:outerShdw dist="89803" dir="2700000" algn="ctr">
              <a:srgbClr val="000000"/>
            </a:outerShdw>
          </a:effectLst>
        </p:spPr>
        <p:txBody>
          <a:bodyPr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eaLnBrk="0" hangingPunct="0"/>
            <a:r>
              <a:rPr sz="1800" b="1">
                <a:solidFill>
                  <a:srgbClr val="000000"/>
                </a:solidFill>
                <a:latin typeface="Courier New" pitchFamily="49" charset="0"/>
              </a:rPr>
              <a:t>Name              Null?    Type</a:t>
            </a:r>
          </a:p>
          <a:p>
            <a:pPr lvl="0" eaLnBrk="0" hangingPunct="0"/>
            <a:r>
              <a:rPr sz="1800" b="1">
                <a:solidFill>
                  <a:srgbClr val="000000"/>
                </a:solidFill>
                <a:latin typeface="Courier New" pitchFamily="49" charset="0"/>
              </a:rPr>
              <a:t>----------------- -------- ------------</a:t>
            </a:r>
          </a:p>
          <a:p>
            <a:pPr lvl="0" eaLnBrk="0" hangingPunct="0"/>
            <a:r>
              <a:rPr sz="1800" b="1">
                <a:solidFill>
                  <a:srgbClr val="000000"/>
                </a:solidFill>
                <a:latin typeface="Courier New" pitchFamily="49" charset="0"/>
              </a:rPr>
              <a:t>DEPTNO            NOT NULL NUMBER(2)</a:t>
            </a:r>
          </a:p>
          <a:p>
            <a:pPr lvl="0" eaLnBrk="0" hangingPunct="0"/>
            <a:r>
              <a:rPr sz="1800" b="1">
                <a:solidFill>
                  <a:srgbClr val="000000"/>
                </a:solidFill>
                <a:latin typeface="Courier New" pitchFamily="49" charset="0"/>
              </a:rPr>
              <a:t>DNAME                      VARCHAR2(14)</a:t>
            </a:r>
          </a:p>
          <a:p>
            <a:pPr lvl="0" eaLnBrk="0" hangingPunct="0"/>
            <a:r>
              <a:rPr sz="1800" b="1">
                <a:solidFill>
                  <a:srgbClr val="000000"/>
                </a:solidFill>
                <a:latin typeface="Courier New" pitchFamily="49" charset="0"/>
              </a:rPr>
              <a:t>LOC                        VARCHAR2(13)</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72705"/>
          <p:cNvSpPr>
            <a:spLocks noGrp="1"/>
          </p:cNvSpPr>
          <p:nvPr>
            <p:ph type="title"/>
          </p:nvPr>
        </p:nvSpPr>
        <p:spPr>
          <a:xfrm>
            <a:off x="1455738" y="609600"/>
            <a:ext cx="7451725" cy="1143000"/>
          </a:xfrm>
          <a:noFill/>
          <a:ln w="12700">
            <a:noFill/>
            <a:miter lim="800000"/>
          </a:ln>
          <a:effectLst>
            <a:outerShdw dist="53882" dir="2700000" algn="ctr">
              <a:schemeClr val="bg2"/>
            </a:outerShdw>
          </a:effectLst>
        </p:spPr>
        <p:txBody>
          <a:bodyPr vert="horz" wrap="square" lIns="92075" tIns="46038" rIns="92075" bIns="46038"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1" i="0" u="none" baseline="0">
                <a:solidFill>
                  <a:schemeClr val="tx2"/>
                </a:solidFill>
                <a:effectLst/>
                <a:latin typeface="Times New Roman" pitchFamily="18" charset="0"/>
              </a:defRPr>
            </a:lvl1pPr>
          </a:lstStyle>
          <a:p>
            <a:pPr lvl="0"/>
            <a:r>
              <a:t>Practice Overview</a:t>
            </a:r>
          </a:p>
        </p:txBody>
      </p:sp>
      <p:sp>
        <p:nvSpPr>
          <p:cNvPr id="72707" name="Text Placeholder 72706"/>
          <p:cNvSpPr>
            <a:spLocks noGrp="1"/>
          </p:cNvSpPr>
          <p:nvPr>
            <p:ph type="body" idx="1"/>
          </p:nvPr>
        </p:nvSpPr>
        <p:spPr>
          <a:xfrm>
            <a:off x="1393825" y="1828800"/>
            <a:ext cx="7750175" cy="2484438"/>
          </a:xfrm>
          <a:ln/>
        </p:spPr>
        <p:style>
          <a:lnRef idx="2">
            <a:schemeClr val="dk1"/>
          </a:lnRef>
          <a:fillRef idx="1">
            <a:schemeClr val="lt1"/>
          </a:fillRef>
          <a:effectRef idx="0">
            <a:schemeClr val="dk1"/>
          </a:effectRef>
          <a:fontRef idx="minor">
            <a:schemeClr val="dk1"/>
          </a:fontRef>
        </p:style>
        <p:txBody>
          <a:bodyPr vert="horz" wrap="square" lIns="92075" tIns="46038" rIns="92075" bIns="46038" anchor="t" anchorCtr="0">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20000"/>
              </a:spcBef>
              <a:spcAft>
                <a:spcPct val="0"/>
              </a:spcAft>
              <a:buClrTx/>
              <a:buSzTx/>
              <a:buFontTx/>
              <a:buChar char="•"/>
              <a:defRPr kumimoji="0" lang="en-US" altLang="en-US" sz="2000" b="0" i="0" u="none" baseline="0">
                <a:solidFill>
                  <a:schemeClr val="tx1"/>
                </a:solidFill>
                <a:effectLst/>
                <a:latin typeface="Arial" pitchFamily="34" charset="0"/>
              </a:defRPr>
            </a:lvl5pPr>
          </a:lstStyle>
          <a:p>
            <a:pPr lvl="1"/>
            <a:r>
              <a:rPr dirty="0"/>
              <a:t>Selecting all data from different tables</a:t>
            </a:r>
          </a:p>
          <a:p>
            <a:pPr lvl="1"/>
            <a:r>
              <a:rPr dirty="0"/>
              <a:t>Describing the structure of tables</a:t>
            </a:r>
          </a:p>
          <a:p>
            <a:pPr lvl="1"/>
            <a:r>
              <a:rPr dirty="0"/>
              <a:t>Performing arithmetic calculations and specifying column names</a:t>
            </a:r>
          </a:p>
          <a:p>
            <a:pPr lvl="1"/>
            <a:r>
              <a:rPr dirty="0"/>
              <a:t>Using SQL*Plus editor</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cu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0.06.14"/>
  <p:tag name="AS_TITLE" val="Aspose.Slides for .NET 2.0"/>
  <p:tag name="AS_VERSION" val="20.6"/>
</p:tagLst>
</file>

<file path=ppt/theme/theme1.xml><?xml version="1.0" encoding="utf-8"?>
<a:theme xmlns:a="http://schemas.openxmlformats.org/drawingml/2006/main" name="GOLDTUBE">
  <a:themeElements>
    <a:clrScheme name="GOLDTUBE 8">
      <a:dk1>
        <a:srgbClr val="FFFFFF"/>
      </a:dk1>
      <a:lt1>
        <a:srgbClr val="000000"/>
      </a:lt1>
      <a:dk2>
        <a:srgbClr val="FFFFFF"/>
      </a:dk2>
      <a:lt2>
        <a:srgbClr val="969696"/>
      </a:lt2>
      <a:accent1>
        <a:srgbClr val="00CC99"/>
      </a:accent1>
      <a:accent2>
        <a:srgbClr val="3333CC"/>
      </a:accent2>
      <a:accent3>
        <a:srgbClr val="9BBB59"/>
      </a:accent3>
      <a:accent4>
        <a:srgbClr val="8064A2"/>
      </a:accent4>
      <a:accent5>
        <a:srgbClr val="4BACC6"/>
      </a:accent5>
      <a:accent6>
        <a:srgbClr val="F79646"/>
      </a:accent6>
      <a:hlink>
        <a:srgbClr val="FFCC66"/>
      </a:hlink>
      <a:folHlink>
        <a:srgbClr val="969696"/>
      </a:folHlink>
    </a:clrScheme>
    <a:fontScheme name="GOLDTUBE">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GOLDTUBE 1">
        <a:dk1>
          <a:srgbClr val="000000"/>
        </a:dk1>
        <a:lt1>
          <a:srgbClr val="FFFFFF"/>
        </a:lt1>
        <a:dk2>
          <a:srgbClr val="0000FF"/>
        </a:dk2>
        <a:lt2>
          <a:srgbClr val="FFFF00"/>
        </a:lt2>
        <a:accent1>
          <a:srgbClr val="FF9900"/>
        </a:accent1>
        <a:accent2>
          <a:srgbClr val="00FFFF"/>
        </a:accent2>
        <a:accent3>
          <a:srgbClr val="9BBB59"/>
        </a:accent3>
        <a:accent4>
          <a:srgbClr val="8064A2"/>
        </a:accent4>
        <a:accent5>
          <a:srgbClr val="4BACC6"/>
        </a:accent5>
        <a:accent6>
          <a:srgbClr val="F79646"/>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GOLDTUBE 2">
        <a:dk1>
          <a:srgbClr val="000000"/>
        </a:dk1>
        <a:lt1>
          <a:srgbClr val="FFFFFF"/>
        </a:lt1>
        <a:dk2>
          <a:srgbClr val="000000"/>
        </a:dk2>
        <a:lt2>
          <a:srgbClr val="808080"/>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OLDTUBE 3">
        <a:dk1>
          <a:srgbClr val="000000"/>
        </a:dk1>
        <a:lt1>
          <a:srgbClr val="FFFFFF"/>
        </a:lt1>
        <a:dk2>
          <a:srgbClr val="000000"/>
        </a:dk2>
        <a:lt2>
          <a:srgbClr val="333333"/>
        </a:lt2>
        <a:accent1>
          <a:srgbClr val="DDDDDD"/>
        </a:accent1>
        <a:accent2>
          <a:srgbClr val="808080"/>
        </a:accent2>
        <a:accent3>
          <a:srgbClr val="9BBB59"/>
        </a:accent3>
        <a:accent4>
          <a:srgbClr val="8064A2"/>
        </a:accent4>
        <a:accent5>
          <a:srgbClr val="4BACC6"/>
        </a:accent5>
        <a:accent6>
          <a:srgbClr val="F79646"/>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OLDTUBE 4">
        <a:dk1>
          <a:srgbClr val="000000"/>
        </a:dk1>
        <a:lt1>
          <a:srgbClr val="FFFFCC"/>
        </a:lt1>
        <a:dk2>
          <a:srgbClr val="808000"/>
        </a:dk2>
        <a:lt2>
          <a:srgbClr val="666633"/>
        </a:lt2>
        <a:accent1>
          <a:srgbClr val="339933"/>
        </a:accent1>
        <a:accent2>
          <a:srgbClr val="800000"/>
        </a:accent2>
        <a:accent3>
          <a:srgbClr val="9BBB59"/>
        </a:accent3>
        <a:accent4>
          <a:srgbClr val="8064A2"/>
        </a:accent4>
        <a:accent5>
          <a:srgbClr val="4BACC6"/>
        </a:accent5>
        <a:accent6>
          <a:srgbClr val="F79646"/>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OLDTUBE 5">
        <a:dk1>
          <a:srgbClr val="000000"/>
        </a:dk1>
        <a:lt1>
          <a:srgbClr val="FFFFFF"/>
        </a:lt1>
        <a:dk2>
          <a:srgbClr val="000000"/>
        </a:dk2>
        <a:lt2>
          <a:srgbClr val="808080"/>
        </a:lt2>
        <a:accent1>
          <a:srgbClr val="FFCC66"/>
        </a:accent1>
        <a:accent2>
          <a:srgbClr val="0000FF"/>
        </a:accent2>
        <a:accent3>
          <a:srgbClr val="9BBB59"/>
        </a:accent3>
        <a:accent4>
          <a:srgbClr val="8064A2"/>
        </a:accent4>
        <a:accent5>
          <a:srgbClr val="4BACC6"/>
        </a:accent5>
        <a:accent6>
          <a:srgbClr val="F79646"/>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OLDTUBE 6">
        <a:dk1>
          <a:srgbClr val="000000"/>
        </a:dk1>
        <a:lt1>
          <a:srgbClr val="FFFFFF"/>
        </a:lt1>
        <a:dk2>
          <a:srgbClr val="000000"/>
        </a:dk2>
        <a:lt2>
          <a:srgbClr val="808080"/>
        </a:lt2>
        <a:accent1>
          <a:srgbClr val="C0C0C0"/>
        </a:accent1>
        <a:accent2>
          <a:srgbClr val="0066FF"/>
        </a:accent2>
        <a:accent3>
          <a:srgbClr val="9BBB59"/>
        </a:accent3>
        <a:accent4>
          <a:srgbClr val="8064A2"/>
        </a:accent4>
        <a:accent5>
          <a:srgbClr val="4BACC6"/>
        </a:accent5>
        <a:accent6>
          <a:srgbClr val="F79646"/>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GOLDTUBE 7">
        <a:dk1>
          <a:srgbClr val="000000"/>
        </a:dk1>
        <a:lt1>
          <a:srgbClr val="FFFFFF"/>
        </a:lt1>
        <a:dk2>
          <a:srgbClr val="000000"/>
        </a:dk2>
        <a:lt2>
          <a:srgbClr val="808080"/>
        </a:lt2>
        <a:accent1>
          <a:srgbClr val="3399FF"/>
        </a:accent1>
        <a:accent2>
          <a:srgbClr val="99FFCC"/>
        </a:accent2>
        <a:accent3>
          <a:srgbClr val="9BBB59"/>
        </a:accent3>
        <a:accent4>
          <a:srgbClr val="8064A2"/>
        </a:accent4>
        <a:accent5>
          <a:srgbClr val="4BACC6"/>
        </a:accent5>
        <a:accent6>
          <a:srgbClr val="F79646"/>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Arial">
      <a:majorFont>
        <a:latin typeface="Arial"/>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Arial">
      <a:majorFont>
        <a:latin typeface="Arial"/>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3761</TotalTime>
  <Words>3865</Words>
  <Application>Microsoft Macintosh PowerPoint</Application>
  <PresentationFormat>On-screen Show (4:3)</PresentationFormat>
  <Paragraphs>540</Paragraphs>
  <Slides>26</Slides>
  <Notes>26</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2" baseType="lpstr">
      <vt:lpstr>Arial</vt:lpstr>
      <vt:lpstr>Courier New</vt:lpstr>
      <vt:lpstr>Times New Roman</vt:lpstr>
      <vt:lpstr>Times</vt:lpstr>
      <vt:lpstr>GOLDTUBE</vt:lpstr>
      <vt:lpstr>Document</vt:lpstr>
      <vt:lpstr>Writing Basic  SQL Statements</vt:lpstr>
      <vt:lpstr>Objectives</vt:lpstr>
      <vt:lpstr>Capabilities of SQL SELECT Statements</vt:lpstr>
      <vt:lpstr>Basic SELECT Statement</vt:lpstr>
      <vt:lpstr>Writing SQL Statements</vt:lpstr>
      <vt:lpstr>Selecting All Columns</vt:lpstr>
      <vt:lpstr>Selecting Specific Columns</vt:lpstr>
      <vt:lpstr>Column Heading Defaults</vt:lpstr>
      <vt:lpstr>Arithmetic Expressions</vt:lpstr>
      <vt:lpstr>Using Arithmetic Operators</vt:lpstr>
      <vt:lpstr>Operator Precedence</vt:lpstr>
      <vt:lpstr>Operator Precedence</vt:lpstr>
      <vt:lpstr>Using Parentheses</vt:lpstr>
      <vt:lpstr>Defining a Null Value</vt:lpstr>
      <vt:lpstr>Null Values  in Arithmetic Expressions</vt:lpstr>
      <vt:lpstr>Defining a Column Alias</vt:lpstr>
      <vt:lpstr>Using Column Aliases</vt:lpstr>
      <vt:lpstr>Concatenation Operator</vt:lpstr>
      <vt:lpstr>Using the Concatenation Operator</vt:lpstr>
      <vt:lpstr>Literal Character Strings</vt:lpstr>
      <vt:lpstr>Using Literal Character Strings</vt:lpstr>
      <vt:lpstr>Duplicate Rows</vt:lpstr>
      <vt:lpstr>Eliminating Duplicate Rows</vt:lpstr>
      <vt:lpstr>Displaying Table Structure</vt:lpstr>
      <vt:lpstr>Displaying Table Structure</vt:lpstr>
      <vt:lpstr>Practice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&lt;Lesson Title&gt;</dc:title>
  <cp:lastModifiedBy>Aleena Ahmad</cp:lastModifiedBy>
  <cp:revision>334</cp:revision>
  <cp:lastPrinted>1998-06-30T18:28:36Z</cp:lastPrinted>
  <dcterms:created xsi:type="dcterms:W3CDTF">1995-06-17T23:31:02Z</dcterms:created>
  <dcterms:modified xsi:type="dcterms:W3CDTF">2021-09-30T07:45:36Z</dcterms:modified>
</cp:coreProperties>
</file>