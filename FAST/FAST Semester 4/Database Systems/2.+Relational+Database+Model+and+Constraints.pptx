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handoutMasterIdLst>
    <p:handoutMasterId r:id="rId54"/>
  </p:handoutMasterIdLst>
  <p:sldIdLst>
    <p:sldId id="256" r:id="rId2"/>
    <p:sldId id="268" r:id="rId3"/>
    <p:sldId id="270" r:id="rId4"/>
    <p:sldId id="269" r:id="rId5"/>
    <p:sldId id="271" r:id="rId6"/>
    <p:sldId id="272" r:id="rId7"/>
    <p:sldId id="302" r:id="rId8"/>
    <p:sldId id="274" r:id="rId9"/>
    <p:sldId id="273" r:id="rId10"/>
    <p:sldId id="275" r:id="rId11"/>
    <p:sldId id="303" r:id="rId12"/>
    <p:sldId id="276" r:id="rId13"/>
    <p:sldId id="304" r:id="rId14"/>
    <p:sldId id="299" r:id="rId15"/>
    <p:sldId id="305" r:id="rId16"/>
    <p:sldId id="277" r:id="rId17"/>
    <p:sldId id="280" r:id="rId18"/>
    <p:sldId id="281" r:id="rId19"/>
    <p:sldId id="282" r:id="rId20"/>
    <p:sldId id="283" r:id="rId21"/>
    <p:sldId id="284" r:id="rId22"/>
    <p:sldId id="266" r:id="rId23"/>
    <p:sldId id="285" r:id="rId24"/>
    <p:sldId id="316" r:id="rId25"/>
    <p:sldId id="286" r:id="rId26"/>
    <p:sldId id="257" r:id="rId27"/>
    <p:sldId id="261" r:id="rId28"/>
    <p:sldId id="287" r:id="rId29"/>
    <p:sldId id="289" r:id="rId30"/>
    <p:sldId id="262" r:id="rId31"/>
    <p:sldId id="290" r:id="rId32"/>
    <p:sldId id="301" r:id="rId33"/>
    <p:sldId id="293" r:id="rId34"/>
    <p:sldId id="292" r:id="rId35"/>
    <p:sldId id="263" r:id="rId36"/>
    <p:sldId id="300" r:id="rId37"/>
    <p:sldId id="294" r:id="rId38"/>
    <p:sldId id="295" r:id="rId39"/>
    <p:sldId id="296" r:id="rId40"/>
    <p:sldId id="309" r:id="rId41"/>
    <p:sldId id="310" r:id="rId42"/>
    <p:sldId id="311" r:id="rId43"/>
    <p:sldId id="306" r:id="rId44"/>
    <p:sldId id="313" r:id="rId45"/>
    <p:sldId id="307" r:id="rId46"/>
    <p:sldId id="314" r:id="rId47"/>
    <p:sldId id="315" r:id="rId48"/>
    <p:sldId id="308" r:id="rId49"/>
    <p:sldId id="297" r:id="rId50"/>
    <p:sldId id="260" r:id="rId51"/>
    <p:sldId id="264"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797" autoAdjust="0"/>
  </p:normalViewPr>
  <p:slideViewPr>
    <p:cSldViewPr>
      <p:cViewPr varScale="1">
        <p:scale>
          <a:sx n="72" d="100"/>
          <a:sy n="72" d="100"/>
        </p:scale>
        <p:origin x="1762"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45A2E11-B312-4D97-9805-E772B49A671C}" type="datetimeFigureOut">
              <a:rPr lang="en-US" smtClean="0"/>
              <a:t>8/17/2015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CCCDB90-785F-43FE-A6C3-34BE525D4255}" type="slidenum">
              <a:rPr lang="en-US" smtClean="0"/>
              <a:t>‹#›</a:t>
            </a:fld>
            <a:endParaRPr lang="en-US"/>
          </a:p>
        </p:txBody>
      </p:sp>
    </p:spTree>
    <p:extLst>
      <p:ext uri="{BB962C8B-B14F-4D97-AF65-F5344CB8AC3E}">
        <p14:creationId xmlns:p14="http://schemas.microsoft.com/office/powerpoint/2010/main" val="3488249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41D3E4-5F82-4AA7-85BC-B3C94DF7179C}" type="datetimeFigureOut">
              <a:rPr lang="en-US" smtClean="0"/>
              <a:t>8/17/2015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18E2F3-1254-46D1-88AF-1493AB02C426}" type="slidenum">
              <a:rPr lang="en-US" smtClean="0"/>
              <a:t>‹#›</a:t>
            </a:fld>
            <a:endParaRPr lang="en-US"/>
          </a:p>
        </p:txBody>
      </p:sp>
    </p:spTree>
    <p:extLst>
      <p:ext uri="{BB962C8B-B14F-4D97-AF65-F5344CB8AC3E}">
        <p14:creationId xmlns:p14="http://schemas.microsoft.com/office/powerpoint/2010/main" val="221676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err="1" smtClean="0">
                <a:solidFill>
                  <a:schemeClr val="tx1"/>
                </a:solidFill>
                <a:latin typeface="+mn-lt"/>
                <a:ea typeface="+mn-ea"/>
                <a:cs typeface="+mn-cs"/>
              </a:rPr>
              <a:t>Codd</a:t>
            </a:r>
            <a:r>
              <a:rPr lang="en-GB" sz="1200" b="0" i="0" u="none" strike="noStrike" kern="1200" baseline="0" dirty="0" smtClean="0">
                <a:solidFill>
                  <a:schemeClr val="tx1"/>
                </a:solidFill>
                <a:latin typeface="+mn-lt"/>
                <a:ea typeface="+mn-ea"/>
                <a:cs typeface="+mn-cs"/>
              </a:rPr>
              <a:t> proposed the relational data model in 1970. At that time most database </a:t>
            </a:r>
            <a:r>
              <a:rPr lang="en-GB" sz="1200" b="0" i="0" u="none" strike="noStrike" kern="1200" baseline="0" dirty="0" smtClean="0">
                <a:solidFill>
                  <a:schemeClr val="tx1"/>
                </a:solidFill>
                <a:latin typeface="+mn-lt"/>
                <a:ea typeface="+mn-ea"/>
                <a:cs typeface="+mn-cs"/>
              </a:rPr>
              <a:t>systems were </a:t>
            </a:r>
            <a:r>
              <a:rPr lang="en-GB" sz="1200" b="0" i="0" u="none" strike="noStrike" kern="1200" baseline="0" dirty="0" smtClean="0">
                <a:solidFill>
                  <a:schemeClr val="tx1"/>
                </a:solidFill>
                <a:latin typeface="+mn-lt"/>
                <a:ea typeface="+mn-ea"/>
                <a:cs typeface="+mn-cs"/>
              </a:rPr>
              <a:t>based on one of two older data models (the hierarchical model and the </a:t>
            </a:r>
            <a:r>
              <a:rPr lang="en-GB" sz="1200" b="0" i="0" u="none" strike="noStrike" kern="1200" baseline="0" dirty="0" smtClean="0">
                <a:solidFill>
                  <a:schemeClr val="tx1"/>
                </a:solidFill>
                <a:latin typeface="+mn-lt"/>
                <a:ea typeface="+mn-ea"/>
                <a:cs typeface="+mn-cs"/>
              </a:rPr>
              <a:t>network model</a:t>
            </a:r>
            <a:r>
              <a:rPr lang="en-GB" sz="1200" b="0" i="0" u="none" strike="noStrike" kern="1200" baseline="0" dirty="0" smtClean="0">
                <a:solidFill>
                  <a:schemeClr val="tx1"/>
                </a:solidFill>
                <a:latin typeface="+mn-lt"/>
                <a:ea typeface="+mn-ea"/>
                <a:cs typeface="+mn-cs"/>
              </a:rPr>
              <a:t>); the relational model revolutionized the database and largely </a:t>
            </a:r>
            <a:r>
              <a:rPr lang="en-GB" sz="1200" b="0" i="0" u="none" strike="noStrike" kern="1200" baseline="0" dirty="0" smtClean="0">
                <a:solidFill>
                  <a:schemeClr val="tx1"/>
                </a:solidFill>
                <a:latin typeface="+mn-lt"/>
                <a:ea typeface="+mn-ea"/>
                <a:cs typeface="+mn-cs"/>
              </a:rPr>
              <a:t>supplanted these </a:t>
            </a:r>
            <a:r>
              <a:rPr lang="en-GB" sz="1200" b="0" i="0" u="none" strike="noStrike" kern="1200" baseline="0" dirty="0" smtClean="0">
                <a:solidFill>
                  <a:schemeClr val="tx1"/>
                </a:solidFill>
                <a:latin typeface="+mn-lt"/>
                <a:ea typeface="+mn-ea"/>
                <a:cs typeface="+mn-cs"/>
              </a:rPr>
              <a:t>earlier models. </a:t>
            </a:r>
          </a:p>
          <a:p>
            <a:endParaRPr lang="en-GB" sz="1200" b="0" i="0" u="none" strike="noStrike" kern="1200" baseline="0" dirty="0" smtClean="0">
              <a:solidFill>
                <a:schemeClr val="tx1"/>
              </a:solidFill>
              <a:latin typeface="+mn-lt"/>
              <a:ea typeface="+mn-ea"/>
              <a:cs typeface="+mn-cs"/>
            </a:endParaRPr>
          </a:p>
          <a:p>
            <a:r>
              <a:rPr lang="en-GB" sz="1200" b="0" i="0" u="none" strike="noStrike" kern="1200" baseline="0" dirty="0" smtClean="0">
                <a:solidFill>
                  <a:schemeClr val="tx1"/>
                </a:solidFill>
                <a:latin typeface="+mn-lt"/>
                <a:ea typeface="+mn-ea"/>
                <a:cs typeface="+mn-cs"/>
              </a:rPr>
              <a:t>Today, the relational model is by far the dominant data model and is the foundation for </a:t>
            </a:r>
            <a:r>
              <a:rPr lang="en-GB" sz="1200" b="0" i="0" u="none" strike="noStrike" kern="1200" baseline="0" dirty="0" smtClean="0">
                <a:solidFill>
                  <a:schemeClr val="tx1"/>
                </a:solidFill>
                <a:latin typeface="+mn-lt"/>
                <a:ea typeface="+mn-ea"/>
                <a:cs typeface="+mn-cs"/>
              </a:rPr>
              <a:t>the leading </a:t>
            </a:r>
            <a:r>
              <a:rPr lang="en-GB" sz="1200" b="0" i="0" u="none" strike="noStrike" kern="1200" baseline="0" dirty="0" smtClean="0">
                <a:solidFill>
                  <a:schemeClr val="tx1"/>
                </a:solidFill>
                <a:latin typeface="+mn-lt"/>
                <a:ea typeface="+mn-ea"/>
                <a:cs typeface="+mn-cs"/>
              </a:rPr>
              <a:t>DBMS products, including IBM's DB2 family, Informix, Oracle, Sybase, Microsoft's</a:t>
            </a:r>
          </a:p>
          <a:p>
            <a:r>
              <a:rPr lang="en-GB" sz="1200" b="0" i="0" u="none" strike="noStrike" kern="1200" baseline="0" dirty="0" smtClean="0">
                <a:solidFill>
                  <a:schemeClr val="tx1"/>
                </a:solidFill>
                <a:latin typeface="+mn-lt"/>
                <a:ea typeface="+mn-ea"/>
                <a:cs typeface="+mn-cs"/>
              </a:rPr>
              <a:t>Access and </a:t>
            </a:r>
            <a:r>
              <a:rPr lang="en-GB" sz="1200" b="0" i="0" u="none" strike="noStrike" kern="1200" baseline="0" dirty="0" err="1" smtClean="0">
                <a:solidFill>
                  <a:schemeClr val="tx1"/>
                </a:solidFill>
                <a:latin typeface="+mn-lt"/>
                <a:ea typeface="+mn-ea"/>
                <a:cs typeface="+mn-cs"/>
              </a:rPr>
              <a:t>SQLServer</a:t>
            </a:r>
            <a:r>
              <a:rPr lang="en-GB" sz="1200" b="0" i="0" u="none" strike="noStrike" kern="1200" baseline="0" dirty="0" smtClean="0">
                <a:solidFill>
                  <a:schemeClr val="tx1"/>
                </a:solidFill>
                <a:latin typeface="+mn-lt"/>
                <a:ea typeface="+mn-ea"/>
                <a:cs typeface="+mn-cs"/>
              </a:rPr>
              <a:t>, </a:t>
            </a:r>
            <a:r>
              <a:rPr lang="en-GB" sz="1200" b="0" i="0" u="none" strike="noStrike" kern="1200" baseline="0" dirty="0" err="1" smtClean="0">
                <a:solidFill>
                  <a:schemeClr val="tx1"/>
                </a:solidFill>
                <a:latin typeface="+mn-lt"/>
                <a:ea typeface="+mn-ea"/>
                <a:cs typeface="+mn-cs"/>
              </a:rPr>
              <a:t>FoxBase</a:t>
            </a:r>
            <a:r>
              <a:rPr lang="en-GB" sz="1200" b="0" i="0" u="none" strike="noStrike" kern="1200" baseline="0" dirty="0" smtClean="0">
                <a:solidFill>
                  <a:schemeClr val="tx1"/>
                </a:solidFill>
                <a:latin typeface="+mn-lt"/>
                <a:ea typeface="+mn-ea"/>
                <a:cs typeface="+mn-cs"/>
              </a:rPr>
              <a:t>, and Paradox. </a:t>
            </a:r>
          </a:p>
          <a:p>
            <a:r>
              <a:rPr lang="en-GB" sz="1200" b="0" i="0" u="none" strike="noStrike" kern="1200" baseline="0" dirty="0" smtClean="0">
                <a:solidFill>
                  <a:schemeClr val="tx1"/>
                </a:solidFill>
                <a:latin typeface="+mn-lt"/>
                <a:ea typeface="+mn-ea"/>
                <a:cs typeface="+mn-cs"/>
              </a:rPr>
              <a:t>Relational database systems are ubiquitous in the marketplace and represent a multibillion dollar industry.</a:t>
            </a:r>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GB" sz="1200" b="0" i="0" u="none" strike="noStrike" kern="1200" baseline="0" dirty="0" smtClean="0">
                <a:solidFill>
                  <a:schemeClr val="tx1"/>
                </a:solidFill>
                <a:latin typeface="+mn-lt"/>
                <a:ea typeface="+mn-ea"/>
                <a:cs typeface="+mn-cs"/>
              </a:rPr>
              <a:t>We introduces the relational model and covers the following issues:</a:t>
            </a:r>
          </a:p>
          <a:p>
            <a:r>
              <a:rPr lang="en-US" sz="1200" b="0" i="0" u="none" strike="noStrike" kern="1200" baseline="0" dirty="0" smtClean="0">
                <a:solidFill>
                  <a:schemeClr val="tx1"/>
                </a:solidFill>
                <a:latin typeface="+mn-lt"/>
                <a:ea typeface="+mn-ea"/>
                <a:cs typeface="+mn-cs"/>
              </a:rPr>
              <a:t>How is data represented?</a:t>
            </a:r>
          </a:p>
          <a:p>
            <a:r>
              <a:rPr lang="en-GB" sz="1200" b="0" i="0" u="none" strike="noStrike" kern="1200" baseline="0" dirty="0" smtClean="0">
                <a:solidFill>
                  <a:schemeClr val="tx1"/>
                </a:solidFill>
                <a:latin typeface="+mn-lt"/>
                <a:ea typeface="+mn-ea"/>
                <a:cs typeface="+mn-cs"/>
              </a:rPr>
              <a:t>What kinds of integrity constraints can be expressed?</a:t>
            </a:r>
          </a:p>
          <a:p>
            <a:r>
              <a:rPr lang="en-GB" sz="1200" b="0" i="0" u="none" strike="noStrike" kern="1200" baseline="0" dirty="0" smtClean="0">
                <a:solidFill>
                  <a:schemeClr val="tx1"/>
                </a:solidFill>
                <a:latin typeface="+mn-lt"/>
                <a:ea typeface="+mn-ea"/>
                <a:cs typeface="+mn-cs"/>
              </a:rPr>
              <a:t>How can data be created and </a:t>
            </a:r>
            <a:r>
              <a:rPr lang="en-GB" sz="1200" b="0" i="0" u="none" strike="noStrike" kern="1200" baseline="0" dirty="0" smtClean="0">
                <a:solidFill>
                  <a:schemeClr val="tx1"/>
                </a:solidFill>
                <a:latin typeface="+mn-lt"/>
                <a:ea typeface="+mn-ea"/>
                <a:cs typeface="+mn-cs"/>
              </a:rPr>
              <a:t>modified</a:t>
            </a:r>
            <a:r>
              <a:rPr lang="en-GB" sz="1200" b="0" i="0" u="none" strike="noStrike" kern="1200" baseline="0" dirty="0" smtClean="0">
                <a:solidFill>
                  <a:schemeClr val="tx1"/>
                </a:solidFill>
                <a:latin typeface="+mn-lt"/>
                <a:ea typeface="+mn-ea"/>
                <a:cs typeface="+mn-cs"/>
              </a:rPr>
              <a:t>?</a:t>
            </a:r>
          </a:p>
          <a:p>
            <a:r>
              <a:rPr lang="en-GB" sz="1200" b="0" i="0" u="none" strike="noStrike" kern="1200" baseline="0" dirty="0" smtClean="0">
                <a:solidFill>
                  <a:schemeClr val="tx1"/>
                </a:solidFill>
                <a:latin typeface="+mn-lt"/>
                <a:ea typeface="+mn-ea"/>
                <a:cs typeface="+mn-cs"/>
              </a:rPr>
              <a:t>How can data be manipulated and queried?</a:t>
            </a:r>
          </a:p>
          <a:p>
            <a:r>
              <a:rPr lang="en-GB" sz="1200" b="0" i="0" u="none" strike="noStrike" kern="1200" baseline="0" dirty="0" smtClean="0">
                <a:solidFill>
                  <a:schemeClr val="tx1"/>
                </a:solidFill>
                <a:latin typeface="+mn-lt"/>
                <a:ea typeface="+mn-ea"/>
                <a:cs typeface="+mn-cs"/>
              </a:rPr>
              <a:t>How do we obtain a database design in the relational model?</a:t>
            </a:r>
          </a:p>
          <a:p>
            <a:r>
              <a:rPr lang="en-GB" sz="1200" b="0" i="0" u="none" strike="noStrike" kern="1200" baseline="0" dirty="0" smtClean="0">
                <a:solidFill>
                  <a:schemeClr val="tx1"/>
                </a:solidFill>
                <a:latin typeface="+mn-lt"/>
                <a:ea typeface="+mn-ea"/>
                <a:cs typeface="+mn-cs"/>
              </a:rPr>
              <a:t>How are logical and physical data independence achieved?</a:t>
            </a:r>
            <a:endParaRPr lang="en-US" dirty="0" smtClean="0"/>
          </a:p>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1</a:t>
            </a:fld>
            <a:endParaRPr lang="en-US"/>
          </a:p>
        </p:txBody>
      </p:sp>
    </p:spTree>
    <p:extLst>
      <p:ext uri="{BB962C8B-B14F-4D97-AF65-F5344CB8AC3E}">
        <p14:creationId xmlns:p14="http://schemas.microsoft.com/office/powerpoint/2010/main" val="2825256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Originally, databases were </a:t>
            </a:r>
            <a:r>
              <a:rPr lang="en-US" sz="1200" b="1" kern="1200" dirty="0" smtClean="0">
                <a:solidFill>
                  <a:schemeClr val="tx1"/>
                </a:solidFill>
                <a:effectLst/>
                <a:latin typeface="+mn-lt"/>
                <a:ea typeface="+mn-ea"/>
                <a:cs typeface="+mn-cs"/>
              </a:rPr>
              <a:t>flat</a:t>
            </a:r>
            <a:r>
              <a:rPr lang="en-US" sz="1200" kern="1200" dirty="0" smtClean="0">
                <a:solidFill>
                  <a:schemeClr val="tx1"/>
                </a:solidFill>
                <a:effectLst/>
                <a:latin typeface="+mn-lt"/>
                <a:ea typeface="+mn-ea"/>
                <a:cs typeface="+mn-cs"/>
              </a:rPr>
              <a:t>. This means that the information was stored in one long text file, called a </a:t>
            </a:r>
            <a:r>
              <a:rPr lang="en-US" sz="1200" b="1" kern="1200" dirty="0" smtClean="0">
                <a:solidFill>
                  <a:schemeClr val="tx1"/>
                </a:solidFill>
                <a:effectLst/>
                <a:latin typeface="+mn-lt"/>
                <a:ea typeface="+mn-ea"/>
                <a:cs typeface="+mn-cs"/>
              </a:rPr>
              <a:t>tab delimited file</a:t>
            </a:r>
            <a:r>
              <a:rPr lang="en-US" sz="1200" kern="1200" dirty="0" smtClean="0">
                <a:solidFill>
                  <a:schemeClr val="tx1"/>
                </a:solidFill>
                <a:effectLst/>
                <a:latin typeface="+mn-lt"/>
                <a:ea typeface="+mn-ea"/>
                <a:cs typeface="+mn-cs"/>
              </a:rPr>
              <a:t>.</a:t>
            </a:r>
          </a:p>
          <a:p>
            <a:r>
              <a:rPr lang="en-US" sz="1200" kern="1200" dirty="0" smtClean="0">
                <a:solidFill>
                  <a:schemeClr val="tx1"/>
                </a:solidFill>
                <a:effectLst/>
                <a:latin typeface="+mn-lt"/>
                <a:ea typeface="+mn-ea"/>
                <a:cs typeface="+mn-cs"/>
              </a:rPr>
              <a:t>The text file makes it difficult to search for specific information or to create reports that include only certain fields from each record (you have to search sequentially through the entire file to gather related information)</a:t>
            </a:r>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A relational database allows you to </a:t>
            </a:r>
            <a:r>
              <a:rPr lang="en-US" sz="1200" b="1" kern="1200" dirty="0" smtClean="0">
                <a:solidFill>
                  <a:schemeClr val="tx1"/>
                </a:solidFill>
                <a:effectLst/>
                <a:latin typeface="+mn-lt"/>
                <a:ea typeface="+mn-ea"/>
                <a:cs typeface="+mn-cs"/>
              </a:rPr>
              <a:t>easily find specific information</a:t>
            </a:r>
            <a:r>
              <a:rPr lang="en-US" sz="1200" kern="1200" dirty="0" smtClean="0">
                <a:solidFill>
                  <a:schemeClr val="tx1"/>
                </a:solidFill>
                <a:effectLst/>
                <a:latin typeface="+mn-lt"/>
                <a:ea typeface="+mn-ea"/>
                <a:cs typeface="+mn-cs"/>
              </a:rPr>
              <a:t>. It also allows you to </a:t>
            </a:r>
            <a:r>
              <a:rPr lang="en-US" sz="1200" b="1" kern="1200" dirty="0" smtClean="0">
                <a:solidFill>
                  <a:schemeClr val="tx1"/>
                </a:solidFill>
                <a:effectLst/>
                <a:latin typeface="+mn-lt"/>
                <a:ea typeface="+mn-ea"/>
                <a:cs typeface="+mn-cs"/>
              </a:rPr>
              <a:t>sort based on any field</a:t>
            </a:r>
            <a:r>
              <a:rPr lang="en-US" sz="1200" kern="1200" dirty="0" smtClean="0">
                <a:solidFill>
                  <a:schemeClr val="tx1"/>
                </a:solidFill>
                <a:effectLst/>
                <a:latin typeface="+mn-lt"/>
                <a:ea typeface="+mn-ea"/>
                <a:cs typeface="+mn-cs"/>
              </a:rPr>
              <a:t> and </a:t>
            </a:r>
            <a:r>
              <a:rPr lang="en-US" sz="1200" b="1" kern="1200" dirty="0" smtClean="0">
                <a:solidFill>
                  <a:schemeClr val="tx1"/>
                </a:solidFill>
                <a:effectLst/>
                <a:latin typeface="+mn-lt"/>
                <a:ea typeface="+mn-ea"/>
                <a:cs typeface="+mn-cs"/>
              </a:rPr>
              <a:t>generate reports</a:t>
            </a:r>
            <a:r>
              <a:rPr lang="en-US" sz="1200" kern="1200" dirty="0" smtClean="0">
                <a:solidFill>
                  <a:schemeClr val="tx1"/>
                </a:solidFill>
                <a:effectLst/>
                <a:latin typeface="+mn-lt"/>
                <a:ea typeface="+mn-ea"/>
                <a:cs typeface="+mn-cs"/>
              </a:rPr>
              <a:t> that contain only certain fields from each record. Relational databases use </a:t>
            </a:r>
            <a:r>
              <a:rPr lang="en-US" sz="1200" b="1" kern="1200" dirty="0" smtClean="0">
                <a:solidFill>
                  <a:schemeClr val="tx1"/>
                </a:solidFill>
                <a:effectLst/>
                <a:latin typeface="+mn-lt"/>
                <a:ea typeface="+mn-ea"/>
                <a:cs typeface="+mn-cs"/>
              </a:rPr>
              <a:t>tables</a:t>
            </a:r>
            <a:r>
              <a:rPr lang="en-US" sz="1200" kern="1200" dirty="0" smtClean="0">
                <a:solidFill>
                  <a:schemeClr val="tx1"/>
                </a:solidFill>
                <a:effectLst/>
                <a:latin typeface="+mn-lt"/>
                <a:ea typeface="+mn-ea"/>
                <a:cs typeface="+mn-cs"/>
              </a:rPr>
              <a:t> to store information.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It uses the relationship of similar data to </a:t>
            </a:r>
            <a:r>
              <a:rPr lang="en-US" sz="1200" b="1" kern="1200" dirty="0" smtClean="0">
                <a:solidFill>
                  <a:schemeClr val="tx1"/>
                </a:solidFill>
                <a:effectLst/>
                <a:latin typeface="+mn-lt"/>
                <a:ea typeface="+mn-ea"/>
                <a:cs typeface="+mn-cs"/>
              </a:rPr>
              <a:t>increase the speed and versatility</a:t>
            </a:r>
            <a:r>
              <a:rPr lang="en-US" sz="1200" kern="1200" dirty="0" smtClean="0">
                <a:solidFill>
                  <a:schemeClr val="tx1"/>
                </a:solidFill>
                <a:effectLst/>
                <a:latin typeface="+mn-lt"/>
                <a:ea typeface="+mn-ea"/>
                <a:cs typeface="+mn-cs"/>
              </a:rPr>
              <a:t> of the database. </a:t>
            </a:r>
          </a:p>
          <a:p>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4618E2F3-1254-46D1-88AF-1493AB02C426}" type="slidenum">
              <a:rPr lang="en-US" smtClean="0"/>
              <a:t>2</a:t>
            </a:fld>
            <a:endParaRPr lang="en-US"/>
          </a:p>
        </p:txBody>
      </p:sp>
    </p:spTree>
    <p:extLst>
      <p:ext uri="{BB962C8B-B14F-4D97-AF65-F5344CB8AC3E}">
        <p14:creationId xmlns:p14="http://schemas.microsoft.com/office/powerpoint/2010/main" val="2012328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3</a:t>
            </a:fld>
            <a:endParaRPr lang="en-US"/>
          </a:p>
        </p:txBody>
      </p:sp>
    </p:spTree>
    <p:extLst>
      <p:ext uri="{BB962C8B-B14F-4D97-AF65-F5344CB8AC3E}">
        <p14:creationId xmlns:p14="http://schemas.microsoft.com/office/powerpoint/2010/main" val="3322966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smtClean="0">
                <a:solidFill>
                  <a:schemeClr val="tx1"/>
                </a:solidFill>
                <a:latin typeface="+mn-lt"/>
                <a:ea typeface="+mn-ea"/>
                <a:cs typeface="+mn-cs"/>
              </a:rPr>
              <a:t>The relational model is very simple and elegant; a database is a collection of one or </a:t>
            </a:r>
            <a:r>
              <a:rPr lang="en-GB" sz="1200" b="0" i="0" u="none" strike="noStrike" kern="1200" baseline="0" dirty="0" smtClean="0">
                <a:solidFill>
                  <a:schemeClr val="tx1"/>
                </a:solidFill>
                <a:latin typeface="+mn-lt"/>
                <a:ea typeface="+mn-ea"/>
                <a:cs typeface="+mn-cs"/>
              </a:rPr>
              <a:t>more </a:t>
            </a:r>
            <a:r>
              <a:rPr lang="en-GB" sz="1200" b="0" i="1" u="none" strike="noStrike" kern="1200" baseline="0" dirty="0" smtClean="0">
                <a:solidFill>
                  <a:schemeClr val="tx1"/>
                </a:solidFill>
                <a:latin typeface="+mn-lt"/>
                <a:ea typeface="+mn-ea"/>
                <a:cs typeface="+mn-cs"/>
              </a:rPr>
              <a:t>relations</a:t>
            </a:r>
            <a:r>
              <a:rPr lang="en-GB" sz="1200" b="0" i="0" u="none" strike="noStrike" kern="1200" baseline="0" dirty="0" smtClean="0">
                <a:solidFill>
                  <a:schemeClr val="tx1"/>
                </a:solidFill>
                <a:latin typeface="+mn-lt"/>
                <a:ea typeface="+mn-ea"/>
                <a:cs typeface="+mn-cs"/>
              </a:rPr>
              <a:t>, where each relation is a table with rows and columns. </a:t>
            </a:r>
          </a:p>
          <a:p>
            <a:endParaRPr lang="en-GB" sz="1200" b="0" i="0" u="none" strike="noStrike" kern="1200" baseline="0" dirty="0" smtClean="0">
              <a:solidFill>
                <a:schemeClr val="tx1"/>
              </a:solidFill>
              <a:latin typeface="+mn-lt"/>
              <a:ea typeface="+mn-ea"/>
              <a:cs typeface="+mn-cs"/>
            </a:endParaRPr>
          </a:p>
          <a:p>
            <a:r>
              <a:rPr lang="en-GB" sz="1200" b="0" i="0" u="none" strike="noStrike" kern="1200" baseline="0" dirty="0" smtClean="0">
                <a:solidFill>
                  <a:schemeClr val="tx1"/>
                </a:solidFill>
                <a:latin typeface="+mn-lt"/>
                <a:ea typeface="+mn-ea"/>
                <a:cs typeface="+mn-cs"/>
              </a:rPr>
              <a:t>This simple tabular representation enables even novice users to understand the contents of a database</a:t>
            </a:r>
            <a:r>
              <a:rPr lang="en-GB" sz="1200" b="0" i="0" u="none" strike="noStrike" kern="1200" baseline="0" dirty="0" smtClean="0">
                <a:solidFill>
                  <a:schemeClr val="tx1"/>
                </a:solidFill>
                <a:latin typeface="+mn-lt"/>
                <a:ea typeface="+mn-ea"/>
                <a:cs typeface="+mn-cs"/>
              </a:rPr>
              <a:t>, and </a:t>
            </a:r>
            <a:r>
              <a:rPr lang="en-GB" sz="1200" b="0" i="0" u="none" strike="noStrike" kern="1200" baseline="0" dirty="0" smtClean="0">
                <a:solidFill>
                  <a:schemeClr val="tx1"/>
                </a:solidFill>
                <a:latin typeface="+mn-lt"/>
                <a:ea typeface="+mn-ea"/>
                <a:cs typeface="+mn-cs"/>
              </a:rPr>
              <a:t>it permits the use of simple, high-level languages to query the data. </a:t>
            </a:r>
          </a:p>
          <a:p>
            <a:endParaRPr lang="en-GB" sz="1200" b="0" i="0" u="none" strike="noStrike" kern="1200" baseline="0" dirty="0" smtClean="0">
              <a:solidFill>
                <a:schemeClr val="tx1"/>
              </a:solidFill>
              <a:latin typeface="+mn-lt"/>
              <a:ea typeface="+mn-ea"/>
              <a:cs typeface="+mn-cs"/>
            </a:endParaRPr>
          </a:p>
          <a:p>
            <a:r>
              <a:rPr lang="en-GB" sz="1200" b="0" i="0" u="none" strike="noStrike" kern="1200" baseline="0" dirty="0" smtClean="0">
                <a:solidFill>
                  <a:schemeClr val="tx1"/>
                </a:solidFill>
                <a:latin typeface="+mn-lt"/>
                <a:ea typeface="+mn-ea"/>
                <a:cs typeface="+mn-cs"/>
              </a:rPr>
              <a:t>The major advantages of the relational model over the older data models are its simple </a:t>
            </a:r>
            <a:r>
              <a:rPr lang="en-GB" sz="1200" b="0" i="0" u="none" strike="noStrike" kern="1200" baseline="0" dirty="0" smtClean="0">
                <a:solidFill>
                  <a:schemeClr val="tx1"/>
                </a:solidFill>
                <a:latin typeface="+mn-lt"/>
                <a:ea typeface="+mn-ea"/>
                <a:cs typeface="+mn-cs"/>
              </a:rPr>
              <a:t>data representation </a:t>
            </a:r>
            <a:r>
              <a:rPr lang="en-GB" sz="1200" b="0" i="0" u="none" strike="noStrike" kern="1200" baseline="0" dirty="0" smtClean="0">
                <a:solidFill>
                  <a:schemeClr val="tx1"/>
                </a:solidFill>
                <a:latin typeface="+mn-lt"/>
                <a:ea typeface="+mn-ea"/>
                <a:cs typeface="+mn-cs"/>
              </a:rPr>
              <a:t>and the ease with which even complex queries can be expressed.</a:t>
            </a:r>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4</a:t>
            </a:fld>
            <a:endParaRPr lang="en-US"/>
          </a:p>
        </p:txBody>
      </p:sp>
    </p:spTree>
    <p:extLst>
      <p:ext uri="{BB962C8B-B14F-4D97-AF65-F5344CB8AC3E}">
        <p14:creationId xmlns:p14="http://schemas.microsoft.com/office/powerpoint/2010/main" val="579283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For example, in our mailing list database, the table has two columns: name and email. </a:t>
            </a:r>
            <a:r>
              <a:rPr lang="en-US" sz="1200" kern="1200" dirty="0" smtClean="0">
                <a:solidFill>
                  <a:schemeClr val="tx1"/>
                </a:solidFill>
                <a:effectLst/>
                <a:latin typeface="+mn-lt"/>
                <a:ea typeface="+mn-ea"/>
                <a:cs typeface="+mn-cs"/>
              </a:rPr>
              <a:t>Each </a:t>
            </a:r>
            <a:r>
              <a:rPr lang="en-US" sz="1200" kern="1200" dirty="0" smtClean="0">
                <a:solidFill>
                  <a:schemeClr val="tx1"/>
                </a:solidFill>
                <a:effectLst/>
                <a:latin typeface="+mn-lt"/>
                <a:ea typeface="+mn-ea"/>
                <a:cs typeface="+mn-cs"/>
              </a:rPr>
              <a:t>entry in the database consists of one row in this table</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The table will be called </a:t>
            </a:r>
            <a:r>
              <a:rPr lang="en-US" sz="1200" kern="1200" dirty="0" err="1" smtClean="0">
                <a:solidFill>
                  <a:schemeClr val="tx1"/>
                </a:solidFill>
                <a:effectLst/>
                <a:latin typeface="+mn-lt"/>
                <a:ea typeface="+mn-ea"/>
                <a:cs typeface="+mn-cs"/>
              </a:rPr>
              <a:t>mailing_list</a:t>
            </a:r>
            <a:r>
              <a:rPr lang="en-US" sz="1200" kern="1200" dirty="0" smtClean="0">
                <a:solidFill>
                  <a:schemeClr val="tx1"/>
                </a:solidFill>
                <a:effectLst/>
                <a:latin typeface="+mn-lt"/>
                <a:ea typeface="+mn-ea"/>
                <a:cs typeface="+mn-cs"/>
              </a:rPr>
              <a:t> and will have two columns, both variable length character strings. We've added a couple of integrity constraints on the email column. </a:t>
            </a:r>
          </a:p>
          <a:p>
            <a:r>
              <a:rPr lang="en-US" sz="1200" kern="1200" dirty="0" smtClean="0">
                <a:solidFill>
                  <a:schemeClr val="tx1"/>
                </a:solidFill>
                <a:effectLst/>
                <a:latin typeface="+mn-lt"/>
                <a:ea typeface="+mn-ea"/>
                <a:cs typeface="+mn-cs"/>
              </a:rPr>
              <a:t>The </a:t>
            </a:r>
            <a:r>
              <a:rPr lang="en-US" sz="1200" b="1" kern="1200" dirty="0" smtClean="0">
                <a:solidFill>
                  <a:schemeClr val="tx1"/>
                </a:solidFill>
                <a:effectLst/>
                <a:latin typeface="+mn-lt"/>
                <a:ea typeface="+mn-ea"/>
                <a:cs typeface="+mn-cs"/>
              </a:rPr>
              <a:t>not null</a:t>
            </a:r>
            <a:r>
              <a:rPr lang="en-US" sz="1200" kern="1200" dirty="0" smtClean="0">
                <a:solidFill>
                  <a:schemeClr val="tx1"/>
                </a:solidFill>
                <a:effectLst/>
                <a:latin typeface="+mn-lt"/>
                <a:ea typeface="+mn-ea"/>
                <a:cs typeface="+mn-cs"/>
              </a:rPr>
              <a:t> will prevent any program from inserting a row where name is specified but email is not. After all, the whole point of the system is to send people e-mail so there isn't much value in having a name with no e-mail address. </a:t>
            </a:r>
            <a:r>
              <a:rPr lang="en-US" sz="1200" b="1" kern="1200" dirty="0" smtClean="0">
                <a:solidFill>
                  <a:schemeClr val="tx1"/>
                </a:solidFill>
                <a:effectLst/>
                <a:latin typeface="+mn-lt"/>
                <a:ea typeface="+mn-ea"/>
                <a:cs typeface="+mn-cs"/>
              </a:rPr>
              <a:t>The primary key</a:t>
            </a:r>
            <a:r>
              <a:rPr lang="en-US" sz="1200" kern="1200" dirty="0" smtClean="0">
                <a:solidFill>
                  <a:schemeClr val="tx1"/>
                </a:solidFill>
                <a:effectLst/>
                <a:latin typeface="+mn-lt"/>
                <a:ea typeface="+mn-ea"/>
                <a:cs typeface="+mn-cs"/>
              </a:rPr>
              <a:t> tells the database that this column's value can be used to uniquely identify a row. That means the system will reject an attempt to insert a row with the same e-mail address as an existing row. </a:t>
            </a:r>
          </a:p>
          <a:p>
            <a:r>
              <a:rPr lang="en-US" sz="1200" kern="1200" dirty="0" smtClean="0">
                <a:solidFill>
                  <a:schemeClr val="tx1"/>
                </a:solidFill>
                <a:effectLst/>
                <a:latin typeface="+mn-lt"/>
                <a:ea typeface="+mn-ea"/>
                <a:cs typeface="+mn-cs"/>
              </a:rPr>
              <a:t>This sounds like a nice feature, but it can have </a:t>
            </a:r>
            <a:r>
              <a:rPr lang="en-US" sz="1200" b="1" kern="1200" dirty="0" smtClean="0">
                <a:solidFill>
                  <a:schemeClr val="tx1"/>
                </a:solidFill>
                <a:effectLst/>
                <a:latin typeface="+mn-lt"/>
                <a:ea typeface="+mn-ea"/>
                <a:cs typeface="+mn-cs"/>
              </a:rPr>
              <a:t>some unexpected performance implications</a:t>
            </a:r>
            <a:r>
              <a:rPr lang="en-US" sz="1200" kern="1200" dirty="0" smtClean="0">
                <a:solidFill>
                  <a:schemeClr val="tx1"/>
                </a:solidFill>
                <a:effectLst/>
                <a:latin typeface="+mn-lt"/>
                <a:ea typeface="+mn-ea"/>
                <a:cs typeface="+mn-cs"/>
              </a:rPr>
              <a:t>. For example, every time anyone tries to insert a row into this table, the RDBMS will have to look at all the other rows in the table to make sure that there isn't already one with the same e-mail address. For a really huge table, that could take minutes, but if you had also asked the RDBMS to </a:t>
            </a:r>
            <a:r>
              <a:rPr lang="en-US" sz="1200" b="1" kern="1200" dirty="0" smtClean="0">
                <a:solidFill>
                  <a:schemeClr val="tx1"/>
                </a:solidFill>
                <a:effectLst/>
                <a:latin typeface="+mn-lt"/>
                <a:ea typeface="+mn-ea"/>
                <a:cs typeface="+mn-cs"/>
              </a:rPr>
              <a:t>create an index</a:t>
            </a:r>
            <a:r>
              <a:rPr lang="en-US" sz="1200" kern="1200" dirty="0" smtClean="0">
                <a:solidFill>
                  <a:schemeClr val="tx1"/>
                </a:solidFill>
                <a:effectLst/>
                <a:latin typeface="+mn-lt"/>
                <a:ea typeface="+mn-ea"/>
                <a:cs typeface="+mn-cs"/>
              </a:rPr>
              <a:t> for </a:t>
            </a:r>
            <a:r>
              <a:rPr lang="en-US" sz="1200" kern="1200" dirty="0" err="1" smtClean="0">
                <a:solidFill>
                  <a:schemeClr val="tx1"/>
                </a:solidFill>
                <a:effectLst/>
                <a:latin typeface="+mn-lt"/>
                <a:ea typeface="+mn-ea"/>
                <a:cs typeface="+mn-cs"/>
              </a:rPr>
              <a:t>mailing_list</a:t>
            </a:r>
            <a:r>
              <a:rPr lang="en-US" sz="1200" kern="1200" dirty="0" smtClean="0">
                <a:solidFill>
                  <a:schemeClr val="tx1"/>
                </a:solidFill>
                <a:effectLst/>
                <a:latin typeface="+mn-lt"/>
                <a:ea typeface="+mn-ea"/>
                <a:cs typeface="+mn-cs"/>
              </a:rPr>
              <a:t> on email then the check becomes almost instantaneous. However, the integrity constraint still slows you down because every update to the </a:t>
            </a:r>
            <a:r>
              <a:rPr lang="en-US" sz="1200" kern="1200" dirty="0" err="1" smtClean="0">
                <a:solidFill>
                  <a:schemeClr val="tx1"/>
                </a:solidFill>
                <a:effectLst/>
                <a:latin typeface="+mn-lt"/>
                <a:ea typeface="+mn-ea"/>
                <a:cs typeface="+mn-cs"/>
              </a:rPr>
              <a:t>mailing_list</a:t>
            </a:r>
            <a:r>
              <a:rPr lang="en-US" sz="1200" kern="1200" dirty="0" smtClean="0">
                <a:solidFill>
                  <a:schemeClr val="tx1"/>
                </a:solidFill>
                <a:effectLst/>
                <a:latin typeface="+mn-lt"/>
                <a:ea typeface="+mn-ea"/>
                <a:cs typeface="+mn-cs"/>
              </a:rPr>
              <a:t> table will also require an update to the index and therefore you'll be doing twice as many writes to the hard disk.</a:t>
            </a:r>
          </a:p>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5</a:t>
            </a:fld>
            <a:endParaRPr lang="en-US"/>
          </a:p>
        </p:txBody>
      </p:sp>
    </p:spTree>
    <p:extLst>
      <p:ext uri="{BB962C8B-B14F-4D97-AF65-F5344CB8AC3E}">
        <p14:creationId xmlns:p14="http://schemas.microsoft.com/office/powerpoint/2010/main" val="213234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0" i="0" u="none" strike="noStrike" kern="1200" baseline="0" dirty="0" smtClean="0">
                <a:solidFill>
                  <a:schemeClr val="tx1"/>
                </a:solidFill>
                <a:latin typeface="+mn-lt"/>
                <a:ea typeface="+mn-ea"/>
                <a:cs typeface="+mn-cs"/>
              </a:rPr>
              <a:t>The main construct for representing data in the relational model is a </a:t>
            </a:r>
            <a:r>
              <a:rPr lang="en-GB" sz="1200" b="1" i="0" u="none" strike="noStrike" kern="1200" baseline="0" dirty="0" smtClean="0">
                <a:solidFill>
                  <a:schemeClr val="tx1"/>
                </a:solidFill>
                <a:latin typeface="+mn-lt"/>
                <a:ea typeface="+mn-ea"/>
                <a:cs typeface="+mn-cs"/>
              </a:rPr>
              <a:t>relation</a:t>
            </a:r>
            <a:r>
              <a:rPr lang="en-GB" sz="1200" b="0" i="0" u="none" strike="noStrike" kern="1200" baseline="0" dirty="0" smtClean="0">
                <a:solidFill>
                  <a:schemeClr val="tx1"/>
                </a:solidFill>
                <a:latin typeface="+mn-lt"/>
                <a:ea typeface="+mn-ea"/>
                <a:cs typeface="+mn-cs"/>
              </a:rPr>
              <a:t>. </a:t>
            </a:r>
          </a:p>
          <a:p>
            <a:endParaRPr lang="en-GB" sz="1200" b="0" i="0" u="none" strike="noStrike" kern="1200" baseline="0" dirty="0" smtClean="0">
              <a:solidFill>
                <a:schemeClr val="tx1"/>
              </a:solidFill>
              <a:latin typeface="+mn-lt"/>
              <a:ea typeface="+mn-ea"/>
              <a:cs typeface="+mn-cs"/>
            </a:endParaRPr>
          </a:p>
          <a:p>
            <a:r>
              <a:rPr lang="en-GB" sz="1200" b="0" i="0" u="none" strike="noStrike" kern="1200" baseline="0" dirty="0" smtClean="0">
                <a:solidFill>
                  <a:schemeClr val="tx1"/>
                </a:solidFill>
                <a:latin typeface="+mn-lt"/>
                <a:ea typeface="+mn-ea"/>
                <a:cs typeface="+mn-cs"/>
              </a:rPr>
              <a:t>A relation consists of a </a:t>
            </a:r>
            <a:r>
              <a:rPr lang="en-GB" sz="1200" b="1" i="0" u="none" strike="noStrike" kern="1200" baseline="0" dirty="0" smtClean="0">
                <a:solidFill>
                  <a:schemeClr val="tx1"/>
                </a:solidFill>
                <a:latin typeface="+mn-lt"/>
                <a:ea typeface="+mn-ea"/>
                <a:cs typeface="+mn-cs"/>
              </a:rPr>
              <a:t>relation schema </a:t>
            </a:r>
            <a:r>
              <a:rPr lang="en-GB" sz="1200" b="0" i="0" u="none" strike="noStrike" kern="1200" baseline="0" dirty="0" smtClean="0">
                <a:solidFill>
                  <a:schemeClr val="tx1"/>
                </a:solidFill>
                <a:latin typeface="+mn-lt"/>
                <a:ea typeface="+mn-ea"/>
                <a:cs typeface="+mn-cs"/>
              </a:rPr>
              <a:t>and a </a:t>
            </a:r>
            <a:r>
              <a:rPr lang="en-GB" sz="1200" b="1" i="0" u="none" strike="noStrike" kern="1200" baseline="0" dirty="0" smtClean="0">
                <a:solidFill>
                  <a:schemeClr val="tx1"/>
                </a:solidFill>
                <a:latin typeface="+mn-lt"/>
                <a:ea typeface="+mn-ea"/>
                <a:cs typeface="+mn-cs"/>
              </a:rPr>
              <a:t>relation instance.</a:t>
            </a:r>
          </a:p>
          <a:p>
            <a:endParaRPr lang="en-GB" sz="1200" b="1" i="0" u="none" strike="noStrike" kern="1200" baseline="0" dirty="0" smtClean="0">
              <a:solidFill>
                <a:schemeClr val="tx1"/>
              </a:solidFill>
              <a:latin typeface="+mn-lt"/>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en-GB" sz="1200" b="1" i="0" u="none" strike="noStrike" kern="1200" baseline="0" dirty="0" smtClean="0">
                <a:solidFill>
                  <a:schemeClr val="tx1"/>
                </a:solidFill>
                <a:latin typeface="+mn-lt"/>
                <a:ea typeface="+mn-ea"/>
                <a:cs typeface="+mn-cs"/>
              </a:rPr>
              <a:t>Schema </a:t>
            </a:r>
            <a:r>
              <a:rPr lang="en-GB" sz="1200" b="0" i="0" u="none" strike="noStrike" kern="1200" baseline="0" dirty="0" smtClean="0">
                <a:solidFill>
                  <a:schemeClr val="tx1"/>
                </a:solidFill>
                <a:latin typeface="+mn-lt"/>
                <a:ea typeface="+mn-ea"/>
                <a:cs typeface="+mn-cs"/>
              </a:rPr>
              <a:t>consist of name and set of attribute…</a:t>
            </a:r>
            <a:r>
              <a:rPr lang="en-US" i="1" dirty="0" smtClean="0"/>
              <a:t>R</a:t>
            </a:r>
            <a:r>
              <a:rPr lang="en-US" dirty="0" smtClean="0"/>
              <a:t> is defined over </a:t>
            </a:r>
            <a:r>
              <a:rPr lang="en-US" b="1" dirty="0" smtClean="0"/>
              <a:t>attributes</a:t>
            </a:r>
            <a:r>
              <a:rPr lang="en-US" dirty="0" smtClean="0"/>
              <a:t> A1, A2, .....An</a:t>
            </a:r>
          </a:p>
          <a:p>
            <a:endParaRPr lang="en-GB" sz="1200" b="0" i="0" u="none" strike="noStrike" kern="1200" baseline="0" dirty="0" smtClean="0">
              <a:solidFill>
                <a:schemeClr val="tx1"/>
              </a:solidFill>
              <a:latin typeface="+mn-lt"/>
              <a:ea typeface="+mn-ea"/>
              <a:cs typeface="+mn-cs"/>
            </a:endParaRPr>
          </a:p>
          <a:p>
            <a:endParaRPr lang="en-GB" sz="1200" b="0" i="0" u="none" strike="noStrike" kern="1200" baseline="0" dirty="0" smtClean="0">
              <a:solidFill>
                <a:schemeClr val="tx1"/>
              </a:solidFill>
              <a:latin typeface="+mn-lt"/>
              <a:ea typeface="+mn-ea"/>
              <a:cs typeface="+mn-cs"/>
            </a:endParaRPr>
          </a:p>
          <a:p>
            <a:r>
              <a:rPr lang="en-GB" dirty="0" smtClean="0"/>
              <a:t>This is </a:t>
            </a:r>
            <a:r>
              <a:rPr lang="en-GB" i="1" dirty="0" smtClean="0"/>
              <a:t>logical </a:t>
            </a:r>
            <a:r>
              <a:rPr lang="en-GB" dirty="0" smtClean="0"/>
              <a:t>definitions of domains. </a:t>
            </a:r>
          </a:p>
          <a:p>
            <a:r>
              <a:rPr lang="en-GB" dirty="0" smtClean="0"/>
              <a:t>A </a:t>
            </a:r>
            <a:r>
              <a:rPr lang="en-GB" b="1" dirty="0" smtClean="0"/>
              <a:t>data type </a:t>
            </a:r>
            <a:r>
              <a:rPr lang="en-GB" dirty="0" smtClean="0"/>
              <a:t>or </a:t>
            </a:r>
            <a:r>
              <a:rPr lang="en-GB" b="1" dirty="0" smtClean="0"/>
              <a:t>format </a:t>
            </a:r>
            <a:r>
              <a:rPr lang="en-GB" dirty="0" smtClean="0"/>
              <a:t>is also specified for each domain. </a:t>
            </a:r>
          </a:p>
          <a:p>
            <a:r>
              <a:rPr lang="en-GB" dirty="0" smtClean="0"/>
              <a:t>For example, the data type for the domain Phone can be declared as a character string of the form (</a:t>
            </a:r>
            <a:r>
              <a:rPr lang="en-GB" i="1" dirty="0" err="1" smtClean="0"/>
              <a:t>ddd</a:t>
            </a:r>
            <a:r>
              <a:rPr lang="en-GB" dirty="0" smtClean="0"/>
              <a:t>)</a:t>
            </a:r>
            <a:r>
              <a:rPr lang="en-GB" i="1" dirty="0" err="1" smtClean="0"/>
              <a:t>ddddddd</a:t>
            </a:r>
            <a:r>
              <a:rPr lang="en-GB" dirty="0" smtClean="0"/>
              <a:t>, where each </a:t>
            </a:r>
            <a:r>
              <a:rPr lang="en-GB" i="1" dirty="0" smtClean="0"/>
              <a:t>d </a:t>
            </a:r>
            <a:r>
              <a:rPr lang="en-GB" dirty="0" smtClean="0"/>
              <a:t>is a numeric digit and the first three digits form a </a:t>
            </a:r>
            <a:r>
              <a:rPr lang="en-US" dirty="0" smtClean="0"/>
              <a:t>valid telephone area code.</a:t>
            </a:r>
          </a:p>
          <a:p>
            <a:endParaRPr lang="en-GB" sz="1200" b="1" i="0" u="none" strike="noStrike" kern="1200" baseline="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6</a:t>
            </a:fld>
            <a:endParaRPr lang="en-US"/>
          </a:p>
        </p:txBody>
      </p:sp>
    </p:spTree>
    <p:extLst>
      <p:ext uri="{BB962C8B-B14F-4D97-AF65-F5344CB8AC3E}">
        <p14:creationId xmlns:p14="http://schemas.microsoft.com/office/powerpoint/2010/main" val="3255927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0" i="0" u="none" strike="noStrike" kern="1200" baseline="0" dirty="0" smtClean="0">
                <a:solidFill>
                  <a:schemeClr val="tx1"/>
                </a:solidFill>
                <a:latin typeface="+mn-lt"/>
                <a:ea typeface="+mn-ea"/>
                <a:cs typeface="+mn-cs"/>
              </a:rPr>
              <a:t>A </a:t>
            </a:r>
            <a:r>
              <a:rPr lang="en-GB" sz="1200" b="1" i="0" u="none" strike="noStrike" kern="1200" baseline="0" dirty="0" smtClean="0">
                <a:solidFill>
                  <a:schemeClr val="tx1"/>
                </a:solidFill>
                <a:latin typeface="+mn-lt"/>
                <a:ea typeface="+mn-ea"/>
                <a:cs typeface="+mn-cs"/>
              </a:rPr>
              <a:t>relation </a:t>
            </a:r>
            <a:r>
              <a:rPr lang="en-GB" sz="1200" b="0" i="0" u="none" strike="noStrike" kern="1200" baseline="0" dirty="0" smtClean="0">
                <a:solidFill>
                  <a:schemeClr val="tx1"/>
                </a:solidFill>
                <a:latin typeface="+mn-lt"/>
                <a:ea typeface="+mn-ea"/>
                <a:cs typeface="+mn-cs"/>
              </a:rPr>
              <a:t>(or </a:t>
            </a:r>
            <a:r>
              <a:rPr lang="en-GB" sz="1200" b="1" i="0" u="none" strike="noStrike" kern="1200" baseline="0" dirty="0" smtClean="0">
                <a:solidFill>
                  <a:schemeClr val="tx1"/>
                </a:solidFill>
                <a:latin typeface="+mn-lt"/>
                <a:ea typeface="+mn-ea"/>
                <a:cs typeface="+mn-cs"/>
              </a:rPr>
              <a:t>relation state</a:t>
            </a:r>
            <a:r>
              <a:rPr lang="en-GB" sz="1200" b="0" i="0" u="none" strike="noStrike" kern="1200" baseline="0" dirty="0" smtClean="0">
                <a:solidFill>
                  <a:schemeClr val="tx1"/>
                </a:solidFill>
                <a:latin typeface="+mn-lt"/>
                <a:ea typeface="+mn-ea"/>
                <a:cs typeface="+mn-cs"/>
              </a:rPr>
              <a:t>)4 </a:t>
            </a:r>
            <a:r>
              <a:rPr lang="en-GB" sz="1200" b="0" i="1" u="none" strike="noStrike" kern="1200" baseline="0" dirty="0" smtClean="0">
                <a:solidFill>
                  <a:schemeClr val="tx1"/>
                </a:solidFill>
                <a:latin typeface="+mn-lt"/>
                <a:ea typeface="+mn-ea"/>
                <a:cs typeface="+mn-cs"/>
              </a:rPr>
              <a:t>r </a:t>
            </a:r>
            <a:r>
              <a:rPr lang="en-GB" sz="1200" b="0" i="0" u="none" strike="noStrike" kern="1200" baseline="0" dirty="0" smtClean="0">
                <a:solidFill>
                  <a:schemeClr val="tx1"/>
                </a:solidFill>
                <a:latin typeface="+mn-lt"/>
                <a:ea typeface="+mn-ea"/>
                <a:cs typeface="+mn-cs"/>
              </a:rPr>
              <a:t>of the relation schema </a:t>
            </a:r>
            <a:r>
              <a:rPr lang="en-GB" sz="1200" b="0" i="1" u="none" strike="noStrike" kern="1200" baseline="0" dirty="0" smtClean="0">
                <a:solidFill>
                  <a:schemeClr val="tx1"/>
                </a:solidFill>
                <a:latin typeface="+mn-lt"/>
                <a:ea typeface="+mn-ea"/>
                <a:cs typeface="+mn-cs"/>
              </a:rPr>
              <a:t>R</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A</a:t>
            </a:r>
            <a:r>
              <a:rPr lang="en-GB" sz="1200" b="0" i="0" u="none" strike="noStrike" kern="1200" baseline="0" dirty="0" smtClean="0">
                <a:solidFill>
                  <a:schemeClr val="tx1"/>
                </a:solidFill>
                <a:latin typeface="+mn-lt"/>
                <a:ea typeface="+mn-ea"/>
                <a:cs typeface="+mn-cs"/>
              </a:rPr>
              <a:t>1, </a:t>
            </a:r>
            <a:r>
              <a:rPr lang="en-GB" sz="1200" b="0" i="1" u="none" strike="noStrike" kern="1200" baseline="0" dirty="0" smtClean="0">
                <a:solidFill>
                  <a:schemeClr val="tx1"/>
                </a:solidFill>
                <a:latin typeface="+mn-lt"/>
                <a:ea typeface="+mn-ea"/>
                <a:cs typeface="+mn-cs"/>
              </a:rPr>
              <a:t>A</a:t>
            </a:r>
            <a:r>
              <a:rPr lang="en-GB" sz="1200" b="0" i="0" u="none" strike="noStrike" kern="1200" baseline="0" dirty="0" smtClean="0">
                <a:solidFill>
                  <a:schemeClr val="tx1"/>
                </a:solidFill>
                <a:latin typeface="+mn-lt"/>
                <a:ea typeface="+mn-ea"/>
                <a:cs typeface="+mn-cs"/>
              </a:rPr>
              <a:t>2, ..., </a:t>
            </a:r>
            <a:r>
              <a:rPr lang="en-GB" sz="1200" b="0" i="1" u="none" strike="noStrike" kern="1200" baseline="0" dirty="0" smtClean="0">
                <a:solidFill>
                  <a:schemeClr val="tx1"/>
                </a:solidFill>
                <a:latin typeface="+mn-lt"/>
                <a:ea typeface="+mn-ea"/>
                <a:cs typeface="+mn-cs"/>
              </a:rPr>
              <a:t>An</a:t>
            </a:r>
            <a:r>
              <a:rPr lang="en-GB" sz="1200" b="0" i="0" u="none" strike="noStrike" kern="1200" baseline="0" dirty="0" smtClean="0">
                <a:solidFill>
                  <a:schemeClr val="tx1"/>
                </a:solidFill>
                <a:latin typeface="+mn-lt"/>
                <a:ea typeface="+mn-ea"/>
                <a:cs typeface="+mn-cs"/>
              </a:rPr>
              <a:t>), also</a:t>
            </a:r>
          </a:p>
          <a:p>
            <a:r>
              <a:rPr lang="en-GB" sz="1200" b="0" i="0" u="none" strike="noStrike" kern="1200" baseline="0" dirty="0" smtClean="0">
                <a:solidFill>
                  <a:schemeClr val="tx1"/>
                </a:solidFill>
                <a:latin typeface="+mn-lt"/>
                <a:ea typeface="+mn-ea"/>
                <a:cs typeface="+mn-cs"/>
              </a:rPr>
              <a:t>denoted by </a:t>
            </a:r>
            <a:r>
              <a:rPr lang="en-GB" sz="1200" b="0" i="1" u="none" strike="noStrike" kern="1200" baseline="0" dirty="0" smtClean="0">
                <a:solidFill>
                  <a:schemeClr val="tx1"/>
                </a:solidFill>
                <a:latin typeface="+mn-lt"/>
                <a:ea typeface="+mn-ea"/>
                <a:cs typeface="+mn-cs"/>
              </a:rPr>
              <a:t>r</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R</a:t>
            </a:r>
            <a:r>
              <a:rPr lang="en-GB" sz="1200" b="0" i="0" u="none" strike="noStrike" kern="1200" baseline="0" dirty="0" smtClean="0">
                <a:solidFill>
                  <a:schemeClr val="tx1"/>
                </a:solidFill>
                <a:latin typeface="+mn-lt"/>
                <a:ea typeface="+mn-ea"/>
                <a:cs typeface="+mn-cs"/>
              </a:rPr>
              <a:t>), is a set of </a:t>
            </a:r>
            <a:r>
              <a:rPr lang="en-GB" sz="1200" b="0" i="1" u="none" strike="noStrike" kern="1200" baseline="0" dirty="0" smtClean="0">
                <a:solidFill>
                  <a:schemeClr val="tx1"/>
                </a:solidFill>
                <a:latin typeface="+mn-lt"/>
                <a:ea typeface="+mn-ea"/>
                <a:cs typeface="+mn-cs"/>
              </a:rPr>
              <a:t>n</a:t>
            </a:r>
            <a:r>
              <a:rPr lang="en-GB" sz="1200" b="0" i="0" u="none" strike="noStrike" kern="1200" baseline="0" dirty="0" smtClean="0">
                <a:solidFill>
                  <a:schemeClr val="tx1"/>
                </a:solidFill>
                <a:latin typeface="+mn-lt"/>
                <a:ea typeface="+mn-ea"/>
                <a:cs typeface="+mn-cs"/>
              </a:rPr>
              <a:t>-tuples </a:t>
            </a:r>
            <a:r>
              <a:rPr lang="en-GB" sz="1200" b="0" i="1" u="none" strike="noStrike" kern="1200" baseline="0" dirty="0" smtClean="0">
                <a:solidFill>
                  <a:schemeClr val="tx1"/>
                </a:solidFill>
                <a:latin typeface="+mn-lt"/>
                <a:ea typeface="+mn-ea"/>
                <a:cs typeface="+mn-cs"/>
              </a:rPr>
              <a:t>r </a:t>
            </a:r>
            <a:r>
              <a:rPr lang="en-GB" sz="1200" b="0" i="0" u="none" strike="noStrike" kern="1200" baseline="0" dirty="0" smtClean="0">
                <a:solidFill>
                  <a:schemeClr val="tx1"/>
                </a:solidFill>
                <a:latin typeface="+mn-lt"/>
                <a:ea typeface="+mn-ea"/>
                <a:cs typeface="+mn-cs"/>
              </a:rPr>
              <a:t>= {</a:t>
            </a:r>
            <a:r>
              <a:rPr lang="en-GB" sz="1200" b="0" i="1" u="none" strike="noStrike" kern="1200" baseline="0" dirty="0" smtClean="0">
                <a:solidFill>
                  <a:schemeClr val="tx1"/>
                </a:solidFill>
                <a:latin typeface="+mn-lt"/>
                <a:ea typeface="+mn-ea"/>
                <a:cs typeface="+mn-cs"/>
              </a:rPr>
              <a:t>t</a:t>
            </a:r>
            <a:r>
              <a:rPr lang="en-GB" sz="1200" b="0" i="0" u="none" strike="noStrike" kern="1200" baseline="0" dirty="0" smtClean="0">
                <a:solidFill>
                  <a:schemeClr val="tx1"/>
                </a:solidFill>
                <a:latin typeface="+mn-lt"/>
                <a:ea typeface="+mn-ea"/>
                <a:cs typeface="+mn-cs"/>
              </a:rPr>
              <a:t>1, </a:t>
            </a:r>
            <a:r>
              <a:rPr lang="en-GB" sz="1200" b="0" i="1" u="none" strike="noStrike" kern="1200" baseline="0" dirty="0" smtClean="0">
                <a:solidFill>
                  <a:schemeClr val="tx1"/>
                </a:solidFill>
                <a:latin typeface="+mn-lt"/>
                <a:ea typeface="+mn-ea"/>
                <a:cs typeface="+mn-cs"/>
              </a:rPr>
              <a:t>t</a:t>
            </a:r>
            <a:r>
              <a:rPr lang="en-GB" sz="1200" b="0" i="0" u="none" strike="noStrike" kern="1200" baseline="0" dirty="0" smtClean="0">
                <a:solidFill>
                  <a:schemeClr val="tx1"/>
                </a:solidFill>
                <a:latin typeface="+mn-lt"/>
                <a:ea typeface="+mn-ea"/>
                <a:cs typeface="+mn-cs"/>
              </a:rPr>
              <a:t>2, ..., </a:t>
            </a:r>
            <a:r>
              <a:rPr lang="en-GB" sz="1200" b="0" i="1" u="none" strike="noStrike" kern="1200" baseline="0" dirty="0" smtClean="0">
                <a:solidFill>
                  <a:schemeClr val="tx1"/>
                </a:solidFill>
                <a:latin typeface="+mn-lt"/>
                <a:ea typeface="+mn-ea"/>
                <a:cs typeface="+mn-cs"/>
              </a:rPr>
              <a:t>tm</a:t>
            </a:r>
            <a:r>
              <a:rPr lang="en-GB" sz="1200" b="0" i="0" u="none" strike="noStrike" kern="1200" baseline="0" dirty="0" smtClean="0">
                <a:solidFill>
                  <a:schemeClr val="tx1"/>
                </a:solidFill>
                <a:latin typeface="+mn-lt"/>
                <a:ea typeface="+mn-ea"/>
                <a:cs typeface="+mn-cs"/>
              </a:rPr>
              <a:t>}. Each </a:t>
            </a:r>
            <a:r>
              <a:rPr lang="en-GB" sz="1200" b="1" i="1" u="none" strike="noStrike" kern="1200" baseline="0" dirty="0" smtClean="0">
                <a:solidFill>
                  <a:schemeClr val="tx1"/>
                </a:solidFill>
                <a:latin typeface="+mn-lt"/>
                <a:ea typeface="+mn-ea"/>
                <a:cs typeface="+mn-cs"/>
              </a:rPr>
              <a:t>n</a:t>
            </a:r>
            <a:r>
              <a:rPr lang="en-GB" sz="1200" b="1" i="0" u="none" strike="noStrike" kern="1200" baseline="0" dirty="0" smtClean="0">
                <a:solidFill>
                  <a:schemeClr val="tx1"/>
                </a:solidFill>
                <a:latin typeface="+mn-lt"/>
                <a:ea typeface="+mn-ea"/>
                <a:cs typeface="+mn-cs"/>
              </a:rPr>
              <a:t>-tuple </a:t>
            </a:r>
            <a:r>
              <a:rPr lang="en-GB" sz="1200" b="0" i="1" u="none" strike="noStrike" kern="1200" baseline="0" dirty="0" smtClean="0">
                <a:solidFill>
                  <a:schemeClr val="tx1"/>
                </a:solidFill>
                <a:latin typeface="+mn-lt"/>
                <a:ea typeface="+mn-ea"/>
                <a:cs typeface="+mn-cs"/>
              </a:rPr>
              <a:t>t </a:t>
            </a:r>
            <a:r>
              <a:rPr lang="en-GB" sz="1200" b="0" i="0" u="none" strike="noStrike" kern="1200" baseline="0" dirty="0" smtClean="0">
                <a:solidFill>
                  <a:schemeClr val="tx1"/>
                </a:solidFill>
                <a:latin typeface="+mn-lt"/>
                <a:ea typeface="+mn-ea"/>
                <a:cs typeface="+mn-cs"/>
              </a:rPr>
              <a:t>is an ordered list</a:t>
            </a:r>
          </a:p>
          <a:p>
            <a:r>
              <a:rPr lang="en-GB" sz="1200" b="0" i="0" u="none" strike="noStrike" kern="1200" baseline="0" dirty="0" smtClean="0">
                <a:solidFill>
                  <a:schemeClr val="tx1"/>
                </a:solidFill>
                <a:latin typeface="+mn-lt"/>
                <a:ea typeface="+mn-ea"/>
                <a:cs typeface="+mn-cs"/>
              </a:rPr>
              <a:t>of </a:t>
            </a:r>
            <a:r>
              <a:rPr lang="en-GB" sz="1200" b="0" i="1" u="none" strike="noStrike" kern="1200" baseline="0" dirty="0" smtClean="0">
                <a:solidFill>
                  <a:schemeClr val="tx1"/>
                </a:solidFill>
                <a:latin typeface="+mn-lt"/>
                <a:ea typeface="+mn-ea"/>
                <a:cs typeface="+mn-cs"/>
              </a:rPr>
              <a:t>n </a:t>
            </a:r>
            <a:r>
              <a:rPr lang="en-GB" sz="1200" b="0" i="0" u="none" strike="noStrike" kern="1200" baseline="0" dirty="0" smtClean="0">
                <a:solidFill>
                  <a:schemeClr val="tx1"/>
                </a:solidFill>
                <a:latin typeface="+mn-lt"/>
                <a:ea typeface="+mn-ea"/>
                <a:cs typeface="+mn-cs"/>
              </a:rPr>
              <a:t>values </a:t>
            </a:r>
            <a:r>
              <a:rPr lang="en-GB" sz="1200" b="0" i="1" u="none" strike="noStrike" kern="1200" baseline="0" dirty="0" smtClean="0">
                <a:solidFill>
                  <a:schemeClr val="tx1"/>
                </a:solidFill>
                <a:latin typeface="+mn-lt"/>
                <a:ea typeface="+mn-ea"/>
                <a:cs typeface="+mn-cs"/>
              </a:rPr>
              <a:t>t =&lt;v</a:t>
            </a:r>
            <a:r>
              <a:rPr lang="en-GB" sz="1200" b="0" i="0" u="none" strike="noStrike" kern="1200" baseline="0" dirty="0" smtClean="0">
                <a:solidFill>
                  <a:schemeClr val="tx1"/>
                </a:solidFill>
                <a:latin typeface="+mn-lt"/>
                <a:ea typeface="+mn-ea"/>
                <a:cs typeface="+mn-cs"/>
              </a:rPr>
              <a:t>1</a:t>
            </a:r>
            <a:r>
              <a:rPr lang="en-GB" sz="1200" b="0" i="1" u="none" strike="noStrike" kern="1200" baseline="0" dirty="0" smtClean="0">
                <a:solidFill>
                  <a:schemeClr val="tx1"/>
                </a:solidFill>
                <a:latin typeface="+mn-lt"/>
                <a:ea typeface="+mn-ea"/>
                <a:cs typeface="+mn-cs"/>
              </a:rPr>
              <a:t>, v</a:t>
            </a:r>
            <a:r>
              <a:rPr lang="en-GB" sz="1200" b="0" i="0" u="none" strike="noStrike" kern="1200" baseline="0" dirty="0" smtClean="0">
                <a:solidFill>
                  <a:schemeClr val="tx1"/>
                </a:solidFill>
                <a:latin typeface="+mn-lt"/>
                <a:ea typeface="+mn-ea"/>
                <a:cs typeface="+mn-cs"/>
              </a:rPr>
              <a:t>2</a:t>
            </a:r>
            <a:r>
              <a:rPr lang="en-GB" sz="1200" b="0" i="1" u="none" strike="noStrike" kern="1200" baseline="0" dirty="0" smtClean="0">
                <a:solidFill>
                  <a:schemeClr val="tx1"/>
                </a:solidFill>
                <a:latin typeface="+mn-lt"/>
                <a:ea typeface="+mn-ea"/>
                <a:cs typeface="+mn-cs"/>
              </a:rPr>
              <a:t>, ..., </a:t>
            </a:r>
            <a:r>
              <a:rPr lang="en-GB" sz="1200" b="0" i="1" u="none" strike="noStrike" kern="1200" baseline="0" dirty="0" err="1" smtClean="0">
                <a:solidFill>
                  <a:schemeClr val="tx1"/>
                </a:solidFill>
                <a:latin typeface="+mn-lt"/>
                <a:ea typeface="+mn-ea"/>
                <a:cs typeface="+mn-cs"/>
              </a:rPr>
              <a:t>vn</a:t>
            </a:r>
            <a:r>
              <a:rPr lang="en-GB" sz="1200" b="0" i="1" u="none" strike="noStrike" kern="1200" baseline="0" dirty="0" smtClean="0">
                <a:solidFill>
                  <a:schemeClr val="tx1"/>
                </a:solidFill>
                <a:latin typeface="+mn-lt"/>
                <a:ea typeface="+mn-ea"/>
                <a:cs typeface="+mn-cs"/>
              </a:rPr>
              <a:t>&gt;</a:t>
            </a:r>
            <a:r>
              <a:rPr lang="en-GB" sz="1200" b="0" i="0" u="none" strike="noStrike" kern="1200" baseline="0" dirty="0" smtClean="0">
                <a:solidFill>
                  <a:schemeClr val="tx1"/>
                </a:solidFill>
                <a:latin typeface="+mn-lt"/>
                <a:ea typeface="+mn-ea"/>
                <a:cs typeface="+mn-cs"/>
              </a:rPr>
              <a:t>, where each value </a:t>
            </a:r>
            <a:r>
              <a:rPr lang="en-GB" sz="1200" b="0" i="1" u="none" strike="noStrike" kern="1200" baseline="0" dirty="0" smtClean="0">
                <a:solidFill>
                  <a:schemeClr val="tx1"/>
                </a:solidFill>
                <a:latin typeface="+mn-lt"/>
                <a:ea typeface="+mn-ea"/>
                <a:cs typeface="+mn-cs"/>
              </a:rPr>
              <a:t>vi, </a:t>
            </a:r>
            <a:r>
              <a:rPr lang="en-GB" sz="1200" b="0" i="0" u="none" strike="noStrike" kern="1200" baseline="0" dirty="0" smtClean="0">
                <a:solidFill>
                  <a:schemeClr val="tx1"/>
                </a:solidFill>
                <a:latin typeface="+mn-lt"/>
                <a:ea typeface="+mn-ea"/>
                <a:cs typeface="+mn-cs"/>
              </a:rPr>
              <a:t>1 ≤ </a:t>
            </a:r>
            <a:r>
              <a:rPr lang="en-GB" sz="1200" b="0" i="1" u="none" strike="noStrike" kern="1200" baseline="0" dirty="0" err="1" smtClean="0">
                <a:solidFill>
                  <a:schemeClr val="tx1"/>
                </a:solidFill>
                <a:latin typeface="+mn-lt"/>
                <a:ea typeface="+mn-ea"/>
                <a:cs typeface="+mn-cs"/>
              </a:rPr>
              <a:t>i</a:t>
            </a:r>
            <a:r>
              <a:rPr lang="en-GB" sz="1200" b="0" i="1" u="none" strike="noStrike" kern="1200" baseline="0" dirty="0" smtClean="0">
                <a:solidFill>
                  <a:schemeClr val="tx1"/>
                </a:solidFill>
                <a:latin typeface="+mn-lt"/>
                <a:ea typeface="+mn-ea"/>
                <a:cs typeface="+mn-cs"/>
              </a:rPr>
              <a:t> </a:t>
            </a:r>
            <a:r>
              <a:rPr lang="en-GB" sz="1200" b="0" i="0" u="none" strike="noStrike" kern="1200" baseline="0" dirty="0" smtClean="0">
                <a:solidFill>
                  <a:schemeClr val="tx1"/>
                </a:solidFill>
                <a:latin typeface="+mn-lt"/>
                <a:ea typeface="+mn-ea"/>
                <a:cs typeface="+mn-cs"/>
              </a:rPr>
              <a:t>≤ </a:t>
            </a:r>
            <a:r>
              <a:rPr lang="en-GB" sz="1200" b="0" i="1" u="none" strike="noStrike" kern="1200" baseline="0" dirty="0" smtClean="0">
                <a:solidFill>
                  <a:schemeClr val="tx1"/>
                </a:solidFill>
                <a:latin typeface="+mn-lt"/>
                <a:ea typeface="+mn-ea"/>
                <a:cs typeface="+mn-cs"/>
              </a:rPr>
              <a:t>n</a:t>
            </a:r>
            <a:r>
              <a:rPr lang="en-GB" sz="1200" b="0" i="0" u="none" strike="noStrike" kern="1200" baseline="0" dirty="0" smtClean="0">
                <a:solidFill>
                  <a:schemeClr val="tx1"/>
                </a:solidFill>
                <a:latin typeface="+mn-lt"/>
                <a:ea typeface="+mn-ea"/>
                <a:cs typeface="+mn-cs"/>
              </a:rPr>
              <a:t>, is an element of </a:t>
            </a:r>
            <a:r>
              <a:rPr lang="en-GB" sz="1200" b="0" i="0" u="none" strike="noStrike" kern="1200" baseline="0" dirty="0" err="1" smtClean="0">
                <a:solidFill>
                  <a:schemeClr val="tx1"/>
                </a:solidFill>
                <a:latin typeface="+mn-lt"/>
                <a:ea typeface="+mn-ea"/>
                <a:cs typeface="+mn-cs"/>
              </a:rPr>
              <a:t>dom</a:t>
            </a:r>
            <a:endParaRPr lang="en-GB" sz="1200" b="0" i="0" u="none" strike="noStrike" kern="1200" baseline="0" dirty="0" smtClean="0">
              <a:solidFill>
                <a:schemeClr val="tx1"/>
              </a:solidFill>
              <a:latin typeface="+mn-lt"/>
              <a:ea typeface="+mn-ea"/>
              <a:cs typeface="+mn-cs"/>
            </a:endParaRPr>
          </a:p>
          <a:p>
            <a:r>
              <a:rPr lang="en-GB" sz="1200" b="0" i="1" u="none" strike="noStrike" kern="1200" baseline="0" dirty="0" smtClean="0">
                <a:solidFill>
                  <a:schemeClr val="tx1"/>
                </a:solidFill>
                <a:latin typeface="+mn-lt"/>
                <a:ea typeface="+mn-ea"/>
                <a:cs typeface="+mn-cs"/>
              </a:rPr>
              <a:t>(Ai</a:t>
            </a:r>
            <a:r>
              <a:rPr lang="en-GB" sz="1200" b="0" i="0" u="none" strike="noStrike" kern="1200" baseline="0" dirty="0" smtClean="0">
                <a:solidFill>
                  <a:schemeClr val="tx1"/>
                </a:solidFill>
                <a:latin typeface="+mn-lt"/>
                <a:ea typeface="+mn-ea"/>
                <a:cs typeface="+mn-cs"/>
              </a:rPr>
              <a:t>) or is a special NULL value.</a:t>
            </a:r>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7</a:t>
            </a:fld>
            <a:endParaRPr lang="en-US"/>
          </a:p>
        </p:txBody>
      </p:sp>
    </p:spTree>
    <p:extLst>
      <p:ext uri="{BB962C8B-B14F-4D97-AF65-F5344CB8AC3E}">
        <p14:creationId xmlns:p14="http://schemas.microsoft.com/office/powerpoint/2010/main" val="3255927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baseline="0" dirty="0" smtClean="0">
                <a:solidFill>
                  <a:schemeClr val="tx1"/>
                </a:solidFill>
                <a:latin typeface="+mn-lt"/>
                <a:ea typeface="+mn-ea"/>
                <a:cs typeface="+mn-cs"/>
              </a:rPr>
              <a:t>The </a:t>
            </a:r>
            <a:r>
              <a:rPr lang="en-GB" sz="1200" b="1" i="0" u="none" strike="noStrike" kern="1200" baseline="0" dirty="0" smtClean="0">
                <a:solidFill>
                  <a:schemeClr val="tx1"/>
                </a:solidFill>
                <a:latin typeface="+mn-lt"/>
                <a:ea typeface="+mn-ea"/>
                <a:cs typeface="+mn-cs"/>
              </a:rPr>
              <a:t>degree </a:t>
            </a:r>
            <a:r>
              <a:rPr lang="en-GB" sz="1200" b="0" i="0" u="none" strike="noStrike" kern="1200" baseline="0" dirty="0" smtClean="0">
                <a:solidFill>
                  <a:schemeClr val="tx1"/>
                </a:solidFill>
                <a:latin typeface="+mn-lt"/>
                <a:ea typeface="+mn-ea"/>
                <a:cs typeface="+mn-cs"/>
              </a:rPr>
              <a:t>(or </a:t>
            </a:r>
            <a:r>
              <a:rPr lang="en-GB" sz="1200" b="1" i="0" u="none" strike="noStrike" kern="1200" baseline="0" dirty="0" err="1" smtClean="0">
                <a:solidFill>
                  <a:schemeClr val="tx1"/>
                </a:solidFill>
                <a:latin typeface="+mn-lt"/>
                <a:ea typeface="+mn-ea"/>
                <a:cs typeface="+mn-cs"/>
              </a:rPr>
              <a:t>arity</a:t>
            </a:r>
            <a:r>
              <a:rPr lang="en-GB" sz="1200" b="0" i="0" u="none" strike="noStrike" kern="1200" baseline="0" dirty="0" smtClean="0">
                <a:solidFill>
                  <a:schemeClr val="tx1"/>
                </a:solidFill>
                <a:latin typeface="+mn-lt"/>
                <a:ea typeface="+mn-ea"/>
                <a:cs typeface="+mn-cs"/>
              </a:rPr>
              <a:t>) of a relation is the number of attributes </a:t>
            </a:r>
            <a:r>
              <a:rPr lang="en-GB" sz="1200" b="0" i="1" u="none" strike="noStrike" kern="1200" baseline="0" dirty="0" smtClean="0">
                <a:solidFill>
                  <a:schemeClr val="tx1"/>
                </a:solidFill>
                <a:latin typeface="+mn-lt"/>
                <a:ea typeface="+mn-ea"/>
                <a:cs typeface="+mn-cs"/>
              </a:rPr>
              <a:t>n </a:t>
            </a:r>
            <a:r>
              <a:rPr lang="en-GB" sz="1200" b="0" i="0" u="none" strike="noStrike" kern="1200" baseline="0" dirty="0" smtClean="0">
                <a:solidFill>
                  <a:schemeClr val="tx1"/>
                </a:solidFill>
                <a:latin typeface="+mn-lt"/>
                <a:ea typeface="+mn-ea"/>
                <a:cs typeface="+mn-cs"/>
              </a:rPr>
              <a:t>of its relation schema.</a:t>
            </a:r>
            <a:endParaRPr lang="en-GB" sz="1200" b="1" i="0" u="none" strike="noStrike" kern="1200" baseline="0" dirty="0" smtClean="0">
              <a:solidFill>
                <a:schemeClr val="tx1"/>
              </a:solidFill>
              <a:latin typeface="+mn-lt"/>
              <a:ea typeface="+mn-ea"/>
              <a:cs typeface="+mn-cs"/>
            </a:endParaRPr>
          </a:p>
          <a:p>
            <a:endParaRPr lang="en-GB" sz="1200" b="0" i="0" u="none" strike="noStrike" kern="1200" baseline="0" dirty="0" smtClean="0">
              <a:solidFill>
                <a:schemeClr val="tx1"/>
              </a:solidFill>
              <a:latin typeface="+mn-lt"/>
              <a:ea typeface="+mn-ea"/>
              <a:cs typeface="+mn-cs"/>
            </a:endParaRPr>
          </a:p>
          <a:p>
            <a:r>
              <a:rPr lang="en-GB" sz="1200" b="0" i="0" u="none" strike="noStrike" kern="1200" baseline="0" dirty="0" smtClean="0">
                <a:solidFill>
                  <a:schemeClr val="tx1"/>
                </a:solidFill>
                <a:latin typeface="+mn-lt"/>
                <a:ea typeface="+mn-ea"/>
                <a:cs typeface="+mn-cs"/>
              </a:rPr>
              <a:t>The earlier definition of a relation can be </a:t>
            </a:r>
            <a:r>
              <a:rPr lang="en-GB" sz="1200" b="0" i="1" u="none" strike="noStrike" kern="1200" baseline="0" dirty="0" smtClean="0">
                <a:solidFill>
                  <a:schemeClr val="tx1"/>
                </a:solidFill>
                <a:latin typeface="+mn-lt"/>
                <a:ea typeface="+mn-ea"/>
                <a:cs typeface="+mn-cs"/>
              </a:rPr>
              <a:t>restated </a:t>
            </a:r>
            <a:r>
              <a:rPr lang="en-GB" sz="1200" b="0" i="0" u="none" strike="noStrike" kern="1200" baseline="0" dirty="0" smtClean="0">
                <a:solidFill>
                  <a:schemeClr val="tx1"/>
                </a:solidFill>
                <a:latin typeface="+mn-lt"/>
                <a:ea typeface="+mn-ea"/>
                <a:cs typeface="+mn-cs"/>
              </a:rPr>
              <a:t>more formally using set </a:t>
            </a:r>
            <a:r>
              <a:rPr lang="en-GB" sz="1200" b="0" i="0" u="none" strike="noStrike" kern="1200" baseline="0" dirty="0" smtClean="0">
                <a:solidFill>
                  <a:schemeClr val="tx1"/>
                </a:solidFill>
                <a:latin typeface="+mn-lt"/>
                <a:ea typeface="+mn-ea"/>
                <a:cs typeface="+mn-cs"/>
              </a:rPr>
              <a:t>theory concepts </a:t>
            </a:r>
            <a:r>
              <a:rPr lang="en-GB" sz="1200" b="0" i="0" u="none" strike="noStrike" kern="1200" baseline="0" dirty="0" smtClean="0">
                <a:solidFill>
                  <a:schemeClr val="tx1"/>
                </a:solidFill>
                <a:latin typeface="+mn-lt"/>
                <a:ea typeface="+mn-ea"/>
                <a:cs typeface="+mn-cs"/>
              </a:rPr>
              <a:t>as follows. A relation (or relation state) </a:t>
            </a:r>
            <a:r>
              <a:rPr lang="en-GB" sz="1200" b="0" i="1" u="none" strike="noStrike" kern="1200" baseline="0" dirty="0" smtClean="0">
                <a:solidFill>
                  <a:schemeClr val="tx1"/>
                </a:solidFill>
                <a:latin typeface="+mn-lt"/>
                <a:ea typeface="+mn-ea"/>
                <a:cs typeface="+mn-cs"/>
              </a:rPr>
              <a:t>r</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R</a:t>
            </a:r>
            <a:r>
              <a:rPr lang="en-GB" sz="1200" b="0" i="0" u="none" strike="noStrike" kern="1200" baseline="0" dirty="0" smtClean="0">
                <a:solidFill>
                  <a:schemeClr val="tx1"/>
                </a:solidFill>
                <a:latin typeface="+mn-lt"/>
                <a:ea typeface="+mn-ea"/>
                <a:cs typeface="+mn-cs"/>
              </a:rPr>
              <a:t>) is a </a:t>
            </a:r>
            <a:r>
              <a:rPr lang="en-GB" sz="1200" b="1" i="0" u="none" strike="noStrike" kern="1200" baseline="0" dirty="0" smtClean="0">
                <a:solidFill>
                  <a:schemeClr val="tx1"/>
                </a:solidFill>
                <a:latin typeface="+mn-lt"/>
                <a:ea typeface="+mn-ea"/>
                <a:cs typeface="+mn-cs"/>
              </a:rPr>
              <a:t>mathematical relation </a:t>
            </a:r>
            <a:r>
              <a:rPr lang="en-GB" sz="1200" b="0" i="0" u="none" strike="noStrike" kern="1200" baseline="0" dirty="0" smtClean="0">
                <a:solidFill>
                  <a:schemeClr val="tx1"/>
                </a:solidFill>
                <a:latin typeface="+mn-lt"/>
                <a:ea typeface="+mn-ea"/>
                <a:cs typeface="+mn-cs"/>
              </a:rPr>
              <a:t>of</a:t>
            </a:r>
          </a:p>
          <a:p>
            <a:r>
              <a:rPr lang="en-GB" sz="1200" b="0" i="0" u="none" strike="noStrike" kern="1200" baseline="0" dirty="0" smtClean="0">
                <a:solidFill>
                  <a:schemeClr val="tx1"/>
                </a:solidFill>
                <a:latin typeface="+mn-lt"/>
                <a:ea typeface="+mn-ea"/>
                <a:cs typeface="+mn-cs"/>
              </a:rPr>
              <a:t>degree </a:t>
            </a:r>
            <a:r>
              <a:rPr lang="en-GB" sz="1200" b="0" i="1" u="none" strike="noStrike" kern="1200" baseline="0" dirty="0" smtClean="0">
                <a:solidFill>
                  <a:schemeClr val="tx1"/>
                </a:solidFill>
                <a:latin typeface="+mn-lt"/>
                <a:ea typeface="+mn-ea"/>
                <a:cs typeface="+mn-cs"/>
              </a:rPr>
              <a:t>n </a:t>
            </a:r>
            <a:r>
              <a:rPr lang="en-GB" sz="1200" b="0" i="0" u="none" strike="noStrike" kern="1200" baseline="0" dirty="0" smtClean="0">
                <a:solidFill>
                  <a:schemeClr val="tx1"/>
                </a:solidFill>
                <a:latin typeface="+mn-lt"/>
                <a:ea typeface="+mn-ea"/>
                <a:cs typeface="+mn-cs"/>
              </a:rPr>
              <a:t>on the domains </a:t>
            </a:r>
            <a:r>
              <a:rPr lang="en-GB" sz="1200" b="0" i="0" u="none" strike="noStrike" kern="1200" baseline="0" dirty="0" err="1" smtClean="0">
                <a:solidFill>
                  <a:schemeClr val="tx1"/>
                </a:solidFill>
                <a:latin typeface="+mn-lt"/>
                <a:ea typeface="+mn-ea"/>
                <a:cs typeface="+mn-cs"/>
              </a:rPr>
              <a:t>dom</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A</a:t>
            </a:r>
            <a:r>
              <a:rPr lang="en-GB" sz="1200" b="0" i="0" u="none" strike="noStrike" kern="1200" baseline="0" dirty="0" smtClean="0">
                <a:solidFill>
                  <a:schemeClr val="tx1"/>
                </a:solidFill>
                <a:latin typeface="+mn-lt"/>
                <a:ea typeface="+mn-ea"/>
                <a:cs typeface="+mn-cs"/>
              </a:rPr>
              <a:t>1), </a:t>
            </a:r>
            <a:r>
              <a:rPr lang="en-GB" sz="1200" b="0" i="0" u="none" strike="noStrike" kern="1200" baseline="0" dirty="0" err="1" smtClean="0">
                <a:solidFill>
                  <a:schemeClr val="tx1"/>
                </a:solidFill>
                <a:latin typeface="+mn-lt"/>
                <a:ea typeface="+mn-ea"/>
                <a:cs typeface="+mn-cs"/>
              </a:rPr>
              <a:t>dom</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A</a:t>
            </a:r>
            <a:r>
              <a:rPr lang="en-GB" sz="1200" b="0" i="0" u="none" strike="noStrike" kern="1200" baseline="0" dirty="0" smtClean="0">
                <a:solidFill>
                  <a:schemeClr val="tx1"/>
                </a:solidFill>
                <a:latin typeface="+mn-lt"/>
                <a:ea typeface="+mn-ea"/>
                <a:cs typeface="+mn-cs"/>
              </a:rPr>
              <a:t>2), ..., </a:t>
            </a:r>
            <a:r>
              <a:rPr lang="en-GB" sz="1200" b="0" i="0" u="none" strike="noStrike" kern="1200" baseline="0" dirty="0" err="1" smtClean="0">
                <a:solidFill>
                  <a:schemeClr val="tx1"/>
                </a:solidFill>
                <a:latin typeface="+mn-lt"/>
                <a:ea typeface="+mn-ea"/>
                <a:cs typeface="+mn-cs"/>
              </a:rPr>
              <a:t>dom</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An</a:t>
            </a:r>
            <a:r>
              <a:rPr lang="en-GB" sz="1200" b="0" i="0" u="none" strike="noStrike" kern="1200" baseline="0" dirty="0" smtClean="0">
                <a:solidFill>
                  <a:schemeClr val="tx1"/>
                </a:solidFill>
                <a:latin typeface="+mn-lt"/>
                <a:ea typeface="+mn-ea"/>
                <a:cs typeface="+mn-cs"/>
              </a:rPr>
              <a:t>), which is a </a:t>
            </a:r>
            <a:r>
              <a:rPr lang="en-GB" sz="1200" b="1" i="0" u="none" strike="noStrike" kern="1200" baseline="0" dirty="0" smtClean="0">
                <a:solidFill>
                  <a:schemeClr val="tx1"/>
                </a:solidFill>
                <a:latin typeface="+mn-lt"/>
                <a:ea typeface="+mn-ea"/>
                <a:cs typeface="+mn-cs"/>
              </a:rPr>
              <a:t>subset </a:t>
            </a:r>
            <a:r>
              <a:rPr lang="en-GB" sz="1200" b="0" i="0" u="none" strike="noStrike" kern="1200" baseline="0" dirty="0" smtClean="0">
                <a:solidFill>
                  <a:schemeClr val="tx1"/>
                </a:solidFill>
                <a:latin typeface="+mn-lt"/>
                <a:ea typeface="+mn-ea"/>
                <a:cs typeface="+mn-cs"/>
              </a:rPr>
              <a:t>of </a:t>
            </a:r>
            <a:r>
              <a:rPr lang="en-GB" sz="1200" b="0" i="0" u="none" strike="noStrike" kern="1200" baseline="0" dirty="0" smtClean="0">
                <a:solidFill>
                  <a:schemeClr val="tx1"/>
                </a:solidFill>
                <a:latin typeface="+mn-lt"/>
                <a:ea typeface="+mn-ea"/>
                <a:cs typeface="+mn-cs"/>
              </a:rPr>
              <a:t>the </a:t>
            </a:r>
            <a:r>
              <a:rPr lang="en-GB" sz="1200" b="1" i="0" u="none" strike="noStrike" kern="1200" baseline="0" dirty="0" smtClean="0">
                <a:solidFill>
                  <a:schemeClr val="tx1"/>
                </a:solidFill>
                <a:latin typeface="+mn-lt"/>
                <a:ea typeface="+mn-ea"/>
                <a:cs typeface="+mn-cs"/>
              </a:rPr>
              <a:t>Cartesian </a:t>
            </a:r>
            <a:r>
              <a:rPr lang="en-GB" sz="1200" b="1" i="0" u="none" strike="noStrike" kern="1200" baseline="0" dirty="0" smtClean="0">
                <a:solidFill>
                  <a:schemeClr val="tx1"/>
                </a:solidFill>
                <a:latin typeface="+mn-lt"/>
                <a:ea typeface="+mn-ea"/>
                <a:cs typeface="+mn-cs"/>
              </a:rPr>
              <a:t>product </a:t>
            </a:r>
            <a:r>
              <a:rPr lang="en-GB" sz="1200" b="0" i="0" u="none" strike="noStrike" kern="1200" baseline="0" dirty="0" smtClean="0">
                <a:solidFill>
                  <a:schemeClr val="tx1"/>
                </a:solidFill>
                <a:latin typeface="+mn-lt"/>
                <a:ea typeface="+mn-ea"/>
                <a:cs typeface="+mn-cs"/>
              </a:rPr>
              <a:t>(denoted by ×) of the domains that define </a:t>
            </a:r>
            <a:r>
              <a:rPr lang="en-GB" sz="1200" b="0" i="1" u="none" strike="noStrike" kern="1200" baseline="0" dirty="0" smtClean="0">
                <a:solidFill>
                  <a:schemeClr val="tx1"/>
                </a:solidFill>
                <a:latin typeface="+mn-lt"/>
                <a:ea typeface="+mn-ea"/>
                <a:cs typeface="+mn-cs"/>
              </a:rPr>
              <a:t>R</a:t>
            </a:r>
            <a:r>
              <a:rPr lang="en-GB" sz="1200" b="0" i="0" u="none" strike="noStrike" kern="1200" baseline="0" dirty="0" smtClean="0">
                <a:solidFill>
                  <a:schemeClr val="tx1"/>
                </a:solidFill>
                <a:latin typeface="+mn-lt"/>
                <a:ea typeface="+mn-ea"/>
                <a:cs typeface="+mn-cs"/>
              </a:rPr>
              <a:t>:</a:t>
            </a:r>
          </a:p>
          <a:p>
            <a:r>
              <a:rPr lang="en-US" sz="1200" b="0" i="1" u="none" strike="noStrike" kern="1200" baseline="0" dirty="0" smtClean="0">
                <a:solidFill>
                  <a:schemeClr val="tx1"/>
                </a:solidFill>
                <a:latin typeface="+mn-lt"/>
                <a:ea typeface="+mn-ea"/>
                <a:cs typeface="+mn-cs"/>
              </a:rPr>
              <a:t>r</a:t>
            </a:r>
            <a:r>
              <a:rPr lang="en-US" sz="1200" b="0" i="0" u="none" strike="noStrike" kern="1200" baseline="0" dirty="0" smtClean="0">
                <a:solidFill>
                  <a:schemeClr val="tx1"/>
                </a:solidFill>
                <a:latin typeface="+mn-lt"/>
                <a:ea typeface="+mn-ea"/>
                <a:cs typeface="+mn-cs"/>
              </a:rPr>
              <a:t>(</a:t>
            </a:r>
            <a:r>
              <a:rPr lang="en-US" sz="1200" b="0" i="1" u="none" strike="noStrike" kern="1200" baseline="0" dirty="0" smtClean="0">
                <a:solidFill>
                  <a:schemeClr val="tx1"/>
                </a:solidFill>
                <a:latin typeface="+mn-lt"/>
                <a:ea typeface="+mn-ea"/>
                <a:cs typeface="+mn-cs"/>
              </a:rPr>
              <a:t>R</a:t>
            </a:r>
            <a:r>
              <a:rPr lang="en-US" sz="1200" b="0" i="0" u="none" strike="noStrike" kern="1200" baseline="0" dirty="0" smtClean="0">
                <a:solidFill>
                  <a:schemeClr val="tx1"/>
                </a:solidFill>
                <a:latin typeface="+mn-lt"/>
                <a:ea typeface="+mn-ea"/>
                <a:cs typeface="+mn-cs"/>
              </a:rPr>
              <a:t>) ⊆ (</a:t>
            </a:r>
            <a:r>
              <a:rPr lang="en-US" sz="1200" b="0" i="0" u="none" strike="noStrike" kern="1200" baseline="0" dirty="0" err="1" smtClean="0">
                <a:solidFill>
                  <a:schemeClr val="tx1"/>
                </a:solidFill>
                <a:latin typeface="+mn-lt"/>
                <a:ea typeface="+mn-ea"/>
                <a:cs typeface="+mn-cs"/>
              </a:rPr>
              <a:t>dom</a:t>
            </a:r>
            <a:r>
              <a:rPr lang="en-US" sz="1200" b="0" i="0" u="none" strike="noStrike" kern="1200" baseline="0" dirty="0" smtClean="0">
                <a:solidFill>
                  <a:schemeClr val="tx1"/>
                </a:solidFill>
                <a:latin typeface="+mn-lt"/>
                <a:ea typeface="+mn-ea"/>
                <a:cs typeface="+mn-cs"/>
              </a:rPr>
              <a:t>(</a:t>
            </a:r>
            <a:r>
              <a:rPr lang="en-US" sz="1200" b="0" i="1" u="none" strike="noStrike" kern="1200" baseline="0" dirty="0" smtClean="0">
                <a:solidFill>
                  <a:schemeClr val="tx1"/>
                </a:solidFill>
                <a:latin typeface="+mn-lt"/>
                <a:ea typeface="+mn-ea"/>
                <a:cs typeface="+mn-cs"/>
              </a:rPr>
              <a:t>A</a:t>
            </a:r>
            <a:r>
              <a:rPr lang="en-US" sz="1200" b="0" i="0" u="none" strike="noStrike" kern="1200" baseline="0" dirty="0" smtClean="0">
                <a:solidFill>
                  <a:schemeClr val="tx1"/>
                </a:solidFill>
                <a:latin typeface="+mn-lt"/>
                <a:ea typeface="+mn-ea"/>
                <a:cs typeface="+mn-cs"/>
              </a:rPr>
              <a:t>1) × </a:t>
            </a:r>
            <a:r>
              <a:rPr lang="en-US" sz="1200" b="0" i="0" u="none" strike="noStrike" kern="1200" baseline="0" dirty="0" err="1" smtClean="0">
                <a:solidFill>
                  <a:schemeClr val="tx1"/>
                </a:solidFill>
                <a:latin typeface="+mn-lt"/>
                <a:ea typeface="+mn-ea"/>
                <a:cs typeface="+mn-cs"/>
              </a:rPr>
              <a:t>dom</a:t>
            </a:r>
            <a:r>
              <a:rPr lang="en-US" sz="1200" b="0" i="0" u="none" strike="noStrike" kern="1200" baseline="0" dirty="0" smtClean="0">
                <a:solidFill>
                  <a:schemeClr val="tx1"/>
                </a:solidFill>
                <a:latin typeface="+mn-lt"/>
                <a:ea typeface="+mn-ea"/>
                <a:cs typeface="+mn-cs"/>
              </a:rPr>
              <a:t>(</a:t>
            </a:r>
            <a:r>
              <a:rPr lang="en-US" sz="1200" b="0" i="1" u="none" strike="noStrike" kern="1200" baseline="0" dirty="0" smtClean="0">
                <a:solidFill>
                  <a:schemeClr val="tx1"/>
                </a:solidFill>
                <a:latin typeface="+mn-lt"/>
                <a:ea typeface="+mn-ea"/>
                <a:cs typeface="+mn-cs"/>
              </a:rPr>
              <a:t>A</a:t>
            </a:r>
            <a:r>
              <a:rPr lang="en-US" sz="1200" b="0" i="0" u="none" strike="noStrike" kern="1200" baseline="0" dirty="0" smtClean="0">
                <a:solidFill>
                  <a:schemeClr val="tx1"/>
                </a:solidFill>
                <a:latin typeface="+mn-lt"/>
                <a:ea typeface="+mn-ea"/>
                <a:cs typeface="+mn-cs"/>
              </a:rPr>
              <a:t>2) × ... × </a:t>
            </a:r>
            <a:r>
              <a:rPr lang="en-US" sz="1200" b="0" i="0" u="none" strike="noStrike" kern="1200" baseline="0" dirty="0" err="1" smtClean="0">
                <a:solidFill>
                  <a:schemeClr val="tx1"/>
                </a:solidFill>
                <a:latin typeface="+mn-lt"/>
                <a:ea typeface="+mn-ea"/>
                <a:cs typeface="+mn-cs"/>
              </a:rPr>
              <a:t>dom</a:t>
            </a:r>
            <a:r>
              <a:rPr lang="en-US" sz="1200" b="0" i="0" u="none" strike="noStrike" kern="1200" baseline="0" dirty="0" smtClean="0">
                <a:solidFill>
                  <a:schemeClr val="tx1"/>
                </a:solidFill>
                <a:latin typeface="+mn-lt"/>
                <a:ea typeface="+mn-ea"/>
                <a:cs typeface="+mn-cs"/>
              </a:rPr>
              <a:t>(</a:t>
            </a:r>
            <a:r>
              <a:rPr lang="en-US" sz="1200" b="0" i="1" u="none" strike="noStrike" kern="1200" baseline="0" dirty="0" smtClean="0">
                <a:solidFill>
                  <a:schemeClr val="tx1"/>
                </a:solidFill>
                <a:latin typeface="+mn-lt"/>
                <a:ea typeface="+mn-ea"/>
                <a:cs typeface="+mn-cs"/>
              </a:rPr>
              <a:t>An</a:t>
            </a:r>
            <a:r>
              <a:rPr lang="en-US" sz="1200" b="0" i="0" u="none" strike="noStrike" kern="1200" baseline="0" dirty="0" smtClean="0">
                <a:solidFill>
                  <a:schemeClr val="tx1"/>
                </a:solidFill>
                <a:latin typeface="+mn-lt"/>
                <a:ea typeface="+mn-ea"/>
                <a:cs typeface="+mn-cs"/>
              </a:rPr>
              <a:t>))</a:t>
            </a:r>
          </a:p>
          <a:p>
            <a:endParaRPr lang="en-GB" sz="1200" b="0" i="0" u="none" strike="noStrike" kern="1200" baseline="0" dirty="0" smtClean="0">
              <a:solidFill>
                <a:schemeClr val="tx1"/>
              </a:solidFill>
              <a:latin typeface="+mn-lt"/>
              <a:ea typeface="+mn-ea"/>
              <a:cs typeface="+mn-cs"/>
            </a:endParaRPr>
          </a:p>
          <a:p>
            <a:r>
              <a:rPr lang="en-GB" sz="1200" b="0" i="0" u="none" strike="noStrike" kern="1200" baseline="0" dirty="0" smtClean="0">
                <a:solidFill>
                  <a:schemeClr val="tx1"/>
                </a:solidFill>
                <a:latin typeface="+mn-lt"/>
                <a:ea typeface="+mn-ea"/>
                <a:cs typeface="+mn-cs"/>
              </a:rPr>
              <a:t>The Cartesian product specifies all possible combinations of values from the </a:t>
            </a:r>
            <a:r>
              <a:rPr lang="en-GB" sz="1200" b="0" i="0" u="none" strike="noStrike" kern="1200" baseline="0" dirty="0" smtClean="0">
                <a:solidFill>
                  <a:schemeClr val="tx1"/>
                </a:solidFill>
                <a:latin typeface="+mn-lt"/>
                <a:ea typeface="+mn-ea"/>
                <a:cs typeface="+mn-cs"/>
              </a:rPr>
              <a:t>underlying domains</a:t>
            </a:r>
            <a:r>
              <a:rPr lang="en-GB" sz="1200" b="0" i="0" u="none" strike="noStrike" kern="1200" baseline="0" dirty="0" smtClean="0">
                <a:solidFill>
                  <a:schemeClr val="tx1"/>
                </a:solidFill>
                <a:latin typeface="+mn-lt"/>
                <a:ea typeface="+mn-ea"/>
                <a:cs typeface="+mn-cs"/>
              </a:rPr>
              <a:t>. Hence, if we denote the total number of values, or </a:t>
            </a:r>
            <a:r>
              <a:rPr lang="en-GB" sz="1200" b="1" i="0" u="none" strike="noStrike" kern="1200" baseline="0" dirty="0" smtClean="0">
                <a:solidFill>
                  <a:schemeClr val="tx1"/>
                </a:solidFill>
                <a:latin typeface="+mn-lt"/>
                <a:ea typeface="+mn-ea"/>
                <a:cs typeface="+mn-cs"/>
              </a:rPr>
              <a:t>cardinality, </a:t>
            </a:r>
            <a:r>
              <a:rPr lang="en-GB" sz="1200" b="0" i="0" u="none" strike="noStrike" kern="1200" baseline="0" dirty="0" smtClean="0">
                <a:solidFill>
                  <a:schemeClr val="tx1"/>
                </a:solidFill>
                <a:latin typeface="+mn-lt"/>
                <a:ea typeface="+mn-ea"/>
                <a:cs typeface="+mn-cs"/>
              </a:rPr>
              <a:t>in a</a:t>
            </a:r>
          </a:p>
          <a:p>
            <a:r>
              <a:rPr lang="en-GB" sz="1200" b="0" i="0" u="none" strike="noStrike" kern="1200" baseline="0" dirty="0" smtClean="0">
                <a:solidFill>
                  <a:schemeClr val="tx1"/>
                </a:solidFill>
                <a:latin typeface="+mn-lt"/>
                <a:ea typeface="+mn-ea"/>
                <a:cs typeface="+mn-cs"/>
              </a:rPr>
              <a:t>domain </a:t>
            </a:r>
            <a:r>
              <a:rPr lang="en-GB" sz="1200" b="0" i="1" u="none" strike="noStrike" kern="1200" baseline="0" dirty="0" smtClean="0">
                <a:solidFill>
                  <a:schemeClr val="tx1"/>
                </a:solidFill>
                <a:latin typeface="+mn-lt"/>
                <a:ea typeface="+mn-ea"/>
                <a:cs typeface="+mn-cs"/>
              </a:rPr>
              <a:t>D </a:t>
            </a:r>
            <a:r>
              <a:rPr lang="en-GB" sz="1200" b="0" i="0" u="none" strike="noStrike" kern="1200" baseline="0" dirty="0" smtClean="0">
                <a:solidFill>
                  <a:schemeClr val="tx1"/>
                </a:solidFill>
                <a:latin typeface="+mn-lt"/>
                <a:ea typeface="+mn-ea"/>
                <a:cs typeface="+mn-cs"/>
              </a:rPr>
              <a:t>by |</a:t>
            </a:r>
            <a:r>
              <a:rPr lang="en-GB" sz="1200" b="0" i="1" u="none" strike="noStrike" kern="1200" baseline="0" dirty="0" smtClean="0">
                <a:solidFill>
                  <a:schemeClr val="tx1"/>
                </a:solidFill>
                <a:latin typeface="+mn-lt"/>
                <a:ea typeface="+mn-ea"/>
                <a:cs typeface="+mn-cs"/>
              </a:rPr>
              <a:t>D</a:t>
            </a:r>
            <a:r>
              <a:rPr lang="en-GB" sz="1200" b="0" i="0" u="none" strike="noStrike" kern="1200" baseline="0" dirty="0" smtClean="0">
                <a:solidFill>
                  <a:schemeClr val="tx1"/>
                </a:solidFill>
                <a:latin typeface="+mn-lt"/>
                <a:ea typeface="+mn-ea"/>
                <a:cs typeface="+mn-cs"/>
              </a:rPr>
              <a:t>| (assuming that all domains are finite), the total number of tuples</a:t>
            </a:r>
          </a:p>
          <a:p>
            <a:r>
              <a:rPr lang="en-GB" sz="1200" b="0" i="0" u="none" strike="noStrike" kern="1200" baseline="0" dirty="0" smtClean="0">
                <a:solidFill>
                  <a:schemeClr val="tx1"/>
                </a:solidFill>
                <a:latin typeface="+mn-lt"/>
                <a:ea typeface="+mn-ea"/>
                <a:cs typeface="+mn-cs"/>
              </a:rPr>
              <a:t>in the Cartesian product is</a:t>
            </a:r>
          </a:p>
          <a:p>
            <a:r>
              <a:rPr lang="en-US" sz="1200" b="0" i="0" u="none" strike="noStrike" kern="1200" baseline="0" dirty="0" smtClean="0">
                <a:solidFill>
                  <a:schemeClr val="tx1"/>
                </a:solidFill>
                <a:latin typeface="+mn-lt"/>
                <a:ea typeface="+mn-ea"/>
                <a:cs typeface="+mn-cs"/>
              </a:rPr>
              <a:t>|</a:t>
            </a:r>
            <a:r>
              <a:rPr lang="en-US" sz="1200" b="0" i="0" u="none" strike="noStrike" kern="1200" baseline="0" dirty="0" err="1" smtClean="0">
                <a:solidFill>
                  <a:schemeClr val="tx1"/>
                </a:solidFill>
                <a:latin typeface="+mn-lt"/>
                <a:ea typeface="+mn-ea"/>
                <a:cs typeface="+mn-cs"/>
              </a:rPr>
              <a:t>dom</a:t>
            </a:r>
            <a:r>
              <a:rPr lang="en-US" sz="1200" b="0" i="0" u="none" strike="noStrike" kern="1200" baseline="0" dirty="0" smtClean="0">
                <a:solidFill>
                  <a:schemeClr val="tx1"/>
                </a:solidFill>
                <a:latin typeface="+mn-lt"/>
                <a:ea typeface="+mn-ea"/>
                <a:cs typeface="+mn-cs"/>
              </a:rPr>
              <a:t>(</a:t>
            </a:r>
            <a:r>
              <a:rPr lang="en-US" sz="1200" b="0" i="1" u="none" strike="noStrike" kern="1200" baseline="0" dirty="0" smtClean="0">
                <a:solidFill>
                  <a:schemeClr val="tx1"/>
                </a:solidFill>
                <a:latin typeface="+mn-lt"/>
                <a:ea typeface="+mn-ea"/>
                <a:cs typeface="+mn-cs"/>
              </a:rPr>
              <a:t>A</a:t>
            </a:r>
            <a:r>
              <a:rPr lang="en-US" sz="1200" b="0" i="0" u="none" strike="noStrike" kern="1200" baseline="0" dirty="0" smtClean="0">
                <a:solidFill>
                  <a:schemeClr val="tx1"/>
                </a:solidFill>
                <a:latin typeface="+mn-lt"/>
                <a:ea typeface="+mn-ea"/>
                <a:cs typeface="+mn-cs"/>
              </a:rPr>
              <a:t>1)| × |</a:t>
            </a:r>
            <a:r>
              <a:rPr lang="en-US" sz="1200" b="0" i="0" u="none" strike="noStrike" kern="1200" baseline="0" dirty="0" err="1" smtClean="0">
                <a:solidFill>
                  <a:schemeClr val="tx1"/>
                </a:solidFill>
                <a:latin typeface="+mn-lt"/>
                <a:ea typeface="+mn-ea"/>
                <a:cs typeface="+mn-cs"/>
              </a:rPr>
              <a:t>dom</a:t>
            </a:r>
            <a:r>
              <a:rPr lang="en-US" sz="1200" b="0" i="0" u="none" strike="noStrike" kern="1200" baseline="0" dirty="0" smtClean="0">
                <a:solidFill>
                  <a:schemeClr val="tx1"/>
                </a:solidFill>
                <a:latin typeface="+mn-lt"/>
                <a:ea typeface="+mn-ea"/>
                <a:cs typeface="+mn-cs"/>
              </a:rPr>
              <a:t>(</a:t>
            </a:r>
            <a:r>
              <a:rPr lang="en-US" sz="1200" b="0" i="1" u="none" strike="noStrike" kern="1200" baseline="0" dirty="0" smtClean="0">
                <a:solidFill>
                  <a:schemeClr val="tx1"/>
                </a:solidFill>
                <a:latin typeface="+mn-lt"/>
                <a:ea typeface="+mn-ea"/>
                <a:cs typeface="+mn-cs"/>
              </a:rPr>
              <a:t>A</a:t>
            </a:r>
            <a:r>
              <a:rPr lang="en-US" sz="1200" b="0" i="0" u="none" strike="noStrike" kern="1200" baseline="0" dirty="0" smtClean="0">
                <a:solidFill>
                  <a:schemeClr val="tx1"/>
                </a:solidFill>
                <a:latin typeface="+mn-lt"/>
                <a:ea typeface="+mn-ea"/>
                <a:cs typeface="+mn-cs"/>
              </a:rPr>
              <a:t>2)| × ... × |</a:t>
            </a:r>
            <a:r>
              <a:rPr lang="en-US" sz="1200" b="0" i="0" u="none" strike="noStrike" kern="1200" baseline="0" dirty="0" err="1" smtClean="0">
                <a:solidFill>
                  <a:schemeClr val="tx1"/>
                </a:solidFill>
                <a:latin typeface="+mn-lt"/>
                <a:ea typeface="+mn-ea"/>
                <a:cs typeface="+mn-cs"/>
              </a:rPr>
              <a:t>dom</a:t>
            </a:r>
            <a:r>
              <a:rPr lang="en-US" sz="1200" b="0" i="0" u="none" strike="noStrike" kern="1200" baseline="0" dirty="0" smtClean="0">
                <a:solidFill>
                  <a:schemeClr val="tx1"/>
                </a:solidFill>
                <a:latin typeface="+mn-lt"/>
                <a:ea typeface="+mn-ea"/>
                <a:cs typeface="+mn-cs"/>
              </a:rPr>
              <a:t>(</a:t>
            </a:r>
            <a:r>
              <a:rPr lang="en-US" sz="1200" b="0" i="1" u="none" strike="noStrike" kern="1200" baseline="0" dirty="0" smtClean="0">
                <a:solidFill>
                  <a:schemeClr val="tx1"/>
                </a:solidFill>
                <a:latin typeface="+mn-lt"/>
                <a:ea typeface="+mn-ea"/>
                <a:cs typeface="+mn-cs"/>
              </a:rPr>
              <a:t>An</a:t>
            </a:r>
            <a:r>
              <a:rPr lang="en-US" sz="1200" b="0" i="0" u="none" strike="noStrike" kern="1200" baseline="0" dirty="0" smtClean="0">
                <a:solidFill>
                  <a:schemeClr val="tx1"/>
                </a:solidFill>
                <a:latin typeface="+mn-lt"/>
                <a:ea typeface="+mn-ea"/>
                <a:cs typeface="+mn-cs"/>
              </a:rPr>
              <a:t>)|</a:t>
            </a:r>
          </a:p>
          <a:p>
            <a:r>
              <a:rPr lang="en-GB" sz="1200" b="0" i="0" u="none" strike="noStrike" kern="1200" baseline="0" dirty="0" smtClean="0">
                <a:solidFill>
                  <a:schemeClr val="tx1"/>
                </a:solidFill>
                <a:latin typeface="+mn-lt"/>
                <a:ea typeface="+mn-ea"/>
                <a:cs typeface="+mn-cs"/>
              </a:rPr>
              <a:t>This product of cardinalities of all domains represents the total number of possible</a:t>
            </a:r>
          </a:p>
          <a:p>
            <a:r>
              <a:rPr lang="en-GB" sz="1200" b="0" i="0" u="none" strike="noStrike" kern="1200" baseline="0" dirty="0" smtClean="0">
                <a:solidFill>
                  <a:schemeClr val="tx1"/>
                </a:solidFill>
                <a:latin typeface="+mn-lt"/>
                <a:ea typeface="+mn-ea"/>
                <a:cs typeface="+mn-cs"/>
              </a:rPr>
              <a:t>instances or tuples that can ever exist in any relation state </a:t>
            </a:r>
            <a:r>
              <a:rPr lang="en-GB" sz="1200" b="0" i="1" u="none" strike="noStrike" kern="1200" baseline="0" dirty="0" smtClean="0">
                <a:solidFill>
                  <a:schemeClr val="tx1"/>
                </a:solidFill>
                <a:latin typeface="+mn-lt"/>
                <a:ea typeface="+mn-ea"/>
                <a:cs typeface="+mn-cs"/>
              </a:rPr>
              <a:t>r</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R</a:t>
            </a:r>
            <a:r>
              <a:rPr lang="en-GB" sz="1200" b="0" i="0" u="none" strike="noStrike" kern="1200" baseline="0" dirty="0" smtClean="0">
                <a:solidFill>
                  <a:schemeClr val="tx1"/>
                </a:solidFill>
                <a:latin typeface="+mn-lt"/>
                <a:ea typeface="+mn-ea"/>
                <a:cs typeface="+mn-cs"/>
              </a:rPr>
              <a:t>). Of all these possible</a:t>
            </a:r>
          </a:p>
          <a:p>
            <a:r>
              <a:rPr lang="en-GB" sz="1200" b="0" i="0" u="none" strike="noStrike" kern="1200" baseline="0" dirty="0" smtClean="0">
                <a:solidFill>
                  <a:schemeClr val="tx1"/>
                </a:solidFill>
                <a:latin typeface="+mn-lt"/>
                <a:ea typeface="+mn-ea"/>
                <a:cs typeface="+mn-cs"/>
              </a:rPr>
              <a:t>combinations, a relation state at a given time—the </a:t>
            </a:r>
            <a:r>
              <a:rPr lang="en-GB" sz="1200" b="1" i="0" u="none" strike="noStrike" kern="1200" baseline="0" dirty="0" smtClean="0">
                <a:solidFill>
                  <a:schemeClr val="tx1"/>
                </a:solidFill>
                <a:latin typeface="+mn-lt"/>
                <a:ea typeface="+mn-ea"/>
                <a:cs typeface="+mn-cs"/>
              </a:rPr>
              <a:t>current relation state</a:t>
            </a:r>
            <a:r>
              <a:rPr lang="en-GB" sz="1200" b="0" i="0" u="none" strike="noStrike" kern="1200" baseline="0" dirty="0" smtClean="0">
                <a:solidFill>
                  <a:schemeClr val="tx1"/>
                </a:solidFill>
                <a:latin typeface="+mn-lt"/>
                <a:ea typeface="+mn-ea"/>
                <a:cs typeface="+mn-cs"/>
              </a:rPr>
              <a:t>—reflects</a:t>
            </a:r>
          </a:p>
          <a:p>
            <a:r>
              <a:rPr lang="en-GB" sz="1200" b="0" i="0" u="none" strike="noStrike" kern="1200" baseline="0" dirty="0" smtClean="0">
                <a:solidFill>
                  <a:schemeClr val="tx1"/>
                </a:solidFill>
                <a:latin typeface="+mn-lt"/>
                <a:ea typeface="+mn-ea"/>
                <a:cs typeface="+mn-cs"/>
              </a:rPr>
              <a:t>only the valid tuples that represent a particular state of the real world.</a:t>
            </a:r>
          </a:p>
          <a:p>
            <a:endParaRPr lang="en-GB" sz="1200" b="0" i="0" u="none" strike="noStrike" kern="1200" baseline="0" dirty="0" smtClean="0">
              <a:solidFill>
                <a:schemeClr val="tx1"/>
              </a:solidFill>
              <a:latin typeface="+mn-lt"/>
              <a:ea typeface="+mn-ea"/>
              <a:cs typeface="+mn-cs"/>
            </a:endParaRPr>
          </a:p>
          <a:p>
            <a:pPr lvl="0"/>
            <a:r>
              <a:rPr lang="en-US" dirty="0" smtClean="0"/>
              <a:t>R:  schema of the relation</a:t>
            </a:r>
          </a:p>
          <a:p>
            <a:pPr lvl="0"/>
            <a:r>
              <a:rPr lang="en-US" dirty="0" smtClean="0"/>
              <a:t>r of R:  a specific "value" or population of R.</a:t>
            </a:r>
          </a:p>
          <a:p>
            <a:pPr lvl="0"/>
            <a:r>
              <a:rPr lang="en-US" dirty="0" smtClean="0"/>
              <a:t>R is called the </a:t>
            </a:r>
            <a:r>
              <a:rPr lang="en-US" b="1" dirty="0" smtClean="0"/>
              <a:t>intension</a:t>
            </a:r>
            <a:r>
              <a:rPr lang="en-US" dirty="0" smtClean="0"/>
              <a:t> of a relation</a:t>
            </a:r>
          </a:p>
          <a:p>
            <a:pPr lvl="0"/>
            <a:r>
              <a:rPr lang="en-US" dirty="0" smtClean="0"/>
              <a:t>r is called the </a:t>
            </a:r>
            <a:r>
              <a:rPr lang="en-US" b="1" dirty="0" smtClean="0"/>
              <a:t>extension</a:t>
            </a:r>
            <a:r>
              <a:rPr lang="en-US" dirty="0" smtClean="0"/>
              <a:t> of a relation</a:t>
            </a:r>
          </a:p>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8</a:t>
            </a:fld>
            <a:endParaRPr lang="en-US"/>
          </a:p>
        </p:txBody>
      </p:sp>
    </p:spTree>
    <p:extLst>
      <p:ext uri="{BB962C8B-B14F-4D97-AF65-F5344CB8AC3E}">
        <p14:creationId xmlns:p14="http://schemas.microsoft.com/office/powerpoint/2010/main" val="397882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smtClean="0"/>
              <a:t>Relation is formed over the Cartesian product of the sets</a:t>
            </a:r>
          </a:p>
          <a:p>
            <a:pPr lvl="0"/>
            <a:r>
              <a:rPr lang="en-US" dirty="0" smtClean="0"/>
              <a:t>Each set has values from a domain</a:t>
            </a:r>
          </a:p>
          <a:p>
            <a:endParaRPr lang="en-US" dirty="0" smtClean="0"/>
          </a:p>
          <a:p>
            <a:r>
              <a:rPr lang="en-GB" sz="1200" b="0" i="0" u="none" strike="noStrike" kern="1200" baseline="0" dirty="0" smtClean="0">
                <a:solidFill>
                  <a:schemeClr val="tx1"/>
                </a:solidFill>
                <a:latin typeface="+mn-lt"/>
                <a:ea typeface="+mn-ea"/>
                <a:cs typeface="+mn-cs"/>
              </a:rPr>
              <a:t>The Cartesian product specifies all possible combinations of values from the underlying</a:t>
            </a:r>
          </a:p>
          <a:p>
            <a:r>
              <a:rPr lang="en-GB" sz="1200" b="0" i="0" u="none" strike="noStrike" kern="1200" baseline="0" dirty="0" smtClean="0">
                <a:solidFill>
                  <a:schemeClr val="tx1"/>
                </a:solidFill>
                <a:latin typeface="+mn-lt"/>
                <a:ea typeface="+mn-ea"/>
                <a:cs typeface="+mn-cs"/>
              </a:rPr>
              <a:t>domains. Hence, if we denote the total number of values, or </a:t>
            </a:r>
            <a:r>
              <a:rPr lang="en-GB" sz="1200" b="1" i="0" u="none" strike="noStrike" kern="1200" baseline="0" dirty="0" smtClean="0">
                <a:solidFill>
                  <a:schemeClr val="tx1"/>
                </a:solidFill>
                <a:latin typeface="+mn-lt"/>
                <a:ea typeface="+mn-ea"/>
                <a:cs typeface="+mn-cs"/>
              </a:rPr>
              <a:t>cardinality, </a:t>
            </a:r>
            <a:r>
              <a:rPr lang="en-GB" sz="1200" b="0" i="0" u="none" strike="noStrike" kern="1200" baseline="0" dirty="0" smtClean="0">
                <a:solidFill>
                  <a:schemeClr val="tx1"/>
                </a:solidFill>
                <a:latin typeface="+mn-lt"/>
                <a:ea typeface="+mn-ea"/>
                <a:cs typeface="+mn-cs"/>
              </a:rPr>
              <a:t>in a</a:t>
            </a:r>
          </a:p>
          <a:p>
            <a:r>
              <a:rPr lang="en-GB" sz="1200" b="0" i="0" u="none" strike="noStrike" kern="1200" baseline="0" dirty="0" smtClean="0">
                <a:solidFill>
                  <a:schemeClr val="tx1"/>
                </a:solidFill>
                <a:latin typeface="+mn-lt"/>
                <a:ea typeface="+mn-ea"/>
                <a:cs typeface="+mn-cs"/>
              </a:rPr>
              <a:t>domain </a:t>
            </a:r>
            <a:r>
              <a:rPr lang="en-GB" sz="1200" b="0" i="1" u="none" strike="noStrike" kern="1200" baseline="0" dirty="0" smtClean="0">
                <a:solidFill>
                  <a:schemeClr val="tx1"/>
                </a:solidFill>
                <a:latin typeface="+mn-lt"/>
                <a:ea typeface="+mn-ea"/>
                <a:cs typeface="+mn-cs"/>
              </a:rPr>
              <a:t>D </a:t>
            </a:r>
            <a:r>
              <a:rPr lang="en-GB" sz="1200" b="0" i="0" u="none" strike="noStrike" kern="1200" baseline="0" dirty="0" smtClean="0">
                <a:solidFill>
                  <a:schemeClr val="tx1"/>
                </a:solidFill>
                <a:latin typeface="+mn-lt"/>
                <a:ea typeface="+mn-ea"/>
                <a:cs typeface="+mn-cs"/>
              </a:rPr>
              <a:t>by |</a:t>
            </a:r>
            <a:r>
              <a:rPr lang="en-GB" sz="1200" b="0" i="1" u="none" strike="noStrike" kern="1200" baseline="0" dirty="0" smtClean="0">
                <a:solidFill>
                  <a:schemeClr val="tx1"/>
                </a:solidFill>
                <a:latin typeface="+mn-lt"/>
                <a:ea typeface="+mn-ea"/>
                <a:cs typeface="+mn-cs"/>
              </a:rPr>
              <a:t>D</a:t>
            </a:r>
            <a:r>
              <a:rPr lang="en-GB" sz="1200" b="0" i="0" u="none" strike="noStrike" kern="1200" baseline="0" dirty="0" smtClean="0">
                <a:solidFill>
                  <a:schemeClr val="tx1"/>
                </a:solidFill>
                <a:latin typeface="+mn-lt"/>
                <a:ea typeface="+mn-ea"/>
                <a:cs typeface="+mn-cs"/>
              </a:rPr>
              <a:t>| (assuming that all domains are finite), the total number of tuples</a:t>
            </a:r>
          </a:p>
          <a:p>
            <a:r>
              <a:rPr lang="en-GB" sz="1200" b="0" i="0" u="none" strike="noStrike" kern="1200" baseline="0" dirty="0" smtClean="0">
                <a:solidFill>
                  <a:schemeClr val="tx1"/>
                </a:solidFill>
                <a:latin typeface="+mn-lt"/>
                <a:ea typeface="+mn-ea"/>
                <a:cs typeface="+mn-cs"/>
              </a:rPr>
              <a:t>in the Cartesian product is</a:t>
            </a:r>
          </a:p>
          <a:p>
            <a:r>
              <a:rPr lang="en-US" sz="1200" b="0" i="0" u="none" strike="noStrike" kern="1200" baseline="0" dirty="0" smtClean="0">
                <a:solidFill>
                  <a:schemeClr val="tx1"/>
                </a:solidFill>
                <a:latin typeface="+mn-lt"/>
                <a:ea typeface="+mn-ea"/>
                <a:cs typeface="+mn-cs"/>
              </a:rPr>
              <a:t>|</a:t>
            </a:r>
            <a:r>
              <a:rPr lang="en-US" sz="1200" b="0" i="0" u="none" strike="noStrike" kern="1200" baseline="0" dirty="0" err="1" smtClean="0">
                <a:solidFill>
                  <a:schemeClr val="tx1"/>
                </a:solidFill>
                <a:latin typeface="+mn-lt"/>
                <a:ea typeface="+mn-ea"/>
                <a:cs typeface="+mn-cs"/>
              </a:rPr>
              <a:t>dom</a:t>
            </a:r>
            <a:r>
              <a:rPr lang="en-US" sz="1200" b="0" i="0" u="none" strike="noStrike" kern="1200" baseline="0" dirty="0" smtClean="0">
                <a:solidFill>
                  <a:schemeClr val="tx1"/>
                </a:solidFill>
                <a:latin typeface="+mn-lt"/>
                <a:ea typeface="+mn-ea"/>
                <a:cs typeface="+mn-cs"/>
              </a:rPr>
              <a:t>(</a:t>
            </a:r>
            <a:r>
              <a:rPr lang="en-US" sz="1200" b="0" i="1" u="none" strike="noStrike" kern="1200" baseline="0" dirty="0" smtClean="0">
                <a:solidFill>
                  <a:schemeClr val="tx1"/>
                </a:solidFill>
                <a:latin typeface="+mn-lt"/>
                <a:ea typeface="+mn-ea"/>
                <a:cs typeface="+mn-cs"/>
              </a:rPr>
              <a:t>A</a:t>
            </a:r>
            <a:r>
              <a:rPr lang="en-US" sz="1200" b="0" i="0" u="none" strike="noStrike" kern="1200" baseline="0" dirty="0" smtClean="0">
                <a:solidFill>
                  <a:schemeClr val="tx1"/>
                </a:solidFill>
                <a:latin typeface="+mn-lt"/>
                <a:ea typeface="+mn-ea"/>
                <a:cs typeface="+mn-cs"/>
              </a:rPr>
              <a:t>1)| × |</a:t>
            </a:r>
            <a:r>
              <a:rPr lang="en-US" sz="1200" b="0" i="0" u="none" strike="noStrike" kern="1200" baseline="0" dirty="0" err="1" smtClean="0">
                <a:solidFill>
                  <a:schemeClr val="tx1"/>
                </a:solidFill>
                <a:latin typeface="+mn-lt"/>
                <a:ea typeface="+mn-ea"/>
                <a:cs typeface="+mn-cs"/>
              </a:rPr>
              <a:t>dom</a:t>
            </a:r>
            <a:r>
              <a:rPr lang="en-US" sz="1200" b="0" i="0" u="none" strike="noStrike" kern="1200" baseline="0" dirty="0" smtClean="0">
                <a:solidFill>
                  <a:schemeClr val="tx1"/>
                </a:solidFill>
                <a:latin typeface="+mn-lt"/>
                <a:ea typeface="+mn-ea"/>
                <a:cs typeface="+mn-cs"/>
              </a:rPr>
              <a:t>(</a:t>
            </a:r>
            <a:r>
              <a:rPr lang="en-US" sz="1200" b="0" i="1" u="none" strike="noStrike" kern="1200" baseline="0" dirty="0" smtClean="0">
                <a:solidFill>
                  <a:schemeClr val="tx1"/>
                </a:solidFill>
                <a:latin typeface="+mn-lt"/>
                <a:ea typeface="+mn-ea"/>
                <a:cs typeface="+mn-cs"/>
              </a:rPr>
              <a:t>A</a:t>
            </a:r>
            <a:r>
              <a:rPr lang="en-US" sz="1200" b="0" i="0" u="none" strike="noStrike" kern="1200" baseline="0" dirty="0" smtClean="0">
                <a:solidFill>
                  <a:schemeClr val="tx1"/>
                </a:solidFill>
                <a:latin typeface="+mn-lt"/>
                <a:ea typeface="+mn-ea"/>
                <a:cs typeface="+mn-cs"/>
              </a:rPr>
              <a:t>2)| × ... × |</a:t>
            </a:r>
            <a:r>
              <a:rPr lang="en-US" sz="1200" b="0" i="0" u="none" strike="noStrike" kern="1200" baseline="0" dirty="0" err="1" smtClean="0">
                <a:solidFill>
                  <a:schemeClr val="tx1"/>
                </a:solidFill>
                <a:latin typeface="+mn-lt"/>
                <a:ea typeface="+mn-ea"/>
                <a:cs typeface="+mn-cs"/>
              </a:rPr>
              <a:t>dom</a:t>
            </a:r>
            <a:r>
              <a:rPr lang="en-US" sz="1200" b="0" i="0" u="none" strike="noStrike" kern="1200" baseline="0" dirty="0" smtClean="0">
                <a:solidFill>
                  <a:schemeClr val="tx1"/>
                </a:solidFill>
                <a:latin typeface="+mn-lt"/>
                <a:ea typeface="+mn-ea"/>
                <a:cs typeface="+mn-cs"/>
              </a:rPr>
              <a:t>(</a:t>
            </a:r>
            <a:r>
              <a:rPr lang="en-US" sz="1200" b="0" i="1" u="none" strike="noStrike" kern="1200" baseline="0" dirty="0" smtClean="0">
                <a:solidFill>
                  <a:schemeClr val="tx1"/>
                </a:solidFill>
                <a:latin typeface="+mn-lt"/>
                <a:ea typeface="+mn-ea"/>
                <a:cs typeface="+mn-cs"/>
              </a:rPr>
              <a:t>An</a:t>
            </a:r>
            <a:r>
              <a:rPr lang="en-US" sz="1200" b="0" i="0" u="none" strike="noStrike" kern="1200" baseline="0" dirty="0" smtClean="0">
                <a:solidFill>
                  <a:schemeClr val="tx1"/>
                </a:solidFill>
                <a:latin typeface="+mn-lt"/>
                <a:ea typeface="+mn-ea"/>
                <a:cs typeface="+mn-cs"/>
              </a:rPr>
              <a:t>)|</a:t>
            </a:r>
          </a:p>
          <a:p>
            <a:r>
              <a:rPr lang="en-GB" sz="1200" b="0" i="0" u="none" strike="noStrike" kern="1200" baseline="0" dirty="0" smtClean="0">
                <a:solidFill>
                  <a:schemeClr val="tx1"/>
                </a:solidFill>
                <a:latin typeface="+mn-lt"/>
                <a:ea typeface="+mn-ea"/>
                <a:cs typeface="+mn-cs"/>
              </a:rPr>
              <a:t>This product of cardinalities of all domains represents the total number of possible</a:t>
            </a:r>
          </a:p>
          <a:p>
            <a:r>
              <a:rPr lang="en-GB" sz="1200" b="0" i="0" u="none" strike="noStrike" kern="1200" baseline="0" dirty="0" smtClean="0">
                <a:solidFill>
                  <a:schemeClr val="tx1"/>
                </a:solidFill>
                <a:latin typeface="+mn-lt"/>
                <a:ea typeface="+mn-ea"/>
                <a:cs typeface="+mn-cs"/>
              </a:rPr>
              <a:t>instances or tuples that can ever exist in any relation state </a:t>
            </a:r>
            <a:r>
              <a:rPr lang="en-GB" sz="1200" b="0" i="1" u="none" strike="noStrike" kern="1200" baseline="0" dirty="0" smtClean="0">
                <a:solidFill>
                  <a:schemeClr val="tx1"/>
                </a:solidFill>
                <a:latin typeface="+mn-lt"/>
                <a:ea typeface="+mn-ea"/>
                <a:cs typeface="+mn-cs"/>
              </a:rPr>
              <a:t>r</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R</a:t>
            </a:r>
            <a:r>
              <a:rPr lang="en-GB" sz="1200" b="0" i="0" u="none" strike="noStrike" kern="1200" baseline="0" dirty="0" smtClean="0">
                <a:solidFill>
                  <a:schemeClr val="tx1"/>
                </a:solidFill>
                <a:latin typeface="+mn-lt"/>
                <a:ea typeface="+mn-ea"/>
                <a:cs typeface="+mn-cs"/>
              </a:rPr>
              <a:t>). Of all these possible</a:t>
            </a:r>
          </a:p>
          <a:p>
            <a:r>
              <a:rPr lang="en-GB" sz="1200" b="0" i="0" u="none" strike="noStrike" kern="1200" baseline="0" dirty="0" smtClean="0">
                <a:solidFill>
                  <a:schemeClr val="tx1"/>
                </a:solidFill>
                <a:latin typeface="+mn-lt"/>
                <a:ea typeface="+mn-ea"/>
                <a:cs typeface="+mn-cs"/>
              </a:rPr>
              <a:t>combinations, a relation state at a given time—the </a:t>
            </a:r>
            <a:r>
              <a:rPr lang="en-GB" sz="1200" b="1" i="0" u="none" strike="noStrike" kern="1200" baseline="0" dirty="0" smtClean="0">
                <a:solidFill>
                  <a:schemeClr val="tx1"/>
                </a:solidFill>
                <a:latin typeface="+mn-lt"/>
                <a:ea typeface="+mn-ea"/>
                <a:cs typeface="+mn-cs"/>
              </a:rPr>
              <a:t>current relation state</a:t>
            </a:r>
            <a:r>
              <a:rPr lang="en-GB" sz="1200" b="0" i="0" u="none" strike="noStrike" kern="1200" baseline="0" dirty="0" smtClean="0">
                <a:solidFill>
                  <a:schemeClr val="tx1"/>
                </a:solidFill>
                <a:latin typeface="+mn-lt"/>
                <a:ea typeface="+mn-ea"/>
                <a:cs typeface="+mn-cs"/>
              </a:rPr>
              <a:t>—reflects</a:t>
            </a:r>
          </a:p>
          <a:p>
            <a:r>
              <a:rPr lang="en-GB" sz="1200" b="0" i="0" u="none" strike="noStrike" kern="1200" baseline="0" dirty="0" smtClean="0">
                <a:solidFill>
                  <a:schemeClr val="tx1"/>
                </a:solidFill>
                <a:latin typeface="+mn-lt"/>
                <a:ea typeface="+mn-ea"/>
                <a:cs typeface="+mn-cs"/>
              </a:rPr>
              <a:t>only the valid tuples that represent a particular state of the real world.</a:t>
            </a:r>
          </a:p>
          <a:p>
            <a:endParaRPr lang="en-GB" sz="1200" b="0" i="0" u="none" strike="noStrike" kern="1200" baseline="0" dirty="0" smtClean="0">
              <a:solidFill>
                <a:schemeClr val="tx1"/>
              </a:solidFill>
              <a:latin typeface="+mn-lt"/>
              <a:ea typeface="+mn-ea"/>
              <a:cs typeface="+mn-cs"/>
            </a:endParaRPr>
          </a:p>
          <a:p>
            <a:pPr lvl="0"/>
            <a:r>
              <a:rPr lang="en-US" dirty="0" smtClean="0"/>
              <a:t>R:  schema of the relation</a:t>
            </a:r>
          </a:p>
          <a:p>
            <a:pPr lvl="0"/>
            <a:r>
              <a:rPr lang="en-US" dirty="0" smtClean="0"/>
              <a:t>r of R:  a specific "value" or population of R.</a:t>
            </a:r>
          </a:p>
          <a:p>
            <a:pPr lvl="0"/>
            <a:r>
              <a:rPr lang="en-US" dirty="0" smtClean="0"/>
              <a:t>R is called the </a:t>
            </a:r>
            <a:r>
              <a:rPr lang="en-US" b="1" dirty="0" smtClean="0"/>
              <a:t>intension</a:t>
            </a:r>
            <a:r>
              <a:rPr lang="en-US" dirty="0" smtClean="0"/>
              <a:t> of a relation</a:t>
            </a:r>
          </a:p>
          <a:p>
            <a:pPr lvl="0"/>
            <a:r>
              <a:rPr lang="en-US" dirty="0" smtClean="0"/>
              <a:t>r is called the </a:t>
            </a:r>
            <a:r>
              <a:rPr lang="en-US" b="1" dirty="0" smtClean="0"/>
              <a:t>extension</a:t>
            </a:r>
            <a:r>
              <a:rPr lang="en-US" dirty="0" smtClean="0"/>
              <a:t> of a relation</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9</a:t>
            </a:fld>
            <a:endParaRPr lang="en-US"/>
          </a:p>
        </p:txBody>
      </p:sp>
    </p:spTree>
    <p:extLst>
      <p:ext uri="{BB962C8B-B14F-4D97-AF65-F5344CB8AC3E}">
        <p14:creationId xmlns:p14="http://schemas.microsoft.com/office/powerpoint/2010/main" val="1094093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smtClean="0">
                <a:solidFill>
                  <a:schemeClr val="tx1"/>
                </a:solidFill>
                <a:latin typeface="+mn-lt"/>
                <a:ea typeface="+mn-ea"/>
                <a:cs typeface="+mn-cs"/>
              </a:rPr>
              <a:t>A relation is defined as a </a:t>
            </a:r>
            <a:r>
              <a:rPr lang="en-GB" sz="1200" b="0" i="1" u="none" strike="noStrike" kern="1200" baseline="0" dirty="0" smtClean="0">
                <a:solidFill>
                  <a:schemeClr val="tx1"/>
                </a:solidFill>
                <a:latin typeface="+mn-lt"/>
                <a:ea typeface="+mn-ea"/>
                <a:cs typeface="+mn-cs"/>
              </a:rPr>
              <a:t>set </a:t>
            </a:r>
            <a:r>
              <a:rPr lang="en-GB" sz="1200" b="0" i="0" u="none" strike="noStrike" kern="1200" baseline="0" dirty="0" smtClean="0">
                <a:solidFill>
                  <a:schemeClr val="tx1"/>
                </a:solidFill>
                <a:latin typeface="+mn-lt"/>
                <a:ea typeface="+mn-ea"/>
                <a:cs typeface="+mn-cs"/>
              </a:rPr>
              <a:t>of tuples.</a:t>
            </a:r>
          </a:p>
          <a:p>
            <a:r>
              <a:rPr lang="en-GB" sz="1200" b="0" i="0" u="none" strike="noStrike" kern="1200" baseline="0" dirty="0" smtClean="0">
                <a:solidFill>
                  <a:schemeClr val="tx1"/>
                </a:solidFill>
                <a:latin typeface="+mn-lt"/>
                <a:ea typeface="+mn-ea"/>
                <a:cs typeface="+mn-cs"/>
              </a:rPr>
              <a:t>Mathematically, elements of a set have </a:t>
            </a:r>
            <a:r>
              <a:rPr lang="en-GB" sz="1200" b="0" i="1" u="none" strike="noStrike" kern="1200" baseline="0" dirty="0" smtClean="0">
                <a:solidFill>
                  <a:schemeClr val="tx1"/>
                </a:solidFill>
                <a:latin typeface="+mn-lt"/>
                <a:ea typeface="+mn-ea"/>
                <a:cs typeface="+mn-cs"/>
              </a:rPr>
              <a:t>no order </a:t>
            </a:r>
            <a:r>
              <a:rPr lang="en-GB" sz="1200" b="0" i="0" u="none" strike="noStrike" kern="1200" baseline="0" dirty="0" smtClean="0">
                <a:solidFill>
                  <a:schemeClr val="tx1"/>
                </a:solidFill>
                <a:latin typeface="+mn-lt"/>
                <a:ea typeface="+mn-ea"/>
                <a:cs typeface="+mn-cs"/>
              </a:rPr>
              <a:t>among them; hence, tuples in a </a:t>
            </a:r>
            <a:r>
              <a:rPr lang="en-GB" sz="1200" b="0" i="0" u="none" strike="noStrike" kern="1200" baseline="0" dirty="0" smtClean="0">
                <a:solidFill>
                  <a:schemeClr val="tx1"/>
                </a:solidFill>
                <a:latin typeface="+mn-lt"/>
                <a:ea typeface="+mn-ea"/>
                <a:cs typeface="+mn-cs"/>
              </a:rPr>
              <a:t>relation do </a:t>
            </a:r>
            <a:r>
              <a:rPr lang="en-GB" sz="1200" b="0" i="0" u="none" strike="noStrike" kern="1200" baseline="0" dirty="0" smtClean="0">
                <a:solidFill>
                  <a:schemeClr val="tx1"/>
                </a:solidFill>
                <a:latin typeface="+mn-lt"/>
                <a:ea typeface="+mn-ea"/>
                <a:cs typeface="+mn-cs"/>
              </a:rPr>
              <a:t>not have any particular order. In other words, a relation is not sensitive </a:t>
            </a:r>
            <a:r>
              <a:rPr lang="en-GB" sz="1200" b="0" i="0" u="none" strike="noStrike" kern="1200" baseline="0" dirty="0" smtClean="0">
                <a:solidFill>
                  <a:schemeClr val="tx1"/>
                </a:solidFill>
                <a:latin typeface="+mn-lt"/>
                <a:ea typeface="+mn-ea"/>
                <a:cs typeface="+mn-cs"/>
              </a:rPr>
              <a:t>to </a:t>
            </a:r>
            <a:r>
              <a:rPr lang="en-US" sz="1200" b="0" i="0" u="none" strike="noStrike" kern="1200" baseline="0" dirty="0" smtClean="0">
                <a:solidFill>
                  <a:schemeClr val="tx1"/>
                </a:solidFill>
                <a:latin typeface="+mn-lt"/>
                <a:ea typeface="+mn-ea"/>
                <a:cs typeface="+mn-cs"/>
              </a:rPr>
              <a:t>the </a:t>
            </a:r>
            <a:r>
              <a:rPr lang="en-US" sz="1200" b="0" i="0" u="none" strike="noStrike" kern="1200" baseline="0" dirty="0" smtClean="0">
                <a:solidFill>
                  <a:schemeClr val="tx1"/>
                </a:solidFill>
                <a:latin typeface="+mn-lt"/>
                <a:ea typeface="+mn-ea"/>
                <a:cs typeface="+mn-cs"/>
              </a:rPr>
              <a:t>ordering of tuples</a:t>
            </a:r>
          </a:p>
          <a:p>
            <a:endParaRPr lang="en-US" sz="1200" b="0" i="0" u="none" strike="noStrike" kern="1200" baseline="0" dirty="0" smtClean="0">
              <a:solidFill>
                <a:schemeClr val="tx1"/>
              </a:solidFill>
              <a:latin typeface="+mn-lt"/>
              <a:ea typeface="+mn-ea"/>
              <a:cs typeface="+mn-cs"/>
            </a:endParaRPr>
          </a:p>
          <a:p>
            <a:r>
              <a:rPr lang="en-GB" sz="1200" b="0" i="0" u="none" strike="noStrike" kern="1200" baseline="0" dirty="0" smtClean="0">
                <a:solidFill>
                  <a:schemeClr val="tx1"/>
                </a:solidFill>
                <a:latin typeface="+mn-lt"/>
                <a:ea typeface="+mn-ea"/>
                <a:cs typeface="+mn-cs"/>
              </a:rPr>
              <a:t>Tuple ordering is not part of a relation definition because a relation attempts to represent facts at a logical or abstract level.</a:t>
            </a:r>
          </a:p>
          <a:p>
            <a:r>
              <a:rPr lang="en-GB" sz="1200" b="0" i="0" u="none" strike="noStrike" kern="1200" baseline="0" dirty="0" smtClean="0">
                <a:solidFill>
                  <a:schemeClr val="tx1"/>
                </a:solidFill>
                <a:latin typeface="+mn-lt"/>
                <a:ea typeface="+mn-ea"/>
                <a:cs typeface="+mn-cs"/>
              </a:rPr>
              <a:t>When a relation is implemented as a file or displayed as a table, a particular ordering may be specified on the records of the file or the rows of the table.</a:t>
            </a:r>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11</a:t>
            </a:fld>
            <a:endParaRPr lang="en-US"/>
          </a:p>
        </p:txBody>
      </p:sp>
    </p:spTree>
    <p:extLst>
      <p:ext uri="{BB962C8B-B14F-4D97-AF65-F5344CB8AC3E}">
        <p14:creationId xmlns:p14="http://schemas.microsoft.com/office/powerpoint/2010/main" val="3421731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u="none" strike="noStrike" kern="1200" baseline="0" dirty="0" smtClean="0">
                <a:solidFill>
                  <a:schemeClr val="tx1"/>
                </a:solidFill>
                <a:latin typeface="+mn-lt"/>
                <a:ea typeface="+mn-ea"/>
                <a:cs typeface="+mn-cs"/>
              </a:rPr>
              <a:t>n</a:t>
            </a:r>
            <a:r>
              <a:rPr lang="en-US" sz="1200" b="0" i="0" u="none" strike="noStrike" kern="1200" baseline="0" dirty="0" smtClean="0">
                <a:solidFill>
                  <a:schemeClr val="tx1"/>
                </a:solidFill>
                <a:latin typeface="+mn-lt"/>
                <a:ea typeface="+mn-ea"/>
                <a:cs typeface="+mn-cs"/>
              </a:rPr>
              <a:t>-tuple is an </a:t>
            </a:r>
            <a:r>
              <a:rPr lang="en-GB" sz="1200" b="0" i="1" u="none" strike="noStrike" kern="1200" baseline="0" dirty="0" smtClean="0">
                <a:solidFill>
                  <a:schemeClr val="tx1"/>
                </a:solidFill>
                <a:latin typeface="+mn-lt"/>
                <a:ea typeface="+mn-ea"/>
                <a:cs typeface="+mn-cs"/>
              </a:rPr>
              <a:t>ordered list </a:t>
            </a:r>
            <a:r>
              <a:rPr lang="en-GB" sz="1200" b="0" i="0" u="none" strike="noStrike" kern="1200" baseline="0" dirty="0" smtClean="0">
                <a:solidFill>
                  <a:schemeClr val="tx1"/>
                </a:solidFill>
                <a:latin typeface="+mn-lt"/>
                <a:ea typeface="+mn-ea"/>
                <a:cs typeface="+mn-cs"/>
              </a:rPr>
              <a:t>of </a:t>
            </a:r>
            <a:r>
              <a:rPr lang="en-GB" sz="1200" b="0" i="1" u="none" strike="noStrike" kern="1200" baseline="0" dirty="0" smtClean="0">
                <a:solidFill>
                  <a:schemeClr val="tx1"/>
                </a:solidFill>
                <a:latin typeface="+mn-lt"/>
                <a:ea typeface="+mn-ea"/>
                <a:cs typeface="+mn-cs"/>
              </a:rPr>
              <a:t>n </a:t>
            </a:r>
            <a:r>
              <a:rPr lang="en-GB" sz="1200" b="0" i="0" u="none" strike="noStrike" kern="1200" baseline="0" dirty="0" smtClean="0">
                <a:solidFill>
                  <a:schemeClr val="tx1"/>
                </a:solidFill>
                <a:latin typeface="+mn-lt"/>
                <a:ea typeface="+mn-ea"/>
                <a:cs typeface="+mn-cs"/>
              </a:rPr>
              <a:t>values, so the ordering of values in a tuple—and hence of </a:t>
            </a:r>
            <a:r>
              <a:rPr lang="en-GB" sz="1200" b="0" i="0" u="none" strike="noStrike" kern="1200" baseline="0" dirty="0" smtClean="0">
                <a:solidFill>
                  <a:schemeClr val="tx1"/>
                </a:solidFill>
                <a:latin typeface="+mn-lt"/>
                <a:ea typeface="+mn-ea"/>
                <a:cs typeface="+mn-cs"/>
              </a:rPr>
              <a:t>attributes in </a:t>
            </a:r>
            <a:r>
              <a:rPr lang="en-GB" sz="1200" b="0" i="0" u="none" strike="noStrike" kern="1200" baseline="0" dirty="0" smtClean="0">
                <a:solidFill>
                  <a:schemeClr val="tx1"/>
                </a:solidFill>
                <a:latin typeface="+mn-lt"/>
                <a:ea typeface="+mn-ea"/>
                <a:cs typeface="+mn-cs"/>
              </a:rPr>
              <a:t>a relation schema—is important. </a:t>
            </a:r>
          </a:p>
          <a:p>
            <a:endParaRPr lang="en-GB" sz="1200" b="0" i="0" u="none" strike="noStrike" kern="1200" baseline="0" dirty="0" smtClean="0">
              <a:solidFill>
                <a:schemeClr val="tx1"/>
              </a:solidFill>
              <a:latin typeface="+mn-lt"/>
              <a:ea typeface="+mn-ea"/>
              <a:cs typeface="+mn-cs"/>
            </a:endParaRPr>
          </a:p>
          <a:p>
            <a:r>
              <a:rPr lang="en-GB" sz="1200" b="0" i="0" u="none" strike="noStrike" kern="1200" baseline="0" dirty="0" smtClean="0">
                <a:solidFill>
                  <a:schemeClr val="tx1"/>
                </a:solidFill>
                <a:latin typeface="+mn-lt"/>
                <a:ea typeface="+mn-ea"/>
                <a:cs typeface="+mn-cs"/>
              </a:rPr>
              <a:t>However, at a more abstract level, the order of attributes and their values is </a:t>
            </a:r>
            <a:r>
              <a:rPr lang="en-GB" sz="1200" b="0" i="1" u="none" strike="noStrike" kern="1200" baseline="0" dirty="0" smtClean="0">
                <a:solidFill>
                  <a:schemeClr val="tx1"/>
                </a:solidFill>
                <a:latin typeface="+mn-lt"/>
                <a:ea typeface="+mn-ea"/>
                <a:cs typeface="+mn-cs"/>
              </a:rPr>
              <a:t>not </a:t>
            </a:r>
            <a:r>
              <a:rPr lang="en-GB" sz="1200" b="0" i="0" u="none" strike="noStrike" kern="1200" baseline="0" dirty="0" smtClean="0">
                <a:solidFill>
                  <a:schemeClr val="tx1"/>
                </a:solidFill>
                <a:latin typeface="+mn-lt"/>
                <a:ea typeface="+mn-ea"/>
                <a:cs typeface="+mn-cs"/>
              </a:rPr>
              <a:t>that important as long as the </a:t>
            </a:r>
            <a:r>
              <a:rPr lang="en-GB" sz="1200" b="0" i="0" u="none" strike="noStrike" kern="1200" baseline="0" dirty="0" smtClean="0">
                <a:solidFill>
                  <a:schemeClr val="tx1"/>
                </a:solidFill>
                <a:latin typeface="+mn-lt"/>
                <a:ea typeface="+mn-ea"/>
                <a:cs typeface="+mn-cs"/>
              </a:rPr>
              <a:t>correspondence between </a:t>
            </a:r>
            <a:r>
              <a:rPr lang="en-GB" sz="1200" b="0" i="0" u="none" strike="noStrike" kern="1200" baseline="0" dirty="0" smtClean="0">
                <a:solidFill>
                  <a:schemeClr val="tx1"/>
                </a:solidFill>
                <a:latin typeface="+mn-lt"/>
                <a:ea typeface="+mn-ea"/>
                <a:cs typeface="+mn-cs"/>
              </a:rPr>
              <a:t>attributes and values is maintained.</a:t>
            </a:r>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GB" sz="1200" b="0" i="0" u="none" strike="noStrike" kern="1200" baseline="0" dirty="0" smtClean="0">
                <a:solidFill>
                  <a:schemeClr val="tx1"/>
                </a:solidFill>
                <a:latin typeface="+mn-lt"/>
                <a:ea typeface="+mn-ea"/>
                <a:cs typeface="+mn-cs"/>
              </a:rPr>
              <a:t>An </a:t>
            </a:r>
            <a:r>
              <a:rPr lang="en-GB" sz="1200" b="1" i="0" u="none" strike="noStrike" kern="1200" baseline="0" dirty="0" smtClean="0">
                <a:solidFill>
                  <a:schemeClr val="tx1"/>
                </a:solidFill>
                <a:latin typeface="+mn-lt"/>
                <a:ea typeface="+mn-ea"/>
                <a:cs typeface="+mn-cs"/>
              </a:rPr>
              <a:t>alternative definition </a:t>
            </a:r>
            <a:r>
              <a:rPr lang="en-GB" sz="1200" b="0" i="0" u="none" strike="noStrike" kern="1200" baseline="0" dirty="0" smtClean="0">
                <a:solidFill>
                  <a:schemeClr val="tx1"/>
                </a:solidFill>
                <a:latin typeface="+mn-lt"/>
                <a:ea typeface="+mn-ea"/>
                <a:cs typeface="+mn-cs"/>
              </a:rPr>
              <a:t>of a relation can be given, making the ordering of values in a tuple </a:t>
            </a:r>
            <a:r>
              <a:rPr lang="en-GB" sz="1200" b="0" i="1" u="none" strike="noStrike" kern="1200" baseline="0" dirty="0" smtClean="0">
                <a:solidFill>
                  <a:schemeClr val="tx1"/>
                </a:solidFill>
                <a:latin typeface="+mn-lt"/>
                <a:ea typeface="+mn-ea"/>
                <a:cs typeface="+mn-cs"/>
              </a:rPr>
              <a:t>unnecessary. </a:t>
            </a:r>
            <a:r>
              <a:rPr lang="en-GB" sz="1200" b="0" i="0" u="none" strike="noStrike" kern="1200" baseline="0" dirty="0" smtClean="0">
                <a:solidFill>
                  <a:schemeClr val="tx1"/>
                </a:solidFill>
                <a:latin typeface="+mn-lt"/>
                <a:ea typeface="+mn-ea"/>
                <a:cs typeface="+mn-cs"/>
              </a:rPr>
              <a:t>In </a:t>
            </a:r>
            <a:r>
              <a:rPr lang="en-GB" sz="1200" b="0" i="0" u="none" strike="noStrike" kern="1200" baseline="0" dirty="0" smtClean="0">
                <a:solidFill>
                  <a:schemeClr val="tx1"/>
                </a:solidFill>
                <a:latin typeface="+mn-lt"/>
                <a:ea typeface="+mn-ea"/>
                <a:cs typeface="+mn-cs"/>
              </a:rPr>
              <a:t>this definition, a relation schema </a:t>
            </a:r>
            <a:r>
              <a:rPr lang="en-GB" sz="1200" b="0" i="1" u="none" strike="noStrike" kern="1200" baseline="0" dirty="0" smtClean="0">
                <a:solidFill>
                  <a:schemeClr val="tx1"/>
                </a:solidFill>
                <a:latin typeface="+mn-lt"/>
                <a:ea typeface="+mn-ea"/>
                <a:cs typeface="+mn-cs"/>
              </a:rPr>
              <a:t>R </a:t>
            </a:r>
            <a:r>
              <a:rPr lang="en-GB" sz="1200" b="0" i="0" u="none" strike="noStrike" kern="1200" baseline="0" dirty="0" smtClean="0">
                <a:solidFill>
                  <a:schemeClr val="tx1"/>
                </a:solidFill>
                <a:latin typeface="+mn-lt"/>
                <a:ea typeface="+mn-ea"/>
                <a:cs typeface="+mn-cs"/>
              </a:rPr>
              <a:t>= {</a:t>
            </a:r>
            <a:r>
              <a:rPr lang="en-GB" sz="1200" b="0" i="1" u="none" strike="noStrike" kern="1200" baseline="0" dirty="0" smtClean="0">
                <a:solidFill>
                  <a:schemeClr val="tx1"/>
                </a:solidFill>
                <a:latin typeface="+mn-lt"/>
                <a:ea typeface="+mn-ea"/>
                <a:cs typeface="+mn-cs"/>
              </a:rPr>
              <a:t>A</a:t>
            </a:r>
            <a:r>
              <a:rPr lang="en-GB" sz="1200" b="0" i="0" u="none" strike="noStrike" kern="1200" baseline="0" dirty="0" smtClean="0">
                <a:solidFill>
                  <a:schemeClr val="tx1"/>
                </a:solidFill>
                <a:latin typeface="+mn-lt"/>
                <a:ea typeface="+mn-ea"/>
                <a:cs typeface="+mn-cs"/>
              </a:rPr>
              <a:t>1, </a:t>
            </a:r>
            <a:r>
              <a:rPr lang="en-GB" sz="1200" b="0" i="1" u="none" strike="noStrike" kern="1200" baseline="0" dirty="0" smtClean="0">
                <a:solidFill>
                  <a:schemeClr val="tx1"/>
                </a:solidFill>
                <a:latin typeface="+mn-lt"/>
                <a:ea typeface="+mn-ea"/>
                <a:cs typeface="+mn-cs"/>
              </a:rPr>
              <a:t>A</a:t>
            </a:r>
            <a:r>
              <a:rPr lang="en-GB" sz="1200" b="0" i="0" u="none" strike="noStrike" kern="1200" baseline="0" dirty="0" smtClean="0">
                <a:solidFill>
                  <a:schemeClr val="tx1"/>
                </a:solidFill>
                <a:latin typeface="+mn-lt"/>
                <a:ea typeface="+mn-ea"/>
                <a:cs typeface="+mn-cs"/>
              </a:rPr>
              <a:t>2, ..., </a:t>
            </a:r>
            <a:r>
              <a:rPr lang="en-GB" sz="1200" b="0" i="1" u="none" strike="noStrike" kern="1200" baseline="0" dirty="0" smtClean="0">
                <a:solidFill>
                  <a:schemeClr val="tx1"/>
                </a:solidFill>
                <a:latin typeface="+mn-lt"/>
                <a:ea typeface="+mn-ea"/>
                <a:cs typeface="+mn-cs"/>
              </a:rPr>
              <a:t>An</a:t>
            </a:r>
            <a:r>
              <a:rPr lang="en-GB" sz="1200" b="0" i="0" u="none" strike="noStrike" kern="1200" baseline="0" dirty="0" smtClean="0">
                <a:solidFill>
                  <a:schemeClr val="tx1"/>
                </a:solidFill>
                <a:latin typeface="+mn-lt"/>
                <a:ea typeface="+mn-ea"/>
                <a:cs typeface="+mn-cs"/>
              </a:rPr>
              <a:t>} is a </a:t>
            </a:r>
            <a:r>
              <a:rPr lang="en-GB" sz="1200" b="1" i="1" u="none" strike="noStrike" kern="1200" baseline="0" dirty="0" smtClean="0">
                <a:solidFill>
                  <a:schemeClr val="tx1"/>
                </a:solidFill>
                <a:latin typeface="+mn-lt"/>
                <a:ea typeface="+mn-ea"/>
                <a:cs typeface="+mn-cs"/>
              </a:rPr>
              <a:t>set </a:t>
            </a:r>
            <a:r>
              <a:rPr lang="en-GB" sz="1200" b="1" i="0" u="none" strike="noStrike" kern="1200" baseline="0" dirty="0" smtClean="0">
                <a:solidFill>
                  <a:schemeClr val="tx1"/>
                </a:solidFill>
                <a:latin typeface="+mn-lt"/>
                <a:ea typeface="+mn-ea"/>
                <a:cs typeface="+mn-cs"/>
              </a:rPr>
              <a:t>of attributes </a:t>
            </a:r>
            <a:r>
              <a:rPr lang="en-GB" sz="1200" b="0" i="0" u="none" strike="noStrike" kern="1200" baseline="0" dirty="0" smtClean="0">
                <a:solidFill>
                  <a:schemeClr val="tx1"/>
                </a:solidFill>
                <a:latin typeface="+mn-lt"/>
                <a:ea typeface="+mn-ea"/>
                <a:cs typeface="+mn-cs"/>
              </a:rPr>
              <a:t>(instead of a list), and a relation state </a:t>
            </a:r>
            <a:r>
              <a:rPr lang="en-GB" sz="1200" b="0" i="1" u="none" strike="noStrike" kern="1200" baseline="0" dirty="0" smtClean="0">
                <a:solidFill>
                  <a:schemeClr val="tx1"/>
                </a:solidFill>
                <a:latin typeface="+mn-lt"/>
                <a:ea typeface="+mn-ea"/>
                <a:cs typeface="+mn-cs"/>
              </a:rPr>
              <a:t>r</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R</a:t>
            </a:r>
            <a:r>
              <a:rPr lang="en-GB" sz="1200" b="0" i="0" u="none" strike="noStrike" kern="1200" baseline="0" dirty="0" smtClean="0">
                <a:solidFill>
                  <a:schemeClr val="tx1"/>
                </a:solidFill>
                <a:latin typeface="+mn-lt"/>
                <a:ea typeface="+mn-ea"/>
                <a:cs typeface="+mn-cs"/>
              </a:rPr>
              <a:t>) is a finite set of </a:t>
            </a:r>
            <a:r>
              <a:rPr lang="en-GB" sz="1200" b="0" i="0" u="none" strike="noStrike" kern="1200" baseline="0" dirty="0" smtClean="0">
                <a:solidFill>
                  <a:schemeClr val="tx1"/>
                </a:solidFill>
                <a:latin typeface="+mn-lt"/>
                <a:ea typeface="+mn-ea"/>
                <a:cs typeface="+mn-cs"/>
              </a:rPr>
              <a:t>mappings </a:t>
            </a:r>
            <a:r>
              <a:rPr lang="en-GB" sz="1200" b="0" i="1" u="none" strike="noStrike" kern="1200" baseline="0" dirty="0" smtClean="0">
                <a:solidFill>
                  <a:schemeClr val="tx1"/>
                </a:solidFill>
                <a:latin typeface="+mn-lt"/>
                <a:ea typeface="+mn-ea"/>
                <a:cs typeface="+mn-cs"/>
              </a:rPr>
              <a:t>r </a:t>
            </a:r>
            <a:r>
              <a:rPr lang="en-GB" sz="1200" b="0" i="0" u="none" strike="noStrike" kern="1200" baseline="0" dirty="0" smtClean="0">
                <a:solidFill>
                  <a:schemeClr val="tx1"/>
                </a:solidFill>
                <a:latin typeface="+mn-lt"/>
                <a:ea typeface="+mn-ea"/>
                <a:cs typeface="+mn-cs"/>
              </a:rPr>
              <a:t>= {</a:t>
            </a:r>
            <a:r>
              <a:rPr lang="en-GB" sz="1200" b="0" i="1" u="none" strike="noStrike" kern="1200" baseline="0" dirty="0" smtClean="0">
                <a:solidFill>
                  <a:schemeClr val="tx1"/>
                </a:solidFill>
                <a:latin typeface="+mn-lt"/>
                <a:ea typeface="+mn-ea"/>
                <a:cs typeface="+mn-cs"/>
              </a:rPr>
              <a:t>t</a:t>
            </a:r>
            <a:r>
              <a:rPr lang="en-GB" sz="1200" b="0" i="0" u="none" strike="noStrike" kern="1200" baseline="0" dirty="0" smtClean="0">
                <a:solidFill>
                  <a:schemeClr val="tx1"/>
                </a:solidFill>
                <a:latin typeface="+mn-lt"/>
                <a:ea typeface="+mn-ea"/>
                <a:cs typeface="+mn-cs"/>
              </a:rPr>
              <a:t>1, </a:t>
            </a:r>
            <a:r>
              <a:rPr lang="en-GB" sz="1200" b="0" i="1" u="none" strike="noStrike" kern="1200" baseline="0" dirty="0" smtClean="0">
                <a:solidFill>
                  <a:schemeClr val="tx1"/>
                </a:solidFill>
                <a:latin typeface="+mn-lt"/>
                <a:ea typeface="+mn-ea"/>
                <a:cs typeface="+mn-cs"/>
              </a:rPr>
              <a:t>t</a:t>
            </a:r>
            <a:r>
              <a:rPr lang="en-GB" sz="1200" b="0" i="0" u="none" strike="noStrike" kern="1200" baseline="0" dirty="0" smtClean="0">
                <a:solidFill>
                  <a:schemeClr val="tx1"/>
                </a:solidFill>
                <a:latin typeface="+mn-lt"/>
                <a:ea typeface="+mn-ea"/>
                <a:cs typeface="+mn-cs"/>
              </a:rPr>
              <a:t>2, ..., </a:t>
            </a:r>
            <a:r>
              <a:rPr lang="en-GB" sz="1200" b="0" i="1" u="none" strike="noStrike" kern="1200" baseline="0" dirty="0" smtClean="0">
                <a:solidFill>
                  <a:schemeClr val="tx1"/>
                </a:solidFill>
                <a:latin typeface="+mn-lt"/>
                <a:ea typeface="+mn-ea"/>
                <a:cs typeface="+mn-cs"/>
              </a:rPr>
              <a:t>tm</a:t>
            </a:r>
            <a:r>
              <a:rPr lang="en-GB" sz="1200" b="0" i="0" u="none" strike="noStrike" kern="1200" baseline="0" dirty="0" smtClean="0">
                <a:solidFill>
                  <a:schemeClr val="tx1"/>
                </a:solidFill>
                <a:latin typeface="+mn-lt"/>
                <a:ea typeface="+mn-ea"/>
                <a:cs typeface="+mn-cs"/>
              </a:rPr>
              <a:t>}, where each tuple </a:t>
            </a:r>
            <a:r>
              <a:rPr lang="en-GB" sz="1200" b="0" i="1" u="none" strike="noStrike" kern="1200" baseline="0" dirty="0" smtClean="0">
                <a:solidFill>
                  <a:schemeClr val="tx1"/>
                </a:solidFill>
                <a:latin typeface="+mn-lt"/>
                <a:ea typeface="+mn-ea"/>
                <a:cs typeface="+mn-cs"/>
              </a:rPr>
              <a:t>ti </a:t>
            </a:r>
            <a:r>
              <a:rPr lang="en-GB" sz="1200" b="0" i="0" u="none" strike="noStrike" kern="1200" baseline="0" dirty="0" smtClean="0">
                <a:solidFill>
                  <a:schemeClr val="tx1"/>
                </a:solidFill>
                <a:latin typeface="+mn-lt"/>
                <a:ea typeface="+mn-ea"/>
                <a:cs typeface="+mn-cs"/>
              </a:rPr>
              <a:t>is a </a:t>
            </a:r>
            <a:r>
              <a:rPr lang="en-GB" sz="1200" b="1" i="0" u="none" strike="noStrike" kern="1200" baseline="0" dirty="0" smtClean="0">
                <a:solidFill>
                  <a:schemeClr val="tx1"/>
                </a:solidFill>
                <a:latin typeface="+mn-lt"/>
                <a:ea typeface="+mn-ea"/>
                <a:cs typeface="+mn-cs"/>
              </a:rPr>
              <a:t>mapping </a:t>
            </a:r>
            <a:r>
              <a:rPr lang="en-GB" sz="1200" b="0" i="0" u="none" strike="noStrike" kern="1200" baseline="0" dirty="0" smtClean="0">
                <a:solidFill>
                  <a:schemeClr val="tx1"/>
                </a:solidFill>
                <a:latin typeface="+mn-lt"/>
                <a:ea typeface="+mn-ea"/>
                <a:cs typeface="+mn-cs"/>
              </a:rPr>
              <a:t>from </a:t>
            </a:r>
            <a:r>
              <a:rPr lang="en-GB" sz="1200" b="0" i="1" u="none" strike="noStrike" kern="1200" baseline="0" dirty="0" smtClean="0">
                <a:solidFill>
                  <a:schemeClr val="tx1"/>
                </a:solidFill>
                <a:latin typeface="+mn-lt"/>
                <a:ea typeface="+mn-ea"/>
                <a:cs typeface="+mn-cs"/>
              </a:rPr>
              <a:t>R </a:t>
            </a:r>
            <a:r>
              <a:rPr lang="en-GB" sz="1200" b="0" i="0" u="none" strike="noStrike" kern="1200" baseline="0" dirty="0" smtClean="0">
                <a:solidFill>
                  <a:schemeClr val="tx1"/>
                </a:solidFill>
                <a:latin typeface="+mn-lt"/>
                <a:ea typeface="+mn-ea"/>
                <a:cs typeface="+mn-cs"/>
              </a:rPr>
              <a:t>to </a:t>
            </a:r>
            <a:r>
              <a:rPr lang="en-GB" sz="1200" b="0" i="1" u="none" strike="noStrike" kern="1200" baseline="0" dirty="0" smtClean="0">
                <a:solidFill>
                  <a:schemeClr val="tx1"/>
                </a:solidFill>
                <a:latin typeface="+mn-lt"/>
                <a:ea typeface="+mn-ea"/>
                <a:cs typeface="+mn-cs"/>
              </a:rPr>
              <a:t>D</a:t>
            </a:r>
            <a:r>
              <a:rPr lang="en-GB" sz="1200" b="0" i="0" u="none" strike="noStrike" kern="1200" baseline="0" dirty="0" smtClean="0">
                <a:solidFill>
                  <a:schemeClr val="tx1"/>
                </a:solidFill>
                <a:latin typeface="+mn-lt"/>
                <a:ea typeface="+mn-ea"/>
                <a:cs typeface="+mn-cs"/>
              </a:rPr>
              <a:t>, and </a:t>
            </a:r>
            <a:r>
              <a:rPr lang="en-GB" sz="1200" b="0" i="1" u="none" strike="noStrike" kern="1200" baseline="0" dirty="0" smtClean="0">
                <a:solidFill>
                  <a:schemeClr val="tx1"/>
                </a:solidFill>
                <a:latin typeface="+mn-lt"/>
                <a:ea typeface="+mn-ea"/>
                <a:cs typeface="+mn-cs"/>
              </a:rPr>
              <a:t>D </a:t>
            </a:r>
            <a:r>
              <a:rPr lang="en-GB" sz="1200" b="0" i="0" u="none" strike="noStrike" kern="1200" baseline="0" dirty="0" smtClean="0">
                <a:solidFill>
                  <a:schemeClr val="tx1"/>
                </a:solidFill>
                <a:latin typeface="+mn-lt"/>
                <a:ea typeface="+mn-ea"/>
                <a:cs typeface="+mn-cs"/>
              </a:rPr>
              <a:t>is the </a:t>
            </a:r>
            <a:r>
              <a:rPr lang="en-GB" sz="1200" b="1" i="0" u="none" strike="noStrike" kern="1200" baseline="0" dirty="0" smtClean="0">
                <a:solidFill>
                  <a:schemeClr val="tx1"/>
                </a:solidFill>
                <a:latin typeface="+mn-lt"/>
                <a:ea typeface="+mn-ea"/>
                <a:cs typeface="+mn-cs"/>
              </a:rPr>
              <a:t>union </a:t>
            </a:r>
            <a:r>
              <a:rPr lang="en-GB" sz="1200" b="0" i="0" u="none" strike="noStrike" kern="1200" baseline="0" dirty="0" smtClean="0">
                <a:solidFill>
                  <a:schemeClr val="tx1"/>
                </a:solidFill>
                <a:latin typeface="+mn-lt"/>
                <a:ea typeface="+mn-ea"/>
                <a:cs typeface="+mn-cs"/>
              </a:rPr>
              <a:t>(denoted by ∪) of the attribute domains; that is, </a:t>
            </a:r>
            <a:r>
              <a:rPr lang="en-GB" sz="1200" b="0" i="1" u="none" strike="noStrike" kern="1200" baseline="0" dirty="0" smtClean="0">
                <a:solidFill>
                  <a:schemeClr val="tx1"/>
                </a:solidFill>
                <a:latin typeface="+mn-lt"/>
                <a:ea typeface="+mn-ea"/>
                <a:cs typeface="+mn-cs"/>
              </a:rPr>
              <a:t>D </a:t>
            </a:r>
            <a:r>
              <a:rPr lang="en-GB" sz="1200" b="0" i="0" u="none" strike="noStrike" kern="1200" baseline="0" dirty="0" smtClean="0">
                <a:solidFill>
                  <a:schemeClr val="tx1"/>
                </a:solidFill>
                <a:latin typeface="+mn-lt"/>
                <a:ea typeface="+mn-ea"/>
                <a:cs typeface="+mn-cs"/>
              </a:rPr>
              <a:t>= </a:t>
            </a:r>
            <a:r>
              <a:rPr lang="en-GB" sz="1200" b="0" i="0" u="none" strike="noStrike" kern="1200" baseline="0" dirty="0" err="1" smtClean="0">
                <a:solidFill>
                  <a:schemeClr val="tx1"/>
                </a:solidFill>
                <a:latin typeface="+mn-lt"/>
                <a:ea typeface="+mn-ea"/>
                <a:cs typeface="+mn-cs"/>
              </a:rPr>
              <a:t>dom</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A</a:t>
            </a:r>
            <a:r>
              <a:rPr lang="en-GB" sz="1200" b="0" i="0" u="none" strike="noStrike" kern="1200" baseline="0" dirty="0" smtClean="0">
                <a:solidFill>
                  <a:schemeClr val="tx1"/>
                </a:solidFill>
                <a:latin typeface="+mn-lt"/>
                <a:ea typeface="+mn-ea"/>
                <a:cs typeface="+mn-cs"/>
              </a:rPr>
              <a:t>1) ∪ </a:t>
            </a:r>
            <a:r>
              <a:rPr lang="en-GB" sz="1200" b="0" i="0" u="none" strike="noStrike" kern="1200" baseline="0" dirty="0" err="1" smtClean="0">
                <a:solidFill>
                  <a:schemeClr val="tx1"/>
                </a:solidFill>
                <a:latin typeface="+mn-lt"/>
                <a:ea typeface="+mn-ea"/>
                <a:cs typeface="+mn-cs"/>
              </a:rPr>
              <a:t>dom</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A</a:t>
            </a:r>
            <a:r>
              <a:rPr lang="en-GB" sz="1200" b="0" i="0" u="none" strike="noStrike" kern="1200" baseline="0" dirty="0" smtClean="0">
                <a:solidFill>
                  <a:schemeClr val="tx1"/>
                </a:solidFill>
                <a:latin typeface="+mn-lt"/>
                <a:ea typeface="+mn-ea"/>
                <a:cs typeface="+mn-cs"/>
              </a:rPr>
              <a:t>2) ∪ ... ∪</a:t>
            </a:r>
          </a:p>
          <a:p>
            <a:r>
              <a:rPr lang="en-GB" sz="1200" b="0" i="0" u="none" strike="noStrike" kern="1200" baseline="0" dirty="0" err="1" smtClean="0">
                <a:solidFill>
                  <a:schemeClr val="tx1"/>
                </a:solidFill>
                <a:latin typeface="+mn-lt"/>
                <a:ea typeface="+mn-ea"/>
                <a:cs typeface="+mn-cs"/>
              </a:rPr>
              <a:t>dom</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An</a:t>
            </a:r>
            <a:r>
              <a:rPr lang="en-GB" sz="1200" b="0" i="0" u="none" strike="noStrike" kern="1200" baseline="0" dirty="0" smtClean="0">
                <a:solidFill>
                  <a:schemeClr val="tx1"/>
                </a:solidFill>
                <a:latin typeface="+mn-lt"/>
                <a:ea typeface="+mn-ea"/>
                <a:cs typeface="+mn-cs"/>
              </a:rPr>
              <a:t>). </a:t>
            </a:r>
          </a:p>
          <a:p>
            <a:r>
              <a:rPr lang="en-GB" sz="1200" b="0" i="0" u="none" strike="noStrike" kern="1200" baseline="0" dirty="0" smtClean="0">
                <a:solidFill>
                  <a:schemeClr val="tx1"/>
                </a:solidFill>
                <a:latin typeface="+mn-lt"/>
                <a:ea typeface="+mn-ea"/>
                <a:cs typeface="+mn-cs"/>
              </a:rPr>
              <a:t>n this definition, </a:t>
            </a:r>
            <a:r>
              <a:rPr lang="en-GB" sz="1200" b="0" i="1" u="none" strike="noStrike" kern="1200" baseline="0" dirty="0" smtClean="0">
                <a:solidFill>
                  <a:schemeClr val="tx1"/>
                </a:solidFill>
                <a:latin typeface="+mn-lt"/>
                <a:ea typeface="+mn-ea"/>
                <a:cs typeface="+mn-cs"/>
              </a:rPr>
              <a:t>t</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Ai</a:t>
            </a:r>
            <a:r>
              <a:rPr lang="en-GB" sz="1200" b="0" i="0" u="none" strike="noStrike" kern="1200" baseline="0" dirty="0" smtClean="0">
                <a:solidFill>
                  <a:schemeClr val="tx1"/>
                </a:solidFill>
                <a:latin typeface="+mn-lt"/>
                <a:ea typeface="+mn-ea"/>
                <a:cs typeface="+mn-cs"/>
              </a:rPr>
              <a:t>] must be in </a:t>
            </a:r>
            <a:r>
              <a:rPr lang="en-GB" sz="1200" b="0" i="0" u="none" strike="noStrike" kern="1200" baseline="0" dirty="0" err="1" smtClean="0">
                <a:solidFill>
                  <a:schemeClr val="tx1"/>
                </a:solidFill>
                <a:latin typeface="+mn-lt"/>
                <a:ea typeface="+mn-ea"/>
                <a:cs typeface="+mn-cs"/>
              </a:rPr>
              <a:t>dom</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Ai</a:t>
            </a:r>
            <a:r>
              <a:rPr lang="en-GB" sz="1200" b="0" i="0" u="none" strike="noStrike" kern="1200" baseline="0" dirty="0" smtClean="0">
                <a:solidFill>
                  <a:schemeClr val="tx1"/>
                </a:solidFill>
                <a:latin typeface="+mn-lt"/>
                <a:ea typeface="+mn-ea"/>
                <a:cs typeface="+mn-cs"/>
              </a:rPr>
              <a:t>) for 1 ≤ </a:t>
            </a:r>
            <a:r>
              <a:rPr lang="en-GB" sz="1200" b="0" i="1" u="none" strike="noStrike" kern="1200" baseline="0" dirty="0" err="1" smtClean="0">
                <a:solidFill>
                  <a:schemeClr val="tx1"/>
                </a:solidFill>
                <a:latin typeface="+mn-lt"/>
                <a:ea typeface="+mn-ea"/>
                <a:cs typeface="+mn-cs"/>
              </a:rPr>
              <a:t>i</a:t>
            </a:r>
            <a:r>
              <a:rPr lang="en-GB" sz="1200" b="0" i="1" u="none" strike="noStrike" kern="1200" baseline="0" dirty="0" smtClean="0">
                <a:solidFill>
                  <a:schemeClr val="tx1"/>
                </a:solidFill>
                <a:latin typeface="+mn-lt"/>
                <a:ea typeface="+mn-ea"/>
                <a:cs typeface="+mn-cs"/>
              </a:rPr>
              <a:t> </a:t>
            </a:r>
            <a:r>
              <a:rPr lang="en-GB" sz="1200" b="0" i="0" u="none" strike="noStrike" kern="1200" baseline="0" dirty="0" smtClean="0">
                <a:solidFill>
                  <a:schemeClr val="tx1"/>
                </a:solidFill>
                <a:latin typeface="+mn-lt"/>
                <a:ea typeface="+mn-ea"/>
                <a:cs typeface="+mn-cs"/>
              </a:rPr>
              <a:t>≤ </a:t>
            </a:r>
            <a:r>
              <a:rPr lang="en-GB" sz="1200" b="0" i="1" u="none" strike="noStrike" kern="1200" baseline="0" dirty="0" smtClean="0">
                <a:solidFill>
                  <a:schemeClr val="tx1"/>
                </a:solidFill>
                <a:latin typeface="+mn-lt"/>
                <a:ea typeface="+mn-ea"/>
                <a:cs typeface="+mn-cs"/>
              </a:rPr>
              <a:t>n </a:t>
            </a:r>
            <a:r>
              <a:rPr lang="en-GB" sz="1200" b="0" i="0" u="none" strike="noStrike" kern="1200" baseline="0" dirty="0" smtClean="0">
                <a:solidFill>
                  <a:schemeClr val="tx1"/>
                </a:solidFill>
                <a:latin typeface="+mn-lt"/>
                <a:ea typeface="+mn-ea"/>
                <a:cs typeface="+mn-cs"/>
              </a:rPr>
              <a:t>for each mapping</a:t>
            </a:r>
          </a:p>
          <a:p>
            <a:r>
              <a:rPr lang="en-GB" sz="1200" b="0" i="1" u="none" strike="noStrike" kern="1200" baseline="0" dirty="0" smtClean="0">
                <a:solidFill>
                  <a:schemeClr val="tx1"/>
                </a:solidFill>
                <a:latin typeface="+mn-lt"/>
                <a:ea typeface="+mn-ea"/>
                <a:cs typeface="+mn-cs"/>
              </a:rPr>
              <a:t>t </a:t>
            </a:r>
            <a:r>
              <a:rPr lang="en-GB" sz="1200" b="0" i="0" u="none" strike="noStrike" kern="1200" baseline="0" dirty="0" smtClean="0">
                <a:solidFill>
                  <a:schemeClr val="tx1"/>
                </a:solidFill>
                <a:latin typeface="+mn-lt"/>
                <a:ea typeface="+mn-ea"/>
                <a:cs typeface="+mn-cs"/>
              </a:rPr>
              <a:t>in </a:t>
            </a:r>
            <a:r>
              <a:rPr lang="en-GB" sz="1200" b="0" i="1" u="none" strike="noStrike" kern="1200" baseline="0" dirty="0" smtClean="0">
                <a:solidFill>
                  <a:schemeClr val="tx1"/>
                </a:solidFill>
                <a:latin typeface="+mn-lt"/>
                <a:ea typeface="+mn-ea"/>
                <a:cs typeface="+mn-cs"/>
              </a:rPr>
              <a:t>r</a:t>
            </a:r>
            <a:r>
              <a:rPr lang="en-GB" sz="1200" b="0" i="0" u="none" strike="noStrike" kern="1200" baseline="0" dirty="0" smtClean="0">
                <a:solidFill>
                  <a:schemeClr val="tx1"/>
                </a:solidFill>
                <a:latin typeface="+mn-lt"/>
                <a:ea typeface="+mn-ea"/>
                <a:cs typeface="+mn-cs"/>
              </a:rPr>
              <a:t>. Each mapping </a:t>
            </a:r>
            <a:r>
              <a:rPr lang="en-GB" sz="1200" b="0" i="1" u="none" strike="noStrike" kern="1200" baseline="0" dirty="0" smtClean="0">
                <a:solidFill>
                  <a:schemeClr val="tx1"/>
                </a:solidFill>
                <a:latin typeface="+mn-lt"/>
                <a:ea typeface="+mn-ea"/>
                <a:cs typeface="+mn-cs"/>
              </a:rPr>
              <a:t>ti </a:t>
            </a:r>
            <a:r>
              <a:rPr lang="en-GB" sz="1200" b="0" i="0" u="none" strike="noStrike" kern="1200" baseline="0" dirty="0" smtClean="0">
                <a:solidFill>
                  <a:schemeClr val="tx1"/>
                </a:solidFill>
                <a:latin typeface="+mn-lt"/>
                <a:ea typeface="+mn-ea"/>
                <a:cs typeface="+mn-cs"/>
              </a:rPr>
              <a:t>is called a tuple.</a:t>
            </a:r>
          </a:p>
          <a:p>
            <a:r>
              <a:rPr lang="en-GB" sz="1200" b="0" i="0" u="none" strike="noStrike" kern="1200" baseline="0" dirty="0" smtClean="0">
                <a:solidFill>
                  <a:schemeClr val="tx1"/>
                </a:solidFill>
                <a:latin typeface="+mn-lt"/>
                <a:ea typeface="+mn-ea"/>
                <a:cs typeface="+mn-cs"/>
              </a:rPr>
              <a:t>According to this definition of tuple as a mapping, a </a:t>
            </a:r>
            <a:r>
              <a:rPr lang="en-GB" sz="1200" b="1" i="0" u="none" strike="noStrike" kern="1200" baseline="0" dirty="0" smtClean="0">
                <a:solidFill>
                  <a:schemeClr val="tx1"/>
                </a:solidFill>
                <a:latin typeface="+mn-lt"/>
                <a:ea typeface="+mn-ea"/>
                <a:cs typeface="+mn-cs"/>
              </a:rPr>
              <a:t>tuple </a:t>
            </a:r>
            <a:r>
              <a:rPr lang="en-GB" sz="1200" b="0" i="0" u="none" strike="noStrike" kern="1200" baseline="0" dirty="0" smtClean="0">
                <a:solidFill>
                  <a:schemeClr val="tx1"/>
                </a:solidFill>
                <a:latin typeface="+mn-lt"/>
                <a:ea typeface="+mn-ea"/>
                <a:cs typeface="+mn-cs"/>
              </a:rPr>
              <a:t>can be considered as a </a:t>
            </a:r>
            <a:r>
              <a:rPr lang="en-GB" sz="1200" b="1" i="0" u="none" strike="noStrike" kern="1200" baseline="0" dirty="0" smtClean="0">
                <a:solidFill>
                  <a:schemeClr val="tx1"/>
                </a:solidFill>
                <a:latin typeface="+mn-lt"/>
                <a:ea typeface="+mn-ea"/>
                <a:cs typeface="+mn-cs"/>
              </a:rPr>
              <a:t>set</a:t>
            </a:r>
          </a:p>
          <a:p>
            <a:r>
              <a:rPr lang="en-GB" sz="1200" b="0" i="0" u="none" strike="noStrike" kern="1200" baseline="0" dirty="0" smtClean="0">
                <a:solidFill>
                  <a:schemeClr val="tx1"/>
                </a:solidFill>
                <a:latin typeface="+mn-lt"/>
                <a:ea typeface="+mn-ea"/>
                <a:cs typeface="+mn-cs"/>
              </a:rPr>
              <a:t>of (&lt;attribute&gt;, &lt;value&gt;) pairs, where each pair gives the value of the mapping</a:t>
            </a:r>
          </a:p>
          <a:p>
            <a:r>
              <a:rPr lang="en-GB" sz="1200" b="0" i="0" u="none" strike="noStrike" kern="1200" baseline="0" dirty="0" smtClean="0">
                <a:solidFill>
                  <a:schemeClr val="tx1"/>
                </a:solidFill>
                <a:latin typeface="+mn-lt"/>
                <a:ea typeface="+mn-ea"/>
                <a:cs typeface="+mn-cs"/>
              </a:rPr>
              <a:t>from an attribute </a:t>
            </a:r>
            <a:r>
              <a:rPr lang="en-GB" sz="1200" b="0" i="1" u="none" strike="noStrike" kern="1200" baseline="0" dirty="0" smtClean="0">
                <a:solidFill>
                  <a:schemeClr val="tx1"/>
                </a:solidFill>
                <a:latin typeface="+mn-lt"/>
                <a:ea typeface="+mn-ea"/>
                <a:cs typeface="+mn-cs"/>
              </a:rPr>
              <a:t>Ai </a:t>
            </a:r>
            <a:r>
              <a:rPr lang="en-GB" sz="1200" b="0" i="0" u="none" strike="noStrike" kern="1200" baseline="0" dirty="0" smtClean="0">
                <a:solidFill>
                  <a:schemeClr val="tx1"/>
                </a:solidFill>
                <a:latin typeface="+mn-lt"/>
                <a:ea typeface="+mn-ea"/>
                <a:cs typeface="+mn-cs"/>
              </a:rPr>
              <a:t>to a value </a:t>
            </a:r>
            <a:r>
              <a:rPr lang="en-GB" sz="1200" b="0" i="1" u="none" strike="noStrike" kern="1200" baseline="0" dirty="0" smtClean="0">
                <a:solidFill>
                  <a:schemeClr val="tx1"/>
                </a:solidFill>
                <a:latin typeface="+mn-lt"/>
                <a:ea typeface="+mn-ea"/>
                <a:cs typeface="+mn-cs"/>
              </a:rPr>
              <a:t>vi </a:t>
            </a:r>
            <a:r>
              <a:rPr lang="en-GB" sz="1200" b="0" i="0" u="none" strike="noStrike" kern="1200" baseline="0" dirty="0" smtClean="0">
                <a:solidFill>
                  <a:schemeClr val="tx1"/>
                </a:solidFill>
                <a:latin typeface="+mn-lt"/>
                <a:ea typeface="+mn-ea"/>
                <a:cs typeface="+mn-cs"/>
              </a:rPr>
              <a:t>from </a:t>
            </a:r>
            <a:r>
              <a:rPr lang="en-GB" sz="1200" b="0" i="0" u="none" strike="noStrike" kern="1200" baseline="0" dirty="0" err="1" smtClean="0">
                <a:solidFill>
                  <a:schemeClr val="tx1"/>
                </a:solidFill>
                <a:latin typeface="+mn-lt"/>
                <a:ea typeface="+mn-ea"/>
                <a:cs typeface="+mn-cs"/>
              </a:rPr>
              <a:t>dom</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Ai</a:t>
            </a:r>
            <a:r>
              <a:rPr lang="en-GB" sz="1200" b="0" i="0" u="none" strike="noStrike" kern="1200" baseline="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12</a:t>
            </a:fld>
            <a:endParaRPr lang="en-US"/>
          </a:p>
        </p:txBody>
      </p:sp>
    </p:spTree>
    <p:extLst>
      <p:ext uri="{BB962C8B-B14F-4D97-AF65-F5344CB8AC3E}">
        <p14:creationId xmlns:p14="http://schemas.microsoft.com/office/powerpoint/2010/main" val="34217314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smtClean="0">
                <a:solidFill>
                  <a:schemeClr val="tx1"/>
                </a:solidFill>
                <a:latin typeface="+mn-lt"/>
                <a:ea typeface="+mn-ea"/>
                <a:cs typeface="+mn-cs"/>
              </a:rPr>
              <a:t>When a relation is implemented as a file, the attributes are physically ordered as</a:t>
            </a:r>
          </a:p>
          <a:p>
            <a:r>
              <a:rPr lang="en-GB" sz="1200" b="0" i="0" u="none" strike="noStrike" kern="1200" baseline="0" dirty="0" smtClean="0">
                <a:solidFill>
                  <a:schemeClr val="tx1"/>
                </a:solidFill>
                <a:latin typeface="+mn-lt"/>
                <a:ea typeface="+mn-ea"/>
                <a:cs typeface="+mn-cs"/>
              </a:rPr>
              <a:t>fields within a record. We will generally use the </a:t>
            </a:r>
            <a:r>
              <a:rPr lang="en-GB" sz="1200" b="1" i="0" u="none" strike="noStrike" kern="1200" baseline="0" dirty="0" smtClean="0">
                <a:solidFill>
                  <a:schemeClr val="tx1"/>
                </a:solidFill>
                <a:latin typeface="+mn-lt"/>
                <a:ea typeface="+mn-ea"/>
                <a:cs typeface="+mn-cs"/>
              </a:rPr>
              <a:t>first definition </a:t>
            </a:r>
            <a:r>
              <a:rPr lang="en-GB" sz="1200" b="0" i="0" u="none" strike="noStrike" kern="1200" baseline="0" dirty="0" smtClean="0">
                <a:solidFill>
                  <a:schemeClr val="tx1"/>
                </a:solidFill>
                <a:latin typeface="+mn-lt"/>
                <a:ea typeface="+mn-ea"/>
                <a:cs typeface="+mn-cs"/>
              </a:rPr>
              <a:t>of relation, where</a:t>
            </a:r>
          </a:p>
          <a:p>
            <a:r>
              <a:rPr lang="en-GB" sz="1200" b="0" i="0" u="none" strike="noStrike" kern="1200" baseline="0" dirty="0" smtClean="0">
                <a:solidFill>
                  <a:schemeClr val="tx1"/>
                </a:solidFill>
                <a:latin typeface="+mn-lt"/>
                <a:ea typeface="+mn-ea"/>
                <a:cs typeface="+mn-cs"/>
              </a:rPr>
              <a:t>the attributes and the values within tuples </a:t>
            </a:r>
            <a:r>
              <a:rPr lang="en-GB" sz="1200" b="0" i="1" u="none" strike="noStrike" kern="1200" baseline="0" dirty="0" smtClean="0">
                <a:solidFill>
                  <a:schemeClr val="tx1"/>
                </a:solidFill>
                <a:latin typeface="+mn-lt"/>
                <a:ea typeface="+mn-ea"/>
                <a:cs typeface="+mn-cs"/>
              </a:rPr>
              <a:t>are ordered, </a:t>
            </a:r>
            <a:r>
              <a:rPr lang="en-GB" sz="1200" b="0" i="0" u="none" strike="noStrike" kern="1200" baseline="0" dirty="0" smtClean="0">
                <a:solidFill>
                  <a:schemeClr val="tx1"/>
                </a:solidFill>
                <a:latin typeface="+mn-lt"/>
                <a:ea typeface="+mn-ea"/>
                <a:cs typeface="+mn-cs"/>
              </a:rPr>
              <a:t>because it simplifies much of</a:t>
            </a:r>
          </a:p>
          <a:p>
            <a:r>
              <a:rPr lang="en-GB" sz="1200" b="0" i="0" u="none" strike="noStrike" kern="1200" baseline="0" dirty="0" smtClean="0">
                <a:solidFill>
                  <a:schemeClr val="tx1"/>
                </a:solidFill>
                <a:latin typeface="+mn-lt"/>
                <a:ea typeface="+mn-ea"/>
                <a:cs typeface="+mn-cs"/>
              </a:rPr>
              <a:t>the notation. However, the alternative definition given here is more general.5</a:t>
            </a:r>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13</a:t>
            </a:fld>
            <a:endParaRPr lang="en-US"/>
          </a:p>
        </p:txBody>
      </p:sp>
    </p:spTree>
    <p:extLst>
      <p:ext uri="{BB962C8B-B14F-4D97-AF65-F5344CB8AC3E}">
        <p14:creationId xmlns:p14="http://schemas.microsoft.com/office/powerpoint/2010/main" val="26186864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smtClean="0">
                <a:solidFill>
                  <a:schemeClr val="tx1"/>
                </a:solidFill>
                <a:latin typeface="+mn-lt"/>
                <a:ea typeface="+mn-ea"/>
                <a:cs typeface="+mn-cs"/>
              </a:rPr>
              <a:t>Each value in a tuple is an </a:t>
            </a:r>
            <a:r>
              <a:rPr lang="en-GB" sz="1200" b="1" i="0" u="none" strike="noStrike" kern="1200" baseline="0" dirty="0" smtClean="0">
                <a:solidFill>
                  <a:schemeClr val="tx1"/>
                </a:solidFill>
                <a:latin typeface="+mn-lt"/>
                <a:ea typeface="+mn-ea"/>
                <a:cs typeface="+mn-cs"/>
              </a:rPr>
              <a:t>atomic </a:t>
            </a:r>
            <a:r>
              <a:rPr lang="en-GB" sz="1200" b="0" i="0" u="none" strike="noStrike" kern="1200" baseline="0" dirty="0" smtClean="0">
                <a:solidFill>
                  <a:schemeClr val="tx1"/>
                </a:solidFill>
                <a:latin typeface="+mn-lt"/>
                <a:ea typeface="+mn-ea"/>
                <a:cs typeface="+mn-cs"/>
              </a:rPr>
              <a:t>value; </a:t>
            </a:r>
            <a:r>
              <a:rPr lang="en-GB" sz="1200" b="0" i="0" u="none" strike="noStrike" kern="1200" baseline="0" dirty="0" smtClean="0">
                <a:solidFill>
                  <a:schemeClr val="tx1"/>
                </a:solidFill>
                <a:latin typeface="+mn-lt"/>
                <a:ea typeface="+mn-ea"/>
                <a:cs typeface="+mn-cs"/>
              </a:rPr>
              <a:t>that is</a:t>
            </a:r>
            <a:r>
              <a:rPr lang="en-GB" sz="1200" b="0" i="0" u="none" strike="noStrike" kern="1200" baseline="0" dirty="0" smtClean="0">
                <a:solidFill>
                  <a:schemeClr val="tx1"/>
                </a:solidFill>
                <a:latin typeface="+mn-lt"/>
                <a:ea typeface="+mn-ea"/>
                <a:cs typeface="+mn-cs"/>
              </a:rPr>
              <a:t>, it is not divisible into components within the framework of the basic </a:t>
            </a:r>
            <a:r>
              <a:rPr lang="en-GB" sz="1200" b="0" i="0" u="none" strike="noStrike" kern="1200" baseline="0" dirty="0" smtClean="0">
                <a:solidFill>
                  <a:schemeClr val="tx1"/>
                </a:solidFill>
                <a:latin typeface="+mn-lt"/>
                <a:ea typeface="+mn-ea"/>
                <a:cs typeface="+mn-cs"/>
              </a:rPr>
              <a:t>relational model</a:t>
            </a:r>
            <a:r>
              <a:rPr lang="en-GB" sz="1200" b="0" i="0" u="none" strike="noStrike" kern="1200" baseline="0" dirty="0" smtClean="0">
                <a:solidFill>
                  <a:schemeClr val="tx1"/>
                </a:solidFill>
                <a:latin typeface="+mn-lt"/>
                <a:ea typeface="+mn-ea"/>
                <a:cs typeface="+mn-cs"/>
              </a:rPr>
              <a:t>. Hence, composite and multivalued attributes (see Chapter 7) are </a:t>
            </a:r>
            <a:r>
              <a:rPr lang="en-GB" sz="1200" b="0" i="0" u="none" strike="noStrike" kern="1200" baseline="0" dirty="0" smtClean="0">
                <a:solidFill>
                  <a:schemeClr val="tx1"/>
                </a:solidFill>
                <a:latin typeface="+mn-lt"/>
                <a:ea typeface="+mn-ea"/>
                <a:cs typeface="+mn-cs"/>
              </a:rPr>
              <a:t>not allowed</a:t>
            </a:r>
            <a:r>
              <a:rPr lang="en-GB" sz="1200" b="0" i="0" u="none" strike="noStrike" kern="1200" baseline="0" dirty="0" smtClean="0">
                <a:solidFill>
                  <a:schemeClr val="tx1"/>
                </a:solidFill>
                <a:latin typeface="+mn-lt"/>
                <a:ea typeface="+mn-ea"/>
                <a:cs typeface="+mn-cs"/>
              </a:rPr>
              <a:t>. This model is sometimes called the </a:t>
            </a:r>
            <a:r>
              <a:rPr lang="en-GB" sz="1200" b="1" i="0" u="none" strike="noStrike" kern="1200" baseline="0" dirty="0" smtClean="0">
                <a:solidFill>
                  <a:schemeClr val="tx1"/>
                </a:solidFill>
                <a:latin typeface="+mn-lt"/>
                <a:ea typeface="+mn-ea"/>
                <a:cs typeface="+mn-cs"/>
              </a:rPr>
              <a:t>flat relational model</a:t>
            </a:r>
            <a:r>
              <a:rPr lang="en-GB" sz="1200" b="0" i="0" u="none" strike="noStrike" kern="1200" baseline="0" dirty="0" smtClean="0">
                <a:solidFill>
                  <a:schemeClr val="tx1"/>
                </a:solidFill>
                <a:latin typeface="+mn-lt"/>
                <a:ea typeface="+mn-ea"/>
                <a:cs typeface="+mn-cs"/>
              </a:rPr>
              <a:t>.</a:t>
            </a:r>
          </a:p>
          <a:p>
            <a:endParaRPr lang="en-GB" sz="1200" b="0" i="0" u="none" strike="noStrike" kern="1200" baseline="0" dirty="0" smtClean="0">
              <a:solidFill>
                <a:schemeClr val="tx1"/>
              </a:solidFill>
              <a:latin typeface="+mn-lt"/>
              <a:ea typeface="+mn-ea"/>
              <a:cs typeface="+mn-cs"/>
            </a:endParaRPr>
          </a:p>
          <a:p>
            <a:r>
              <a:rPr lang="en-GB" sz="1200" b="0" i="0" u="none" strike="noStrike" kern="1200" baseline="0" dirty="0" smtClean="0">
                <a:solidFill>
                  <a:schemeClr val="tx1"/>
                </a:solidFill>
                <a:latin typeface="+mn-lt"/>
                <a:ea typeface="+mn-ea"/>
                <a:cs typeface="+mn-cs"/>
              </a:rPr>
              <a:t>An important concept is that of NULL values, which are used to represent the </a:t>
            </a:r>
            <a:r>
              <a:rPr lang="en-GB" sz="1200" b="0" i="0" u="none" strike="noStrike" kern="1200" baseline="0" dirty="0" smtClean="0">
                <a:solidFill>
                  <a:schemeClr val="tx1"/>
                </a:solidFill>
                <a:latin typeface="+mn-lt"/>
                <a:ea typeface="+mn-ea"/>
                <a:cs typeface="+mn-cs"/>
              </a:rPr>
              <a:t>values of </a:t>
            </a:r>
            <a:r>
              <a:rPr lang="en-GB" sz="1200" b="0" i="0" u="none" strike="noStrike" kern="1200" baseline="0" dirty="0" smtClean="0">
                <a:solidFill>
                  <a:schemeClr val="tx1"/>
                </a:solidFill>
                <a:latin typeface="+mn-lt"/>
                <a:ea typeface="+mn-ea"/>
                <a:cs typeface="+mn-cs"/>
              </a:rPr>
              <a:t>attributes that may be unknown or may not apply to a tuple. A special value,</a:t>
            </a:r>
          </a:p>
          <a:p>
            <a:r>
              <a:rPr lang="en-GB" sz="1200" b="0" i="0" u="none" strike="noStrike" kern="1200" baseline="0" dirty="0" smtClean="0">
                <a:solidFill>
                  <a:schemeClr val="tx1"/>
                </a:solidFill>
                <a:latin typeface="+mn-lt"/>
                <a:ea typeface="+mn-ea"/>
                <a:cs typeface="+mn-cs"/>
              </a:rPr>
              <a:t>called NULL, is used in these cases. For example, in Figure 3.1, some STUDENT </a:t>
            </a:r>
            <a:r>
              <a:rPr lang="en-GB" sz="1200" b="0" i="0" u="none" strike="noStrike" kern="1200" baseline="0" dirty="0" smtClean="0">
                <a:solidFill>
                  <a:schemeClr val="tx1"/>
                </a:solidFill>
                <a:latin typeface="+mn-lt"/>
                <a:ea typeface="+mn-ea"/>
                <a:cs typeface="+mn-cs"/>
              </a:rPr>
              <a:t>tuples have </a:t>
            </a:r>
            <a:r>
              <a:rPr lang="en-GB" sz="1200" b="0" i="0" u="none" strike="noStrike" kern="1200" baseline="0" dirty="0" smtClean="0">
                <a:solidFill>
                  <a:schemeClr val="tx1"/>
                </a:solidFill>
                <a:latin typeface="+mn-lt"/>
                <a:ea typeface="+mn-ea"/>
                <a:cs typeface="+mn-cs"/>
              </a:rPr>
              <a:t>NULL for their office phones because they do not have an office (that is, office</a:t>
            </a:r>
          </a:p>
          <a:p>
            <a:r>
              <a:rPr lang="en-GB" sz="1200" b="0" i="0" u="none" strike="noStrike" kern="1200" baseline="0" dirty="0" smtClean="0">
                <a:solidFill>
                  <a:schemeClr val="tx1"/>
                </a:solidFill>
                <a:latin typeface="+mn-lt"/>
                <a:ea typeface="+mn-ea"/>
                <a:cs typeface="+mn-cs"/>
              </a:rPr>
              <a:t>phone </a:t>
            </a:r>
            <a:r>
              <a:rPr lang="en-GB" sz="1200" b="0" i="1" u="none" strike="noStrike" kern="1200" baseline="0" dirty="0" smtClean="0">
                <a:solidFill>
                  <a:schemeClr val="tx1"/>
                </a:solidFill>
                <a:latin typeface="+mn-lt"/>
                <a:ea typeface="+mn-ea"/>
                <a:cs typeface="+mn-cs"/>
              </a:rPr>
              <a:t>does not apply </a:t>
            </a:r>
            <a:r>
              <a:rPr lang="en-GB" sz="1200" b="0" i="0" u="none" strike="noStrike" kern="1200" baseline="0" dirty="0" smtClean="0">
                <a:solidFill>
                  <a:schemeClr val="tx1"/>
                </a:solidFill>
                <a:latin typeface="+mn-lt"/>
                <a:ea typeface="+mn-ea"/>
                <a:cs typeface="+mn-cs"/>
              </a:rPr>
              <a:t>to these students).</a:t>
            </a:r>
          </a:p>
          <a:p>
            <a:endParaRPr lang="en-GB" sz="1200" b="0" i="0" u="none" strike="noStrike" kern="1200" baseline="0" dirty="0" smtClean="0">
              <a:solidFill>
                <a:schemeClr val="tx1"/>
              </a:solidFill>
              <a:latin typeface="+mn-lt"/>
              <a:ea typeface="+mn-ea"/>
              <a:cs typeface="+mn-cs"/>
            </a:endParaRPr>
          </a:p>
          <a:p>
            <a:r>
              <a:rPr lang="en-GB" sz="1200" b="0" i="0" u="none" strike="noStrike" kern="1200" baseline="0" dirty="0" smtClean="0">
                <a:solidFill>
                  <a:schemeClr val="tx1"/>
                </a:solidFill>
                <a:latin typeface="+mn-lt"/>
                <a:ea typeface="+mn-ea"/>
                <a:cs typeface="+mn-cs"/>
              </a:rPr>
              <a:t>In general, we can have several meanings </a:t>
            </a:r>
            <a:r>
              <a:rPr lang="en-GB" sz="1200" b="0" i="0" u="none" strike="noStrike" kern="1200" baseline="0" dirty="0" smtClean="0">
                <a:solidFill>
                  <a:schemeClr val="tx1"/>
                </a:solidFill>
                <a:latin typeface="+mn-lt"/>
                <a:ea typeface="+mn-ea"/>
                <a:cs typeface="+mn-cs"/>
              </a:rPr>
              <a:t>for NULL </a:t>
            </a:r>
            <a:r>
              <a:rPr lang="en-GB" sz="1200" b="0" i="0" u="none" strike="noStrike" kern="1200" baseline="0" dirty="0" smtClean="0">
                <a:solidFill>
                  <a:schemeClr val="tx1"/>
                </a:solidFill>
                <a:latin typeface="+mn-lt"/>
                <a:ea typeface="+mn-ea"/>
                <a:cs typeface="+mn-cs"/>
              </a:rPr>
              <a:t>values, such as </a:t>
            </a:r>
            <a:r>
              <a:rPr lang="en-GB" sz="1200" b="1" i="1" u="none" strike="noStrike" kern="1200" baseline="0" dirty="0" smtClean="0">
                <a:solidFill>
                  <a:schemeClr val="tx1"/>
                </a:solidFill>
                <a:latin typeface="+mn-lt"/>
                <a:ea typeface="+mn-ea"/>
                <a:cs typeface="+mn-cs"/>
              </a:rPr>
              <a:t>value unknown</a:t>
            </a:r>
            <a:r>
              <a:rPr lang="en-GB" sz="1200" b="0" i="1" u="none" strike="noStrike" kern="1200" baseline="0" dirty="0" smtClean="0">
                <a:solidFill>
                  <a:schemeClr val="tx1"/>
                </a:solidFill>
                <a:latin typeface="+mn-lt"/>
                <a:ea typeface="+mn-ea"/>
                <a:cs typeface="+mn-cs"/>
              </a:rPr>
              <a:t>, </a:t>
            </a:r>
            <a:r>
              <a:rPr lang="en-GB" sz="1200" b="1" i="1" u="none" strike="noStrike" kern="1200" baseline="0" dirty="0" smtClean="0">
                <a:solidFill>
                  <a:schemeClr val="tx1"/>
                </a:solidFill>
                <a:latin typeface="+mn-lt"/>
                <a:ea typeface="+mn-ea"/>
                <a:cs typeface="+mn-cs"/>
              </a:rPr>
              <a:t>value </a:t>
            </a:r>
            <a:r>
              <a:rPr lang="en-GB" sz="1200" b="0" i="0" u="none" strike="noStrike" kern="1200" baseline="0" dirty="0" smtClean="0">
                <a:solidFill>
                  <a:schemeClr val="tx1"/>
                </a:solidFill>
                <a:latin typeface="+mn-lt"/>
                <a:ea typeface="+mn-ea"/>
                <a:cs typeface="+mn-cs"/>
              </a:rPr>
              <a:t>exists but is </a:t>
            </a:r>
            <a:r>
              <a:rPr lang="en-GB" sz="1200" b="1" i="1" u="none" strike="noStrike" kern="1200" baseline="0" dirty="0" smtClean="0">
                <a:solidFill>
                  <a:schemeClr val="tx1"/>
                </a:solidFill>
                <a:latin typeface="+mn-lt"/>
                <a:ea typeface="+mn-ea"/>
                <a:cs typeface="+mn-cs"/>
              </a:rPr>
              <a:t>not available</a:t>
            </a:r>
            <a:r>
              <a:rPr lang="en-GB" sz="1200" b="0" i="0" u="none" strike="noStrike" kern="1200" baseline="0" dirty="0" smtClean="0">
                <a:solidFill>
                  <a:schemeClr val="tx1"/>
                </a:solidFill>
                <a:latin typeface="+mn-lt"/>
                <a:ea typeface="+mn-ea"/>
                <a:cs typeface="+mn-cs"/>
              </a:rPr>
              <a:t>, or </a:t>
            </a:r>
            <a:r>
              <a:rPr lang="en-GB" sz="1200" b="1" i="1" u="none" strike="noStrike" kern="1200" baseline="0" dirty="0" smtClean="0">
                <a:solidFill>
                  <a:schemeClr val="tx1"/>
                </a:solidFill>
                <a:latin typeface="+mn-lt"/>
                <a:ea typeface="+mn-ea"/>
                <a:cs typeface="+mn-cs"/>
              </a:rPr>
              <a:t>attribute does </a:t>
            </a:r>
            <a:r>
              <a:rPr lang="en-GB" sz="1200" b="1" i="1" u="none" strike="noStrike" kern="1200" baseline="0" dirty="0" smtClean="0">
                <a:solidFill>
                  <a:schemeClr val="tx1"/>
                </a:solidFill>
                <a:latin typeface="+mn-lt"/>
                <a:ea typeface="+mn-ea"/>
                <a:cs typeface="+mn-cs"/>
              </a:rPr>
              <a:t>not apply </a:t>
            </a:r>
            <a:r>
              <a:rPr lang="en-GB" sz="1200" b="0" i="0" u="none" strike="noStrike" kern="1200" baseline="0" dirty="0" smtClean="0">
                <a:solidFill>
                  <a:schemeClr val="tx1"/>
                </a:solidFill>
                <a:latin typeface="+mn-lt"/>
                <a:ea typeface="+mn-ea"/>
                <a:cs typeface="+mn-cs"/>
              </a:rPr>
              <a:t>to this tuple </a:t>
            </a:r>
            <a:r>
              <a:rPr lang="en-GB" sz="1200" b="0" i="1" u="none" strike="noStrike" kern="1200" baseline="0" dirty="0" smtClean="0">
                <a:solidFill>
                  <a:schemeClr val="tx1"/>
                </a:solidFill>
                <a:latin typeface="+mn-lt"/>
                <a:ea typeface="+mn-ea"/>
                <a:cs typeface="+mn-cs"/>
              </a:rPr>
              <a:t>(</a:t>
            </a:r>
            <a:r>
              <a:rPr lang="en-GB" sz="1200" b="0" i="0" u="none" strike="noStrike" kern="1200" baseline="0" dirty="0" smtClean="0">
                <a:solidFill>
                  <a:schemeClr val="tx1"/>
                </a:solidFill>
                <a:latin typeface="+mn-lt"/>
                <a:ea typeface="+mn-ea"/>
                <a:cs typeface="+mn-cs"/>
              </a:rPr>
              <a:t>also known as </a:t>
            </a:r>
            <a:r>
              <a:rPr lang="en-GB" sz="1200" b="1" i="1" u="none" strike="noStrike" kern="1200" baseline="0" dirty="0" smtClean="0">
                <a:solidFill>
                  <a:schemeClr val="tx1"/>
                </a:solidFill>
                <a:latin typeface="+mn-lt"/>
                <a:ea typeface="+mn-ea"/>
                <a:cs typeface="+mn-cs"/>
              </a:rPr>
              <a:t>value undefined</a:t>
            </a:r>
            <a:r>
              <a:rPr lang="en-GB" sz="1200" b="0" i="1" u="none" strike="noStrike" kern="1200" baseline="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14</a:t>
            </a:fld>
            <a:endParaRPr lang="en-US"/>
          </a:p>
        </p:txBody>
      </p:sp>
    </p:spTree>
    <p:extLst>
      <p:ext uri="{BB962C8B-B14F-4D97-AF65-F5344CB8AC3E}">
        <p14:creationId xmlns:p14="http://schemas.microsoft.com/office/powerpoint/2010/main" val="27106196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smtClean="0">
                <a:solidFill>
                  <a:schemeClr val="tx1"/>
                </a:solidFill>
                <a:latin typeface="+mn-lt"/>
                <a:ea typeface="+mn-ea"/>
                <a:cs typeface="+mn-cs"/>
              </a:rPr>
              <a:t>In this section, we discuss the various restrictions on data that can be specified on a relational database in the form of constraints</a:t>
            </a:r>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17</a:t>
            </a:fld>
            <a:endParaRPr lang="en-US"/>
          </a:p>
        </p:txBody>
      </p:sp>
    </p:spTree>
    <p:extLst>
      <p:ext uri="{BB962C8B-B14F-4D97-AF65-F5344CB8AC3E}">
        <p14:creationId xmlns:p14="http://schemas.microsoft.com/office/powerpoint/2010/main" val="39864593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smtClean="0">
                <a:solidFill>
                  <a:schemeClr val="tx1"/>
                </a:solidFill>
                <a:latin typeface="+mn-lt"/>
                <a:ea typeface="+mn-ea"/>
                <a:cs typeface="+mn-cs"/>
              </a:rPr>
              <a:t>Domain constraints specify that within each tuple, the value of each attribute </a:t>
            </a:r>
            <a:r>
              <a:rPr lang="en-GB" sz="1200" b="0" i="1" u="none" strike="noStrike" kern="1200" baseline="0" dirty="0" smtClean="0">
                <a:solidFill>
                  <a:schemeClr val="tx1"/>
                </a:solidFill>
                <a:latin typeface="+mn-lt"/>
                <a:ea typeface="+mn-ea"/>
                <a:cs typeface="+mn-cs"/>
              </a:rPr>
              <a:t>A </a:t>
            </a:r>
            <a:r>
              <a:rPr lang="en-GB" sz="1200" b="0" i="0" u="none" strike="noStrike" kern="1200" baseline="0" dirty="0" smtClean="0">
                <a:solidFill>
                  <a:schemeClr val="tx1"/>
                </a:solidFill>
                <a:latin typeface="+mn-lt"/>
                <a:ea typeface="+mn-ea"/>
                <a:cs typeface="+mn-cs"/>
              </a:rPr>
              <a:t>must be an atomic value from the domain </a:t>
            </a:r>
            <a:r>
              <a:rPr lang="en-GB" sz="1200" b="0" i="0" u="none" strike="noStrike" kern="1200" baseline="0" dirty="0" err="1" smtClean="0">
                <a:solidFill>
                  <a:schemeClr val="tx1"/>
                </a:solidFill>
                <a:latin typeface="+mn-lt"/>
                <a:ea typeface="+mn-ea"/>
                <a:cs typeface="+mn-cs"/>
              </a:rPr>
              <a:t>dom</a:t>
            </a:r>
            <a:r>
              <a:rPr lang="en-GB" sz="1200" b="0" i="0" u="none" strike="noStrike" kern="1200" baseline="0" dirty="0" smtClean="0">
                <a:solidFill>
                  <a:schemeClr val="tx1"/>
                </a:solidFill>
                <a:latin typeface="+mn-lt"/>
                <a:ea typeface="+mn-ea"/>
                <a:cs typeface="+mn-cs"/>
              </a:rPr>
              <a:t>(</a:t>
            </a:r>
            <a:r>
              <a:rPr lang="en-GB" sz="1200" b="0" i="1" u="none" strike="noStrike" kern="1200" baseline="0" dirty="0" smtClean="0">
                <a:solidFill>
                  <a:schemeClr val="tx1"/>
                </a:solidFill>
                <a:latin typeface="+mn-lt"/>
                <a:ea typeface="+mn-ea"/>
                <a:cs typeface="+mn-cs"/>
              </a:rPr>
              <a:t>A</a:t>
            </a:r>
            <a:r>
              <a:rPr lang="en-GB" sz="1200" b="0" i="0" u="none" strike="noStrike" kern="1200" baseline="0" dirty="0" smtClean="0">
                <a:solidFill>
                  <a:schemeClr val="tx1"/>
                </a:solidFill>
                <a:latin typeface="+mn-lt"/>
                <a:ea typeface="+mn-ea"/>
                <a:cs typeface="+mn-cs"/>
              </a:rPr>
              <a:t>).</a:t>
            </a:r>
          </a:p>
          <a:p>
            <a:endParaRPr lang="en-GB"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The data types associated </a:t>
            </a:r>
            <a:r>
              <a:rPr lang="en-GB" sz="1200" b="0" i="0" u="none" strike="noStrike" kern="1200" baseline="0" dirty="0" smtClean="0">
                <a:solidFill>
                  <a:schemeClr val="tx1"/>
                </a:solidFill>
                <a:latin typeface="+mn-lt"/>
                <a:ea typeface="+mn-ea"/>
                <a:cs typeface="+mn-cs"/>
              </a:rPr>
              <a:t>with domains typically include standard numeric data types for integers (such </a:t>
            </a:r>
            <a:r>
              <a:rPr lang="en-GB" sz="1200" b="0" i="0" u="none" strike="noStrike" kern="1200" baseline="0" dirty="0" smtClean="0">
                <a:solidFill>
                  <a:schemeClr val="tx1"/>
                </a:solidFill>
                <a:latin typeface="+mn-lt"/>
                <a:ea typeface="+mn-ea"/>
                <a:cs typeface="+mn-cs"/>
              </a:rPr>
              <a:t>as short </a:t>
            </a:r>
            <a:r>
              <a:rPr lang="en-GB" sz="1200" b="0" i="0" u="none" strike="noStrike" kern="1200" baseline="0" dirty="0" smtClean="0">
                <a:solidFill>
                  <a:schemeClr val="tx1"/>
                </a:solidFill>
                <a:latin typeface="+mn-lt"/>
                <a:ea typeface="+mn-ea"/>
                <a:cs typeface="+mn-cs"/>
              </a:rPr>
              <a:t>integer, integer, and long integer) and real numbers (float and double precision float). </a:t>
            </a:r>
          </a:p>
          <a:p>
            <a:endParaRPr lang="en-GB" sz="1200" b="0" i="0" u="none" strike="noStrike" kern="1200" baseline="0" dirty="0" smtClean="0">
              <a:solidFill>
                <a:schemeClr val="tx1"/>
              </a:solidFill>
              <a:latin typeface="+mn-lt"/>
              <a:ea typeface="+mn-ea"/>
              <a:cs typeface="+mn-cs"/>
            </a:endParaRPr>
          </a:p>
          <a:p>
            <a:r>
              <a:rPr lang="en-GB" sz="1200" b="0" i="0" u="none" strike="noStrike" kern="1200" baseline="0" dirty="0" smtClean="0">
                <a:solidFill>
                  <a:schemeClr val="tx1"/>
                </a:solidFill>
                <a:latin typeface="+mn-lt"/>
                <a:ea typeface="+mn-ea"/>
                <a:cs typeface="+mn-cs"/>
              </a:rPr>
              <a:t>Characters, Booleans, fixed-length strings, and variable-length strings are also available, as are date, time, timestamp, and money, or other </a:t>
            </a:r>
            <a:r>
              <a:rPr lang="en-GB" sz="1200" b="0" i="0" u="none" strike="noStrike" kern="1200" baseline="0" dirty="0" smtClean="0">
                <a:solidFill>
                  <a:schemeClr val="tx1"/>
                </a:solidFill>
                <a:latin typeface="+mn-lt"/>
                <a:ea typeface="+mn-ea"/>
                <a:cs typeface="+mn-cs"/>
              </a:rPr>
              <a:t>special data </a:t>
            </a:r>
            <a:r>
              <a:rPr lang="en-GB" sz="1200" b="0" i="0" u="none" strike="noStrike" kern="1200" baseline="0" dirty="0" smtClean="0">
                <a:solidFill>
                  <a:schemeClr val="tx1"/>
                </a:solidFill>
                <a:latin typeface="+mn-lt"/>
                <a:ea typeface="+mn-ea"/>
                <a:cs typeface="+mn-cs"/>
              </a:rPr>
              <a:t>types. </a:t>
            </a:r>
          </a:p>
          <a:p>
            <a:r>
              <a:rPr lang="en-GB" sz="1200" b="0" i="0" u="none" strike="noStrike" kern="1200" baseline="0" dirty="0" smtClean="0">
                <a:solidFill>
                  <a:schemeClr val="tx1"/>
                </a:solidFill>
                <a:latin typeface="+mn-lt"/>
                <a:ea typeface="+mn-ea"/>
                <a:cs typeface="+mn-cs"/>
              </a:rPr>
              <a:t>Other </a:t>
            </a:r>
            <a:r>
              <a:rPr lang="en-GB" sz="1200" b="0" i="0" u="none" strike="noStrike" kern="1200" baseline="0" dirty="0" smtClean="0">
                <a:solidFill>
                  <a:schemeClr val="tx1"/>
                </a:solidFill>
                <a:latin typeface="+mn-lt"/>
                <a:ea typeface="+mn-ea"/>
                <a:cs typeface="+mn-cs"/>
              </a:rPr>
              <a:t>possible domains may be described by a subrange of values from a data type or as an enumerated data type in which all possible values are explicitly </a:t>
            </a:r>
            <a:r>
              <a:rPr lang="en-US" sz="1200" b="0" i="0" u="none" strike="noStrike" kern="1200" baseline="0" dirty="0" smtClean="0">
                <a:solidFill>
                  <a:schemeClr val="tx1"/>
                </a:solidFill>
                <a:latin typeface="+mn-lt"/>
                <a:ea typeface="+mn-ea"/>
                <a:cs typeface="+mn-cs"/>
              </a:rPr>
              <a:t>listed.</a:t>
            </a:r>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20</a:t>
            </a:fld>
            <a:endParaRPr lang="en-US"/>
          </a:p>
        </p:txBody>
      </p:sp>
    </p:spTree>
    <p:extLst>
      <p:ext uri="{BB962C8B-B14F-4D97-AF65-F5344CB8AC3E}">
        <p14:creationId xmlns:p14="http://schemas.microsoft.com/office/powerpoint/2010/main" val="137816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21</a:t>
            </a:fld>
            <a:endParaRPr lang="en-US"/>
          </a:p>
        </p:txBody>
      </p:sp>
    </p:spTree>
    <p:extLst>
      <p:ext uri="{BB962C8B-B14F-4D97-AF65-F5344CB8AC3E}">
        <p14:creationId xmlns:p14="http://schemas.microsoft.com/office/powerpoint/2010/main" val="27451643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t>A set of attributes SK of R such that no two tuples in any valid relation instance r(R) will have the same value for SK.  </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A super key is a set of fields that contains a key</a:t>
            </a:r>
            <a:endParaRPr lang="en-US" dirty="0" smtClean="0"/>
          </a:p>
          <a:p>
            <a:pPr marL="0" marR="0" lvl="1"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23</a:t>
            </a:fld>
            <a:endParaRPr lang="en-US"/>
          </a:p>
        </p:txBody>
      </p:sp>
    </p:spTree>
    <p:extLst>
      <p:ext uri="{BB962C8B-B14F-4D97-AF65-F5344CB8AC3E}">
        <p14:creationId xmlns:p14="http://schemas.microsoft.com/office/powerpoint/2010/main" val="2247323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smtClean="0"/>
              <a:t>If a relation has several </a:t>
            </a:r>
            <a:r>
              <a:rPr lang="en-US" b="1" dirty="0" smtClean="0"/>
              <a:t>candidate keys</a:t>
            </a:r>
            <a:r>
              <a:rPr lang="en-US" dirty="0" smtClean="0"/>
              <a:t>, one is chosen arbitrarily to be the </a:t>
            </a:r>
            <a:r>
              <a:rPr lang="en-US" b="1" dirty="0" smtClean="0"/>
              <a:t>primary key</a:t>
            </a:r>
            <a:r>
              <a:rPr lang="en-US" dirty="0" smtClean="0"/>
              <a:t>. </a:t>
            </a:r>
          </a:p>
          <a:p>
            <a:pPr lvl="1"/>
            <a:r>
              <a:rPr lang="en-US" sz="2400" dirty="0" smtClean="0"/>
              <a:t>The primary key attributes are </a:t>
            </a:r>
            <a:r>
              <a:rPr lang="en-US" sz="2400" u="sng" dirty="0" smtClean="0"/>
              <a:t>underlined</a:t>
            </a:r>
            <a:r>
              <a:rPr lang="en-US" sz="2400" dirty="0" smtClean="0"/>
              <a:t>.</a:t>
            </a:r>
          </a:p>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25</a:t>
            </a:fld>
            <a:endParaRPr lang="en-US"/>
          </a:p>
        </p:txBody>
      </p:sp>
    </p:spTree>
    <p:extLst>
      <p:ext uri="{BB962C8B-B14F-4D97-AF65-F5344CB8AC3E}">
        <p14:creationId xmlns:p14="http://schemas.microsoft.com/office/powerpoint/2010/main" val="1333937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Schema S consist of many relations S = {R1, R2, ..., </a:t>
            </a:r>
            <a:r>
              <a:rPr lang="en-US" dirty="0" err="1" smtClean="0"/>
              <a:t>Rn</a:t>
            </a:r>
            <a:r>
              <a:rPr lang="en-US" dirty="0" smtClean="0"/>
              <a:t>} and State DB{r1,r2,…,</a:t>
            </a:r>
            <a:r>
              <a:rPr lang="en-US" dirty="0" err="1" smtClean="0"/>
              <a:t>rn</a:t>
            </a:r>
            <a:r>
              <a:rPr lang="en-US" dirty="0" smtClean="0"/>
              <a:t>) where each </a:t>
            </a:r>
            <a:r>
              <a:rPr lang="en-US" dirty="0" err="1" smtClean="0"/>
              <a:t>ri</a:t>
            </a:r>
            <a:r>
              <a:rPr lang="en-US" dirty="0" smtClean="0"/>
              <a:t> is the state of </a:t>
            </a:r>
            <a:r>
              <a:rPr lang="en-US" dirty="0" err="1" smtClean="0"/>
              <a:t>Ri</a:t>
            </a:r>
            <a:r>
              <a:rPr lang="en-US" dirty="0" smtClean="0"/>
              <a:t>. </a:t>
            </a:r>
          </a:p>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28</a:t>
            </a:fld>
            <a:endParaRPr lang="en-US"/>
          </a:p>
        </p:txBody>
      </p:sp>
    </p:spTree>
    <p:extLst>
      <p:ext uri="{BB962C8B-B14F-4D97-AF65-F5344CB8AC3E}">
        <p14:creationId xmlns:p14="http://schemas.microsoft.com/office/powerpoint/2010/main" val="15319923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D4CF2B98-BF1D-4958-8D4D-FF1812AB89F6}" type="slidenum">
              <a:rPr lang="en-CA"/>
              <a:pPr/>
              <a:t>30</a:t>
            </a:fld>
            <a:endParaRPr lang="en-CA"/>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r>
              <a:rPr lang="en-US" sz="1200" b="1" kern="1200" dirty="0" smtClean="0">
                <a:solidFill>
                  <a:schemeClr val="tx1"/>
                </a:solidFill>
                <a:effectLst/>
                <a:latin typeface="+mn-lt"/>
                <a:ea typeface="+mn-ea"/>
                <a:cs typeface="+mn-cs"/>
              </a:rPr>
              <a:t>Example: </a:t>
            </a:r>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Dno</a:t>
            </a:r>
            <a:r>
              <a:rPr lang="en-US" sz="1200" kern="1200" dirty="0" smtClean="0">
                <a:solidFill>
                  <a:schemeClr val="tx1"/>
                </a:solidFill>
                <a:effectLst/>
                <a:latin typeface="+mn-lt"/>
                <a:ea typeface="+mn-ea"/>
                <a:cs typeface="+mn-cs"/>
              </a:rPr>
              <a:t> in employee record specify the department for which employee works. </a:t>
            </a:r>
          </a:p>
          <a:p>
            <a:r>
              <a:rPr lang="en-US" sz="1200" kern="1200" dirty="0" smtClean="0">
                <a:solidFill>
                  <a:schemeClr val="tx1"/>
                </a:solidFill>
                <a:effectLst/>
                <a:latin typeface="+mn-lt"/>
                <a:ea typeface="+mn-ea"/>
                <a:cs typeface="+mn-cs"/>
              </a:rPr>
              <a:t>Hence its value in each employee tuple must match the </a:t>
            </a:r>
            <a:r>
              <a:rPr lang="en-US" sz="1200" kern="1200" dirty="0" err="1" smtClean="0">
                <a:solidFill>
                  <a:schemeClr val="tx1"/>
                </a:solidFill>
                <a:effectLst/>
                <a:latin typeface="+mn-lt"/>
                <a:ea typeface="+mn-ea"/>
                <a:cs typeface="+mn-cs"/>
              </a:rPr>
              <a:t>Dnumber</a:t>
            </a:r>
            <a:r>
              <a:rPr lang="en-US" sz="1200" kern="1200" dirty="0" smtClean="0">
                <a:solidFill>
                  <a:schemeClr val="tx1"/>
                </a:solidFill>
                <a:effectLst/>
                <a:latin typeface="+mn-lt"/>
                <a:ea typeface="+mn-ea"/>
                <a:cs typeface="+mn-cs"/>
              </a:rPr>
              <a:t> value of some tuple in Department relation </a:t>
            </a:r>
          </a:p>
          <a:p>
            <a:pPr eaLnBrk="1" hangingPunct="1"/>
            <a:endParaRPr lang="en-US" dirty="0" smtClean="0"/>
          </a:p>
        </p:txBody>
      </p:sp>
    </p:spTree>
    <p:extLst>
      <p:ext uri="{BB962C8B-B14F-4D97-AF65-F5344CB8AC3E}">
        <p14:creationId xmlns:p14="http://schemas.microsoft.com/office/powerpoint/2010/main" val="10993578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smtClean="0">
                <a:solidFill>
                  <a:schemeClr val="tx1"/>
                </a:solidFill>
                <a:latin typeface="+mn-lt"/>
                <a:ea typeface="+mn-ea"/>
                <a:cs typeface="+mn-cs"/>
              </a:rPr>
              <a:t>Key constraints and entity integrity constraints are specified on individual relations.</a:t>
            </a:r>
          </a:p>
          <a:p>
            <a:r>
              <a:rPr lang="en-GB" sz="1200" b="0" i="0" u="none" strike="noStrike" kern="1200" baseline="0" dirty="0" smtClean="0">
                <a:solidFill>
                  <a:schemeClr val="tx1"/>
                </a:solidFill>
                <a:latin typeface="+mn-lt"/>
                <a:ea typeface="+mn-ea"/>
                <a:cs typeface="+mn-cs"/>
              </a:rPr>
              <a:t>The </a:t>
            </a:r>
            <a:r>
              <a:rPr lang="en-GB" sz="1200" b="1" i="0" u="none" strike="noStrike" kern="1200" baseline="0" dirty="0" smtClean="0">
                <a:solidFill>
                  <a:schemeClr val="tx1"/>
                </a:solidFill>
                <a:latin typeface="+mn-lt"/>
                <a:ea typeface="+mn-ea"/>
                <a:cs typeface="+mn-cs"/>
              </a:rPr>
              <a:t>referential integrity constraint </a:t>
            </a:r>
            <a:r>
              <a:rPr lang="en-GB" sz="1200" b="0" i="0" u="none" strike="noStrike" kern="1200" baseline="0" dirty="0" smtClean="0">
                <a:solidFill>
                  <a:schemeClr val="tx1"/>
                </a:solidFill>
                <a:latin typeface="+mn-lt"/>
                <a:ea typeface="+mn-ea"/>
                <a:cs typeface="+mn-cs"/>
              </a:rPr>
              <a:t>is specified between two relations and is </a:t>
            </a:r>
            <a:r>
              <a:rPr lang="en-GB" sz="1200" b="0" i="0" u="none" strike="noStrike" kern="1200" baseline="0" dirty="0" smtClean="0">
                <a:solidFill>
                  <a:schemeClr val="tx1"/>
                </a:solidFill>
                <a:latin typeface="+mn-lt"/>
                <a:ea typeface="+mn-ea"/>
                <a:cs typeface="+mn-cs"/>
              </a:rPr>
              <a:t>used to </a:t>
            </a:r>
            <a:r>
              <a:rPr lang="en-GB" sz="1200" b="0" i="0" u="none" strike="noStrike" kern="1200" baseline="0" dirty="0" smtClean="0">
                <a:solidFill>
                  <a:schemeClr val="tx1"/>
                </a:solidFill>
                <a:latin typeface="+mn-lt"/>
                <a:ea typeface="+mn-ea"/>
                <a:cs typeface="+mn-cs"/>
              </a:rPr>
              <a:t>maintain the consistency among tuples in the two relations. Informally, the referential</a:t>
            </a:r>
          </a:p>
          <a:p>
            <a:r>
              <a:rPr lang="en-GB" sz="1200" b="0" i="0" u="none" strike="noStrike" kern="1200" baseline="0" dirty="0" smtClean="0">
                <a:solidFill>
                  <a:schemeClr val="tx1"/>
                </a:solidFill>
                <a:latin typeface="+mn-lt"/>
                <a:ea typeface="+mn-ea"/>
                <a:cs typeface="+mn-cs"/>
              </a:rPr>
              <a:t>integrity constraint states that a tuple in one relation that refers to </a:t>
            </a:r>
            <a:r>
              <a:rPr lang="en-GB" sz="1200" b="0" i="0" u="none" strike="noStrike" kern="1200" baseline="0" dirty="0" smtClean="0">
                <a:solidFill>
                  <a:schemeClr val="tx1"/>
                </a:solidFill>
                <a:latin typeface="+mn-lt"/>
                <a:ea typeface="+mn-ea"/>
                <a:cs typeface="+mn-cs"/>
              </a:rPr>
              <a:t>another relation </a:t>
            </a:r>
            <a:r>
              <a:rPr lang="en-GB" sz="1200" b="0" i="0" u="none" strike="noStrike" kern="1200" baseline="0" dirty="0" smtClean="0">
                <a:solidFill>
                  <a:schemeClr val="tx1"/>
                </a:solidFill>
                <a:latin typeface="+mn-lt"/>
                <a:ea typeface="+mn-ea"/>
                <a:cs typeface="+mn-cs"/>
              </a:rPr>
              <a:t>must refer to an </a:t>
            </a:r>
            <a:r>
              <a:rPr lang="en-GB" sz="1200" b="0" i="1" u="none" strike="noStrike" kern="1200" baseline="0" dirty="0" smtClean="0">
                <a:solidFill>
                  <a:schemeClr val="tx1"/>
                </a:solidFill>
                <a:latin typeface="+mn-lt"/>
                <a:ea typeface="+mn-ea"/>
                <a:cs typeface="+mn-cs"/>
              </a:rPr>
              <a:t>existing tuple </a:t>
            </a:r>
            <a:r>
              <a:rPr lang="en-GB" sz="1200" b="0" i="0" u="none" strike="noStrike" kern="1200" baseline="0" dirty="0" smtClean="0">
                <a:solidFill>
                  <a:schemeClr val="tx1"/>
                </a:solidFill>
                <a:latin typeface="+mn-lt"/>
                <a:ea typeface="+mn-ea"/>
                <a:cs typeface="+mn-cs"/>
              </a:rPr>
              <a:t>in that relation.</a:t>
            </a:r>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31</a:t>
            </a:fld>
            <a:endParaRPr lang="en-US"/>
          </a:p>
        </p:txBody>
      </p:sp>
    </p:spTree>
    <p:extLst>
      <p:ext uri="{BB962C8B-B14F-4D97-AF65-F5344CB8AC3E}">
        <p14:creationId xmlns:p14="http://schemas.microsoft.com/office/powerpoint/2010/main" val="29803009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Example: </a:t>
            </a:r>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Dno</a:t>
            </a:r>
            <a:r>
              <a:rPr lang="en-US" sz="1200" kern="1200" dirty="0" smtClean="0">
                <a:solidFill>
                  <a:schemeClr val="tx1"/>
                </a:solidFill>
                <a:effectLst/>
                <a:latin typeface="+mn-lt"/>
                <a:ea typeface="+mn-ea"/>
                <a:cs typeface="+mn-cs"/>
              </a:rPr>
              <a:t> in employee record specify the department for which employee works. </a:t>
            </a:r>
          </a:p>
          <a:p>
            <a:r>
              <a:rPr lang="en-US" sz="1200" kern="1200" dirty="0" smtClean="0">
                <a:solidFill>
                  <a:schemeClr val="tx1"/>
                </a:solidFill>
                <a:effectLst/>
                <a:latin typeface="+mn-lt"/>
                <a:ea typeface="+mn-ea"/>
                <a:cs typeface="+mn-cs"/>
              </a:rPr>
              <a:t>Hence its value in each employee tuple must match the </a:t>
            </a:r>
            <a:r>
              <a:rPr lang="en-US" sz="1200" kern="1200" dirty="0" err="1" smtClean="0">
                <a:solidFill>
                  <a:schemeClr val="tx1"/>
                </a:solidFill>
                <a:effectLst/>
                <a:latin typeface="+mn-lt"/>
                <a:ea typeface="+mn-ea"/>
                <a:cs typeface="+mn-cs"/>
              </a:rPr>
              <a:t>Dnumber</a:t>
            </a:r>
            <a:r>
              <a:rPr lang="en-US" sz="1200" kern="1200" dirty="0" smtClean="0">
                <a:solidFill>
                  <a:schemeClr val="tx1"/>
                </a:solidFill>
                <a:effectLst/>
                <a:latin typeface="+mn-lt"/>
                <a:ea typeface="+mn-ea"/>
                <a:cs typeface="+mn-cs"/>
              </a:rPr>
              <a:t> value of some tuple in Department relation </a:t>
            </a:r>
          </a:p>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34</a:t>
            </a:fld>
            <a:endParaRPr lang="en-US"/>
          </a:p>
        </p:txBody>
      </p:sp>
    </p:spTree>
    <p:extLst>
      <p:ext uri="{BB962C8B-B14F-4D97-AF65-F5344CB8AC3E}">
        <p14:creationId xmlns:p14="http://schemas.microsoft.com/office/powerpoint/2010/main" val="23351099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A48F46D7-DA49-4281-8EC3-1A82F1DD32D5}" type="slidenum">
              <a:rPr lang="en-CA"/>
              <a:pPr/>
              <a:t>35</a:t>
            </a:fld>
            <a:endParaRPr lang="en-CA"/>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r>
              <a:rPr lang="en-US" sz="1200" b="1" kern="1200" dirty="0" smtClean="0">
                <a:solidFill>
                  <a:schemeClr val="tx1"/>
                </a:solidFill>
                <a:effectLst/>
                <a:latin typeface="+mn-lt"/>
                <a:ea typeface="+mn-ea"/>
                <a:cs typeface="+mn-cs"/>
              </a:rPr>
              <a:t>NOTE:</a:t>
            </a:r>
            <a:r>
              <a:rPr lang="en-US" sz="1200" kern="1200" dirty="0" smtClean="0">
                <a:solidFill>
                  <a:schemeClr val="tx1"/>
                </a:solidFill>
                <a:effectLst/>
                <a:latin typeface="+mn-lt"/>
                <a:ea typeface="+mn-ea"/>
                <a:cs typeface="+mn-cs"/>
              </a:rPr>
              <a:t> A foreign key can be a primary key or any of the candidate key in the referenced relation. The FK requires that uniqueness constraint should hold for the col on which it is defined in referenced relation. </a:t>
            </a:r>
          </a:p>
          <a:p>
            <a:r>
              <a:rPr lang="en-US" sz="1200" i="1" kern="1200" dirty="0" err="1" smtClean="0">
                <a:solidFill>
                  <a:schemeClr val="tx1"/>
                </a:solidFill>
                <a:effectLst/>
                <a:latin typeface="+mn-lt"/>
                <a:ea typeface="+mn-ea"/>
                <a:cs typeface="+mn-cs"/>
              </a:rPr>
              <a:t>Sql</a:t>
            </a:r>
            <a:r>
              <a:rPr lang="en-US" sz="1200" i="1" kern="1200" dirty="0" smtClean="0">
                <a:solidFill>
                  <a:schemeClr val="tx1"/>
                </a:solidFill>
                <a:effectLst/>
                <a:latin typeface="+mn-lt"/>
                <a:ea typeface="+mn-ea"/>
                <a:cs typeface="+mn-cs"/>
              </a:rPr>
              <a:t> server allows specifying FK on a col which has uniqueness constraint set. </a:t>
            </a:r>
            <a:endParaRPr lang="en-US" sz="1200" kern="1200" dirty="0" smtClean="0">
              <a:solidFill>
                <a:schemeClr val="tx1"/>
              </a:solidFill>
              <a:effectLst/>
              <a:latin typeface="+mn-lt"/>
              <a:ea typeface="+mn-ea"/>
              <a:cs typeface="+mn-cs"/>
            </a:endParaRPr>
          </a:p>
          <a:p>
            <a:pPr eaLnBrk="1" hangingPunct="1"/>
            <a:endParaRPr lang="en-US" dirty="0" smtClean="0"/>
          </a:p>
        </p:txBody>
      </p:sp>
    </p:spTree>
    <p:extLst>
      <p:ext uri="{BB962C8B-B14F-4D97-AF65-F5344CB8AC3E}">
        <p14:creationId xmlns:p14="http://schemas.microsoft.com/office/powerpoint/2010/main" val="20244250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smtClean="0"/>
              <a:t>A </a:t>
            </a:r>
            <a:r>
              <a:rPr lang="en-US" b="1" dirty="0" smtClean="0"/>
              <a:t>constraint specification</a:t>
            </a:r>
            <a:r>
              <a:rPr lang="en-US" dirty="0" smtClean="0"/>
              <a:t> language may have to be used to express these.</a:t>
            </a:r>
          </a:p>
          <a:p>
            <a:pPr lvl="0"/>
            <a:endParaRPr lang="en-US" dirty="0" smtClean="0"/>
          </a:p>
          <a:p>
            <a:r>
              <a:rPr lang="en-GB" sz="1200" b="0" i="0" u="none" strike="noStrike" kern="1200" baseline="0" dirty="0" smtClean="0">
                <a:solidFill>
                  <a:schemeClr val="tx1"/>
                </a:solidFill>
                <a:latin typeface="+mn-lt"/>
                <a:ea typeface="+mn-ea"/>
                <a:cs typeface="+mn-cs"/>
              </a:rPr>
              <a:t>It is more common to check for these types </a:t>
            </a:r>
            <a:r>
              <a:rPr lang="en-GB" sz="1200" b="0" i="0" u="none" strike="noStrike" kern="1200" baseline="0" dirty="0" smtClean="0">
                <a:solidFill>
                  <a:schemeClr val="tx1"/>
                </a:solidFill>
                <a:latin typeface="+mn-lt"/>
                <a:ea typeface="+mn-ea"/>
                <a:cs typeface="+mn-cs"/>
              </a:rPr>
              <a:t>of constraints </a:t>
            </a:r>
            <a:r>
              <a:rPr lang="en-GB" sz="1200" b="0" i="0" u="none" strike="noStrike" kern="1200" baseline="0" dirty="0" smtClean="0">
                <a:solidFill>
                  <a:schemeClr val="tx1"/>
                </a:solidFill>
                <a:latin typeface="+mn-lt"/>
                <a:ea typeface="+mn-ea"/>
                <a:cs typeface="+mn-cs"/>
              </a:rPr>
              <a:t>within the application programs than to use constraint </a:t>
            </a:r>
            <a:r>
              <a:rPr lang="en-GB" sz="1200" b="0" i="0" u="none" strike="noStrike" kern="1200" baseline="0" dirty="0" smtClean="0">
                <a:solidFill>
                  <a:schemeClr val="tx1"/>
                </a:solidFill>
                <a:latin typeface="+mn-lt"/>
                <a:ea typeface="+mn-ea"/>
                <a:cs typeface="+mn-cs"/>
              </a:rPr>
              <a:t>specification languages </a:t>
            </a:r>
            <a:r>
              <a:rPr lang="en-GB" sz="1200" b="0" i="0" u="none" strike="noStrike" kern="1200" baseline="0" dirty="0" smtClean="0">
                <a:solidFill>
                  <a:schemeClr val="tx1"/>
                </a:solidFill>
                <a:latin typeface="+mn-lt"/>
                <a:ea typeface="+mn-ea"/>
                <a:cs typeface="+mn-cs"/>
              </a:rPr>
              <a:t>because the latter are sometimes difficult and complex to use</a:t>
            </a:r>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37</a:t>
            </a:fld>
            <a:endParaRPr lang="en-US"/>
          </a:p>
        </p:txBody>
      </p:sp>
    </p:spTree>
    <p:extLst>
      <p:ext uri="{BB962C8B-B14F-4D97-AF65-F5344CB8AC3E}">
        <p14:creationId xmlns:p14="http://schemas.microsoft.com/office/powerpoint/2010/main" val="17259403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 </a:t>
            </a:r>
            <a:r>
              <a:rPr lang="en-GB" i="1" dirty="0" smtClean="0"/>
              <a:t>Result</a:t>
            </a:r>
            <a:r>
              <a:rPr lang="en-GB" dirty="0" smtClean="0"/>
              <a:t>: This insertion violates the entity integrity constraint (NULL for the</a:t>
            </a:r>
          </a:p>
          <a:p>
            <a:r>
              <a:rPr lang="en-GB" dirty="0" smtClean="0"/>
              <a:t>primary key </a:t>
            </a:r>
            <a:r>
              <a:rPr lang="en-GB" dirty="0" err="1" smtClean="0"/>
              <a:t>Ssn</a:t>
            </a:r>
            <a:r>
              <a:rPr lang="en-GB" dirty="0" smtClean="0"/>
              <a:t>), so it is rejected.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40</a:t>
            </a:fld>
            <a:endParaRPr lang="en-US"/>
          </a:p>
        </p:txBody>
      </p:sp>
    </p:spTree>
    <p:extLst>
      <p:ext uri="{BB962C8B-B14F-4D97-AF65-F5344CB8AC3E}">
        <p14:creationId xmlns:p14="http://schemas.microsoft.com/office/powerpoint/2010/main" val="11468233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3. </a:t>
            </a:r>
            <a:r>
              <a:rPr lang="en-GB" i="1" dirty="0" smtClean="0"/>
              <a:t>Result</a:t>
            </a:r>
            <a:r>
              <a:rPr lang="en-GB" dirty="0" smtClean="0"/>
              <a:t>: This insertion violates the referential integrity constraint specified on</a:t>
            </a:r>
          </a:p>
          <a:p>
            <a:r>
              <a:rPr lang="en-GB" dirty="0" err="1" smtClean="0"/>
              <a:t>Dno</a:t>
            </a:r>
            <a:r>
              <a:rPr lang="en-GB" dirty="0" smtClean="0"/>
              <a:t> in EMPLOYEE because no corresponding referenced tuple exists in</a:t>
            </a:r>
          </a:p>
          <a:p>
            <a:r>
              <a:rPr lang="en-US" dirty="0" smtClean="0"/>
              <a:t>DEPARTMENT with </a:t>
            </a:r>
            <a:r>
              <a:rPr lang="en-US" dirty="0" err="1" smtClean="0"/>
              <a:t>Dnumber</a:t>
            </a:r>
            <a:r>
              <a:rPr lang="en-US" dirty="0" smtClean="0"/>
              <a:t> = 7.</a:t>
            </a:r>
          </a:p>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41</a:t>
            </a:fld>
            <a:endParaRPr lang="en-US"/>
          </a:p>
        </p:txBody>
      </p:sp>
    </p:spTree>
    <p:extLst>
      <p:ext uri="{BB962C8B-B14F-4D97-AF65-F5344CB8AC3E}">
        <p14:creationId xmlns:p14="http://schemas.microsoft.com/office/powerpoint/2010/main" val="11468233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i="1" dirty="0" smtClean="0"/>
              <a:t> Result</a:t>
            </a:r>
            <a:r>
              <a:rPr lang="en-GB" dirty="0" smtClean="0"/>
              <a:t>: This insertion violates the key constraint because another tuple with</a:t>
            </a:r>
          </a:p>
          <a:p>
            <a:r>
              <a:rPr lang="en-GB" dirty="0" smtClean="0"/>
              <a:t>the same </a:t>
            </a:r>
            <a:r>
              <a:rPr lang="en-GB" dirty="0" err="1" smtClean="0"/>
              <a:t>Ssn</a:t>
            </a:r>
            <a:r>
              <a:rPr lang="en-GB" dirty="0" smtClean="0"/>
              <a:t> value already exists in the EMPLOYEE relation, and so it is</a:t>
            </a:r>
          </a:p>
          <a:p>
            <a:r>
              <a:rPr lang="en-US" dirty="0" smtClean="0"/>
              <a:t>rejected.</a:t>
            </a:r>
          </a:p>
          <a:p>
            <a:endParaRPr lang="en-US" dirty="0" smtClean="0"/>
          </a:p>
        </p:txBody>
      </p:sp>
      <p:sp>
        <p:nvSpPr>
          <p:cNvPr id="4" name="Slide Number Placeholder 3"/>
          <p:cNvSpPr>
            <a:spLocks noGrp="1"/>
          </p:cNvSpPr>
          <p:nvPr>
            <p:ph type="sldNum" sz="quarter" idx="10"/>
          </p:nvPr>
        </p:nvSpPr>
        <p:spPr/>
        <p:txBody>
          <a:bodyPr/>
          <a:lstStyle/>
          <a:p>
            <a:fld id="{4618E2F3-1254-46D1-88AF-1493AB02C426}" type="slidenum">
              <a:rPr lang="en-US" smtClean="0"/>
              <a:t>42</a:t>
            </a:fld>
            <a:endParaRPr lang="en-US"/>
          </a:p>
        </p:txBody>
      </p:sp>
    </p:spTree>
    <p:extLst>
      <p:ext uri="{BB962C8B-B14F-4D97-AF65-F5344CB8AC3E}">
        <p14:creationId xmlns:p14="http://schemas.microsoft.com/office/powerpoint/2010/main" val="11468233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i="1" dirty="0" smtClean="0"/>
              <a:t>Result</a:t>
            </a:r>
            <a:r>
              <a:rPr lang="en-GB" dirty="0" smtClean="0"/>
              <a:t>: This deletion is not acceptable, because there are tuples in WORKS_ON that refer to this tuple. Hence, if the tuple in EMPLOYEE is deleted, referential integrity violations will result </a:t>
            </a:r>
          </a:p>
          <a:p>
            <a:endParaRPr lang="en-GB" dirty="0" smtClean="0"/>
          </a:p>
          <a:p>
            <a:r>
              <a:rPr lang="en-GB" i="1" dirty="0" smtClean="0"/>
              <a:t>Result</a:t>
            </a:r>
            <a:r>
              <a:rPr lang="en-GB" dirty="0" smtClean="0"/>
              <a:t>: This deletion will result in even worse referential integrity violations, because the tuple involved is referenced by tuples from the EMPLOYEE,</a:t>
            </a:r>
          </a:p>
          <a:p>
            <a:r>
              <a:rPr lang="en-US" dirty="0" smtClean="0"/>
              <a:t>DEPARTMENT,WORKS_ON, and DEPENDENT relations.</a:t>
            </a:r>
          </a:p>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43</a:t>
            </a:fld>
            <a:endParaRPr lang="en-US"/>
          </a:p>
        </p:txBody>
      </p:sp>
    </p:spTree>
    <p:extLst>
      <p:ext uri="{BB962C8B-B14F-4D97-AF65-F5344CB8AC3E}">
        <p14:creationId xmlns:p14="http://schemas.microsoft.com/office/powerpoint/2010/main" val="41623258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D4CF2B98-BF1D-4958-8D4D-FF1812AB89F6}" type="slidenum">
              <a:rPr lang="en-CA"/>
              <a:pPr/>
              <a:t>44</a:t>
            </a:fld>
            <a:endParaRPr lang="en-CA"/>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r>
              <a:rPr lang="en-US" sz="1200" b="1" kern="1200" dirty="0" smtClean="0">
                <a:solidFill>
                  <a:schemeClr val="tx1"/>
                </a:solidFill>
                <a:effectLst/>
                <a:latin typeface="+mn-lt"/>
                <a:ea typeface="+mn-ea"/>
                <a:cs typeface="+mn-cs"/>
              </a:rPr>
              <a:t>Example: </a:t>
            </a:r>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Dno</a:t>
            </a:r>
            <a:r>
              <a:rPr lang="en-US" sz="1200" kern="1200" dirty="0" smtClean="0">
                <a:solidFill>
                  <a:schemeClr val="tx1"/>
                </a:solidFill>
                <a:effectLst/>
                <a:latin typeface="+mn-lt"/>
                <a:ea typeface="+mn-ea"/>
                <a:cs typeface="+mn-cs"/>
              </a:rPr>
              <a:t> in employee record specify the department for which employee works. </a:t>
            </a:r>
          </a:p>
          <a:p>
            <a:r>
              <a:rPr lang="en-US" sz="1200" kern="1200" dirty="0" smtClean="0">
                <a:solidFill>
                  <a:schemeClr val="tx1"/>
                </a:solidFill>
                <a:effectLst/>
                <a:latin typeface="+mn-lt"/>
                <a:ea typeface="+mn-ea"/>
                <a:cs typeface="+mn-cs"/>
              </a:rPr>
              <a:t>Hence its value in each employee tuple must match the </a:t>
            </a:r>
            <a:r>
              <a:rPr lang="en-US" sz="1200" kern="1200" dirty="0" err="1" smtClean="0">
                <a:solidFill>
                  <a:schemeClr val="tx1"/>
                </a:solidFill>
                <a:effectLst/>
                <a:latin typeface="+mn-lt"/>
                <a:ea typeface="+mn-ea"/>
                <a:cs typeface="+mn-cs"/>
              </a:rPr>
              <a:t>Dnumber</a:t>
            </a:r>
            <a:r>
              <a:rPr lang="en-US" sz="1200" kern="1200" dirty="0" smtClean="0">
                <a:solidFill>
                  <a:schemeClr val="tx1"/>
                </a:solidFill>
                <a:effectLst/>
                <a:latin typeface="+mn-lt"/>
                <a:ea typeface="+mn-ea"/>
                <a:cs typeface="+mn-cs"/>
              </a:rPr>
              <a:t> value of some tuple in Department relation </a:t>
            </a:r>
          </a:p>
          <a:p>
            <a:pPr eaLnBrk="1" hangingPunct="1"/>
            <a:endParaRPr lang="en-US" dirty="0" smtClean="0"/>
          </a:p>
        </p:txBody>
      </p:sp>
    </p:spTree>
    <p:extLst>
      <p:ext uri="{BB962C8B-B14F-4D97-AF65-F5344CB8AC3E}">
        <p14:creationId xmlns:p14="http://schemas.microsoft.com/office/powerpoint/2010/main" val="22514652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i="1" dirty="0" smtClean="0"/>
              <a:t>Result</a:t>
            </a:r>
            <a:r>
              <a:rPr lang="en-GB" dirty="0" smtClean="0"/>
              <a:t>: Unacceptable, because it violates referential integrity.</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smtClean="0"/>
          </a:p>
          <a:p>
            <a:r>
              <a:rPr lang="en-GB" i="1" dirty="0" smtClean="0"/>
              <a:t>Result</a:t>
            </a:r>
            <a:r>
              <a:rPr lang="en-GB" dirty="0" smtClean="0"/>
              <a:t>: Unacceptable, because it violates primary key constraint by repeating</a:t>
            </a:r>
          </a:p>
          <a:p>
            <a:r>
              <a:rPr lang="en-GB" dirty="0" smtClean="0"/>
              <a:t>a value that already exists as a primary key in another tuple; it violates referential</a:t>
            </a:r>
          </a:p>
          <a:p>
            <a:r>
              <a:rPr lang="en-GB" dirty="0" smtClean="0"/>
              <a:t>integrity constraints because there are other relations that refer to the</a:t>
            </a:r>
          </a:p>
          <a:p>
            <a:r>
              <a:rPr lang="en-US" dirty="0" smtClean="0"/>
              <a:t>existing value of </a:t>
            </a:r>
            <a:r>
              <a:rPr lang="en-US" dirty="0" err="1" smtClean="0"/>
              <a:t>Ssn</a:t>
            </a: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smtClean="0"/>
          </a:p>
          <a:p>
            <a:endParaRPr lang="en-US" dirty="0"/>
          </a:p>
        </p:txBody>
      </p:sp>
      <p:sp>
        <p:nvSpPr>
          <p:cNvPr id="4" name="Slide Number Placeholder 3"/>
          <p:cNvSpPr>
            <a:spLocks noGrp="1"/>
          </p:cNvSpPr>
          <p:nvPr>
            <p:ph type="sldNum" sz="quarter" idx="10"/>
          </p:nvPr>
        </p:nvSpPr>
        <p:spPr/>
        <p:txBody>
          <a:bodyPr/>
          <a:lstStyle/>
          <a:p>
            <a:fld id="{4618E2F3-1254-46D1-88AF-1493AB02C426}" type="slidenum">
              <a:rPr lang="en-US" smtClean="0"/>
              <a:t>46</a:t>
            </a:fld>
            <a:endParaRPr lang="en-US"/>
          </a:p>
        </p:txBody>
      </p:sp>
    </p:spTree>
    <p:extLst>
      <p:ext uri="{BB962C8B-B14F-4D97-AF65-F5344CB8AC3E}">
        <p14:creationId xmlns:p14="http://schemas.microsoft.com/office/powerpoint/2010/main" val="33887778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D4CF2B98-BF1D-4958-8D4D-FF1812AB89F6}" type="slidenum">
              <a:rPr lang="en-CA"/>
              <a:pPr/>
              <a:t>47</a:t>
            </a:fld>
            <a:endParaRPr lang="en-CA"/>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r>
              <a:rPr lang="en-US" sz="1200" b="1" kern="1200" dirty="0" smtClean="0">
                <a:solidFill>
                  <a:schemeClr val="tx1"/>
                </a:solidFill>
                <a:effectLst/>
                <a:latin typeface="+mn-lt"/>
                <a:ea typeface="+mn-ea"/>
                <a:cs typeface="+mn-cs"/>
              </a:rPr>
              <a:t>Example: </a:t>
            </a:r>
            <a:endParaRPr lang="en-US" sz="12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Dno</a:t>
            </a:r>
            <a:r>
              <a:rPr lang="en-US" sz="1200" kern="1200" dirty="0" smtClean="0">
                <a:solidFill>
                  <a:schemeClr val="tx1"/>
                </a:solidFill>
                <a:effectLst/>
                <a:latin typeface="+mn-lt"/>
                <a:ea typeface="+mn-ea"/>
                <a:cs typeface="+mn-cs"/>
              </a:rPr>
              <a:t> in employee record specify the department for which employee works. </a:t>
            </a:r>
          </a:p>
          <a:p>
            <a:r>
              <a:rPr lang="en-US" sz="1200" kern="1200" dirty="0" smtClean="0">
                <a:solidFill>
                  <a:schemeClr val="tx1"/>
                </a:solidFill>
                <a:effectLst/>
                <a:latin typeface="+mn-lt"/>
                <a:ea typeface="+mn-ea"/>
                <a:cs typeface="+mn-cs"/>
              </a:rPr>
              <a:t>Hence its value in each employee tuple must match the </a:t>
            </a:r>
            <a:r>
              <a:rPr lang="en-US" sz="1200" kern="1200" dirty="0" err="1" smtClean="0">
                <a:solidFill>
                  <a:schemeClr val="tx1"/>
                </a:solidFill>
                <a:effectLst/>
                <a:latin typeface="+mn-lt"/>
                <a:ea typeface="+mn-ea"/>
                <a:cs typeface="+mn-cs"/>
              </a:rPr>
              <a:t>Dnumber</a:t>
            </a:r>
            <a:r>
              <a:rPr lang="en-US" sz="1200" kern="1200" dirty="0" smtClean="0">
                <a:solidFill>
                  <a:schemeClr val="tx1"/>
                </a:solidFill>
                <a:effectLst/>
                <a:latin typeface="+mn-lt"/>
                <a:ea typeface="+mn-ea"/>
                <a:cs typeface="+mn-cs"/>
              </a:rPr>
              <a:t> value of some tuple in Department relation </a:t>
            </a:r>
          </a:p>
          <a:p>
            <a:pPr eaLnBrk="1" hangingPunct="1"/>
            <a:endParaRPr lang="en-US" dirty="0" smtClean="0"/>
          </a:p>
        </p:txBody>
      </p:sp>
    </p:spTree>
    <p:extLst>
      <p:ext uri="{BB962C8B-B14F-4D97-AF65-F5344CB8AC3E}">
        <p14:creationId xmlns:p14="http://schemas.microsoft.com/office/powerpoint/2010/main" val="3200766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0302014A-8BD5-4818-BDF1-EDB630EC79B2}" type="datetimeFigureOut">
              <a:rPr lang="en-US" smtClean="0"/>
              <a:t>8/17/2015</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FA410439-BDB5-4D0A-B163-F33FCF42F0AC}"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0302014A-8BD5-4818-BDF1-EDB630EC79B2}" type="datetimeFigureOut">
              <a:rPr lang="en-US" smtClean="0"/>
              <a:t>8/17/2015</a:t>
            </a:fld>
            <a:endParaRPr lang="en-US"/>
          </a:p>
        </p:txBody>
      </p:sp>
      <p:sp>
        <p:nvSpPr>
          <p:cNvPr id="9" name="Slide Number Placeholder 8"/>
          <p:cNvSpPr>
            <a:spLocks noGrp="1"/>
          </p:cNvSpPr>
          <p:nvPr>
            <p:ph type="sldNum" sz="quarter" idx="15"/>
          </p:nvPr>
        </p:nvSpPr>
        <p:spPr/>
        <p:txBody>
          <a:bodyPr rtlCol="0"/>
          <a:lstStyle/>
          <a:p>
            <a:fld id="{FA410439-BDB5-4D0A-B163-F33FCF42F0AC}"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0302014A-8BD5-4818-BDF1-EDB630EC79B2}" type="datetimeFigureOut">
              <a:rPr lang="en-US" smtClean="0"/>
              <a:t>8/17/2015</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FA410439-BDB5-4D0A-B163-F33FCF42F0AC}"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302014A-8BD5-4818-BDF1-EDB630EC79B2}" type="datetimeFigureOut">
              <a:rPr lang="en-US" smtClean="0"/>
              <a:t>8/17/2015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410439-BDB5-4D0A-B163-F33FCF42F0AC}"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0302014A-8BD5-4818-BDF1-EDB630EC79B2}" type="datetimeFigureOut">
              <a:rPr lang="en-US" smtClean="0"/>
              <a:t>8/17/2015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410439-BDB5-4D0A-B163-F33FCF42F0AC}"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0302014A-8BD5-4818-BDF1-EDB630EC79B2}" type="datetimeFigureOut">
              <a:rPr lang="en-US" smtClean="0"/>
              <a:t>8/17/2015</a:t>
            </a:fld>
            <a:endParaRPr lang="en-US"/>
          </a:p>
        </p:txBody>
      </p:sp>
      <p:sp>
        <p:nvSpPr>
          <p:cNvPr id="7" name="Slide Number Placeholder 6"/>
          <p:cNvSpPr>
            <a:spLocks noGrp="1"/>
          </p:cNvSpPr>
          <p:nvPr>
            <p:ph type="sldNum" sz="quarter" idx="11"/>
          </p:nvPr>
        </p:nvSpPr>
        <p:spPr/>
        <p:txBody>
          <a:bodyPr rtlCol="0"/>
          <a:lstStyle/>
          <a:p>
            <a:fld id="{FA410439-BDB5-4D0A-B163-F33FCF42F0AC}"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02014A-8BD5-4818-BDF1-EDB630EC79B2}" type="datetimeFigureOut">
              <a:rPr lang="en-US" smtClean="0"/>
              <a:t>8/17/2015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410439-BDB5-4D0A-B163-F33FCF42F0A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0302014A-8BD5-4818-BDF1-EDB630EC79B2}" type="datetimeFigureOut">
              <a:rPr lang="en-US" smtClean="0"/>
              <a:t>8/17/2015</a:t>
            </a:fld>
            <a:endParaRPr lang="en-US"/>
          </a:p>
        </p:txBody>
      </p:sp>
      <p:sp>
        <p:nvSpPr>
          <p:cNvPr id="22" name="Slide Number Placeholder 21"/>
          <p:cNvSpPr>
            <a:spLocks noGrp="1"/>
          </p:cNvSpPr>
          <p:nvPr>
            <p:ph type="sldNum" sz="quarter" idx="15"/>
          </p:nvPr>
        </p:nvSpPr>
        <p:spPr/>
        <p:txBody>
          <a:bodyPr rtlCol="0"/>
          <a:lstStyle/>
          <a:p>
            <a:fld id="{FA410439-BDB5-4D0A-B163-F33FCF42F0AC}"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0302014A-8BD5-4818-BDF1-EDB630EC79B2}" type="datetimeFigureOut">
              <a:rPr lang="en-US" smtClean="0"/>
              <a:t>8/17/2015</a:t>
            </a:fld>
            <a:endParaRPr lang="en-US"/>
          </a:p>
        </p:txBody>
      </p:sp>
      <p:sp>
        <p:nvSpPr>
          <p:cNvPr id="18" name="Slide Number Placeholder 17"/>
          <p:cNvSpPr>
            <a:spLocks noGrp="1"/>
          </p:cNvSpPr>
          <p:nvPr>
            <p:ph type="sldNum" sz="quarter" idx="11"/>
          </p:nvPr>
        </p:nvSpPr>
        <p:spPr/>
        <p:txBody>
          <a:bodyPr rtlCol="0"/>
          <a:lstStyle/>
          <a:p>
            <a:fld id="{FA410439-BDB5-4D0A-B163-F33FCF42F0AC}"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302014A-8BD5-4818-BDF1-EDB630EC79B2}" type="datetimeFigureOut">
              <a:rPr lang="en-US" smtClean="0"/>
              <a:t>8/17/2015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410439-BDB5-4D0A-B163-F33FCF42F0A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302014A-8BD5-4818-BDF1-EDB630EC79B2}" type="datetimeFigureOut">
              <a:rPr lang="en-US" smtClean="0"/>
              <a:t>8/17/2015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410439-BDB5-4D0A-B163-F33FCF42F0A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0302014A-8BD5-4818-BDF1-EDB630EC79B2}" type="datetimeFigureOut">
              <a:rPr lang="en-US" smtClean="0"/>
              <a:t>8/17/2015</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FA410439-BDB5-4D0A-B163-F33FCF42F0A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Relational Database Model and Constraints</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Flat Database</a:t>
            </a:r>
            <a:endParaRPr lang="en-US" b="1" dirty="0"/>
          </a:p>
        </p:txBody>
      </p:sp>
      <p:sp>
        <p:nvSpPr>
          <p:cNvPr id="3" name="Content Placeholder 2"/>
          <p:cNvSpPr>
            <a:spLocks noGrp="1"/>
          </p:cNvSpPr>
          <p:nvPr>
            <p:ph sz="quarter" idx="1"/>
          </p:nvPr>
        </p:nvSpPr>
        <p:spPr/>
        <p:txBody>
          <a:bodyPr/>
          <a:lstStyle/>
          <a:p>
            <a:r>
              <a:rPr lang="en-US" dirty="0" smtClean="0"/>
              <a:t>Issues ?</a:t>
            </a:r>
          </a:p>
          <a:p>
            <a:endParaRPr lang="en-US" dirty="0"/>
          </a:p>
          <a:p>
            <a:pPr lvl="1"/>
            <a:r>
              <a:rPr lang="en-US" dirty="0" smtClean="0"/>
              <a:t>Difficult to search</a:t>
            </a:r>
          </a:p>
          <a:p>
            <a:pPr lvl="1"/>
            <a:r>
              <a:rPr lang="en-US" dirty="0" smtClean="0"/>
              <a:t>Difficult to generate reports</a:t>
            </a:r>
          </a:p>
          <a:p>
            <a:pPr lvl="1"/>
            <a:r>
              <a:rPr lang="en-US" dirty="0" smtClean="0"/>
              <a:t>Difficult to sort data based on particular field</a:t>
            </a:r>
          </a:p>
          <a:p>
            <a:endParaRPr lang="en-US" dirty="0" smtClean="0"/>
          </a:p>
        </p:txBody>
      </p:sp>
    </p:spTree>
    <p:extLst>
      <p:ext uri="{BB962C8B-B14F-4D97-AF65-F5344CB8AC3E}">
        <p14:creationId xmlns:p14="http://schemas.microsoft.com/office/powerpoint/2010/main" val="4048557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Relational Database</a:t>
            </a:r>
            <a:endParaRPr lang="en-US" dirty="0"/>
          </a:p>
        </p:txBody>
      </p:sp>
      <p:sp>
        <p:nvSpPr>
          <p:cNvPr id="3" name="Content Placeholder 2"/>
          <p:cNvSpPr>
            <a:spLocks noGrp="1"/>
          </p:cNvSpPr>
          <p:nvPr>
            <p:ph sz="quarter" idx="1"/>
          </p:nvPr>
        </p:nvSpPr>
        <p:spPr>
          <a:xfrm>
            <a:off x="457200" y="1600200"/>
            <a:ext cx="8153400" cy="4873752"/>
          </a:xfrm>
        </p:spPr>
        <p:txBody>
          <a:bodyPr>
            <a:normAutofit/>
          </a:bodyPr>
          <a:lstStyle/>
          <a:p>
            <a:r>
              <a:rPr lang="en-US" dirty="0"/>
              <a:t>Relational databases use </a:t>
            </a:r>
            <a:r>
              <a:rPr lang="en-US" b="1" dirty="0"/>
              <a:t>tables</a:t>
            </a:r>
            <a:r>
              <a:rPr lang="en-US" dirty="0"/>
              <a:t> to store information.</a:t>
            </a:r>
          </a:p>
          <a:p>
            <a:endParaRPr lang="en-US" dirty="0" smtClean="0"/>
          </a:p>
          <a:p>
            <a:endParaRPr lang="en-US" sz="2000" dirty="0" smtClean="0"/>
          </a:p>
          <a:p>
            <a:endParaRPr lang="en-US" sz="2000" dirty="0"/>
          </a:p>
          <a:p>
            <a:endParaRPr lang="en-US" sz="2000" dirty="0" smtClean="0"/>
          </a:p>
          <a:p>
            <a:endParaRPr lang="en-US" sz="2000" dirty="0"/>
          </a:p>
          <a:p>
            <a:endParaRPr lang="en-US" sz="2000" dirty="0" smtClean="0"/>
          </a:p>
          <a:p>
            <a:endParaRPr lang="en-US" sz="2000" dirty="0"/>
          </a:p>
          <a:p>
            <a:r>
              <a:rPr lang="en-US" sz="2000" i="1" dirty="0" smtClean="0"/>
              <a:t>Issue with this table ?</a:t>
            </a:r>
          </a:p>
          <a:p>
            <a:endParaRPr lang="en-US" sz="2000" b="1" dirty="0" smtClean="0"/>
          </a:p>
          <a:p>
            <a:r>
              <a:rPr lang="en-US" b="1" dirty="0" smtClean="0"/>
              <a:t>Primary Key: </a:t>
            </a:r>
            <a:r>
              <a:rPr lang="en-US" dirty="0"/>
              <a:t>uniquely identifies </a:t>
            </a:r>
            <a:r>
              <a:rPr lang="en-US" dirty="0" smtClean="0"/>
              <a:t>each record </a:t>
            </a:r>
            <a:r>
              <a:rPr lang="en-US" dirty="0"/>
              <a:t>in the table </a:t>
            </a:r>
          </a:p>
        </p:txBody>
      </p:sp>
      <p:graphicFrame>
        <p:nvGraphicFramePr>
          <p:cNvPr id="4" name="Table 3"/>
          <p:cNvGraphicFramePr>
            <a:graphicFrameLocks noGrp="1"/>
          </p:cNvGraphicFramePr>
          <p:nvPr>
            <p:extLst>
              <p:ext uri="{D42A27DB-BD31-4B8C-83A1-F6EECF244321}">
                <p14:modId xmlns:p14="http://schemas.microsoft.com/office/powerpoint/2010/main" val="938799229"/>
              </p:ext>
            </p:extLst>
          </p:nvPr>
        </p:nvGraphicFramePr>
        <p:xfrm>
          <a:off x="762000" y="2525202"/>
          <a:ext cx="4953000" cy="2122998"/>
        </p:xfrm>
        <a:graphic>
          <a:graphicData uri="http://schemas.openxmlformats.org/drawingml/2006/table">
            <a:tbl>
              <a:tblPr firstRow="1" firstCol="1" bandRow="1">
                <a:tableStyleId>{5C22544A-7EE6-4342-B048-85BDC9FD1C3A}</a:tableStyleId>
              </a:tblPr>
              <a:tblGrid>
                <a:gridCol w="990600"/>
                <a:gridCol w="990600"/>
                <a:gridCol w="990600"/>
                <a:gridCol w="990600"/>
                <a:gridCol w="990600"/>
              </a:tblGrid>
              <a:tr h="353833">
                <a:tc>
                  <a:txBody>
                    <a:bodyPr/>
                    <a:lstStyle/>
                    <a:p>
                      <a:pPr marL="0" marR="0">
                        <a:lnSpc>
                          <a:spcPct val="115000"/>
                        </a:lnSpc>
                        <a:spcBef>
                          <a:spcPts val="0"/>
                        </a:spcBef>
                        <a:spcAft>
                          <a:spcPts val="0"/>
                        </a:spcAft>
                      </a:pPr>
                      <a:r>
                        <a:rPr lang="en-US" sz="1100" dirty="0" err="1">
                          <a:effectLst/>
                        </a:rPr>
                        <a:t>LName</a:t>
                      </a:r>
                      <a:endParaRPr lang="en-US" sz="1100" dirty="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FName</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dirty="0">
                          <a:effectLst/>
                        </a:rPr>
                        <a:t>City</a:t>
                      </a:r>
                      <a:endParaRPr lang="en-US" sz="1100" dirty="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Age</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Salary</a:t>
                      </a:r>
                      <a:endParaRPr lang="en-US" sz="1100">
                        <a:effectLst/>
                        <a:latin typeface="Calibri"/>
                        <a:ea typeface="Calibri"/>
                        <a:cs typeface="Times New Roman"/>
                      </a:endParaRPr>
                    </a:p>
                  </a:txBody>
                  <a:tcPr marL="28575" marR="28575" marT="28575" marB="28575" anchor="ctr"/>
                </a:tc>
              </a:tr>
              <a:tr h="353833">
                <a:tc>
                  <a:txBody>
                    <a:bodyPr/>
                    <a:lstStyle/>
                    <a:p>
                      <a:pPr marL="0" marR="0">
                        <a:lnSpc>
                          <a:spcPct val="115000"/>
                        </a:lnSpc>
                        <a:spcBef>
                          <a:spcPts val="0"/>
                        </a:spcBef>
                        <a:spcAft>
                          <a:spcPts val="0"/>
                        </a:spcAft>
                      </a:pPr>
                      <a:r>
                        <a:rPr lang="en-US" sz="1100">
                          <a:effectLst/>
                        </a:rPr>
                        <a:t>Smith</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John</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dirty="0" smtClean="0">
                          <a:effectLst/>
                          <a:latin typeface="+mn-lt"/>
                          <a:ea typeface="+mn-ea"/>
                          <a:cs typeface="+mn-cs"/>
                        </a:rPr>
                        <a:t>New</a:t>
                      </a:r>
                      <a:r>
                        <a:rPr lang="en-US" sz="1100" baseline="0" dirty="0" smtClean="0">
                          <a:effectLst/>
                          <a:latin typeface="+mn-lt"/>
                          <a:ea typeface="+mn-ea"/>
                          <a:cs typeface="+mn-cs"/>
                        </a:rPr>
                        <a:t> York</a:t>
                      </a:r>
                      <a:endParaRPr lang="en-US" sz="1100" dirty="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35</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$280</a:t>
                      </a:r>
                      <a:endParaRPr lang="en-US" sz="1100">
                        <a:effectLst/>
                        <a:latin typeface="Calibri"/>
                        <a:ea typeface="Calibri"/>
                        <a:cs typeface="Times New Roman"/>
                      </a:endParaRPr>
                    </a:p>
                  </a:txBody>
                  <a:tcPr marL="28575" marR="28575" marT="28575" marB="28575" anchor="ctr"/>
                </a:tc>
              </a:tr>
              <a:tr h="353833">
                <a:tc>
                  <a:txBody>
                    <a:bodyPr/>
                    <a:lstStyle/>
                    <a:p>
                      <a:pPr marL="0" marR="0">
                        <a:lnSpc>
                          <a:spcPct val="115000"/>
                        </a:lnSpc>
                        <a:spcBef>
                          <a:spcPts val="0"/>
                        </a:spcBef>
                        <a:spcAft>
                          <a:spcPts val="0"/>
                        </a:spcAft>
                      </a:pPr>
                      <a:r>
                        <a:rPr lang="en-US" sz="1100">
                          <a:effectLst/>
                        </a:rPr>
                        <a:t>Doe</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Jane</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dirty="0" smtClean="0">
                          <a:effectLst/>
                          <a:latin typeface="+mn-lt"/>
                          <a:ea typeface="+mn-ea"/>
                          <a:cs typeface="+mn-cs"/>
                        </a:rPr>
                        <a:t>Boston</a:t>
                      </a:r>
                      <a:endParaRPr lang="en-US" sz="1100" dirty="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28</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$325</a:t>
                      </a:r>
                      <a:endParaRPr lang="en-US" sz="1100">
                        <a:effectLst/>
                        <a:latin typeface="Calibri"/>
                        <a:ea typeface="Calibri"/>
                        <a:cs typeface="Times New Roman"/>
                      </a:endParaRPr>
                    </a:p>
                  </a:txBody>
                  <a:tcPr marL="28575" marR="28575" marT="28575" marB="28575" anchor="ctr"/>
                </a:tc>
              </a:tr>
              <a:tr h="353833">
                <a:tc>
                  <a:txBody>
                    <a:bodyPr/>
                    <a:lstStyle/>
                    <a:p>
                      <a:pPr marL="0" marR="0">
                        <a:lnSpc>
                          <a:spcPct val="115000"/>
                        </a:lnSpc>
                        <a:spcBef>
                          <a:spcPts val="0"/>
                        </a:spcBef>
                        <a:spcAft>
                          <a:spcPts val="0"/>
                        </a:spcAft>
                      </a:pPr>
                      <a:r>
                        <a:rPr lang="en-US" sz="1100">
                          <a:effectLst/>
                        </a:rPr>
                        <a:t>Brown</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Scott</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dirty="0" smtClean="0">
                          <a:effectLst/>
                          <a:latin typeface="Calibri"/>
                          <a:cs typeface="Times New Roman"/>
                        </a:rPr>
                        <a:t>New</a:t>
                      </a:r>
                      <a:r>
                        <a:rPr lang="en-US" sz="1100" baseline="0" dirty="0" smtClean="0">
                          <a:effectLst/>
                          <a:latin typeface="Calibri"/>
                          <a:cs typeface="Times New Roman"/>
                        </a:rPr>
                        <a:t> York</a:t>
                      </a:r>
                      <a:endParaRPr lang="en-US" sz="1100" dirty="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41</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$265</a:t>
                      </a:r>
                      <a:endParaRPr lang="en-US" sz="1100">
                        <a:effectLst/>
                        <a:latin typeface="Calibri"/>
                        <a:ea typeface="Calibri"/>
                        <a:cs typeface="Times New Roman"/>
                      </a:endParaRPr>
                    </a:p>
                  </a:txBody>
                  <a:tcPr marL="28575" marR="28575" marT="28575" marB="28575" anchor="ctr"/>
                </a:tc>
              </a:tr>
              <a:tr h="353833">
                <a:tc>
                  <a:txBody>
                    <a:bodyPr/>
                    <a:lstStyle/>
                    <a:p>
                      <a:pPr marL="0" marR="0">
                        <a:lnSpc>
                          <a:spcPct val="115000"/>
                        </a:lnSpc>
                        <a:spcBef>
                          <a:spcPts val="0"/>
                        </a:spcBef>
                        <a:spcAft>
                          <a:spcPts val="0"/>
                        </a:spcAft>
                      </a:pPr>
                      <a:r>
                        <a:rPr lang="en-US" sz="1100">
                          <a:effectLst/>
                        </a:rPr>
                        <a:t>Howard</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Shemp</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dirty="0" smtClean="0">
                          <a:effectLst/>
                          <a:latin typeface="+mn-lt"/>
                          <a:ea typeface="+mn-ea"/>
                          <a:cs typeface="+mn-cs"/>
                        </a:rPr>
                        <a:t>New</a:t>
                      </a:r>
                      <a:r>
                        <a:rPr lang="en-US" sz="1100" baseline="0" dirty="0" smtClean="0">
                          <a:effectLst/>
                          <a:latin typeface="+mn-lt"/>
                          <a:ea typeface="+mn-ea"/>
                          <a:cs typeface="+mn-cs"/>
                        </a:rPr>
                        <a:t> York</a:t>
                      </a:r>
                      <a:endParaRPr lang="en-US" sz="1100" dirty="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48</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$359</a:t>
                      </a:r>
                      <a:endParaRPr lang="en-US" sz="1100">
                        <a:effectLst/>
                        <a:latin typeface="Calibri"/>
                        <a:ea typeface="Calibri"/>
                        <a:cs typeface="Times New Roman"/>
                      </a:endParaRPr>
                    </a:p>
                  </a:txBody>
                  <a:tcPr marL="28575" marR="28575" marT="28575" marB="28575" anchor="ctr"/>
                </a:tc>
              </a:tr>
              <a:tr h="353833">
                <a:tc>
                  <a:txBody>
                    <a:bodyPr/>
                    <a:lstStyle/>
                    <a:p>
                      <a:pPr marL="0" marR="0">
                        <a:lnSpc>
                          <a:spcPct val="115000"/>
                        </a:lnSpc>
                        <a:spcBef>
                          <a:spcPts val="0"/>
                        </a:spcBef>
                        <a:spcAft>
                          <a:spcPts val="0"/>
                        </a:spcAft>
                      </a:pPr>
                      <a:r>
                        <a:rPr lang="en-US" sz="1100">
                          <a:effectLst/>
                        </a:rPr>
                        <a:t>Taylor</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Tom</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dirty="0" smtClean="0">
                          <a:effectLst/>
                          <a:latin typeface="+mn-lt"/>
                          <a:ea typeface="+mn-ea"/>
                          <a:cs typeface="+mn-cs"/>
                        </a:rPr>
                        <a:t>London</a:t>
                      </a:r>
                      <a:endParaRPr lang="en-US" sz="1100" dirty="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22</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dirty="0">
                          <a:effectLst/>
                        </a:rPr>
                        <a:t>$250</a:t>
                      </a:r>
                      <a:endParaRPr lang="en-US" sz="1100" dirty="0">
                        <a:effectLst/>
                        <a:latin typeface="Calibri"/>
                        <a:ea typeface="Calibri"/>
                        <a:cs typeface="Times New Roman"/>
                      </a:endParaRPr>
                    </a:p>
                  </a:txBody>
                  <a:tcPr marL="28575" marR="28575" marT="28575" marB="28575" anchor="ctr"/>
                </a:tc>
              </a:tr>
            </a:tbl>
          </a:graphicData>
        </a:graphic>
      </p:graphicFrame>
    </p:spTree>
    <p:extLst>
      <p:ext uri="{BB962C8B-B14F-4D97-AF65-F5344CB8AC3E}">
        <p14:creationId xmlns:p14="http://schemas.microsoft.com/office/powerpoint/2010/main" val="2124105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Relational Database</a:t>
            </a:r>
            <a:endParaRPr lang="en-US" b="1" dirty="0"/>
          </a:p>
        </p:txBody>
      </p:sp>
      <p:sp>
        <p:nvSpPr>
          <p:cNvPr id="3" name="Content Placeholder 2"/>
          <p:cNvSpPr>
            <a:spLocks noGrp="1"/>
          </p:cNvSpPr>
          <p:nvPr>
            <p:ph sz="quarter" idx="1"/>
          </p:nvPr>
        </p:nvSpPr>
        <p:spPr>
          <a:xfrm>
            <a:off x="457200" y="1600200"/>
            <a:ext cx="8382000" cy="4873752"/>
          </a:xfrm>
        </p:spPr>
        <p:txBody>
          <a:bodyPr/>
          <a:lstStyle/>
          <a:p>
            <a:r>
              <a:rPr lang="en-US" dirty="0" smtClean="0"/>
              <a:t>“Relational</a:t>
            </a:r>
            <a:r>
              <a:rPr lang="en-US" dirty="0"/>
              <a:t>” part </a:t>
            </a:r>
            <a:r>
              <a:rPr lang="en-US" dirty="0" smtClean="0"/>
              <a:t>-&gt; </a:t>
            </a:r>
            <a:endParaRPr lang="en-US" dirty="0"/>
          </a:p>
          <a:p>
            <a:pPr lvl="1"/>
            <a:r>
              <a:rPr lang="en-US" sz="2000" dirty="0"/>
              <a:t>how multiple tables relate to each other, </a:t>
            </a:r>
          </a:p>
          <a:p>
            <a:pPr lvl="1"/>
            <a:r>
              <a:rPr lang="en-US" sz="2000" dirty="0"/>
              <a:t>allowing a user to extract information from a combination of tables</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338420023"/>
              </p:ext>
            </p:extLst>
          </p:nvPr>
        </p:nvGraphicFramePr>
        <p:xfrm>
          <a:off x="533400" y="3733800"/>
          <a:ext cx="4953000" cy="2122998"/>
        </p:xfrm>
        <a:graphic>
          <a:graphicData uri="http://schemas.openxmlformats.org/drawingml/2006/table">
            <a:tbl>
              <a:tblPr firstRow="1" firstCol="1" bandRow="1">
                <a:tableStyleId>{5C22544A-7EE6-4342-B048-85BDC9FD1C3A}</a:tableStyleId>
              </a:tblPr>
              <a:tblGrid>
                <a:gridCol w="990600"/>
                <a:gridCol w="990600"/>
                <a:gridCol w="990600"/>
                <a:gridCol w="990600"/>
                <a:gridCol w="990600"/>
              </a:tblGrid>
              <a:tr h="353833">
                <a:tc>
                  <a:txBody>
                    <a:bodyPr/>
                    <a:lstStyle/>
                    <a:p>
                      <a:pPr marL="0" marR="0">
                        <a:lnSpc>
                          <a:spcPct val="115000"/>
                        </a:lnSpc>
                        <a:spcBef>
                          <a:spcPts val="0"/>
                        </a:spcBef>
                        <a:spcAft>
                          <a:spcPts val="0"/>
                        </a:spcAft>
                      </a:pPr>
                      <a:r>
                        <a:rPr lang="en-US" sz="1100" dirty="0" err="1">
                          <a:effectLst/>
                        </a:rPr>
                        <a:t>LName</a:t>
                      </a:r>
                      <a:endParaRPr lang="en-US" sz="1100" dirty="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FName</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City</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Age</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Salary</a:t>
                      </a:r>
                      <a:endParaRPr lang="en-US" sz="1100">
                        <a:effectLst/>
                        <a:latin typeface="Calibri"/>
                        <a:ea typeface="Calibri"/>
                        <a:cs typeface="Times New Roman"/>
                      </a:endParaRPr>
                    </a:p>
                  </a:txBody>
                  <a:tcPr marL="28575" marR="28575" marT="28575" marB="28575" anchor="ctr"/>
                </a:tc>
              </a:tr>
              <a:tr h="353833">
                <a:tc>
                  <a:txBody>
                    <a:bodyPr/>
                    <a:lstStyle/>
                    <a:p>
                      <a:pPr marL="0" marR="0">
                        <a:lnSpc>
                          <a:spcPct val="115000"/>
                        </a:lnSpc>
                        <a:spcBef>
                          <a:spcPts val="0"/>
                        </a:spcBef>
                        <a:spcAft>
                          <a:spcPts val="0"/>
                        </a:spcAft>
                      </a:pPr>
                      <a:r>
                        <a:rPr lang="en-US" sz="1100">
                          <a:effectLst/>
                        </a:rPr>
                        <a:t>Smith</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John</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dirty="0">
                          <a:effectLst/>
                        </a:rPr>
                        <a:t>3</a:t>
                      </a:r>
                      <a:endParaRPr lang="en-US" sz="1100" dirty="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dirty="0">
                          <a:effectLst/>
                        </a:rPr>
                        <a:t>35</a:t>
                      </a:r>
                      <a:endParaRPr lang="en-US" sz="1100" dirty="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$280</a:t>
                      </a:r>
                      <a:endParaRPr lang="en-US" sz="1100">
                        <a:effectLst/>
                        <a:latin typeface="Calibri"/>
                        <a:ea typeface="Calibri"/>
                        <a:cs typeface="Times New Roman"/>
                      </a:endParaRPr>
                    </a:p>
                  </a:txBody>
                  <a:tcPr marL="28575" marR="28575" marT="28575" marB="28575" anchor="ctr"/>
                </a:tc>
              </a:tr>
              <a:tr h="353833">
                <a:tc>
                  <a:txBody>
                    <a:bodyPr/>
                    <a:lstStyle/>
                    <a:p>
                      <a:pPr marL="0" marR="0">
                        <a:lnSpc>
                          <a:spcPct val="115000"/>
                        </a:lnSpc>
                        <a:spcBef>
                          <a:spcPts val="0"/>
                        </a:spcBef>
                        <a:spcAft>
                          <a:spcPts val="0"/>
                        </a:spcAft>
                      </a:pPr>
                      <a:r>
                        <a:rPr lang="en-US" sz="1100">
                          <a:effectLst/>
                        </a:rPr>
                        <a:t>Doe</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Jane</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1</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28</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$325</a:t>
                      </a:r>
                      <a:endParaRPr lang="en-US" sz="1100">
                        <a:effectLst/>
                        <a:latin typeface="Calibri"/>
                        <a:ea typeface="Calibri"/>
                        <a:cs typeface="Times New Roman"/>
                      </a:endParaRPr>
                    </a:p>
                  </a:txBody>
                  <a:tcPr marL="28575" marR="28575" marT="28575" marB="28575" anchor="ctr"/>
                </a:tc>
              </a:tr>
              <a:tr h="353833">
                <a:tc>
                  <a:txBody>
                    <a:bodyPr/>
                    <a:lstStyle/>
                    <a:p>
                      <a:pPr marL="0" marR="0">
                        <a:lnSpc>
                          <a:spcPct val="115000"/>
                        </a:lnSpc>
                        <a:spcBef>
                          <a:spcPts val="0"/>
                        </a:spcBef>
                        <a:spcAft>
                          <a:spcPts val="0"/>
                        </a:spcAft>
                      </a:pPr>
                      <a:r>
                        <a:rPr lang="en-US" sz="1100">
                          <a:effectLst/>
                        </a:rPr>
                        <a:t>Brown</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Scott</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3</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41</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$265</a:t>
                      </a:r>
                      <a:endParaRPr lang="en-US" sz="1100">
                        <a:effectLst/>
                        <a:latin typeface="Calibri"/>
                        <a:ea typeface="Calibri"/>
                        <a:cs typeface="Times New Roman"/>
                      </a:endParaRPr>
                    </a:p>
                  </a:txBody>
                  <a:tcPr marL="28575" marR="28575" marT="28575" marB="28575" anchor="ctr"/>
                </a:tc>
              </a:tr>
              <a:tr h="353833">
                <a:tc>
                  <a:txBody>
                    <a:bodyPr/>
                    <a:lstStyle/>
                    <a:p>
                      <a:pPr marL="0" marR="0">
                        <a:lnSpc>
                          <a:spcPct val="115000"/>
                        </a:lnSpc>
                        <a:spcBef>
                          <a:spcPts val="0"/>
                        </a:spcBef>
                        <a:spcAft>
                          <a:spcPts val="0"/>
                        </a:spcAft>
                      </a:pPr>
                      <a:r>
                        <a:rPr lang="en-US" sz="1100">
                          <a:effectLst/>
                        </a:rPr>
                        <a:t>Howard</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Shemp</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4</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48</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$359</a:t>
                      </a:r>
                      <a:endParaRPr lang="en-US" sz="1100">
                        <a:effectLst/>
                        <a:latin typeface="Calibri"/>
                        <a:ea typeface="Calibri"/>
                        <a:cs typeface="Times New Roman"/>
                      </a:endParaRPr>
                    </a:p>
                  </a:txBody>
                  <a:tcPr marL="28575" marR="28575" marT="28575" marB="28575" anchor="ctr"/>
                </a:tc>
              </a:tr>
              <a:tr h="353833">
                <a:tc>
                  <a:txBody>
                    <a:bodyPr/>
                    <a:lstStyle/>
                    <a:p>
                      <a:pPr marL="0" marR="0">
                        <a:lnSpc>
                          <a:spcPct val="115000"/>
                        </a:lnSpc>
                        <a:spcBef>
                          <a:spcPts val="0"/>
                        </a:spcBef>
                        <a:spcAft>
                          <a:spcPts val="0"/>
                        </a:spcAft>
                      </a:pPr>
                      <a:r>
                        <a:rPr lang="en-US" sz="1100">
                          <a:effectLst/>
                        </a:rPr>
                        <a:t>Taylor</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Tom</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a:effectLst/>
                        </a:rPr>
                        <a:t>22</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1100" dirty="0">
                          <a:effectLst/>
                        </a:rPr>
                        <a:t>$250</a:t>
                      </a:r>
                      <a:endParaRPr lang="en-US" sz="1100" dirty="0">
                        <a:effectLst/>
                        <a:latin typeface="Calibri"/>
                        <a:ea typeface="Calibri"/>
                        <a:cs typeface="Times New Roman"/>
                      </a:endParaRPr>
                    </a:p>
                  </a:txBody>
                  <a:tcPr marL="28575" marR="28575" marT="28575" marB="28575" anchor="ct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604786759"/>
              </p:ext>
            </p:extLst>
          </p:nvPr>
        </p:nvGraphicFramePr>
        <p:xfrm>
          <a:off x="6019800" y="4038600"/>
          <a:ext cx="2057400" cy="1143000"/>
        </p:xfrm>
        <a:graphic>
          <a:graphicData uri="http://schemas.openxmlformats.org/drawingml/2006/table">
            <a:tbl>
              <a:tblPr firstRow="1" firstCol="1" bandRow="1">
                <a:tableStyleId>{5C22544A-7EE6-4342-B048-85BDC9FD1C3A}</a:tableStyleId>
              </a:tblPr>
              <a:tblGrid>
                <a:gridCol w="1028700"/>
                <a:gridCol w="1028700"/>
              </a:tblGrid>
              <a:tr h="228600">
                <a:tc>
                  <a:txBody>
                    <a:bodyPr/>
                    <a:lstStyle/>
                    <a:p>
                      <a:pPr marL="0" marR="0">
                        <a:lnSpc>
                          <a:spcPct val="115000"/>
                        </a:lnSpc>
                        <a:spcBef>
                          <a:spcPts val="0"/>
                        </a:spcBef>
                        <a:spcAft>
                          <a:spcPts val="0"/>
                        </a:spcAft>
                      </a:pPr>
                      <a:r>
                        <a:rPr lang="en-US" sz="900" dirty="0">
                          <a:effectLst/>
                        </a:rPr>
                        <a:t>City #</a:t>
                      </a:r>
                      <a:endParaRPr lang="en-US" sz="1100" dirty="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900" dirty="0">
                          <a:effectLst/>
                        </a:rPr>
                        <a:t>City Name</a:t>
                      </a:r>
                      <a:endParaRPr lang="en-US" sz="1100" dirty="0">
                        <a:effectLst/>
                        <a:latin typeface="Calibri"/>
                        <a:ea typeface="Calibri"/>
                        <a:cs typeface="Times New Roman"/>
                      </a:endParaRPr>
                    </a:p>
                  </a:txBody>
                  <a:tcPr marL="28575" marR="28575" marT="28575" marB="28575" anchor="ctr"/>
                </a:tc>
              </a:tr>
              <a:tr h="228600">
                <a:tc>
                  <a:txBody>
                    <a:bodyPr/>
                    <a:lstStyle/>
                    <a:p>
                      <a:pPr marL="0" marR="0">
                        <a:lnSpc>
                          <a:spcPct val="115000"/>
                        </a:lnSpc>
                        <a:spcBef>
                          <a:spcPts val="0"/>
                        </a:spcBef>
                        <a:spcAft>
                          <a:spcPts val="0"/>
                        </a:spcAft>
                      </a:pPr>
                      <a:r>
                        <a:rPr lang="en-US" sz="900" dirty="0">
                          <a:effectLst/>
                        </a:rPr>
                        <a:t>1</a:t>
                      </a:r>
                      <a:endParaRPr lang="en-US" sz="1100" dirty="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900" dirty="0">
                          <a:effectLst/>
                        </a:rPr>
                        <a:t>Boston</a:t>
                      </a:r>
                      <a:endParaRPr lang="en-US" sz="1100" dirty="0">
                        <a:effectLst/>
                        <a:latin typeface="Calibri"/>
                        <a:ea typeface="Calibri"/>
                        <a:cs typeface="Times New Roman"/>
                      </a:endParaRPr>
                    </a:p>
                  </a:txBody>
                  <a:tcPr marL="28575" marR="28575" marT="28575" marB="28575" anchor="ctr"/>
                </a:tc>
              </a:tr>
              <a:tr h="228600">
                <a:tc>
                  <a:txBody>
                    <a:bodyPr/>
                    <a:lstStyle/>
                    <a:p>
                      <a:pPr marL="0" marR="0">
                        <a:lnSpc>
                          <a:spcPct val="115000"/>
                        </a:lnSpc>
                        <a:spcBef>
                          <a:spcPts val="0"/>
                        </a:spcBef>
                        <a:spcAft>
                          <a:spcPts val="0"/>
                        </a:spcAft>
                      </a:pPr>
                      <a:r>
                        <a:rPr lang="en-US" sz="900" dirty="0">
                          <a:effectLst/>
                        </a:rPr>
                        <a:t>2</a:t>
                      </a:r>
                      <a:endParaRPr lang="en-US" sz="1100" dirty="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900">
                          <a:effectLst/>
                        </a:rPr>
                        <a:t>London</a:t>
                      </a:r>
                      <a:endParaRPr lang="en-US" sz="1100">
                        <a:effectLst/>
                        <a:latin typeface="Calibri"/>
                        <a:ea typeface="Calibri"/>
                        <a:cs typeface="Times New Roman"/>
                      </a:endParaRPr>
                    </a:p>
                  </a:txBody>
                  <a:tcPr marL="28575" marR="28575" marT="28575" marB="28575" anchor="ctr"/>
                </a:tc>
              </a:tr>
              <a:tr h="228600">
                <a:tc>
                  <a:txBody>
                    <a:bodyPr/>
                    <a:lstStyle/>
                    <a:p>
                      <a:pPr marL="0" marR="0">
                        <a:lnSpc>
                          <a:spcPct val="115000"/>
                        </a:lnSpc>
                        <a:spcBef>
                          <a:spcPts val="0"/>
                        </a:spcBef>
                        <a:spcAft>
                          <a:spcPts val="0"/>
                        </a:spcAft>
                      </a:pPr>
                      <a:r>
                        <a:rPr lang="en-US" sz="900">
                          <a:effectLst/>
                        </a:rPr>
                        <a:t>3</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900">
                          <a:effectLst/>
                        </a:rPr>
                        <a:t>New York</a:t>
                      </a:r>
                      <a:endParaRPr lang="en-US" sz="1100">
                        <a:effectLst/>
                        <a:latin typeface="Calibri"/>
                        <a:ea typeface="Calibri"/>
                        <a:cs typeface="Times New Roman"/>
                      </a:endParaRPr>
                    </a:p>
                  </a:txBody>
                  <a:tcPr marL="28575" marR="28575" marT="28575" marB="28575" anchor="ctr"/>
                </a:tc>
              </a:tr>
              <a:tr h="228600">
                <a:tc>
                  <a:txBody>
                    <a:bodyPr/>
                    <a:lstStyle/>
                    <a:p>
                      <a:pPr marL="0" marR="0">
                        <a:lnSpc>
                          <a:spcPct val="115000"/>
                        </a:lnSpc>
                        <a:spcBef>
                          <a:spcPts val="0"/>
                        </a:spcBef>
                        <a:spcAft>
                          <a:spcPts val="0"/>
                        </a:spcAft>
                      </a:pPr>
                      <a:r>
                        <a:rPr lang="en-US" sz="900">
                          <a:effectLst/>
                        </a:rPr>
                        <a:t>4</a:t>
                      </a:r>
                      <a:endParaRPr lang="en-US" sz="1100">
                        <a:effectLst/>
                        <a:latin typeface="Calibri"/>
                        <a:ea typeface="Calibri"/>
                        <a:cs typeface="Times New Roman"/>
                      </a:endParaRPr>
                    </a:p>
                  </a:txBody>
                  <a:tcPr marL="28575" marR="28575" marT="28575" marB="28575" anchor="ctr"/>
                </a:tc>
                <a:tc>
                  <a:txBody>
                    <a:bodyPr/>
                    <a:lstStyle/>
                    <a:p>
                      <a:pPr marL="0" marR="0">
                        <a:lnSpc>
                          <a:spcPct val="115000"/>
                        </a:lnSpc>
                        <a:spcBef>
                          <a:spcPts val="0"/>
                        </a:spcBef>
                        <a:spcAft>
                          <a:spcPts val="0"/>
                        </a:spcAft>
                      </a:pPr>
                      <a:r>
                        <a:rPr lang="en-US" sz="900" dirty="0">
                          <a:effectLst/>
                        </a:rPr>
                        <a:t>Los Angeles</a:t>
                      </a:r>
                      <a:endParaRPr lang="en-US" sz="1100" dirty="0">
                        <a:effectLst/>
                        <a:latin typeface="Calibri"/>
                        <a:ea typeface="Calibri"/>
                        <a:cs typeface="Times New Roman"/>
                      </a:endParaRPr>
                    </a:p>
                  </a:txBody>
                  <a:tcPr marL="28575" marR="28575" marT="28575" marB="28575" anchor="ctr"/>
                </a:tc>
              </a:tr>
            </a:tbl>
          </a:graphicData>
        </a:graphic>
      </p:graphicFrame>
    </p:spTree>
    <p:extLst>
      <p:ext uri="{BB962C8B-B14F-4D97-AF65-F5344CB8AC3E}">
        <p14:creationId xmlns:p14="http://schemas.microsoft.com/office/powerpoint/2010/main" val="152432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772400" cy="1143000"/>
          </a:xfrm>
        </p:spPr>
        <p:txBody>
          <a:bodyPr/>
          <a:lstStyle/>
          <a:p>
            <a:r>
              <a:rPr lang="en-US" b="1" dirty="0" smtClean="0"/>
              <a:t>Relational Database </a:t>
            </a:r>
            <a:r>
              <a:rPr lang="en-US" b="1" dirty="0" err="1" smtClean="0"/>
              <a:t>vs</a:t>
            </a:r>
            <a:r>
              <a:rPr lang="en-US" b="1" dirty="0" smtClean="0"/>
              <a:t> Spreadsheet</a:t>
            </a:r>
            <a:endParaRPr lang="en-US" b="1" dirty="0"/>
          </a:p>
        </p:txBody>
      </p:sp>
      <p:sp>
        <p:nvSpPr>
          <p:cNvPr id="3" name="Content Placeholder 2"/>
          <p:cNvSpPr>
            <a:spLocks noGrp="1"/>
          </p:cNvSpPr>
          <p:nvPr>
            <p:ph sz="quarter" idx="1"/>
          </p:nvPr>
        </p:nvSpPr>
        <p:spPr/>
        <p:txBody>
          <a:bodyPr>
            <a:normAutofit/>
          </a:bodyPr>
          <a:lstStyle/>
          <a:p>
            <a:r>
              <a:rPr lang="en-US" dirty="0" smtClean="0"/>
              <a:t>Relational </a:t>
            </a:r>
            <a:r>
              <a:rPr lang="en-US" dirty="0"/>
              <a:t>database is a </a:t>
            </a:r>
            <a:r>
              <a:rPr lang="en-US" b="1" dirty="0"/>
              <a:t>big spreadsheet</a:t>
            </a:r>
            <a:r>
              <a:rPr lang="en-US" dirty="0"/>
              <a:t> </a:t>
            </a:r>
            <a:endParaRPr lang="en-US" dirty="0" smtClean="0"/>
          </a:p>
          <a:p>
            <a:pPr lvl="1"/>
            <a:r>
              <a:rPr lang="en-US" dirty="0" smtClean="0"/>
              <a:t>that </a:t>
            </a:r>
            <a:r>
              <a:rPr lang="en-US" dirty="0"/>
              <a:t>several people can update </a:t>
            </a:r>
            <a:r>
              <a:rPr lang="en-US" dirty="0" smtClean="0"/>
              <a:t>simultaneously</a:t>
            </a:r>
            <a:endParaRPr lang="en-US" dirty="0"/>
          </a:p>
          <a:p>
            <a:r>
              <a:rPr lang="en-US" dirty="0"/>
              <a:t>Each </a:t>
            </a:r>
            <a:r>
              <a:rPr lang="en-US" i="1" dirty="0"/>
              <a:t>table</a:t>
            </a:r>
            <a:r>
              <a:rPr lang="en-US" dirty="0"/>
              <a:t> in the database is one </a:t>
            </a:r>
            <a:r>
              <a:rPr lang="en-US" dirty="0" smtClean="0"/>
              <a:t>spreadsheet</a:t>
            </a:r>
            <a:endParaRPr lang="en-US" dirty="0"/>
          </a:p>
          <a:p>
            <a:endParaRPr lang="en-US" dirty="0" smtClean="0"/>
          </a:p>
          <a:p>
            <a:r>
              <a:rPr lang="en-US" b="1" dirty="0"/>
              <a:t>Difference:</a:t>
            </a:r>
            <a:r>
              <a:rPr lang="en-US" dirty="0"/>
              <a:t> </a:t>
            </a:r>
          </a:p>
          <a:p>
            <a:pPr lvl="1"/>
            <a:r>
              <a:rPr lang="en-US" dirty="0" smtClean="0"/>
              <a:t>RD </a:t>
            </a:r>
            <a:r>
              <a:rPr lang="en-US" dirty="0"/>
              <a:t>is more restrictive than a </a:t>
            </a:r>
            <a:r>
              <a:rPr lang="en-US" dirty="0" smtClean="0"/>
              <a:t>spreadsheet</a:t>
            </a:r>
          </a:p>
          <a:p>
            <a:pPr lvl="2"/>
            <a:r>
              <a:rPr lang="en-US" dirty="0" smtClean="0"/>
              <a:t>All </a:t>
            </a:r>
            <a:r>
              <a:rPr lang="en-US" dirty="0"/>
              <a:t>the data in one column must be of the same type, e.g., integer, decimal, character string, or date. </a:t>
            </a:r>
          </a:p>
          <a:p>
            <a:pPr lvl="1"/>
            <a:r>
              <a:rPr lang="en-US" dirty="0" smtClean="0"/>
              <a:t>Rows </a:t>
            </a:r>
            <a:r>
              <a:rPr lang="en-US" dirty="0"/>
              <a:t>in an </a:t>
            </a:r>
            <a:r>
              <a:rPr lang="en-US" dirty="0" smtClean="0"/>
              <a:t>RD </a:t>
            </a:r>
            <a:r>
              <a:rPr lang="en-US" dirty="0"/>
              <a:t>are not </a:t>
            </a:r>
            <a:r>
              <a:rPr lang="en-US" dirty="0" smtClean="0"/>
              <a:t>ordered</a:t>
            </a:r>
          </a:p>
          <a:p>
            <a:pPr lvl="1"/>
            <a:r>
              <a:rPr lang="en-US" dirty="0" smtClean="0"/>
              <a:t>RD allow user to enforce constraints</a:t>
            </a:r>
          </a:p>
          <a:p>
            <a:endParaRPr lang="en-US" dirty="0" smtClean="0"/>
          </a:p>
          <a:p>
            <a:r>
              <a:rPr lang="en-US" dirty="0" smtClean="0"/>
              <a:t>Example: Mailing List</a:t>
            </a:r>
          </a:p>
          <a:p>
            <a:pPr lvl="1"/>
            <a:endParaRPr lang="en-US" dirty="0"/>
          </a:p>
          <a:p>
            <a:endParaRPr lang="en-US" dirty="0"/>
          </a:p>
          <a:p>
            <a:endParaRPr lang="en-US" dirty="0"/>
          </a:p>
        </p:txBody>
      </p:sp>
    </p:spTree>
    <p:extLst>
      <p:ext uri="{BB962C8B-B14F-4D97-AF65-F5344CB8AC3E}">
        <p14:creationId xmlns:p14="http://schemas.microsoft.com/office/powerpoint/2010/main" val="2456376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Formal Definitions</a:t>
            </a:r>
            <a:endParaRPr lang="en-US" b="1" dirty="0"/>
          </a:p>
        </p:txBody>
      </p:sp>
      <p:sp>
        <p:nvSpPr>
          <p:cNvPr id="3" name="Content Placeholder 2"/>
          <p:cNvSpPr>
            <a:spLocks noGrp="1"/>
          </p:cNvSpPr>
          <p:nvPr>
            <p:ph sz="quarter" idx="1"/>
          </p:nvPr>
        </p:nvSpPr>
        <p:spPr>
          <a:xfrm>
            <a:off x="457200" y="1600200"/>
            <a:ext cx="8153400" cy="4873752"/>
          </a:xfrm>
        </p:spPr>
        <p:txBody>
          <a:bodyPr>
            <a:normAutofit/>
          </a:bodyPr>
          <a:lstStyle/>
          <a:p>
            <a:pPr lvl="0"/>
            <a:r>
              <a:rPr lang="en-US" b="1" dirty="0"/>
              <a:t>Schema</a:t>
            </a:r>
            <a:r>
              <a:rPr lang="en-US" dirty="0"/>
              <a:t> of a Relation: </a:t>
            </a:r>
            <a:r>
              <a:rPr lang="en-US" i="1" dirty="0"/>
              <a:t>R</a:t>
            </a:r>
            <a:r>
              <a:rPr lang="en-US" dirty="0"/>
              <a:t> (A</a:t>
            </a:r>
            <a:r>
              <a:rPr lang="en-US" baseline="-25000" dirty="0"/>
              <a:t>1</a:t>
            </a:r>
            <a:r>
              <a:rPr lang="en-US" dirty="0"/>
              <a:t>, A</a:t>
            </a:r>
            <a:r>
              <a:rPr lang="en-US" baseline="-25000" dirty="0"/>
              <a:t>2</a:t>
            </a:r>
            <a:r>
              <a:rPr lang="en-US" dirty="0"/>
              <a:t>, .....A</a:t>
            </a:r>
            <a:r>
              <a:rPr lang="en-US" baseline="-25000" dirty="0"/>
              <a:t>n</a:t>
            </a:r>
            <a:r>
              <a:rPr lang="en-US" dirty="0"/>
              <a:t>)</a:t>
            </a:r>
          </a:p>
          <a:p>
            <a:endParaRPr lang="en-US" dirty="0" smtClean="0"/>
          </a:p>
          <a:p>
            <a:r>
              <a:rPr lang="en-US" dirty="0" smtClean="0"/>
              <a:t>Example:</a:t>
            </a:r>
            <a:endParaRPr lang="en-US" dirty="0"/>
          </a:p>
          <a:p>
            <a:pPr marL="0" indent="0">
              <a:buNone/>
            </a:pPr>
            <a:r>
              <a:rPr lang="en-GB" dirty="0" smtClean="0"/>
              <a:t>     STUDENT(Name</a:t>
            </a:r>
            <a:r>
              <a:rPr lang="en-GB" dirty="0"/>
              <a:t>, </a:t>
            </a:r>
            <a:r>
              <a:rPr lang="en-GB" dirty="0" err="1"/>
              <a:t>Ssn</a:t>
            </a:r>
            <a:r>
              <a:rPr lang="en-GB" dirty="0"/>
              <a:t>, P</a:t>
            </a:r>
            <a:r>
              <a:rPr lang="en-GB" dirty="0" smtClean="0"/>
              <a:t>hone</a:t>
            </a:r>
            <a:r>
              <a:rPr lang="en-GB" dirty="0"/>
              <a:t>, Address, </a:t>
            </a:r>
            <a:r>
              <a:rPr lang="en-GB" dirty="0" smtClean="0"/>
              <a:t>Age</a:t>
            </a:r>
            <a:r>
              <a:rPr lang="en-GB" dirty="0"/>
              <a:t>, </a:t>
            </a:r>
            <a:r>
              <a:rPr lang="en-GB" dirty="0" err="1"/>
              <a:t>Gpa</a:t>
            </a:r>
            <a:r>
              <a:rPr lang="en-GB" dirty="0"/>
              <a:t>)</a:t>
            </a:r>
            <a:endParaRPr lang="en-US" dirty="0" smtClean="0"/>
          </a:p>
          <a:p>
            <a:endParaRPr lang="en-US" dirty="0" smtClean="0"/>
          </a:p>
          <a:p>
            <a:r>
              <a:rPr lang="en-US" dirty="0" smtClean="0"/>
              <a:t>Each attribute has </a:t>
            </a:r>
            <a:r>
              <a:rPr lang="en-US" dirty="0"/>
              <a:t>a </a:t>
            </a:r>
            <a:r>
              <a:rPr lang="en-US" b="1" dirty="0"/>
              <a:t>domain</a:t>
            </a:r>
            <a:r>
              <a:rPr lang="en-US" dirty="0"/>
              <a:t> or a set of valid values.  </a:t>
            </a:r>
            <a:endParaRPr lang="en-US" dirty="0" smtClean="0"/>
          </a:p>
          <a:p>
            <a:endParaRPr lang="en-US" dirty="0" smtClean="0"/>
          </a:p>
          <a:p>
            <a:r>
              <a:rPr lang="en-US" dirty="0" smtClean="0"/>
              <a:t>Example: </a:t>
            </a:r>
          </a:p>
          <a:p>
            <a:pPr lvl="1"/>
            <a:r>
              <a:rPr lang="en-US" dirty="0" err="1" smtClean="0"/>
              <a:t>Ssn</a:t>
            </a:r>
            <a:r>
              <a:rPr lang="en-US" dirty="0" smtClean="0"/>
              <a:t>:  set of valid 9 digit social security numbers.</a:t>
            </a:r>
          </a:p>
          <a:p>
            <a:pPr lvl="1"/>
            <a:r>
              <a:rPr lang="en-GB" dirty="0" smtClean="0"/>
              <a:t>Phone: the </a:t>
            </a:r>
            <a:r>
              <a:rPr lang="en-GB" dirty="0"/>
              <a:t>set of </a:t>
            </a:r>
            <a:r>
              <a:rPr lang="en-GB" dirty="0" smtClean="0"/>
              <a:t>10 digit </a:t>
            </a:r>
            <a:r>
              <a:rPr lang="en-GB" dirty="0"/>
              <a:t>phone numbers valid in the </a:t>
            </a:r>
            <a:r>
              <a:rPr lang="en-GB" dirty="0" smtClean="0"/>
              <a:t>United </a:t>
            </a:r>
            <a:r>
              <a:rPr lang="en-US" dirty="0" smtClean="0"/>
              <a:t>States</a:t>
            </a:r>
            <a:r>
              <a:rPr lang="en-US" dirty="0"/>
              <a:t>.</a:t>
            </a:r>
            <a:endParaRPr lang="en-US" dirty="0" smtClean="0"/>
          </a:p>
          <a:p>
            <a:endParaRPr lang="en-US" dirty="0"/>
          </a:p>
          <a:p>
            <a:pPr marL="0" indent="0">
              <a:buNone/>
            </a:pPr>
            <a:endParaRPr lang="en-US" dirty="0"/>
          </a:p>
        </p:txBody>
      </p:sp>
    </p:spTree>
    <p:extLst>
      <p:ext uri="{BB962C8B-B14F-4D97-AF65-F5344CB8AC3E}">
        <p14:creationId xmlns:p14="http://schemas.microsoft.com/office/powerpoint/2010/main" val="65979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Formal Definitions</a:t>
            </a:r>
            <a:endParaRPr lang="en-US" b="1" dirty="0"/>
          </a:p>
        </p:txBody>
      </p:sp>
      <p:sp>
        <p:nvSpPr>
          <p:cNvPr id="3" name="Content Placeholder 2"/>
          <p:cNvSpPr>
            <a:spLocks noGrp="1"/>
          </p:cNvSpPr>
          <p:nvPr>
            <p:ph sz="quarter" idx="1"/>
          </p:nvPr>
        </p:nvSpPr>
        <p:spPr>
          <a:xfrm>
            <a:off x="457200" y="1600200"/>
            <a:ext cx="7848600" cy="2133600"/>
          </a:xfrm>
        </p:spPr>
        <p:txBody>
          <a:bodyPr/>
          <a:lstStyle/>
          <a:p>
            <a:pPr lvl="0"/>
            <a:r>
              <a:rPr lang="en-US" dirty="0" smtClean="0"/>
              <a:t>Relation State </a:t>
            </a:r>
            <a:r>
              <a:rPr lang="en-US" b="1" i="1" dirty="0" smtClean="0"/>
              <a:t>r</a:t>
            </a:r>
            <a:r>
              <a:rPr lang="en-US" b="1" dirty="0" smtClean="0"/>
              <a:t>(R)</a:t>
            </a:r>
            <a:r>
              <a:rPr lang="en-US" dirty="0" smtClean="0"/>
              <a:t> is set of n-tuples</a:t>
            </a:r>
            <a:endParaRPr lang="en-US" dirty="0"/>
          </a:p>
          <a:p>
            <a:r>
              <a:rPr lang="en-GB" dirty="0"/>
              <a:t>Each </a:t>
            </a:r>
            <a:r>
              <a:rPr lang="en-GB" b="1" i="1" dirty="0"/>
              <a:t>n</a:t>
            </a:r>
            <a:r>
              <a:rPr lang="en-GB" b="1" dirty="0"/>
              <a:t>-tuple </a:t>
            </a:r>
            <a:r>
              <a:rPr lang="en-GB" i="1" dirty="0"/>
              <a:t>t </a:t>
            </a:r>
            <a:r>
              <a:rPr lang="en-GB" dirty="0"/>
              <a:t>is an ordered </a:t>
            </a:r>
            <a:r>
              <a:rPr lang="en-GB" dirty="0" smtClean="0"/>
              <a:t>list of </a:t>
            </a:r>
            <a:r>
              <a:rPr lang="en-GB" i="1" dirty="0"/>
              <a:t>n </a:t>
            </a:r>
            <a:r>
              <a:rPr lang="en-GB" dirty="0"/>
              <a:t>values </a:t>
            </a:r>
            <a:r>
              <a:rPr lang="en-GB" dirty="0" smtClean="0"/>
              <a:t>             		</a:t>
            </a:r>
            <a:r>
              <a:rPr lang="en-GB" i="1" dirty="0" smtClean="0"/>
              <a:t>t </a:t>
            </a:r>
            <a:r>
              <a:rPr lang="en-GB" i="1" dirty="0"/>
              <a:t>=&lt;v</a:t>
            </a:r>
            <a:r>
              <a:rPr lang="en-GB" baseline="-25000" dirty="0"/>
              <a:t>1</a:t>
            </a:r>
            <a:r>
              <a:rPr lang="en-GB" i="1" dirty="0"/>
              <a:t>, v</a:t>
            </a:r>
            <a:r>
              <a:rPr lang="en-GB" baseline="-25000" dirty="0"/>
              <a:t>2</a:t>
            </a:r>
            <a:r>
              <a:rPr lang="en-GB" i="1" dirty="0"/>
              <a:t>, ..., </a:t>
            </a:r>
            <a:r>
              <a:rPr lang="en-GB" i="1" dirty="0" err="1" smtClean="0"/>
              <a:t>v</a:t>
            </a:r>
            <a:r>
              <a:rPr lang="en-GB" i="1" baseline="-25000" dirty="0" err="1" smtClean="0"/>
              <a:t>n</a:t>
            </a:r>
            <a:r>
              <a:rPr lang="en-GB" i="1" dirty="0" smtClean="0"/>
              <a:t>&gt;</a:t>
            </a:r>
            <a:endParaRPr lang="en-GB" dirty="0"/>
          </a:p>
          <a:p>
            <a:pPr marL="0" indent="0">
              <a:buNone/>
            </a:pPr>
            <a:r>
              <a:rPr lang="en-GB" dirty="0" smtClean="0"/>
              <a:t>	where </a:t>
            </a:r>
            <a:r>
              <a:rPr lang="en-GB" dirty="0"/>
              <a:t>each value </a:t>
            </a:r>
            <a:r>
              <a:rPr lang="en-GB" i="1" dirty="0"/>
              <a:t>v</a:t>
            </a:r>
            <a:r>
              <a:rPr lang="en-GB" i="1" baseline="-25000" dirty="0"/>
              <a:t>i</a:t>
            </a:r>
            <a:r>
              <a:rPr lang="en-GB" i="1" dirty="0"/>
              <a:t>, </a:t>
            </a:r>
            <a:r>
              <a:rPr lang="en-GB" dirty="0"/>
              <a:t>1 ≤ </a:t>
            </a:r>
            <a:r>
              <a:rPr lang="en-GB" i="1" dirty="0" err="1"/>
              <a:t>i</a:t>
            </a:r>
            <a:r>
              <a:rPr lang="en-GB" i="1" dirty="0"/>
              <a:t> </a:t>
            </a:r>
            <a:r>
              <a:rPr lang="en-GB" dirty="0"/>
              <a:t>≤ </a:t>
            </a:r>
            <a:r>
              <a:rPr lang="en-GB" i="1" dirty="0"/>
              <a:t>n</a:t>
            </a:r>
            <a:r>
              <a:rPr lang="en-GB" dirty="0"/>
              <a:t>, is an </a:t>
            </a:r>
            <a:r>
              <a:rPr lang="en-GB" dirty="0" smtClean="0"/>
              <a:t>         	element </a:t>
            </a:r>
            <a:r>
              <a:rPr lang="en-GB" dirty="0"/>
              <a:t>of </a:t>
            </a:r>
            <a:r>
              <a:rPr lang="en-GB" dirty="0" err="1" smtClean="0"/>
              <a:t>dom</a:t>
            </a:r>
            <a:r>
              <a:rPr lang="en-GB" i="1" dirty="0" smtClean="0"/>
              <a:t>(A</a:t>
            </a:r>
            <a:r>
              <a:rPr lang="en-GB" i="1" baseline="-25000" dirty="0" smtClean="0"/>
              <a:t>i</a:t>
            </a:r>
            <a:r>
              <a:rPr lang="en-GB" dirty="0"/>
              <a:t>) or is </a:t>
            </a:r>
            <a:r>
              <a:rPr lang="en-GB" dirty="0" smtClean="0"/>
              <a:t>NULL .</a:t>
            </a:r>
            <a:endParaRPr lang="en-US" dirty="0"/>
          </a:p>
          <a:p>
            <a:endParaRPr lang="en-US" dirty="0" smtClean="0"/>
          </a:p>
          <a:p>
            <a:endParaRPr lang="en-US" dirty="0" smtClean="0"/>
          </a:p>
          <a:p>
            <a:pPr marL="0" indent="0">
              <a:buNone/>
            </a:pPr>
            <a:endParaRPr lang="en-US" dirty="0"/>
          </a:p>
          <a:p>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561" y="3886200"/>
            <a:ext cx="7671839" cy="24717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92088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Formal Definitions</a:t>
            </a:r>
            <a:endParaRPr lang="en-US" dirty="0"/>
          </a:p>
        </p:txBody>
      </p:sp>
      <p:sp>
        <p:nvSpPr>
          <p:cNvPr id="3" name="Content Placeholder 2"/>
          <p:cNvSpPr>
            <a:spLocks noGrp="1"/>
          </p:cNvSpPr>
          <p:nvPr>
            <p:ph sz="quarter" idx="1"/>
          </p:nvPr>
        </p:nvSpPr>
        <p:spPr>
          <a:xfrm>
            <a:off x="457200" y="1600200"/>
            <a:ext cx="8153400" cy="4873752"/>
          </a:xfrm>
        </p:spPr>
        <p:txBody>
          <a:bodyPr>
            <a:normAutofit/>
          </a:bodyPr>
          <a:lstStyle/>
          <a:p>
            <a:r>
              <a:rPr lang="en-GB" dirty="0"/>
              <a:t>A relation </a:t>
            </a:r>
            <a:r>
              <a:rPr lang="en-GB" i="1" dirty="0" smtClean="0"/>
              <a:t>r</a:t>
            </a:r>
            <a:r>
              <a:rPr lang="en-GB" dirty="0" smtClean="0"/>
              <a:t>(</a:t>
            </a:r>
            <a:r>
              <a:rPr lang="en-GB" i="1" dirty="0" smtClean="0"/>
              <a:t>R</a:t>
            </a:r>
            <a:r>
              <a:rPr lang="en-GB" dirty="0"/>
              <a:t>) is a </a:t>
            </a:r>
            <a:r>
              <a:rPr lang="en-GB" b="1" dirty="0"/>
              <a:t>mathematical relation </a:t>
            </a:r>
            <a:r>
              <a:rPr lang="en-GB" dirty="0" smtClean="0"/>
              <a:t>of degree </a:t>
            </a:r>
            <a:r>
              <a:rPr lang="en-GB" i="1" dirty="0"/>
              <a:t>n </a:t>
            </a:r>
            <a:r>
              <a:rPr lang="en-GB" dirty="0"/>
              <a:t>on the domains </a:t>
            </a:r>
            <a:r>
              <a:rPr lang="en-GB" dirty="0" err="1"/>
              <a:t>dom</a:t>
            </a:r>
            <a:r>
              <a:rPr lang="en-GB" dirty="0"/>
              <a:t>(</a:t>
            </a:r>
            <a:r>
              <a:rPr lang="en-GB" i="1" dirty="0"/>
              <a:t>A</a:t>
            </a:r>
            <a:r>
              <a:rPr lang="en-GB" baseline="-25000" dirty="0"/>
              <a:t>1</a:t>
            </a:r>
            <a:r>
              <a:rPr lang="en-GB" dirty="0" smtClean="0"/>
              <a:t>),..., </a:t>
            </a:r>
            <a:r>
              <a:rPr lang="en-GB" dirty="0" err="1"/>
              <a:t>dom</a:t>
            </a:r>
            <a:r>
              <a:rPr lang="en-GB" dirty="0"/>
              <a:t>(</a:t>
            </a:r>
            <a:r>
              <a:rPr lang="en-GB" i="1" dirty="0"/>
              <a:t>A</a:t>
            </a:r>
            <a:r>
              <a:rPr lang="en-GB" i="1" baseline="-25000" dirty="0"/>
              <a:t>n</a:t>
            </a:r>
            <a:r>
              <a:rPr lang="en-GB" dirty="0" smtClean="0"/>
              <a:t>). </a:t>
            </a:r>
          </a:p>
          <a:p>
            <a:pPr lvl="1"/>
            <a:r>
              <a:rPr lang="en-GB" b="1" dirty="0" smtClean="0"/>
              <a:t>r(R) </a:t>
            </a:r>
            <a:r>
              <a:rPr lang="en-GB" dirty="0" smtClean="0"/>
              <a:t>is a</a:t>
            </a:r>
            <a:r>
              <a:rPr lang="en-GB" b="1" dirty="0" smtClean="0"/>
              <a:t> subset of Cartesian </a:t>
            </a:r>
            <a:r>
              <a:rPr lang="en-GB" b="1" dirty="0"/>
              <a:t>product </a:t>
            </a:r>
            <a:r>
              <a:rPr lang="en-GB" dirty="0" smtClean="0"/>
              <a:t>of </a:t>
            </a:r>
            <a:r>
              <a:rPr lang="en-GB" dirty="0"/>
              <a:t>the </a:t>
            </a:r>
            <a:r>
              <a:rPr lang="en-GB" dirty="0" smtClean="0"/>
              <a:t>domains </a:t>
            </a:r>
            <a:r>
              <a:rPr lang="en-GB" dirty="0"/>
              <a:t>that define </a:t>
            </a:r>
            <a:r>
              <a:rPr lang="en-GB" i="1" dirty="0" smtClean="0"/>
              <a:t>R</a:t>
            </a:r>
            <a:endParaRPr lang="en-GB" dirty="0"/>
          </a:p>
          <a:p>
            <a:pPr marL="0" indent="0">
              <a:buNone/>
            </a:pPr>
            <a:r>
              <a:rPr lang="en-US" i="1" dirty="0" smtClean="0"/>
              <a:t>	r</a:t>
            </a:r>
            <a:r>
              <a:rPr lang="en-US" dirty="0" smtClean="0"/>
              <a:t>(</a:t>
            </a:r>
            <a:r>
              <a:rPr lang="en-US" i="1" dirty="0" smtClean="0"/>
              <a:t>R</a:t>
            </a:r>
            <a:r>
              <a:rPr lang="en-US" dirty="0"/>
              <a:t>) ⊆ (</a:t>
            </a:r>
            <a:r>
              <a:rPr lang="en-US" dirty="0" err="1"/>
              <a:t>dom</a:t>
            </a:r>
            <a:r>
              <a:rPr lang="en-US" dirty="0"/>
              <a:t>(</a:t>
            </a:r>
            <a:r>
              <a:rPr lang="en-US" i="1" dirty="0"/>
              <a:t>A</a:t>
            </a:r>
            <a:r>
              <a:rPr lang="en-US" baseline="-25000" dirty="0"/>
              <a:t>1</a:t>
            </a:r>
            <a:r>
              <a:rPr lang="en-US" dirty="0"/>
              <a:t>) × </a:t>
            </a:r>
            <a:r>
              <a:rPr lang="en-US" dirty="0" err="1"/>
              <a:t>dom</a:t>
            </a:r>
            <a:r>
              <a:rPr lang="en-US" dirty="0"/>
              <a:t>(</a:t>
            </a:r>
            <a:r>
              <a:rPr lang="en-US" i="1" dirty="0"/>
              <a:t>A</a:t>
            </a:r>
            <a:r>
              <a:rPr lang="en-US" baseline="-25000" dirty="0"/>
              <a:t>2</a:t>
            </a:r>
            <a:r>
              <a:rPr lang="en-US" dirty="0"/>
              <a:t>) × ... × </a:t>
            </a:r>
            <a:r>
              <a:rPr lang="en-US" dirty="0" err="1"/>
              <a:t>dom</a:t>
            </a:r>
            <a:r>
              <a:rPr lang="en-US" dirty="0"/>
              <a:t>(</a:t>
            </a:r>
            <a:r>
              <a:rPr lang="en-US" i="1" dirty="0"/>
              <a:t>A</a:t>
            </a:r>
            <a:r>
              <a:rPr lang="en-US" i="1" baseline="-25000" dirty="0"/>
              <a:t>n</a:t>
            </a:r>
            <a:r>
              <a:rPr lang="en-US" dirty="0"/>
              <a:t>))</a:t>
            </a:r>
          </a:p>
          <a:p>
            <a:pPr marL="0" lvl="0" indent="0">
              <a:buNone/>
            </a:pPr>
            <a:endParaRPr lang="en-US" dirty="0" smtClean="0"/>
          </a:p>
          <a:p>
            <a:r>
              <a:rPr lang="en-US" dirty="0" smtClean="0"/>
              <a:t>Example: </a:t>
            </a:r>
            <a:endParaRPr lang="en-US" dirty="0"/>
          </a:p>
          <a:p>
            <a:pPr lvl="1"/>
            <a:r>
              <a:rPr lang="en-US" dirty="0" smtClean="0"/>
              <a:t>Let </a:t>
            </a:r>
            <a:r>
              <a:rPr lang="en-US" dirty="0"/>
              <a:t>S1 = {0,1</a:t>
            </a:r>
            <a:r>
              <a:rPr lang="en-US" dirty="0" smtClean="0"/>
              <a:t>} and  </a:t>
            </a:r>
            <a:r>
              <a:rPr lang="en-US" dirty="0"/>
              <a:t>S2 =  {</a:t>
            </a:r>
            <a:r>
              <a:rPr lang="en-US" dirty="0" err="1"/>
              <a:t>a,b,c</a:t>
            </a:r>
            <a:r>
              <a:rPr lang="en-US" dirty="0"/>
              <a:t>}</a:t>
            </a:r>
          </a:p>
          <a:p>
            <a:pPr lvl="1"/>
            <a:r>
              <a:rPr lang="en-US" dirty="0" smtClean="0"/>
              <a:t>r(R) </a:t>
            </a:r>
            <a:r>
              <a:rPr lang="en-US" dirty="0">
                <a:sym typeface="Symbol"/>
              </a:rPr>
              <a:t></a:t>
            </a:r>
            <a:r>
              <a:rPr lang="en-US" dirty="0"/>
              <a:t> S1 X S2</a:t>
            </a:r>
          </a:p>
          <a:p>
            <a:pPr lvl="1"/>
            <a:r>
              <a:rPr lang="en-US" dirty="0" smtClean="0"/>
              <a:t>r(R</a:t>
            </a:r>
            <a:r>
              <a:rPr lang="en-US" dirty="0"/>
              <a:t>) = {&lt;0,a&gt; , &lt;0,b&gt; , &lt;1,c&gt; } is one possible “state</a:t>
            </a:r>
            <a:r>
              <a:rPr lang="en-US" dirty="0" smtClean="0"/>
              <a:t>”</a:t>
            </a:r>
            <a:endParaRPr lang="en-US" dirty="0"/>
          </a:p>
          <a:p>
            <a:endParaRPr lang="en-US" dirty="0"/>
          </a:p>
        </p:txBody>
      </p:sp>
    </p:spTree>
    <p:extLst>
      <p:ext uri="{BB962C8B-B14F-4D97-AF65-F5344CB8AC3E}">
        <p14:creationId xmlns:p14="http://schemas.microsoft.com/office/powerpoint/2010/main" val="1795838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Definitions using Set Theory</a:t>
            </a:r>
            <a:endParaRPr lang="en-US" dirty="0"/>
          </a:p>
        </p:txBody>
      </p:sp>
      <p:sp>
        <p:nvSpPr>
          <p:cNvPr id="3" name="Content Placeholder 2"/>
          <p:cNvSpPr>
            <a:spLocks noGrp="1"/>
          </p:cNvSpPr>
          <p:nvPr>
            <p:ph sz="quarter" idx="1"/>
          </p:nvPr>
        </p:nvSpPr>
        <p:spPr/>
        <p:txBody>
          <a:bodyPr>
            <a:normAutofit/>
          </a:bodyPr>
          <a:lstStyle/>
          <a:p>
            <a:r>
              <a:rPr lang="en-GB" dirty="0" smtClean="0"/>
              <a:t>The </a:t>
            </a:r>
            <a:r>
              <a:rPr lang="en-GB" dirty="0"/>
              <a:t>total </a:t>
            </a:r>
            <a:r>
              <a:rPr lang="en-GB" dirty="0" smtClean="0"/>
              <a:t>no </a:t>
            </a:r>
            <a:r>
              <a:rPr lang="en-GB" dirty="0"/>
              <a:t>of </a:t>
            </a:r>
            <a:r>
              <a:rPr lang="en-GB" dirty="0" smtClean="0"/>
              <a:t>tuples in </a:t>
            </a:r>
            <a:r>
              <a:rPr lang="en-GB" dirty="0"/>
              <a:t>the Cartesian product is</a:t>
            </a:r>
          </a:p>
          <a:p>
            <a:pPr marL="0" indent="0">
              <a:buNone/>
            </a:pPr>
            <a:r>
              <a:rPr lang="en-US" dirty="0" smtClean="0"/>
              <a:t>	</a:t>
            </a:r>
          </a:p>
          <a:p>
            <a:pPr marL="0" indent="0">
              <a:buNone/>
            </a:pPr>
            <a:r>
              <a:rPr lang="en-US" dirty="0"/>
              <a:t>	</a:t>
            </a:r>
            <a:r>
              <a:rPr lang="en-US" dirty="0" smtClean="0"/>
              <a:t>|</a:t>
            </a:r>
            <a:r>
              <a:rPr lang="en-US" dirty="0" err="1"/>
              <a:t>dom</a:t>
            </a:r>
            <a:r>
              <a:rPr lang="en-US" dirty="0"/>
              <a:t>(</a:t>
            </a:r>
            <a:r>
              <a:rPr lang="en-US" i="1" dirty="0"/>
              <a:t>A</a:t>
            </a:r>
            <a:r>
              <a:rPr lang="en-US" dirty="0"/>
              <a:t>1)| × |</a:t>
            </a:r>
            <a:r>
              <a:rPr lang="en-US" dirty="0" err="1"/>
              <a:t>dom</a:t>
            </a:r>
            <a:r>
              <a:rPr lang="en-US" dirty="0"/>
              <a:t>(</a:t>
            </a:r>
            <a:r>
              <a:rPr lang="en-US" i="1" dirty="0"/>
              <a:t>A</a:t>
            </a:r>
            <a:r>
              <a:rPr lang="en-US" dirty="0"/>
              <a:t>2)| × ... × |</a:t>
            </a:r>
            <a:r>
              <a:rPr lang="en-US" dirty="0" err="1"/>
              <a:t>dom</a:t>
            </a:r>
            <a:r>
              <a:rPr lang="en-US" dirty="0"/>
              <a:t>(</a:t>
            </a:r>
            <a:r>
              <a:rPr lang="en-US" i="1" dirty="0"/>
              <a:t>An</a:t>
            </a:r>
            <a:r>
              <a:rPr lang="en-US" dirty="0"/>
              <a:t>)|</a:t>
            </a:r>
          </a:p>
          <a:p>
            <a:endParaRPr lang="en-GB" dirty="0" smtClean="0"/>
          </a:p>
          <a:p>
            <a:r>
              <a:rPr lang="en-GB" dirty="0" smtClean="0"/>
              <a:t>This shows </a:t>
            </a:r>
            <a:r>
              <a:rPr lang="en-GB" dirty="0"/>
              <a:t>the total </a:t>
            </a:r>
            <a:r>
              <a:rPr lang="en-GB" dirty="0" smtClean="0"/>
              <a:t>no </a:t>
            </a:r>
            <a:r>
              <a:rPr lang="en-GB" dirty="0"/>
              <a:t>of </a:t>
            </a:r>
            <a:r>
              <a:rPr lang="en-GB" dirty="0" smtClean="0"/>
              <a:t>possible tuples </a:t>
            </a:r>
            <a:r>
              <a:rPr lang="en-GB" dirty="0"/>
              <a:t>that can ever exist in any relation state </a:t>
            </a:r>
            <a:r>
              <a:rPr lang="en-GB" i="1" dirty="0"/>
              <a:t>r</a:t>
            </a:r>
            <a:r>
              <a:rPr lang="en-GB" dirty="0"/>
              <a:t>(</a:t>
            </a:r>
            <a:r>
              <a:rPr lang="en-GB" i="1" dirty="0"/>
              <a:t>R</a:t>
            </a:r>
            <a:r>
              <a:rPr lang="en-GB" dirty="0"/>
              <a:t>). </a:t>
            </a:r>
            <a:endParaRPr lang="en-US" dirty="0" smtClean="0"/>
          </a:p>
          <a:p>
            <a:endParaRPr lang="en-US" dirty="0"/>
          </a:p>
        </p:txBody>
      </p:sp>
    </p:spTree>
    <p:extLst>
      <p:ext uri="{BB962C8B-B14F-4D97-AF65-F5344CB8AC3E}">
        <p14:creationId xmlns:p14="http://schemas.microsoft.com/office/powerpoint/2010/main" val="2032203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p14="http://schemas.microsoft.com/office/powerpoint/2010/main" val="163383869"/>
              </p:ext>
            </p:extLst>
          </p:nvPr>
        </p:nvGraphicFramePr>
        <p:xfrm>
          <a:off x="1447800" y="990600"/>
          <a:ext cx="6400799" cy="4648202"/>
        </p:xfrm>
        <a:graphic>
          <a:graphicData uri="http://schemas.openxmlformats.org/drawingml/2006/table">
            <a:tbl>
              <a:tblPr firstRow="1" firstCol="1" bandRow="1">
                <a:tableStyleId>{5C22544A-7EE6-4342-B048-85BDC9FD1C3A}</a:tableStyleId>
              </a:tblPr>
              <a:tblGrid>
                <a:gridCol w="3276600"/>
                <a:gridCol w="245176"/>
                <a:gridCol w="2879023"/>
              </a:tblGrid>
              <a:tr h="523159">
                <a:tc>
                  <a:txBody>
                    <a:bodyPr/>
                    <a:lstStyle/>
                    <a:p>
                      <a:pPr marL="0" marR="0" fontAlgn="base">
                        <a:lnSpc>
                          <a:spcPct val="115000"/>
                        </a:lnSpc>
                        <a:spcBef>
                          <a:spcPts val="575"/>
                        </a:spcBef>
                        <a:spcAft>
                          <a:spcPts val="0"/>
                        </a:spcAft>
                      </a:pPr>
                      <a:r>
                        <a:rPr lang="en-US" sz="2000" u="sng" kern="1200" dirty="0">
                          <a:effectLst/>
                        </a:rPr>
                        <a:t>Informal Terms</a:t>
                      </a:r>
                      <a:r>
                        <a:rPr lang="en-US" sz="2000" kern="1200" dirty="0">
                          <a:effectLst/>
                        </a:rPr>
                        <a:t> </a:t>
                      </a:r>
                      <a:endParaRPr lang="en-US" sz="2000" dirty="0">
                        <a:effectLst/>
                        <a:latin typeface="Calibri"/>
                        <a:ea typeface="Calibri"/>
                        <a:cs typeface="Times New Roman"/>
                      </a:endParaRPr>
                    </a:p>
                  </a:txBody>
                  <a:tcPr/>
                </a:tc>
                <a:tc>
                  <a:txBody>
                    <a:bodyPr/>
                    <a:lstStyle/>
                    <a:p>
                      <a:pPr>
                        <a:lnSpc>
                          <a:spcPct val="115000"/>
                        </a:lnSpc>
                      </a:pPr>
                      <a:endParaRPr lang="en-US" sz="2000" dirty="0">
                        <a:effectLst/>
                        <a:latin typeface="Calibri"/>
                        <a:cs typeface="Times New Roman"/>
                      </a:endParaRPr>
                    </a:p>
                  </a:txBody>
                  <a:tcPr/>
                </a:tc>
                <a:tc>
                  <a:txBody>
                    <a:bodyPr/>
                    <a:lstStyle/>
                    <a:p>
                      <a:pPr marL="0" marR="0" fontAlgn="base">
                        <a:lnSpc>
                          <a:spcPct val="115000"/>
                        </a:lnSpc>
                        <a:spcBef>
                          <a:spcPts val="575"/>
                        </a:spcBef>
                        <a:spcAft>
                          <a:spcPts val="0"/>
                        </a:spcAft>
                      </a:pPr>
                      <a:r>
                        <a:rPr lang="en-US" sz="2000" u="sng" kern="1200" dirty="0">
                          <a:effectLst/>
                        </a:rPr>
                        <a:t>Formal Terms</a:t>
                      </a:r>
                      <a:r>
                        <a:rPr lang="en-US" sz="2000" kern="1200" dirty="0">
                          <a:effectLst/>
                        </a:rPr>
                        <a:t> </a:t>
                      </a:r>
                      <a:endParaRPr lang="en-US" sz="2000" dirty="0">
                        <a:effectLst/>
                        <a:latin typeface="Calibri"/>
                        <a:ea typeface="Calibri"/>
                        <a:cs typeface="Times New Roman"/>
                      </a:endParaRPr>
                    </a:p>
                  </a:txBody>
                  <a:tcPr/>
                </a:tc>
              </a:tr>
              <a:tr h="523159">
                <a:tc>
                  <a:txBody>
                    <a:bodyPr/>
                    <a:lstStyle/>
                    <a:p>
                      <a:pPr>
                        <a:lnSpc>
                          <a:spcPct val="115000"/>
                        </a:lnSpc>
                      </a:pPr>
                      <a:endParaRPr lang="en-US" sz="2000">
                        <a:effectLst/>
                        <a:latin typeface="Calibri"/>
                        <a:cs typeface="Times New Roman"/>
                      </a:endParaRPr>
                    </a:p>
                  </a:txBody>
                  <a:tcPr/>
                </a:tc>
                <a:tc>
                  <a:txBody>
                    <a:bodyPr/>
                    <a:lstStyle/>
                    <a:p>
                      <a:pPr>
                        <a:lnSpc>
                          <a:spcPct val="115000"/>
                        </a:lnSpc>
                      </a:pPr>
                      <a:endParaRPr lang="en-US" sz="2000">
                        <a:effectLst/>
                        <a:latin typeface="Calibri"/>
                        <a:cs typeface="Times New Roman"/>
                      </a:endParaRPr>
                    </a:p>
                  </a:txBody>
                  <a:tcPr/>
                </a:tc>
                <a:tc>
                  <a:txBody>
                    <a:bodyPr/>
                    <a:lstStyle/>
                    <a:p>
                      <a:pPr>
                        <a:lnSpc>
                          <a:spcPct val="115000"/>
                        </a:lnSpc>
                      </a:pPr>
                      <a:endParaRPr lang="en-US" sz="2000" dirty="0">
                        <a:effectLst/>
                        <a:latin typeface="Calibri"/>
                        <a:cs typeface="Times New Roman"/>
                      </a:endParaRPr>
                    </a:p>
                  </a:txBody>
                  <a:tcPr/>
                </a:tc>
              </a:tr>
              <a:tr h="523159">
                <a:tc>
                  <a:txBody>
                    <a:bodyPr/>
                    <a:lstStyle/>
                    <a:p>
                      <a:pPr marL="0" marR="0" fontAlgn="base">
                        <a:lnSpc>
                          <a:spcPct val="115000"/>
                        </a:lnSpc>
                        <a:spcBef>
                          <a:spcPts val="575"/>
                        </a:spcBef>
                        <a:spcAft>
                          <a:spcPts val="0"/>
                        </a:spcAft>
                      </a:pPr>
                      <a:r>
                        <a:rPr lang="en-US" sz="2000" kern="1200" dirty="0">
                          <a:effectLst/>
                        </a:rPr>
                        <a:t>Table </a:t>
                      </a:r>
                      <a:endParaRPr lang="en-US" sz="2000" dirty="0">
                        <a:effectLst/>
                        <a:latin typeface="Calibri"/>
                        <a:ea typeface="Calibri"/>
                        <a:cs typeface="Times New Roman"/>
                      </a:endParaRPr>
                    </a:p>
                  </a:txBody>
                  <a:tcPr/>
                </a:tc>
                <a:tc>
                  <a:txBody>
                    <a:bodyPr/>
                    <a:lstStyle/>
                    <a:p>
                      <a:pPr>
                        <a:lnSpc>
                          <a:spcPct val="115000"/>
                        </a:lnSpc>
                      </a:pPr>
                      <a:endParaRPr lang="en-US" sz="2000">
                        <a:effectLst/>
                        <a:latin typeface="Calibri"/>
                        <a:cs typeface="Times New Roman"/>
                      </a:endParaRPr>
                    </a:p>
                  </a:txBody>
                  <a:tcPr/>
                </a:tc>
                <a:tc>
                  <a:txBody>
                    <a:bodyPr/>
                    <a:lstStyle/>
                    <a:p>
                      <a:pPr marL="0" marR="0" fontAlgn="base">
                        <a:lnSpc>
                          <a:spcPct val="115000"/>
                        </a:lnSpc>
                        <a:spcBef>
                          <a:spcPts val="575"/>
                        </a:spcBef>
                        <a:spcAft>
                          <a:spcPts val="0"/>
                        </a:spcAft>
                      </a:pPr>
                      <a:r>
                        <a:rPr lang="en-US" sz="2000" kern="1200" dirty="0" smtClean="0">
                          <a:effectLst/>
                        </a:rPr>
                        <a:t>Relation </a:t>
                      </a:r>
                      <a:endParaRPr lang="en-US" sz="2000" dirty="0">
                        <a:effectLst/>
                        <a:latin typeface="Calibri"/>
                        <a:ea typeface="Calibri"/>
                        <a:cs typeface="Times New Roman"/>
                      </a:endParaRPr>
                    </a:p>
                  </a:txBody>
                  <a:tcPr/>
                </a:tc>
              </a:tr>
              <a:tr h="523159">
                <a:tc>
                  <a:txBody>
                    <a:bodyPr/>
                    <a:lstStyle/>
                    <a:p>
                      <a:pPr marL="0" marR="0" fontAlgn="base">
                        <a:lnSpc>
                          <a:spcPct val="115000"/>
                        </a:lnSpc>
                        <a:spcBef>
                          <a:spcPts val="575"/>
                        </a:spcBef>
                        <a:spcAft>
                          <a:spcPts val="0"/>
                        </a:spcAft>
                      </a:pPr>
                      <a:r>
                        <a:rPr lang="en-US" sz="2000" kern="1200" dirty="0">
                          <a:effectLst/>
                        </a:rPr>
                        <a:t>Column</a:t>
                      </a:r>
                      <a:endParaRPr lang="en-US" sz="2000" dirty="0">
                        <a:effectLst/>
                        <a:latin typeface="Calibri"/>
                        <a:ea typeface="Calibri"/>
                        <a:cs typeface="Times New Roman"/>
                      </a:endParaRPr>
                    </a:p>
                  </a:txBody>
                  <a:tcPr/>
                </a:tc>
                <a:tc>
                  <a:txBody>
                    <a:bodyPr/>
                    <a:lstStyle/>
                    <a:p>
                      <a:pPr>
                        <a:lnSpc>
                          <a:spcPct val="115000"/>
                        </a:lnSpc>
                      </a:pPr>
                      <a:endParaRPr lang="en-US" sz="2000">
                        <a:effectLst/>
                        <a:latin typeface="Calibri"/>
                        <a:cs typeface="Times New Roman"/>
                      </a:endParaRPr>
                    </a:p>
                  </a:txBody>
                  <a:tcPr/>
                </a:tc>
                <a:tc>
                  <a:txBody>
                    <a:bodyPr/>
                    <a:lstStyle/>
                    <a:p>
                      <a:pPr marL="0" marR="0" fontAlgn="base">
                        <a:lnSpc>
                          <a:spcPct val="115000"/>
                        </a:lnSpc>
                        <a:spcBef>
                          <a:spcPts val="575"/>
                        </a:spcBef>
                        <a:spcAft>
                          <a:spcPts val="0"/>
                        </a:spcAft>
                      </a:pPr>
                      <a:r>
                        <a:rPr lang="en-US" sz="2000" kern="1200" dirty="0">
                          <a:effectLst/>
                        </a:rPr>
                        <a:t>Attribute/Domain</a:t>
                      </a:r>
                      <a:endParaRPr lang="en-US" sz="2000" dirty="0">
                        <a:effectLst/>
                        <a:latin typeface="Calibri"/>
                        <a:ea typeface="Calibri"/>
                        <a:cs typeface="Times New Roman"/>
                      </a:endParaRPr>
                    </a:p>
                  </a:txBody>
                  <a:tcPr/>
                </a:tc>
              </a:tr>
              <a:tr h="523159">
                <a:tc>
                  <a:txBody>
                    <a:bodyPr/>
                    <a:lstStyle/>
                    <a:p>
                      <a:pPr marL="0" marR="0" fontAlgn="base">
                        <a:lnSpc>
                          <a:spcPct val="115000"/>
                        </a:lnSpc>
                        <a:spcBef>
                          <a:spcPts val="575"/>
                        </a:spcBef>
                        <a:spcAft>
                          <a:spcPts val="0"/>
                        </a:spcAft>
                      </a:pPr>
                      <a:r>
                        <a:rPr lang="en-US" sz="2000" kern="1200" dirty="0">
                          <a:effectLst/>
                        </a:rPr>
                        <a:t>Row</a:t>
                      </a:r>
                      <a:endParaRPr lang="en-US" sz="2000" dirty="0">
                        <a:effectLst/>
                        <a:latin typeface="Calibri"/>
                        <a:ea typeface="Calibri"/>
                        <a:cs typeface="Times New Roman"/>
                      </a:endParaRPr>
                    </a:p>
                  </a:txBody>
                  <a:tcPr/>
                </a:tc>
                <a:tc>
                  <a:txBody>
                    <a:bodyPr/>
                    <a:lstStyle/>
                    <a:p>
                      <a:pPr>
                        <a:lnSpc>
                          <a:spcPct val="115000"/>
                        </a:lnSpc>
                      </a:pPr>
                      <a:endParaRPr lang="en-US" sz="2000">
                        <a:effectLst/>
                        <a:latin typeface="Calibri"/>
                        <a:cs typeface="Times New Roman"/>
                      </a:endParaRPr>
                    </a:p>
                  </a:txBody>
                  <a:tcPr/>
                </a:tc>
                <a:tc>
                  <a:txBody>
                    <a:bodyPr/>
                    <a:lstStyle/>
                    <a:p>
                      <a:pPr marL="0" marR="0" fontAlgn="base">
                        <a:lnSpc>
                          <a:spcPct val="115000"/>
                        </a:lnSpc>
                        <a:spcBef>
                          <a:spcPts val="575"/>
                        </a:spcBef>
                        <a:spcAft>
                          <a:spcPts val="0"/>
                        </a:spcAft>
                      </a:pPr>
                      <a:r>
                        <a:rPr lang="en-US" sz="2000" kern="1200" dirty="0">
                          <a:effectLst/>
                        </a:rPr>
                        <a:t>Tuple </a:t>
                      </a:r>
                      <a:endParaRPr lang="en-US" sz="2000" dirty="0">
                        <a:effectLst/>
                        <a:latin typeface="Calibri"/>
                        <a:ea typeface="Calibri"/>
                        <a:cs typeface="Times New Roman"/>
                      </a:endParaRPr>
                    </a:p>
                  </a:txBody>
                  <a:tcPr/>
                </a:tc>
              </a:tr>
              <a:tr h="754717">
                <a:tc>
                  <a:txBody>
                    <a:bodyPr/>
                    <a:lstStyle/>
                    <a:p>
                      <a:pPr marL="0" marR="0" fontAlgn="base">
                        <a:lnSpc>
                          <a:spcPct val="115000"/>
                        </a:lnSpc>
                        <a:spcBef>
                          <a:spcPts val="575"/>
                        </a:spcBef>
                        <a:spcAft>
                          <a:spcPts val="0"/>
                        </a:spcAft>
                      </a:pPr>
                      <a:r>
                        <a:rPr lang="en-US" sz="2000" kern="1200">
                          <a:effectLst/>
                        </a:rPr>
                        <a:t>Values in a column</a:t>
                      </a:r>
                      <a:endParaRPr lang="en-US" sz="2000">
                        <a:effectLst/>
                        <a:latin typeface="Calibri"/>
                        <a:ea typeface="Calibri"/>
                        <a:cs typeface="Times New Roman"/>
                      </a:endParaRPr>
                    </a:p>
                  </a:txBody>
                  <a:tcPr/>
                </a:tc>
                <a:tc>
                  <a:txBody>
                    <a:bodyPr/>
                    <a:lstStyle/>
                    <a:p>
                      <a:pPr>
                        <a:lnSpc>
                          <a:spcPct val="115000"/>
                        </a:lnSpc>
                      </a:pPr>
                      <a:endParaRPr lang="en-US" sz="2000">
                        <a:effectLst/>
                        <a:latin typeface="Calibri"/>
                        <a:cs typeface="Times New Roman"/>
                      </a:endParaRPr>
                    </a:p>
                  </a:txBody>
                  <a:tcPr/>
                </a:tc>
                <a:tc>
                  <a:txBody>
                    <a:bodyPr/>
                    <a:lstStyle/>
                    <a:p>
                      <a:pPr marL="0" marR="0" fontAlgn="base">
                        <a:lnSpc>
                          <a:spcPct val="115000"/>
                        </a:lnSpc>
                        <a:spcBef>
                          <a:spcPts val="575"/>
                        </a:spcBef>
                        <a:spcAft>
                          <a:spcPts val="0"/>
                        </a:spcAft>
                      </a:pPr>
                      <a:r>
                        <a:rPr lang="en-US" sz="2000" kern="1200" dirty="0" smtClean="0">
                          <a:effectLst/>
                        </a:rPr>
                        <a:t>Domain</a:t>
                      </a:r>
                      <a:endParaRPr lang="en-US" sz="2000" dirty="0">
                        <a:effectLst/>
                        <a:latin typeface="Calibri"/>
                        <a:ea typeface="Calibri"/>
                        <a:cs typeface="Times New Roman"/>
                      </a:endParaRPr>
                    </a:p>
                  </a:txBody>
                  <a:tcPr/>
                </a:tc>
              </a:tr>
              <a:tr h="754531">
                <a:tc>
                  <a:txBody>
                    <a:bodyPr/>
                    <a:lstStyle/>
                    <a:p>
                      <a:pPr marL="0" marR="0" fontAlgn="base">
                        <a:lnSpc>
                          <a:spcPct val="115000"/>
                        </a:lnSpc>
                        <a:spcBef>
                          <a:spcPts val="575"/>
                        </a:spcBef>
                        <a:spcAft>
                          <a:spcPts val="0"/>
                        </a:spcAft>
                      </a:pPr>
                      <a:r>
                        <a:rPr lang="en-US" sz="2000" kern="1200">
                          <a:effectLst/>
                        </a:rPr>
                        <a:t>Table Definition</a:t>
                      </a:r>
                      <a:endParaRPr lang="en-US" sz="2000">
                        <a:effectLst/>
                        <a:latin typeface="Calibri"/>
                        <a:ea typeface="Calibri"/>
                        <a:cs typeface="Times New Roman"/>
                      </a:endParaRPr>
                    </a:p>
                  </a:txBody>
                  <a:tcPr/>
                </a:tc>
                <a:tc>
                  <a:txBody>
                    <a:bodyPr/>
                    <a:lstStyle/>
                    <a:p>
                      <a:pPr>
                        <a:lnSpc>
                          <a:spcPct val="115000"/>
                        </a:lnSpc>
                      </a:pPr>
                      <a:endParaRPr lang="en-US" sz="2000">
                        <a:effectLst/>
                        <a:latin typeface="Calibri"/>
                        <a:cs typeface="Times New Roman"/>
                      </a:endParaRPr>
                    </a:p>
                  </a:txBody>
                  <a:tcPr/>
                </a:tc>
                <a:tc>
                  <a:txBody>
                    <a:bodyPr/>
                    <a:lstStyle/>
                    <a:p>
                      <a:pPr marL="0" marR="0" fontAlgn="base">
                        <a:lnSpc>
                          <a:spcPct val="115000"/>
                        </a:lnSpc>
                        <a:spcBef>
                          <a:spcPts val="575"/>
                        </a:spcBef>
                        <a:spcAft>
                          <a:spcPts val="0"/>
                        </a:spcAft>
                      </a:pPr>
                      <a:r>
                        <a:rPr lang="en-US" sz="2000" kern="1200" dirty="0">
                          <a:effectLst/>
                        </a:rPr>
                        <a:t>Schema of a Relation</a:t>
                      </a:r>
                      <a:endParaRPr lang="en-US" sz="2000" dirty="0">
                        <a:effectLst/>
                        <a:latin typeface="Calibri"/>
                        <a:ea typeface="Calibri"/>
                        <a:cs typeface="Times New Roman"/>
                      </a:endParaRPr>
                    </a:p>
                  </a:txBody>
                  <a:tcPr/>
                </a:tc>
              </a:tr>
              <a:tr h="523159">
                <a:tc>
                  <a:txBody>
                    <a:bodyPr/>
                    <a:lstStyle/>
                    <a:p>
                      <a:pPr marL="0" marR="0" fontAlgn="base">
                        <a:lnSpc>
                          <a:spcPct val="115000"/>
                        </a:lnSpc>
                        <a:spcBef>
                          <a:spcPts val="575"/>
                        </a:spcBef>
                        <a:spcAft>
                          <a:spcPts val="0"/>
                        </a:spcAft>
                      </a:pPr>
                      <a:r>
                        <a:rPr lang="en-US" sz="2000" kern="1200">
                          <a:effectLst/>
                        </a:rPr>
                        <a:t>Populated Table</a:t>
                      </a:r>
                      <a:endParaRPr lang="en-US" sz="2000">
                        <a:effectLst/>
                        <a:latin typeface="Calibri"/>
                        <a:ea typeface="Calibri"/>
                        <a:cs typeface="Times New Roman"/>
                      </a:endParaRPr>
                    </a:p>
                  </a:txBody>
                  <a:tcPr/>
                </a:tc>
                <a:tc>
                  <a:txBody>
                    <a:bodyPr/>
                    <a:lstStyle/>
                    <a:p>
                      <a:pPr>
                        <a:lnSpc>
                          <a:spcPct val="115000"/>
                        </a:lnSpc>
                      </a:pPr>
                      <a:endParaRPr lang="en-US" sz="2000">
                        <a:effectLst/>
                        <a:latin typeface="Calibri"/>
                        <a:cs typeface="Times New Roman"/>
                      </a:endParaRPr>
                    </a:p>
                  </a:txBody>
                  <a:tcPr/>
                </a:tc>
                <a:tc>
                  <a:txBody>
                    <a:bodyPr/>
                    <a:lstStyle/>
                    <a:p>
                      <a:pPr marL="0" marR="0" fontAlgn="base">
                        <a:lnSpc>
                          <a:spcPct val="115000"/>
                        </a:lnSpc>
                        <a:spcBef>
                          <a:spcPts val="575"/>
                        </a:spcBef>
                        <a:spcAft>
                          <a:spcPts val="0"/>
                        </a:spcAft>
                      </a:pPr>
                      <a:r>
                        <a:rPr lang="en-US" sz="2000" kern="1200" dirty="0">
                          <a:effectLst/>
                        </a:rPr>
                        <a:t>Extension</a:t>
                      </a:r>
                      <a:endParaRPr lang="en-US" sz="2000" dirty="0">
                        <a:effectLst/>
                        <a:latin typeface="Calibri"/>
                        <a:ea typeface="Calibri"/>
                        <a:cs typeface="Times New Roman"/>
                      </a:endParaRPr>
                    </a:p>
                  </a:txBody>
                  <a:tcPr/>
                </a:tc>
              </a:tr>
            </a:tbl>
          </a:graphicData>
        </a:graphic>
      </p:graphicFrame>
    </p:spTree>
    <p:extLst>
      <p:ext uri="{BB962C8B-B14F-4D97-AF65-F5344CB8AC3E}">
        <p14:creationId xmlns:p14="http://schemas.microsoft.com/office/powerpoint/2010/main" val="20351089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Characteristics Of </a:t>
            </a:r>
            <a:r>
              <a:rPr lang="en-US" b="1" dirty="0" smtClean="0"/>
              <a:t>Relations</a:t>
            </a:r>
            <a:endParaRPr lang="en-US" b="1" dirty="0"/>
          </a:p>
        </p:txBody>
      </p:sp>
      <p:sp>
        <p:nvSpPr>
          <p:cNvPr id="3" name="Content Placeholder 2"/>
          <p:cNvSpPr>
            <a:spLocks noGrp="1"/>
          </p:cNvSpPr>
          <p:nvPr>
            <p:ph sz="quarter" idx="1"/>
          </p:nvPr>
        </p:nvSpPr>
        <p:spPr>
          <a:xfrm>
            <a:off x="457200" y="1600200"/>
            <a:ext cx="7772400" cy="4873752"/>
          </a:xfrm>
        </p:spPr>
        <p:txBody>
          <a:bodyPr>
            <a:normAutofit/>
          </a:bodyPr>
          <a:lstStyle/>
          <a:p>
            <a:pPr lvl="0"/>
            <a:endParaRPr lang="en-US" dirty="0" smtClean="0"/>
          </a:p>
          <a:p>
            <a:pPr lvl="0"/>
            <a:r>
              <a:rPr lang="en-US" dirty="0" smtClean="0"/>
              <a:t>Ordering </a:t>
            </a:r>
            <a:r>
              <a:rPr lang="en-US" dirty="0"/>
              <a:t>of tuples in a relation r(R):</a:t>
            </a:r>
          </a:p>
          <a:p>
            <a:pPr lvl="0"/>
            <a:endParaRPr lang="en-US" dirty="0" smtClean="0"/>
          </a:p>
          <a:p>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127" y="3048000"/>
            <a:ext cx="8382000" cy="21536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6662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Characteristics Of </a:t>
            </a:r>
            <a:r>
              <a:rPr lang="en-US" b="1" dirty="0" smtClean="0"/>
              <a:t>Relations</a:t>
            </a:r>
            <a:endParaRPr lang="en-US" b="1" dirty="0"/>
          </a:p>
        </p:txBody>
      </p:sp>
      <p:sp>
        <p:nvSpPr>
          <p:cNvPr id="3" name="Content Placeholder 2"/>
          <p:cNvSpPr>
            <a:spLocks noGrp="1"/>
          </p:cNvSpPr>
          <p:nvPr>
            <p:ph sz="quarter" idx="1"/>
          </p:nvPr>
        </p:nvSpPr>
        <p:spPr>
          <a:xfrm>
            <a:off x="457200" y="1600200"/>
            <a:ext cx="7772400" cy="4873752"/>
          </a:xfrm>
        </p:spPr>
        <p:txBody>
          <a:bodyPr>
            <a:normAutofit/>
          </a:bodyPr>
          <a:lstStyle/>
          <a:p>
            <a:pPr lvl="0"/>
            <a:endParaRPr lang="en-US" dirty="0" smtClean="0"/>
          </a:p>
          <a:p>
            <a:pPr lvl="0"/>
            <a:r>
              <a:rPr lang="en-US" dirty="0" smtClean="0"/>
              <a:t>Ordering </a:t>
            </a:r>
            <a:r>
              <a:rPr lang="en-US" dirty="0"/>
              <a:t>of attributes in a relation schema R </a:t>
            </a:r>
            <a:endParaRPr lang="en-US" dirty="0" smtClean="0"/>
          </a:p>
          <a:p>
            <a:pPr lvl="1"/>
            <a:r>
              <a:rPr lang="en-US" sz="2400" i="1" dirty="0" smtClean="0"/>
              <a:t>We define n</a:t>
            </a:r>
            <a:r>
              <a:rPr lang="en-US" sz="2400" dirty="0" smtClean="0"/>
              <a:t>-tuple as an </a:t>
            </a:r>
            <a:r>
              <a:rPr lang="en-GB" sz="2400" i="1" dirty="0"/>
              <a:t>ordered list </a:t>
            </a:r>
            <a:r>
              <a:rPr lang="en-GB" sz="2400" dirty="0"/>
              <a:t>of </a:t>
            </a:r>
            <a:r>
              <a:rPr lang="en-GB" sz="2400" i="1" dirty="0"/>
              <a:t>n </a:t>
            </a:r>
            <a:r>
              <a:rPr lang="en-GB" sz="2400" dirty="0"/>
              <a:t>values</a:t>
            </a:r>
            <a:endParaRPr lang="en-US" sz="2100" dirty="0" smtClean="0"/>
          </a:p>
          <a:p>
            <a:pPr lvl="1"/>
            <a:r>
              <a:rPr lang="en-US" sz="2100" dirty="0" smtClean="0"/>
              <a:t>Thus, attributes </a:t>
            </a:r>
            <a:r>
              <a:rPr lang="en-US" sz="2100" dirty="0"/>
              <a:t>in R(A1, A2, ..., An) and the values in t=&lt;v1, v2, ..., </a:t>
            </a:r>
            <a:r>
              <a:rPr lang="en-US" sz="2100" dirty="0" err="1"/>
              <a:t>vn</a:t>
            </a:r>
            <a:r>
              <a:rPr lang="en-US" sz="2100" dirty="0"/>
              <a:t>&gt; </a:t>
            </a:r>
            <a:r>
              <a:rPr lang="en-US" sz="2100" dirty="0" smtClean="0"/>
              <a:t> are considered to be ordered .</a:t>
            </a:r>
          </a:p>
          <a:p>
            <a:pPr lvl="1"/>
            <a:endParaRPr lang="en-US" dirty="0"/>
          </a:p>
          <a:p>
            <a:pPr lvl="0"/>
            <a:endParaRPr lang="en-US" b="1" dirty="0" smtClean="0"/>
          </a:p>
          <a:p>
            <a:endParaRPr 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962400"/>
            <a:ext cx="8382000" cy="21536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3620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Characteristics Of Relations</a:t>
            </a:r>
            <a:endParaRPr lang="en-US" dirty="0"/>
          </a:p>
        </p:txBody>
      </p:sp>
      <p:sp>
        <p:nvSpPr>
          <p:cNvPr id="3" name="Content Placeholder 2"/>
          <p:cNvSpPr>
            <a:spLocks noGrp="1"/>
          </p:cNvSpPr>
          <p:nvPr>
            <p:ph sz="quarter" idx="1"/>
          </p:nvPr>
        </p:nvSpPr>
        <p:spPr/>
        <p:txBody>
          <a:bodyPr/>
          <a:lstStyle/>
          <a:p>
            <a:r>
              <a:rPr lang="en-GB" dirty="0"/>
              <a:t>An </a:t>
            </a:r>
            <a:r>
              <a:rPr lang="en-GB" b="1" dirty="0"/>
              <a:t>alternative definition of a relation can eliminate the need for ordering in tuple</a:t>
            </a:r>
          </a:p>
          <a:p>
            <a:pPr lvl="1"/>
            <a:r>
              <a:rPr lang="en-GB" dirty="0"/>
              <a:t>Define </a:t>
            </a:r>
            <a:r>
              <a:rPr lang="en-GB" b="1" dirty="0"/>
              <a:t>tuple </a:t>
            </a:r>
            <a:r>
              <a:rPr lang="en-GB" dirty="0"/>
              <a:t>as a </a:t>
            </a:r>
            <a:r>
              <a:rPr lang="en-GB" b="1" dirty="0"/>
              <a:t>set </a:t>
            </a:r>
            <a:r>
              <a:rPr lang="en-GB" dirty="0"/>
              <a:t>of (&lt;attribute&gt;, &lt;value&gt;) pairs</a:t>
            </a:r>
          </a:p>
          <a:p>
            <a:pPr lvl="1"/>
            <a:r>
              <a:rPr lang="en-GB" dirty="0"/>
              <a:t>Each pair gives the value of the mapping from an attribute </a:t>
            </a:r>
            <a:r>
              <a:rPr lang="en-GB" i="1" dirty="0"/>
              <a:t>Ai </a:t>
            </a:r>
            <a:r>
              <a:rPr lang="en-GB" dirty="0"/>
              <a:t>to a value </a:t>
            </a:r>
            <a:r>
              <a:rPr lang="en-GB" i="1" dirty="0"/>
              <a:t>vi </a:t>
            </a:r>
            <a:r>
              <a:rPr lang="en-GB" dirty="0"/>
              <a:t>from </a:t>
            </a:r>
            <a:r>
              <a:rPr lang="en-GB" dirty="0" err="1"/>
              <a:t>dom</a:t>
            </a:r>
            <a:r>
              <a:rPr lang="en-GB" dirty="0"/>
              <a:t>(</a:t>
            </a:r>
            <a:r>
              <a:rPr lang="en-GB" i="1" dirty="0"/>
              <a:t>Ai</a:t>
            </a:r>
            <a:r>
              <a:rPr lang="en-GB" dirty="0"/>
              <a:t>).</a:t>
            </a:r>
            <a:endParaRPr lang="en-US" dirty="0"/>
          </a:p>
          <a:p>
            <a:endParaRPr lang="en-US"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902716"/>
            <a:ext cx="8395028" cy="18884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17915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Characteristics Of </a:t>
            </a:r>
            <a:r>
              <a:rPr lang="en-US" b="1" dirty="0" smtClean="0"/>
              <a:t>Relations</a:t>
            </a:r>
            <a:endParaRPr lang="en-US" b="1" dirty="0"/>
          </a:p>
        </p:txBody>
      </p:sp>
      <p:sp>
        <p:nvSpPr>
          <p:cNvPr id="3" name="Content Placeholder 2"/>
          <p:cNvSpPr>
            <a:spLocks noGrp="1"/>
          </p:cNvSpPr>
          <p:nvPr>
            <p:ph sz="quarter" idx="1"/>
          </p:nvPr>
        </p:nvSpPr>
        <p:spPr>
          <a:xfrm>
            <a:off x="457200" y="1600200"/>
            <a:ext cx="7772400" cy="4873752"/>
          </a:xfrm>
        </p:spPr>
        <p:txBody>
          <a:bodyPr>
            <a:normAutofit/>
          </a:bodyPr>
          <a:lstStyle/>
          <a:p>
            <a:pPr lvl="0"/>
            <a:endParaRPr lang="en-US" b="1" dirty="0" smtClean="0"/>
          </a:p>
          <a:p>
            <a:pPr lvl="0"/>
            <a:r>
              <a:rPr lang="en-US" dirty="0" smtClean="0"/>
              <a:t>Values </a:t>
            </a:r>
            <a:r>
              <a:rPr lang="en-US" dirty="0"/>
              <a:t>in a tuple:</a:t>
            </a:r>
          </a:p>
          <a:p>
            <a:pPr lvl="1"/>
            <a:r>
              <a:rPr lang="en-US" sz="2400" dirty="0" smtClean="0"/>
              <a:t>Atomic  </a:t>
            </a:r>
            <a:r>
              <a:rPr lang="en-US" sz="2400" dirty="0"/>
              <a:t>(indivisible).</a:t>
            </a:r>
          </a:p>
          <a:p>
            <a:pPr lvl="1"/>
            <a:r>
              <a:rPr lang="en-US" dirty="0" smtClean="0"/>
              <a:t>Null value</a:t>
            </a:r>
          </a:p>
          <a:p>
            <a:pPr lvl="1"/>
            <a:endParaRPr lang="en-US" dirty="0" smtClean="0"/>
          </a:p>
          <a:p>
            <a:r>
              <a:rPr lang="en-US" dirty="0" smtClean="0"/>
              <a:t>Domains </a:t>
            </a:r>
            <a:r>
              <a:rPr lang="en-US" dirty="0"/>
              <a:t>of all attributes </a:t>
            </a:r>
            <a:r>
              <a:rPr lang="en-US" dirty="0" smtClean="0"/>
              <a:t>should be indivisible</a:t>
            </a:r>
          </a:p>
          <a:p>
            <a:pPr lvl="1"/>
            <a:r>
              <a:rPr lang="en-US" dirty="0" smtClean="0"/>
              <a:t>Integers and strings, </a:t>
            </a:r>
          </a:p>
          <a:p>
            <a:pPr lvl="1"/>
            <a:r>
              <a:rPr lang="en-US" dirty="0" smtClean="0"/>
              <a:t>Record structures: set, list, array  … ?</a:t>
            </a:r>
            <a:endParaRPr lang="en-US" dirty="0"/>
          </a:p>
          <a:p>
            <a:endParaRPr lang="en-US" dirty="0"/>
          </a:p>
        </p:txBody>
      </p:sp>
    </p:spTree>
    <p:extLst>
      <p:ext uri="{BB962C8B-B14F-4D97-AF65-F5344CB8AC3E}">
        <p14:creationId xmlns:p14="http://schemas.microsoft.com/office/powerpoint/2010/main" val="409080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RELATIONS</a:t>
            </a:r>
            <a:endParaRPr lang="en-US" dirty="0"/>
          </a:p>
        </p:txBody>
      </p:sp>
      <p:sp>
        <p:nvSpPr>
          <p:cNvPr id="3" name="Content Placeholder 2"/>
          <p:cNvSpPr>
            <a:spLocks noGrp="1"/>
          </p:cNvSpPr>
          <p:nvPr>
            <p:ph sz="quarter" idx="1"/>
          </p:nvPr>
        </p:nvSpPr>
        <p:spPr/>
        <p:txBody>
          <a:bodyPr>
            <a:normAutofit/>
          </a:bodyPr>
          <a:lstStyle/>
          <a:p>
            <a:r>
              <a:rPr lang="en-GB" dirty="0" smtClean="0"/>
              <a:t>Relations represent </a:t>
            </a:r>
            <a:r>
              <a:rPr lang="en-GB" dirty="0"/>
              <a:t>facts about </a:t>
            </a:r>
            <a:r>
              <a:rPr lang="en-GB" i="1" dirty="0" smtClean="0"/>
              <a:t>entities and </a:t>
            </a:r>
            <a:r>
              <a:rPr lang="en-GB" dirty="0" smtClean="0"/>
              <a:t> </a:t>
            </a:r>
            <a:r>
              <a:rPr lang="en-GB" i="1" dirty="0"/>
              <a:t>relationships. </a:t>
            </a:r>
            <a:endParaRPr lang="en-GB" i="1" dirty="0" smtClean="0"/>
          </a:p>
          <a:p>
            <a:endParaRPr lang="en-GB" i="1" dirty="0"/>
          </a:p>
          <a:p>
            <a:r>
              <a:rPr lang="en-GB" dirty="0" smtClean="0"/>
              <a:t>For </a:t>
            </a:r>
            <a:r>
              <a:rPr lang="en-GB" dirty="0"/>
              <a:t>example, </a:t>
            </a:r>
            <a:r>
              <a:rPr lang="en-GB" dirty="0" smtClean="0"/>
              <a:t>consider a </a:t>
            </a:r>
            <a:r>
              <a:rPr lang="en-GB" dirty="0"/>
              <a:t>relation schema </a:t>
            </a:r>
            <a:endParaRPr lang="en-GB" dirty="0" smtClean="0"/>
          </a:p>
          <a:p>
            <a:pPr marL="0" indent="0">
              <a:buNone/>
            </a:pPr>
            <a:r>
              <a:rPr lang="en-GB" dirty="0" smtClean="0"/>
              <a:t>	MAJORS(</a:t>
            </a:r>
            <a:r>
              <a:rPr lang="en-GB" dirty="0" err="1" smtClean="0"/>
              <a:t>Student_ssn</a:t>
            </a:r>
            <a:r>
              <a:rPr lang="en-GB" dirty="0"/>
              <a:t>, </a:t>
            </a:r>
            <a:r>
              <a:rPr lang="en-GB" dirty="0" err="1"/>
              <a:t>Department_code</a:t>
            </a:r>
            <a:r>
              <a:rPr lang="en-GB" dirty="0"/>
              <a:t>) </a:t>
            </a:r>
            <a:endParaRPr lang="en-GB" dirty="0" smtClean="0"/>
          </a:p>
          <a:p>
            <a:endParaRPr lang="en-GB" dirty="0" smtClean="0"/>
          </a:p>
          <a:p>
            <a:pPr lvl="1"/>
            <a:r>
              <a:rPr lang="en-GB" dirty="0" smtClean="0"/>
              <a:t>It asserts </a:t>
            </a:r>
            <a:r>
              <a:rPr lang="en-GB" dirty="0"/>
              <a:t>that students major in academic disciplines</a:t>
            </a:r>
            <a:r>
              <a:rPr lang="en-GB" dirty="0" smtClean="0"/>
              <a:t>.</a:t>
            </a:r>
            <a:endParaRPr lang="en-GB" dirty="0"/>
          </a:p>
          <a:p>
            <a:pPr lvl="1"/>
            <a:r>
              <a:rPr lang="en-GB" dirty="0" smtClean="0"/>
              <a:t>A tuple </a:t>
            </a:r>
            <a:r>
              <a:rPr lang="en-GB" dirty="0"/>
              <a:t>in this relation relates a student to his or her major discipline. </a:t>
            </a:r>
            <a:endParaRPr lang="en-US" dirty="0"/>
          </a:p>
        </p:txBody>
      </p:sp>
    </p:spTree>
    <p:extLst>
      <p:ext uri="{BB962C8B-B14F-4D97-AF65-F5344CB8AC3E}">
        <p14:creationId xmlns:p14="http://schemas.microsoft.com/office/powerpoint/2010/main" val="3338147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467600" cy="1143000"/>
          </a:xfrm>
        </p:spPr>
        <p:txBody>
          <a:bodyPr/>
          <a:lstStyle/>
          <a:p>
            <a:r>
              <a:rPr lang="en-US" b="1" dirty="0" smtClean="0"/>
              <a:t>Why we need Multiple Tables</a:t>
            </a:r>
            <a:endParaRPr lang="en-US" b="1" dirty="0"/>
          </a:p>
        </p:txBody>
      </p:sp>
      <p:sp>
        <p:nvSpPr>
          <p:cNvPr id="3" name="Content Placeholder 2"/>
          <p:cNvSpPr>
            <a:spLocks noGrp="1"/>
          </p:cNvSpPr>
          <p:nvPr>
            <p:ph sz="quarter" idx="1"/>
          </p:nvPr>
        </p:nvSpPr>
        <p:spPr/>
        <p:txBody>
          <a:bodyPr>
            <a:normAutofit lnSpcReduction="10000"/>
          </a:bodyPr>
          <a:lstStyle/>
          <a:p>
            <a:r>
              <a:rPr lang="en-US" dirty="0"/>
              <a:t>Why not put all attributes in one relation </a:t>
            </a:r>
            <a:r>
              <a:rPr lang="en-US" dirty="0" smtClean="0"/>
              <a:t>?</a:t>
            </a:r>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r>
              <a:rPr lang="en-US" dirty="0" smtClean="0"/>
              <a:t>Duplication</a:t>
            </a:r>
          </a:p>
          <a:p>
            <a:r>
              <a:rPr lang="en-US" dirty="0" smtClean="0"/>
              <a:t>Primary key </a:t>
            </a:r>
          </a:p>
          <a:p>
            <a:r>
              <a:rPr lang="en-US" dirty="0" smtClean="0"/>
              <a:t>Cannot insert value for employee with no assigned department … Null value in PK</a:t>
            </a:r>
            <a:endParaRPr lang="en-US" dirty="0"/>
          </a:p>
        </p:txBody>
      </p:sp>
      <p:pic>
        <p:nvPicPr>
          <p:cNvPr id="5" name="Picture 4" descr="ch07_elmasri05"/>
          <p:cNvPicPr/>
          <p:nvPr/>
        </p:nvPicPr>
        <p:blipFill rotWithShape="1">
          <a:blip r:embed="rId2" cstate="print"/>
          <a:srcRect t="13043" b="47814"/>
          <a:stretch/>
        </p:blipFill>
        <p:spPr bwMode="auto">
          <a:xfrm>
            <a:off x="1524000" y="2133600"/>
            <a:ext cx="5867400" cy="2514600"/>
          </a:xfrm>
          <a:prstGeom prst="rect">
            <a:avLst/>
          </a:prstGeom>
          <a:noFill/>
          <a:ln w="9525">
            <a:noFill/>
            <a:miter lim="800000"/>
            <a:headEnd/>
            <a:tailEnd/>
          </a:ln>
        </p:spPr>
      </p:pic>
    </p:spTree>
    <p:extLst>
      <p:ext uri="{BB962C8B-B14F-4D97-AF65-F5344CB8AC3E}">
        <p14:creationId xmlns:p14="http://schemas.microsoft.com/office/powerpoint/2010/main" val="95256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Relational Database Constraints </a:t>
            </a:r>
          </a:p>
        </p:txBody>
      </p:sp>
      <p:sp>
        <p:nvSpPr>
          <p:cNvPr id="3" name="Content Placeholder 2"/>
          <p:cNvSpPr>
            <a:spLocks noGrp="1"/>
          </p:cNvSpPr>
          <p:nvPr>
            <p:ph sz="quarter" idx="1"/>
          </p:nvPr>
        </p:nvSpPr>
        <p:spPr/>
        <p:txBody>
          <a:bodyPr/>
          <a:lstStyle/>
          <a:p>
            <a:pPr lvl="0"/>
            <a:r>
              <a:rPr lang="en-US" dirty="0" smtClean="0"/>
              <a:t>Generally, there are many constraints </a:t>
            </a:r>
            <a:r>
              <a:rPr lang="en-US" dirty="0"/>
              <a:t>on the </a:t>
            </a:r>
            <a:r>
              <a:rPr lang="en-US" dirty="0" smtClean="0"/>
              <a:t>values </a:t>
            </a:r>
            <a:r>
              <a:rPr lang="en-US" dirty="0"/>
              <a:t>in a database state</a:t>
            </a:r>
            <a:r>
              <a:rPr lang="en-US" dirty="0" smtClean="0"/>
              <a:t>.</a:t>
            </a:r>
          </a:p>
          <a:p>
            <a:pPr lvl="0"/>
            <a:endParaRPr lang="en-US" dirty="0"/>
          </a:p>
          <a:p>
            <a:pPr lvl="0"/>
            <a:r>
              <a:rPr lang="en-US" dirty="0" smtClean="0"/>
              <a:t>Constraints </a:t>
            </a:r>
            <a:r>
              <a:rPr lang="en-US" dirty="0"/>
              <a:t>are derived from the rules in the </a:t>
            </a:r>
            <a:r>
              <a:rPr lang="en-US" dirty="0" smtClean="0"/>
              <a:t>mini-world</a:t>
            </a:r>
            <a:endParaRPr lang="en-US" dirty="0"/>
          </a:p>
        </p:txBody>
      </p:sp>
    </p:spTree>
    <p:extLst>
      <p:ext uri="{BB962C8B-B14F-4D97-AF65-F5344CB8AC3E}">
        <p14:creationId xmlns:p14="http://schemas.microsoft.com/office/powerpoint/2010/main" val="2380107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marL="0" indent="0">
              <a:buNone/>
            </a:pPr>
            <a:r>
              <a:rPr lang="en-US" dirty="0" smtClean="0"/>
              <a:t>Up-till </a:t>
            </a:r>
            <a:r>
              <a:rPr lang="en-US" dirty="0"/>
              <a:t>now we have seen </a:t>
            </a:r>
            <a:r>
              <a:rPr lang="en-US" dirty="0" smtClean="0"/>
              <a:t>constraints</a:t>
            </a:r>
          </a:p>
          <a:p>
            <a:pPr marL="0" indent="0">
              <a:buNone/>
            </a:pPr>
            <a:endParaRPr lang="en-US" b="1" dirty="0" smtClean="0"/>
          </a:p>
          <a:p>
            <a:pPr lvl="0"/>
            <a:r>
              <a:rPr lang="en-US" b="1" dirty="0" smtClean="0"/>
              <a:t>No </a:t>
            </a:r>
            <a:r>
              <a:rPr lang="en-US" b="1" dirty="0"/>
              <a:t>duplicate tuples</a:t>
            </a:r>
            <a:r>
              <a:rPr lang="en-US" dirty="0"/>
              <a:t> (rows)</a:t>
            </a:r>
          </a:p>
          <a:p>
            <a:pPr lvl="0"/>
            <a:r>
              <a:rPr lang="en-US" b="1" dirty="0"/>
              <a:t>Unique id</a:t>
            </a:r>
            <a:r>
              <a:rPr lang="en-US" dirty="0"/>
              <a:t> (primary key ) </a:t>
            </a:r>
            <a:endParaRPr lang="en-US" dirty="0" smtClean="0"/>
          </a:p>
          <a:p>
            <a:pPr lvl="0"/>
            <a:r>
              <a:rPr lang="en-US" b="1" dirty="0" smtClean="0"/>
              <a:t>Atomic </a:t>
            </a:r>
            <a:r>
              <a:rPr lang="en-US" b="1" dirty="0"/>
              <a:t>value</a:t>
            </a:r>
            <a:r>
              <a:rPr lang="en-US" dirty="0"/>
              <a:t> for domain of an </a:t>
            </a:r>
            <a:r>
              <a:rPr lang="en-US" dirty="0" smtClean="0"/>
              <a:t>attribute </a:t>
            </a:r>
          </a:p>
          <a:p>
            <a:endParaRPr lang="en-US" dirty="0"/>
          </a:p>
        </p:txBody>
      </p:sp>
    </p:spTree>
    <p:extLst>
      <p:ext uri="{BB962C8B-B14F-4D97-AF65-F5344CB8AC3E}">
        <p14:creationId xmlns:p14="http://schemas.microsoft.com/office/powerpoint/2010/main" val="4037560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t>
            </a:r>
            <a:r>
              <a:rPr lang="en-US" b="1" dirty="0" smtClean="0"/>
              <a:t>ategories </a:t>
            </a:r>
            <a:r>
              <a:rPr lang="en-US" b="1" dirty="0"/>
              <a:t>of </a:t>
            </a:r>
            <a:r>
              <a:rPr lang="en-US" b="1" dirty="0" smtClean="0"/>
              <a:t>Constraints</a:t>
            </a:r>
            <a:endParaRPr lang="en-US" dirty="0"/>
          </a:p>
        </p:txBody>
      </p:sp>
      <p:sp>
        <p:nvSpPr>
          <p:cNvPr id="3" name="Content Placeholder 2"/>
          <p:cNvSpPr>
            <a:spLocks noGrp="1"/>
          </p:cNvSpPr>
          <p:nvPr>
            <p:ph sz="quarter" idx="1"/>
          </p:nvPr>
        </p:nvSpPr>
        <p:spPr>
          <a:xfrm>
            <a:off x="457200" y="1600200"/>
            <a:ext cx="7620000" cy="4873752"/>
          </a:xfrm>
        </p:spPr>
        <p:txBody>
          <a:bodyPr/>
          <a:lstStyle/>
          <a:p>
            <a:pPr lvl="0"/>
            <a:r>
              <a:rPr lang="en-US" sz="2200" b="1" dirty="0" smtClean="0"/>
              <a:t>Model-based </a:t>
            </a:r>
            <a:r>
              <a:rPr lang="en-US" sz="2200" b="1" dirty="0"/>
              <a:t>constraints or implicit constraints</a:t>
            </a:r>
            <a:r>
              <a:rPr lang="en-US" sz="2200" dirty="0" smtClean="0"/>
              <a:t>.</a:t>
            </a:r>
          </a:p>
          <a:p>
            <a:pPr lvl="1"/>
            <a:r>
              <a:rPr lang="en-US" dirty="0" smtClean="0"/>
              <a:t>These are inherent </a:t>
            </a:r>
            <a:r>
              <a:rPr lang="en-US" dirty="0"/>
              <a:t>in data </a:t>
            </a:r>
            <a:r>
              <a:rPr lang="en-US" dirty="0" smtClean="0"/>
              <a:t>model, like no </a:t>
            </a:r>
            <a:r>
              <a:rPr lang="en-US" dirty="0"/>
              <a:t>duplicate rows in RDBMs table. </a:t>
            </a:r>
          </a:p>
          <a:p>
            <a:pPr lvl="0"/>
            <a:r>
              <a:rPr lang="en-US" sz="2200" b="1" dirty="0"/>
              <a:t>Schema-based or explicit constraints</a:t>
            </a:r>
            <a:r>
              <a:rPr lang="en-US" sz="2200" dirty="0"/>
              <a:t>. </a:t>
            </a:r>
            <a:endParaRPr lang="en-US" sz="2200" dirty="0" smtClean="0"/>
          </a:p>
          <a:p>
            <a:pPr lvl="1"/>
            <a:r>
              <a:rPr lang="en-US" dirty="0" smtClean="0"/>
              <a:t>Can </a:t>
            </a:r>
            <a:r>
              <a:rPr lang="en-US" dirty="0"/>
              <a:t>be </a:t>
            </a:r>
            <a:r>
              <a:rPr lang="en-US" dirty="0" smtClean="0"/>
              <a:t>expressed directly in </a:t>
            </a:r>
            <a:r>
              <a:rPr lang="en-US" dirty="0"/>
              <a:t>the schema </a:t>
            </a:r>
            <a:r>
              <a:rPr lang="en-US" dirty="0" smtClean="0"/>
              <a:t>using </a:t>
            </a:r>
            <a:r>
              <a:rPr lang="en-US" dirty="0"/>
              <a:t>DDL</a:t>
            </a:r>
          </a:p>
          <a:p>
            <a:pPr lvl="0"/>
            <a:r>
              <a:rPr lang="en-US" sz="2200" b="1" dirty="0"/>
              <a:t>Application based or semantic constraints or business rules</a:t>
            </a:r>
            <a:r>
              <a:rPr lang="en-US" sz="2200" dirty="0"/>
              <a:t>. </a:t>
            </a:r>
            <a:endParaRPr lang="en-US" sz="2200" dirty="0" smtClean="0"/>
          </a:p>
          <a:p>
            <a:pPr lvl="1"/>
            <a:r>
              <a:rPr lang="en-US" dirty="0" smtClean="0"/>
              <a:t>Can’t </a:t>
            </a:r>
            <a:r>
              <a:rPr lang="en-US" dirty="0"/>
              <a:t>be expressed directly in the schema </a:t>
            </a:r>
            <a:endParaRPr lang="en-US" dirty="0" smtClean="0"/>
          </a:p>
          <a:p>
            <a:pPr lvl="1"/>
            <a:r>
              <a:rPr lang="en-US" dirty="0" smtClean="0"/>
              <a:t>Must </a:t>
            </a:r>
            <a:r>
              <a:rPr lang="en-US" dirty="0"/>
              <a:t>be enforced by the application programs</a:t>
            </a:r>
          </a:p>
          <a:p>
            <a:endParaRPr lang="en-US" dirty="0"/>
          </a:p>
        </p:txBody>
      </p:sp>
    </p:spTree>
    <p:extLst>
      <p:ext uri="{BB962C8B-B14F-4D97-AF65-F5344CB8AC3E}">
        <p14:creationId xmlns:p14="http://schemas.microsoft.com/office/powerpoint/2010/main" val="1151108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Schema-Based </a:t>
            </a:r>
            <a:r>
              <a:rPr lang="en-US" b="1" dirty="0" smtClean="0"/>
              <a:t>constraints</a:t>
            </a:r>
            <a:endParaRPr lang="en-US" dirty="0"/>
          </a:p>
        </p:txBody>
      </p:sp>
      <p:sp>
        <p:nvSpPr>
          <p:cNvPr id="3" name="Content Placeholder 2"/>
          <p:cNvSpPr>
            <a:spLocks noGrp="1"/>
          </p:cNvSpPr>
          <p:nvPr>
            <p:ph sz="quarter" idx="1"/>
          </p:nvPr>
        </p:nvSpPr>
        <p:spPr/>
        <p:txBody>
          <a:bodyPr/>
          <a:lstStyle/>
          <a:p>
            <a:pPr lvl="0"/>
            <a:r>
              <a:rPr lang="en-US" b="1" dirty="0" smtClean="0"/>
              <a:t>Domain</a:t>
            </a:r>
            <a:r>
              <a:rPr lang="en-US" dirty="0" smtClean="0"/>
              <a:t> </a:t>
            </a:r>
            <a:r>
              <a:rPr lang="en-US" dirty="0"/>
              <a:t>constraints</a:t>
            </a:r>
            <a:endParaRPr lang="en-US" b="1" dirty="0" smtClean="0"/>
          </a:p>
          <a:p>
            <a:pPr lvl="0"/>
            <a:r>
              <a:rPr lang="en-US" b="1" dirty="0" smtClean="0"/>
              <a:t>Key</a:t>
            </a:r>
            <a:r>
              <a:rPr lang="en-US" dirty="0" smtClean="0"/>
              <a:t> </a:t>
            </a:r>
            <a:r>
              <a:rPr lang="en-US" dirty="0"/>
              <a:t>constraints</a:t>
            </a:r>
          </a:p>
          <a:p>
            <a:pPr lvl="0"/>
            <a:r>
              <a:rPr lang="en-US" b="1" dirty="0"/>
              <a:t>Entity</a:t>
            </a:r>
            <a:r>
              <a:rPr lang="en-US" dirty="0"/>
              <a:t> </a:t>
            </a:r>
            <a:r>
              <a:rPr lang="en-US" b="1" dirty="0"/>
              <a:t>integrity</a:t>
            </a:r>
            <a:r>
              <a:rPr lang="en-US" dirty="0"/>
              <a:t> constraints</a:t>
            </a:r>
          </a:p>
          <a:p>
            <a:pPr lvl="0"/>
            <a:r>
              <a:rPr lang="en-US" b="1" dirty="0"/>
              <a:t>Referential integrity</a:t>
            </a:r>
            <a:r>
              <a:rPr lang="en-US" dirty="0"/>
              <a:t> constraints</a:t>
            </a:r>
          </a:p>
          <a:p>
            <a:endParaRPr lang="en-US" dirty="0"/>
          </a:p>
        </p:txBody>
      </p:sp>
    </p:spTree>
    <p:extLst>
      <p:ext uri="{BB962C8B-B14F-4D97-AF65-F5344CB8AC3E}">
        <p14:creationId xmlns:p14="http://schemas.microsoft.com/office/powerpoint/2010/main" val="3254526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a:t>
            </a:r>
            <a:r>
              <a:rPr lang="en-US" b="1" dirty="0" smtClean="0"/>
              <a:t>Constraint</a:t>
            </a:r>
            <a:endParaRPr lang="en-US" dirty="0"/>
          </a:p>
        </p:txBody>
      </p:sp>
      <p:sp>
        <p:nvSpPr>
          <p:cNvPr id="3" name="Content Placeholder 2"/>
          <p:cNvSpPr>
            <a:spLocks noGrp="1"/>
          </p:cNvSpPr>
          <p:nvPr>
            <p:ph sz="quarter" idx="1"/>
          </p:nvPr>
        </p:nvSpPr>
        <p:spPr/>
        <p:txBody>
          <a:bodyPr>
            <a:normAutofit/>
          </a:bodyPr>
          <a:lstStyle/>
          <a:p>
            <a:r>
              <a:rPr lang="en-US" dirty="0" smtClean="0"/>
              <a:t>Relation </a:t>
            </a:r>
            <a:r>
              <a:rPr lang="en-US" dirty="0"/>
              <a:t>is </a:t>
            </a:r>
            <a:r>
              <a:rPr lang="en-US" dirty="0" smtClean="0"/>
              <a:t>a </a:t>
            </a:r>
            <a:r>
              <a:rPr lang="en-US" b="1" dirty="0" smtClean="0"/>
              <a:t>set </a:t>
            </a:r>
            <a:r>
              <a:rPr lang="en-US" dirty="0"/>
              <a:t>of tuples. </a:t>
            </a:r>
            <a:r>
              <a:rPr lang="en-US" dirty="0" smtClean="0"/>
              <a:t>Thus, </a:t>
            </a:r>
            <a:r>
              <a:rPr lang="en-US" dirty="0"/>
              <a:t>all tuples must be </a:t>
            </a:r>
            <a:r>
              <a:rPr lang="en-US" dirty="0" smtClean="0"/>
              <a:t>distinct</a:t>
            </a:r>
            <a:r>
              <a:rPr lang="en-US" dirty="0"/>
              <a:t> </a:t>
            </a:r>
            <a:r>
              <a:rPr lang="en-US" dirty="0" smtClean="0"/>
              <a:t>as all </a:t>
            </a:r>
            <a:r>
              <a:rPr lang="en-US" dirty="0"/>
              <a:t>elements in the set are </a:t>
            </a:r>
            <a:r>
              <a:rPr lang="en-US" dirty="0" smtClean="0"/>
              <a:t>distinct</a:t>
            </a:r>
          </a:p>
          <a:p>
            <a:pPr lvl="1"/>
            <a:endParaRPr lang="en-US" dirty="0"/>
          </a:p>
          <a:p>
            <a:r>
              <a:rPr lang="en-US" b="1" dirty="0"/>
              <a:t>Example 1</a:t>
            </a:r>
            <a:r>
              <a:rPr lang="en-US" b="1" dirty="0" smtClean="0"/>
              <a:t>:  S</a:t>
            </a:r>
            <a:r>
              <a:rPr lang="en-US" dirty="0" smtClean="0"/>
              <a:t>tudent </a:t>
            </a:r>
            <a:r>
              <a:rPr lang="en-US" dirty="0"/>
              <a:t>Relation </a:t>
            </a:r>
            <a:endParaRPr lang="en-US" dirty="0" smtClean="0"/>
          </a:p>
          <a:p>
            <a:pPr marL="0" indent="0">
              <a:buNone/>
            </a:pPr>
            <a:r>
              <a:rPr lang="en-US" sz="2000" b="1" i="1" dirty="0" smtClean="0"/>
              <a:t>Student(Name</a:t>
            </a:r>
            <a:r>
              <a:rPr lang="en-US" sz="2000" b="1" i="1" dirty="0"/>
              <a:t>, </a:t>
            </a:r>
            <a:r>
              <a:rPr lang="en-US" sz="2000" b="1" i="1" dirty="0" smtClean="0"/>
              <a:t>SSN, Address</a:t>
            </a:r>
            <a:r>
              <a:rPr lang="en-US" sz="2000" b="1" i="1" dirty="0"/>
              <a:t>, </a:t>
            </a:r>
            <a:r>
              <a:rPr lang="en-US" sz="2000" b="1" i="1" dirty="0" smtClean="0"/>
              <a:t>Phone</a:t>
            </a:r>
            <a:r>
              <a:rPr lang="en-US" sz="2000" b="1" i="1" dirty="0"/>
              <a:t>,  Major, </a:t>
            </a:r>
            <a:r>
              <a:rPr lang="en-US" sz="2000" b="1" i="1" dirty="0" smtClean="0"/>
              <a:t>Age, </a:t>
            </a:r>
            <a:r>
              <a:rPr lang="en-US" sz="2000" b="1" i="1" dirty="0" err="1"/>
              <a:t>G</a:t>
            </a:r>
            <a:r>
              <a:rPr lang="en-US" sz="2000" b="1" i="1" dirty="0" err="1" smtClean="0"/>
              <a:t>pa</a:t>
            </a:r>
            <a:r>
              <a:rPr lang="en-US" sz="2000" b="1" i="1" dirty="0" smtClean="0"/>
              <a:t> </a:t>
            </a:r>
            <a:r>
              <a:rPr lang="en-US" sz="2000" b="1" i="1" dirty="0"/>
              <a:t>) </a:t>
            </a:r>
            <a:endParaRPr lang="en-US" sz="2000" dirty="0"/>
          </a:p>
          <a:p>
            <a:pPr lvl="1"/>
            <a:r>
              <a:rPr lang="en-US" b="1" dirty="0" smtClean="0"/>
              <a:t>KEY  is </a:t>
            </a:r>
            <a:r>
              <a:rPr lang="en-US" dirty="0" smtClean="0"/>
              <a:t>SSN, as it uniquely </a:t>
            </a:r>
            <a:r>
              <a:rPr lang="en-US" dirty="0"/>
              <a:t>identify the student. </a:t>
            </a:r>
            <a:endParaRPr lang="en-US" dirty="0" smtClean="0"/>
          </a:p>
          <a:p>
            <a:endParaRPr lang="en-US" b="1" dirty="0"/>
          </a:p>
          <a:p>
            <a:r>
              <a:rPr lang="en-US" b="1" dirty="0"/>
              <a:t>Example </a:t>
            </a:r>
            <a:r>
              <a:rPr lang="en-US" b="1" dirty="0" smtClean="0"/>
              <a:t>2: Department</a:t>
            </a:r>
            <a:r>
              <a:rPr lang="en-US" dirty="0" smtClean="0"/>
              <a:t> </a:t>
            </a:r>
            <a:r>
              <a:rPr lang="en-US" dirty="0"/>
              <a:t>Relation </a:t>
            </a:r>
            <a:endParaRPr lang="en-US" dirty="0" smtClean="0"/>
          </a:p>
          <a:p>
            <a:pPr marL="0" indent="0">
              <a:buNone/>
            </a:pPr>
            <a:r>
              <a:rPr lang="en-US" sz="2000" b="1" i="1" dirty="0" smtClean="0"/>
              <a:t>Department(</a:t>
            </a:r>
            <a:r>
              <a:rPr lang="en-US" sz="2000" b="1" i="1" dirty="0" err="1" smtClean="0"/>
              <a:t>Dname</a:t>
            </a:r>
            <a:r>
              <a:rPr lang="en-US" sz="2000" b="1" i="1" dirty="0" smtClean="0"/>
              <a:t>, </a:t>
            </a:r>
            <a:r>
              <a:rPr lang="en-US" sz="2000" b="1" i="1" dirty="0" err="1" smtClean="0"/>
              <a:t>Dnumber</a:t>
            </a:r>
            <a:r>
              <a:rPr lang="en-US" sz="2000" b="1" i="1" dirty="0" smtClean="0"/>
              <a:t>, </a:t>
            </a:r>
            <a:r>
              <a:rPr lang="en-US" sz="2000" b="1" i="1" dirty="0" err="1" smtClean="0"/>
              <a:t>MgrSSN</a:t>
            </a:r>
            <a:r>
              <a:rPr lang="en-US" sz="2000" b="1" i="1" dirty="0" smtClean="0"/>
              <a:t>, </a:t>
            </a:r>
            <a:r>
              <a:rPr lang="en-US" sz="2000" b="1" i="1" dirty="0" err="1" smtClean="0"/>
              <a:t>Mgrstrdate</a:t>
            </a:r>
            <a:r>
              <a:rPr lang="en-US" sz="2000" b="1" i="1" dirty="0" smtClean="0"/>
              <a:t>)</a:t>
            </a:r>
          </a:p>
          <a:p>
            <a:pPr lvl="1"/>
            <a:r>
              <a:rPr lang="en-US" sz="1800" b="1" dirty="0" smtClean="0"/>
              <a:t>KEY  </a:t>
            </a:r>
            <a:r>
              <a:rPr lang="en-US" sz="1800" b="1" dirty="0"/>
              <a:t>is </a:t>
            </a:r>
            <a:r>
              <a:rPr lang="en-US" sz="1800" b="1" dirty="0" err="1" smtClean="0"/>
              <a:t>Dnumber</a:t>
            </a:r>
            <a:endParaRPr lang="en-US" sz="1800" b="1" dirty="0" smtClean="0"/>
          </a:p>
          <a:p>
            <a:pPr lvl="1"/>
            <a:r>
              <a:rPr lang="en-US" sz="1800" b="1" dirty="0" smtClean="0"/>
              <a:t>Candidate Key </a:t>
            </a:r>
            <a:r>
              <a:rPr lang="en-US" sz="1800" b="1" dirty="0" err="1" smtClean="0"/>
              <a:t>Dname</a:t>
            </a:r>
            <a:endParaRPr lang="en-US" sz="1800" b="1" dirty="0" smtClean="0"/>
          </a:p>
          <a:p>
            <a:pPr marL="365760" lvl="1" indent="0">
              <a:buNone/>
            </a:pPr>
            <a:endParaRPr lang="en-US" dirty="0"/>
          </a:p>
        </p:txBody>
      </p:sp>
    </p:spTree>
    <p:extLst>
      <p:ext uri="{BB962C8B-B14F-4D97-AF65-F5344CB8AC3E}">
        <p14:creationId xmlns:p14="http://schemas.microsoft.com/office/powerpoint/2010/main" val="207253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a university database</a:t>
            </a:r>
            <a:endParaRPr lang="en-US" dirty="0"/>
          </a:p>
        </p:txBody>
      </p:sp>
      <p:pic>
        <p:nvPicPr>
          <p:cNvPr id="4" name="Picture 4" descr="fig01_02"/>
          <p:cNvPicPr>
            <a:picLocks noGrp="1" noChangeAspect="1" noChangeArrowheads="1"/>
          </p:cNvPicPr>
          <p:nvPr>
            <p:ph sz="quarter" idx="1"/>
          </p:nvPr>
        </p:nvPicPr>
        <p:blipFill>
          <a:blip r:embed="rId2" cstate="print"/>
          <a:srcRect/>
          <a:stretch>
            <a:fillRect/>
          </a:stretch>
        </p:blipFill>
        <p:spPr bwMode="auto">
          <a:xfrm>
            <a:off x="2073959" y="1600200"/>
            <a:ext cx="4234082" cy="4873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Constraint</a:t>
            </a:r>
            <a:endParaRPr lang="en-US" dirty="0"/>
          </a:p>
        </p:txBody>
      </p:sp>
      <p:sp>
        <p:nvSpPr>
          <p:cNvPr id="3" name="Content Placeholder 2"/>
          <p:cNvSpPr>
            <a:spLocks noGrp="1"/>
          </p:cNvSpPr>
          <p:nvPr>
            <p:ph sz="quarter" idx="1"/>
          </p:nvPr>
        </p:nvSpPr>
        <p:spPr>
          <a:xfrm>
            <a:off x="457200" y="1600200"/>
            <a:ext cx="7772400" cy="4873752"/>
          </a:xfrm>
        </p:spPr>
        <p:txBody>
          <a:bodyPr>
            <a:normAutofit lnSpcReduction="10000"/>
          </a:bodyPr>
          <a:lstStyle/>
          <a:p>
            <a:pPr lvl="0"/>
            <a:r>
              <a:rPr lang="en-US" b="1" dirty="0" err="1" smtClean="0"/>
              <a:t>Superkey</a:t>
            </a:r>
            <a:r>
              <a:rPr lang="en-US" dirty="0" smtClean="0"/>
              <a:t>: </a:t>
            </a:r>
            <a:endParaRPr lang="en-US" dirty="0"/>
          </a:p>
          <a:p>
            <a:pPr lvl="1"/>
            <a:r>
              <a:rPr lang="en-US" dirty="0" smtClean="0"/>
              <a:t>For </a:t>
            </a:r>
            <a:r>
              <a:rPr lang="en-US" dirty="0"/>
              <a:t>any distinct tuples t1 </a:t>
            </a:r>
            <a:r>
              <a:rPr lang="en-US" dirty="0" smtClean="0"/>
              <a:t>&amp; t2 </a:t>
            </a:r>
            <a:r>
              <a:rPr lang="en-US" dirty="0"/>
              <a:t>in r(R), </a:t>
            </a:r>
            <a:endParaRPr lang="en-US" dirty="0" smtClean="0"/>
          </a:p>
          <a:p>
            <a:pPr marL="365760" lvl="1" indent="0">
              <a:buNone/>
            </a:pPr>
            <a:r>
              <a:rPr lang="en-US" dirty="0" smtClean="0"/>
              <a:t>			t1[SK</a:t>
            </a:r>
            <a:r>
              <a:rPr lang="en-US" dirty="0"/>
              <a:t>] </a:t>
            </a:r>
            <a:r>
              <a:rPr lang="en-US" dirty="0">
                <a:sym typeface="Symbol"/>
              </a:rPr>
              <a:t></a:t>
            </a:r>
            <a:r>
              <a:rPr lang="en-US" dirty="0"/>
              <a:t> t2[SK].</a:t>
            </a:r>
          </a:p>
          <a:p>
            <a:pPr lvl="0"/>
            <a:r>
              <a:rPr lang="en-US" b="1" dirty="0" smtClean="0"/>
              <a:t>Key</a:t>
            </a:r>
            <a:r>
              <a:rPr lang="en-US" dirty="0" smtClean="0"/>
              <a:t>:</a:t>
            </a:r>
            <a:endParaRPr lang="en-US" dirty="0"/>
          </a:p>
          <a:p>
            <a:pPr lvl="1"/>
            <a:r>
              <a:rPr lang="en-US" dirty="0"/>
              <a:t>A "minimal" </a:t>
            </a:r>
            <a:r>
              <a:rPr lang="en-US" dirty="0" err="1" smtClean="0"/>
              <a:t>superkey</a:t>
            </a:r>
            <a:r>
              <a:rPr lang="en-US" dirty="0" smtClean="0"/>
              <a:t>; </a:t>
            </a:r>
          </a:p>
          <a:p>
            <a:pPr lvl="1"/>
            <a:r>
              <a:rPr lang="en-US" dirty="0" smtClean="0"/>
              <a:t>Key is a </a:t>
            </a:r>
            <a:r>
              <a:rPr lang="en-US" dirty="0" err="1" smtClean="0"/>
              <a:t>superkey</a:t>
            </a:r>
            <a:r>
              <a:rPr lang="en-US" dirty="0" smtClean="0"/>
              <a:t> from which we cannot remove any attribute and still have the uniqueness constraint hold.</a:t>
            </a:r>
          </a:p>
          <a:p>
            <a:endParaRPr lang="en-US" dirty="0"/>
          </a:p>
          <a:p>
            <a:r>
              <a:rPr lang="en-US" b="1" dirty="0" smtClean="0"/>
              <a:t>Example: </a:t>
            </a:r>
          </a:p>
          <a:p>
            <a:r>
              <a:rPr lang="en-US" sz="2000" b="1" i="1" dirty="0" smtClean="0"/>
              <a:t>Student(Name</a:t>
            </a:r>
            <a:r>
              <a:rPr lang="en-US" sz="2000" b="1" i="1" dirty="0"/>
              <a:t>, SSN, Address, Phone,  Major, Age, </a:t>
            </a:r>
            <a:r>
              <a:rPr lang="en-US" sz="2000" b="1" i="1" dirty="0" err="1"/>
              <a:t>Gpa</a:t>
            </a:r>
            <a:r>
              <a:rPr lang="en-US" sz="2000" b="1" i="1" dirty="0"/>
              <a:t> ) </a:t>
            </a:r>
            <a:endParaRPr lang="en-US" sz="2000" dirty="0"/>
          </a:p>
          <a:p>
            <a:pPr lvl="1"/>
            <a:r>
              <a:rPr lang="en-US" dirty="0" smtClean="0"/>
              <a:t>Consider </a:t>
            </a:r>
            <a:r>
              <a:rPr lang="en-US" dirty="0"/>
              <a:t>set of attributes {Name, SSN, Age},</a:t>
            </a:r>
          </a:p>
          <a:p>
            <a:pPr lvl="2"/>
            <a:r>
              <a:rPr lang="en-US" dirty="0"/>
              <a:t>This set uniquely identify the student.  </a:t>
            </a:r>
            <a:r>
              <a:rPr lang="en-US" dirty="0" smtClean="0"/>
              <a:t>This </a:t>
            </a:r>
            <a:r>
              <a:rPr lang="en-US" dirty="0"/>
              <a:t>is </a:t>
            </a:r>
            <a:r>
              <a:rPr lang="en-US" b="1" dirty="0"/>
              <a:t>SUPERKEY </a:t>
            </a:r>
            <a:endParaRPr lang="en-US" b="1" dirty="0" smtClean="0"/>
          </a:p>
          <a:p>
            <a:pPr lvl="2"/>
            <a:r>
              <a:rPr lang="en-US" b="1" dirty="0"/>
              <a:t>KEY  is </a:t>
            </a:r>
            <a:r>
              <a:rPr lang="en-US" dirty="0"/>
              <a:t>SSN, </a:t>
            </a:r>
            <a:r>
              <a:rPr lang="en-US" dirty="0" smtClean="0"/>
              <a:t>minimal set that </a:t>
            </a:r>
            <a:r>
              <a:rPr lang="en-US" dirty="0"/>
              <a:t>uniquely identify the student. </a:t>
            </a:r>
            <a:endParaRPr lang="en-US" b="1" dirty="0"/>
          </a:p>
          <a:p>
            <a:pPr lvl="2"/>
            <a:endParaRPr lang="en-US" dirty="0"/>
          </a:p>
          <a:p>
            <a:endParaRPr lang="en-US" dirty="0"/>
          </a:p>
          <a:p>
            <a:endParaRPr lang="en-US" dirty="0"/>
          </a:p>
        </p:txBody>
      </p:sp>
    </p:spTree>
    <p:extLst>
      <p:ext uri="{BB962C8B-B14F-4D97-AF65-F5344CB8AC3E}">
        <p14:creationId xmlns:p14="http://schemas.microsoft.com/office/powerpoint/2010/main" val="294600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Constraint</a:t>
            </a:r>
            <a:endParaRPr lang="en-US" dirty="0"/>
          </a:p>
        </p:txBody>
      </p:sp>
      <p:sp>
        <p:nvSpPr>
          <p:cNvPr id="3" name="Content Placeholder 2"/>
          <p:cNvSpPr>
            <a:spLocks noGrp="1"/>
          </p:cNvSpPr>
          <p:nvPr>
            <p:ph sz="quarter" idx="1"/>
          </p:nvPr>
        </p:nvSpPr>
        <p:spPr/>
        <p:txBody>
          <a:bodyPr/>
          <a:lstStyle/>
          <a:p>
            <a:r>
              <a:rPr lang="en-US" dirty="0" smtClean="0"/>
              <a:t>Consider Property Schema</a:t>
            </a:r>
          </a:p>
          <a:p>
            <a:endParaRPr lang="en-US" dirty="0" smtClean="0"/>
          </a:p>
          <a:p>
            <a:endParaRPr lang="en-US" dirty="0"/>
          </a:p>
          <a:p>
            <a:r>
              <a:rPr lang="en-US" dirty="0" smtClean="0"/>
              <a:t>Key is </a:t>
            </a:r>
            <a:r>
              <a:rPr lang="en-US" dirty="0" err="1" smtClean="0"/>
              <a:t>Property_id</a:t>
            </a:r>
            <a:r>
              <a:rPr lang="en-US" dirty="0" smtClean="0"/>
              <a:t>#</a:t>
            </a:r>
          </a:p>
          <a:p>
            <a:r>
              <a:rPr lang="en-US" dirty="0" smtClean="0"/>
              <a:t>Candidate Key (</a:t>
            </a:r>
            <a:r>
              <a:rPr lang="en-US" dirty="0" err="1" smtClean="0"/>
              <a:t>Country_name</a:t>
            </a:r>
            <a:r>
              <a:rPr lang="en-US" dirty="0" smtClean="0"/>
              <a:t>, Lot#)</a:t>
            </a:r>
          </a:p>
          <a:p>
            <a:pPr lvl="1"/>
            <a:r>
              <a:rPr lang="en-US" dirty="0" smtClean="0"/>
              <a:t>This is a minimal </a:t>
            </a:r>
            <a:r>
              <a:rPr lang="en-US" dirty="0" err="1" smtClean="0"/>
              <a:t>superkey</a:t>
            </a:r>
            <a:r>
              <a:rPr lang="en-US" dirty="0" smtClean="0"/>
              <a:t>, as we cannot remove any attribute and still have a uniqueness constraint hold.</a:t>
            </a:r>
            <a:endParaRPr lang="en-US" dirty="0"/>
          </a:p>
          <a:p>
            <a:endParaRPr lang="en-US" dirty="0" smtClean="0"/>
          </a:p>
          <a:p>
            <a:endParaRPr lang="en-US" dirty="0"/>
          </a:p>
        </p:txBody>
      </p:sp>
      <p:pic>
        <p:nvPicPr>
          <p:cNvPr id="4" name="Picture 2" descr="fig10_11"/>
          <p:cNvPicPr>
            <a:picLocks noChangeAspect="1" noChangeArrowheads="1"/>
          </p:cNvPicPr>
          <p:nvPr/>
        </p:nvPicPr>
        <p:blipFill rotWithShape="1">
          <a:blip r:embed="rId2" cstate="print"/>
          <a:srcRect l="8271" t="5093" r="21054" b="91852"/>
          <a:stretch/>
        </p:blipFill>
        <p:spPr bwMode="auto">
          <a:xfrm>
            <a:off x="762000" y="2286000"/>
            <a:ext cx="7162800" cy="381000"/>
          </a:xfrm>
          <a:prstGeom prst="rect">
            <a:avLst/>
          </a:prstGeom>
          <a:noFill/>
          <a:ln w="9525">
            <a:noFill/>
            <a:miter lim="800000"/>
            <a:headEnd/>
            <a:tailEnd/>
          </a:ln>
        </p:spPr>
      </p:pic>
    </p:spTree>
    <p:extLst>
      <p:ext uri="{BB962C8B-B14F-4D97-AF65-F5344CB8AC3E}">
        <p14:creationId xmlns:p14="http://schemas.microsoft.com/office/powerpoint/2010/main" val="928473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Constraint</a:t>
            </a:r>
            <a:endParaRPr lang="en-US" dirty="0"/>
          </a:p>
        </p:txBody>
      </p:sp>
      <p:sp>
        <p:nvSpPr>
          <p:cNvPr id="3" name="Content Placeholder 2"/>
          <p:cNvSpPr>
            <a:spLocks noGrp="1"/>
          </p:cNvSpPr>
          <p:nvPr>
            <p:ph sz="quarter" idx="1"/>
          </p:nvPr>
        </p:nvSpPr>
        <p:spPr>
          <a:xfrm>
            <a:off x="457200" y="1600200"/>
            <a:ext cx="7924800" cy="4873752"/>
          </a:xfrm>
        </p:spPr>
        <p:txBody>
          <a:bodyPr>
            <a:normAutofit/>
          </a:bodyPr>
          <a:lstStyle/>
          <a:p>
            <a:r>
              <a:rPr lang="en-US" b="1" dirty="0"/>
              <a:t>Example 2:  CAR relation schema</a:t>
            </a:r>
          </a:p>
          <a:p>
            <a:pPr marL="0" indent="0">
              <a:buNone/>
            </a:pPr>
            <a:r>
              <a:rPr lang="en-US" sz="2000" b="1" dirty="0" smtClean="0"/>
              <a:t>CAR(</a:t>
            </a:r>
            <a:r>
              <a:rPr lang="en-US" sz="2000" b="1" dirty="0" err="1" smtClean="0"/>
              <a:t>LicenseNo</a:t>
            </a:r>
            <a:r>
              <a:rPr lang="en-US" sz="2000" b="1" dirty="0"/>
              <a:t>, </a:t>
            </a:r>
            <a:r>
              <a:rPr lang="en-US" sz="2000" b="1" dirty="0" err="1"/>
              <a:t>Engine_SerialNo</a:t>
            </a:r>
            <a:r>
              <a:rPr lang="en-US" sz="2000" b="1" dirty="0"/>
              <a:t>, Make, Model, Year)</a:t>
            </a:r>
          </a:p>
          <a:p>
            <a:pPr lvl="0"/>
            <a:endParaRPr lang="en-US" b="1" dirty="0" smtClean="0"/>
          </a:p>
          <a:p>
            <a:pPr lvl="0"/>
            <a:r>
              <a:rPr lang="en-US" b="1" dirty="0" smtClean="0"/>
              <a:t>Key</a:t>
            </a:r>
          </a:p>
          <a:p>
            <a:pPr lvl="1"/>
            <a:r>
              <a:rPr lang="en-US" dirty="0" smtClean="0"/>
              <a:t> </a:t>
            </a:r>
            <a:r>
              <a:rPr lang="en-US" dirty="0"/>
              <a:t>Key1 = {</a:t>
            </a:r>
            <a:r>
              <a:rPr lang="en-US" dirty="0" err="1"/>
              <a:t>LicenseNo</a:t>
            </a:r>
            <a:r>
              <a:rPr lang="en-US" dirty="0"/>
              <a:t>} </a:t>
            </a:r>
            <a:endParaRPr lang="en-US" dirty="0" smtClean="0"/>
          </a:p>
          <a:p>
            <a:pPr lvl="1"/>
            <a:r>
              <a:rPr lang="en-US" dirty="0" smtClean="0"/>
              <a:t> Key2 </a:t>
            </a:r>
            <a:r>
              <a:rPr lang="en-US" dirty="0"/>
              <a:t>= {</a:t>
            </a:r>
            <a:r>
              <a:rPr lang="en-US" dirty="0" err="1"/>
              <a:t>Engine_SerialNo</a:t>
            </a:r>
            <a:r>
              <a:rPr lang="en-US" dirty="0"/>
              <a:t>}, </a:t>
            </a:r>
            <a:endParaRPr lang="en-US" dirty="0" smtClean="0"/>
          </a:p>
          <a:p>
            <a:pPr lvl="1"/>
            <a:r>
              <a:rPr lang="en-US" dirty="0" smtClean="0"/>
              <a:t>These are </a:t>
            </a:r>
            <a:r>
              <a:rPr lang="en-US" dirty="0"/>
              <a:t>also </a:t>
            </a:r>
            <a:r>
              <a:rPr lang="en-US" dirty="0" err="1"/>
              <a:t>superkeys</a:t>
            </a:r>
            <a:r>
              <a:rPr lang="en-US" dirty="0"/>
              <a:t>. </a:t>
            </a:r>
          </a:p>
          <a:p>
            <a:pPr lvl="0"/>
            <a:r>
              <a:rPr lang="en-US" b="1" dirty="0" err="1" smtClean="0"/>
              <a:t>Superkey</a:t>
            </a:r>
            <a:r>
              <a:rPr lang="en-US" b="1" dirty="0" smtClean="0"/>
              <a:t>: </a:t>
            </a:r>
            <a:r>
              <a:rPr lang="en-US" dirty="0" smtClean="0"/>
              <a:t>{</a:t>
            </a:r>
            <a:r>
              <a:rPr lang="en-US" dirty="0" err="1" smtClean="0"/>
              <a:t>Engine_SerialNo</a:t>
            </a:r>
            <a:r>
              <a:rPr lang="en-US" dirty="0"/>
              <a:t>, Make} </a:t>
            </a:r>
            <a:endParaRPr lang="en-US" dirty="0" smtClean="0"/>
          </a:p>
          <a:p>
            <a:pPr lvl="0"/>
            <a:r>
              <a:rPr lang="en-US" b="1" dirty="0" smtClean="0"/>
              <a:t>Candidate keys:  </a:t>
            </a:r>
            <a:r>
              <a:rPr lang="en-US" dirty="0" smtClean="0"/>
              <a:t>If a relation </a:t>
            </a:r>
            <a:r>
              <a:rPr lang="en-US" dirty="0"/>
              <a:t>has more then one </a:t>
            </a:r>
            <a:r>
              <a:rPr lang="en-US" dirty="0" smtClean="0"/>
              <a:t>key, </a:t>
            </a:r>
            <a:r>
              <a:rPr lang="en-US" dirty="0"/>
              <a:t>we call it </a:t>
            </a:r>
            <a:r>
              <a:rPr lang="en-US" b="1" dirty="0"/>
              <a:t>candidate keys</a:t>
            </a:r>
            <a:endParaRPr lang="en-US" dirty="0"/>
          </a:p>
          <a:p>
            <a:endParaRPr lang="en-US" dirty="0"/>
          </a:p>
        </p:txBody>
      </p:sp>
    </p:spTree>
    <p:extLst>
      <p:ext uri="{BB962C8B-B14F-4D97-AF65-F5344CB8AC3E}">
        <p14:creationId xmlns:p14="http://schemas.microsoft.com/office/powerpoint/2010/main" val="3820840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07_elmasri04"/>
          <p:cNvPicPr>
            <a:picLocks noGrp="1" noChangeAspect="1" noChangeArrowheads="1"/>
          </p:cNvPicPr>
          <p:nvPr>
            <p:ph sz="quarter" idx="1"/>
          </p:nvPr>
        </p:nvPicPr>
        <p:blipFill>
          <a:blip r:embed="rId2" cstate="print"/>
          <a:srcRect b="29642"/>
          <a:stretch>
            <a:fillRect/>
          </a:stretch>
        </p:blipFill>
        <p:spPr bwMode="auto">
          <a:xfrm>
            <a:off x="813547" y="914400"/>
            <a:ext cx="7568453" cy="4114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h07_elmasri05"/>
          <p:cNvPicPr>
            <a:picLocks noChangeAspect="1" noChangeArrowheads="1"/>
          </p:cNvPicPr>
          <p:nvPr/>
        </p:nvPicPr>
        <p:blipFill rotWithShape="1">
          <a:blip r:embed="rId2" cstate="print"/>
          <a:srcRect t="10304"/>
          <a:stretch/>
        </p:blipFill>
        <p:spPr bwMode="auto">
          <a:xfrm>
            <a:off x="228600" y="457200"/>
            <a:ext cx="8453619" cy="58673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Integrity </a:t>
            </a:r>
            <a:r>
              <a:rPr lang="en-US" b="1" dirty="0" smtClean="0"/>
              <a:t>Constraints</a:t>
            </a:r>
            <a:endParaRPr lang="en-US" b="1" dirty="0"/>
          </a:p>
        </p:txBody>
      </p:sp>
      <p:sp>
        <p:nvSpPr>
          <p:cNvPr id="3" name="Content Placeholder 2"/>
          <p:cNvSpPr>
            <a:spLocks noGrp="1"/>
          </p:cNvSpPr>
          <p:nvPr>
            <p:ph sz="quarter" idx="1"/>
          </p:nvPr>
        </p:nvSpPr>
        <p:spPr/>
        <p:txBody>
          <a:bodyPr>
            <a:normAutofit/>
          </a:bodyPr>
          <a:lstStyle/>
          <a:p>
            <a:endParaRPr lang="en-US" dirty="0"/>
          </a:p>
          <a:p>
            <a:r>
              <a:rPr lang="en-US" dirty="0"/>
              <a:t>Integrity constraints are specified on DB schema </a:t>
            </a:r>
            <a:endParaRPr lang="en-US" dirty="0" smtClean="0"/>
          </a:p>
          <a:p>
            <a:endParaRPr lang="en-US" dirty="0" smtClean="0"/>
          </a:p>
          <a:p>
            <a:r>
              <a:rPr lang="en-US" dirty="0" smtClean="0"/>
              <a:t>They are expected </a:t>
            </a:r>
            <a:r>
              <a:rPr lang="en-US" dirty="0"/>
              <a:t>to hold on every valid database state of the schema. </a:t>
            </a:r>
            <a:endParaRPr lang="en-US" dirty="0" smtClean="0"/>
          </a:p>
          <a:p>
            <a:endParaRPr lang="en-US" dirty="0" smtClean="0"/>
          </a:p>
          <a:p>
            <a:r>
              <a:rPr lang="en-US" dirty="0" smtClean="0"/>
              <a:t>Integrity</a:t>
            </a:r>
            <a:r>
              <a:rPr lang="en-US" dirty="0"/>
              <a:t> constraints </a:t>
            </a:r>
            <a:r>
              <a:rPr lang="en-US" dirty="0" smtClean="0"/>
              <a:t>ensure accuracy and consistency</a:t>
            </a:r>
            <a:r>
              <a:rPr lang="en-US" dirty="0"/>
              <a:t> of data in a relational database.</a:t>
            </a:r>
          </a:p>
          <a:p>
            <a:endParaRPr lang="en-US" dirty="0"/>
          </a:p>
        </p:txBody>
      </p:sp>
    </p:spTree>
    <p:extLst>
      <p:ext uri="{BB962C8B-B14F-4D97-AF65-F5344CB8AC3E}">
        <p14:creationId xmlns:p14="http://schemas.microsoft.com/office/powerpoint/2010/main" val="3954211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Entity Integrity</a:t>
            </a:r>
            <a:endParaRPr lang="en-US" dirty="0"/>
          </a:p>
        </p:txBody>
      </p:sp>
      <p:sp>
        <p:nvSpPr>
          <p:cNvPr id="3" name="Content Placeholder 2"/>
          <p:cNvSpPr>
            <a:spLocks noGrp="1"/>
          </p:cNvSpPr>
          <p:nvPr>
            <p:ph sz="quarter" idx="1"/>
          </p:nvPr>
        </p:nvSpPr>
        <p:spPr>
          <a:xfrm>
            <a:off x="457200" y="1600200"/>
            <a:ext cx="8001000" cy="4873752"/>
          </a:xfrm>
        </p:spPr>
        <p:txBody>
          <a:bodyPr>
            <a:normAutofit/>
          </a:bodyPr>
          <a:lstStyle/>
          <a:p>
            <a:endParaRPr lang="en-US" b="1" dirty="0"/>
          </a:p>
          <a:p>
            <a:r>
              <a:rPr lang="en-US" sz="2200" dirty="0" smtClean="0"/>
              <a:t>Primary </a:t>
            </a:r>
            <a:r>
              <a:rPr lang="en-US" sz="2200" dirty="0"/>
              <a:t>key is  used to </a:t>
            </a:r>
            <a:r>
              <a:rPr lang="en-US" sz="2200" i="1" dirty="0"/>
              <a:t>identify</a:t>
            </a:r>
            <a:r>
              <a:rPr lang="en-US" sz="2200" dirty="0"/>
              <a:t> the individual tuples so it cannot have null </a:t>
            </a:r>
            <a:r>
              <a:rPr lang="en-US" sz="2200" dirty="0" smtClean="0"/>
              <a:t>value</a:t>
            </a:r>
          </a:p>
          <a:p>
            <a:pPr marL="0" indent="0">
              <a:buNone/>
            </a:pPr>
            <a:endParaRPr lang="en-US" sz="2200" dirty="0" smtClean="0"/>
          </a:p>
          <a:p>
            <a:pPr marL="0" indent="0">
              <a:buNone/>
            </a:pPr>
            <a:r>
              <a:rPr lang="en-US" sz="2200" dirty="0" smtClean="0"/>
              <a:t>Formally,</a:t>
            </a:r>
          </a:p>
          <a:p>
            <a:pPr lvl="0"/>
            <a:r>
              <a:rPr lang="en-US" sz="2200" dirty="0"/>
              <a:t>Schema S consist of many relations S = {R</a:t>
            </a:r>
            <a:r>
              <a:rPr lang="en-US" sz="2200" baseline="-25000" dirty="0"/>
              <a:t>1</a:t>
            </a:r>
            <a:r>
              <a:rPr lang="en-US" sz="2200" dirty="0"/>
              <a:t>, R</a:t>
            </a:r>
            <a:r>
              <a:rPr lang="en-US" sz="2200" baseline="-25000" dirty="0"/>
              <a:t>2</a:t>
            </a:r>
            <a:r>
              <a:rPr lang="en-US" sz="2200" dirty="0"/>
              <a:t>, ..., </a:t>
            </a:r>
            <a:r>
              <a:rPr lang="en-US" sz="2200" dirty="0" err="1"/>
              <a:t>R</a:t>
            </a:r>
            <a:r>
              <a:rPr lang="en-US" sz="2200" baseline="-25000" dirty="0" err="1"/>
              <a:t>n</a:t>
            </a:r>
            <a:r>
              <a:rPr lang="en-US" sz="2200" dirty="0"/>
              <a:t>} and State DB{r</a:t>
            </a:r>
            <a:r>
              <a:rPr lang="en-US" sz="2200" baseline="-25000" dirty="0"/>
              <a:t>1</a:t>
            </a:r>
            <a:r>
              <a:rPr lang="en-US" sz="2200" dirty="0"/>
              <a:t>,r</a:t>
            </a:r>
            <a:r>
              <a:rPr lang="en-US" sz="2200" baseline="-25000" dirty="0"/>
              <a:t>2</a:t>
            </a:r>
            <a:r>
              <a:rPr lang="en-US" sz="2200" dirty="0"/>
              <a:t>,…,</a:t>
            </a:r>
            <a:r>
              <a:rPr lang="en-US" sz="2200" dirty="0" err="1"/>
              <a:t>r</a:t>
            </a:r>
            <a:r>
              <a:rPr lang="en-US" sz="2200" baseline="-25000" dirty="0" err="1"/>
              <a:t>n</a:t>
            </a:r>
            <a:r>
              <a:rPr lang="en-US" sz="2200" dirty="0"/>
              <a:t>) where each </a:t>
            </a:r>
            <a:r>
              <a:rPr lang="en-US" sz="2200" dirty="0" err="1"/>
              <a:t>r</a:t>
            </a:r>
            <a:r>
              <a:rPr lang="en-US" sz="2200" baseline="-25000" dirty="0" err="1"/>
              <a:t>i</a:t>
            </a:r>
            <a:r>
              <a:rPr lang="en-US" sz="2200" dirty="0"/>
              <a:t> is the state of </a:t>
            </a:r>
            <a:r>
              <a:rPr lang="en-US" sz="2200" dirty="0" err="1"/>
              <a:t>R</a:t>
            </a:r>
            <a:r>
              <a:rPr lang="en-US" sz="2200" baseline="-25000" dirty="0" err="1"/>
              <a:t>i</a:t>
            </a:r>
            <a:r>
              <a:rPr lang="en-US" sz="2200" dirty="0"/>
              <a:t>. </a:t>
            </a:r>
            <a:endParaRPr lang="en-US" sz="2200" i="1" dirty="0" smtClean="0"/>
          </a:p>
          <a:p>
            <a:pPr lvl="0"/>
            <a:r>
              <a:rPr lang="en-US" sz="2200" i="1" dirty="0" smtClean="0"/>
              <a:t>Primary </a:t>
            </a:r>
            <a:r>
              <a:rPr lang="en-US" sz="2200" i="1" dirty="0"/>
              <a:t>key </a:t>
            </a:r>
            <a:r>
              <a:rPr lang="en-US" sz="2200" i="1" dirty="0" smtClean="0"/>
              <a:t>attributes</a:t>
            </a:r>
            <a:r>
              <a:rPr lang="en-US" sz="2200" dirty="0" smtClean="0"/>
              <a:t> of </a:t>
            </a:r>
            <a:r>
              <a:rPr lang="en-US" sz="2200" dirty="0"/>
              <a:t>each relation schema R in S cannot have null values in any tuple of r(R</a:t>
            </a:r>
            <a:r>
              <a:rPr lang="en-US" sz="2200" dirty="0" smtClean="0"/>
              <a:t>). </a:t>
            </a:r>
            <a:endParaRPr lang="en-US" sz="2200" dirty="0"/>
          </a:p>
          <a:p>
            <a:pPr marL="0" lvl="0" indent="0">
              <a:buNone/>
            </a:pPr>
            <a:endParaRPr lang="en-US" sz="2200" dirty="0" smtClean="0"/>
          </a:p>
          <a:p>
            <a:pPr marL="0" lvl="0" indent="0">
              <a:buNone/>
            </a:pPr>
            <a:r>
              <a:rPr lang="en-US" sz="2200" dirty="0"/>
              <a:t>	</a:t>
            </a:r>
            <a:r>
              <a:rPr lang="en-US" sz="2200" dirty="0" smtClean="0"/>
              <a:t>t[PK</a:t>
            </a:r>
            <a:r>
              <a:rPr lang="en-US" sz="2200" dirty="0"/>
              <a:t>] </a:t>
            </a:r>
            <a:r>
              <a:rPr lang="en-US" sz="2200" dirty="0">
                <a:sym typeface="Symbol"/>
              </a:rPr>
              <a:t></a:t>
            </a:r>
            <a:r>
              <a:rPr lang="en-US" sz="2200" dirty="0"/>
              <a:t> null for any tuple t in r(R)</a:t>
            </a:r>
          </a:p>
          <a:p>
            <a:endParaRPr lang="en-US" dirty="0"/>
          </a:p>
        </p:txBody>
      </p:sp>
    </p:spTree>
    <p:extLst>
      <p:ext uri="{BB962C8B-B14F-4D97-AF65-F5344CB8AC3E}">
        <p14:creationId xmlns:p14="http://schemas.microsoft.com/office/powerpoint/2010/main" val="2284648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ChangeArrowheads="1"/>
          </p:cNvSpPr>
          <p:nvPr/>
        </p:nvSpPr>
        <p:spPr bwMode="auto">
          <a:xfrm>
            <a:off x="1833563" y="1309688"/>
            <a:ext cx="9144000" cy="0"/>
          </a:xfrm>
          <a:prstGeom prst="rect">
            <a:avLst/>
          </a:prstGeom>
          <a:noFill/>
          <a:ln w="9525">
            <a:noFill/>
            <a:miter lim="800000"/>
            <a:headEnd/>
            <a:tailEnd/>
          </a:ln>
        </p:spPr>
        <p:txBody>
          <a:bodyPr>
            <a:spAutoFit/>
          </a:bodyPr>
          <a:lstStyle/>
          <a:p>
            <a:endParaRPr lang="en-US"/>
          </a:p>
        </p:txBody>
      </p:sp>
      <p:pic>
        <p:nvPicPr>
          <p:cNvPr id="7" name="Picture 9" descr="fig05_06"/>
          <p:cNvPicPr>
            <a:picLocks noChangeAspect="1" noChangeArrowheads="1"/>
          </p:cNvPicPr>
          <p:nvPr/>
        </p:nvPicPr>
        <p:blipFill>
          <a:blip r:embed="rId3" cstate="print"/>
          <a:srcRect t="4191" b="48437"/>
          <a:stretch>
            <a:fillRect/>
          </a:stretch>
        </p:blipFill>
        <p:spPr bwMode="auto">
          <a:xfrm>
            <a:off x="558209" y="116634"/>
            <a:ext cx="5613991" cy="3388566"/>
          </a:xfrm>
          <a:prstGeom prst="rect">
            <a:avLst/>
          </a:prstGeom>
          <a:noFill/>
        </p:spPr>
      </p:pic>
      <p:pic>
        <p:nvPicPr>
          <p:cNvPr id="8" name="Picture 9" descr="fig05_06"/>
          <p:cNvPicPr>
            <a:picLocks noChangeAspect="1" noChangeArrowheads="1"/>
          </p:cNvPicPr>
          <p:nvPr/>
        </p:nvPicPr>
        <p:blipFill rotWithShape="1">
          <a:blip r:embed="rId3" cstate="print"/>
          <a:srcRect t="51700" b="-1"/>
          <a:stretch/>
        </p:blipFill>
        <p:spPr bwMode="auto">
          <a:xfrm>
            <a:off x="742875" y="3200400"/>
            <a:ext cx="5662688" cy="3485014"/>
          </a:xfrm>
          <a:prstGeom prst="rect">
            <a:avLst/>
          </a:prstGeom>
          <a:noFill/>
        </p:spPr>
      </p:pic>
      <p:pic>
        <p:nvPicPr>
          <p:cNvPr id="10" name="Picture 9" descr="fig05_06"/>
          <p:cNvPicPr>
            <a:picLocks noChangeAspect="1" noChangeArrowheads="1"/>
          </p:cNvPicPr>
          <p:nvPr/>
        </p:nvPicPr>
        <p:blipFill rotWithShape="1">
          <a:blip r:embed="rId3" cstate="print"/>
          <a:srcRect l="73916" t="32340" b="48437"/>
          <a:stretch/>
        </p:blipFill>
        <p:spPr bwMode="auto">
          <a:xfrm>
            <a:off x="6398773" y="1906040"/>
            <a:ext cx="1443519" cy="1355471"/>
          </a:xfrm>
          <a:prstGeom prst="rect">
            <a:avLst/>
          </a:prstGeom>
          <a:noFill/>
        </p:spPr>
      </p:pic>
      <p:sp>
        <p:nvSpPr>
          <p:cNvPr id="2" name="Rectangle 1"/>
          <p:cNvSpPr/>
          <p:nvPr/>
        </p:nvSpPr>
        <p:spPr>
          <a:xfrm>
            <a:off x="4443243" y="2106440"/>
            <a:ext cx="1728957" cy="1219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Referential </a:t>
            </a:r>
            <a:r>
              <a:rPr lang="en-US" b="1" dirty="0" smtClean="0"/>
              <a:t>Integrity</a:t>
            </a:r>
            <a:endParaRPr lang="en-US" dirty="0"/>
          </a:p>
        </p:txBody>
      </p:sp>
      <p:sp>
        <p:nvSpPr>
          <p:cNvPr id="3" name="Content Placeholder 2"/>
          <p:cNvSpPr>
            <a:spLocks noGrp="1"/>
          </p:cNvSpPr>
          <p:nvPr>
            <p:ph sz="quarter" idx="1"/>
          </p:nvPr>
        </p:nvSpPr>
        <p:spPr/>
        <p:txBody>
          <a:bodyPr/>
          <a:lstStyle/>
          <a:p>
            <a:pPr lvl="0"/>
            <a:endParaRPr lang="en-US" i="1" dirty="0" smtClean="0"/>
          </a:p>
          <a:p>
            <a:pPr lvl="0"/>
            <a:r>
              <a:rPr lang="en-US" i="1" dirty="0" smtClean="0"/>
              <a:t>A </a:t>
            </a:r>
            <a:r>
              <a:rPr lang="en-US" i="1" dirty="0"/>
              <a:t>tuple in one relation that refers to another relation must refer to an existing tuple in that relation</a:t>
            </a:r>
            <a:r>
              <a:rPr lang="en-US" i="1" dirty="0" smtClean="0"/>
              <a:t>.</a:t>
            </a:r>
          </a:p>
          <a:p>
            <a:pPr lvl="0"/>
            <a:endParaRPr lang="en-US" dirty="0"/>
          </a:p>
          <a:p>
            <a:r>
              <a:rPr lang="en-US" dirty="0"/>
              <a:t>This is specified </a:t>
            </a:r>
            <a:r>
              <a:rPr lang="en-US" dirty="0" smtClean="0"/>
              <a:t>to maintain </a:t>
            </a:r>
            <a:r>
              <a:rPr lang="en-US" dirty="0"/>
              <a:t>consistency among tuples in the two relations. </a:t>
            </a:r>
          </a:p>
          <a:p>
            <a:pPr lvl="0"/>
            <a:endParaRPr lang="en-US" dirty="0"/>
          </a:p>
          <a:p>
            <a:endParaRPr lang="en-US" dirty="0"/>
          </a:p>
        </p:txBody>
      </p:sp>
    </p:spTree>
    <p:extLst>
      <p:ext uri="{BB962C8B-B14F-4D97-AF65-F5344CB8AC3E}">
        <p14:creationId xmlns:p14="http://schemas.microsoft.com/office/powerpoint/2010/main" val="291164506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Foreign Key (FK</a:t>
            </a:r>
            <a:r>
              <a:rPr lang="en-US" b="1" dirty="0" smtClean="0"/>
              <a:t>)</a:t>
            </a:r>
            <a:endParaRPr lang="en-US" dirty="0"/>
          </a:p>
        </p:txBody>
      </p:sp>
      <p:sp>
        <p:nvSpPr>
          <p:cNvPr id="3" name="Content Placeholder 2"/>
          <p:cNvSpPr>
            <a:spLocks noGrp="1"/>
          </p:cNvSpPr>
          <p:nvPr>
            <p:ph sz="quarter" idx="1"/>
          </p:nvPr>
        </p:nvSpPr>
        <p:spPr>
          <a:xfrm>
            <a:off x="457200" y="1600200"/>
            <a:ext cx="8077200" cy="4873752"/>
          </a:xfrm>
        </p:spPr>
        <p:txBody>
          <a:bodyPr>
            <a:normAutofit/>
          </a:bodyPr>
          <a:lstStyle/>
          <a:p>
            <a:r>
              <a:rPr lang="en-US" sz="2200" b="1" dirty="0" smtClean="0"/>
              <a:t>A </a:t>
            </a:r>
            <a:r>
              <a:rPr lang="en-US" sz="2200" b="1" dirty="0"/>
              <a:t>foreign key is a field in a </a:t>
            </a:r>
            <a:r>
              <a:rPr lang="en-US" sz="2200" b="1" dirty="0" smtClean="0"/>
              <a:t>table </a:t>
            </a:r>
            <a:r>
              <a:rPr lang="en-US" sz="2200" b="1" dirty="0"/>
              <a:t>that matches the primary key column of another table.</a:t>
            </a:r>
            <a:endParaRPr lang="en-US" sz="2200" dirty="0"/>
          </a:p>
          <a:p>
            <a:endParaRPr lang="en-US" sz="2000" dirty="0"/>
          </a:p>
          <a:p>
            <a:pPr lvl="0"/>
            <a:r>
              <a:rPr lang="en-US" sz="2200" dirty="0" smtClean="0"/>
              <a:t>Set </a:t>
            </a:r>
            <a:r>
              <a:rPr lang="en-US" sz="2200" dirty="0"/>
              <a:t>of attributes </a:t>
            </a:r>
            <a:r>
              <a:rPr lang="en-US" sz="2200" b="1" dirty="0"/>
              <a:t>FK</a:t>
            </a:r>
            <a:r>
              <a:rPr lang="en-US" sz="2200" dirty="0"/>
              <a:t> in </a:t>
            </a:r>
            <a:r>
              <a:rPr lang="en-US" sz="2200" dirty="0" smtClean="0"/>
              <a:t>relation </a:t>
            </a:r>
            <a:r>
              <a:rPr lang="en-US" sz="2200" dirty="0"/>
              <a:t>R</a:t>
            </a:r>
            <a:r>
              <a:rPr lang="en-US" sz="2200" baseline="-25000" dirty="0"/>
              <a:t>1</a:t>
            </a:r>
            <a:r>
              <a:rPr lang="en-US" sz="2200" dirty="0"/>
              <a:t> is called </a:t>
            </a:r>
            <a:r>
              <a:rPr lang="en-US" sz="2200" dirty="0" smtClean="0"/>
              <a:t>foreign key of </a:t>
            </a:r>
            <a:r>
              <a:rPr lang="en-US" sz="2200" dirty="0"/>
              <a:t>R</a:t>
            </a:r>
            <a:r>
              <a:rPr lang="en-US" sz="2200" baseline="-25000" dirty="0"/>
              <a:t>1</a:t>
            </a:r>
            <a:r>
              <a:rPr lang="en-US" sz="2200" dirty="0"/>
              <a:t> that reference R</a:t>
            </a:r>
            <a:r>
              <a:rPr lang="en-US" sz="2200" baseline="-25000" dirty="0"/>
              <a:t>2</a:t>
            </a:r>
            <a:r>
              <a:rPr lang="en-US" sz="2200" dirty="0"/>
              <a:t> if</a:t>
            </a:r>
            <a:r>
              <a:rPr lang="en-US" sz="2200" b="1" dirty="0"/>
              <a:t> </a:t>
            </a:r>
            <a:endParaRPr lang="en-US" sz="2200" dirty="0"/>
          </a:p>
          <a:p>
            <a:pPr lvl="1"/>
            <a:r>
              <a:rPr lang="en-US" sz="2000" dirty="0" smtClean="0"/>
              <a:t>Attributes </a:t>
            </a:r>
            <a:r>
              <a:rPr lang="en-US" sz="2000" dirty="0"/>
              <a:t>in FK in R</a:t>
            </a:r>
            <a:r>
              <a:rPr lang="en-US" sz="2000" baseline="-25000" dirty="0"/>
              <a:t>1</a:t>
            </a:r>
            <a:r>
              <a:rPr lang="en-US" sz="2000" dirty="0"/>
              <a:t> has </a:t>
            </a:r>
            <a:r>
              <a:rPr lang="en-US" sz="2000" b="1" dirty="0"/>
              <a:t>same domain</a:t>
            </a:r>
            <a:r>
              <a:rPr lang="en-US" sz="2000" dirty="0"/>
              <a:t> as the attributes in PK of R</a:t>
            </a:r>
            <a:r>
              <a:rPr lang="en-US" sz="2000" baseline="-25000" dirty="0"/>
              <a:t>2</a:t>
            </a:r>
          </a:p>
          <a:p>
            <a:pPr lvl="1"/>
            <a:r>
              <a:rPr lang="en-US" sz="2000" b="1" dirty="0" smtClean="0"/>
              <a:t>Value </a:t>
            </a:r>
            <a:r>
              <a:rPr lang="en-US" sz="2000" b="1" dirty="0"/>
              <a:t>of FK </a:t>
            </a:r>
            <a:r>
              <a:rPr lang="en-US" sz="2000" dirty="0"/>
              <a:t>must be an existing </a:t>
            </a:r>
            <a:r>
              <a:rPr lang="en-US" sz="2000" dirty="0" smtClean="0"/>
              <a:t>PK value in R</a:t>
            </a:r>
            <a:r>
              <a:rPr lang="en-US" sz="2000" baseline="-25000" dirty="0" smtClean="0"/>
              <a:t>2</a:t>
            </a:r>
            <a:r>
              <a:rPr lang="en-US" sz="2000" dirty="0" smtClean="0"/>
              <a:t> </a:t>
            </a:r>
            <a:r>
              <a:rPr lang="en-US" sz="2000" dirty="0"/>
              <a:t>or </a:t>
            </a:r>
            <a:r>
              <a:rPr lang="en-US" sz="2000" dirty="0" smtClean="0"/>
              <a:t>null</a:t>
            </a:r>
            <a:r>
              <a:rPr lang="en-US" sz="2000" dirty="0"/>
              <a:t>.</a:t>
            </a:r>
          </a:p>
          <a:p>
            <a:pPr lvl="0"/>
            <a:endParaRPr lang="en-US" sz="2000" dirty="0" smtClean="0"/>
          </a:p>
        </p:txBody>
      </p:sp>
      <p:pic>
        <p:nvPicPr>
          <p:cNvPr id="4" name="Picture 3" descr="fig05_06"/>
          <p:cNvPicPr>
            <a:picLocks noChangeAspect="1" noChangeArrowheads="1"/>
          </p:cNvPicPr>
          <p:nvPr/>
        </p:nvPicPr>
        <p:blipFill rotWithShape="1">
          <a:blip r:embed="rId2" cstate="print"/>
          <a:srcRect l="138" t="32340" b="48437"/>
          <a:stretch/>
        </p:blipFill>
        <p:spPr bwMode="auto">
          <a:xfrm>
            <a:off x="1524000" y="4800600"/>
            <a:ext cx="5526475" cy="1355471"/>
          </a:xfrm>
          <a:prstGeom prst="rect">
            <a:avLst/>
          </a:prstGeom>
          <a:noFill/>
        </p:spPr>
      </p:pic>
    </p:spTree>
    <p:extLst>
      <p:ext uri="{BB962C8B-B14F-4D97-AF65-F5344CB8AC3E}">
        <p14:creationId xmlns:p14="http://schemas.microsoft.com/office/powerpoint/2010/main" val="975616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Foreign Key (FK</a:t>
            </a:r>
            <a:r>
              <a:rPr lang="en-US" b="1" dirty="0" smtClean="0"/>
              <a:t>)</a:t>
            </a:r>
            <a:endParaRPr lang="en-US" dirty="0"/>
          </a:p>
        </p:txBody>
      </p:sp>
      <p:sp>
        <p:nvSpPr>
          <p:cNvPr id="3" name="Content Placeholder 2"/>
          <p:cNvSpPr>
            <a:spLocks noGrp="1"/>
          </p:cNvSpPr>
          <p:nvPr>
            <p:ph sz="quarter" idx="1"/>
          </p:nvPr>
        </p:nvSpPr>
        <p:spPr>
          <a:xfrm>
            <a:off x="457200" y="1600200"/>
            <a:ext cx="8077200" cy="4873752"/>
          </a:xfrm>
        </p:spPr>
        <p:txBody>
          <a:bodyPr>
            <a:normAutofit/>
          </a:bodyPr>
          <a:lstStyle/>
          <a:p>
            <a:pPr lvl="0"/>
            <a:r>
              <a:rPr lang="en-US" sz="2200" dirty="0" smtClean="0"/>
              <a:t>Tuple </a:t>
            </a:r>
            <a:r>
              <a:rPr lang="en-US" sz="2200" dirty="0"/>
              <a:t>t1 in R1 is said to reference a tuple t2 in R2 </a:t>
            </a:r>
            <a:r>
              <a:rPr lang="en-US" sz="2200" b="1" dirty="0"/>
              <a:t>if </a:t>
            </a:r>
            <a:r>
              <a:rPr lang="en-US" sz="2200" b="1" dirty="0" smtClean="0"/>
              <a:t>			t1[FK</a:t>
            </a:r>
            <a:r>
              <a:rPr lang="en-US" sz="2200" b="1" dirty="0"/>
              <a:t>] = t2[PK].</a:t>
            </a:r>
            <a:endParaRPr lang="en-US" sz="2200" dirty="0"/>
          </a:p>
          <a:p>
            <a:pPr marL="0" indent="0">
              <a:buNone/>
            </a:pPr>
            <a:r>
              <a:rPr lang="en-US" sz="2200" dirty="0"/>
              <a:t> </a:t>
            </a:r>
            <a:r>
              <a:rPr lang="en-US" sz="2200" dirty="0" smtClean="0"/>
              <a:t>    R1 </a:t>
            </a:r>
            <a:r>
              <a:rPr lang="en-US" sz="2200" dirty="0"/>
              <a:t>is referencing relation and </a:t>
            </a:r>
            <a:r>
              <a:rPr lang="en-US" sz="2200" dirty="0" smtClean="0"/>
              <a:t>R2 </a:t>
            </a:r>
            <a:r>
              <a:rPr lang="en-US" sz="2200" dirty="0"/>
              <a:t>is reference relation</a:t>
            </a:r>
          </a:p>
        </p:txBody>
      </p:sp>
      <p:pic>
        <p:nvPicPr>
          <p:cNvPr id="4" name="Picture 9" descr="fig05_06"/>
          <p:cNvPicPr>
            <a:picLocks noChangeAspect="1" noChangeArrowheads="1"/>
          </p:cNvPicPr>
          <p:nvPr/>
        </p:nvPicPr>
        <p:blipFill>
          <a:blip r:embed="rId2" cstate="print"/>
          <a:srcRect t="4191" b="48437"/>
          <a:stretch>
            <a:fillRect/>
          </a:stretch>
        </p:blipFill>
        <p:spPr bwMode="auto">
          <a:xfrm>
            <a:off x="1295399" y="3048000"/>
            <a:ext cx="5613991" cy="3388566"/>
          </a:xfrm>
          <a:prstGeom prst="rect">
            <a:avLst/>
          </a:prstGeom>
          <a:noFill/>
        </p:spPr>
      </p:pic>
    </p:spTree>
    <p:extLst>
      <p:ext uri="{BB962C8B-B14F-4D97-AF65-F5344CB8AC3E}">
        <p14:creationId xmlns:p14="http://schemas.microsoft.com/office/powerpoint/2010/main" val="2986656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h07_elmasri05"/>
          <p:cNvPicPr>
            <a:picLocks noChangeAspect="1" noChangeArrowheads="1"/>
          </p:cNvPicPr>
          <p:nvPr/>
        </p:nvPicPr>
        <p:blipFill rotWithShape="1">
          <a:blip r:embed="rId3" cstate="print"/>
          <a:srcRect t="14267" b="9174"/>
          <a:stretch/>
        </p:blipFill>
        <p:spPr bwMode="auto">
          <a:xfrm>
            <a:off x="457200" y="1870364"/>
            <a:ext cx="7904683" cy="4682836"/>
          </a:xfrm>
          <a:prstGeom prst="rect">
            <a:avLst/>
          </a:prstGeom>
          <a:noFill/>
          <a:ln w="9525">
            <a:noFill/>
            <a:miter lim="800000"/>
            <a:headEnd/>
            <a:tailEnd/>
          </a:ln>
        </p:spPr>
      </p:pic>
      <p:sp>
        <p:nvSpPr>
          <p:cNvPr id="3" name="Title 2"/>
          <p:cNvSpPr>
            <a:spLocks noGrp="1"/>
          </p:cNvSpPr>
          <p:nvPr>
            <p:ph type="title"/>
          </p:nvPr>
        </p:nvSpPr>
        <p:spPr/>
        <p:txBody>
          <a:bodyPr/>
          <a:lstStyle/>
          <a:p>
            <a:r>
              <a:rPr lang="en-US" b="1" dirty="0" smtClean="0"/>
              <a:t>Specify</a:t>
            </a:r>
            <a:r>
              <a:rPr lang="en-US" dirty="0" smtClean="0"/>
              <a:t> </a:t>
            </a:r>
            <a:r>
              <a:rPr lang="en-US" b="1" dirty="0"/>
              <a:t>Referential </a:t>
            </a:r>
            <a:r>
              <a:rPr lang="en-US" b="1" dirty="0" smtClean="0"/>
              <a:t>Integrity Constraints</a:t>
            </a:r>
            <a:endParaRPr lang="en-US" dirty="0"/>
          </a:p>
        </p:txBody>
      </p:sp>
    </p:spTree>
    <p:extLst>
      <p:ext uri="{BB962C8B-B14F-4D97-AF65-F5344CB8AC3E}">
        <p14:creationId xmlns:p14="http://schemas.microsoft.com/office/powerpoint/2010/main" val="66333035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1"/>
          <p:cNvSpPr>
            <a:spLocks noGrp="1"/>
          </p:cNvSpPr>
          <p:nvPr>
            <p:ph type="sldNum" sz="quarter" idx="10"/>
          </p:nvPr>
        </p:nvSpPr>
        <p:spPr>
          <a:noFill/>
        </p:spPr>
        <p:txBody>
          <a:bodyPr/>
          <a:lstStyle/>
          <a:p>
            <a:r>
              <a:rPr lang="en-US"/>
              <a:t>Slide 5- </a:t>
            </a:r>
            <a:fld id="{9201BF6D-EC31-4B9B-8446-80B25E19840B}" type="slidenum">
              <a:rPr lang="en-US"/>
              <a:pPr/>
              <a:t>35</a:t>
            </a:fld>
            <a:endParaRPr lang="en-CA"/>
          </a:p>
        </p:txBody>
      </p:sp>
      <p:sp>
        <p:nvSpPr>
          <p:cNvPr id="33795" name="Rectangle 2"/>
          <p:cNvSpPr>
            <a:spLocks noChangeArrowheads="1"/>
          </p:cNvSpPr>
          <p:nvPr/>
        </p:nvSpPr>
        <p:spPr bwMode="auto">
          <a:xfrm>
            <a:off x="1833563" y="1309688"/>
            <a:ext cx="9144000" cy="0"/>
          </a:xfrm>
          <a:prstGeom prst="rect">
            <a:avLst/>
          </a:prstGeom>
          <a:noFill/>
          <a:ln w="9525">
            <a:noFill/>
            <a:miter lim="800000"/>
            <a:headEnd/>
            <a:tailEnd/>
          </a:ln>
        </p:spPr>
        <p:txBody>
          <a:bodyPr>
            <a:spAutoFit/>
          </a:bodyPr>
          <a:lstStyle/>
          <a:p>
            <a:endParaRPr lang="en-US"/>
          </a:p>
        </p:txBody>
      </p:sp>
      <p:pic>
        <p:nvPicPr>
          <p:cNvPr id="33796" name="Picture 3" descr="ch07_elmasri07"/>
          <p:cNvPicPr>
            <a:picLocks noChangeAspect="1" noChangeArrowheads="1"/>
          </p:cNvPicPr>
          <p:nvPr/>
        </p:nvPicPr>
        <p:blipFill>
          <a:blip r:embed="rId3" cstate="print"/>
          <a:srcRect/>
          <a:stretch>
            <a:fillRect/>
          </a:stretch>
        </p:blipFill>
        <p:spPr bwMode="auto">
          <a:xfrm>
            <a:off x="381000" y="185738"/>
            <a:ext cx="8229600" cy="6369050"/>
          </a:xfrm>
          <a:prstGeom prst="rect">
            <a:avLst/>
          </a:prstGeom>
          <a:noFill/>
          <a:ln w="9525">
            <a:noFill/>
            <a:miter lim="800000"/>
            <a:headEnd/>
            <a:tailEnd/>
          </a:ln>
        </p:spPr>
      </p:pic>
      <p:sp>
        <p:nvSpPr>
          <p:cNvPr id="33797" name="Text Box 4"/>
          <p:cNvSpPr txBox="1">
            <a:spLocks noChangeArrowheads="1"/>
          </p:cNvSpPr>
          <p:nvPr/>
        </p:nvSpPr>
        <p:spPr bwMode="auto">
          <a:xfrm>
            <a:off x="2514600" y="228600"/>
            <a:ext cx="477838" cy="336550"/>
          </a:xfrm>
          <a:prstGeom prst="rect">
            <a:avLst/>
          </a:prstGeom>
          <a:solidFill>
            <a:schemeClr val="bg1"/>
          </a:solidFill>
          <a:ln w="9525">
            <a:noFill/>
            <a:miter lim="800000"/>
            <a:headEnd/>
            <a:tailEnd/>
          </a:ln>
        </p:spPr>
        <p:txBody>
          <a:bodyPr>
            <a:spAutoFit/>
          </a:bodyPr>
          <a:lstStyle/>
          <a:p>
            <a:pPr>
              <a:spcBef>
                <a:spcPct val="50000"/>
              </a:spcBef>
            </a:pPr>
            <a:r>
              <a:rPr lang="en-US" sz="1600" b="1">
                <a:solidFill>
                  <a:schemeClr val="bg2"/>
                </a:solidFill>
                <a:latin typeface="Times New Roman" charset="0"/>
              </a:rPr>
              <a:t>5.7</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Foreign Key (FK)</a:t>
            </a:r>
            <a:endParaRPr lang="en-US" dirty="0"/>
          </a:p>
        </p:txBody>
      </p:sp>
      <p:sp>
        <p:nvSpPr>
          <p:cNvPr id="3" name="Content Placeholder 2"/>
          <p:cNvSpPr>
            <a:spLocks noGrp="1"/>
          </p:cNvSpPr>
          <p:nvPr>
            <p:ph sz="quarter" idx="1"/>
          </p:nvPr>
        </p:nvSpPr>
        <p:spPr/>
        <p:txBody>
          <a:bodyPr>
            <a:normAutofit/>
          </a:bodyPr>
          <a:lstStyle/>
          <a:p>
            <a:r>
              <a:rPr lang="en-US" sz="2000" dirty="0" smtClean="0"/>
              <a:t>A </a:t>
            </a:r>
            <a:r>
              <a:rPr lang="en-US" sz="2000" dirty="0"/>
              <a:t>foreign key can be a primary key or any of the candidate key in the referenced relation. </a:t>
            </a:r>
            <a:endParaRPr lang="en-US" sz="2000" dirty="0" smtClean="0"/>
          </a:p>
          <a:p>
            <a:endParaRPr lang="en-US" sz="2000" dirty="0" smtClean="0"/>
          </a:p>
          <a:p>
            <a:r>
              <a:rPr lang="en-US" sz="2000" dirty="0" smtClean="0"/>
              <a:t>FK </a:t>
            </a:r>
            <a:r>
              <a:rPr lang="en-US" sz="2000" dirty="0"/>
              <a:t>requires that uniqueness constraint should hold for the </a:t>
            </a:r>
            <a:r>
              <a:rPr lang="en-US" sz="2000" dirty="0" smtClean="0"/>
              <a:t>column </a:t>
            </a:r>
            <a:r>
              <a:rPr lang="en-US" sz="2000" dirty="0"/>
              <a:t>on which it is defined in referenced relation. </a:t>
            </a:r>
          </a:p>
          <a:p>
            <a:endParaRPr lang="en-US" sz="2000" i="1" dirty="0" smtClean="0"/>
          </a:p>
          <a:p>
            <a:r>
              <a:rPr lang="en-US" sz="2000" i="1" dirty="0" err="1" smtClean="0"/>
              <a:t>Sql</a:t>
            </a:r>
            <a:r>
              <a:rPr lang="en-US" sz="2000" i="1" dirty="0" smtClean="0"/>
              <a:t> </a:t>
            </a:r>
            <a:r>
              <a:rPr lang="en-US" sz="2000" i="1" dirty="0"/>
              <a:t>server allows specifying FK on a </a:t>
            </a:r>
            <a:r>
              <a:rPr lang="en-US" sz="2000" i="1" dirty="0" smtClean="0"/>
              <a:t>column </a:t>
            </a:r>
            <a:r>
              <a:rPr lang="en-US" sz="2000" i="1" dirty="0"/>
              <a:t>which has uniqueness constraint set. </a:t>
            </a:r>
            <a:endParaRPr lang="en-US" sz="2000" dirty="0"/>
          </a:p>
          <a:p>
            <a:endParaRPr lang="en-US" sz="2000" dirty="0"/>
          </a:p>
        </p:txBody>
      </p:sp>
    </p:spTree>
    <p:extLst>
      <p:ext uri="{BB962C8B-B14F-4D97-AF65-F5344CB8AC3E}">
        <p14:creationId xmlns:p14="http://schemas.microsoft.com/office/powerpoint/2010/main" val="2244930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Semantic Integrity Constraints</a:t>
            </a:r>
            <a:endParaRPr lang="en-US" sz="3200" dirty="0"/>
          </a:p>
        </p:txBody>
      </p:sp>
      <p:sp>
        <p:nvSpPr>
          <p:cNvPr id="3" name="Content Placeholder 2"/>
          <p:cNvSpPr>
            <a:spLocks noGrp="1"/>
          </p:cNvSpPr>
          <p:nvPr>
            <p:ph sz="quarter" idx="1"/>
          </p:nvPr>
        </p:nvSpPr>
        <p:spPr/>
        <p:txBody>
          <a:bodyPr>
            <a:normAutofit/>
          </a:bodyPr>
          <a:lstStyle/>
          <a:p>
            <a:pPr lvl="0"/>
            <a:r>
              <a:rPr lang="en-US" dirty="0" smtClean="0"/>
              <a:t>Based </a:t>
            </a:r>
            <a:r>
              <a:rPr lang="en-US" dirty="0"/>
              <a:t>on application semantics and cannot be expressed by the model schema</a:t>
            </a:r>
          </a:p>
          <a:p>
            <a:pPr lvl="0"/>
            <a:endParaRPr lang="en-US" dirty="0" smtClean="0"/>
          </a:p>
          <a:p>
            <a:pPr lvl="0"/>
            <a:r>
              <a:rPr lang="en-US" b="1" dirty="0" smtClean="0"/>
              <a:t>Example</a:t>
            </a:r>
            <a:endParaRPr lang="en-US" b="1" dirty="0"/>
          </a:p>
          <a:p>
            <a:pPr lvl="1"/>
            <a:r>
              <a:rPr lang="en-US" sz="2000" dirty="0" smtClean="0"/>
              <a:t>The max no </a:t>
            </a:r>
            <a:r>
              <a:rPr lang="en-US" sz="2000" dirty="0"/>
              <a:t>of hours per employee for all projects he or she works on is 56 </a:t>
            </a:r>
            <a:r>
              <a:rPr lang="en-US" sz="2000" dirty="0" err="1"/>
              <a:t>hrs</a:t>
            </a:r>
            <a:r>
              <a:rPr lang="en-US" sz="2000" dirty="0"/>
              <a:t> per </a:t>
            </a:r>
            <a:r>
              <a:rPr lang="en-US" sz="2000" dirty="0" smtClean="0"/>
              <a:t>week</a:t>
            </a:r>
            <a:endParaRPr lang="en-US" sz="2000" dirty="0"/>
          </a:p>
          <a:p>
            <a:pPr lvl="1"/>
            <a:r>
              <a:rPr lang="en-US" sz="2000" dirty="0"/>
              <a:t>Employee salary should not exceed supervisor </a:t>
            </a:r>
            <a:r>
              <a:rPr lang="en-US" sz="2000" dirty="0" smtClean="0"/>
              <a:t>salary</a:t>
            </a:r>
          </a:p>
          <a:p>
            <a:pPr lvl="1"/>
            <a:endParaRPr lang="en-US" sz="2000" dirty="0"/>
          </a:p>
          <a:p>
            <a:pPr lvl="0"/>
            <a:r>
              <a:rPr lang="en-US" dirty="0" smtClean="0"/>
              <a:t>SQL-99 </a:t>
            </a:r>
            <a:r>
              <a:rPr lang="en-US" dirty="0"/>
              <a:t>allows triggers and </a:t>
            </a:r>
            <a:r>
              <a:rPr lang="en-US" b="1" dirty="0"/>
              <a:t>ASSERTIONS</a:t>
            </a:r>
            <a:r>
              <a:rPr lang="en-US" dirty="0"/>
              <a:t> to allow for some of these</a:t>
            </a:r>
          </a:p>
          <a:p>
            <a:endParaRPr lang="en-US" dirty="0"/>
          </a:p>
        </p:txBody>
      </p:sp>
    </p:spTree>
    <p:extLst>
      <p:ext uri="{BB962C8B-B14F-4D97-AF65-F5344CB8AC3E}">
        <p14:creationId xmlns:p14="http://schemas.microsoft.com/office/powerpoint/2010/main" val="1711338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O</a:t>
            </a:r>
            <a:r>
              <a:rPr lang="en-US" sz="3600" b="1" dirty="0" smtClean="0"/>
              <a:t>perations </a:t>
            </a:r>
            <a:r>
              <a:rPr lang="en-US" sz="3600" b="1" dirty="0"/>
              <a:t>in RDBMS</a:t>
            </a:r>
          </a:p>
        </p:txBody>
      </p:sp>
      <p:sp>
        <p:nvSpPr>
          <p:cNvPr id="3" name="Content Placeholder 2"/>
          <p:cNvSpPr>
            <a:spLocks noGrp="1"/>
          </p:cNvSpPr>
          <p:nvPr>
            <p:ph sz="quarter" idx="1"/>
          </p:nvPr>
        </p:nvSpPr>
        <p:spPr/>
        <p:txBody>
          <a:bodyPr/>
          <a:lstStyle/>
          <a:p>
            <a:pPr marL="0" indent="0">
              <a:buNone/>
            </a:pPr>
            <a:endParaRPr lang="en-US" dirty="0" smtClean="0"/>
          </a:p>
          <a:p>
            <a:pPr marL="0" indent="0">
              <a:buNone/>
            </a:pPr>
            <a:r>
              <a:rPr lang="en-US" dirty="0" smtClean="0"/>
              <a:t>Operations </a:t>
            </a:r>
            <a:r>
              <a:rPr lang="en-US" dirty="0"/>
              <a:t>in RDBMS are classified as </a:t>
            </a:r>
          </a:p>
          <a:p>
            <a:pPr lvl="0"/>
            <a:r>
              <a:rPr lang="en-US" dirty="0"/>
              <a:t>Retrieval </a:t>
            </a:r>
          </a:p>
          <a:p>
            <a:pPr lvl="0"/>
            <a:r>
              <a:rPr lang="en-US" dirty="0" smtClean="0"/>
              <a:t>Update</a:t>
            </a:r>
          </a:p>
          <a:p>
            <a:pPr lvl="0"/>
            <a:endParaRPr lang="en-US" dirty="0"/>
          </a:p>
          <a:p>
            <a:r>
              <a:rPr lang="en-US" b="1" dirty="0"/>
              <a:t>Update Operations on Relations</a:t>
            </a:r>
          </a:p>
          <a:p>
            <a:pPr lvl="1"/>
            <a:r>
              <a:rPr lang="en-US" dirty="0"/>
              <a:t>INSERT a tuple.</a:t>
            </a:r>
          </a:p>
          <a:p>
            <a:pPr lvl="1"/>
            <a:r>
              <a:rPr lang="en-US" dirty="0"/>
              <a:t>DELETE a tuple.</a:t>
            </a:r>
          </a:p>
          <a:p>
            <a:pPr lvl="1"/>
            <a:r>
              <a:rPr lang="en-US" dirty="0"/>
              <a:t>MODIFY a tuple.</a:t>
            </a:r>
          </a:p>
          <a:p>
            <a:pPr lvl="1"/>
            <a:r>
              <a:rPr lang="en-US" dirty="0"/>
              <a:t>Integrity constraints should not be violated by the update operations.</a:t>
            </a:r>
          </a:p>
          <a:p>
            <a:pPr lvl="0"/>
            <a:endParaRPr lang="en-US" dirty="0"/>
          </a:p>
          <a:p>
            <a:endParaRPr lang="en-US" dirty="0"/>
          </a:p>
        </p:txBody>
      </p:sp>
    </p:spTree>
    <p:extLst>
      <p:ext uri="{BB962C8B-B14F-4D97-AF65-F5344CB8AC3E}">
        <p14:creationId xmlns:p14="http://schemas.microsoft.com/office/powerpoint/2010/main" val="159060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Insert Operation</a:t>
            </a:r>
            <a:endParaRPr lang="en-US" sz="3200" b="1" dirty="0"/>
          </a:p>
        </p:txBody>
      </p:sp>
      <p:sp>
        <p:nvSpPr>
          <p:cNvPr id="3" name="Content Placeholder 2"/>
          <p:cNvSpPr>
            <a:spLocks noGrp="1"/>
          </p:cNvSpPr>
          <p:nvPr>
            <p:ph sz="quarter" idx="1"/>
          </p:nvPr>
        </p:nvSpPr>
        <p:spPr>
          <a:xfrm>
            <a:off x="457200" y="1600200"/>
            <a:ext cx="8001000" cy="4873752"/>
          </a:xfrm>
        </p:spPr>
        <p:txBody>
          <a:bodyPr>
            <a:normAutofit/>
          </a:bodyPr>
          <a:lstStyle/>
          <a:p>
            <a:r>
              <a:rPr lang="en-US" b="1" dirty="0" smtClean="0"/>
              <a:t>Insert </a:t>
            </a:r>
            <a:r>
              <a:rPr lang="en-US" b="1" dirty="0"/>
              <a:t>Operation</a:t>
            </a:r>
            <a:r>
              <a:rPr lang="en-US" dirty="0"/>
              <a:t> </a:t>
            </a:r>
            <a:r>
              <a:rPr lang="en-US" dirty="0" smtClean="0"/>
              <a:t>can violate following constraints</a:t>
            </a:r>
            <a:endParaRPr lang="en-US" dirty="0"/>
          </a:p>
          <a:p>
            <a:pPr lvl="1"/>
            <a:r>
              <a:rPr lang="en-US" dirty="0"/>
              <a:t>Domain </a:t>
            </a:r>
            <a:r>
              <a:rPr lang="en-US" dirty="0" smtClean="0"/>
              <a:t>constraint</a:t>
            </a:r>
            <a:endParaRPr lang="en-US" dirty="0"/>
          </a:p>
          <a:p>
            <a:pPr lvl="1"/>
            <a:r>
              <a:rPr lang="en-US" dirty="0"/>
              <a:t>Key constraint (if key value already exists)</a:t>
            </a:r>
          </a:p>
          <a:p>
            <a:pPr lvl="1"/>
            <a:r>
              <a:rPr lang="en-US" dirty="0"/>
              <a:t>Entity (if PK </a:t>
            </a:r>
            <a:r>
              <a:rPr lang="en-US" dirty="0" smtClean="0"/>
              <a:t>contains </a:t>
            </a:r>
            <a:r>
              <a:rPr lang="en-US" dirty="0"/>
              <a:t>NULL)</a:t>
            </a:r>
          </a:p>
          <a:p>
            <a:pPr lvl="1"/>
            <a:r>
              <a:rPr lang="en-US" dirty="0"/>
              <a:t>Referential (FK refers to a tuple that does not exist in referenced relation)</a:t>
            </a:r>
          </a:p>
          <a:p>
            <a:endParaRPr lang="en-US" dirty="0" smtClean="0"/>
          </a:p>
          <a:p>
            <a:endParaRPr lang="en-US" dirty="0"/>
          </a:p>
        </p:txBody>
      </p:sp>
      <p:pic>
        <p:nvPicPr>
          <p:cNvPr id="4" name="Picture 3" descr="ch07_elmasri05"/>
          <p:cNvPicPr>
            <a:picLocks noChangeAspect="1" noChangeArrowheads="1"/>
          </p:cNvPicPr>
          <p:nvPr/>
        </p:nvPicPr>
        <p:blipFill rotWithShape="1">
          <a:blip r:embed="rId2" cstate="print"/>
          <a:srcRect t="14267" b="73763"/>
          <a:stretch/>
        </p:blipFill>
        <p:spPr bwMode="auto">
          <a:xfrm>
            <a:off x="228600" y="4572000"/>
            <a:ext cx="7904683" cy="732159"/>
          </a:xfrm>
          <a:prstGeom prst="rect">
            <a:avLst/>
          </a:prstGeom>
          <a:noFill/>
          <a:ln w="9525">
            <a:noFill/>
            <a:miter lim="800000"/>
            <a:headEnd/>
            <a:tailEnd/>
          </a:ln>
        </p:spPr>
      </p:pic>
    </p:spTree>
    <p:extLst>
      <p:ext uri="{BB962C8B-B14F-4D97-AF65-F5344CB8AC3E}">
        <p14:creationId xmlns:p14="http://schemas.microsoft.com/office/powerpoint/2010/main" val="882888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Insert Operation</a:t>
            </a:r>
          </a:p>
        </p:txBody>
      </p:sp>
      <p:sp>
        <p:nvSpPr>
          <p:cNvPr id="3" name="Content Placeholder 2"/>
          <p:cNvSpPr>
            <a:spLocks noGrp="1"/>
          </p:cNvSpPr>
          <p:nvPr>
            <p:ph sz="quarter" idx="1"/>
          </p:nvPr>
        </p:nvSpPr>
        <p:spPr/>
        <p:txBody>
          <a:bodyPr>
            <a:normAutofit/>
          </a:bodyPr>
          <a:lstStyle/>
          <a:p>
            <a:r>
              <a:rPr lang="en-US" dirty="0" smtClean="0"/>
              <a:t>Insert </a:t>
            </a:r>
            <a:r>
              <a:rPr lang="en-US" dirty="0"/>
              <a:t>&lt;‘Cecilia’, ‘F’, ‘</a:t>
            </a:r>
            <a:r>
              <a:rPr lang="en-US" dirty="0" err="1"/>
              <a:t>Kolonsky</a:t>
            </a:r>
            <a:r>
              <a:rPr lang="en-US" dirty="0"/>
              <a:t>’, NULL, ‘1960-04-05’, ‘6357 Windy Lane, </a:t>
            </a:r>
            <a:r>
              <a:rPr lang="en-US" dirty="0" smtClean="0"/>
              <a:t>Katy, </a:t>
            </a:r>
            <a:r>
              <a:rPr lang="en-GB" dirty="0" smtClean="0"/>
              <a:t>TX</a:t>
            </a:r>
            <a:r>
              <a:rPr lang="en-GB" dirty="0"/>
              <a:t>’, F, 28000, NULL, 4&gt; into EMPLOYEE</a:t>
            </a:r>
            <a:r>
              <a:rPr lang="en-GB" dirty="0" smtClean="0"/>
              <a:t>.</a:t>
            </a:r>
            <a:endParaRPr lang="en-GB" dirty="0"/>
          </a:p>
        </p:txBody>
      </p:sp>
      <p:pic>
        <p:nvPicPr>
          <p:cNvPr id="5" name="Picture 9" descr="fig05_06"/>
          <p:cNvPicPr>
            <a:picLocks noChangeAspect="1" noChangeArrowheads="1"/>
          </p:cNvPicPr>
          <p:nvPr/>
        </p:nvPicPr>
        <p:blipFill>
          <a:blip r:embed="rId3" cstate="print"/>
          <a:srcRect t="4191" b="48437"/>
          <a:stretch>
            <a:fillRect/>
          </a:stretch>
        </p:blipFill>
        <p:spPr bwMode="auto">
          <a:xfrm>
            <a:off x="1295399" y="2819400"/>
            <a:ext cx="6564689" cy="3962400"/>
          </a:xfrm>
          <a:prstGeom prst="rect">
            <a:avLst/>
          </a:prstGeom>
          <a:noFill/>
        </p:spPr>
      </p:pic>
    </p:spTree>
    <p:extLst>
      <p:ext uri="{BB962C8B-B14F-4D97-AF65-F5344CB8AC3E}">
        <p14:creationId xmlns:p14="http://schemas.microsoft.com/office/powerpoint/2010/main" val="350863400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Insert Operation</a:t>
            </a:r>
          </a:p>
        </p:txBody>
      </p:sp>
      <p:sp>
        <p:nvSpPr>
          <p:cNvPr id="3" name="Content Placeholder 2"/>
          <p:cNvSpPr>
            <a:spLocks noGrp="1"/>
          </p:cNvSpPr>
          <p:nvPr>
            <p:ph sz="quarter" idx="1"/>
          </p:nvPr>
        </p:nvSpPr>
        <p:spPr/>
        <p:txBody>
          <a:bodyPr>
            <a:normAutofit/>
          </a:bodyPr>
          <a:lstStyle/>
          <a:p>
            <a:r>
              <a:rPr lang="en-GB" dirty="0" smtClean="0"/>
              <a:t>Insert </a:t>
            </a:r>
            <a:r>
              <a:rPr lang="en-GB" dirty="0"/>
              <a:t>&lt;‘Cecilia’, ‘F’, ‘</a:t>
            </a:r>
            <a:r>
              <a:rPr lang="en-GB" dirty="0" err="1"/>
              <a:t>Kolonsky</a:t>
            </a:r>
            <a:r>
              <a:rPr lang="en-GB" dirty="0"/>
              <a:t>’, ‘677678989’, ‘1960-04-05’, ‘6357 </a:t>
            </a:r>
            <a:r>
              <a:rPr lang="en-GB" dirty="0" smtClean="0"/>
              <a:t>Windswept, Katy</a:t>
            </a:r>
            <a:r>
              <a:rPr lang="en-GB" dirty="0"/>
              <a:t>, TX’, F, 28000, ‘987654321’, 7&gt; into EMPLOYEE</a:t>
            </a:r>
            <a:r>
              <a:rPr lang="en-GB" dirty="0" smtClean="0"/>
              <a:t>.</a:t>
            </a:r>
            <a:endParaRPr lang="en-GB" dirty="0"/>
          </a:p>
        </p:txBody>
      </p:sp>
      <p:pic>
        <p:nvPicPr>
          <p:cNvPr id="4" name="Picture 9" descr="fig05_06"/>
          <p:cNvPicPr>
            <a:picLocks noChangeAspect="1" noChangeArrowheads="1"/>
          </p:cNvPicPr>
          <p:nvPr/>
        </p:nvPicPr>
        <p:blipFill>
          <a:blip r:embed="rId3" cstate="print"/>
          <a:srcRect t="4191" b="48437"/>
          <a:stretch>
            <a:fillRect/>
          </a:stretch>
        </p:blipFill>
        <p:spPr bwMode="auto">
          <a:xfrm>
            <a:off x="1295399" y="2819400"/>
            <a:ext cx="6564689" cy="3962400"/>
          </a:xfrm>
          <a:prstGeom prst="rect">
            <a:avLst/>
          </a:prstGeom>
          <a:noFill/>
        </p:spPr>
      </p:pic>
    </p:spTree>
    <p:extLst>
      <p:ext uri="{BB962C8B-B14F-4D97-AF65-F5344CB8AC3E}">
        <p14:creationId xmlns:p14="http://schemas.microsoft.com/office/powerpoint/2010/main" val="277383732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Insert Operation</a:t>
            </a:r>
          </a:p>
        </p:txBody>
      </p:sp>
      <p:sp>
        <p:nvSpPr>
          <p:cNvPr id="3" name="Content Placeholder 2"/>
          <p:cNvSpPr>
            <a:spLocks noGrp="1"/>
          </p:cNvSpPr>
          <p:nvPr>
            <p:ph sz="quarter" idx="1"/>
          </p:nvPr>
        </p:nvSpPr>
        <p:spPr/>
        <p:txBody>
          <a:bodyPr>
            <a:normAutofit/>
          </a:bodyPr>
          <a:lstStyle/>
          <a:p>
            <a:r>
              <a:rPr lang="en-US" dirty="0" smtClean="0"/>
              <a:t>Insert </a:t>
            </a:r>
            <a:r>
              <a:rPr lang="en-US" dirty="0"/>
              <a:t>&lt;‘Alicia’, ‘J’, ‘</a:t>
            </a:r>
            <a:r>
              <a:rPr lang="en-US" dirty="0" err="1"/>
              <a:t>Zelaya</a:t>
            </a:r>
            <a:r>
              <a:rPr lang="en-US" dirty="0"/>
              <a:t>’, ‘999887777’, ‘1960-04-05’, ‘6357 Windy Lane, </a:t>
            </a:r>
            <a:r>
              <a:rPr lang="en-US" dirty="0" smtClean="0"/>
              <a:t>Katy,</a:t>
            </a:r>
            <a:r>
              <a:rPr lang="en-GB" dirty="0" smtClean="0"/>
              <a:t>TX</a:t>
            </a:r>
            <a:r>
              <a:rPr lang="en-GB" dirty="0"/>
              <a:t>’, F, 28000, ‘987654321’, 4&gt; into EMPLOYEE</a:t>
            </a:r>
            <a:r>
              <a:rPr lang="en-GB" dirty="0" smtClean="0"/>
              <a:t>.</a:t>
            </a:r>
            <a:endParaRPr lang="en-GB" dirty="0"/>
          </a:p>
        </p:txBody>
      </p:sp>
      <p:pic>
        <p:nvPicPr>
          <p:cNvPr id="4" name="Picture 9" descr="fig05_06"/>
          <p:cNvPicPr>
            <a:picLocks noChangeAspect="1" noChangeArrowheads="1"/>
          </p:cNvPicPr>
          <p:nvPr/>
        </p:nvPicPr>
        <p:blipFill>
          <a:blip r:embed="rId3" cstate="print"/>
          <a:srcRect t="4191" b="48437"/>
          <a:stretch>
            <a:fillRect/>
          </a:stretch>
        </p:blipFill>
        <p:spPr bwMode="auto">
          <a:xfrm>
            <a:off x="1295399" y="2819400"/>
            <a:ext cx="6564689" cy="3962400"/>
          </a:xfrm>
          <a:prstGeom prst="rect">
            <a:avLst/>
          </a:prstGeom>
          <a:noFill/>
        </p:spPr>
      </p:pic>
    </p:spTree>
    <p:extLst>
      <p:ext uri="{BB962C8B-B14F-4D97-AF65-F5344CB8AC3E}">
        <p14:creationId xmlns:p14="http://schemas.microsoft.com/office/powerpoint/2010/main" val="221952164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Delete Operation and Constraints</a:t>
            </a:r>
            <a:endParaRPr lang="en-US" sz="3200" b="1" dirty="0"/>
          </a:p>
        </p:txBody>
      </p:sp>
      <p:sp>
        <p:nvSpPr>
          <p:cNvPr id="3" name="Content Placeholder 2"/>
          <p:cNvSpPr>
            <a:spLocks noGrp="1"/>
          </p:cNvSpPr>
          <p:nvPr>
            <p:ph sz="quarter" idx="1"/>
          </p:nvPr>
        </p:nvSpPr>
        <p:spPr>
          <a:xfrm>
            <a:off x="457200" y="1600200"/>
            <a:ext cx="8229600" cy="4873752"/>
          </a:xfrm>
        </p:spPr>
        <p:txBody>
          <a:bodyPr>
            <a:normAutofit/>
          </a:bodyPr>
          <a:lstStyle/>
          <a:p>
            <a:r>
              <a:rPr lang="en-US" b="1" dirty="0" smtClean="0"/>
              <a:t>Delete </a:t>
            </a:r>
            <a:r>
              <a:rPr lang="en-US" b="1" dirty="0"/>
              <a:t>operation </a:t>
            </a:r>
            <a:r>
              <a:rPr lang="en-US" dirty="0"/>
              <a:t>can </a:t>
            </a:r>
            <a:r>
              <a:rPr lang="en-US" dirty="0" smtClean="0"/>
              <a:t>violate </a:t>
            </a:r>
          </a:p>
          <a:p>
            <a:pPr lvl="1"/>
            <a:r>
              <a:rPr lang="en-US" dirty="0" smtClean="0"/>
              <a:t>Referential Integrity constraint</a:t>
            </a:r>
          </a:p>
          <a:p>
            <a:endParaRPr lang="en-GB" dirty="0" smtClean="0"/>
          </a:p>
          <a:p>
            <a:r>
              <a:rPr lang="en-GB" dirty="0" smtClean="0"/>
              <a:t>Delete </a:t>
            </a:r>
            <a:r>
              <a:rPr lang="en-GB" dirty="0"/>
              <a:t>the EMPLOYEE tuple with </a:t>
            </a:r>
            <a:r>
              <a:rPr lang="en-GB" dirty="0" err="1"/>
              <a:t>Ssn</a:t>
            </a:r>
            <a:r>
              <a:rPr lang="en-GB" dirty="0"/>
              <a:t> = ‘999887777’.</a:t>
            </a:r>
          </a:p>
          <a:p>
            <a:r>
              <a:rPr lang="en-GB" dirty="0" smtClean="0"/>
              <a:t>Delete </a:t>
            </a:r>
            <a:r>
              <a:rPr lang="en-GB" dirty="0"/>
              <a:t>the EMPLOYEE tuple with </a:t>
            </a:r>
            <a:r>
              <a:rPr lang="en-GB" dirty="0" err="1"/>
              <a:t>Ssn</a:t>
            </a:r>
            <a:r>
              <a:rPr lang="en-GB" dirty="0"/>
              <a:t> = ‘333445555’.</a:t>
            </a:r>
          </a:p>
          <a:p>
            <a:endParaRPr lang="en-US" dirty="0"/>
          </a:p>
          <a:p>
            <a:endParaRPr lang="en-US" dirty="0"/>
          </a:p>
        </p:txBody>
      </p:sp>
    </p:spTree>
    <p:extLst>
      <p:ext uri="{BB962C8B-B14F-4D97-AF65-F5344CB8AC3E}">
        <p14:creationId xmlns:p14="http://schemas.microsoft.com/office/powerpoint/2010/main" val="175877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ChangeArrowheads="1"/>
          </p:cNvSpPr>
          <p:nvPr/>
        </p:nvSpPr>
        <p:spPr bwMode="auto">
          <a:xfrm>
            <a:off x="1833563" y="1309688"/>
            <a:ext cx="9144000" cy="0"/>
          </a:xfrm>
          <a:prstGeom prst="rect">
            <a:avLst/>
          </a:prstGeom>
          <a:noFill/>
          <a:ln w="9525">
            <a:noFill/>
            <a:miter lim="800000"/>
            <a:headEnd/>
            <a:tailEnd/>
          </a:ln>
        </p:spPr>
        <p:txBody>
          <a:bodyPr>
            <a:spAutoFit/>
          </a:bodyPr>
          <a:lstStyle/>
          <a:p>
            <a:endParaRPr lang="en-US"/>
          </a:p>
        </p:txBody>
      </p:sp>
      <p:pic>
        <p:nvPicPr>
          <p:cNvPr id="7" name="Picture 9" descr="fig05_06"/>
          <p:cNvPicPr>
            <a:picLocks noChangeAspect="1" noChangeArrowheads="1"/>
          </p:cNvPicPr>
          <p:nvPr/>
        </p:nvPicPr>
        <p:blipFill rotWithShape="1">
          <a:blip r:embed="rId3" cstate="print"/>
          <a:srcRect t="4191" b="68356"/>
          <a:stretch/>
        </p:blipFill>
        <p:spPr bwMode="auto">
          <a:xfrm>
            <a:off x="558209" y="116634"/>
            <a:ext cx="6375991" cy="2230343"/>
          </a:xfrm>
          <a:prstGeom prst="rect">
            <a:avLst/>
          </a:prstGeom>
          <a:noFill/>
        </p:spPr>
      </p:pic>
      <p:pic>
        <p:nvPicPr>
          <p:cNvPr id="8" name="Picture 9" descr="fig05_06"/>
          <p:cNvPicPr>
            <a:picLocks noChangeAspect="1" noChangeArrowheads="1"/>
          </p:cNvPicPr>
          <p:nvPr/>
        </p:nvPicPr>
        <p:blipFill rotWithShape="1">
          <a:blip r:embed="rId3" cstate="print"/>
          <a:srcRect t="51700" b="-1"/>
          <a:stretch/>
        </p:blipFill>
        <p:spPr bwMode="auto">
          <a:xfrm>
            <a:off x="380999" y="2305317"/>
            <a:ext cx="7117081" cy="4380097"/>
          </a:xfrm>
          <a:prstGeom prst="rect">
            <a:avLst/>
          </a:prstGeom>
          <a:noFill/>
        </p:spPr>
      </p:pic>
      <p:pic>
        <p:nvPicPr>
          <p:cNvPr id="9" name="Picture 9" descr="fig05_06"/>
          <p:cNvPicPr>
            <a:picLocks noChangeAspect="1" noChangeArrowheads="1"/>
          </p:cNvPicPr>
          <p:nvPr/>
        </p:nvPicPr>
        <p:blipFill rotWithShape="1">
          <a:blip r:embed="rId3" cstate="print"/>
          <a:srcRect t="33082" r="36588" b="52667"/>
          <a:stretch/>
        </p:blipFill>
        <p:spPr bwMode="auto">
          <a:xfrm>
            <a:off x="2681262" y="2362200"/>
            <a:ext cx="5929338" cy="1909689"/>
          </a:xfrm>
          <a:prstGeom prst="rect">
            <a:avLst/>
          </a:prstGeom>
          <a:noFill/>
        </p:spPr>
      </p:pic>
    </p:spTree>
    <p:extLst>
      <p:ext uri="{BB962C8B-B14F-4D97-AF65-F5344CB8AC3E}">
        <p14:creationId xmlns:p14="http://schemas.microsoft.com/office/powerpoint/2010/main" val="1821101496"/>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Update Operation and Constraints</a:t>
            </a:r>
            <a:endParaRPr lang="en-US" sz="3200" b="1" dirty="0"/>
          </a:p>
        </p:txBody>
      </p:sp>
      <p:sp>
        <p:nvSpPr>
          <p:cNvPr id="3" name="Content Placeholder 2"/>
          <p:cNvSpPr>
            <a:spLocks noGrp="1"/>
          </p:cNvSpPr>
          <p:nvPr>
            <p:ph sz="quarter" idx="1"/>
          </p:nvPr>
        </p:nvSpPr>
        <p:spPr/>
        <p:txBody>
          <a:bodyPr>
            <a:normAutofit/>
          </a:bodyPr>
          <a:lstStyle/>
          <a:p>
            <a:r>
              <a:rPr lang="en-US" b="1" dirty="0" smtClean="0"/>
              <a:t>Update</a:t>
            </a:r>
            <a:r>
              <a:rPr lang="en-US" dirty="0" smtClean="0"/>
              <a:t> </a:t>
            </a:r>
            <a:r>
              <a:rPr lang="en-US" b="1" dirty="0"/>
              <a:t>operation </a:t>
            </a:r>
            <a:endParaRPr lang="en-US" b="1" dirty="0" smtClean="0"/>
          </a:p>
          <a:p>
            <a:pPr lvl="1"/>
            <a:r>
              <a:rPr lang="en-US" dirty="0" smtClean="0"/>
              <a:t>that </a:t>
            </a:r>
            <a:r>
              <a:rPr lang="en-US" dirty="0"/>
              <a:t>involve no PK or FK cause no problem </a:t>
            </a:r>
            <a:r>
              <a:rPr lang="en-US" dirty="0" smtClean="0"/>
              <a:t>... only </a:t>
            </a:r>
            <a:r>
              <a:rPr lang="en-US" dirty="0"/>
              <a:t>domain constraint are to be check </a:t>
            </a:r>
          </a:p>
          <a:p>
            <a:pPr lvl="1"/>
            <a:r>
              <a:rPr lang="en-US" dirty="0"/>
              <a:t>Modifying PK is like deleting a tuple  and then </a:t>
            </a:r>
            <a:r>
              <a:rPr lang="en-US" dirty="0" smtClean="0"/>
              <a:t>inserting </a:t>
            </a:r>
            <a:r>
              <a:rPr lang="en-US" dirty="0"/>
              <a:t>another </a:t>
            </a:r>
          </a:p>
          <a:p>
            <a:endParaRPr lang="en-US" dirty="0"/>
          </a:p>
        </p:txBody>
      </p:sp>
    </p:spTree>
    <p:extLst>
      <p:ext uri="{BB962C8B-B14F-4D97-AF65-F5344CB8AC3E}">
        <p14:creationId xmlns:p14="http://schemas.microsoft.com/office/powerpoint/2010/main" val="175877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Update Operation and Constraints</a:t>
            </a:r>
            <a:endParaRPr lang="en-US" sz="3200" b="1" dirty="0"/>
          </a:p>
        </p:txBody>
      </p:sp>
      <p:sp>
        <p:nvSpPr>
          <p:cNvPr id="3" name="Content Placeholder 2"/>
          <p:cNvSpPr>
            <a:spLocks noGrp="1"/>
          </p:cNvSpPr>
          <p:nvPr>
            <p:ph sz="quarter" idx="1"/>
          </p:nvPr>
        </p:nvSpPr>
        <p:spPr/>
        <p:txBody>
          <a:bodyPr>
            <a:normAutofit/>
          </a:bodyPr>
          <a:lstStyle/>
          <a:p>
            <a:r>
              <a:rPr lang="en-GB" dirty="0"/>
              <a:t>Update the </a:t>
            </a:r>
            <a:r>
              <a:rPr lang="en-GB" dirty="0" err="1"/>
              <a:t>Dno</a:t>
            </a:r>
            <a:r>
              <a:rPr lang="en-GB" dirty="0"/>
              <a:t> of the EMPLOYEE tuple with </a:t>
            </a:r>
            <a:r>
              <a:rPr lang="en-GB" dirty="0" err="1"/>
              <a:t>Ssn</a:t>
            </a:r>
            <a:r>
              <a:rPr lang="en-GB" dirty="0"/>
              <a:t> = ‘999887777’ to 7</a:t>
            </a:r>
            <a:r>
              <a:rPr lang="en-GB" dirty="0" smtClean="0"/>
              <a:t>.</a:t>
            </a:r>
          </a:p>
          <a:p>
            <a:endParaRPr lang="en-GB" dirty="0"/>
          </a:p>
          <a:p>
            <a:r>
              <a:rPr lang="en-GB" dirty="0" smtClean="0"/>
              <a:t>Update </a:t>
            </a:r>
            <a:r>
              <a:rPr lang="en-GB" dirty="0"/>
              <a:t>the </a:t>
            </a:r>
            <a:r>
              <a:rPr lang="en-GB" dirty="0" err="1"/>
              <a:t>Ssn</a:t>
            </a:r>
            <a:r>
              <a:rPr lang="en-GB" dirty="0"/>
              <a:t> of the EMPLOYEE tuple with </a:t>
            </a:r>
            <a:r>
              <a:rPr lang="en-GB" dirty="0" err="1"/>
              <a:t>Ssn</a:t>
            </a:r>
            <a:r>
              <a:rPr lang="en-GB" dirty="0"/>
              <a:t> = ‘999887777’ </a:t>
            </a:r>
            <a:r>
              <a:rPr lang="en-GB" dirty="0" smtClean="0"/>
              <a:t>to </a:t>
            </a:r>
            <a:r>
              <a:rPr lang="en-US" dirty="0" smtClean="0"/>
              <a:t>‘</a:t>
            </a:r>
            <a:r>
              <a:rPr lang="en-US" dirty="0"/>
              <a:t>987654321</a:t>
            </a:r>
            <a:r>
              <a:rPr lang="en-US" dirty="0" smtClean="0"/>
              <a:t>’.</a:t>
            </a:r>
            <a:endParaRPr lang="en-US" dirty="0"/>
          </a:p>
        </p:txBody>
      </p:sp>
    </p:spTree>
    <p:extLst>
      <p:ext uri="{BB962C8B-B14F-4D97-AF65-F5344CB8AC3E}">
        <p14:creationId xmlns:p14="http://schemas.microsoft.com/office/powerpoint/2010/main" val="287642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ChangeArrowheads="1"/>
          </p:cNvSpPr>
          <p:nvPr/>
        </p:nvSpPr>
        <p:spPr bwMode="auto">
          <a:xfrm>
            <a:off x="1833563" y="1309688"/>
            <a:ext cx="9144000" cy="0"/>
          </a:xfrm>
          <a:prstGeom prst="rect">
            <a:avLst/>
          </a:prstGeom>
          <a:noFill/>
          <a:ln w="9525">
            <a:noFill/>
            <a:miter lim="800000"/>
            <a:headEnd/>
            <a:tailEnd/>
          </a:ln>
        </p:spPr>
        <p:txBody>
          <a:bodyPr>
            <a:spAutoFit/>
          </a:bodyPr>
          <a:lstStyle/>
          <a:p>
            <a:endParaRPr lang="en-US"/>
          </a:p>
        </p:txBody>
      </p:sp>
      <p:pic>
        <p:nvPicPr>
          <p:cNvPr id="7" name="Picture 9" descr="fig05_06"/>
          <p:cNvPicPr>
            <a:picLocks noChangeAspect="1" noChangeArrowheads="1"/>
          </p:cNvPicPr>
          <p:nvPr/>
        </p:nvPicPr>
        <p:blipFill rotWithShape="1">
          <a:blip r:embed="rId3" cstate="print"/>
          <a:srcRect t="4191" b="68356"/>
          <a:stretch/>
        </p:blipFill>
        <p:spPr bwMode="auto">
          <a:xfrm>
            <a:off x="558209" y="116634"/>
            <a:ext cx="6375991" cy="2230343"/>
          </a:xfrm>
          <a:prstGeom prst="rect">
            <a:avLst/>
          </a:prstGeom>
          <a:noFill/>
        </p:spPr>
      </p:pic>
      <p:pic>
        <p:nvPicPr>
          <p:cNvPr id="8" name="Picture 9" descr="fig05_06"/>
          <p:cNvPicPr>
            <a:picLocks noChangeAspect="1" noChangeArrowheads="1"/>
          </p:cNvPicPr>
          <p:nvPr/>
        </p:nvPicPr>
        <p:blipFill rotWithShape="1">
          <a:blip r:embed="rId3" cstate="print"/>
          <a:srcRect t="51700" b="-1"/>
          <a:stretch/>
        </p:blipFill>
        <p:spPr bwMode="auto">
          <a:xfrm>
            <a:off x="380999" y="2305317"/>
            <a:ext cx="7117081" cy="4380097"/>
          </a:xfrm>
          <a:prstGeom prst="rect">
            <a:avLst/>
          </a:prstGeom>
          <a:noFill/>
        </p:spPr>
      </p:pic>
      <p:pic>
        <p:nvPicPr>
          <p:cNvPr id="9" name="Picture 9" descr="fig05_06"/>
          <p:cNvPicPr>
            <a:picLocks noChangeAspect="1" noChangeArrowheads="1"/>
          </p:cNvPicPr>
          <p:nvPr/>
        </p:nvPicPr>
        <p:blipFill rotWithShape="1">
          <a:blip r:embed="rId3" cstate="print"/>
          <a:srcRect t="33082" r="36588" b="52667"/>
          <a:stretch/>
        </p:blipFill>
        <p:spPr bwMode="auto">
          <a:xfrm>
            <a:off x="2681262" y="2362200"/>
            <a:ext cx="5929338" cy="1909689"/>
          </a:xfrm>
          <a:prstGeom prst="rect">
            <a:avLst/>
          </a:prstGeom>
          <a:noFill/>
        </p:spPr>
      </p:pic>
    </p:spTree>
    <p:extLst>
      <p:ext uri="{BB962C8B-B14F-4D97-AF65-F5344CB8AC3E}">
        <p14:creationId xmlns:p14="http://schemas.microsoft.com/office/powerpoint/2010/main" val="2640425877"/>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Operations and Constraints</a:t>
            </a:r>
            <a:endParaRPr lang="en-US" sz="3200" b="1" dirty="0"/>
          </a:p>
        </p:txBody>
      </p:sp>
      <p:sp>
        <p:nvSpPr>
          <p:cNvPr id="3" name="Content Placeholder 2"/>
          <p:cNvSpPr>
            <a:spLocks noGrp="1"/>
          </p:cNvSpPr>
          <p:nvPr>
            <p:ph sz="quarter" idx="1"/>
          </p:nvPr>
        </p:nvSpPr>
        <p:spPr/>
        <p:txBody>
          <a:bodyPr>
            <a:normAutofit fontScale="92500" lnSpcReduction="20000"/>
          </a:bodyPr>
          <a:lstStyle/>
          <a:p>
            <a:r>
              <a:rPr lang="en-US" b="1" dirty="0" smtClean="0"/>
              <a:t>Insert </a:t>
            </a:r>
            <a:r>
              <a:rPr lang="en-US" b="1" dirty="0"/>
              <a:t>Operation</a:t>
            </a:r>
            <a:r>
              <a:rPr lang="en-US" dirty="0"/>
              <a:t> </a:t>
            </a:r>
            <a:r>
              <a:rPr lang="en-US" dirty="0" smtClean="0"/>
              <a:t>can violate following constraints</a:t>
            </a:r>
            <a:endParaRPr lang="en-US" dirty="0"/>
          </a:p>
          <a:p>
            <a:pPr lvl="1"/>
            <a:r>
              <a:rPr lang="en-US" dirty="0"/>
              <a:t>Domain </a:t>
            </a:r>
            <a:r>
              <a:rPr lang="en-US" dirty="0" smtClean="0"/>
              <a:t>constraint</a:t>
            </a:r>
            <a:endParaRPr lang="en-US" dirty="0"/>
          </a:p>
          <a:p>
            <a:pPr lvl="1"/>
            <a:r>
              <a:rPr lang="en-US" dirty="0"/>
              <a:t>Key constraint (if key value already exists)</a:t>
            </a:r>
          </a:p>
          <a:p>
            <a:pPr lvl="1"/>
            <a:r>
              <a:rPr lang="en-US" dirty="0"/>
              <a:t>Entity (if PK </a:t>
            </a:r>
            <a:r>
              <a:rPr lang="en-US" dirty="0" smtClean="0"/>
              <a:t>contains </a:t>
            </a:r>
            <a:r>
              <a:rPr lang="en-US" dirty="0"/>
              <a:t>NULL)</a:t>
            </a:r>
          </a:p>
          <a:p>
            <a:pPr lvl="1"/>
            <a:r>
              <a:rPr lang="en-US" dirty="0"/>
              <a:t>Referential (FK refers to a tuple that does not exist in referenced relation)</a:t>
            </a:r>
          </a:p>
          <a:p>
            <a:endParaRPr lang="en-US" dirty="0" smtClean="0"/>
          </a:p>
          <a:p>
            <a:r>
              <a:rPr lang="en-US" b="1" dirty="0" smtClean="0"/>
              <a:t>Delete </a:t>
            </a:r>
            <a:r>
              <a:rPr lang="en-US" b="1" dirty="0"/>
              <a:t>operation </a:t>
            </a:r>
            <a:r>
              <a:rPr lang="en-US" dirty="0"/>
              <a:t>can </a:t>
            </a:r>
            <a:r>
              <a:rPr lang="en-US" dirty="0" smtClean="0"/>
              <a:t>violate </a:t>
            </a:r>
          </a:p>
          <a:p>
            <a:pPr lvl="1"/>
            <a:r>
              <a:rPr lang="en-US" dirty="0" smtClean="0"/>
              <a:t>Referential </a:t>
            </a:r>
            <a:r>
              <a:rPr lang="en-US" dirty="0"/>
              <a:t>I</a:t>
            </a:r>
            <a:r>
              <a:rPr lang="en-US" dirty="0" smtClean="0"/>
              <a:t>ntegrity </a:t>
            </a:r>
            <a:r>
              <a:rPr lang="en-US" dirty="0"/>
              <a:t>constraint</a:t>
            </a:r>
          </a:p>
          <a:p>
            <a:endParaRPr lang="en-US" dirty="0"/>
          </a:p>
          <a:p>
            <a:r>
              <a:rPr lang="en-US" b="1" dirty="0" smtClean="0"/>
              <a:t>Update</a:t>
            </a:r>
            <a:r>
              <a:rPr lang="en-US" dirty="0" smtClean="0"/>
              <a:t> </a:t>
            </a:r>
            <a:r>
              <a:rPr lang="en-US" b="1" dirty="0"/>
              <a:t>operation </a:t>
            </a:r>
            <a:endParaRPr lang="en-US" b="1" dirty="0" smtClean="0"/>
          </a:p>
          <a:p>
            <a:pPr lvl="1"/>
            <a:r>
              <a:rPr lang="en-US" dirty="0" smtClean="0"/>
              <a:t>that </a:t>
            </a:r>
            <a:r>
              <a:rPr lang="en-US" dirty="0"/>
              <a:t>involve no PK or FK cause no problem </a:t>
            </a:r>
            <a:r>
              <a:rPr lang="en-US" dirty="0" smtClean="0"/>
              <a:t>... only </a:t>
            </a:r>
            <a:r>
              <a:rPr lang="en-US" dirty="0"/>
              <a:t>domain constraint are to be check </a:t>
            </a:r>
          </a:p>
          <a:p>
            <a:pPr lvl="1"/>
            <a:r>
              <a:rPr lang="en-US" dirty="0"/>
              <a:t>Modifying PK is like deleting a tuple  and then </a:t>
            </a:r>
            <a:r>
              <a:rPr lang="en-US" dirty="0" smtClean="0"/>
              <a:t>inserting </a:t>
            </a:r>
            <a:r>
              <a:rPr lang="en-US" dirty="0"/>
              <a:t>another </a:t>
            </a:r>
          </a:p>
          <a:p>
            <a:endParaRPr lang="en-US" dirty="0"/>
          </a:p>
        </p:txBody>
      </p:sp>
    </p:spTree>
    <p:extLst>
      <p:ext uri="{BB962C8B-B14F-4D97-AF65-F5344CB8AC3E}">
        <p14:creationId xmlns:p14="http://schemas.microsoft.com/office/powerpoint/2010/main" val="1851675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lvl="0"/>
            <a:r>
              <a:rPr lang="en-US" dirty="0"/>
              <a:t>In case of integrity violation, several actions can be taken:</a:t>
            </a:r>
          </a:p>
          <a:p>
            <a:pPr lvl="1"/>
            <a:r>
              <a:rPr lang="en-US" sz="2400" dirty="0"/>
              <a:t>Cancel the operation that causes the violation (REJECT option)</a:t>
            </a:r>
          </a:p>
          <a:p>
            <a:pPr lvl="1"/>
            <a:r>
              <a:rPr lang="en-US" sz="2400" dirty="0"/>
              <a:t>Perform the operation but inform the user of the violation</a:t>
            </a:r>
          </a:p>
          <a:p>
            <a:pPr lvl="1"/>
            <a:r>
              <a:rPr lang="en-US" sz="2400" dirty="0"/>
              <a:t>Trigger additional updates so the violation is corrected (CASCADE option, SET NULL option)</a:t>
            </a:r>
          </a:p>
          <a:p>
            <a:pPr lvl="1"/>
            <a:r>
              <a:rPr lang="en-US" sz="2400" dirty="0"/>
              <a:t>Execute a user-specified error-correction routine </a:t>
            </a:r>
          </a:p>
          <a:p>
            <a:endParaRPr lang="en-US" dirty="0"/>
          </a:p>
          <a:p>
            <a:endParaRPr lang="en-US" dirty="0"/>
          </a:p>
        </p:txBody>
      </p:sp>
    </p:spTree>
    <p:extLst>
      <p:ext uri="{BB962C8B-B14F-4D97-AF65-F5344CB8AC3E}">
        <p14:creationId xmlns:p14="http://schemas.microsoft.com/office/powerpoint/2010/main" val="1194094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 Class Exercise</a:t>
            </a:r>
            <a:endParaRPr lang="en-US" dirty="0"/>
          </a:p>
        </p:txBody>
      </p:sp>
      <p:sp>
        <p:nvSpPr>
          <p:cNvPr id="3" name="Content Placeholder 2"/>
          <p:cNvSpPr>
            <a:spLocks noGrp="1"/>
          </p:cNvSpPr>
          <p:nvPr>
            <p:ph sz="quarter" idx="1"/>
          </p:nvPr>
        </p:nvSpPr>
        <p:spPr/>
        <p:txBody>
          <a:bodyPr>
            <a:normAutofit/>
          </a:bodyPr>
          <a:lstStyle/>
          <a:p>
            <a:pPr marL="0" indent="0">
              <a:spcBef>
                <a:spcPct val="50000"/>
              </a:spcBef>
              <a:buNone/>
            </a:pPr>
            <a:r>
              <a:rPr lang="en-US" dirty="0" smtClean="0">
                <a:solidFill>
                  <a:schemeClr val="tx2"/>
                </a:solidFill>
                <a:latin typeface="Times New Roman" charset="0"/>
              </a:rPr>
              <a:t>Exercise: Consider the following relations for a database that keeps track of student enrollment in courses and the books adopted for each course:</a:t>
            </a:r>
          </a:p>
          <a:p>
            <a:pPr>
              <a:spcBef>
                <a:spcPct val="50000"/>
              </a:spcBef>
            </a:pPr>
            <a:r>
              <a:rPr lang="en-US" dirty="0" smtClean="0">
                <a:solidFill>
                  <a:schemeClr val="tx2"/>
                </a:solidFill>
                <a:latin typeface="Times New Roman" charset="0"/>
              </a:rPr>
              <a:t>STUDENT(</a:t>
            </a:r>
            <a:r>
              <a:rPr lang="en-US" u="sng" dirty="0" smtClean="0">
                <a:solidFill>
                  <a:schemeClr val="tx2"/>
                </a:solidFill>
                <a:latin typeface="Times New Roman" charset="0"/>
              </a:rPr>
              <a:t>SSN</a:t>
            </a:r>
            <a:r>
              <a:rPr lang="en-US" dirty="0" smtClean="0">
                <a:solidFill>
                  <a:schemeClr val="tx2"/>
                </a:solidFill>
                <a:latin typeface="Times New Roman" charset="0"/>
              </a:rPr>
              <a:t>, Name, Major, </a:t>
            </a:r>
            <a:r>
              <a:rPr lang="en-US" dirty="0" err="1" smtClean="0">
                <a:solidFill>
                  <a:schemeClr val="tx2"/>
                </a:solidFill>
                <a:latin typeface="Times New Roman" charset="0"/>
              </a:rPr>
              <a:t>Bdate</a:t>
            </a:r>
            <a:r>
              <a:rPr lang="en-US" dirty="0" smtClean="0">
                <a:solidFill>
                  <a:schemeClr val="tx2"/>
                </a:solidFill>
                <a:latin typeface="Times New Roman" charset="0"/>
              </a:rPr>
              <a:t>)</a:t>
            </a:r>
          </a:p>
          <a:p>
            <a:pPr>
              <a:spcBef>
                <a:spcPct val="50000"/>
              </a:spcBef>
            </a:pPr>
            <a:r>
              <a:rPr lang="en-US" dirty="0" smtClean="0">
                <a:solidFill>
                  <a:schemeClr val="tx2"/>
                </a:solidFill>
                <a:latin typeface="Times New Roman" charset="0"/>
              </a:rPr>
              <a:t>COURSE(</a:t>
            </a:r>
            <a:r>
              <a:rPr lang="en-US" u="sng" dirty="0" smtClean="0">
                <a:solidFill>
                  <a:schemeClr val="tx2"/>
                </a:solidFill>
                <a:latin typeface="Times New Roman" charset="0"/>
              </a:rPr>
              <a:t>Course#</a:t>
            </a:r>
            <a:r>
              <a:rPr lang="en-US" dirty="0" smtClean="0">
                <a:solidFill>
                  <a:schemeClr val="tx2"/>
                </a:solidFill>
                <a:latin typeface="Times New Roman" charset="0"/>
              </a:rPr>
              <a:t>, </a:t>
            </a:r>
            <a:r>
              <a:rPr lang="en-US" dirty="0" err="1" smtClean="0">
                <a:solidFill>
                  <a:schemeClr val="tx2"/>
                </a:solidFill>
                <a:latin typeface="Times New Roman" charset="0"/>
              </a:rPr>
              <a:t>Cname</a:t>
            </a:r>
            <a:r>
              <a:rPr lang="en-US" dirty="0" smtClean="0">
                <a:solidFill>
                  <a:schemeClr val="tx2"/>
                </a:solidFill>
                <a:latin typeface="Times New Roman" charset="0"/>
              </a:rPr>
              <a:t>, Dept)</a:t>
            </a:r>
          </a:p>
          <a:p>
            <a:pPr>
              <a:spcBef>
                <a:spcPct val="50000"/>
              </a:spcBef>
            </a:pPr>
            <a:r>
              <a:rPr lang="en-US" dirty="0" smtClean="0">
                <a:solidFill>
                  <a:schemeClr val="tx2"/>
                </a:solidFill>
                <a:latin typeface="Times New Roman" charset="0"/>
              </a:rPr>
              <a:t>ENROLL(</a:t>
            </a:r>
            <a:r>
              <a:rPr lang="en-US" u="sng" dirty="0" smtClean="0">
                <a:solidFill>
                  <a:schemeClr val="tx2"/>
                </a:solidFill>
                <a:latin typeface="Times New Roman" charset="0"/>
              </a:rPr>
              <a:t>SSN</a:t>
            </a:r>
            <a:r>
              <a:rPr lang="en-US" dirty="0" smtClean="0">
                <a:solidFill>
                  <a:schemeClr val="tx2"/>
                </a:solidFill>
                <a:latin typeface="Times New Roman" charset="0"/>
              </a:rPr>
              <a:t>, </a:t>
            </a:r>
            <a:r>
              <a:rPr lang="en-US" u="sng" dirty="0" smtClean="0">
                <a:solidFill>
                  <a:schemeClr val="tx2"/>
                </a:solidFill>
                <a:latin typeface="Times New Roman" charset="0"/>
              </a:rPr>
              <a:t>Course#</a:t>
            </a:r>
            <a:r>
              <a:rPr lang="en-US" dirty="0" smtClean="0">
                <a:solidFill>
                  <a:schemeClr val="tx2"/>
                </a:solidFill>
                <a:latin typeface="Times New Roman" charset="0"/>
              </a:rPr>
              <a:t>, </a:t>
            </a:r>
            <a:r>
              <a:rPr lang="en-US" u="sng" dirty="0" smtClean="0">
                <a:solidFill>
                  <a:schemeClr val="tx2"/>
                </a:solidFill>
                <a:latin typeface="Times New Roman" charset="0"/>
              </a:rPr>
              <a:t>Quarter</a:t>
            </a:r>
            <a:r>
              <a:rPr lang="en-US" dirty="0" smtClean="0">
                <a:solidFill>
                  <a:schemeClr val="tx2"/>
                </a:solidFill>
                <a:latin typeface="Times New Roman" charset="0"/>
              </a:rPr>
              <a:t>, Grade)</a:t>
            </a:r>
          </a:p>
          <a:p>
            <a:pPr>
              <a:spcBef>
                <a:spcPct val="50000"/>
              </a:spcBef>
            </a:pPr>
            <a:r>
              <a:rPr lang="en-US" dirty="0" smtClean="0">
                <a:solidFill>
                  <a:schemeClr val="tx2"/>
                </a:solidFill>
                <a:latin typeface="Times New Roman" charset="0"/>
              </a:rPr>
              <a:t>BOOK_ADOPTION(</a:t>
            </a:r>
            <a:r>
              <a:rPr lang="en-US" u="sng" dirty="0" smtClean="0">
                <a:solidFill>
                  <a:schemeClr val="tx2"/>
                </a:solidFill>
                <a:latin typeface="Times New Roman" charset="0"/>
              </a:rPr>
              <a:t>Course#</a:t>
            </a:r>
            <a:r>
              <a:rPr lang="en-US" dirty="0" smtClean="0">
                <a:solidFill>
                  <a:schemeClr val="tx2"/>
                </a:solidFill>
                <a:latin typeface="Times New Roman" charset="0"/>
              </a:rPr>
              <a:t>, </a:t>
            </a:r>
            <a:r>
              <a:rPr lang="en-US" u="sng" dirty="0" smtClean="0">
                <a:solidFill>
                  <a:schemeClr val="tx2"/>
                </a:solidFill>
                <a:latin typeface="Times New Roman" charset="0"/>
              </a:rPr>
              <a:t>Quarter</a:t>
            </a:r>
            <a:r>
              <a:rPr lang="en-US" dirty="0" smtClean="0">
                <a:solidFill>
                  <a:schemeClr val="tx2"/>
                </a:solidFill>
                <a:latin typeface="Times New Roman" charset="0"/>
              </a:rPr>
              <a:t>, </a:t>
            </a:r>
            <a:r>
              <a:rPr lang="en-US" dirty="0" err="1" smtClean="0">
                <a:solidFill>
                  <a:schemeClr val="tx2"/>
                </a:solidFill>
                <a:latin typeface="Times New Roman" charset="0"/>
              </a:rPr>
              <a:t>Book_ISBN</a:t>
            </a:r>
            <a:r>
              <a:rPr lang="en-US" dirty="0" smtClean="0">
                <a:solidFill>
                  <a:schemeClr val="tx2"/>
                </a:solidFill>
                <a:latin typeface="Times New Roman" charset="0"/>
              </a:rPr>
              <a:t>)</a:t>
            </a:r>
          </a:p>
          <a:p>
            <a:pPr>
              <a:spcBef>
                <a:spcPct val="50000"/>
              </a:spcBef>
            </a:pPr>
            <a:r>
              <a:rPr lang="en-US" dirty="0" smtClean="0">
                <a:solidFill>
                  <a:schemeClr val="tx2"/>
                </a:solidFill>
                <a:latin typeface="Times New Roman" charset="0"/>
              </a:rPr>
              <a:t>TEXT(</a:t>
            </a:r>
            <a:r>
              <a:rPr lang="en-US" u="sng" dirty="0" err="1" smtClean="0">
                <a:solidFill>
                  <a:schemeClr val="tx2"/>
                </a:solidFill>
                <a:latin typeface="Times New Roman" charset="0"/>
              </a:rPr>
              <a:t>Book_ISBN</a:t>
            </a:r>
            <a:r>
              <a:rPr lang="en-US" dirty="0" smtClean="0">
                <a:solidFill>
                  <a:schemeClr val="tx2"/>
                </a:solidFill>
                <a:latin typeface="Times New Roman" charset="0"/>
              </a:rPr>
              <a:t>, </a:t>
            </a:r>
            <a:r>
              <a:rPr lang="en-US" dirty="0" err="1" smtClean="0">
                <a:solidFill>
                  <a:schemeClr val="tx2"/>
                </a:solidFill>
                <a:latin typeface="Times New Roman" charset="0"/>
              </a:rPr>
              <a:t>Book_Title</a:t>
            </a:r>
            <a:r>
              <a:rPr lang="en-US" dirty="0" smtClean="0">
                <a:solidFill>
                  <a:schemeClr val="tx2"/>
                </a:solidFill>
                <a:latin typeface="Times New Roman" charset="0"/>
              </a:rPr>
              <a:t>, Publisher, Author)</a:t>
            </a:r>
          </a:p>
          <a:p>
            <a:pPr marL="0" indent="0">
              <a:spcBef>
                <a:spcPct val="50000"/>
              </a:spcBef>
              <a:buNone/>
            </a:pPr>
            <a:r>
              <a:rPr lang="en-US" b="1" dirty="0" smtClean="0">
                <a:solidFill>
                  <a:schemeClr val="tx2"/>
                </a:solidFill>
                <a:latin typeface="Times New Roman" charset="0"/>
              </a:rPr>
              <a:t>Draw a relational schema diagram specifying the foreign keys for this schema.</a:t>
            </a:r>
          </a:p>
          <a:p>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Assignment #1</a:t>
            </a:r>
            <a:endParaRPr lang="en-US" dirty="0"/>
          </a:p>
        </p:txBody>
      </p:sp>
      <p:sp>
        <p:nvSpPr>
          <p:cNvPr id="3" name="Content Placeholder 2"/>
          <p:cNvSpPr>
            <a:spLocks noGrp="1"/>
          </p:cNvSpPr>
          <p:nvPr>
            <p:ph sz="quarter" idx="1"/>
          </p:nvPr>
        </p:nvSpPr>
        <p:spPr/>
        <p:txBody>
          <a:bodyPr/>
          <a:lstStyle/>
          <a:p>
            <a:pPr marL="0" indent="0">
              <a:buNone/>
            </a:pPr>
            <a:r>
              <a:rPr lang="en-US" dirty="0" smtClean="0"/>
              <a:t>Due before start of the class</a:t>
            </a:r>
          </a:p>
          <a:p>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4188</TotalTime>
  <Words>4058</Words>
  <Application>Microsoft Office PowerPoint</Application>
  <PresentationFormat>On-screen Show (4:3)</PresentationFormat>
  <Paragraphs>557</Paragraphs>
  <Slides>51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Calibri</vt:lpstr>
      <vt:lpstr>Century Schoolbook</vt:lpstr>
      <vt:lpstr>Symbol</vt:lpstr>
      <vt:lpstr>Times New Roman</vt:lpstr>
      <vt:lpstr>Wingdings</vt:lpstr>
      <vt:lpstr>Wingdings 2</vt:lpstr>
      <vt:lpstr>Oriel</vt:lpstr>
      <vt:lpstr>Relational Database Model and Constraints</vt:lpstr>
      <vt:lpstr>Flat Database</vt:lpstr>
      <vt:lpstr>Relational Database</vt:lpstr>
      <vt:lpstr>Relational Database</vt:lpstr>
      <vt:lpstr>Relational Database vs Spreadsheet</vt:lpstr>
      <vt:lpstr>Formal Definitions</vt:lpstr>
      <vt:lpstr>Formal Definitions</vt:lpstr>
      <vt:lpstr>Formal Definitions</vt:lpstr>
      <vt:lpstr>Definitions using Set Theory</vt:lpstr>
      <vt:lpstr>PowerPoint Presentation</vt:lpstr>
      <vt:lpstr>Characteristics Of Relations</vt:lpstr>
      <vt:lpstr>Characteristics Of Relations</vt:lpstr>
      <vt:lpstr>Characteristics Of Relations</vt:lpstr>
      <vt:lpstr>Characteristics Of Relations</vt:lpstr>
      <vt:lpstr>RELATIONS</vt:lpstr>
      <vt:lpstr>Why we need Multiple Tables</vt:lpstr>
      <vt:lpstr>Relational Database Constraints </vt:lpstr>
      <vt:lpstr>PowerPoint Presentation</vt:lpstr>
      <vt:lpstr>Categories of Constraints</vt:lpstr>
      <vt:lpstr>Schema-Based constraints</vt:lpstr>
      <vt:lpstr>Key Constraint</vt:lpstr>
      <vt:lpstr>Example of a university database</vt:lpstr>
      <vt:lpstr>Key Constraint</vt:lpstr>
      <vt:lpstr>Key Constraint</vt:lpstr>
      <vt:lpstr>Key Constraint</vt:lpstr>
      <vt:lpstr>PowerPoint Presentation</vt:lpstr>
      <vt:lpstr>PowerPoint Presentation</vt:lpstr>
      <vt:lpstr>Integrity Constraints</vt:lpstr>
      <vt:lpstr>Entity Integrity</vt:lpstr>
      <vt:lpstr>PowerPoint Presentation</vt:lpstr>
      <vt:lpstr>Referential Integrity</vt:lpstr>
      <vt:lpstr>Foreign Key (FK)</vt:lpstr>
      <vt:lpstr>Foreign Key (FK)</vt:lpstr>
      <vt:lpstr>Specify Referential Integrity Constraints</vt:lpstr>
      <vt:lpstr>PowerPoint Presentation</vt:lpstr>
      <vt:lpstr>Foreign Key (FK)</vt:lpstr>
      <vt:lpstr>Semantic Integrity Constraints</vt:lpstr>
      <vt:lpstr>Operations in RDBMS</vt:lpstr>
      <vt:lpstr>Insert Operation</vt:lpstr>
      <vt:lpstr>Insert Operation</vt:lpstr>
      <vt:lpstr>Insert Operation</vt:lpstr>
      <vt:lpstr>Insert Operation</vt:lpstr>
      <vt:lpstr>Delete Operation and Constraints</vt:lpstr>
      <vt:lpstr>PowerPoint Presentation</vt:lpstr>
      <vt:lpstr>Update Operation and Constraints</vt:lpstr>
      <vt:lpstr>Update Operation and Constraints</vt:lpstr>
      <vt:lpstr>PowerPoint Presentation</vt:lpstr>
      <vt:lpstr>Operations and Constraints</vt:lpstr>
      <vt:lpstr>PowerPoint Presentation</vt:lpstr>
      <vt:lpstr>In Class Exercise</vt:lpstr>
      <vt:lpstr>Assignment #1</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Database Constraints</dc:title>
  <dc:creator>Zareen Alamgir</dc:creator>
  <cp:lastModifiedBy>Abrar Alamgir</cp:lastModifiedBy>
  <cp:revision>158</cp:revision>
  <dcterms:created xsi:type="dcterms:W3CDTF">2011-02-07T14:03:14Z</dcterms:created>
  <dcterms:modified xsi:type="dcterms:W3CDTF">2015-08-17T12:18:10Z</dcterms:modified>
</cp:coreProperties>
</file>