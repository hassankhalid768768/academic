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01063-C399-4E24-8994-85BA31A9A566}" type="doc">
      <dgm:prSet loTypeId="urn:microsoft.com/office/officeart/2005/8/layout/arrow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A11BCA-65F1-4213-A7FF-266B0544E4F0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Establish Islamic Banking as banking of first choice…</a:t>
          </a:r>
        </a:p>
      </dgm:t>
    </dgm:pt>
    <dgm:pt modelId="{5AD555B1-A559-4565-A8ED-F011090C23EE}" type="parTrans" cxnId="{B14AA36A-3CC9-4F38-8BA7-194AB982169D}">
      <dgm:prSet/>
      <dgm:spPr/>
      <dgm:t>
        <a:bodyPr/>
        <a:lstStyle/>
        <a:p>
          <a:endParaRPr lang="en-US"/>
        </a:p>
      </dgm:t>
    </dgm:pt>
    <dgm:pt modelId="{CEFB08F7-17FC-4DC7-9475-F560CA4AC17C}" type="sibTrans" cxnId="{B14AA36A-3CC9-4F38-8BA7-194AB982169D}">
      <dgm:prSet/>
      <dgm:spPr/>
      <dgm:t>
        <a:bodyPr/>
        <a:lstStyle/>
        <a:p>
          <a:endParaRPr lang="en-US"/>
        </a:p>
      </dgm:t>
    </dgm:pt>
    <dgm:pt modelId="{0ABA9801-CDC0-497B-8997-80F21539C614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To be a premier Islamic bank, offering a one-stop shop for innovative value-added products and services to our customer within the bounds of Shariah… </a:t>
          </a:r>
        </a:p>
      </dgm:t>
    </dgm:pt>
    <dgm:pt modelId="{C3358FA7-E1A9-4444-9034-79EB7D835E70}" type="parTrans" cxnId="{F5FC74CE-37FE-4486-896B-5E263F267998}">
      <dgm:prSet/>
      <dgm:spPr/>
      <dgm:t>
        <a:bodyPr/>
        <a:lstStyle/>
        <a:p>
          <a:endParaRPr lang="en-US"/>
        </a:p>
      </dgm:t>
    </dgm:pt>
    <dgm:pt modelId="{06775E21-9155-48F9-9749-86067ADFBC64}" type="sibTrans" cxnId="{F5FC74CE-37FE-4486-896B-5E263F267998}">
      <dgm:prSet/>
      <dgm:spPr/>
      <dgm:t>
        <a:bodyPr/>
        <a:lstStyle/>
        <a:p>
          <a:endParaRPr lang="en-US"/>
        </a:p>
      </dgm:t>
    </dgm:pt>
    <dgm:pt modelId="{3AF202D0-574F-4935-8562-950BB620D117}" type="pres">
      <dgm:prSet presAssocID="{52601063-C399-4E24-8994-85BA31A9A566}" presName="cycle" presStyleCnt="0">
        <dgm:presLayoutVars>
          <dgm:dir/>
          <dgm:resizeHandles val="exact"/>
        </dgm:presLayoutVars>
      </dgm:prSet>
      <dgm:spPr/>
    </dgm:pt>
    <dgm:pt modelId="{2E7AD4C9-504B-4CEB-9786-0CD9884E75EC}" type="pres">
      <dgm:prSet presAssocID="{8EA11BCA-65F1-4213-A7FF-266B0544E4F0}" presName="arrow" presStyleLbl="node1" presStyleIdx="0" presStyleCnt="2">
        <dgm:presLayoutVars>
          <dgm:bulletEnabled val="1"/>
        </dgm:presLayoutVars>
      </dgm:prSet>
      <dgm:spPr/>
    </dgm:pt>
    <dgm:pt modelId="{F43F773D-4AAA-4176-A75C-B828DECFA559}" type="pres">
      <dgm:prSet presAssocID="{0ABA9801-CDC0-497B-8997-80F21539C614}" presName="arrow" presStyleLbl="node1" presStyleIdx="1" presStyleCnt="2">
        <dgm:presLayoutVars>
          <dgm:bulletEnabled val="1"/>
        </dgm:presLayoutVars>
      </dgm:prSet>
      <dgm:spPr/>
    </dgm:pt>
  </dgm:ptLst>
  <dgm:cxnLst>
    <dgm:cxn modelId="{F593B109-2C50-450A-9B2A-92A7E1232E15}" type="presOf" srcId="{8EA11BCA-65F1-4213-A7FF-266B0544E4F0}" destId="{2E7AD4C9-504B-4CEB-9786-0CD9884E75EC}" srcOrd="0" destOrd="0" presId="urn:microsoft.com/office/officeart/2005/8/layout/arrow1"/>
    <dgm:cxn modelId="{B026B42E-4E03-482F-8D3B-82167316D6BF}" type="presOf" srcId="{0ABA9801-CDC0-497B-8997-80F21539C614}" destId="{F43F773D-4AAA-4176-A75C-B828DECFA559}" srcOrd="0" destOrd="0" presId="urn:microsoft.com/office/officeart/2005/8/layout/arrow1"/>
    <dgm:cxn modelId="{B14AA36A-3CC9-4F38-8BA7-194AB982169D}" srcId="{52601063-C399-4E24-8994-85BA31A9A566}" destId="{8EA11BCA-65F1-4213-A7FF-266B0544E4F0}" srcOrd="0" destOrd="0" parTransId="{5AD555B1-A559-4565-A8ED-F011090C23EE}" sibTransId="{CEFB08F7-17FC-4DC7-9475-F560CA4AC17C}"/>
    <dgm:cxn modelId="{164965AD-52D8-4691-9D32-11CABCE42600}" type="presOf" srcId="{52601063-C399-4E24-8994-85BA31A9A566}" destId="{3AF202D0-574F-4935-8562-950BB620D117}" srcOrd="0" destOrd="0" presId="urn:microsoft.com/office/officeart/2005/8/layout/arrow1"/>
    <dgm:cxn modelId="{F5FC74CE-37FE-4486-896B-5E263F267998}" srcId="{52601063-C399-4E24-8994-85BA31A9A566}" destId="{0ABA9801-CDC0-497B-8997-80F21539C614}" srcOrd="1" destOrd="0" parTransId="{C3358FA7-E1A9-4444-9034-79EB7D835E70}" sibTransId="{06775E21-9155-48F9-9749-86067ADFBC64}"/>
    <dgm:cxn modelId="{7896B933-592D-4F08-89BB-25CB5E20182F}" type="presParOf" srcId="{3AF202D0-574F-4935-8562-950BB620D117}" destId="{2E7AD4C9-504B-4CEB-9786-0CD9884E75EC}" srcOrd="0" destOrd="0" presId="urn:microsoft.com/office/officeart/2005/8/layout/arrow1"/>
    <dgm:cxn modelId="{A083DD36-5305-4213-A9F0-4D0B0CD76BF9}" type="presParOf" srcId="{3AF202D0-574F-4935-8562-950BB620D117}" destId="{F43F773D-4AAA-4176-A75C-B828DECFA559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AD4C9-504B-4CEB-9786-0CD9884E75EC}">
      <dsp:nvSpPr>
        <dsp:cNvPr id="0" name=""/>
        <dsp:cNvSpPr/>
      </dsp:nvSpPr>
      <dsp:spPr>
        <a:xfrm rot="16200000">
          <a:off x="2338" y="1178"/>
          <a:ext cx="4348981" cy="4348981"/>
        </a:xfrm>
        <a:prstGeom prst="upArrow">
          <a:avLst>
            <a:gd name="adj1" fmla="val 50000"/>
            <a:gd name="adj2" fmla="val 35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Establish Islamic Banking as banking of first choice…</a:t>
          </a:r>
        </a:p>
      </dsp:txBody>
      <dsp:txXfrm rot="5400000">
        <a:off x="763410" y="1088423"/>
        <a:ext cx="3587909" cy="2174491"/>
      </dsp:txXfrm>
    </dsp:sp>
    <dsp:sp modelId="{F43F773D-4AAA-4176-A75C-B828DECFA559}">
      <dsp:nvSpPr>
        <dsp:cNvPr id="0" name=""/>
        <dsp:cNvSpPr/>
      </dsp:nvSpPr>
      <dsp:spPr>
        <a:xfrm rot="5400000">
          <a:off x="6164280" y="1178"/>
          <a:ext cx="4348981" cy="4348981"/>
        </a:xfrm>
        <a:prstGeom prst="upArrow">
          <a:avLst>
            <a:gd name="adj1" fmla="val 50000"/>
            <a:gd name="adj2" fmla="val 35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 be a premier Islamic bank, offering a one-stop shop for innovative value-added products and services to our customer within the bounds of Shariah… </a:t>
          </a:r>
        </a:p>
      </dsp:txBody>
      <dsp:txXfrm rot="-5400000">
        <a:off x="6164280" y="1088423"/>
        <a:ext cx="3587909" cy="2174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F44A-34B3-4842-9527-DFC2B3A42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A5F71-BD2F-47E2-8AE4-0BC83537C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F4501-9572-4459-889B-6A8BA750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C8DA2-752B-4871-9FB5-A32BA96B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9558F-0B5A-4ABD-B2C5-48743B3C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9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A3CC-C098-4EF8-9D11-1FB57F04B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DAA1-DAD5-4328-94AD-FF39453F5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DA938-C396-4406-A21A-32B2D3A9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891E-D033-4664-862F-6DC3C95A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97D9-E329-4D7E-89FE-08CB0AF9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CA59-D831-484A-B446-BDB6F1FB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2E0A3-68C3-48BB-9044-11BC6F8CA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6BDD5-4F2C-44CA-9BD8-66BBBFC3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913C1-6EB6-49A6-B9B5-1C0521B6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30F75-3988-4C8D-8B60-FD6EBCF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552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E6F3-F537-43FD-B7D6-9BE302AB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9235-D8FB-4252-972F-81150E49B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36C07-0A14-480B-968D-31485D316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A8501-D5E9-44F9-A8AE-FF8D81B0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DA4BC-9F9F-4332-964D-A945CF29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F3EFE-9192-40F6-874C-E01D2890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9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D6BE-0FBF-4C13-B664-58F10BEA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D54A0-6C48-451E-A6C4-D75AADC04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C8C46-9194-476D-A38D-7134F8C54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EE22D-4859-41DC-8974-CA3725DF0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D65E6-13EB-493A-BDB0-673746156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DA09-D53A-4C54-91D8-5DBCC2D2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D98A7-6BAD-496B-B739-04B71401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1DDB4-6D5F-4DD5-9B69-8096301E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85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20CC-F0F2-46A6-A8F5-E8FB79A4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EB06E-0FBA-4F20-A4CA-0366E183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8CE45-2D1D-47FA-AF5F-17CC6B03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842E3-84D2-4D74-99B9-5B3441CE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453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A0C2F-9DA6-4A9D-938E-BAE5C9E8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83584-909C-4505-8E79-5BA0976C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3445-6A32-456D-AEA0-15C46AFC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6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786C-86E5-4BD9-8E3C-0BB2EBFA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ACB6-A08E-4E07-B26E-C68D9E417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CC0EC-0B3F-4110-87AA-654F2C5A1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BF0DC-5CC1-47C2-BB18-702B447E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644DF-50B6-43D3-A22F-BEB3B236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0CBC6-748A-4833-88D5-65CAAD97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2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7BC3-0B25-4F82-BD38-F4DDB9C4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68D86-F060-418E-BAAF-8838651D4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94EE9-6B99-45B4-9075-8388B83B9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884DC-A066-4902-AADA-CAF5A197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F582B-DE04-4D04-AAFE-DD543C62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97957-938D-41F6-9CC7-2BF963C8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08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E00C-0E0A-4CB7-B706-E216557D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ABEDD-2278-4AF4-A029-FA1B4D119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12AF4-143D-4D5E-A9C3-AB3ABFB1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E116F-36DD-4C33-A606-DEB9B3DC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FDAE-3109-4793-BB83-53D07A80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3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86136-5E17-476D-98B8-2ED42BBB6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7D635-4844-4BB6-B6CC-0BDF89F21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28D6F-B0C8-41BD-8ED2-031FA989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A5B4D-E397-4689-AC57-FB1D6A1E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509FC-1763-4DDE-BCE4-F32B0AB2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82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8BD1A-4970-4422-B89F-B89CBD12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863D8-C2BD-4D6C-93EB-D699CA6BD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A1980-4378-4BE4-8B75-5FD5BBE3C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4D900-5357-43D6-8F12-61670239EFBF}" type="datetimeFigureOut">
              <a:rPr lang="en-US" smtClean="0"/>
              <a:t>3/19/2023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DD7A5-38CB-4D62-B0AE-FE966E7E4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971A2-14CE-4909-9EF8-011E8F2EE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26376-8FC6-4C4F-9918-2AD358D2C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8E1673-B80F-4C80-B224-E7B18D2A6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05" y="4469177"/>
            <a:ext cx="4762500" cy="1457325"/>
          </a:xfrm>
          <a:prstGeom prst="rect">
            <a:avLst/>
          </a:prstGeom>
        </p:spPr>
      </p:pic>
      <p:pic>
        <p:nvPicPr>
          <p:cNvPr id="1030" name="Picture 6" descr="Perform a Company Financial Analysis in 12 Steps">
            <a:extLst>
              <a:ext uri="{FF2B5EF4-FFF2-40B4-BE49-F238E27FC236}">
                <a16:creationId xmlns:a16="http://schemas.microsoft.com/office/drawing/2014/main" id="{EFE7DC91-AB87-4A78-8929-FBA0CC0D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8911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E3FD9F-54CB-4247-9E85-7097FD1E9BFE}"/>
              </a:ext>
            </a:extLst>
          </p:cNvPr>
          <p:cNvSpPr txBox="1"/>
          <p:nvPr/>
        </p:nvSpPr>
        <p:spPr>
          <a:xfrm>
            <a:off x="6399661" y="1409076"/>
            <a:ext cx="5054589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Company Analysis</a:t>
            </a:r>
          </a:p>
          <a:p>
            <a:pPr algn="ctr"/>
            <a:endParaRPr lang="en-US" dirty="0"/>
          </a:p>
          <a:p>
            <a:pPr algn="ctr"/>
            <a:r>
              <a:rPr lang="en-US" sz="2800" dirty="0">
                <a:latin typeface="Bell MT" panose="02020503060305020303" pitchFamily="18" charset="0"/>
              </a:rPr>
              <a:t>Muhammad Hassan Khalid</a:t>
            </a:r>
          </a:p>
          <a:p>
            <a:pPr algn="ctr"/>
            <a:endParaRPr lang="en-US" sz="2800" dirty="0">
              <a:latin typeface="Bell MT" panose="02020503060305020303" pitchFamily="18" charset="0"/>
            </a:endParaRPr>
          </a:p>
          <a:p>
            <a:pPr algn="ctr"/>
            <a:r>
              <a:rPr lang="en-US" sz="2800" dirty="0">
                <a:latin typeface="Bell MT" panose="02020503060305020303" pitchFamily="18" charset="0"/>
              </a:rPr>
              <a:t>21L-5692</a:t>
            </a:r>
          </a:p>
        </p:txBody>
      </p:sp>
    </p:spTree>
    <p:extLst>
      <p:ext uri="{BB962C8B-B14F-4D97-AF65-F5344CB8AC3E}">
        <p14:creationId xmlns:p14="http://schemas.microsoft.com/office/powerpoint/2010/main" val="236564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A8EFB-EC64-4C84-B127-3577EBFC1C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719089"/>
              </p:ext>
            </p:extLst>
          </p:nvPr>
        </p:nvGraphicFramePr>
        <p:xfrm>
          <a:off x="838200" y="209005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71973B-4818-4F33-9509-ABFECD961BEC}"/>
              </a:ext>
            </a:extLst>
          </p:cNvPr>
          <p:cNvSpPr txBox="1"/>
          <p:nvPr/>
        </p:nvSpPr>
        <p:spPr>
          <a:xfrm>
            <a:off x="2738680" y="1869007"/>
            <a:ext cx="18838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Vision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9A548-F199-4C14-8C4C-B5F6EC740BCB}"/>
              </a:ext>
            </a:extLst>
          </p:cNvPr>
          <p:cNvSpPr txBox="1"/>
          <p:nvPr/>
        </p:nvSpPr>
        <p:spPr>
          <a:xfrm>
            <a:off x="6096311" y="1366775"/>
            <a:ext cx="335700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 Mission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statement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F76AF9-9D2E-4F43-AE5E-DE6527218B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0"/>
            <a:ext cx="3286078" cy="100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4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BA2CF-51E4-49B3-9B3D-69E0DD961827}"/>
              </a:ext>
            </a:extLst>
          </p:cNvPr>
          <p:cNvSpPr txBox="1"/>
          <p:nvPr/>
        </p:nvSpPr>
        <p:spPr>
          <a:xfrm>
            <a:off x="4212237" y="193994"/>
            <a:ext cx="7240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Meezan Bank offers a diverse range of Shariah-compliant banking products and services to cater customer requirements.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6816D-9B03-4F4B-B93F-2EF0BB5516C9}"/>
              </a:ext>
            </a:extLst>
          </p:cNvPr>
          <p:cNvSpPr txBox="1"/>
          <p:nvPr/>
        </p:nvSpPr>
        <p:spPr>
          <a:xfrm>
            <a:off x="973157" y="1151472"/>
            <a:ext cx="10762939" cy="560153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Bank</a:t>
            </a:r>
            <a:r>
              <a:rPr lang="en-US" sz="2000" dirty="0"/>
              <a:t> offers various types of </a:t>
            </a:r>
            <a:r>
              <a:rPr lang="en-US" sz="2000" b="1" dirty="0"/>
              <a:t>Current &amp; Savings Accounts </a:t>
            </a:r>
            <a:r>
              <a:rPr lang="en-US" sz="2000" dirty="0"/>
              <a:t>in the following currencies </a:t>
            </a:r>
            <a:r>
              <a:rPr lang="en-US" sz="2000" b="1" dirty="0"/>
              <a:t>PKR, USD, GBP, EUR </a:t>
            </a:r>
            <a:r>
              <a:rPr lang="en-US" sz="2000" dirty="0"/>
              <a:t>for </a:t>
            </a:r>
            <a:r>
              <a:rPr lang="en-US" sz="2000" b="1" dirty="0"/>
              <a:t>all age groups </a:t>
            </a:r>
            <a:r>
              <a:rPr lang="en-US" sz="2000" dirty="0"/>
              <a:t>including kids, teen, senior citizens, Roshan Residents, Freelancers, Widows, Disabled Persons and all men and women.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Meezan Mobile Banking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Meezan Internet Banking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SMS Alerts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SMS Banking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Visa, Mastercard, </a:t>
            </a:r>
            <a:r>
              <a:rPr lang="en-US" sz="2000" b="1" dirty="0" err="1"/>
              <a:t>PayPak</a:t>
            </a:r>
            <a:r>
              <a:rPr lang="en-US" sz="2000" b="1" dirty="0"/>
              <a:t> Debit, Supplementary Debit and Credit, and Credit Cards </a:t>
            </a:r>
            <a:r>
              <a:rPr lang="en-US" sz="2000" dirty="0"/>
              <a:t>of all categories like </a:t>
            </a:r>
            <a:r>
              <a:rPr lang="en-US" sz="2000" b="1" dirty="0"/>
              <a:t>World, Platinum, Titanium, Classic, Infinite, Gold </a:t>
            </a:r>
            <a:r>
              <a:rPr lang="en-US" sz="2000" b="1" dirty="0" err="1"/>
              <a:t>e.t.c</a:t>
            </a:r>
            <a:r>
              <a:rPr lang="en-US" sz="2000" b="1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Contactless Payments </a:t>
            </a:r>
            <a:r>
              <a:rPr lang="en-US" sz="2000" dirty="0"/>
              <a:t>I Debit Cards &amp; Mobile Tap &amp; 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Discounts &amp; Privileges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ATM Network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Fintech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Digital Account Opening App and Branchless Banking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POS Terminals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Meezan E-Commerce Payment 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Home, Automobile and solar shariah compliant financing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2BE51-A008-47F4-B336-C78609008B78}"/>
              </a:ext>
            </a:extLst>
          </p:cNvPr>
          <p:cNvSpPr txBox="1"/>
          <p:nvPr/>
        </p:nvSpPr>
        <p:spPr>
          <a:xfrm rot="16200000">
            <a:off x="-1776545" y="3383922"/>
            <a:ext cx="5234340" cy="76944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Products and Services</a:t>
            </a:r>
          </a:p>
        </p:txBody>
      </p:sp>
    </p:spTree>
    <p:extLst>
      <p:ext uri="{BB962C8B-B14F-4D97-AF65-F5344CB8AC3E}">
        <p14:creationId xmlns:p14="http://schemas.microsoft.com/office/powerpoint/2010/main" val="55617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FDA700-1520-4940-B979-661EC132F1AC}"/>
              </a:ext>
            </a:extLst>
          </p:cNvPr>
          <p:cNvSpPr txBox="1"/>
          <p:nvPr/>
        </p:nvSpPr>
        <p:spPr>
          <a:xfrm>
            <a:off x="1690067" y="1150528"/>
            <a:ext cx="93538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Meezan Bank is a pioneer in Islamic banking in Pakistan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Won the Global award for 'Best Islamic Retail Bank'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Achieved high profitability growth with 60% increase in Profit After Tax and over 40% return on equity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Market cap of Rs 178 billion, most valuable bank in Pakistan among listed banks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Crossed one trillion Rupee milestone in financing portfolio and two trillion Rupee mark in Trade Finance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2.8 million Debit Cards and 1.7 million Mobile App Registrations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90% increase in Debit Cards spend, eight-fold increase in NFC transactions, and over 80% increase in IBFT and Utility Bill Payments volumes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Bank's brand equity ranked second highest in the industry, according to a recent survey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C6A05-8590-4B85-B7CA-E64030FBA849}"/>
              </a:ext>
            </a:extLst>
          </p:cNvPr>
          <p:cNvSpPr txBox="1"/>
          <p:nvPr/>
        </p:nvSpPr>
        <p:spPr>
          <a:xfrm rot="16200000">
            <a:off x="-1804639" y="3151075"/>
            <a:ext cx="5078312" cy="1077218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Excerpts from Chairman’s Message</a:t>
            </a:r>
          </a:p>
        </p:txBody>
      </p:sp>
    </p:spTree>
    <p:extLst>
      <p:ext uri="{BB962C8B-B14F-4D97-AF65-F5344CB8AC3E}">
        <p14:creationId xmlns:p14="http://schemas.microsoft.com/office/powerpoint/2010/main" val="2972479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D7325B-E191-4B31-B0EA-47580AA509A1}"/>
              </a:ext>
            </a:extLst>
          </p:cNvPr>
          <p:cNvSpPr/>
          <p:nvPr/>
        </p:nvSpPr>
        <p:spPr>
          <a:xfrm>
            <a:off x="3703895" y="1521263"/>
            <a:ext cx="5183949" cy="707886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List of Directors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33C2B-3FD7-43E8-A706-E619A06837F8}"/>
              </a:ext>
            </a:extLst>
          </p:cNvPr>
          <p:cNvSpPr/>
          <p:nvPr/>
        </p:nvSpPr>
        <p:spPr>
          <a:xfrm>
            <a:off x="1843791" y="2716090"/>
            <a:ext cx="8904158" cy="3139321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Mr. Riyadh S.A.A. </a:t>
            </a:r>
            <a:r>
              <a:rPr lang="en-US" dirty="0" err="1"/>
              <a:t>Edrees</a:t>
            </a:r>
            <a:r>
              <a:rPr lang="en-US" dirty="0"/>
              <a:t>                                                                           </a:t>
            </a:r>
            <a:r>
              <a:rPr lang="en-US" b="1" dirty="0"/>
              <a:t>Non-Executive Director </a:t>
            </a:r>
          </a:p>
          <a:p>
            <a:pPr marL="342900" indent="-342900">
              <a:buAutoNum type="arabicPeriod"/>
            </a:pPr>
            <a:r>
              <a:rPr lang="en-US" dirty="0"/>
              <a:t>Mr. Faisal A.A.A. Al-Nassar                                                                       </a:t>
            </a:r>
            <a:r>
              <a:rPr lang="en-US" b="1" dirty="0"/>
              <a:t>Non-Executive Director</a:t>
            </a:r>
          </a:p>
          <a:p>
            <a:pPr marL="342900" indent="-342900">
              <a:buAutoNum type="arabicPeriod"/>
            </a:pPr>
            <a:r>
              <a:rPr lang="en-US" dirty="0"/>
              <a:t>Mr. Bader H.A.M.A. </a:t>
            </a:r>
            <a:r>
              <a:rPr lang="en-US" dirty="0" err="1"/>
              <a:t>AlRabiah</a:t>
            </a:r>
            <a:r>
              <a:rPr lang="en-US" dirty="0"/>
              <a:t>                                                                   </a:t>
            </a:r>
            <a:r>
              <a:rPr lang="en-US" b="1" dirty="0"/>
              <a:t>Non-Executive Director</a:t>
            </a:r>
          </a:p>
          <a:p>
            <a:pPr marL="342900" indent="-342900">
              <a:buAutoNum type="arabicPeriod"/>
            </a:pPr>
            <a:r>
              <a:rPr lang="en-US" dirty="0"/>
              <a:t>Mr. </a:t>
            </a:r>
            <a:r>
              <a:rPr lang="en-US" dirty="0" err="1"/>
              <a:t>Mubashar</a:t>
            </a:r>
            <a:r>
              <a:rPr lang="en-US" dirty="0"/>
              <a:t> Maqbool                                                                      </a:t>
            </a:r>
            <a:r>
              <a:rPr lang="en-US" b="1" dirty="0"/>
              <a:t>      Non-Executive Director </a:t>
            </a:r>
          </a:p>
          <a:p>
            <a:pPr marL="342900" indent="-342900">
              <a:buAutoNum type="arabicPeriod"/>
            </a:pPr>
            <a:r>
              <a:rPr lang="en-US" dirty="0"/>
              <a:t>Mr. Naveed Iftikhar Sherwani                                                                  </a:t>
            </a:r>
            <a:r>
              <a:rPr lang="en-US" b="1" dirty="0"/>
              <a:t>Non-Executive Director </a:t>
            </a:r>
          </a:p>
          <a:p>
            <a:pPr marL="342900" indent="-342900">
              <a:buAutoNum type="arabicPeriod"/>
            </a:pPr>
            <a:r>
              <a:rPr lang="en-US" dirty="0"/>
              <a:t>Mr. Faisal Fahad </a:t>
            </a:r>
            <a:r>
              <a:rPr lang="en-US" dirty="0" err="1"/>
              <a:t>AlMuzaini</a:t>
            </a:r>
            <a:r>
              <a:rPr lang="en-US" dirty="0"/>
              <a:t>                                                                       </a:t>
            </a:r>
            <a:r>
              <a:rPr lang="en-US" b="1" dirty="0"/>
              <a:t>Non-Executive Director</a:t>
            </a:r>
          </a:p>
          <a:p>
            <a:pPr marL="342900" indent="-342900">
              <a:buAutoNum type="arabicPeriod"/>
            </a:pPr>
            <a:r>
              <a:rPr lang="en-US" dirty="0"/>
              <a:t>Mr. Mohamed </a:t>
            </a:r>
            <a:r>
              <a:rPr lang="en-US" dirty="0" err="1"/>
              <a:t>Guermazi</a:t>
            </a:r>
            <a:r>
              <a:rPr lang="en-US" dirty="0"/>
              <a:t>                                                                          </a:t>
            </a:r>
            <a:r>
              <a:rPr lang="en-US" b="1" dirty="0"/>
              <a:t>Non-Executive Director </a:t>
            </a:r>
          </a:p>
          <a:p>
            <a:pPr marL="342900" indent="-342900">
              <a:buAutoNum type="arabicPeriod"/>
            </a:pPr>
            <a:r>
              <a:rPr lang="en-US" dirty="0"/>
              <a:t>Ms. </a:t>
            </a:r>
            <a:r>
              <a:rPr lang="en-US" dirty="0" err="1"/>
              <a:t>Nausheen</a:t>
            </a:r>
            <a:r>
              <a:rPr lang="en-US" dirty="0"/>
              <a:t> Ahmad                                                 </a:t>
            </a:r>
            <a:r>
              <a:rPr lang="en-US" b="1" dirty="0"/>
              <a:t>Independent Director / Female Director</a:t>
            </a:r>
          </a:p>
          <a:p>
            <a:pPr marL="342900" indent="-342900">
              <a:buAutoNum type="arabicPeriod"/>
            </a:pPr>
            <a:r>
              <a:rPr lang="en-US" dirty="0"/>
              <a:t>Mr. Mohammad Abdul Aleem                                                                    </a:t>
            </a:r>
            <a:r>
              <a:rPr lang="en-US" b="1" dirty="0"/>
              <a:t>Independent Director </a:t>
            </a:r>
          </a:p>
          <a:p>
            <a:pPr marL="342900" indent="-342900">
              <a:buAutoNum type="arabicPeriod"/>
            </a:pPr>
            <a:r>
              <a:rPr lang="en-US" dirty="0"/>
              <a:t>Mr. Yousef S.M.A. </a:t>
            </a:r>
            <a:r>
              <a:rPr lang="en-US" dirty="0" err="1"/>
              <a:t>AlSaad</a:t>
            </a:r>
            <a:r>
              <a:rPr lang="en-US" dirty="0"/>
              <a:t>                                                                             </a:t>
            </a:r>
            <a:r>
              <a:rPr lang="en-US" b="1" dirty="0"/>
              <a:t>Independent Director</a:t>
            </a:r>
          </a:p>
          <a:p>
            <a:pPr marL="342900" indent="-342900">
              <a:buAutoNum type="arabicPeriod"/>
            </a:pPr>
            <a:r>
              <a:rPr lang="en-US" dirty="0"/>
              <a:t>Mr. Irfan Siddiqui                               </a:t>
            </a:r>
            <a:r>
              <a:rPr lang="en-US" b="1" dirty="0"/>
              <a:t>President &amp; CEO Executive Director / Deemed Director</a:t>
            </a:r>
          </a:p>
        </p:txBody>
      </p:sp>
    </p:spTree>
    <p:extLst>
      <p:ext uri="{BB962C8B-B14F-4D97-AF65-F5344CB8AC3E}">
        <p14:creationId xmlns:p14="http://schemas.microsoft.com/office/powerpoint/2010/main" val="321867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8F811F-8AA7-4877-970A-A0B9EB927CCF}"/>
              </a:ext>
            </a:extLst>
          </p:cNvPr>
          <p:cNvSpPr txBox="1"/>
          <p:nvPr/>
        </p:nvSpPr>
        <p:spPr>
          <a:xfrm rot="16200000">
            <a:off x="-739875" y="3290658"/>
            <a:ext cx="3923449" cy="120032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 Types of Committees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12CC8-B946-4E24-B454-EA15916CF044}"/>
              </a:ext>
            </a:extLst>
          </p:cNvPr>
          <p:cNvSpPr txBox="1"/>
          <p:nvPr/>
        </p:nvSpPr>
        <p:spPr>
          <a:xfrm>
            <a:off x="2462800" y="1813331"/>
            <a:ext cx="72663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sz="2400" dirty="0"/>
              <a:t>Human Resources, Remuneration and Compensation Committee </a:t>
            </a:r>
          </a:p>
          <a:p>
            <a:pPr marL="342900" indent="-342900" algn="ctr">
              <a:buAutoNum type="arabicPeriod"/>
            </a:pPr>
            <a:endParaRPr lang="en-US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 Risk Management Committee </a:t>
            </a:r>
          </a:p>
          <a:p>
            <a:pPr marL="342900" indent="-342900" algn="ctr">
              <a:buAutoNum type="arabicPeriod"/>
            </a:pPr>
            <a:endParaRPr lang="en-US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 Audit Committee</a:t>
            </a:r>
          </a:p>
          <a:p>
            <a:pPr marL="342900" indent="-342900" algn="ctr">
              <a:buAutoNum type="arabicPeriod"/>
            </a:pPr>
            <a:endParaRPr lang="en-US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 Information Technology Committee </a:t>
            </a:r>
          </a:p>
          <a:p>
            <a:pPr marL="342900" indent="-342900" algn="ctr">
              <a:buAutoNum type="arabicPeriod"/>
            </a:pPr>
            <a:endParaRPr lang="en-US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 IFRS 9 Implementation Oversight</a:t>
            </a:r>
          </a:p>
          <a:p>
            <a:pPr algn="ctr"/>
            <a:r>
              <a:rPr lang="en-US" sz="2400" dirty="0"/>
              <a:t> Committee</a:t>
            </a:r>
          </a:p>
        </p:txBody>
      </p:sp>
    </p:spTree>
    <p:extLst>
      <p:ext uri="{BB962C8B-B14F-4D97-AF65-F5344CB8AC3E}">
        <p14:creationId xmlns:p14="http://schemas.microsoft.com/office/powerpoint/2010/main" val="85002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5543A2-DB36-4736-8E1E-BCA712C6B12A}"/>
              </a:ext>
            </a:extLst>
          </p:cNvPr>
          <p:cNvSpPr txBox="1"/>
          <p:nvPr/>
        </p:nvSpPr>
        <p:spPr>
          <a:xfrm>
            <a:off x="2383436" y="1288995"/>
            <a:ext cx="6745573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Summary of Directors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0CD75-E6A3-43E6-96E2-A412D9ABAC26}"/>
              </a:ext>
            </a:extLst>
          </p:cNvPr>
          <p:cNvSpPr txBox="1"/>
          <p:nvPr/>
        </p:nvSpPr>
        <p:spPr>
          <a:xfrm>
            <a:off x="399738" y="2383437"/>
            <a:ext cx="113925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Meezan Bank, the largest Islamic bank in Pakistan, had a successful year in 2022. Their profit after tax increased by 59%, and they have the highest market cap among all banks listed on the Pakistan Stock Exchange. They paid out Rs 8.50 per share in dividends, including a final cash dividend of Rs 3.00 per share and issued 10% bonus shares. Non-funded income grew by 28%, and the bank opened 60 new branches, bringing their total network to 962 branches in 317 cities. Meezan Bank's total assets crossed the Rs 2.5 trillion mark, a 35% increase from the previous year. They also won several awards for their banking services. The bank remains well-capitalized with a Capital Adequacy Ratio of 18.42%. Meezan Bank plans to continue investing in technology to provide top-notch digital services to customers</a:t>
            </a:r>
          </a:p>
        </p:txBody>
      </p:sp>
    </p:spTree>
    <p:extLst>
      <p:ext uri="{BB962C8B-B14F-4D97-AF65-F5344CB8AC3E}">
        <p14:creationId xmlns:p14="http://schemas.microsoft.com/office/powerpoint/2010/main" val="262291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2D9F8B-990C-484E-9547-64F366342CCD}"/>
              </a:ext>
            </a:extLst>
          </p:cNvPr>
          <p:cNvSpPr txBox="1"/>
          <p:nvPr/>
        </p:nvSpPr>
        <p:spPr>
          <a:xfrm>
            <a:off x="3632617" y="224772"/>
            <a:ext cx="8389495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Number of Shares and Types of Shares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E574E5-9D1B-4F2F-BB76-A9C595F00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5097"/>
              </p:ext>
            </p:extLst>
          </p:nvPr>
        </p:nvGraphicFramePr>
        <p:xfrm>
          <a:off x="1690067" y="1274302"/>
          <a:ext cx="8128000" cy="524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359511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07811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Particulars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Shareholders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4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Directors, Chief Executive, their spouse and minor children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89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Associated Companies, undertakings and related parties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12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Banks, Development Financial Institutions and Non Banking Finance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78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Insurance 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2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Modaraba and Mutual Funds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2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General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46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a.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57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b. Foreign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048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60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8602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15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41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A573C-A4AF-4898-B107-E959809A5DED}"/>
              </a:ext>
            </a:extLst>
          </p:cNvPr>
          <p:cNvSpPr txBox="1"/>
          <p:nvPr/>
        </p:nvSpPr>
        <p:spPr>
          <a:xfrm>
            <a:off x="4676929" y="517160"/>
            <a:ext cx="6460762" cy="70788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Name of the Audit Firm</a:t>
            </a:r>
          </a:p>
        </p:txBody>
      </p:sp>
      <p:pic>
        <p:nvPicPr>
          <p:cNvPr id="2050" name="Picture 2" descr="Noman Zafar - Audit Associate - A. F. Ferguson &amp; Co. (a member firm of the  PwC network) | LinkedIn">
            <a:extLst>
              <a:ext uri="{FF2B5EF4-FFF2-40B4-BE49-F238E27FC236}">
                <a16:creationId xmlns:a16="http://schemas.microsoft.com/office/drawing/2014/main" id="{1795BC86-E4C0-4BA9-BC17-557CB181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718" y="2071766"/>
            <a:ext cx="9436308" cy="305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3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A573C-A4AF-4898-B107-E959809A5DED}"/>
              </a:ext>
            </a:extLst>
          </p:cNvPr>
          <p:cNvSpPr txBox="1"/>
          <p:nvPr/>
        </p:nvSpPr>
        <p:spPr>
          <a:xfrm>
            <a:off x="4107305" y="337277"/>
            <a:ext cx="7600012" cy="110799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 Financial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Overview of the Organization</a:t>
            </a:r>
            <a:endParaRPr lang="en-US" sz="6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194DE-3A99-49BC-9E0F-5A986C0EC80C}"/>
              </a:ext>
            </a:extLst>
          </p:cNvPr>
          <p:cNvSpPr txBox="1"/>
          <p:nvPr/>
        </p:nvSpPr>
        <p:spPr>
          <a:xfrm>
            <a:off x="317291" y="2046800"/>
            <a:ext cx="115574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Bank's total assets grew by 35% to Rs 2.5 trillion, with both investments and financings witnessing significant growth during the year. The Bank's deposits growth surpassed the banking industry deposit growth, with deposits growing by 14% versus 7% for the banking industry. The Bank added 60 new branches to its network, and the Bank has a strong presence in digital channels. The Bank's equity increased to Rs 115 billion, and the Bank remains adequately capitalized with a Capital Adequacy Ratio of 18.42%. The Bank recorded a profit after tax of Rs 45 billion, a growth of 59%. The Bank's net spread grew by 77% primarily due to strong balance sheet growth and higher underlying benchmark rates, complemented by a surge in average current account balance. The Bank's non-funded income recorded a growth of 28%. Operating and other expenses increased to Rs 48 billion, and the total tax charge for the year increased to Rs 43.4 billion.</a:t>
            </a:r>
          </a:p>
        </p:txBody>
      </p:sp>
    </p:spTree>
    <p:extLst>
      <p:ext uri="{BB962C8B-B14F-4D97-AF65-F5344CB8AC3E}">
        <p14:creationId xmlns:p14="http://schemas.microsoft.com/office/powerpoint/2010/main" val="20625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C7036-5F31-477F-A662-03E669D4C10C}"/>
              </a:ext>
            </a:extLst>
          </p:cNvPr>
          <p:cNvSpPr txBox="1"/>
          <p:nvPr/>
        </p:nvSpPr>
        <p:spPr>
          <a:xfrm>
            <a:off x="3972393" y="201809"/>
            <a:ext cx="6915676" cy="707886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Financial Ratio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5075A9-926D-46FC-B417-088C3BE41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826292"/>
              </p:ext>
            </p:extLst>
          </p:nvPr>
        </p:nvGraphicFramePr>
        <p:xfrm>
          <a:off x="869430" y="1588956"/>
          <a:ext cx="1043315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6577">
                  <a:extLst>
                    <a:ext uri="{9D8B030D-6E8A-4147-A177-3AD203B41FA5}">
                      <a16:colId xmlns:a16="http://schemas.microsoft.com/office/drawing/2014/main" val="3928444460"/>
                    </a:ext>
                  </a:extLst>
                </a:gridCol>
                <a:gridCol w="5216577">
                  <a:extLst>
                    <a:ext uri="{9D8B030D-6E8A-4147-A177-3AD203B41FA5}">
                      <a16:colId xmlns:a16="http://schemas.microsoft.com/office/drawing/2014/main" val="1803445580"/>
                    </a:ext>
                  </a:extLst>
                </a:gridCol>
              </a:tblGrid>
              <a:tr h="91091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360121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Current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827340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Equity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105529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Quick Ratio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69092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0.0175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64753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0.390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804835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Leverage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56452"/>
                  </a:ext>
                </a:extLst>
              </a:tr>
              <a:tr h="52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Working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115,320,693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86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72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96C2-F70D-4C58-922E-3CFA7E18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80134" cy="1034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A573C-A4AF-4898-B107-E959809A5DED}"/>
              </a:ext>
            </a:extLst>
          </p:cNvPr>
          <p:cNvSpPr txBox="1"/>
          <p:nvPr/>
        </p:nvSpPr>
        <p:spPr>
          <a:xfrm>
            <a:off x="4185929" y="163217"/>
            <a:ext cx="7416457" cy="70788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RATIO CALCULATIONS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F4D99-7A4C-4A87-8335-F1A2BF6F77CA}"/>
              </a:ext>
            </a:extLst>
          </p:cNvPr>
          <p:cNvSpPr txBox="1"/>
          <p:nvPr/>
        </p:nvSpPr>
        <p:spPr>
          <a:xfrm>
            <a:off x="1109271" y="871103"/>
            <a:ext cx="9728617" cy="6740307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dirty="0"/>
              <a:t>Total Current Assets = Cash and balances with treasury banks + Balances with other banks + Due from financial institutions + </a:t>
            </a:r>
            <a:r>
              <a:rPr lang="en-US" dirty="0" err="1"/>
              <a:t>lslamic</a:t>
            </a:r>
            <a:r>
              <a:rPr lang="en-US" dirty="0"/>
              <a:t> financing and related assets + Other assets = 117,743,106 + 13,676,159 + 34,964,299 + 995,508,354 + 85,378,800 = 1,247,270,718</a:t>
            </a:r>
          </a:p>
          <a:p>
            <a:r>
              <a:rPr lang="en-US" dirty="0"/>
              <a:t>Total Current Liabilities = Bills payable + Due to financial institutions + Deposits and other accounts + Sub-ordinated sukuk + Other liabilities = 40,175,122 + 573,326,439 + 1,658,490,118 + 20,990,000 + 169,095,139 = 2,462,076,818</a:t>
            </a:r>
          </a:p>
          <a:p>
            <a:r>
              <a:rPr lang="en-US" dirty="0"/>
              <a:t>Current Ratio = Total Current Assets / Total Current Liabilities = 1,247,270,718 / 2,462,076,818 = 0.506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Quick Ratio = (Cash and balances with treasury banks + Balances with other banks + Due from financial institutions + Islamic financing and related assets) / Current Liabilities</a:t>
            </a:r>
          </a:p>
          <a:p>
            <a:r>
              <a:rPr lang="en-US" dirty="0"/>
              <a:t>Quick Ratio = (117,743,106 + 13,676,159 + 34,964,299 + 995,508,354) / 2,462,076,818</a:t>
            </a:r>
          </a:p>
          <a:p>
            <a:r>
              <a:rPr lang="en-US" dirty="0"/>
              <a:t>Quick Ratio = 1.018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Net Income = 45,006,610 Total Assets = 2,577,397,511</a:t>
            </a:r>
          </a:p>
          <a:p>
            <a:r>
              <a:rPr lang="en-US" dirty="0"/>
              <a:t>Using these values, we can calculate the ROA as:</a:t>
            </a:r>
          </a:p>
          <a:p>
            <a:r>
              <a:rPr lang="en-US" dirty="0"/>
              <a:t>ROA = 45,006,610 / 2,577,397,511 = 0.0175 or 1.75%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ROE = Net Income / Equity ROE = 45,006,610 / 115,320,693 </a:t>
            </a:r>
          </a:p>
          <a:p>
            <a:r>
              <a:rPr lang="en-US" dirty="0"/>
              <a:t>ROE = 0.390 or 39.0% (rounded to one decimal place)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Working Capital = Current Assets - Current Liabilities</a:t>
            </a:r>
          </a:p>
          <a:p>
            <a:r>
              <a:rPr lang="en-US" dirty="0"/>
              <a:t>= 2,577,397,511 - 2,462,076,818 = 115,320,693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Equity Multiplier Equity Multiplier = Total Assets / Total Equity</a:t>
            </a:r>
          </a:p>
          <a:p>
            <a:r>
              <a:rPr lang="en-US" dirty="0"/>
              <a:t>= 2,577,397,511 / 115,320,693 = 22.341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Leverage Ratio = Total Liabilities / Total Equity Leverage Ratio = 2,462,076,818 / 115,320,693</a:t>
            </a:r>
          </a:p>
          <a:p>
            <a:r>
              <a:rPr lang="en-US" dirty="0"/>
              <a:t>Leverage Ratio = 21.34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8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1143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Bell MT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HASSAN KHALID</dc:creator>
  <cp:lastModifiedBy>M HASSAN KHALID</cp:lastModifiedBy>
  <cp:revision>44</cp:revision>
  <dcterms:created xsi:type="dcterms:W3CDTF">2023-03-13T13:09:59Z</dcterms:created>
  <dcterms:modified xsi:type="dcterms:W3CDTF">2023-03-18T21:01:50Z</dcterms:modified>
</cp:coreProperties>
</file>